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2.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71" r:id="rId5"/>
  </p:sldMasterIdLst>
  <p:notesMasterIdLst>
    <p:notesMasterId r:id="rId53"/>
  </p:notesMasterIdLst>
  <p:sldIdLst>
    <p:sldId id="256" r:id="rId6"/>
    <p:sldId id="331" r:id="rId7"/>
    <p:sldId id="332" r:id="rId8"/>
    <p:sldId id="333" r:id="rId9"/>
    <p:sldId id="1882" r:id="rId10"/>
    <p:sldId id="270" r:id="rId11"/>
    <p:sldId id="335" r:id="rId12"/>
    <p:sldId id="263" r:id="rId13"/>
    <p:sldId id="336" r:id="rId14"/>
    <p:sldId id="337" r:id="rId15"/>
    <p:sldId id="1883" r:id="rId16"/>
    <p:sldId id="338" r:id="rId17"/>
    <p:sldId id="339" r:id="rId18"/>
    <p:sldId id="1884" r:id="rId19"/>
    <p:sldId id="342" r:id="rId20"/>
    <p:sldId id="313" r:id="rId21"/>
    <p:sldId id="318" r:id="rId22"/>
    <p:sldId id="319" r:id="rId23"/>
    <p:sldId id="344" r:id="rId24"/>
    <p:sldId id="1886" r:id="rId25"/>
    <p:sldId id="1887" r:id="rId26"/>
    <p:sldId id="1888" r:id="rId27"/>
    <p:sldId id="1891" r:id="rId28"/>
    <p:sldId id="1890" r:id="rId29"/>
    <p:sldId id="309" r:id="rId30"/>
    <p:sldId id="345" r:id="rId31"/>
    <p:sldId id="310" r:id="rId32"/>
    <p:sldId id="1889" r:id="rId33"/>
    <p:sldId id="314" r:id="rId34"/>
    <p:sldId id="315" r:id="rId35"/>
    <p:sldId id="316" r:id="rId36"/>
    <p:sldId id="317" r:id="rId37"/>
    <p:sldId id="320" r:id="rId38"/>
    <p:sldId id="346" r:id="rId39"/>
    <p:sldId id="348" r:id="rId40"/>
    <p:sldId id="347" r:id="rId41"/>
    <p:sldId id="323" r:id="rId42"/>
    <p:sldId id="349" r:id="rId43"/>
    <p:sldId id="324" r:id="rId44"/>
    <p:sldId id="1892" r:id="rId45"/>
    <p:sldId id="326" r:id="rId46"/>
    <p:sldId id="325" r:id="rId47"/>
    <p:sldId id="1881" r:id="rId48"/>
    <p:sldId id="329" r:id="rId49"/>
    <p:sldId id="328" r:id="rId50"/>
    <p:sldId id="1885" r:id="rId51"/>
    <p:sldId id="269" r:id="rId52"/>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2CA6D92-8D97-4C1E-A707-7CD1C044906A}">
          <p14:sldIdLst>
            <p14:sldId id="256"/>
            <p14:sldId id="331"/>
            <p14:sldId id="332"/>
            <p14:sldId id="333"/>
            <p14:sldId id="1882"/>
            <p14:sldId id="270"/>
            <p14:sldId id="335"/>
            <p14:sldId id="263"/>
            <p14:sldId id="336"/>
            <p14:sldId id="337"/>
            <p14:sldId id="1883"/>
            <p14:sldId id="338"/>
            <p14:sldId id="339"/>
            <p14:sldId id="1884"/>
            <p14:sldId id="342"/>
            <p14:sldId id="313"/>
            <p14:sldId id="318"/>
            <p14:sldId id="319"/>
            <p14:sldId id="344"/>
            <p14:sldId id="1886"/>
            <p14:sldId id="1887"/>
            <p14:sldId id="1888"/>
            <p14:sldId id="1891"/>
            <p14:sldId id="1890"/>
            <p14:sldId id="309"/>
            <p14:sldId id="345"/>
            <p14:sldId id="310"/>
            <p14:sldId id="1889"/>
            <p14:sldId id="314"/>
            <p14:sldId id="315"/>
            <p14:sldId id="316"/>
            <p14:sldId id="317"/>
            <p14:sldId id="320"/>
            <p14:sldId id="346"/>
            <p14:sldId id="348"/>
            <p14:sldId id="347"/>
            <p14:sldId id="323"/>
            <p14:sldId id="349"/>
            <p14:sldId id="324"/>
            <p14:sldId id="1892"/>
            <p14:sldId id="326"/>
            <p14:sldId id="325"/>
            <p14:sldId id="1881"/>
            <p14:sldId id="329"/>
            <p14:sldId id="328"/>
            <p14:sldId id="1885"/>
            <p14:sldId id="269"/>
          </p14:sldIdLst>
        </p14:section>
        <p14:section name="ARCHIVE" id="{90558020-A6E4-4DEB-8D8B-EC76235D6FB4}">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222813-7724-1D42-4B2C-3379BCCE06FA}" name="Collette Westerman" initials="CW" userId="S::collette.westerman@apmnet.us::70971be8-b4f5-4d64-968f-f4ff17e2e5d7" providerId="AD"/>
  <p188:author id="{AC282253-4FD2-1AE3-E96E-B1DC47324813}" name="Collette Westerman" initials="CW" userId="S::CWesterman@ingeus.co.uk::a207cbfe-ed5d-43cc-8115-c956b16f173a" providerId="AD"/>
  <p188:author id="{09F2ECA0-26A8-7578-492D-90B644F47049}" name="Kathryn Hunter" initials="KH" userId="S::kathryn.hunter@apmnet.us::839972a9-d21b-428c-87ba-d117b348d05a" providerId="AD"/>
  <p188:author id="{D383E5A5-2255-06AB-3F51-F83E85683658}" name="Lisa Jasper" initials="LJ" userId="S::lisa.jasper@apmnet.us::8c711746-4ef3-45f3-ae7d-7f9636196758" providerId="AD"/>
  <p188:author id="{7AA3CCF1-E87F-3F46-B17E-34944D2B5A29}" name="Collette Westerman" initials="CW" userId="S::cwesterman_ingeus.co.uk#ext#@apmus.onmicrosoft.com::1ef6c9bd-e098-4ef7-9b85-2b445f24a84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AAE1"/>
    <a:srgbClr val="00AF74"/>
    <a:srgbClr val="24408D"/>
    <a:srgbClr val="EC008C"/>
    <a:srgbClr val="FDBA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ED62B8-2FE5-44E6-B002-89CA3FD1149B}" v="24" dt="2026-07-21T15:12:12.93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864" y="90"/>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notesMaster" Target="notesMasters/notesMaster1.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microsoft.com/office/2018/10/relationships/authors" Target="author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tableStyles" Target="tableStyle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D369AA-59C0-49E1-B55E-B70432456B9A}" type="doc">
      <dgm:prSet loTypeId="urn:microsoft.com/office/officeart/2005/8/layout/cycle8" loCatId="cycle" qsTypeId="urn:microsoft.com/office/officeart/2005/8/quickstyle/simple1" qsCatId="simple" csTypeId="urn:microsoft.com/office/officeart/2005/8/colors/accent1_2" csCatId="accent1" phldr="1"/>
      <dgm:spPr/>
      <dgm:t>
        <a:bodyPr/>
        <a:lstStyle/>
        <a:p>
          <a:endParaRPr lang="en-GB"/>
        </a:p>
      </dgm:t>
    </dgm:pt>
    <dgm:pt modelId="{D6618069-B0EC-4200-9E36-A2D5FA553F52}">
      <dgm:prSet phldrT="[Text]"/>
      <dgm:spPr>
        <a:xfrm>
          <a:off x="1062917" y="134435"/>
          <a:ext cx="1824320" cy="1824320"/>
        </a:xfrm>
        <a:prstGeom prst="pie">
          <a:avLst>
            <a:gd name="adj1" fmla="val 16200000"/>
            <a:gd name="adj2" fmla="val 20520000"/>
          </a:avLst>
        </a:prstGeom>
        <a:solidFill>
          <a:srgbClr val="00AF74"/>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a:solidFill>
                <a:srgbClr val="FFFFFF"/>
              </a:solidFill>
              <a:latin typeface="Arial" panose="020B0604020202020204" pitchFamily="34" charset="0"/>
              <a:ea typeface="+mn-ea"/>
              <a:cs typeface="Arial" panose="020B0604020202020204" pitchFamily="34" charset="0"/>
            </a:rPr>
            <a:t>Define</a:t>
          </a:r>
        </a:p>
      </dgm:t>
    </dgm:pt>
    <dgm:pt modelId="{893EE6D8-CE80-42FD-B96D-4B0C4CCFFA5F}" type="parTrans" cxnId="{804081B6-634C-48F7-BE19-0675DFCD041F}">
      <dgm:prSet/>
      <dgm:spPr/>
      <dgm:t>
        <a:bodyPr/>
        <a:lstStyle/>
        <a:p>
          <a:endParaRPr lang="en-GB"/>
        </a:p>
      </dgm:t>
    </dgm:pt>
    <dgm:pt modelId="{E2E703FF-F63F-4A79-96BF-A0500BFFB256}" type="sibTrans" cxnId="{804081B6-634C-48F7-BE19-0675DFCD041F}">
      <dgm:prSet/>
      <dgm:spPr/>
      <dgm:t>
        <a:bodyPr/>
        <a:lstStyle/>
        <a:p>
          <a:endParaRPr lang="en-GB"/>
        </a:p>
      </dgm:t>
    </dgm:pt>
    <dgm:pt modelId="{43434F5F-A1D0-4D7B-93B7-E3D3DB8C0F0B}">
      <dgm:prSet phldrT="[Text]"/>
      <dgm:spPr>
        <a:xfrm>
          <a:off x="1078554" y="183083"/>
          <a:ext cx="1824320" cy="1824320"/>
        </a:xfrm>
        <a:prstGeom prst="pie">
          <a:avLst>
            <a:gd name="adj1" fmla="val 20520000"/>
            <a:gd name="adj2" fmla="val 3240000"/>
          </a:avLst>
        </a:prstGeom>
        <a:solidFill>
          <a:srgbClr val="27AAE1"/>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a:solidFill>
                <a:srgbClr val="FFFFFF"/>
              </a:solidFill>
              <a:latin typeface="Trebuchet MS"/>
              <a:ea typeface="+mn-ea"/>
              <a:cs typeface="+mn-cs"/>
            </a:rPr>
            <a:t>Measure</a:t>
          </a:r>
        </a:p>
      </dgm:t>
    </dgm:pt>
    <dgm:pt modelId="{CC653188-7757-47F5-980D-2F580D5D046C}" type="parTrans" cxnId="{65D8C6C9-1A10-491C-9E4D-E64E01660637}">
      <dgm:prSet/>
      <dgm:spPr/>
      <dgm:t>
        <a:bodyPr/>
        <a:lstStyle/>
        <a:p>
          <a:endParaRPr lang="en-GB"/>
        </a:p>
      </dgm:t>
    </dgm:pt>
    <dgm:pt modelId="{BAD65EFA-967E-4883-AE14-C7953EF71C1F}" type="sibTrans" cxnId="{65D8C6C9-1A10-491C-9E4D-E64E01660637}">
      <dgm:prSet/>
      <dgm:spPr/>
      <dgm:t>
        <a:bodyPr/>
        <a:lstStyle/>
        <a:p>
          <a:endParaRPr lang="en-GB"/>
        </a:p>
      </dgm:t>
    </dgm:pt>
    <dgm:pt modelId="{27BF821D-2F3E-49CD-9B37-04D0FA768287}">
      <dgm:prSet phldrT="[Text]"/>
      <dgm:spPr>
        <a:xfrm>
          <a:off x="1037289" y="213054"/>
          <a:ext cx="1824320" cy="1824320"/>
        </a:xfrm>
        <a:prstGeom prst="pie">
          <a:avLst>
            <a:gd name="adj1" fmla="val 3240000"/>
            <a:gd name="adj2" fmla="val 7560000"/>
          </a:avLst>
        </a:prstGeom>
        <a:solidFill>
          <a:srgbClr val="EC008C"/>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a:solidFill>
                <a:srgbClr val="FFFFFF"/>
              </a:solidFill>
              <a:latin typeface="Trebuchet MS"/>
              <a:ea typeface="+mn-ea"/>
              <a:cs typeface="+mn-cs"/>
            </a:rPr>
            <a:t>Analyze</a:t>
          </a:r>
        </a:p>
        <a:p>
          <a:pPr>
            <a:buNone/>
          </a:pPr>
          <a:endParaRPr lang="en-US" noProof="0">
            <a:solidFill>
              <a:srgbClr val="FFFFFF"/>
            </a:solidFill>
            <a:latin typeface="Trebuchet MS"/>
            <a:ea typeface="+mn-ea"/>
            <a:cs typeface="+mn-cs"/>
          </a:endParaRPr>
        </a:p>
      </dgm:t>
    </dgm:pt>
    <dgm:pt modelId="{D1698C79-E725-47CC-941A-190C96E6E135}" type="parTrans" cxnId="{F2C731B1-6208-471C-8AA5-21AEAFEA8436}">
      <dgm:prSet/>
      <dgm:spPr/>
      <dgm:t>
        <a:bodyPr/>
        <a:lstStyle/>
        <a:p>
          <a:endParaRPr lang="en-GB"/>
        </a:p>
      </dgm:t>
    </dgm:pt>
    <dgm:pt modelId="{66444982-89CC-4ADF-9DDF-851D4855A8D8}" type="sibTrans" cxnId="{F2C731B1-6208-471C-8AA5-21AEAFEA8436}">
      <dgm:prSet/>
      <dgm:spPr/>
      <dgm:t>
        <a:bodyPr/>
        <a:lstStyle/>
        <a:p>
          <a:endParaRPr lang="en-GB"/>
        </a:p>
      </dgm:t>
    </dgm:pt>
    <dgm:pt modelId="{17623FF4-83D1-409E-B2C9-D3BD0C35F949}">
      <dgm:prSet/>
      <dgm:spPr>
        <a:xfrm>
          <a:off x="1062917" y="134435"/>
          <a:ext cx="1824320" cy="1824320"/>
        </a:xfrm>
        <a:prstGeom prst="pie">
          <a:avLst>
            <a:gd name="adj1" fmla="val 16200000"/>
            <a:gd name="adj2" fmla="val 20520000"/>
          </a:avLst>
        </a:prstGeom>
        <a:solidFill>
          <a:srgbClr val="00AF74"/>
        </a:solidFill>
        <a:ln w="12700" cap="flat" cmpd="sng" algn="ctr">
          <a:solidFill>
            <a:srgbClr val="FFFFFF">
              <a:hueOff val="0"/>
              <a:satOff val="0"/>
              <a:lumOff val="0"/>
              <a:alphaOff val="0"/>
            </a:srgbClr>
          </a:solidFill>
          <a:prstDash val="solid"/>
          <a:miter lim="800000"/>
        </a:ln>
        <a:effectLst/>
      </dgm:spPr>
      <dgm:t>
        <a:bodyPr/>
        <a:lstStyle/>
        <a:p>
          <a:pPr>
            <a:buChar char="•"/>
          </a:pPr>
          <a:endParaRPr lang="en-US" noProof="0">
            <a:solidFill>
              <a:srgbClr val="FFFFFF"/>
            </a:solidFill>
            <a:latin typeface="Trebuchet MS"/>
            <a:ea typeface="+mn-ea"/>
            <a:cs typeface="+mn-cs"/>
          </a:endParaRPr>
        </a:p>
      </dgm:t>
    </dgm:pt>
    <dgm:pt modelId="{C5298539-7CF6-43EF-ACF5-4ED8AC1B4A67}" type="parTrans" cxnId="{E02ACA6B-C3D3-4D90-B61C-6E8277B25FF2}">
      <dgm:prSet/>
      <dgm:spPr/>
      <dgm:t>
        <a:bodyPr/>
        <a:lstStyle/>
        <a:p>
          <a:endParaRPr lang="en-GB"/>
        </a:p>
      </dgm:t>
    </dgm:pt>
    <dgm:pt modelId="{A170FA3D-9235-415D-8D21-809B23642B3F}" type="sibTrans" cxnId="{E02ACA6B-C3D3-4D90-B61C-6E8277B25FF2}">
      <dgm:prSet/>
      <dgm:spPr/>
      <dgm:t>
        <a:bodyPr/>
        <a:lstStyle/>
        <a:p>
          <a:endParaRPr lang="en-GB"/>
        </a:p>
      </dgm:t>
    </dgm:pt>
    <dgm:pt modelId="{61F0A2E3-1D9E-4CEC-86A0-B0FE6E70E7B1}">
      <dgm:prSet/>
      <dgm:spPr>
        <a:xfrm>
          <a:off x="996025" y="183083"/>
          <a:ext cx="1824320" cy="1824320"/>
        </a:xfrm>
        <a:prstGeom prst="pie">
          <a:avLst>
            <a:gd name="adj1" fmla="val 7560000"/>
            <a:gd name="adj2" fmla="val 11880000"/>
          </a:avLst>
        </a:prstGeom>
        <a:solidFill>
          <a:srgbClr val="FBBA00"/>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a:solidFill>
                <a:srgbClr val="FFFFFF"/>
              </a:solidFill>
              <a:latin typeface="Trebuchet MS"/>
              <a:ea typeface="+mn-ea"/>
              <a:cs typeface="+mn-cs"/>
            </a:rPr>
            <a:t>Improve</a:t>
          </a:r>
        </a:p>
      </dgm:t>
    </dgm:pt>
    <dgm:pt modelId="{13F9578B-8F2E-4E59-AA8C-9F45715DF7BE}" type="parTrans" cxnId="{49807935-D82D-4A28-9444-CF41A811697A}">
      <dgm:prSet/>
      <dgm:spPr/>
      <dgm:t>
        <a:bodyPr/>
        <a:lstStyle/>
        <a:p>
          <a:endParaRPr lang="en-GB"/>
        </a:p>
      </dgm:t>
    </dgm:pt>
    <dgm:pt modelId="{5B0F3261-B8F3-4EF6-8025-08F245E8EF09}" type="sibTrans" cxnId="{49807935-D82D-4A28-9444-CF41A811697A}">
      <dgm:prSet/>
      <dgm:spPr/>
      <dgm:t>
        <a:bodyPr/>
        <a:lstStyle/>
        <a:p>
          <a:endParaRPr lang="en-GB"/>
        </a:p>
      </dgm:t>
    </dgm:pt>
    <dgm:pt modelId="{3607FCD8-6657-4836-95A4-7A279A1F256B}">
      <dgm:prSet/>
      <dgm:spPr>
        <a:xfrm>
          <a:off x="1011662" y="134435"/>
          <a:ext cx="1824320" cy="1824320"/>
        </a:xfrm>
        <a:prstGeom prst="pie">
          <a:avLst>
            <a:gd name="adj1" fmla="val 11880000"/>
            <a:gd name="adj2" fmla="val 16200000"/>
          </a:avLst>
        </a:prstGeom>
        <a:solidFill>
          <a:srgbClr val="7030A0"/>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a:solidFill>
                <a:srgbClr val="FFFFFF"/>
              </a:solidFill>
              <a:latin typeface="Trebuchet MS"/>
              <a:ea typeface="+mn-ea"/>
              <a:cs typeface="+mn-cs"/>
            </a:rPr>
            <a:t>Control</a:t>
          </a:r>
        </a:p>
        <a:p>
          <a:pPr>
            <a:buNone/>
          </a:pPr>
          <a:endParaRPr lang="en-US" noProof="0">
            <a:solidFill>
              <a:srgbClr val="FFFFFF"/>
            </a:solidFill>
            <a:latin typeface="Trebuchet MS"/>
            <a:ea typeface="+mn-ea"/>
            <a:cs typeface="+mn-cs"/>
          </a:endParaRPr>
        </a:p>
      </dgm:t>
    </dgm:pt>
    <dgm:pt modelId="{E598C32C-35DB-47E0-A1F6-E475AD071A4B}" type="parTrans" cxnId="{956A859B-4D0E-406D-A476-6E0872DFC719}">
      <dgm:prSet/>
      <dgm:spPr/>
      <dgm:t>
        <a:bodyPr/>
        <a:lstStyle/>
        <a:p>
          <a:endParaRPr lang="en-GB"/>
        </a:p>
      </dgm:t>
    </dgm:pt>
    <dgm:pt modelId="{69B2B37B-26AE-4264-84DC-19FA2B13C444}" type="sibTrans" cxnId="{956A859B-4D0E-406D-A476-6E0872DFC719}">
      <dgm:prSet/>
      <dgm:spPr/>
      <dgm:t>
        <a:bodyPr/>
        <a:lstStyle/>
        <a:p>
          <a:endParaRPr lang="en-GB"/>
        </a:p>
      </dgm:t>
    </dgm:pt>
    <dgm:pt modelId="{50B73C20-8720-412A-ABE2-B41B774F189B}" type="pres">
      <dgm:prSet presAssocID="{52D369AA-59C0-49E1-B55E-B70432456B9A}" presName="compositeShape" presStyleCnt="0">
        <dgm:presLayoutVars>
          <dgm:chMax val="7"/>
          <dgm:dir/>
          <dgm:resizeHandles val="exact"/>
        </dgm:presLayoutVars>
      </dgm:prSet>
      <dgm:spPr/>
    </dgm:pt>
    <dgm:pt modelId="{8C235FE3-3F71-44C2-A46B-539B833DE24C}" type="pres">
      <dgm:prSet presAssocID="{52D369AA-59C0-49E1-B55E-B70432456B9A}" presName="wedge1" presStyleLbl="node1" presStyleIdx="0" presStyleCnt="5"/>
      <dgm:spPr/>
    </dgm:pt>
    <dgm:pt modelId="{90038AF1-24CC-43B0-9B1B-D923A7B56C3C}" type="pres">
      <dgm:prSet presAssocID="{52D369AA-59C0-49E1-B55E-B70432456B9A}" presName="dummy1a" presStyleCnt="0"/>
      <dgm:spPr/>
    </dgm:pt>
    <dgm:pt modelId="{71E81969-F2BB-4CC9-867D-9E0708DF02FF}" type="pres">
      <dgm:prSet presAssocID="{52D369AA-59C0-49E1-B55E-B70432456B9A}" presName="dummy1b" presStyleCnt="0"/>
      <dgm:spPr/>
    </dgm:pt>
    <dgm:pt modelId="{DCE22BBA-999E-458F-ADE2-6AD635E0B027}" type="pres">
      <dgm:prSet presAssocID="{52D369AA-59C0-49E1-B55E-B70432456B9A}" presName="wedge1Tx" presStyleLbl="node1" presStyleIdx="0" presStyleCnt="5">
        <dgm:presLayoutVars>
          <dgm:chMax val="0"/>
          <dgm:chPref val="0"/>
          <dgm:bulletEnabled val="1"/>
        </dgm:presLayoutVars>
      </dgm:prSet>
      <dgm:spPr/>
    </dgm:pt>
    <dgm:pt modelId="{EDCE5F9B-1D88-4D8D-9083-55DD36D07A64}" type="pres">
      <dgm:prSet presAssocID="{52D369AA-59C0-49E1-B55E-B70432456B9A}" presName="wedge2" presStyleLbl="node1" presStyleIdx="1" presStyleCnt="5"/>
      <dgm:spPr/>
    </dgm:pt>
    <dgm:pt modelId="{CF151D6C-DD1F-432A-9488-CEF8ED585BC2}" type="pres">
      <dgm:prSet presAssocID="{52D369AA-59C0-49E1-B55E-B70432456B9A}" presName="dummy2a" presStyleCnt="0"/>
      <dgm:spPr/>
    </dgm:pt>
    <dgm:pt modelId="{94572E03-695E-4870-97D9-5D3958380E35}" type="pres">
      <dgm:prSet presAssocID="{52D369AA-59C0-49E1-B55E-B70432456B9A}" presName="dummy2b" presStyleCnt="0"/>
      <dgm:spPr/>
    </dgm:pt>
    <dgm:pt modelId="{9A004783-E531-48C1-8181-A872C2478DAA}" type="pres">
      <dgm:prSet presAssocID="{52D369AA-59C0-49E1-B55E-B70432456B9A}" presName="wedge2Tx" presStyleLbl="node1" presStyleIdx="1" presStyleCnt="5">
        <dgm:presLayoutVars>
          <dgm:chMax val="0"/>
          <dgm:chPref val="0"/>
          <dgm:bulletEnabled val="1"/>
        </dgm:presLayoutVars>
      </dgm:prSet>
      <dgm:spPr/>
    </dgm:pt>
    <dgm:pt modelId="{A5E52B60-80D4-45E8-AB32-72C8832C4F04}" type="pres">
      <dgm:prSet presAssocID="{52D369AA-59C0-49E1-B55E-B70432456B9A}" presName="wedge3" presStyleLbl="node1" presStyleIdx="2" presStyleCnt="5"/>
      <dgm:spPr/>
    </dgm:pt>
    <dgm:pt modelId="{5206D377-FF06-4A93-85A7-58B4AD85BDAC}" type="pres">
      <dgm:prSet presAssocID="{52D369AA-59C0-49E1-B55E-B70432456B9A}" presName="dummy3a" presStyleCnt="0"/>
      <dgm:spPr/>
    </dgm:pt>
    <dgm:pt modelId="{F113BEB2-4F0E-4611-BCBE-814660A4A7D5}" type="pres">
      <dgm:prSet presAssocID="{52D369AA-59C0-49E1-B55E-B70432456B9A}" presName="dummy3b" presStyleCnt="0"/>
      <dgm:spPr/>
    </dgm:pt>
    <dgm:pt modelId="{54C2283A-AC5E-45E9-B06B-8E6497C8CC06}" type="pres">
      <dgm:prSet presAssocID="{52D369AA-59C0-49E1-B55E-B70432456B9A}" presName="wedge3Tx" presStyleLbl="node1" presStyleIdx="2" presStyleCnt="5">
        <dgm:presLayoutVars>
          <dgm:chMax val="0"/>
          <dgm:chPref val="0"/>
          <dgm:bulletEnabled val="1"/>
        </dgm:presLayoutVars>
      </dgm:prSet>
      <dgm:spPr/>
    </dgm:pt>
    <dgm:pt modelId="{45CD1A6F-7DD7-4DE4-B175-D658CA85DBBD}" type="pres">
      <dgm:prSet presAssocID="{52D369AA-59C0-49E1-B55E-B70432456B9A}" presName="wedge4" presStyleLbl="node1" presStyleIdx="3" presStyleCnt="5"/>
      <dgm:spPr/>
    </dgm:pt>
    <dgm:pt modelId="{BADB538E-E5E0-42D9-8D41-A1BA0A54E760}" type="pres">
      <dgm:prSet presAssocID="{52D369AA-59C0-49E1-B55E-B70432456B9A}" presName="dummy4a" presStyleCnt="0"/>
      <dgm:spPr/>
    </dgm:pt>
    <dgm:pt modelId="{91C2630D-E657-4FDB-80ED-2B152AB0CF09}" type="pres">
      <dgm:prSet presAssocID="{52D369AA-59C0-49E1-B55E-B70432456B9A}" presName="dummy4b" presStyleCnt="0"/>
      <dgm:spPr/>
    </dgm:pt>
    <dgm:pt modelId="{49429826-AA5F-47CA-B11A-ABD6DE54C821}" type="pres">
      <dgm:prSet presAssocID="{52D369AA-59C0-49E1-B55E-B70432456B9A}" presName="wedge4Tx" presStyleLbl="node1" presStyleIdx="3" presStyleCnt="5">
        <dgm:presLayoutVars>
          <dgm:chMax val="0"/>
          <dgm:chPref val="0"/>
          <dgm:bulletEnabled val="1"/>
        </dgm:presLayoutVars>
      </dgm:prSet>
      <dgm:spPr/>
    </dgm:pt>
    <dgm:pt modelId="{3B487735-59B4-41E9-BDAB-5D244BF18F68}" type="pres">
      <dgm:prSet presAssocID="{52D369AA-59C0-49E1-B55E-B70432456B9A}" presName="wedge5" presStyleLbl="node1" presStyleIdx="4" presStyleCnt="5"/>
      <dgm:spPr/>
    </dgm:pt>
    <dgm:pt modelId="{939A2975-E45D-4D75-835C-838DA7CA4783}" type="pres">
      <dgm:prSet presAssocID="{52D369AA-59C0-49E1-B55E-B70432456B9A}" presName="dummy5a" presStyleCnt="0"/>
      <dgm:spPr/>
    </dgm:pt>
    <dgm:pt modelId="{76229039-77BD-4536-8D9F-CEC0D2D14777}" type="pres">
      <dgm:prSet presAssocID="{52D369AA-59C0-49E1-B55E-B70432456B9A}" presName="dummy5b" presStyleCnt="0"/>
      <dgm:spPr/>
    </dgm:pt>
    <dgm:pt modelId="{85604DE5-89B7-4180-B562-F4BF7B9539D2}" type="pres">
      <dgm:prSet presAssocID="{52D369AA-59C0-49E1-B55E-B70432456B9A}" presName="wedge5Tx" presStyleLbl="node1" presStyleIdx="4" presStyleCnt="5">
        <dgm:presLayoutVars>
          <dgm:chMax val="0"/>
          <dgm:chPref val="0"/>
          <dgm:bulletEnabled val="1"/>
        </dgm:presLayoutVars>
      </dgm:prSet>
      <dgm:spPr/>
    </dgm:pt>
    <dgm:pt modelId="{1B3C0182-CF0B-417D-8862-5551CF080ABD}" type="pres">
      <dgm:prSet presAssocID="{E2E703FF-F63F-4A79-96BF-A0500BFFB256}" presName="arrowWedge1" presStyleLbl="fgSibTrans2D1" presStyleIdx="0" presStyleCnt="5"/>
      <dgm:spPr>
        <a:xfrm>
          <a:off x="949897" y="21500"/>
          <a:ext cx="2050188" cy="2050188"/>
        </a:xfrm>
        <a:prstGeom prst="circularArrow">
          <a:avLst>
            <a:gd name="adj1" fmla="val 5085"/>
            <a:gd name="adj2" fmla="val 327528"/>
            <a:gd name="adj3" fmla="val 20192361"/>
            <a:gd name="adj4" fmla="val 16200324"/>
            <a:gd name="adj5" fmla="val 5932"/>
          </a:avLst>
        </a:prstGeom>
        <a:solidFill>
          <a:srgbClr val="6B635B"/>
        </a:solidFill>
        <a:ln>
          <a:noFill/>
        </a:ln>
        <a:effectLst/>
      </dgm:spPr>
    </dgm:pt>
    <dgm:pt modelId="{943B39FA-B7B3-4946-B395-D611843A2FD5}" type="pres">
      <dgm:prSet presAssocID="{BAD65EFA-967E-4883-AE14-C7953EF71C1F}" presName="arrowWedge2" presStyleLbl="fgSibTrans2D1" presStyleIdx="1" presStyleCnt="5"/>
      <dgm:spPr>
        <a:xfrm>
          <a:off x="965746" y="70133"/>
          <a:ext cx="2050188" cy="2050188"/>
        </a:xfrm>
        <a:prstGeom prst="circularArrow">
          <a:avLst>
            <a:gd name="adj1" fmla="val 5085"/>
            <a:gd name="adj2" fmla="val 327528"/>
            <a:gd name="adj3" fmla="val 2912753"/>
            <a:gd name="adj4" fmla="val 20519953"/>
            <a:gd name="adj5" fmla="val 5932"/>
          </a:avLst>
        </a:prstGeom>
        <a:solidFill>
          <a:srgbClr val="6B635B"/>
        </a:solidFill>
        <a:ln>
          <a:noFill/>
        </a:ln>
        <a:effectLst/>
      </dgm:spPr>
    </dgm:pt>
    <dgm:pt modelId="{F382579C-1F35-4CBE-B203-942B20126A0F}" type="pres">
      <dgm:prSet presAssocID="{66444982-89CC-4ADF-9DDF-851D4855A8D8}" presName="arrowWedge3" presStyleLbl="fgSibTrans2D1" presStyleIdx="2" presStyleCnt="5"/>
      <dgm:spPr>
        <a:xfrm>
          <a:off x="924355" y="100196"/>
          <a:ext cx="2050188" cy="2050188"/>
        </a:xfrm>
        <a:prstGeom prst="circularArrow">
          <a:avLst>
            <a:gd name="adj1" fmla="val 5085"/>
            <a:gd name="adj2" fmla="val 327528"/>
            <a:gd name="adj3" fmla="val 7232777"/>
            <a:gd name="adj4" fmla="val 3239695"/>
            <a:gd name="adj5" fmla="val 5932"/>
          </a:avLst>
        </a:prstGeom>
        <a:solidFill>
          <a:srgbClr val="6B635B"/>
        </a:solidFill>
        <a:ln>
          <a:noFill/>
        </a:ln>
        <a:effectLst/>
      </dgm:spPr>
    </dgm:pt>
    <dgm:pt modelId="{CDF1F5E0-2273-4303-AC97-73925993329B}" type="pres">
      <dgm:prSet presAssocID="{5B0F3261-B8F3-4EF6-8025-08F245E8EF09}" presName="arrowWedge4" presStyleLbl="fgSibTrans2D1" presStyleIdx="3" presStyleCnt="5"/>
      <dgm:spPr>
        <a:xfrm>
          <a:off x="882965" y="70133"/>
          <a:ext cx="2050188" cy="2050188"/>
        </a:xfrm>
        <a:prstGeom prst="circularArrow">
          <a:avLst>
            <a:gd name="adj1" fmla="val 5085"/>
            <a:gd name="adj2" fmla="val 327528"/>
            <a:gd name="adj3" fmla="val 11552519"/>
            <a:gd name="adj4" fmla="val 7559718"/>
            <a:gd name="adj5" fmla="val 5932"/>
          </a:avLst>
        </a:prstGeom>
        <a:solidFill>
          <a:srgbClr val="6B635B"/>
        </a:solidFill>
        <a:ln>
          <a:noFill/>
        </a:ln>
        <a:effectLst/>
      </dgm:spPr>
    </dgm:pt>
    <dgm:pt modelId="{578C926A-45BB-4DF8-A8E0-D69C701E431E}" type="pres">
      <dgm:prSet presAssocID="{69B2B37B-26AE-4264-84DC-19FA2B13C444}" presName="arrowWedge5" presStyleLbl="fgSibTrans2D1" presStyleIdx="4" presStyleCnt="5"/>
      <dgm:spPr>
        <a:xfrm>
          <a:off x="898814" y="21500"/>
          <a:ext cx="2050188" cy="2050188"/>
        </a:xfrm>
        <a:prstGeom prst="circularArrow">
          <a:avLst>
            <a:gd name="adj1" fmla="val 5085"/>
            <a:gd name="adj2" fmla="val 327528"/>
            <a:gd name="adj3" fmla="val 15872148"/>
            <a:gd name="adj4" fmla="val 11880111"/>
            <a:gd name="adj5" fmla="val 5932"/>
          </a:avLst>
        </a:prstGeom>
        <a:solidFill>
          <a:srgbClr val="6B635B"/>
        </a:solidFill>
        <a:ln>
          <a:noFill/>
        </a:ln>
        <a:effectLst/>
      </dgm:spPr>
    </dgm:pt>
  </dgm:ptLst>
  <dgm:cxnLst>
    <dgm:cxn modelId="{80E0BF16-C569-4180-B274-29A4561BD76A}" type="presOf" srcId="{27BF821D-2F3E-49CD-9B37-04D0FA768287}" destId="{54C2283A-AC5E-45E9-B06B-8E6497C8CC06}" srcOrd="1" destOrd="0" presId="urn:microsoft.com/office/officeart/2005/8/layout/cycle8"/>
    <dgm:cxn modelId="{31770029-1BAD-49B4-A767-7516DFF61D5B}" type="presOf" srcId="{17623FF4-83D1-409E-B2C9-D3BD0C35F949}" destId="{8C235FE3-3F71-44C2-A46B-539B833DE24C}" srcOrd="0" destOrd="1" presId="urn:microsoft.com/office/officeart/2005/8/layout/cycle8"/>
    <dgm:cxn modelId="{49807935-D82D-4A28-9444-CF41A811697A}" srcId="{52D369AA-59C0-49E1-B55E-B70432456B9A}" destId="{61F0A2E3-1D9E-4CEC-86A0-B0FE6E70E7B1}" srcOrd="3" destOrd="0" parTransId="{13F9578B-8F2E-4E59-AA8C-9F45715DF7BE}" sibTransId="{5B0F3261-B8F3-4EF6-8025-08F245E8EF09}"/>
    <dgm:cxn modelId="{77886068-65C1-4DE8-90B9-36CAC78D28B5}" type="presOf" srcId="{17623FF4-83D1-409E-B2C9-D3BD0C35F949}" destId="{DCE22BBA-999E-458F-ADE2-6AD635E0B027}" srcOrd="1" destOrd="1" presId="urn:microsoft.com/office/officeart/2005/8/layout/cycle8"/>
    <dgm:cxn modelId="{E02ACA6B-C3D3-4D90-B61C-6E8277B25FF2}" srcId="{D6618069-B0EC-4200-9E36-A2D5FA553F52}" destId="{17623FF4-83D1-409E-B2C9-D3BD0C35F949}" srcOrd="0" destOrd="0" parTransId="{C5298539-7CF6-43EF-ACF5-4ED8AC1B4A67}" sibTransId="{A170FA3D-9235-415D-8D21-809B23642B3F}"/>
    <dgm:cxn modelId="{CD5B734D-355E-4F53-BDB3-B027EB54C335}" type="presOf" srcId="{61F0A2E3-1D9E-4CEC-86A0-B0FE6E70E7B1}" destId="{49429826-AA5F-47CA-B11A-ABD6DE54C821}" srcOrd="1" destOrd="0" presId="urn:microsoft.com/office/officeart/2005/8/layout/cycle8"/>
    <dgm:cxn modelId="{3321FE52-A8B8-4A6C-AC9C-6F68280E5C1A}" type="presOf" srcId="{43434F5F-A1D0-4D7B-93B7-E3D3DB8C0F0B}" destId="{9A004783-E531-48C1-8181-A872C2478DAA}" srcOrd="1" destOrd="0" presId="urn:microsoft.com/office/officeart/2005/8/layout/cycle8"/>
    <dgm:cxn modelId="{80EA788F-BC8B-445D-9DE6-5E1576DBBAB1}" type="presOf" srcId="{3607FCD8-6657-4836-95A4-7A279A1F256B}" destId="{3B487735-59B4-41E9-BDAB-5D244BF18F68}" srcOrd="0" destOrd="0" presId="urn:microsoft.com/office/officeart/2005/8/layout/cycle8"/>
    <dgm:cxn modelId="{956A859B-4D0E-406D-A476-6E0872DFC719}" srcId="{52D369AA-59C0-49E1-B55E-B70432456B9A}" destId="{3607FCD8-6657-4836-95A4-7A279A1F256B}" srcOrd="4" destOrd="0" parTransId="{E598C32C-35DB-47E0-A1F6-E475AD071A4B}" sibTransId="{69B2B37B-26AE-4264-84DC-19FA2B13C444}"/>
    <dgm:cxn modelId="{851BA8A4-9B3D-48C7-9A10-E466CFA74B4A}" type="presOf" srcId="{D6618069-B0EC-4200-9E36-A2D5FA553F52}" destId="{8C235FE3-3F71-44C2-A46B-539B833DE24C}" srcOrd="0" destOrd="0" presId="urn:microsoft.com/office/officeart/2005/8/layout/cycle8"/>
    <dgm:cxn modelId="{40525CA9-711A-4555-8430-04F5EC60DCDF}" type="presOf" srcId="{3607FCD8-6657-4836-95A4-7A279A1F256B}" destId="{85604DE5-89B7-4180-B562-F4BF7B9539D2}" srcOrd="1" destOrd="0" presId="urn:microsoft.com/office/officeart/2005/8/layout/cycle8"/>
    <dgm:cxn modelId="{F2C731B1-6208-471C-8AA5-21AEAFEA8436}" srcId="{52D369AA-59C0-49E1-B55E-B70432456B9A}" destId="{27BF821D-2F3E-49CD-9B37-04D0FA768287}" srcOrd="2" destOrd="0" parTransId="{D1698C79-E725-47CC-941A-190C96E6E135}" sibTransId="{66444982-89CC-4ADF-9DDF-851D4855A8D8}"/>
    <dgm:cxn modelId="{804081B6-634C-48F7-BE19-0675DFCD041F}" srcId="{52D369AA-59C0-49E1-B55E-B70432456B9A}" destId="{D6618069-B0EC-4200-9E36-A2D5FA553F52}" srcOrd="0" destOrd="0" parTransId="{893EE6D8-CE80-42FD-B96D-4B0C4CCFFA5F}" sibTransId="{E2E703FF-F63F-4A79-96BF-A0500BFFB256}"/>
    <dgm:cxn modelId="{0A828DC2-5466-4E4B-8B06-DC2AF9159DE7}" type="presOf" srcId="{61F0A2E3-1D9E-4CEC-86A0-B0FE6E70E7B1}" destId="{45CD1A6F-7DD7-4DE4-B175-D658CA85DBBD}" srcOrd="0" destOrd="0" presId="urn:microsoft.com/office/officeart/2005/8/layout/cycle8"/>
    <dgm:cxn modelId="{78276EC5-638E-4FB2-ACB7-01621011D25E}" type="presOf" srcId="{27BF821D-2F3E-49CD-9B37-04D0FA768287}" destId="{A5E52B60-80D4-45E8-AB32-72C8832C4F04}" srcOrd="0" destOrd="0" presId="urn:microsoft.com/office/officeart/2005/8/layout/cycle8"/>
    <dgm:cxn modelId="{65D8C6C9-1A10-491C-9E4D-E64E01660637}" srcId="{52D369AA-59C0-49E1-B55E-B70432456B9A}" destId="{43434F5F-A1D0-4D7B-93B7-E3D3DB8C0F0B}" srcOrd="1" destOrd="0" parTransId="{CC653188-7757-47F5-980D-2F580D5D046C}" sibTransId="{BAD65EFA-967E-4883-AE14-C7953EF71C1F}"/>
    <dgm:cxn modelId="{10D097CA-E7CD-4428-8B11-E9F7EA003D0A}" type="presOf" srcId="{D6618069-B0EC-4200-9E36-A2D5FA553F52}" destId="{DCE22BBA-999E-458F-ADE2-6AD635E0B027}" srcOrd="1" destOrd="0" presId="urn:microsoft.com/office/officeart/2005/8/layout/cycle8"/>
    <dgm:cxn modelId="{952FC0D1-ACC3-489B-9B7D-E2B9EC3D23F4}" type="presOf" srcId="{52D369AA-59C0-49E1-B55E-B70432456B9A}" destId="{50B73C20-8720-412A-ABE2-B41B774F189B}" srcOrd="0" destOrd="0" presId="urn:microsoft.com/office/officeart/2005/8/layout/cycle8"/>
    <dgm:cxn modelId="{6A173FDB-54F1-4B5C-AC26-42035B875450}" type="presOf" srcId="{43434F5F-A1D0-4D7B-93B7-E3D3DB8C0F0B}" destId="{EDCE5F9B-1D88-4D8D-9083-55DD36D07A64}" srcOrd="0" destOrd="0" presId="urn:microsoft.com/office/officeart/2005/8/layout/cycle8"/>
    <dgm:cxn modelId="{F0697471-CBB1-4158-933D-B4B3F75E0604}" type="presParOf" srcId="{50B73C20-8720-412A-ABE2-B41B774F189B}" destId="{8C235FE3-3F71-44C2-A46B-539B833DE24C}" srcOrd="0" destOrd="0" presId="urn:microsoft.com/office/officeart/2005/8/layout/cycle8"/>
    <dgm:cxn modelId="{168EB40C-5A6D-4F3F-BF2C-FCF94CCE2D39}" type="presParOf" srcId="{50B73C20-8720-412A-ABE2-B41B774F189B}" destId="{90038AF1-24CC-43B0-9B1B-D923A7B56C3C}" srcOrd="1" destOrd="0" presId="urn:microsoft.com/office/officeart/2005/8/layout/cycle8"/>
    <dgm:cxn modelId="{569908DA-43D7-45B1-8009-0FA68FF133C5}" type="presParOf" srcId="{50B73C20-8720-412A-ABE2-B41B774F189B}" destId="{71E81969-F2BB-4CC9-867D-9E0708DF02FF}" srcOrd="2" destOrd="0" presId="urn:microsoft.com/office/officeart/2005/8/layout/cycle8"/>
    <dgm:cxn modelId="{120B6D63-67B5-4651-89B8-2F4AFC748633}" type="presParOf" srcId="{50B73C20-8720-412A-ABE2-B41B774F189B}" destId="{DCE22BBA-999E-458F-ADE2-6AD635E0B027}" srcOrd="3" destOrd="0" presId="urn:microsoft.com/office/officeart/2005/8/layout/cycle8"/>
    <dgm:cxn modelId="{84303F93-7770-4778-B60E-02E295CCDB18}" type="presParOf" srcId="{50B73C20-8720-412A-ABE2-B41B774F189B}" destId="{EDCE5F9B-1D88-4D8D-9083-55DD36D07A64}" srcOrd="4" destOrd="0" presId="urn:microsoft.com/office/officeart/2005/8/layout/cycle8"/>
    <dgm:cxn modelId="{10C0342C-209A-4EE1-BB67-4E82BD92DDB7}" type="presParOf" srcId="{50B73C20-8720-412A-ABE2-B41B774F189B}" destId="{CF151D6C-DD1F-432A-9488-CEF8ED585BC2}" srcOrd="5" destOrd="0" presId="urn:microsoft.com/office/officeart/2005/8/layout/cycle8"/>
    <dgm:cxn modelId="{D088F9FD-84AC-4D71-B185-0A3300C456C8}" type="presParOf" srcId="{50B73C20-8720-412A-ABE2-B41B774F189B}" destId="{94572E03-695E-4870-97D9-5D3958380E35}" srcOrd="6" destOrd="0" presId="urn:microsoft.com/office/officeart/2005/8/layout/cycle8"/>
    <dgm:cxn modelId="{876BFD5D-E2AD-4F6B-9D62-8D6CA971713B}" type="presParOf" srcId="{50B73C20-8720-412A-ABE2-B41B774F189B}" destId="{9A004783-E531-48C1-8181-A872C2478DAA}" srcOrd="7" destOrd="0" presId="urn:microsoft.com/office/officeart/2005/8/layout/cycle8"/>
    <dgm:cxn modelId="{B9611131-DF8C-44CB-96EC-2C6187ABC38E}" type="presParOf" srcId="{50B73C20-8720-412A-ABE2-B41B774F189B}" destId="{A5E52B60-80D4-45E8-AB32-72C8832C4F04}" srcOrd="8" destOrd="0" presId="urn:microsoft.com/office/officeart/2005/8/layout/cycle8"/>
    <dgm:cxn modelId="{490646F5-EF01-44D1-947D-C692A4CDBA66}" type="presParOf" srcId="{50B73C20-8720-412A-ABE2-B41B774F189B}" destId="{5206D377-FF06-4A93-85A7-58B4AD85BDAC}" srcOrd="9" destOrd="0" presId="urn:microsoft.com/office/officeart/2005/8/layout/cycle8"/>
    <dgm:cxn modelId="{ECCF5117-1E10-477D-9559-5C5ECCAC164D}" type="presParOf" srcId="{50B73C20-8720-412A-ABE2-B41B774F189B}" destId="{F113BEB2-4F0E-4611-BCBE-814660A4A7D5}" srcOrd="10" destOrd="0" presId="urn:microsoft.com/office/officeart/2005/8/layout/cycle8"/>
    <dgm:cxn modelId="{15C2D79C-91A3-47CD-8374-199DEC331890}" type="presParOf" srcId="{50B73C20-8720-412A-ABE2-B41B774F189B}" destId="{54C2283A-AC5E-45E9-B06B-8E6497C8CC06}" srcOrd="11" destOrd="0" presId="urn:microsoft.com/office/officeart/2005/8/layout/cycle8"/>
    <dgm:cxn modelId="{D6E4223E-9B2A-4E44-AEAB-45457981423F}" type="presParOf" srcId="{50B73C20-8720-412A-ABE2-B41B774F189B}" destId="{45CD1A6F-7DD7-4DE4-B175-D658CA85DBBD}" srcOrd="12" destOrd="0" presId="urn:microsoft.com/office/officeart/2005/8/layout/cycle8"/>
    <dgm:cxn modelId="{816B34C5-1FCC-4A31-9A69-5F5054EF6618}" type="presParOf" srcId="{50B73C20-8720-412A-ABE2-B41B774F189B}" destId="{BADB538E-E5E0-42D9-8D41-A1BA0A54E760}" srcOrd="13" destOrd="0" presId="urn:microsoft.com/office/officeart/2005/8/layout/cycle8"/>
    <dgm:cxn modelId="{E58EBEFA-592C-400E-B377-C856EA82807F}" type="presParOf" srcId="{50B73C20-8720-412A-ABE2-B41B774F189B}" destId="{91C2630D-E657-4FDB-80ED-2B152AB0CF09}" srcOrd="14" destOrd="0" presId="urn:microsoft.com/office/officeart/2005/8/layout/cycle8"/>
    <dgm:cxn modelId="{CCD18F65-0485-48C6-909E-7BCBB943D79E}" type="presParOf" srcId="{50B73C20-8720-412A-ABE2-B41B774F189B}" destId="{49429826-AA5F-47CA-B11A-ABD6DE54C821}" srcOrd="15" destOrd="0" presId="urn:microsoft.com/office/officeart/2005/8/layout/cycle8"/>
    <dgm:cxn modelId="{63846FA1-5D85-42C9-933E-037704582F50}" type="presParOf" srcId="{50B73C20-8720-412A-ABE2-B41B774F189B}" destId="{3B487735-59B4-41E9-BDAB-5D244BF18F68}" srcOrd="16" destOrd="0" presId="urn:microsoft.com/office/officeart/2005/8/layout/cycle8"/>
    <dgm:cxn modelId="{D4A25B8E-ECDA-4E18-8745-075786C360BE}" type="presParOf" srcId="{50B73C20-8720-412A-ABE2-B41B774F189B}" destId="{939A2975-E45D-4D75-835C-838DA7CA4783}" srcOrd="17" destOrd="0" presId="urn:microsoft.com/office/officeart/2005/8/layout/cycle8"/>
    <dgm:cxn modelId="{D9F9CDC3-0A72-4389-BC90-F9E89F90FB55}" type="presParOf" srcId="{50B73C20-8720-412A-ABE2-B41B774F189B}" destId="{76229039-77BD-4536-8D9F-CEC0D2D14777}" srcOrd="18" destOrd="0" presId="urn:microsoft.com/office/officeart/2005/8/layout/cycle8"/>
    <dgm:cxn modelId="{B6377646-4E5F-4A6C-8830-F8F204A6839B}" type="presParOf" srcId="{50B73C20-8720-412A-ABE2-B41B774F189B}" destId="{85604DE5-89B7-4180-B562-F4BF7B9539D2}" srcOrd="19" destOrd="0" presId="urn:microsoft.com/office/officeart/2005/8/layout/cycle8"/>
    <dgm:cxn modelId="{6F3AA099-86CA-4C4C-A96A-80F24A60A4FF}" type="presParOf" srcId="{50B73C20-8720-412A-ABE2-B41B774F189B}" destId="{1B3C0182-CF0B-417D-8862-5551CF080ABD}" srcOrd="20" destOrd="0" presId="urn:microsoft.com/office/officeart/2005/8/layout/cycle8"/>
    <dgm:cxn modelId="{5A889218-F07E-4117-9BF5-4D3C479D9E0F}" type="presParOf" srcId="{50B73C20-8720-412A-ABE2-B41B774F189B}" destId="{943B39FA-B7B3-4946-B395-D611843A2FD5}" srcOrd="21" destOrd="0" presId="urn:microsoft.com/office/officeart/2005/8/layout/cycle8"/>
    <dgm:cxn modelId="{DF53E29A-B27D-4573-A778-472B14395646}" type="presParOf" srcId="{50B73C20-8720-412A-ABE2-B41B774F189B}" destId="{F382579C-1F35-4CBE-B203-942B20126A0F}" srcOrd="22" destOrd="0" presId="urn:microsoft.com/office/officeart/2005/8/layout/cycle8"/>
    <dgm:cxn modelId="{5AC306C3-10BC-426E-8737-A1813C15BCD0}" type="presParOf" srcId="{50B73C20-8720-412A-ABE2-B41B774F189B}" destId="{CDF1F5E0-2273-4303-AC97-73925993329B}" srcOrd="23" destOrd="0" presId="urn:microsoft.com/office/officeart/2005/8/layout/cycle8"/>
    <dgm:cxn modelId="{F6E7CDAB-577A-4E47-87DF-7F49B00FF327}" type="presParOf" srcId="{50B73C20-8720-412A-ABE2-B41B774F189B}" destId="{578C926A-45BB-4DF8-A8E0-D69C701E431E}" srcOrd="24" destOrd="0" presId="urn:microsoft.com/office/officeart/2005/8/layout/cycle8"/>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D369AA-59C0-49E1-B55E-B70432456B9A}" type="doc">
      <dgm:prSet loTypeId="urn:microsoft.com/office/officeart/2005/8/layout/cycle8" loCatId="cycle" qsTypeId="urn:microsoft.com/office/officeart/2005/8/quickstyle/simple1" qsCatId="simple" csTypeId="urn:microsoft.com/office/officeart/2005/8/colors/accent0_2" csCatId="mainScheme" phldr="1"/>
      <dgm:spPr/>
      <dgm:t>
        <a:bodyPr/>
        <a:lstStyle/>
        <a:p>
          <a:endParaRPr lang="en-GB"/>
        </a:p>
      </dgm:t>
    </dgm:pt>
    <dgm:pt modelId="{D6618069-B0EC-4200-9E36-A2D5FA553F52}">
      <dgm:prSet phldrT="[Text]"/>
      <dgm:spPr>
        <a:xfrm>
          <a:off x="1062917" y="134435"/>
          <a:ext cx="1824320" cy="1824320"/>
        </a:xfrm>
        <a:prstGeom prst="pie">
          <a:avLst>
            <a:gd name="adj1" fmla="val 16200000"/>
            <a:gd name="adj2" fmla="val 20520000"/>
          </a:avLst>
        </a:prstGeom>
        <a:solidFill>
          <a:schemeClr val="bg1"/>
        </a:solidFill>
      </dgm:spPr>
      <dgm:t>
        <a:bodyPr/>
        <a:lstStyle/>
        <a:p>
          <a:pPr>
            <a:buNone/>
          </a:pPr>
          <a:r>
            <a:rPr lang="en-US" noProof="0">
              <a:solidFill>
                <a:schemeClr val="tx2"/>
              </a:solidFill>
              <a:latin typeface="Trebuchet MS" panose="020B0603020202020204" pitchFamily="34" charset="0"/>
              <a:ea typeface="+mn-ea"/>
              <a:cs typeface="Arial" panose="020B0604020202020204" pitchFamily="34" charset="0"/>
            </a:rPr>
            <a:t>Define</a:t>
          </a:r>
        </a:p>
      </dgm:t>
    </dgm:pt>
    <dgm:pt modelId="{893EE6D8-CE80-42FD-B96D-4B0C4CCFFA5F}" type="parTrans" cxnId="{804081B6-634C-48F7-BE19-0675DFCD041F}">
      <dgm:prSet/>
      <dgm:spPr/>
      <dgm:t>
        <a:bodyPr/>
        <a:lstStyle/>
        <a:p>
          <a:endParaRPr lang="en-GB">
            <a:latin typeface="Trebuchet MS" panose="020B0603020202020204" pitchFamily="34" charset="0"/>
          </a:endParaRPr>
        </a:p>
      </dgm:t>
    </dgm:pt>
    <dgm:pt modelId="{E2E703FF-F63F-4A79-96BF-A0500BFFB256}" type="sibTrans" cxnId="{804081B6-634C-48F7-BE19-0675DFCD041F}">
      <dgm:prSet/>
      <dgm:spPr/>
      <dgm:t>
        <a:bodyPr/>
        <a:lstStyle/>
        <a:p>
          <a:endParaRPr lang="en-GB">
            <a:latin typeface="Trebuchet MS" panose="020B0603020202020204" pitchFamily="34" charset="0"/>
          </a:endParaRPr>
        </a:p>
      </dgm:t>
    </dgm:pt>
    <dgm:pt modelId="{43434F5F-A1D0-4D7B-93B7-E3D3DB8C0F0B}">
      <dgm:prSet phldrT="[Text]"/>
      <dgm:spPr>
        <a:xfrm>
          <a:off x="1078554" y="183083"/>
          <a:ext cx="1824320" cy="1824320"/>
        </a:xfrm>
        <a:prstGeom prst="pie">
          <a:avLst>
            <a:gd name="adj1" fmla="val 20520000"/>
            <a:gd name="adj2" fmla="val 3240000"/>
          </a:avLst>
        </a:prstGeom>
        <a:solidFill>
          <a:srgbClr val="00B0F0"/>
        </a:solidFill>
        <a:ln>
          <a:solidFill>
            <a:srgbClr val="00B0F0"/>
          </a:solidFill>
        </a:ln>
      </dgm:spPr>
      <dgm:t>
        <a:bodyPr/>
        <a:lstStyle/>
        <a:p>
          <a:pPr>
            <a:buNone/>
          </a:pPr>
          <a:r>
            <a:rPr lang="en-US" b="1" noProof="0">
              <a:solidFill>
                <a:schemeClr val="bg1"/>
              </a:solidFill>
              <a:latin typeface="Trebuchet MS" panose="020B0603020202020204" pitchFamily="34" charset="0"/>
              <a:ea typeface="+mn-ea"/>
              <a:cs typeface="+mn-cs"/>
            </a:rPr>
            <a:t>Measure</a:t>
          </a:r>
        </a:p>
      </dgm:t>
    </dgm:pt>
    <dgm:pt modelId="{CC653188-7757-47F5-980D-2F580D5D046C}" type="parTrans" cxnId="{65D8C6C9-1A10-491C-9E4D-E64E01660637}">
      <dgm:prSet/>
      <dgm:spPr/>
      <dgm:t>
        <a:bodyPr/>
        <a:lstStyle/>
        <a:p>
          <a:endParaRPr lang="en-GB">
            <a:latin typeface="Trebuchet MS" panose="020B0603020202020204" pitchFamily="34" charset="0"/>
          </a:endParaRPr>
        </a:p>
      </dgm:t>
    </dgm:pt>
    <dgm:pt modelId="{BAD65EFA-967E-4883-AE14-C7953EF71C1F}" type="sibTrans" cxnId="{65D8C6C9-1A10-491C-9E4D-E64E01660637}">
      <dgm:prSet/>
      <dgm:spPr/>
      <dgm:t>
        <a:bodyPr/>
        <a:lstStyle/>
        <a:p>
          <a:endParaRPr lang="en-GB">
            <a:latin typeface="Trebuchet MS" panose="020B0603020202020204" pitchFamily="34" charset="0"/>
          </a:endParaRPr>
        </a:p>
      </dgm:t>
    </dgm:pt>
    <dgm:pt modelId="{27BF821D-2F3E-49CD-9B37-04D0FA768287}">
      <dgm:prSet phldrT="[Text]"/>
      <dgm:spPr>
        <a:xfrm>
          <a:off x="1037289" y="213054"/>
          <a:ext cx="1824320" cy="1824320"/>
        </a:xfrm>
        <a:prstGeom prst="pie">
          <a:avLst>
            <a:gd name="adj1" fmla="val 3240000"/>
            <a:gd name="adj2" fmla="val 7560000"/>
          </a:avLst>
        </a:prstGeom>
      </dgm:spPr>
      <dgm:t>
        <a:bodyPr/>
        <a:lstStyle/>
        <a:p>
          <a:pPr>
            <a:buNone/>
          </a:pPr>
          <a:r>
            <a:rPr lang="en-US" noProof="0">
              <a:latin typeface="Trebuchet MS" panose="020B0603020202020204" pitchFamily="34" charset="0"/>
              <a:ea typeface="+mn-ea"/>
              <a:cs typeface="+mn-cs"/>
            </a:rPr>
            <a:t>Analyze</a:t>
          </a:r>
        </a:p>
        <a:p>
          <a:pPr>
            <a:buNone/>
          </a:pPr>
          <a:endParaRPr lang="en-US" noProof="0">
            <a:latin typeface="Trebuchet MS" panose="020B0603020202020204" pitchFamily="34" charset="0"/>
            <a:ea typeface="+mn-ea"/>
            <a:cs typeface="+mn-cs"/>
          </a:endParaRPr>
        </a:p>
      </dgm:t>
    </dgm:pt>
    <dgm:pt modelId="{D1698C79-E725-47CC-941A-190C96E6E135}" type="parTrans" cxnId="{F2C731B1-6208-471C-8AA5-21AEAFEA8436}">
      <dgm:prSet/>
      <dgm:spPr/>
      <dgm:t>
        <a:bodyPr/>
        <a:lstStyle/>
        <a:p>
          <a:endParaRPr lang="en-GB">
            <a:latin typeface="Trebuchet MS" panose="020B0603020202020204" pitchFamily="34" charset="0"/>
          </a:endParaRPr>
        </a:p>
      </dgm:t>
    </dgm:pt>
    <dgm:pt modelId="{66444982-89CC-4ADF-9DDF-851D4855A8D8}" type="sibTrans" cxnId="{F2C731B1-6208-471C-8AA5-21AEAFEA8436}">
      <dgm:prSet/>
      <dgm:spPr/>
      <dgm:t>
        <a:bodyPr/>
        <a:lstStyle/>
        <a:p>
          <a:endParaRPr lang="en-GB">
            <a:latin typeface="Trebuchet MS" panose="020B0603020202020204" pitchFamily="34" charset="0"/>
          </a:endParaRPr>
        </a:p>
      </dgm:t>
    </dgm:pt>
    <dgm:pt modelId="{17623FF4-83D1-409E-B2C9-D3BD0C35F949}">
      <dgm:prSet/>
      <dgm:spPr>
        <a:xfrm>
          <a:off x="1062917" y="134435"/>
          <a:ext cx="1824320" cy="1824320"/>
        </a:xfrm>
        <a:prstGeom prst="pie">
          <a:avLst>
            <a:gd name="adj1" fmla="val 16200000"/>
            <a:gd name="adj2" fmla="val 20520000"/>
          </a:avLst>
        </a:prstGeom>
        <a:solidFill>
          <a:schemeClr val="bg1"/>
        </a:solidFill>
      </dgm:spPr>
      <dgm:t>
        <a:bodyPr/>
        <a:lstStyle/>
        <a:p>
          <a:pPr>
            <a:buChar char="•"/>
          </a:pPr>
          <a:endParaRPr lang="en-US" noProof="0">
            <a:solidFill>
              <a:srgbClr val="FFFFFF"/>
            </a:solidFill>
            <a:latin typeface="Trebuchet MS" panose="020B0603020202020204" pitchFamily="34" charset="0"/>
            <a:ea typeface="+mn-ea"/>
            <a:cs typeface="Arial" panose="020B0604020202020204" pitchFamily="34" charset="0"/>
          </a:endParaRPr>
        </a:p>
      </dgm:t>
    </dgm:pt>
    <dgm:pt modelId="{C5298539-7CF6-43EF-ACF5-4ED8AC1B4A67}" type="parTrans" cxnId="{E02ACA6B-C3D3-4D90-B61C-6E8277B25FF2}">
      <dgm:prSet/>
      <dgm:spPr/>
      <dgm:t>
        <a:bodyPr/>
        <a:lstStyle/>
        <a:p>
          <a:endParaRPr lang="en-GB">
            <a:latin typeface="Trebuchet MS" panose="020B0603020202020204" pitchFamily="34" charset="0"/>
          </a:endParaRPr>
        </a:p>
      </dgm:t>
    </dgm:pt>
    <dgm:pt modelId="{A170FA3D-9235-415D-8D21-809B23642B3F}" type="sibTrans" cxnId="{E02ACA6B-C3D3-4D90-B61C-6E8277B25FF2}">
      <dgm:prSet/>
      <dgm:spPr/>
      <dgm:t>
        <a:bodyPr/>
        <a:lstStyle/>
        <a:p>
          <a:endParaRPr lang="en-GB">
            <a:latin typeface="Trebuchet MS" panose="020B0603020202020204" pitchFamily="34" charset="0"/>
          </a:endParaRPr>
        </a:p>
      </dgm:t>
    </dgm:pt>
    <dgm:pt modelId="{61F0A2E3-1D9E-4CEC-86A0-B0FE6E70E7B1}">
      <dgm:prSet/>
      <dgm:spPr>
        <a:xfrm>
          <a:off x="996025" y="183083"/>
          <a:ext cx="1824320" cy="1824320"/>
        </a:xfrm>
        <a:prstGeom prst="pie">
          <a:avLst>
            <a:gd name="adj1" fmla="val 7560000"/>
            <a:gd name="adj2" fmla="val 11880000"/>
          </a:avLst>
        </a:prstGeom>
      </dgm:spPr>
      <dgm:t>
        <a:bodyPr/>
        <a:lstStyle/>
        <a:p>
          <a:pPr>
            <a:buNone/>
          </a:pPr>
          <a:r>
            <a:rPr lang="en-US" noProof="0">
              <a:latin typeface="Trebuchet MS" panose="020B0603020202020204" pitchFamily="34" charset="0"/>
              <a:ea typeface="+mn-ea"/>
              <a:cs typeface="+mn-cs"/>
            </a:rPr>
            <a:t>Improve</a:t>
          </a:r>
        </a:p>
      </dgm:t>
    </dgm:pt>
    <dgm:pt modelId="{13F9578B-8F2E-4E59-AA8C-9F45715DF7BE}" type="parTrans" cxnId="{49807935-D82D-4A28-9444-CF41A811697A}">
      <dgm:prSet/>
      <dgm:spPr/>
      <dgm:t>
        <a:bodyPr/>
        <a:lstStyle/>
        <a:p>
          <a:endParaRPr lang="en-GB">
            <a:latin typeface="Trebuchet MS" panose="020B0603020202020204" pitchFamily="34" charset="0"/>
          </a:endParaRPr>
        </a:p>
      </dgm:t>
    </dgm:pt>
    <dgm:pt modelId="{5B0F3261-B8F3-4EF6-8025-08F245E8EF09}" type="sibTrans" cxnId="{49807935-D82D-4A28-9444-CF41A811697A}">
      <dgm:prSet/>
      <dgm:spPr/>
      <dgm:t>
        <a:bodyPr/>
        <a:lstStyle/>
        <a:p>
          <a:endParaRPr lang="en-GB">
            <a:latin typeface="Trebuchet MS" panose="020B0603020202020204" pitchFamily="34" charset="0"/>
          </a:endParaRPr>
        </a:p>
      </dgm:t>
    </dgm:pt>
    <dgm:pt modelId="{3607FCD8-6657-4836-95A4-7A279A1F256B}">
      <dgm:prSet/>
      <dgm:spPr>
        <a:xfrm>
          <a:off x="1011662" y="134435"/>
          <a:ext cx="1824320" cy="1824320"/>
        </a:xfrm>
        <a:prstGeom prst="pie">
          <a:avLst>
            <a:gd name="adj1" fmla="val 11880000"/>
            <a:gd name="adj2" fmla="val 16200000"/>
          </a:avLst>
        </a:prstGeom>
      </dgm:spPr>
      <dgm:t>
        <a:bodyPr/>
        <a:lstStyle/>
        <a:p>
          <a:pPr>
            <a:buNone/>
          </a:pPr>
          <a:r>
            <a:rPr lang="en-US" noProof="0">
              <a:latin typeface="Trebuchet MS" panose="020B0603020202020204" pitchFamily="34" charset="0"/>
              <a:ea typeface="+mn-ea"/>
              <a:cs typeface="+mn-cs"/>
            </a:rPr>
            <a:t>Control</a:t>
          </a:r>
        </a:p>
        <a:p>
          <a:pPr>
            <a:buNone/>
          </a:pPr>
          <a:endParaRPr lang="en-US" noProof="0">
            <a:latin typeface="Trebuchet MS" panose="020B0603020202020204" pitchFamily="34" charset="0"/>
            <a:ea typeface="+mn-ea"/>
            <a:cs typeface="+mn-cs"/>
          </a:endParaRPr>
        </a:p>
      </dgm:t>
    </dgm:pt>
    <dgm:pt modelId="{E598C32C-35DB-47E0-A1F6-E475AD071A4B}" type="parTrans" cxnId="{956A859B-4D0E-406D-A476-6E0872DFC719}">
      <dgm:prSet/>
      <dgm:spPr/>
      <dgm:t>
        <a:bodyPr/>
        <a:lstStyle/>
        <a:p>
          <a:endParaRPr lang="en-GB">
            <a:latin typeface="Trebuchet MS" panose="020B0603020202020204" pitchFamily="34" charset="0"/>
          </a:endParaRPr>
        </a:p>
      </dgm:t>
    </dgm:pt>
    <dgm:pt modelId="{69B2B37B-26AE-4264-84DC-19FA2B13C444}" type="sibTrans" cxnId="{956A859B-4D0E-406D-A476-6E0872DFC719}">
      <dgm:prSet/>
      <dgm:spPr/>
      <dgm:t>
        <a:bodyPr/>
        <a:lstStyle/>
        <a:p>
          <a:endParaRPr lang="en-GB">
            <a:latin typeface="Trebuchet MS" panose="020B0603020202020204" pitchFamily="34" charset="0"/>
          </a:endParaRPr>
        </a:p>
      </dgm:t>
    </dgm:pt>
    <dgm:pt modelId="{50B73C20-8720-412A-ABE2-B41B774F189B}" type="pres">
      <dgm:prSet presAssocID="{52D369AA-59C0-49E1-B55E-B70432456B9A}" presName="compositeShape" presStyleCnt="0">
        <dgm:presLayoutVars>
          <dgm:chMax val="7"/>
          <dgm:dir/>
          <dgm:resizeHandles val="exact"/>
        </dgm:presLayoutVars>
      </dgm:prSet>
      <dgm:spPr/>
    </dgm:pt>
    <dgm:pt modelId="{8C235FE3-3F71-44C2-A46B-539B833DE24C}" type="pres">
      <dgm:prSet presAssocID="{52D369AA-59C0-49E1-B55E-B70432456B9A}" presName="wedge1" presStyleLbl="node1" presStyleIdx="0" presStyleCnt="5" custLinFactNeighborX="128" custLinFactNeighborY="-6"/>
      <dgm:spPr/>
    </dgm:pt>
    <dgm:pt modelId="{90038AF1-24CC-43B0-9B1B-D923A7B56C3C}" type="pres">
      <dgm:prSet presAssocID="{52D369AA-59C0-49E1-B55E-B70432456B9A}" presName="dummy1a" presStyleCnt="0"/>
      <dgm:spPr/>
    </dgm:pt>
    <dgm:pt modelId="{71E81969-F2BB-4CC9-867D-9E0708DF02FF}" type="pres">
      <dgm:prSet presAssocID="{52D369AA-59C0-49E1-B55E-B70432456B9A}" presName="dummy1b" presStyleCnt="0"/>
      <dgm:spPr/>
    </dgm:pt>
    <dgm:pt modelId="{DCE22BBA-999E-458F-ADE2-6AD635E0B027}" type="pres">
      <dgm:prSet presAssocID="{52D369AA-59C0-49E1-B55E-B70432456B9A}" presName="wedge1Tx" presStyleLbl="node1" presStyleIdx="0" presStyleCnt="5">
        <dgm:presLayoutVars>
          <dgm:chMax val="0"/>
          <dgm:chPref val="0"/>
          <dgm:bulletEnabled val="1"/>
        </dgm:presLayoutVars>
      </dgm:prSet>
      <dgm:spPr/>
    </dgm:pt>
    <dgm:pt modelId="{EDCE5F9B-1D88-4D8D-9083-55DD36D07A64}" type="pres">
      <dgm:prSet presAssocID="{52D369AA-59C0-49E1-B55E-B70432456B9A}" presName="wedge2" presStyleLbl="node1" presStyleIdx="1" presStyleCnt="5" custLinFactNeighborX="9626" custLinFactNeighborY="4157"/>
      <dgm:spPr/>
    </dgm:pt>
    <dgm:pt modelId="{CF151D6C-DD1F-432A-9488-CEF8ED585BC2}" type="pres">
      <dgm:prSet presAssocID="{52D369AA-59C0-49E1-B55E-B70432456B9A}" presName="dummy2a" presStyleCnt="0"/>
      <dgm:spPr/>
    </dgm:pt>
    <dgm:pt modelId="{94572E03-695E-4870-97D9-5D3958380E35}" type="pres">
      <dgm:prSet presAssocID="{52D369AA-59C0-49E1-B55E-B70432456B9A}" presName="dummy2b" presStyleCnt="0"/>
      <dgm:spPr/>
    </dgm:pt>
    <dgm:pt modelId="{9A004783-E531-48C1-8181-A872C2478DAA}" type="pres">
      <dgm:prSet presAssocID="{52D369AA-59C0-49E1-B55E-B70432456B9A}" presName="wedge2Tx" presStyleLbl="node1" presStyleIdx="1" presStyleCnt="5">
        <dgm:presLayoutVars>
          <dgm:chMax val="0"/>
          <dgm:chPref val="0"/>
          <dgm:bulletEnabled val="1"/>
        </dgm:presLayoutVars>
      </dgm:prSet>
      <dgm:spPr/>
    </dgm:pt>
    <dgm:pt modelId="{A5E52B60-80D4-45E8-AB32-72C8832C4F04}" type="pres">
      <dgm:prSet presAssocID="{52D369AA-59C0-49E1-B55E-B70432456B9A}" presName="wedge3" presStyleLbl="node1" presStyleIdx="2" presStyleCnt="5"/>
      <dgm:spPr/>
    </dgm:pt>
    <dgm:pt modelId="{5206D377-FF06-4A93-85A7-58B4AD85BDAC}" type="pres">
      <dgm:prSet presAssocID="{52D369AA-59C0-49E1-B55E-B70432456B9A}" presName="dummy3a" presStyleCnt="0"/>
      <dgm:spPr/>
    </dgm:pt>
    <dgm:pt modelId="{F113BEB2-4F0E-4611-BCBE-814660A4A7D5}" type="pres">
      <dgm:prSet presAssocID="{52D369AA-59C0-49E1-B55E-B70432456B9A}" presName="dummy3b" presStyleCnt="0"/>
      <dgm:spPr/>
    </dgm:pt>
    <dgm:pt modelId="{54C2283A-AC5E-45E9-B06B-8E6497C8CC06}" type="pres">
      <dgm:prSet presAssocID="{52D369AA-59C0-49E1-B55E-B70432456B9A}" presName="wedge3Tx" presStyleLbl="node1" presStyleIdx="2" presStyleCnt="5">
        <dgm:presLayoutVars>
          <dgm:chMax val="0"/>
          <dgm:chPref val="0"/>
          <dgm:bulletEnabled val="1"/>
        </dgm:presLayoutVars>
      </dgm:prSet>
      <dgm:spPr/>
    </dgm:pt>
    <dgm:pt modelId="{45CD1A6F-7DD7-4DE4-B175-D658CA85DBBD}" type="pres">
      <dgm:prSet presAssocID="{52D369AA-59C0-49E1-B55E-B70432456B9A}" presName="wedge4" presStyleLbl="node1" presStyleIdx="3" presStyleCnt="5"/>
      <dgm:spPr/>
    </dgm:pt>
    <dgm:pt modelId="{BADB538E-E5E0-42D9-8D41-A1BA0A54E760}" type="pres">
      <dgm:prSet presAssocID="{52D369AA-59C0-49E1-B55E-B70432456B9A}" presName="dummy4a" presStyleCnt="0"/>
      <dgm:spPr/>
    </dgm:pt>
    <dgm:pt modelId="{91C2630D-E657-4FDB-80ED-2B152AB0CF09}" type="pres">
      <dgm:prSet presAssocID="{52D369AA-59C0-49E1-B55E-B70432456B9A}" presName="dummy4b" presStyleCnt="0"/>
      <dgm:spPr/>
    </dgm:pt>
    <dgm:pt modelId="{49429826-AA5F-47CA-B11A-ABD6DE54C821}" type="pres">
      <dgm:prSet presAssocID="{52D369AA-59C0-49E1-B55E-B70432456B9A}" presName="wedge4Tx" presStyleLbl="node1" presStyleIdx="3" presStyleCnt="5">
        <dgm:presLayoutVars>
          <dgm:chMax val="0"/>
          <dgm:chPref val="0"/>
          <dgm:bulletEnabled val="1"/>
        </dgm:presLayoutVars>
      </dgm:prSet>
      <dgm:spPr/>
    </dgm:pt>
    <dgm:pt modelId="{3B487735-59B4-41E9-BDAB-5D244BF18F68}" type="pres">
      <dgm:prSet presAssocID="{52D369AA-59C0-49E1-B55E-B70432456B9A}" presName="wedge5" presStyleLbl="node1" presStyleIdx="4" presStyleCnt="5"/>
      <dgm:spPr/>
    </dgm:pt>
    <dgm:pt modelId="{939A2975-E45D-4D75-835C-838DA7CA4783}" type="pres">
      <dgm:prSet presAssocID="{52D369AA-59C0-49E1-B55E-B70432456B9A}" presName="dummy5a" presStyleCnt="0"/>
      <dgm:spPr/>
    </dgm:pt>
    <dgm:pt modelId="{76229039-77BD-4536-8D9F-CEC0D2D14777}" type="pres">
      <dgm:prSet presAssocID="{52D369AA-59C0-49E1-B55E-B70432456B9A}" presName="dummy5b" presStyleCnt="0"/>
      <dgm:spPr/>
    </dgm:pt>
    <dgm:pt modelId="{85604DE5-89B7-4180-B562-F4BF7B9539D2}" type="pres">
      <dgm:prSet presAssocID="{52D369AA-59C0-49E1-B55E-B70432456B9A}" presName="wedge5Tx" presStyleLbl="node1" presStyleIdx="4" presStyleCnt="5">
        <dgm:presLayoutVars>
          <dgm:chMax val="0"/>
          <dgm:chPref val="0"/>
          <dgm:bulletEnabled val="1"/>
        </dgm:presLayoutVars>
      </dgm:prSet>
      <dgm:spPr/>
    </dgm:pt>
    <dgm:pt modelId="{1B3C0182-CF0B-417D-8862-5551CF080ABD}" type="pres">
      <dgm:prSet presAssocID="{E2E703FF-F63F-4A79-96BF-A0500BFFB256}" presName="arrowWedge1" presStyleLbl="fgSibTrans2D1" presStyleIdx="0" presStyleCnt="5"/>
      <dgm:spPr>
        <a:xfrm>
          <a:off x="949897" y="21500"/>
          <a:ext cx="2050188" cy="2050188"/>
        </a:xfrm>
        <a:prstGeom prst="circularArrow">
          <a:avLst>
            <a:gd name="adj1" fmla="val 5085"/>
            <a:gd name="adj2" fmla="val 327528"/>
            <a:gd name="adj3" fmla="val 20192361"/>
            <a:gd name="adj4" fmla="val 16200324"/>
            <a:gd name="adj5" fmla="val 5932"/>
          </a:avLst>
        </a:prstGeom>
      </dgm:spPr>
    </dgm:pt>
    <dgm:pt modelId="{943B39FA-B7B3-4946-B395-D611843A2FD5}" type="pres">
      <dgm:prSet presAssocID="{BAD65EFA-967E-4883-AE14-C7953EF71C1F}" presName="arrowWedge2" presStyleLbl="fgSibTrans2D1" presStyleIdx="1" presStyleCnt="5"/>
      <dgm:spPr>
        <a:xfrm>
          <a:off x="965746" y="70133"/>
          <a:ext cx="2050188" cy="2050188"/>
        </a:xfrm>
        <a:prstGeom prst="circularArrow">
          <a:avLst>
            <a:gd name="adj1" fmla="val 5085"/>
            <a:gd name="adj2" fmla="val 327528"/>
            <a:gd name="adj3" fmla="val 2912753"/>
            <a:gd name="adj4" fmla="val 20519953"/>
            <a:gd name="adj5" fmla="val 5932"/>
          </a:avLst>
        </a:prstGeom>
      </dgm:spPr>
    </dgm:pt>
    <dgm:pt modelId="{F382579C-1F35-4CBE-B203-942B20126A0F}" type="pres">
      <dgm:prSet presAssocID="{66444982-89CC-4ADF-9DDF-851D4855A8D8}" presName="arrowWedge3" presStyleLbl="fgSibTrans2D1" presStyleIdx="2" presStyleCnt="5"/>
      <dgm:spPr>
        <a:xfrm>
          <a:off x="924355" y="100196"/>
          <a:ext cx="2050188" cy="2050188"/>
        </a:xfrm>
        <a:prstGeom prst="circularArrow">
          <a:avLst>
            <a:gd name="adj1" fmla="val 5085"/>
            <a:gd name="adj2" fmla="val 327528"/>
            <a:gd name="adj3" fmla="val 7232777"/>
            <a:gd name="adj4" fmla="val 3239695"/>
            <a:gd name="adj5" fmla="val 5932"/>
          </a:avLst>
        </a:prstGeom>
      </dgm:spPr>
    </dgm:pt>
    <dgm:pt modelId="{CDF1F5E0-2273-4303-AC97-73925993329B}" type="pres">
      <dgm:prSet presAssocID="{5B0F3261-B8F3-4EF6-8025-08F245E8EF09}" presName="arrowWedge4" presStyleLbl="fgSibTrans2D1" presStyleIdx="3" presStyleCnt="5"/>
      <dgm:spPr>
        <a:xfrm>
          <a:off x="882965" y="70133"/>
          <a:ext cx="2050188" cy="2050188"/>
        </a:xfrm>
        <a:prstGeom prst="circularArrow">
          <a:avLst>
            <a:gd name="adj1" fmla="val 5085"/>
            <a:gd name="adj2" fmla="val 327528"/>
            <a:gd name="adj3" fmla="val 11552519"/>
            <a:gd name="adj4" fmla="val 7559718"/>
            <a:gd name="adj5" fmla="val 5932"/>
          </a:avLst>
        </a:prstGeom>
      </dgm:spPr>
    </dgm:pt>
    <dgm:pt modelId="{578C926A-45BB-4DF8-A8E0-D69C701E431E}" type="pres">
      <dgm:prSet presAssocID="{69B2B37B-26AE-4264-84DC-19FA2B13C444}" presName="arrowWedge5" presStyleLbl="fgSibTrans2D1" presStyleIdx="4" presStyleCnt="5"/>
      <dgm:spPr>
        <a:xfrm>
          <a:off x="898814" y="21500"/>
          <a:ext cx="2050188" cy="2050188"/>
        </a:xfrm>
        <a:prstGeom prst="circularArrow">
          <a:avLst>
            <a:gd name="adj1" fmla="val 5085"/>
            <a:gd name="adj2" fmla="val 327528"/>
            <a:gd name="adj3" fmla="val 15872148"/>
            <a:gd name="adj4" fmla="val 11880111"/>
            <a:gd name="adj5" fmla="val 5932"/>
          </a:avLst>
        </a:prstGeom>
      </dgm:spPr>
    </dgm:pt>
  </dgm:ptLst>
  <dgm:cxnLst>
    <dgm:cxn modelId="{80E0BF16-C569-4180-B274-29A4561BD76A}" type="presOf" srcId="{27BF821D-2F3E-49CD-9B37-04D0FA768287}" destId="{54C2283A-AC5E-45E9-B06B-8E6497C8CC06}" srcOrd="1" destOrd="0" presId="urn:microsoft.com/office/officeart/2005/8/layout/cycle8"/>
    <dgm:cxn modelId="{31770029-1BAD-49B4-A767-7516DFF61D5B}" type="presOf" srcId="{17623FF4-83D1-409E-B2C9-D3BD0C35F949}" destId="{8C235FE3-3F71-44C2-A46B-539B833DE24C}" srcOrd="0" destOrd="1" presId="urn:microsoft.com/office/officeart/2005/8/layout/cycle8"/>
    <dgm:cxn modelId="{49807935-D82D-4A28-9444-CF41A811697A}" srcId="{52D369AA-59C0-49E1-B55E-B70432456B9A}" destId="{61F0A2E3-1D9E-4CEC-86A0-B0FE6E70E7B1}" srcOrd="3" destOrd="0" parTransId="{13F9578B-8F2E-4E59-AA8C-9F45715DF7BE}" sibTransId="{5B0F3261-B8F3-4EF6-8025-08F245E8EF09}"/>
    <dgm:cxn modelId="{77886068-65C1-4DE8-90B9-36CAC78D28B5}" type="presOf" srcId="{17623FF4-83D1-409E-B2C9-D3BD0C35F949}" destId="{DCE22BBA-999E-458F-ADE2-6AD635E0B027}" srcOrd="1" destOrd="1" presId="urn:microsoft.com/office/officeart/2005/8/layout/cycle8"/>
    <dgm:cxn modelId="{E02ACA6B-C3D3-4D90-B61C-6E8277B25FF2}" srcId="{D6618069-B0EC-4200-9E36-A2D5FA553F52}" destId="{17623FF4-83D1-409E-B2C9-D3BD0C35F949}" srcOrd="0" destOrd="0" parTransId="{C5298539-7CF6-43EF-ACF5-4ED8AC1B4A67}" sibTransId="{A170FA3D-9235-415D-8D21-809B23642B3F}"/>
    <dgm:cxn modelId="{CD5B734D-355E-4F53-BDB3-B027EB54C335}" type="presOf" srcId="{61F0A2E3-1D9E-4CEC-86A0-B0FE6E70E7B1}" destId="{49429826-AA5F-47CA-B11A-ABD6DE54C821}" srcOrd="1" destOrd="0" presId="urn:microsoft.com/office/officeart/2005/8/layout/cycle8"/>
    <dgm:cxn modelId="{3321FE52-A8B8-4A6C-AC9C-6F68280E5C1A}" type="presOf" srcId="{43434F5F-A1D0-4D7B-93B7-E3D3DB8C0F0B}" destId="{9A004783-E531-48C1-8181-A872C2478DAA}" srcOrd="1" destOrd="0" presId="urn:microsoft.com/office/officeart/2005/8/layout/cycle8"/>
    <dgm:cxn modelId="{80EA788F-BC8B-445D-9DE6-5E1576DBBAB1}" type="presOf" srcId="{3607FCD8-6657-4836-95A4-7A279A1F256B}" destId="{3B487735-59B4-41E9-BDAB-5D244BF18F68}" srcOrd="0" destOrd="0" presId="urn:microsoft.com/office/officeart/2005/8/layout/cycle8"/>
    <dgm:cxn modelId="{956A859B-4D0E-406D-A476-6E0872DFC719}" srcId="{52D369AA-59C0-49E1-B55E-B70432456B9A}" destId="{3607FCD8-6657-4836-95A4-7A279A1F256B}" srcOrd="4" destOrd="0" parTransId="{E598C32C-35DB-47E0-A1F6-E475AD071A4B}" sibTransId="{69B2B37B-26AE-4264-84DC-19FA2B13C444}"/>
    <dgm:cxn modelId="{851BA8A4-9B3D-48C7-9A10-E466CFA74B4A}" type="presOf" srcId="{D6618069-B0EC-4200-9E36-A2D5FA553F52}" destId="{8C235FE3-3F71-44C2-A46B-539B833DE24C}" srcOrd="0" destOrd="0" presId="urn:microsoft.com/office/officeart/2005/8/layout/cycle8"/>
    <dgm:cxn modelId="{40525CA9-711A-4555-8430-04F5EC60DCDF}" type="presOf" srcId="{3607FCD8-6657-4836-95A4-7A279A1F256B}" destId="{85604DE5-89B7-4180-B562-F4BF7B9539D2}" srcOrd="1" destOrd="0" presId="urn:microsoft.com/office/officeart/2005/8/layout/cycle8"/>
    <dgm:cxn modelId="{F2C731B1-6208-471C-8AA5-21AEAFEA8436}" srcId="{52D369AA-59C0-49E1-B55E-B70432456B9A}" destId="{27BF821D-2F3E-49CD-9B37-04D0FA768287}" srcOrd="2" destOrd="0" parTransId="{D1698C79-E725-47CC-941A-190C96E6E135}" sibTransId="{66444982-89CC-4ADF-9DDF-851D4855A8D8}"/>
    <dgm:cxn modelId="{804081B6-634C-48F7-BE19-0675DFCD041F}" srcId="{52D369AA-59C0-49E1-B55E-B70432456B9A}" destId="{D6618069-B0EC-4200-9E36-A2D5FA553F52}" srcOrd="0" destOrd="0" parTransId="{893EE6D8-CE80-42FD-B96D-4B0C4CCFFA5F}" sibTransId="{E2E703FF-F63F-4A79-96BF-A0500BFFB256}"/>
    <dgm:cxn modelId="{0A828DC2-5466-4E4B-8B06-DC2AF9159DE7}" type="presOf" srcId="{61F0A2E3-1D9E-4CEC-86A0-B0FE6E70E7B1}" destId="{45CD1A6F-7DD7-4DE4-B175-D658CA85DBBD}" srcOrd="0" destOrd="0" presId="urn:microsoft.com/office/officeart/2005/8/layout/cycle8"/>
    <dgm:cxn modelId="{78276EC5-638E-4FB2-ACB7-01621011D25E}" type="presOf" srcId="{27BF821D-2F3E-49CD-9B37-04D0FA768287}" destId="{A5E52B60-80D4-45E8-AB32-72C8832C4F04}" srcOrd="0" destOrd="0" presId="urn:microsoft.com/office/officeart/2005/8/layout/cycle8"/>
    <dgm:cxn modelId="{65D8C6C9-1A10-491C-9E4D-E64E01660637}" srcId="{52D369AA-59C0-49E1-B55E-B70432456B9A}" destId="{43434F5F-A1D0-4D7B-93B7-E3D3DB8C0F0B}" srcOrd="1" destOrd="0" parTransId="{CC653188-7757-47F5-980D-2F580D5D046C}" sibTransId="{BAD65EFA-967E-4883-AE14-C7953EF71C1F}"/>
    <dgm:cxn modelId="{10D097CA-E7CD-4428-8B11-E9F7EA003D0A}" type="presOf" srcId="{D6618069-B0EC-4200-9E36-A2D5FA553F52}" destId="{DCE22BBA-999E-458F-ADE2-6AD635E0B027}" srcOrd="1" destOrd="0" presId="urn:microsoft.com/office/officeart/2005/8/layout/cycle8"/>
    <dgm:cxn modelId="{952FC0D1-ACC3-489B-9B7D-E2B9EC3D23F4}" type="presOf" srcId="{52D369AA-59C0-49E1-B55E-B70432456B9A}" destId="{50B73C20-8720-412A-ABE2-B41B774F189B}" srcOrd="0" destOrd="0" presId="urn:microsoft.com/office/officeart/2005/8/layout/cycle8"/>
    <dgm:cxn modelId="{6A173FDB-54F1-4B5C-AC26-42035B875450}" type="presOf" srcId="{43434F5F-A1D0-4D7B-93B7-E3D3DB8C0F0B}" destId="{EDCE5F9B-1D88-4D8D-9083-55DD36D07A64}" srcOrd="0" destOrd="0" presId="urn:microsoft.com/office/officeart/2005/8/layout/cycle8"/>
    <dgm:cxn modelId="{F0697471-CBB1-4158-933D-B4B3F75E0604}" type="presParOf" srcId="{50B73C20-8720-412A-ABE2-B41B774F189B}" destId="{8C235FE3-3F71-44C2-A46B-539B833DE24C}" srcOrd="0" destOrd="0" presId="urn:microsoft.com/office/officeart/2005/8/layout/cycle8"/>
    <dgm:cxn modelId="{168EB40C-5A6D-4F3F-BF2C-FCF94CCE2D39}" type="presParOf" srcId="{50B73C20-8720-412A-ABE2-B41B774F189B}" destId="{90038AF1-24CC-43B0-9B1B-D923A7B56C3C}" srcOrd="1" destOrd="0" presId="urn:microsoft.com/office/officeart/2005/8/layout/cycle8"/>
    <dgm:cxn modelId="{569908DA-43D7-45B1-8009-0FA68FF133C5}" type="presParOf" srcId="{50B73C20-8720-412A-ABE2-B41B774F189B}" destId="{71E81969-F2BB-4CC9-867D-9E0708DF02FF}" srcOrd="2" destOrd="0" presId="urn:microsoft.com/office/officeart/2005/8/layout/cycle8"/>
    <dgm:cxn modelId="{120B6D63-67B5-4651-89B8-2F4AFC748633}" type="presParOf" srcId="{50B73C20-8720-412A-ABE2-B41B774F189B}" destId="{DCE22BBA-999E-458F-ADE2-6AD635E0B027}" srcOrd="3" destOrd="0" presId="urn:microsoft.com/office/officeart/2005/8/layout/cycle8"/>
    <dgm:cxn modelId="{84303F93-7770-4778-B60E-02E295CCDB18}" type="presParOf" srcId="{50B73C20-8720-412A-ABE2-B41B774F189B}" destId="{EDCE5F9B-1D88-4D8D-9083-55DD36D07A64}" srcOrd="4" destOrd="0" presId="urn:microsoft.com/office/officeart/2005/8/layout/cycle8"/>
    <dgm:cxn modelId="{10C0342C-209A-4EE1-BB67-4E82BD92DDB7}" type="presParOf" srcId="{50B73C20-8720-412A-ABE2-B41B774F189B}" destId="{CF151D6C-DD1F-432A-9488-CEF8ED585BC2}" srcOrd="5" destOrd="0" presId="urn:microsoft.com/office/officeart/2005/8/layout/cycle8"/>
    <dgm:cxn modelId="{D088F9FD-84AC-4D71-B185-0A3300C456C8}" type="presParOf" srcId="{50B73C20-8720-412A-ABE2-B41B774F189B}" destId="{94572E03-695E-4870-97D9-5D3958380E35}" srcOrd="6" destOrd="0" presId="urn:microsoft.com/office/officeart/2005/8/layout/cycle8"/>
    <dgm:cxn modelId="{876BFD5D-E2AD-4F6B-9D62-8D6CA971713B}" type="presParOf" srcId="{50B73C20-8720-412A-ABE2-B41B774F189B}" destId="{9A004783-E531-48C1-8181-A872C2478DAA}" srcOrd="7" destOrd="0" presId="urn:microsoft.com/office/officeart/2005/8/layout/cycle8"/>
    <dgm:cxn modelId="{B9611131-DF8C-44CB-96EC-2C6187ABC38E}" type="presParOf" srcId="{50B73C20-8720-412A-ABE2-B41B774F189B}" destId="{A5E52B60-80D4-45E8-AB32-72C8832C4F04}" srcOrd="8" destOrd="0" presId="urn:microsoft.com/office/officeart/2005/8/layout/cycle8"/>
    <dgm:cxn modelId="{490646F5-EF01-44D1-947D-C692A4CDBA66}" type="presParOf" srcId="{50B73C20-8720-412A-ABE2-B41B774F189B}" destId="{5206D377-FF06-4A93-85A7-58B4AD85BDAC}" srcOrd="9" destOrd="0" presId="urn:microsoft.com/office/officeart/2005/8/layout/cycle8"/>
    <dgm:cxn modelId="{ECCF5117-1E10-477D-9559-5C5ECCAC164D}" type="presParOf" srcId="{50B73C20-8720-412A-ABE2-B41B774F189B}" destId="{F113BEB2-4F0E-4611-BCBE-814660A4A7D5}" srcOrd="10" destOrd="0" presId="urn:microsoft.com/office/officeart/2005/8/layout/cycle8"/>
    <dgm:cxn modelId="{15C2D79C-91A3-47CD-8374-199DEC331890}" type="presParOf" srcId="{50B73C20-8720-412A-ABE2-B41B774F189B}" destId="{54C2283A-AC5E-45E9-B06B-8E6497C8CC06}" srcOrd="11" destOrd="0" presId="urn:microsoft.com/office/officeart/2005/8/layout/cycle8"/>
    <dgm:cxn modelId="{D6E4223E-9B2A-4E44-AEAB-45457981423F}" type="presParOf" srcId="{50B73C20-8720-412A-ABE2-B41B774F189B}" destId="{45CD1A6F-7DD7-4DE4-B175-D658CA85DBBD}" srcOrd="12" destOrd="0" presId="urn:microsoft.com/office/officeart/2005/8/layout/cycle8"/>
    <dgm:cxn modelId="{816B34C5-1FCC-4A31-9A69-5F5054EF6618}" type="presParOf" srcId="{50B73C20-8720-412A-ABE2-B41B774F189B}" destId="{BADB538E-E5E0-42D9-8D41-A1BA0A54E760}" srcOrd="13" destOrd="0" presId="urn:microsoft.com/office/officeart/2005/8/layout/cycle8"/>
    <dgm:cxn modelId="{E58EBEFA-592C-400E-B377-C856EA82807F}" type="presParOf" srcId="{50B73C20-8720-412A-ABE2-B41B774F189B}" destId="{91C2630D-E657-4FDB-80ED-2B152AB0CF09}" srcOrd="14" destOrd="0" presId="urn:microsoft.com/office/officeart/2005/8/layout/cycle8"/>
    <dgm:cxn modelId="{CCD18F65-0485-48C6-909E-7BCBB943D79E}" type="presParOf" srcId="{50B73C20-8720-412A-ABE2-B41B774F189B}" destId="{49429826-AA5F-47CA-B11A-ABD6DE54C821}" srcOrd="15" destOrd="0" presId="urn:microsoft.com/office/officeart/2005/8/layout/cycle8"/>
    <dgm:cxn modelId="{63846FA1-5D85-42C9-933E-037704582F50}" type="presParOf" srcId="{50B73C20-8720-412A-ABE2-B41B774F189B}" destId="{3B487735-59B4-41E9-BDAB-5D244BF18F68}" srcOrd="16" destOrd="0" presId="urn:microsoft.com/office/officeart/2005/8/layout/cycle8"/>
    <dgm:cxn modelId="{D4A25B8E-ECDA-4E18-8745-075786C360BE}" type="presParOf" srcId="{50B73C20-8720-412A-ABE2-B41B774F189B}" destId="{939A2975-E45D-4D75-835C-838DA7CA4783}" srcOrd="17" destOrd="0" presId="urn:microsoft.com/office/officeart/2005/8/layout/cycle8"/>
    <dgm:cxn modelId="{D9F9CDC3-0A72-4389-BC90-F9E89F90FB55}" type="presParOf" srcId="{50B73C20-8720-412A-ABE2-B41B774F189B}" destId="{76229039-77BD-4536-8D9F-CEC0D2D14777}" srcOrd="18" destOrd="0" presId="urn:microsoft.com/office/officeart/2005/8/layout/cycle8"/>
    <dgm:cxn modelId="{B6377646-4E5F-4A6C-8830-F8F204A6839B}" type="presParOf" srcId="{50B73C20-8720-412A-ABE2-B41B774F189B}" destId="{85604DE5-89B7-4180-B562-F4BF7B9539D2}" srcOrd="19" destOrd="0" presId="urn:microsoft.com/office/officeart/2005/8/layout/cycle8"/>
    <dgm:cxn modelId="{6F3AA099-86CA-4C4C-A96A-80F24A60A4FF}" type="presParOf" srcId="{50B73C20-8720-412A-ABE2-B41B774F189B}" destId="{1B3C0182-CF0B-417D-8862-5551CF080ABD}" srcOrd="20" destOrd="0" presId="urn:microsoft.com/office/officeart/2005/8/layout/cycle8"/>
    <dgm:cxn modelId="{5A889218-F07E-4117-9BF5-4D3C479D9E0F}" type="presParOf" srcId="{50B73C20-8720-412A-ABE2-B41B774F189B}" destId="{943B39FA-B7B3-4946-B395-D611843A2FD5}" srcOrd="21" destOrd="0" presId="urn:microsoft.com/office/officeart/2005/8/layout/cycle8"/>
    <dgm:cxn modelId="{DF53E29A-B27D-4573-A778-472B14395646}" type="presParOf" srcId="{50B73C20-8720-412A-ABE2-B41B774F189B}" destId="{F382579C-1F35-4CBE-B203-942B20126A0F}" srcOrd="22" destOrd="0" presId="urn:microsoft.com/office/officeart/2005/8/layout/cycle8"/>
    <dgm:cxn modelId="{5AC306C3-10BC-426E-8737-A1813C15BCD0}" type="presParOf" srcId="{50B73C20-8720-412A-ABE2-B41B774F189B}" destId="{CDF1F5E0-2273-4303-AC97-73925993329B}" srcOrd="23" destOrd="0" presId="urn:microsoft.com/office/officeart/2005/8/layout/cycle8"/>
    <dgm:cxn modelId="{F6E7CDAB-577A-4E47-87DF-7F49B00FF327}" type="presParOf" srcId="{50B73C20-8720-412A-ABE2-B41B774F189B}" destId="{578C926A-45BB-4DF8-A8E0-D69C701E431E}" srcOrd="2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92C900F-4DD0-4117-8F92-0AAA316E3167}"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01B1AC05-85FE-4B02-8A01-4E9DBED75A3E}">
      <dgm:prSet phldrT="[Text]" phldr="0" custT="1"/>
      <dgm:spPr>
        <a:solidFill>
          <a:srgbClr val="00AF74"/>
        </a:solidFill>
      </dgm:spPr>
      <dgm:t>
        <a:bodyPr/>
        <a:lstStyle/>
        <a:p>
          <a:pPr marL="0" lvl="0" indent="0" algn="ctr" defTabSz="666750">
            <a:lnSpc>
              <a:spcPct val="90000"/>
            </a:lnSpc>
            <a:spcBef>
              <a:spcPct val="0"/>
            </a:spcBef>
            <a:spcAft>
              <a:spcPct val="35000"/>
            </a:spcAft>
            <a:buNone/>
          </a:pPr>
          <a:r>
            <a:rPr lang="en-US" sz="1500" b="1" kern="1200" noProof="0">
              <a:solidFill>
                <a:prstClr val="white"/>
              </a:solidFill>
              <a:latin typeface="Trebuchet MS" panose="020B0603020202020204" pitchFamily="34" charset="0"/>
              <a:ea typeface="+mn-ea"/>
              <a:cs typeface="+mn-cs"/>
            </a:rPr>
            <a:t>0: highly capable</a:t>
          </a:r>
        </a:p>
      </dgm:t>
    </dgm:pt>
    <dgm:pt modelId="{30119C80-5093-442C-9299-4994CAD92AB7}" type="parTrans" cxnId="{BD17F76D-DB05-4AD3-935F-F96F0375E7D3}">
      <dgm:prSet/>
      <dgm:spPr/>
      <dgm:t>
        <a:bodyPr/>
        <a:lstStyle/>
        <a:p>
          <a:endParaRPr lang="en-US" b="1">
            <a:latin typeface="Trebuchet MS" panose="020B0603020202020204" pitchFamily="34" charset="0"/>
          </a:endParaRPr>
        </a:p>
      </dgm:t>
    </dgm:pt>
    <dgm:pt modelId="{D87897B2-7C2C-469B-8904-74B2C1E9C34A}" type="sibTrans" cxnId="{BD17F76D-DB05-4AD3-935F-F96F0375E7D3}">
      <dgm:prSet/>
      <dgm:spPr/>
      <dgm:t>
        <a:bodyPr/>
        <a:lstStyle/>
        <a:p>
          <a:endParaRPr lang="en-US" b="1">
            <a:latin typeface="Trebuchet MS" panose="020B0603020202020204" pitchFamily="34" charset="0"/>
          </a:endParaRPr>
        </a:p>
      </dgm:t>
    </dgm:pt>
    <dgm:pt modelId="{300EEF89-401C-4638-915A-8E86C18B8440}">
      <dgm:prSet phldrT="[Text]" phldr="0"/>
      <dgm:spPr>
        <a:solidFill>
          <a:srgbClr val="92D050"/>
        </a:solidFill>
      </dgm:spPr>
      <dgm:t>
        <a:bodyPr/>
        <a:lstStyle/>
        <a:p>
          <a:r>
            <a:rPr lang="en-US" b="1" noProof="0">
              <a:latin typeface="Trebuchet MS" panose="020B0603020202020204" pitchFamily="34" charset="0"/>
            </a:rPr>
            <a:t>0.02 – 0.05: Minor rework</a:t>
          </a:r>
        </a:p>
      </dgm:t>
    </dgm:pt>
    <dgm:pt modelId="{B968449F-FB43-4869-9AB5-2F796F0CABF4}" type="parTrans" cxnId="{A3512A13-9717-498C-A42D-C082019DE671}">
      <dgm:prSet/>
      <dgm:spPr/>
      <dgm:t>
        <a:bodyPr/>
        <a:lstStyle/>
        <a:p>
          <a:endParaRPr lang="en-US" b="1">
            <a:latin typeface="Trebuchet MS" panose="020B0603020202020204" pitchFamily="34" charset="0"/>
          </a:endParaRPr>
        </a:p>
      </dgm:t>
    </dgm:pt>
    <dgm:pt modelId="{95B6189E-2035-4C92-9164-941CB10E1C8B}" type="sibTrans" cxnId="{A3512A13-9717-498C-A42D-C082019DE671}">
      <dgm:prSet/>
      <dgm:spPr/>
      <dgm:t>
        <a:bodyPr/>
        <a:lstStyle/>
        <a:p>
          <a:endParaRPr lang="en-US" b="1">
            <a:latin typeface="Trebuchet MS" panose="020B0603020202020204" pitchFamily="34" charset="0"/>
          </a:endParaRPr>
        </a:p>
      </dgm:t>
    </dgm:pt>
    <dgm:pt modelId="{BD597474-9DBD-43F0-83A9-FF9BC4C7542A}">
      <dgm:prSet phldrT="[Text]" phldr="0"/>
      <dgm:spPr>
        <a:solidFill>
          <a:schemeClr val="accent6"/>
        </a:solidFill>
      </dgm:spPr>
      <dgm:t>
        <a:bodyPr/>
        <a:lstStyle/>
        <a:p>
          <a:r>
            <a:rPr lang="en-US" b="1" noProof="0">
              <a:latin typeface="Trebuchet MS" panose="020B0603020202020204" pitchFamily="34" charset="0"/>
            </a:rPr>
            <a:t>0.10 – 0.25: Rework burden</a:t>
          </a:r>
        </a:p>
      </dgm:t>
    </dgm:pt>
    <dgm:pt modelId="{C2B6715E-8B6B-4CEA-AB91-50E755C4DFAD}" type="parTrans" cxnId="{44899AEF-CA5D-42EF-9F87-5B0F33EBFA75}">
      <dgm:prSet/>
      <dgm:spPr/>
      <dgm:t>
        <a:bodyPr/>
        <a:lstStyle/>
        <a:p>
          <a:endParaRPr lang="en-US" b="1">
            <a:latin typeface="Trebuchet MS" panose="020B0603020202020204" pitchFamily="34" charset="0"/>
          </a:endParaRPr>
        </a:p>
      </dgm:t>
    </dgm:pt>
    <dgm:pt modelId="{A1E594A3-6C5A-466B-BC61-611B423344D1}" type="sibTrans" cxnId="{44899AEF-CA5D-42EF-9F87-5B0F33EBFA75}">
      <dgm:prSet/>
      <dgm:spPr/>
      <dgm:t>
        <a:bodyPr/>
        <a:lstStyle/>
        <a:p>
          <a:endParaRPr lang="en-US" b="1">
            <a:latin typeface="Trebuchet MS" panose="020B0603020202020204" pitchFamily="34" charset="0"/>
          </a:endParaRPr>
        </a:p>
      </dgm:t>
    </dgm:pt>
    <dgm:pt modelId="{6CF3701E-D8F4-4280-9444-4B764517919E}">
      <dgm:prSet phldrT="[Text]" phldr="0"/>
      <dgm:spPr>
        <a:solidFill>
          <a:schemeClr val="accent3"/>
        </a:solidFill>
      </dgm:spPr>
      <dgm:t>
        <a:bodyPr/>
        <a:lstStyle/>
        <a:p>
          <a:r>
            <a:rPr lang="en-US" b="1" noProof="0">
              <a:latin typeface="Trebuchet MS" panose="020B0603020202020204" pitchFamily="34" charset="0"/>
            </a:rPr>
            <a:t>0.05 – 0.10: Recurring</a:t>
          </a:r>
        </a:p>
        <a:p>
          <a:endParaRPr lang="en-US" b="1" noProof="0">
            <a:latin typeface="Trebuchet MS" panose="020B0603020202020204" pitchFamily="34" charset="0"/>
          </a:endParaRPr>
        </a:p>
      </dgm:t>
    </dgm:pt>
    <dgm:pt modelId="{C1247F8B-89FF-4E9B-A2F0-4FC20CC6A061}" type="parTrans" cxnId="{CE6217E5-406C-4A4C-81A3-E9FCC78C551F}">
      <dgm:prSet/>
      <dgm:spPr/>
      <dgm:t>
        <a:bodyPr/>
        <a:lstStyle/>
        <a:p>
          <a:endParaRPr lang="en-US"/>
        </a:p>
      </dgm:t>
    </dgm:pt>
    <dgm:pt modelId="{48566E39-791F-4648-B035-2107AF3BE162}" type="sibTrans" cxnId="{CE6217E5-406C-4A4C-81A3-E9FCC78C551F}">
      <dgm:prSet/>
      <dgm:spPr/>
      <dgm:t>
        <a:bodyPr/>
        <a:lstStyle/>
        <a:p>
          <a:endParaRPr lang="en-US"/>
        </a:p>
      </dgm:t>
    </dgm:pt>
    <dgm:pt modelId="{551FB3E7-02DE-4F67-9DC4-86243389451D}">
      <dgm:prSet phldrT="[Text]" phldr="0"/>
      <dgm:spPr>
        <a:solidFill>
          <a:schemeClr val="accent6">
            <a:lumMod val="75000"/>
          </a:schemeClr>
        </a:solidFill>
      </dgm:spPr>
      <dgm:t>
        <a:bodyPr/>
        <a:lstStyle/>
        <a:p>
          <a:r>
            <a:rPr lang="en-US" b="1" noProof="0">
              <a:latin typeface="Trebuchet MS" panose="020B0603020202020204" pitchFamily="34" charset="0"/>
            </a:rPr>
            <a:t>0.25 – 0.50: Significant issues</a:t>
          </a:r>
        </a:p>
      </dgm:t>
    </dgm:pt>
    <dgm:pt modelId="{70EB7B71-3FDD-4625-85A6-8E8ACC43847C}" type="parTrans" cxnId="{D8054F78-3819-4BEA-B062-79D195CC39F5}">
      <dgm:prSet/>
      <dgm:spPr/>
      <dgm:t>
        <a:bodyPr/>
        <a:lstStyle/>
        <a:p>
          <a:endParaRPr lang="en-US"/>
        </a:p>
      </dgm:t>
    </dgm:pt>
    <dgm:pt modelId="{534DF319-0F40-40F8-8C9B-E0A570F3DCF6}" type="sibTrans" cxnId="{D8054F78-3819-4BEA-B062-79D195CC39F5}">
      <dgm:prSet/>
      <dgm:spPr/>
      <dgm:t>
        <a:bodyPr/>
        <a:lstStyle/>
        <a:p>
          <a:endParaRPr lang="en-US"/>
        </a:p>
      </dgm:t>
    </dgm:pt>
    <dgm:pt modelId="{310A44A4-6326-4EB2-A28D-8A4B7343BF87}">
      <dgm:prSet phldrT="[Text]" phldr="0"/>
      <dgm:spPr>
        <a:solidFill>
          <a:srgbClr val="FF0000"/>
        </a:solidFill>
      </dgm:spPr>
      <dgm:t>
        <a:bodyPr/>
        <a:lstStyle/>
        <a:p>
          <a:r>
            <a:rPr lang="en-US" b="1" noProof="0">
              <a:latin typeface="Trebuchet MS" panose="020B0603020202020204" pitchFamily="34" charset="0"/>
            </a:rPr>
            <a:t>&gt;50: Systemic Issues</a:t>
          </a:r>
        </a:p>
      </dgm:t>
    </dgm:pt>
    <dgm:pt modelId="{BF964B40-E722-4A29-B587-9F9C0AA78DA3}" type="parTrans" cxnId="{C1D0B0BC-E71C-4A01-940B-7568FC1D76B9}">
      <dgm:prSet/>
      <dgm:spPr/>
      <dgm:t>
        <a:bodyPr/>
        <a:lstStyle/>
        <a:p>
          <a:endParaRPr lang="en-US"/>
        </a:p>
      </dgm:t>
    </dgm:pt>
    <dgm:pt modelId="{98D87754-BA40-4003-ADC2-4C195D3FCA6B}" type="sibTrans" cxnId="{C1D0B0BC-E71C-4A01-940B-7568FC1D76B9}">
      <dgm:prSet/>
      <dgm:spPr/>
      <dgm:t>
        <a:bodyPr/>
        <a:lstStyle/>
        <a:p>
          <a:endParaRPr lang="en-US"/>
        </a:p>
      </dgm:t>
    </dgm:pt>
    <dgm:pt modelId="{A99F3D39-4327-4B46-9B46-519BD46B0B97}" type="pres">
      <dgm:prSet presAssocID="{D92C900F-4DD0-4117-8F92-0AAA316E3167}" presName="Name0" presStyleCnt="0">
        <dgm:presLayoutVars>
          <dgm:dir/>
          <dgm:animLvl val="lvl"/>
          <dgm:resizeHandles val="exact"/>
        </dgm:presLayoutVars>
      </dgm:prSet>
      <dgm:spPr/>
    </dgm:pt>
    <dgm:pt modelId="{C758E833-EDFE-4AC3-9E16-BD50D7461B61}" type="pres">
      <dgm:prSet presAssocID="{01B1AC05-85FE-4B02-8A01-4E9DBED75A3E}" presName="parTxOnly" presStyleLbl="node1" presStyleIdx="0" presStyleCnt="6">
        <dgm:presLayoutVars>
          <dgm:chMax val="0"/>
          <dgm:chPref val="0"/>
          <dgm:bulletEnabled val="1"/>
        </dgm:presLayoutVars>
      </dgm:prSet>
      <dgm:spPr/>
    </dgm:pt>
    <dgm:pt modelId="{E7D7C02A-D526-4BC2-8958-BEB02ADEE07C}" type="pres">
      <dgm:prSet presAssocID="{D87897B2-7C2C-469B-8904-74B2C1E9C34A}" presName="parTxOnlySpace" presStyleCnt="0"/>
      <dgm:spPr/>
    </dgm:pt>
    <dgm:pt modelId="{BE485AA9-5376-42C4-88BB-2F292A57EC4A}" type="pres">
      <dgm:prSet presAssocID="{300EEF89-401C-4638-915A-8E86C18B8440}" presName="parTxOnly" presStyleLbl="node1" presStyleIdx="1" presStyleCnt="6">
        <dgm:presLayoutVars>
          <dgm:chMax val="0"/>
          <dgm:chPref val="0"/>
          <dgm:bulletEnabled val="1"/>
        </dgm:presLayoutVars>
      </dgm:prSet>
      <dgm:spPr/>
    </dgm:pt>
    <dgm:pt modelId="{74549782-C3E2-4E27-B153-B5EED6019111}" type="pres">
      <dgm:prSet presAssocID="{95B6189E-2035-4C92-9164-941CB10E1C8B}" presName="parTxOnlySpace" presStyleCnt="0"/>
      <dgm:spPr/>
    </dgm:pt>
    <dgm:pt modelId="{42A44A51-791D-4713-AB88-47E6E267075F}" type="pres">
      <dgm:prSet presAssocID="{6CF3701E-D8F4-4280-9444-4B764517919E}" presName="parTxOnly" presStyleLbl="node1" presStyleIdx="2" presStyleCnt="6">
        <dgm:presLayoutVars>
          <dgm:chMax val="0"/>
          <dgm:chPref val="0"/>
          <dgm:bulletEnabled val="1"/>
        </dgm:presLayoutVars>
      </dgm:prSet>
      <dgm:spPr/>
    </dgm:pt>
    <dgm:pt modelId="{E27275C2-A8FF-40DE-BEF5-AE2AA5711B91}" type="pres">
      <dgm:prSet presAssocID="{48566E39-791F-4648-B035-2107AF3BE162}" presName="parTxOnlySpace" presStyleCnt="0"/>
      <dgm:spPr/>
    </dgm:pt>
    <dgm:pt modelId="{B6B9EF45-189A-4071-AD6E-30C13AF3B271}" type="pres">
      <dgm:prSet presAssocID="{BD597474-9DBD-43F0-83A9-FF9BC4C7542A}" presName="parTxOnly" presStyleLbl="node1" presStyleIdx="3" presStyleCnt="6">
        <dgm:presLayoutVars>
          <dgm:chMax val="0"/>
          <dgm:chPref val="0"/>
          <dgm:bulletEnabled val="1"/>
        </dgm:presLayoutVars>
      </dgm:prSet>
      <dgm:spPr/>
    </dgm:pt>
    <dgm:pt modelId="{ECE28E09-D278-4853-A597-A7C52AF278E6}" type="pres">
      <dgm:prSet presAssocID="{A1E594A3-6C5A-466B-BC61-611B423344D1}" presName="parTxOnlySpace" presStyleCnt="0"/>
      <dgm:spPr/>
    </dgm:pt>
    <dgm:pt modelId="{FE9AAA99-0B51-4003-96C6-041661FD8DF2}" type="pres">
      <dgm:prSet presAssocID="{551FB3E7-02DE-4F67-9DC4-86243389451D}" presName="parTxOnly" presStyleLbl="node1" presStyleIdx="4" presStyleCnt="6">
        <dgm:presLayoutVars>
          <dgm:chMax val="0"/>
          <dgm:chPref val="0"/>
          <dgm:bulletEnabled val="1"/>
        </dgm:presLayoutVars>
      </dgm:prSet>
      <dgm:spPr/>
    </dgm:pt>
    <dgm:pt modelId="{AF8A5A95-9F18-4284-95D0-41BAD9AE24F1}" type="pres">
      <dgm:prSet presAssocID="{534DF319-0F40-40F8-8C9B-E0A570F3DCF6}" presName="parTxOnlySpace" presStyleCnt="0"/>
      <dgm:spPr/>
    </dgm:pt>
    <dgm:pt modelId="{921492DF-6C1E-4CD9-AF18-CBE1ADC23641}" type="pres">
      <dgm:prSet presAssocID="{310A44A4-6326-4EB2-A28D-8A4B7343BF87}" presName="parTxOnly" presStyleLbl="node1" presStyleIdx="5" presStyleCnt="6">
        <dgm:presLayoutVars>
          <dgm:chMax val="0"/>
          <dgm:chPref val="0"/>
          <dgm:bulletEnabled val="1"/>
        </dgm:presLayoutVars>
      </dgm:prSet>
      <dgm:spPr/>
    </dgm:pt>
  </dgm:ptLst>
  <dgm:cxnLst>
    <dgm:cxn modelId="{A1033E05-A4F4-4323-AA37-E9A402B34CE8}" type="presOf" srcId="{D92C900F-4DD0-4117-8F92-0AAA316E3167}" destId="{A99F3D39-4327-4B46-9B46-519BD46B0B97}" srcOrd="0" destOrd="0" presId="urn:microsoft.com/office/officeart/2005/8/layout/chevron1"/>
    <dgm:cxn modelId="{A3512A13-9717-498C-A42D-C082019DE671}" srcId="{D92C900F-4DD0-4117-8F92-0AAA316E3167}" destId="{300EEF89-401C-4638-915A-8E86C18B8440}" srcOrd="1" destOrd="0" parTransId="{B968449F-FB43-4869-9AB5-2F796F0CABF4}" sibTransId="{95B6189E-2035-4C92-9164-941CB10E1C8B}"/>
    <dgm:cxn modelId="{7BEA111B-D8B4-4EC0-BC9E-3F32C736EF82}" type="presOf" srcId="{01B1AC05-85FE-4B02-8A01-4E9DBED75A3E}" destId="{C758E833-EDFE-4AC3-9E16-BD50D7461B61}" srcOrd="0" destOrd="0" presId="urn:microsoft.com/office/officeart/2005/8/layout/chevron1"/>
    <dgm:cxn modelId="{E9B95067-1D46-4DEC-A91C-CD4E7AEACBCD}" type="presOf" srcId="{300EEF89-401C-4638-915A-8E86C18B8440}" destId="{BE485AA9-5376-42C4-88BB-2F292A57EC4A}" srcOrd="0" destOrd="0" presId="urn:microsoft.com/office/officeart/2005/8/layout/chevron1"/>
    <dgm:cxn modelId="{BD17F76D-DB05-4AD3-935F-F96F0375E7D3}" srcId="{D92C900F-4DD0-4117-8F92-0AAA316E3167}" destId="{01B1AC05-85FE-4B02-8A01-4E9DBED75A3E}" srcOrd="0" destOrd="0" parTransId="{30119C80-5093-442C-9299-4994CAD92AB7}" sibTransId="{D87897B2-7C2C-469B-8904-74B2C1E9C34A}"/>
    <dgm:cxn modelId="{C1CF0954-4655-4FB5-ADCC-4637AA9ED086}" type="presOf" srcId="{310A44A4-6326-4EB2-A28D-8A4B7343BF87}" destId="{921492DF-6C1E-4CD9-AF18-CBE1ADC23641}" srcOrd="0" destOrd="0" presId="urn:microsoft.com/office/officeart/2005/8/layout/chevron1"/>
    <dgm:cxn modelId="{D8054F78-3819-4BEA-B062-79D195CC39F5}" srcId="{D92C900F-4DD0-4117-8F92-0AAA316E3167}" destId="{551FB3E7-02DE-4F67-9DC4-86243389451D}" srcOrd="4" destOrd="0" parTransId="{70EB7B71-3FDD-4625-85A6-8E8ACC43847C}" sibTransId="{534DF319-0F40-40F8-8C9B-E0A570F3DCF6}"/>
    <dgm:cxn modelId="{97140F95-1C9F-4299-AEA8-B809B801679C}" type="presOf" srcId="{551FB3E7-02DE-4F67-9DC4-86243389451D}" destId="{FE9AAA99-0B51-4003-96C6-041661FD8DF2}" srcOrd="0" destOrd="0" presId="urn:microsoft.com/office/officeart/2005/8/layout/chevron1"/>
    <dgm:cxn modelId="{B7180C96-FB66-41FE-8658-DFBFF5FCD51F}" type="presOf" srcId="{BD597474-9DBD-43F0-83A9-FF9BC4C7542A}" destId="{B6B9EF45-189A-4071-AD6E-30C13AF3B271}" srcOrd="0" destOrd="0" presId="urn:microsoft.com/office/officeart/2005/8/layout/chevron1"/>
    <dgm:cxn modelId="{C1D0B0BC-E71C-4A01-940B-7568FC1D76B9}" srcId="{D92C900F-4DD0-4117-8F92-0AAA316E3167}" destId="{310A44A4-6326-4EB2-A28D-8A4B7343BF87}" srcOrd="5" destOrd="0" parTransId="{BF964B40-E722-4A29-B587-9F9C0AA78DA3}" sibTransId="{98D87754-BA40-4003-ADC2-4C195D3FCA6B}"/>
    <dgm:cxn modelId="{D0BB82C6-9A21-4D05-B446-3BD2ECA3BB6F}" type="presOf" srcId="{6CF3701E-D8F4-4280-9444-4B764517919E}" destId="{42A44A51-791D-4713-AB88-47E6E267075F}" srcOrd="0" destOrd="0" presId="urn:microsoft.com/office/officeart/2005/8/layout/chevron1"/>
    <dgm:cxn modelId="{CE6217E5-406C-4A4C-81A3-E9FCC78C551F}" srcId="{D92C900F-4DD0-4117-8F92-0AAA316E3167}" destId="{6CF3701E-D8F4-4280-9444-4B764517919E}" srcOrd="2" destOrd="0" parTransId="{C1247F8B-89FF-4E9B-A2F0-4FC20CC6A061}" sibTransId="{48566E39-791F-4648-B035-2107AF3BE162}"/>
    <dgm:cxn modelId="{44899AEF-CA5D-42EF-9F87-5B0F33EBFA75}" srcId="{D92C900F-4DD0-4117-8F92-0AAA316E3167}" destId="{BD597474-9DBD-43F0-83A9-FF9BC4C7542A}" srcOrd="3" destOrd="0" parTransId="{C2B6715E-8B6B-4CEA-AB91-50E755C4DFAD}" sibTransId="{A1E594A3-6C5A-466B-BC61-611B423344D1}"/>
    <dgm:cxn modelId="{18E7AF55-6FC3-400B-95A7-F23C649E8B66}" type="presParOf" srcId="{A99F3D39-4327-4B46-9B46-519BD46B0B97}" destId="{C758E833-EDFE-4AC3-9E16-BD50D7461B61}" srcOrd="0" destOrd="0" presId="urn:microsoft.com/office/officeart/2005/8/layout/chevron1"/>
    <dgm:cxn modelId="{B612BD27-97BA-48E9-A936-FD792551DA2F}" type="presParOf" srcId="{A99F3D39-4327-4B46-9B46-519BD46B0B97}" destId="{E7D7C02A-D526-4BC2-8958-BEB02ADEE07C}" srcOrd="1" destOrd="0" presId="urn:microsoft.com/office/officeart/2005/8/layout/chevron1"/>
    <dgm:cxn modelId="{5EC5914F-3556-4528-A331-534F0B647A63}" type="presParOf" srcId="{A99F3D39-4327-4B46-9B46-519BD46B0B97}" destId="{BE485AA9-5376-42C4-88BB-2F292A57EC4A}" srcOrd="2" destOrd="0" presId="urn:microsoft.com/office/officeart/2005/8/layout/chevron1"/>
    <dgm:cxn modelId="{907B0FAC-A7D4-4EA4-9DC4-AE12EB52843F}" type="presParOf" srcId="{A99F3D39-4327-4B46-9B46-519BD46B0B97}" destId="{74549782-C3E2-4E27-B153-B5EED6019111}" srcOrd="3" destOrd="0" presId="urn:microsoft.com/office/officeart/2005/8/layout/chevron1"/>
    <dgm:cxn modelId="{53438DA2-E19E-49A9-BB8F-CC211C1464A8}" type="presParOf" srcId="{A99F3D39-4327-4B46-9B46-519BD46B0B97}" destId="{42A44A51-791D-4713-AB88-47E6E267075F}" srcOrd="4" destOrd="0" presId="urn:microsoft.com/office/officeart/2005/8/layout/chevron1"/>
    <dgm:cxn modelId="{55AE81F7-8AF9-4396-B5A5-B96D6221719F}" type="presParOf" srcId="{A99F3D39-4327-4B46-9B46-519BD46B0B97}" destId="{E27275C2-A8FF-40DE-BEF5-AE2AA5711B91}" srcOrd="5" destOrd="0" presId="urn:microsoft.com/office/officeart/2005/8/layout/chevron1"/>
    <dgm:cxn modelId="{FBB5E576-28FE-4C5A-99DB-01EF25F9BA9C}" type="presParOf" srcId="{A99F3D39-4327-4B46-9B46-519BD46B0B97}" destId="{B6B9EF45-189A-4071-AD6E-30C13AF3B271}" srcOrd="6" destOrd="0" presId="urn:microsoft.com/office/officeart/2005/8/layout/chevron1"/>
    <dgm:cxn modelId="{9658EA01-B2F9-4B9B-A8B4-FA49CAA1301F}" type="presParOf" srcId="{A99F3D39-4327-4B46-9B46-519BD46B0B97}" destId="{ECE28E09-D278-4853-A597-A7C52AF278E6}" srcOrd="7" destOrd="0" presId="urn:microsoft.com/office/officeart/2005/8/layout/chevron1"/>
    <dgm:cxn modelId="{A0E7C4FB-F264-42C7-BBCD-87FBB6B0004E}" type="presParOf" srcId="{A99F3D39-4327-4B46-9B46-519BD46B0B97}" destId="{FE9AAA99-0B51-4003-96C6-041661FD8DF2}" srcOrd="8" destOrd="0" presId="urn:microsoft.com/office/officeart/2005/8/layout/chevron1"/>
    <dgm:cxn modelId="{9D36A022-4F82-4F0E-8847-437635B34E33}" type="presParOf" srcId="{A99F3D39-4327-4B46-9B46-519BD46B0B97}" destId="{AF8A5A95-9F18-4284-95D0-41BAD9AE24F1}" srcOrd="9" destOrd="0" presId="urn:microsoft.com/office/officeart/2005/8/layout/chevron1"/>
    <dgm:cxn modelId="{F45A7B37-B8C0-4932-B01E-41EC6D876FA1}" type="presParOf" srcId="{A99F3D39-4327-4B46-9B46-519BD46B0B97}" destId="{921492DF-6C1E-4CD9-AF18-CBE1ADC23641}" srcOrd="10"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235FE3-3F71-44C2-A46B-539B833DE24C}">
      <dsp:nvSpPr>
        <dsp:cNvPr id="0" name=""/>
        <dsp:cNvSpPr/>
      </dsp:nvSpPr>
      <dsp:spPr>
        <a:xfrm>
          <a:off x="307888" y="153664"/>
          <a:ext cx="2085273" cy="2085273"/>
        </a:xfrm>
        <a:prstGeom prst="pie">
          <a:avLst>
            <a:gd name="adj1" fmla="val 16200000"/>
            <a:gd name="adj2" fmla="val 20520000"/>
          </a:avLst>
        </a:prstGeom>
        <a:solidFill>
          <a:srgbClr val="00AF74"/>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t" anchorCtr="0">
          <a:noAutofit/>
        </a:bodyPr>
        <a:lstStyle/>
        <a:p>
          <a:pPr marL="0" lvl="0" indent="0" algn="l" defTabSz="355600">
            <a:lnSpc>
              <a:spcPct val="90000"/>
            </a:lnSpc>
            <a:spcBef>
              <a:spcPct val="0"/>
            </a:spcBef>
            <a:spcAft>
              <a:spcPct val="35000"/>
            </a:spcAft>
            <a:buNone/>
          </a:pPr>
          <a:r>
            <a:rPr lang="en-US" sz="800" kern="1200" noProof="0">
              <a:solidFill>
                <a:srgbClr val="FFFFFF"/>
              </a:solidFill>
              <a:latin typeface="Arial" panose="020B0604020202020204" pitchFamily="34" charset="0"/>
              <a:ea typeface="+mn-ea"/>
              <a:cs typeface="Arial" panose="020B0604020202020204" pitchFamily="34" charset="0"/>
            </a:rPr>
            <a:t>Define</a:t>
          </a:r>
        </a:p>
        <a:p>
          <a:pPr marL="57150" lvl="1" indent="-57150" algn="l" defTabSz="266700">
            <a:lnSpc>
              <a:spcPct val="90000"/>
            </a:lnSpc>
            <a:spcBef>
              <a:spcPct val="0"/>
            </a:spcBef>
            <a:spcAft>
              <a:spcPct val="15000"/>
            </a:spcAft>
            <a:buChar char="•"/>
          </a:pPr>
          <a:endParaRPr lang="en-US" sz="600" kern="1200" noProof="0">
            <a:solidFill>
              <a:srgbClr val="FFFFFF"/>
            </a:solidFill>
            <a:latin typeface="Trebuchet MS"/>
            <a:ea typeface="+mn-ea"/>
            <a:cs typeface="+mn-cs"/>
          </a:endParaRPr>
        </a:p>
      </dsp:txBody>
      <dsp:txXfrm>
        <a:off x="1493864" y="569628"/>
        <a:ext cx="473950" cy="315966"/>
      </dsp:txXfrm>
    </dsp:sp>
    <dsp:sp modelId="{EDCE5F9B-1D88-4D8D-9083-55DD36D07A64}">
      <dsp:nvSpPr>
        <dsp:cNvPr id="0" name=""/>
        <dsp:cNvSpPr/>
      </dsp:nvSpPr>
      <dsp:spPr>
        <a:xfrm>
          <a:off x="325762" y="209272"/>
          <a:ext cx="2085273" cy="2085273"/>
        </a:xfrm>
        <a:prstGeom prst="pie">
          <a:avLst>
            <a:gd name="adj1" fmla="val 20520000"/>
            <a:gd name="adj2" fmla="val 3240000"/>
          </a:avLst>
        </a:prstGeom>
        <a:solidFill>
          <a:srgbClr val="27AAE1"/>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noProof="0">
              <a:solidFill>
                <a:srgbClr val="FFFFFF"/>
              </a:solidFill>
              <a:latin typeface="Trebuchet MS"/>
              <a:ea typeface="+mn-ea"/>
              <a:cs typeface="+mn-cs"/>
            </a:rPr>
            <a:t>Measure</a:t>
          </a:r>
        </a:p>
      </dsp:txBody>
      <dsp:txXfrm>
        <a:off x="1759664" y="1234753"/>
        <a:ext cx="438843" cy="351073"/>
      </dsp:txXfrm>
    </dsp:sp>
    <dsp:sp modelId="{A5E52B60-80D4-45E8-AB32-72C8832C4F04}">
      <dsp:nvSpPr>
        <dsp:cNvPr id="0" name=""/>
        <dsp:cNvSpPr/>
      </dsp:nvSpPr>
      <dsp:spPr>
        <a:xfrm>
          <a:off x="278595" y="243530"/>
          <a:ext cx="2085273" cy="2085273"/>
        </a:xfrm>
        <a:prstGeom prst="pie">
          <a:avLst>
            <a:gd name="adj1" fmla="val 3240000"/>
            <a:gd name="adj2" fmla="val 7560000"/>
          </a:avLst>
        </a:prstGeom>
        <a:solidFill>
          <a:srgbClr val="EC008C"/>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noProof="0">
              <a:solidFill>
                <a:srgbClr val="FFFFFF"/>
              </a:solidFill>
              <a:latin typeface="Trebuchet MS"/>
              <a:ea typeface="+mn-ea"/>
              <a:cs typeface="+mn-cs"/>
            </a:rPr>
            <a:t>Analyze</a:t>
          </a:r>
        </a:p>
        <a:p>
          <a:pPr marL="0" lvl="0" indent="0" algn="ctr" defTabSz="355600">
            <a:lnSpc>
              <a:spcPct val="90000"/>
            </a:lnSpc>
            <a:spcBef>
              <a:spcPct val="0"/>
            </a:spcBef>
            <a:spcAft>
              <a:spcPct val="35000"/>
            </a:spcAft>
            <a:buNone/>
          </a:pPr>
          <a:endParaRPr lang="en-US" sz="800" kern="1200" noProof="0">
            <a:solidFill>
              <a:srgbClr val="FFFFFF"/>
            </a:solidFill>
            <a:latin typeface="Trebuchet MS"/>
            <a:ea typeface="+mn-ea"/>
            <a:cs typeface="+mn-cs"/>
          </a:endParaRPr>
        </a:p>
      </dsp:txBody>
      <dsp:txXfrm>
        <a:off x="1110587" y="1788167"/>
        <a:ext cx="421288" cy="386180"/>
      </dsp:txXfrm>
    </dsp:sp>
    <dsp:sp modelId="{45CD1A6F-7DD7-4DE4-B175-D658CA85DBBD}">
      <dsp:nvSpPr>
        <dsp:cNvPr id="0" name=""/>
        <dsp:cNvSpPr/>
      </dsp:nvSpPr>
      <dsp:spPr>
        <a:xfrm>
          <a:off x="231428" y="209272"/>
          <a:ext cx="2085273" cy="2085273"/>
        </a:xfrm>
        <a:prstGeom prst="pie">
          <a:avLst>
            <a:gd name="adj1" fmla="val 7560000"/>
            <a:gd name="adj2" fmla="val 11880000"/>
          </a:avLst>
        </a:prstGeom>
        <a:solidFill>
          <a:srgbClr val="FBBA00"/>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noProof="0">
              <a:solidFill>
                <a:srgbClr val="FFFFFF"/>
              </a:solidFill>
              <a:latin typeface="Trebuchet MS"/>
              <a:ea typeface="+mn-ea"/>
              <a:cs typeface="+mn-cs"/>
            </a:rPr>
            <a:t>Improve</a:t>
          </a:r>
        </a:p>
      </dsp:txBody>
      <dsp:txXfrm>
        <a:off x="443956" y="1234753"/>
        <a:ext cx="438843" cy="351073"/>
      </dsp:txXfrm>
    </dsp:sp>
    <dsp:sp modelId="{3B487735-59B4-41E9-BDAB-5D244BF18F68}">
      <dsp:nvSpPr>
        <dsp:cNvPr id="0" name=""/>
        <dsp:cNvSpPr/>
      </dsp:nvSpPr>
      <dsp:spPr>
        <a:xfrm>
          <a:off x="249302" y="153664"/>
          <a:ext cx="2085273" cy="2085273"/>
        </a:xfrm>
        <a:prstGeom prst="pie">
          <a:avLst>
            <a:gd name="adj1" fmla="val 11880000"/>
            <a:gd name="adj2" fmla="val 16200000"/>
          </a:avLst>
        </a:prstGeom>
        <a:solidFill>
          <a:srgbClr val="7030A0"/>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noProof="0">
              <a:solidFill>
                <a:srgbClr val="FFFFFF"/>
              </a:solidFill>
              <a:latin typeface="Trebuchet MS"/>
              <a:ea typeface="+mn-ea"/>
              <a:cs typeface="+mn-cs"/>
            </a:rPr>
            <a:t>Control</a:t>
          </a:r>
        </a:p>
        <a:p>
          <a:pPr marL="0" lvl="0" indent="0" algn="ctr" defTabSz="355600">
            <a:lnSpc>
              <a:spcPct val="90000"/>
            </a:lnSpc>
            <a:spcBef>
              <a:spcPct val="0"/>
            </a:spcBef>
            <a:spcAft>
              <a:spcPct val="35000"/>
            </a:spcAft>
            <a:buNone/>
          </a:pPr>
          <a:endParaRPr lang="en-US" sz="800" kern="1200" noProof="0">
            <a:solidFill>
              <a:srgbClr val="FFFFFF"/>
            </a:solidFill>
            <a:latin typeface="Trebuchet MS"/>
            <a:ea typeface="+mn-ea"/>
            <a:cs typeface="+mn-cs"/>
          </a:endParaRPr>
        </a:p>
      </dsp:txBody>
      <dsp:txXfrm>
        <a:off x="674649" y="569628"/>
        <a:ext cx="473950" cy="315966"/>
      </dsp:txXfrm>
    </dsp:sp>
    <dsp:sp modelId="{1B3C0182-CF0B-417D-8862-5551CF080ABD}">
      <dsp:nvSpPr>
        <dsp:cNvPr id="0" name=""/>
        <dsp:cNvSpPr/>
      </dsp:nvSpPr>
      <dsp:spPr>
        <a:xfrm>
          <a:off x="178702" y="24576"/>
          <a:ext cx="2343449" cy="2343449"/>
        </a:xfrm>
        <a:prstGeom prst="circularArrow">
          <a:avLst>
            <a:gd name="adj1" fmla="val 5085"/>
            <a:gd name="adj2" fmla="val 327528"/>
            <a:gd name="adj3" fmla="val 20192361"/>
            <a:gd name="adj4" fmla="val 16200324"/>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 modelId="{943B39FA-B7B3-4946-B395-D611843A2FD5}">
      <dsp:nvSpPr>
        <dsp:cNvPr id="0" name=""/>
        <dsp:cNvSpPr/>
      </dsp:nvSpPr>
      <dsp:spPr>
        <a:xfrm>
          <a:off x="196818" y="80165"/>
          <a:ext cx="2343449" cy="2343449"/>
        </a:xfrm>
        <a:prstGeom prst="circularArrow">
          <a:avLst>
            <a:gd name="adj1" fmla="val 5085"/>
            <a:gd name="adj2" fmla="val 327528"/>
            <a:gd name="adj3" fmla="val 2912753"/>
            <a:gd name="adj4" fmla="val 20519953"/>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 modelId="{F382579C-1F35-4CBE-B203-942B20126A0F}">
      <dsp:nvSpPr>
        <dsp:cNvPr id="0" name=""/>
        <dsp:cNvSpPr/>
      </dsp:nvSpPr>
      <dsp:spPr>
        <a:xfrm>
          <a:off x="149507" y="114528"/>
          <a:ext cx="2343449" cy="2343449"/>
        </a:xfrm>
        <a:prstGeom prst="circularArrow">
          <a:avLst>
            <a:gd name="adj1" fmla="val 5085"/>
            <a:gd name="adj2" fmla="val 327528"/>
            <a:gd name="adj3" fmla="val 7232777"/>
            <a:gd name="adj4" fmla="val 3239695"/>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 modelId="{CDF1F5E0-2273-4303-AC97-73925993329B}">
      <dsp:nvSpPr>
        <dsp:cNvPr id="0" name=""/>
        <dsp:cNvSpPr/>
      </dsp:nvSpPr>
      <dsp:spPr>
        <a:xfrm>
          <a:off x="102196" y="80165"/>
          <a:ext cx="2343449" cy="2343449"/>
        </a:xfrm>
        <a:prstGeom prst="circularArrow">
          <a:avLst>
            <a:gd name="adj1" fmla="val 5085"/>
            <a:gd name="adj2" fmla="val 327528"/>
            <a:gd name="adj3" fmla="val 11552519"/>
            <a:gd name="adj4" fmla="val 7559718"/>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 modelId="{578C926A-45BB-4DF8-A8E0-D69C701E431E}">
      <dsp:nvSpPr>
        <dsp:cNvPr id="0" name=""/>
        <dsp:cNvSpPr/>
      </dsp:nvSpPr>
      <dsp:spPr>
        <a:xfrm>
          <a:off x="120312" y="24576"/>
          <a:ext cx="2343449" cy="2343449"/>
        </a:xfrm>
        <a:prstGeom prst="circularArrow">
          <a:avLst>
            <a:gd name="adj1" fmla="val 5085"/>
            <a:gd name="adj2" fmla="val 327528"/>
            <a:gd name="adj3" fmla="val 15872148"/>
            <a:gd name="adj4" fmla="val 11880111"/>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235FE3-3F71-44C2-A46B-539B833DE24C}">
      <dsp:nvSpPr>
        <dsp:cNvPr id="0" name=""/>
        <dsp:cNvSpPr/>
      </dsp:nvSpPr>
      <dsp:spPr>
        <a:xfrm>
          <a:off x="977794" y="279773"/>
          <a:ext cx="3799690" cy="3799690"/>
        </a:xfrm>
        <a:prstGeom prst="pie">
          <a:avLst>
            <a:gd name="adj1" fmla="val 16200000"/>
            <a:gd name="adj2" fmla="val 20520000"/>
          </a:avLst>
        </a:prstGeom>
        <a:solidFill>
          <a:schemeClr val="bg1"/>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t" anchorCtr="0">
          <a:noAutofit/>
        </a:bodyPr>
        <a:lstStyle/>
        <a:p>
          <a:pPr marL="0" lvl="0" indent="0" algn="l" defTabSz="666750">
            <a:lnSpc>
              <a:spcPct val="90000"/>
            </a:lnSpc>
            <a:spcBef>
              <a:spcPct val="0"/>
            </a:spcBef>
            <a:spcAft>
              <a:spcPct val="35000"/>
            </a:spcAft>
            <a:buNone/>
          </a:pPr>
          <a:r>
            <a:rPr lang="en-US" sz="1500" kern="1200" noProof="0">
              <a:solidFill>
                <a:schemeClr val="tx2"/>
              </a:solidFill>
              <a:latin typeface="Trebuchet MS" panose="020B0603020202020204" pitchFamily="34" charset="0"/>
              <a:ea typeface="+mn-ea"/>
              <a:cs typeface="Arial" panose="020B0604020202020204" pitchFamily="34" charset="0"/>
            </a:rPr>
            <a:t>Define</a:t>
          </a:r>
        </a:p>
        <a:p>
          <a:pPr marL="114300" lvl="1" indent="-114300" algn="l" defTabSz="533400">
            <a:lnSpc>
              <a:spcPct val="90000"/>
            </a:lnSpc>
            <a:spcBef>
              <a:spcPct val="0"/>
            </a:spcBef>
            <a:spcAft>
              <a:spcPct val="15000"/>
            </a:spcAft>
            <a:buChar char="•"/>
          </a:pPr>
          <a:endParaRPr lang="en-US" sz="1200" kern="1200" noProof="0">
            <a:solidFill>
              <a:srgbClr val="FFFFFF"/>
            </a:solidFill>
            <a:latin typeface="Trebuchet MS" panose="020B0603020202020204" pitchFamily="34" charset="0"/>
            <a:ea typeface="+mn-ea"/>
            <a:cs typeface="Arial" panose="020B0604020202020204" pitchFamily="34" charset="0"/>
          </a:endParaRPr>
        </a:p>
      </dsp:txBody>
      <dsp:txXfrm>
        <a:off x="3138825" y="1037722"/>
        <a:ext cx="863611" cy="575739"/>
      </dsp:txXfrm>
    </dsp:sp>
    <dsp:sp modelId="{EDCE5F9B-1D88-4D8D-9083-55DD36D07A64}">
      <dsp:nvSpPr>
        <dsp:cNvPr id="0" name=""/>
        <dsp:cNvSpPr/>
      </dsp:nvSpPr>
      <dsp:spPr>
        <a:xfrm>
          <a:off x="1371258" y="539279"/>
          <a:ext cx="3799690" cy="3799690"/>
        </a:xfrm>
        <a:prstGeom prst="pie">
          <a:avLst>
            <a:gd name="adj1" fmla="val 20520000"/>
            <a:gd name="adj2" fmla="val 3240000"/>
          </a:avLst>
        </a:prstGeom>
        <a:solidFill>
          <a:srgbClr val="00B0F0"/>
        </a:solidFill>
        <a:ln w="25400" cap="flat" cmpd="sng" algn="ctr">
          <a:solidFill>
            <a:srgbClr val="00B0F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noProof="0">
              <a:solidFill>
                <a:schemeClr val="bg1"/>
              </a:solidFill>
              <a:latin typeface="Trebuchet MS" panose="020B0603020202020204" pitchFamily="34" charset="0"/>
              <a:ea typeface="+mn-ea"/>
              <a:cs typeface="+mn-cs"/>
            </a:rPr>
            <a:t>Measure</a:t>
          </a:r>
        </a:p>
      </dsp:txBody>
      <dsp:txXfrm>
        <a:off x="3984050" y="2407863"/>
        <a:ext cx="799638" cy="639712"/>
      </dsp:txXfrm>
    </dsp:sp>
    <dsp:sp modelId="{A5E52B60-80D4-45E8-AB32-72C8832C4F04}">
      <dsp:nvSpPr>
        <dsp:cNvPr id="0" name=""/>
        <dsp:cNvSpPr/>
      </dsp:nvSpPr>
      <dsp:spPr>
        <a:xfrm>
          <a:off x="919554" y="443749"/>
          <a:ext cx="3799690" cy="3799690"/>
        </a:xfrm>
        <a:prstGeom prst="pie">
          <a:avLst>
            <a:gd name="adj1" fmla="val 3240000"/>
            <a:gd name="adj2" fmla="val 756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noProof="0">
              <a:latin typeface="Trebuchet MS" panose="020B0603020202020204" pitchFamily="34" charset="0"/>
              <a:ea typeface="+mn-ea"/>
              <a:cs typeface="+mn-cs"/>
            </a:rPr>
            <a:t>Analyze</a:t>
          </a:r>
        </a:p>
        <a:p>
          <a:pPr marL="0" lvl="0" indent="0" algn="ctr" defTabSz="666750">
            <a:lnSpc>
              <a:spcPct val="90000"/>
            </a:lnSpc>
            <a:spcBef>
              <a:spcPct val="0"/>
            </a:spcBef>
            <a:spcAft>
              <a:spcPct val="35000"/>
            </a:spcAft>
            <a:buNone/>
          </a:pPr>
          <a:endParaRPr lang="en-US" sz="1500" kern="1200" noProof="0">
            <a:latin typeface="Trebuchet MS" panose="020B0603020202020204" pitchFamily="34" charset="0"/>
            <a:ea typeface="+mn-ea"/>
            <a:cs typeface="+mn-cs"/>
          </a:endParaRPr>
        </a:p>
      </dsp:txBody>
      <dsp:txXfrm>
        <a:off x="2435573" y="3258316"/>
        <a:ext cx="767653" cy="703683"/>
      </dsp:txXfrm>
    </dsp:sp>
    <dsp:sp modelId="{45CD1A6F-7DD7-4DE4-B175-D658CA85DBBD}">
      <dsp:nvSpPr>
        <dsp:cNvPr id="0" name=""/>
        <dsp:cNvSpPr/>
      </dsp:nvSpPr>
      <dsp:spPr>
        <a:xfrm>
          <a:off x="833609" y="381326"/>
          <a:ext cx="3799690" cy="3799690"/>
        </a:xfrm>
        <a:prstGeom prst="pie">
          <a:avLst>
            <a:gd name="adj1" fmla="val 7560000"/>
            <a:gd name="adj2" fmla="val 1188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noProof="0">
              <a:latin typeface="Trebuchet MS" panose="020B0603020202020204" pitchFamily="34" charset="0"/>
              <a:ea typeface="+mn-ea"/>
              <a:cs typeface="+mn-cs"/>
            </a:rPr>
            <a:t>Improve</a:t>
          </a:r>
        </a:p>
      </dsp:txBody>
      <dsp:txXfrm>
        <a:off x="1220869" y="2249910"/>
        <a:ext cx="799638" cy="639712"/>
      </dsp:txXfrm>
    </dsp:sp>
    <dsp:sp modelId="{3B487735-59B4-41E9-BDAB-5D244BF18F68}">
      <dsp:nvSpPr>
        <dsp:cNvPr id="0" name=""/>
        <dsp:cNvSpPr/>
      </dsp:nvSpPr>
      <dsp:spPr>
        <a:xfrm>
          <a:off x="866178" y="280000"/>
          <a:ext cx="3799690" cy="3799690"/>
        </a:xfrm>
        <a:prstGeom prst="pie">
          <a:avLst>
            <a:gd name="adj1" fmla="val 11880000"/>
            <a:gd name="adj2" fmla="val 1620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noProof="0">
              <a:latin typeface="Trebuchet MS" panose="020B0603020202020204" pitchFamily="34" charset="0"/>
              <a:ea typeface="+mn-ea"/>
              <a:cs typeface="+mn-cs"/>
            </a:rPr>
            <a:t>Control</a:t>
          </a:r>
        </a:p>
        <a:p>
          <a:pPr marL="0" lvl="0" indent="0" algn="ctr" defTabSz="666750">
            <a:lnSpc>
              <a:spcPct val="90000"/>
            </a:lnSpc>
            <a:spcBef>
              <a:spcPct val="0"/>
            </a:spcBef>
            <a:spcAft>
              <a:spcPct val="35000"/>
            </a:spcAft>
            <a:buNone/>
          </a:pPr>
          <a:endParaRPr lang="en-US" sz="1500" kern="1200" noProof="0">
            <a:latin typeface="Trebuchet MS" panose="020B0603020202020204" pitchFamily="34" charset="0"/>
            <a:ea typeface="+mn-ea"/>
            <a:cs typeface="+mn-cs"/>
          </a:endParaRPr>
        </a:p>
      </dsp:txBody>
      <dsp:txXfrm>
        <a:off x="1641226" y="1037950"/>
        <a:ext cx="863611" cy="575739"/>
      </dsp:txXfrm>
    </dsp:sp>
    <dsp:sp modelId="{1B3C0182-CF0B-417D-8862-5551CF080ABD}">
      <dsp:nvSpPr>
        <dsp:cNvPr id="0" name=""/>
        <dsp:cNvSpPr/>
      </dsp:nvSpPr>
      <dsp:spPr>
        <a:xfrm>
          <a:off x="742397" y="44554"/>
          <a:ext cx="4270128" cy="4270128"/>
        </a:xfrm>
        <a:prstGeom prst="circularArrow">
          <a:avLst>
            <a:gd name="adj1" fmla="val 5085"/>
            <a:gd name="adj2" fmla="val 327528"/>
            <a:gd name="adj3" fmla="val 20192361"/>
            <a:gd name="adj4" fmla="val 16200324"/>
            <a:gd name="adj5" fmla="val 5932"/>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43B39FA-B7B3-4946-B395-D611843A2FD5}">
      <dsp:nvSpPr>
        <dsp:cNvPr id="0" name=""/>
        <dsp:cNvSpPr/>
      </dsp:nvSpPr>
      <dsp:spPr>
        <a:xfrm>
          <a:off x="1136302" y="304026"/>
          <a:ext cx="4270128" cy="4270128"/>
        </a:xfrm>
        <a:prstGeom prst="circularArrow">
          <a:avLst>
            <a:gd name="adj1" fmla="val 5085"/>
            <a:gd name="adj2" fmla="val 327528"/>
            <a:gd name="adj3" fmla="val 2912753"/>
            <a:gd name="adj4" fmla="val 20519953"/>
            <a:gd name="adj5" fmla="val 5932"/>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382579C-1F35-4CBE-B203-942B20126A0F}">
      <dsp:nvSpPr>
        <dsp:cNvPr id="0" name=""/>
        <dsp:cNvSpPr/>
      </dsp:nvSpPr>
      <dsp:spPr>
        <a:xfrm>
          <a:off x="684335" y="208688"/>
          <a:ext cx="4270128" cy="4270128"/>
        </a:xfrm>
        <a:prstGeom prst="circularArrow">
          <a:avLst>
            <a:gd name="adj1" fmla="val 5085"/>
            <a:gd name="adj2" fmla="val 327528"/>
            <a:gd name="adj3" fmla="val 7232777"/>
            <a:gd name="adj4" fmla="val 3239695"/>
            <a:gd name="adj5" fmla="val 5932"/>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DF1F5E0-2273-4303-AC97-73925993329B}">
      <dsp:nvSpPr>
        <dsp:cNvPr id="0" name=""/>
        <dsp:cNvSpPr/>
      </dsp:nvSpPr>
      <dsp:spPr>
        <a:xfrm>
          <a:off x="598127" y="146073"/>
          <a:ext cx="4270128" cy="4270128"/>
        </a:xfrm>
        <a:prstGeom prst="circularArrow">
          <a:avLst>
            <a:gd name="adj1" fmla="val 5085"/>
            <a:gd name="adj2" fmla="val 327528"/>
            <a:gd name="adj3" fmla="val 11552519"/>
            <a:gd name="adj4" fmla="val 7559718"/>
            <a:gd name="adj5" fmla="val 5932"/>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78C926A-45BB-4DF8-A8E0-D69C701E431E}">
      <dsp:nvSpPr>
        <dsp:cNvPr id="0" name=""/>
        <dsp:cNvSpPr/>
      </dsp:nvSpPr>
      <dsp:spPr>
        <a:xfrm>
          <a:off x="631138" y="44782"/>
          <a:ext cx="4270128" cy="4270128"/>
        </a:xfrm>
        <a:prstGeom prst="circularArrow">
          <a:avLst>
            <a:gd name="adj1" fmla="val 5085"/>
            <a:gd name="adj2" fmla="val 327528"/>
            <a:gd name="adj3" fmla="val 15872148"/>
            <a:gd name="adj4" fmla="val 11880111"/>
            <a:gd name="adj5" fmla="val 5932"/>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58E833-EDFE-4AC3-9E16-BD50D7461B61}">
      <dsp:nvSpPr>
        <dsp:cNvPr id="0" name=""/>
        <dsp:cNvSpPr/>
      </dsp:nvSpPr>
      <dsp:spPr>
        <a:xfrm>
          <a:off x="5435" y="1348211"/>
          <a:ext cx="2021941" cy="808776"/>
        </a:xfrm>
        <a:prstGeom prst="chevron">
          <a:avLst/>
        </a:prstGeom>
        <a:solidFill>
          <a:srgbClr val="00AF7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noProof="0">
              <a:solidFill>
                <a:prstClr val="white"/>
              </a:solidFill>
              <a:latin typeface="Trebuchet MS" panose="020B0603020202020204" pitchFamily="34" charset="0"/>
              <a:ea typeface="+mn-ea"/>
              <a:cs typeface="+mn-cs"/>
            </a:rPr>
            <a:t>0: highly capable</a:t>
          </a:r>
        </a:p>
      </dsp:txBody>
      <dsp:txXfrm>
        <a:off x="409823" y="1348211"/>
        <a:ext cx="1213165" cy="808776"/>
      </dsp:txXfrm>
    </dsp:sp>
    <dsp:sp modelId="{BE485AA9-5376-42C4-88BB-2F292A57EC4A}">
      <dsp:nvSpPr>
        <dsp:cNvPr id="0" name=""/>
        <dsp:cNvSpPr/>
      </dsp:nvSpPr>
      <dsp:spPr>
        <a:xfrm>
          <a:off x="1825182" y="1348211"/>
          <a:ext cx="2021941" cy="808776"/>
        </a:xfrm>
        <a:prstGeom prst="chevron">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noProof="0">
              <a:latin typeface="Trebuchet MS" panose="020B0603020202020204" pitchFamily="34" charset="0"/>
            </a:rPr>
            <a:t>0.02 – 0.05: Minor rework</a:t>
          </a:r>
        </a:p>
      </dsp:txBody>
      <dsp:txXfrm>
        <a:off x="2229570" y="1348211"/>
        <a:ext cx="1213165" cy="808776"/>
      </dsp:txXfrm>
    </dsp:sp>
    <dsp:sp modelId="{42A44A51-791D-4713-AB88-47E6E267075F}">
      <dsp:nvSpPr>
        <dsp:cNvPr id="0" name=""/>
        <dsp:cNvSpPr/>
      </dsp:nvSpPr>
      <dsp:spPr>
        <a:xfrm>
          <a:off x="3644930" y="1348211"/>
          <a:ext cx="2021941" cy="808776"/>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noProof="0">
              <a:latin typeface="Trebuchet MS" panose="020B0603020202020204" pitchFamily="34" charset="0"/>
            </a:rPr>
            <a:t>0.05 – 0.10: Recurring</a:t>
          </a:r>
        </a:p>
        <a:p>
          <a:pPr marL="0" lvl="0" indent="0" algn="ctr" defTabSz="666750">
            <a:lnSpc>
              <a:spcPct val="90000"/>
            </a:lnSpc>
            <a:spcBef>
              <a:spcPct val="0"/>
            </a:spcBef>
            <a:spcAft>
              <a:spcPct val="35000"/>
            </a:spcAft>
            <a:buNone/>
          </a:pPr>
          <a:endParaRPr lang="en-US" sz="1500" b="1" kern="1200" noProof="0">
            <a:latin typeface="Trebuchet MS" panose="020B0603020202020204" pitchFamily="34" charset="0"/>
          </a:endParaRPr>
        </a:p>
      </dsp:txBody>
      <dsp:txXfrm>
        <a:off x="4049318" y="1348211"/>
        <a:ext cx="1213165" cy="808776"/>
      </dsp:txXfrm>
    </dsp:sp>
    <dsp:sp modelId="{B6B9EF45-189A-4071-AD6E-30C13AF3B271}">
      <dsp:nvSpPr>
        <dsp:cNvPr id="0" name=""/>
        <dsp:cNvSpPr/>
      </dsp:nvSpPr>
      <dsp:spPr>
        <a:xfrm>
          <a:off x="5464677" y="1348211"/>
          <a:ext cx="2021941" cy="808776"/>
        </a:xfrm>
        <a:prstGeom prst="chevron">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noProof="0">
              <a:latin typeface="Trebuchet MS" panose="020B0603020202020204" pitchFamily="34" charset="0"/>
            </a:rPr>
            <a:t>0.10 – 0.25: Rework burden</a:t>
          </a:r>
        </a:p>
      </dsp:txBody>
      <dsp:txXfrm>
        <a:off x="5869065" y="1348211"/>
        <a:ext cx="1213165" cy="808776"/>
      </dsp:txXfrm>
    </dsp:sp>
    <dsp:sp modelId="{FE9AAA99-0B51-4003-96C6-041661FD8DF2}">
      <dsp:nvSpPr>
        <dsp:cNvPr id="0" name=""/>
        <dsp:cNvSpPr/>
      </dsp:nvSpPr>
      <dsp:spPr>
        <a:xfrm>
          <a:off x="7284425" y="1348211"/>
          <a:ext cx="2021941" cy="808776"/>
        </a:xfrm>
        <a:prstGeom prst="chevron">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noProof="0">
              <a:latin typeface="Trebuchet MS" panose="020B0603020202020204" pitchFamily="34" charset="0"/>
            </a:rPr>
            <a:t>0.25 – 0.50: Significant issues</a:t>
          </a:r>
        </a:p>
      </dsp:txBody>
      <dsp:txXfrm>
        <a:off x="7688813" y="1348211"/>
        <a:ext cx="1213165" cy="808776"/>
      </dsp:txXfrm>
    </dsp:sp>
    <dsp:sp modelId="{921492DF-6C1E-4CD9-AF18-CBE1ADC23641}">
      <dsp:nvSpPr>
        <dsp:cNvPr id="0" name=""/>
        <dsp:cNvSpPr/>
      </dsp:nvSpPr>
      <dsp:spPr>
        <a:xfrm>
          <a:off x="9104172" y="1348211"/>
          <a:ext cx="2021941" cy="808776"/>
        </a:xfrm>
        <a:prstGeom prst="chevron">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noProof="0">
              <a:latin typeface="Trebuchet MS" panose="020B0603020202020204" pitchFamily="34" charset="0"/>
            </a:rPr>
            <a:t>&gt;50: Systemic Issues</a:t>
          </a:r>
        </a:p>
      </dsp:txBody>
      <dsp:txXfrm>
        <a:off x="9508560" y="1348211"/>
        <a:ext cx="1213165" cy="808776"/>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9F63FBE7-B565-3341-8ACC-0307F112EBCD}" type="datetimeFigureOut">
              <a:rPr lang="en-US" smtClean="0"/>
              <a:t>9/8/2026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336F8861-7D18-944D-B836-A484A82765AD}" type="slidenum">
              <a:rPr lang="en-US" smtClean="0"/>
              <a:t>‹#›</a:t>
            </a:fld>
            <a:endParaRPr lang="en-US"/>
          </a:p>
        </p:txBody>
      </p:sp>
    </p:spTree>
    <p:extLst>
      <p:ext uri="{BB962C8B-B14F-4D97-AF65-F5344CB8AC3E}">
        <p14:creationId xmlns:p14="http://schemas.microsoft.com/office/powerpoint/2010/main" val="35113245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1.5 MINUTES</a:t>
            </a:r>
            <a:endParaRPr lang="en-US"/>
          </a:p>
          <a:p>
            <a:pPr>
              <a:spcAft>
                <a:spcPts val="500"/>
              </a:spcAft>
            </a:pPr>
            <a:r>
              <a:rPr lang="en-US" b="1" dirty="0"/>
              <a:t>SPEAKER SCRIPT</a:t>
            </a:r>
            <a:endParaRPr lang="en-US"/>
          </a:p>
          <a:p>
            <a:pPr>
              <a:spcAft>
                <a:spcPts val="500"/>
              </a:spcAft>
            </a:pPr>
            <a:r>
              <a:rPr lang="en-US" dirty="0"/>
              <a:t>Good morning, everyone, and welcome to Summarizing Data. In this module, we will turn defect information into measures that help us understand process performance. We will connect the calculations to practical Equus work, including customer service, employability support, shared services, and the use of technology and national expertise. The goal is not mathematics for its own sake. The goal is to use the numbers to improve customer experience, strengthen outcomes, and make better use of resources.</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1</a:t>
            </a:fld>
            <a:endParaRPr lang="en-US"/>
          </a:p>
        </p:txBody>
      </p:sp>
    </p:spTree>
    <p:extLst>
      <p:ext uri="{BB962C8B-B14F-4D97-AF65-F5344CB8AC3E}">
        <p14:creationId xmlns:p14="http://schemas.microsoft.com/office/powerpoint/2010/main" val="337220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We have 90 minutes for this session, so we will combine explanation, worked examples, and activities. Please stay muted when you are not speaking, and use the chat at any point. I will pause regularly so we can work through calculations together. A calculator may be helpful, but the most important part is understanding what each measure tells us and what action it should lead to.</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2</a:t>
            </a:fld>
            <a:endParaRPr lang="en-US"/>
          </a:p>
        </p:txBody>
      </p:sp>
    </p:spTree>
    <p:extLst>
      <p:ext uri="{BB962C8B-B14F-4D97-AF65-F5344CB8AC3E}">
        <p14:creationId xmlns:p14="http://schemas.microsoft.com/office/powerpoint/2010/main" val="903863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1.5 MINUTES</a:t>
            </a:r>
            <a:endParaRPr lang="en-US"/>
          </a:p>
          <a:p>
            <a:pPr>
              <a:spcAft>
                <a:spcPts val="500"/>
              </a:spcAft>
            </a:pPr>
            <a:r>
              <a:rPr lang="en-US" b="1" dirty="0"/>
              <a:t>SPEAKER SCRIPT</a:t>
            </a:r>
            <a:endParaRPr lang="en-US"/>
          </a:p>
          <a:p>
            <a:pPr>
              <a:spcAft>
                <a:spcPts val="500"/>
              </a:spcAft>
            </a:pPr>
            <a:r>
              <a:rPr lang="en-US" dirty="0"/>
              <a:t>This is the final module in the Measure stage. The earlier modules established how to define, verify, and understand data. Today we bring those ideas together by summarizing process quality through defects, yield, defects per unit, opportunities, DPMO, process sigma, and rolled throughput yield. Each measure gives us a different view, so we will focus on when each one is useful.</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3</a:t>
            </a:fld>
            <a:endParaRPr lang="en-US"/>
          </a:p>
        </p:txBody>
      </p:sp>
    </p:spTree>
    <p:extLst>
      <p:ext uri="{BB962C8B-B14F-4D97-AF65-F5344CB8AC3E}">
        <p14:creationId xmlns:p14="http://schemas.microsoft.com/office/powerpoint/2010/main" val="13902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By the end of the module, you should be able to explain defects and yield, describe a process baseline and sigma, calculate defects and opportunities, and apply Final Yield and Rolled Throughput Yield. As we work, keep one current process in mind. It could be participant intake, referral handling, appointment scheduling, employer engagement, or a shared-service request. That will make the calculations easier to connect to real decisions.</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4</a:t>
            </a:fld>
            <a:endParaRPr lang="en-US"/>
          </a:p>
        </p:txBody>
      </p:sp>
    </p:spTree>
    <p:extLst>
      <p:ext uri="{BB962C8B-B14F-4D97-AF65-F5344CB8AC3E}">
        <p14:creationId xmlns:p14="http://schemas.microsoft.com/office/powerpoint/2010/main" val="2698159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CB024-DE98-C17B-EA80-86847F4A02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C069B-7238-54F2-6E62-8D91BE7D20C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AEB08C4-757B-533F-E1C5-4DFD5B518C4A}"/>
              </a:ext>
            </a:extLst>
          </p:cNvPr>
          <p:cNvSpPr>
            <a:spLocks noGrp="1"/>
          </p:cNvSpPr>
          <p:nvPr>
            <p:ph type="body" idx="1"/>
          </p:nvPr>
        </p:nvSpPr>
        <p:spPr/>
        <p:txBody>
          <a:bodyPr/>
          <a:lstStyle/>
          <a:p>
            <a:pPr>
              <a:spcAft>
                <a:spcPts val="500"/>
              </a:spcAft>
            </a:pPr>
            <a:r>
              <a:rPr lang="en-US" b="1" dirty="0"/>
              <a:t>TIMING: 0.5 MINUTES</a:t>
            </a:r>
            <a:endParaRPr lang="en-US"/>
          </a:p>
          <a:p>
            <a:pPr>
              <a:spcAft>
                <a:spcPts val="500"/>
              </a:spcAft>
            </a:pPr>
            <a:r>
              <a:rPr lang="en-US" b="1" dirty="0"/>
              <a:t>SPEAKER SCRIPT</a:t>
            </a:r>
            <a:endParaRPr lang="en-US"/>
          </a:p>
          <a:p>
            <a:pPr>
              <a:spcAft>
                <a:spcPts val="500"/>
              </a:spcAft>
            </a:pPr>
            <a:r>
              <a:rPr lang="en-US" dirty="0"/>
              <a:t>We will begin with process defects and yields. This section answers two basic questions: what counts as a defect, and how often does the process deliver the expected result first time?</a:t>
            </a:r>
            <a:endParaRPr lang="en-US"/>
          </a:p>
        </p:txBody>
      </p:sp>
      <p:sp>
        <p:nvSpPr>
          <p:cNvPr id="4" name="Slide Number Placeholder 3">
            <a:extLst>
              <a:ext uri="{FF2B5EF4-FFF2-40B4-BE49-F238E27FC236}">
                <a16:creationId xmlns:a16="http://schemas.microsoft.com/office/drawing/2014/main" id="{619209AE-D55D-F254-2B63-FFAC42AF88B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6F8861-7D18-944D-B836-A484A82765A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07673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2.5 MINUTES</a:t>
            </a:r>
            <a:endParaRPr lang="en-US"/>
          </a:p>
          <a:p>
            <a:pPr>
              <a:spcAft>
                <a:spcPts val="500"/>
              </a:spcAft>
            </a:pPr>
            <a:r>
              <a:rPr lang="en-US" b="1" dirty="0"/>
              <a:t>SPEAKER SCRIPT</a:t>
            </a:r>
            <a:endParaRPr lang="en-US"/>
          </a:p>
          <a:p>
            <a:pPr>
              <a:spcAft>
                <a:spcPts val="500"/>
              </a:spcAft>
            </a:pPr>
            <a:r>
              <a:rPr lang="en-US" dirty="0"/>
              <a:t>Let's start with the word defect. A defect is any output that does not meet the expected result or the customer's requirement. It might be an error, missing information, a delay, rework, or a service that has to be corrected. In an Equus project, a defect could be an incomplete participant assessment, an employer referral submitted late, or incorrect information that forces a customer to contact us again. FMEA gives us a structured way to think ahead. We identify what could fail, how it could fail, the effect on the customer or process, and what analysis is needed to reduce the risk. The key point is that defects represent missed expectations, and defining them clearly is the first step toward preventing them.</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6</a:t>
            </a:fld>
            <a:endParaRPr lang="en-US"/>
          </a:p>
        </p:txBody>
      </p:sp>
    </p:spTree>
    <p:extLst>
      <p:ext uri="{BB962C8B-B14F-4D97-AF65-F5344CB8AC3E}">
        <p14:creationId xmlns:p14="http://schemas.microsoft.com/office/powerpoint/2010/main" val="20346943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7BFCB-CF87-10A5-93C3-F8C8DF6E5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90C948-429A-3E84-AE31-79723208E6D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359CF64-0179-287F-7CFD-4A82371D4131}"/>
              </a:ext>
            </a:extLst>
          </p:cNvPr>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Defects can appear in several forms. Missing data means required information was not captured. Incorrect input means information exists but is wrong or in the wrong format. A delay is also a defect when the customer requirement includes timeliness. Quality errors occur when work does not meet the agreed standard, and incomplete work means a required step was not finished. In workforce services, these categories might include a missing phone number, an incorrect eligibility entry, a delayed appointment, inaccurate guidance, or documentation that was never uploaded. The clearer the definition, the more consistently different teams can identify and measure the issue.</a:t>
            </a:r>
            <a:endParaRPr lang="en-US"/>
          </a:p>
        </p:txBody>
      </p:sp>
      <p:sp>
        <p:nvSpPr>
          <p:cNvPr id="4" name="Slide Number Placeholder 3">
            <a:extLst>
              <a:ext uri="{FF2B5EF4-FFF2-40B4-BE49-F238E27FC236}">
                <a16:creationId xmlns:a16="http://schemas.microsoft.com/office/drawing/2014/main" id="{8011535A-4E74-AC17-D36F-1C0C2D913794}"/>
              </a:ext>
            </a:extLst>
          </p:cNvPr>
          <p:cNvSpPr>
            <a:spLocks noGrp="1"/>
          </p:cNvSpPr>
          <p:nvPr>
            <p:ph type="sldNum" sz="quarter" idx="5"/>
          </p:nvPr>
        </p:nvSpPr>
        <p:spPr/>
        <p:txBody>
          <a:bodyPr/>
          <a:lstStyle/>
          <a:p>
            <a:fld id="{336F8861-7D18-944D-B836-A484A82765AD}" type="slidenum">
              <a:rPr lang="en-US" smtClean="0"/>
              <a:t>7</a:t>
            </a:fld>
            <a:endParaRPr lang="en-US"/>
          </a:p>
        </p:txBody>
      </p:sp>
    </p:spTree>
    <p:extLst>
      <p:ext uri="{BB962C8B-B14F-4D97-AF65-F5344CB8AC3E}">
        <p14:creationId xmlns:p14="http://schemas.microsoft.com/office/powerpoint/2010/main" val="2867759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Final Yield tells us how often work is completed correctly the first time. We divide the number of activities completed correctly by the total number processed. If 85 out of 100 items are correct first time, the Final Yield is 85 percent. For Equus, this might be the percentage of participant records completed without correction, appointments scheduled correctly first time, or employer referrals submitted with all required information. A high yield means less rework and a more reliable customer experience.</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8</a:t>
            </a:fld>
            <a:endParaRPr lang="en-US"/>
          </a:p>
        </p:txBody>
      </p:sp>
    </p:spTree>
    <p:extLst>
      <p:ext uri="{BB962C8B-B14F-4D97-AF65-F5344CB8AC3E}">
        <p14:creationId xmlns:p14="http://schemas.microsoft.com/office/powerpoint/2010/main" val="630941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Let's apply the formula. The bakery completed 85 of 100 cakes correctly first time. Eighty-five divided by 100 equals 0.85, or 85 percent. The same calculation works in a service process. If 85 of 100 assessments meet the definition without rework, the Final Yield is also 85 percent. The important step is making sure 'correct first time' has been operationally defined before we calculate the result.</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9</a:t>
            </a:fld>
            <a:endParaRPr lang="en-US"/>
          </a:p>
        </p:txBody>
      </p:sp>
    </p:spTree>
    <p:extLst>
      <p:ext uri="{BB962C8B-B14F-4D97-AF65-F5344CB8AC3E}">
        <p14:creationId xmlns:p14="http://schemas.microsoft.com/office/powerpoint/2010/main" val="3372205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Final Yield gives us a useful headline, but it has a limitation. It treats every defective unit the same. One cake with one issue and another cake with four issues are both counted as not right first time. The same can happen in a participant record. One record may have one missing field, while another has missing documentation, an incorrect service code, and an overdue follow-up. Final Yield identifies both as defective but does not show the difference in defect volume. That is why we also use Defects Per Unit.</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10</a:t>
            </a:fld>
            <a:endParaRPr lang="en-US"/>
          </a:p>
        </p:txBody>
      </p:sp>
    </p:spTree>
    <p:extLst>
      <p:ext uri="{BB962C8B-B14F-4D97-AF65-F5344CB8AC3E}">
        <p14:creationId xmlns:p14="http://schemas.microsoft.com/office/powerpoint/2010/main" val="33907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37272-4696-BF54-5B22-CE01900FBB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D67D5D-B175-3BDC-45DD-1CD426318F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5A6F19-C6DD-0AD0-6F0A-089CCBF2E814}"/>
              </a:ext>
            </a:extLst>
          </p:cNvPr>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This flow shows the relationship. First, count the units completed. If a unit is defect-free, it contributes to Final Yield. If it is not defect-free, count how many individual defects it contains. That count supports DPU. In simple terms, Final Yield asks, 'Did we get it right first time?' DPU asks, 'How many issues were present?' Using both gives a fuller picture of customer quality and the amount of rework hidden inside the process.</a:t>
            </a:r>
            <a:endParaRPr lang="en-US"/>
          </a:p>
        </p:txBody>
      </p:sp>
      <p:sp>
        <p:nvSpPr>
          <p:cNvPr id="4" name="Slide Number Placeholder 3">
            <a:extLst>
              <a:ext uri="{FF2B5EF4-FFF2-40B4-BE49-F238E27FC236}">
                <a16:creationId xmlns:a16="http://schemas.microsoft.com/office/drawing/2014/main" id="{4791B407-FC1C-E1DB-6017-17B982155D37}"/>
              </a:ext>
            </a:extLst>
          </p:cNvPr>
          <p:cNvSpPr>
            <a:spLocks noGrp="1"/>
          </p:cNvSpPr>
          <p:nvPr>
            <p:ph type="sldNum" sz="quarter" idx="5"/>
          </p:nvPr>
        </p:nvSpPr>
        <p:spPr/>
        <p:txBody>
          <a:bodyPr/>
          <a:lstStyle/>
          <a:p>
            <a:fld id="{336F8861-7D18-944D-B836-A484A82765AD}" type="slidenum">
              <a:rPr lang="en-US" smtClean="0"/>
              <a:t>11</a:t>
            </a:fld>
            <a:endParaRPr lang="en-US"/>
          </a:p>
        </p:txBody>
      </p:sp>
    </p:spTree>
    <p:extLst>
      <p:ext uri="{BB962C8B-B14F-4D97-AF65-F5344CB8AC3E}">
        <p14:creationId xmlns:p14="http://schemas.microsoft.com/office/powerpoint/2010/main" val="1261697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DPU moves us beyond classifying a unit as simply good or bad. It counts every individual defect and expresses the average number of defects per unit. One participant file can contain multiple defects, just as one service request can require several corrections. Yield tells us how often we succeed first time. DPU tells us the scale of the problem when we do not.</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12</a:t>
            </a:fld>
            <a:endParaRPr lang="en-US"/>
          </a:p>
        </p:txBody>
      </p:sp>
    </p:spTree>
    <p:extLst>
      <p:ext uri="{BB962C8B-B14F-4D97-AF65-F5344CB8AC3E}">
        <p14:creationId xmlns:p14="http://schemas.microsoft.com/office/powerpoint/2010/main" val="31097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The DPU formula is total defects divided by total units. In this example, 75 defects divided by 1,000 units equals 0.075 defects per unit. That does not mean every unit contains part of a defect. It is an average across the process. Once we know the DPU, we can monitor whether defect burden is increasing or decreasing and identify where deeper analysis is needed.</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13</a:t>
            </a:fld>
            <a:endParaRPr lang="en-US"/>
          </a:p>
        </p:txBody>
      </p:sp>
    </p:spTree>
    <p:extLst>
      <p:ext uri="{BB962C8B-B14F-4D97-AF65-F5344CB8AC3E}">
        <p14:creationId xmlns:p14="http://schemas.microsoft.com/office/powerpoint/2010/main" val="5818073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A DPU value needs context. The acceptable level depends on the process, customer requirement, risk, and quality tolerance. This example scale translates the number into categories that are easier to discuss. The example DPU of 0.075 falls within the recurring-defect range. That does not automatically mean the process is acceptable for every service. A low-risk administrative correction and an error affecting eligibility or customer safety should not be treated the same. Use the scale as a decision aid, not as a substitute for judgment.</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14</a:t>
            </a:fld>
            <a:endParaRPr lang="en-US"/>
          </a:p>
        </p:txBody>
      </p:sp>
    </p:spTree>
    <p:extLst>
      <p:ext uri="{BB962C8B-B14F-4D97-AF65-F5344CB8AC3E}">
        <p14:creationId xmlns:p14="http://schemas.microsoft.com/office/powerpoint/2010/main" val="21635912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At 0.075 defects per unit, the issue is recurring rather than isolated. The response should move beyond fixing individual cases. We need to identify where defects enter the process, investigate root causes, reduce unnecessary complexity, and prevent recurrence. For Equus, that might mean improving a standard template, clarifying an operational definition, adding a system validation, or using national expertise to address a pattern found across several local projects. The goal is to improve the process while preserving the flexibility needed for local delivery.</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15</a:t>
            </a:fld>
            <a:endParaRPr lang="en-US"/>
          </a:p>
        </p:txBody>
      </p:sp>
    </p:spTree>
    <p:extLst>
      <p:ext uri="{BB962C8B-B14F-4D97-AF65-F5344CB8AC3E}">
        <p14:creationId xmlns:p14="http://schemas.microsoft.com/office/powerpoint/2010/main" val="35682692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Before calculating DPMO, we need three terms. DPU is defects per unit. Opportunities are the number of defined chances for a defect within one unit. DPMO standardizes the defect rate per million opportunities. A million is only the standard scale. We do not need a million actual cases. The full calculation is DPU divided by opportunities per unit, multiplied by one million. This lets us compare processes with different levels of complexity.</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16</a:t>
            </a:fld>
            <a:endParaRPr lang="en-US"/>
          </a:p>
        </p:txBody>
      </p:sp>
    </p:spTree>
    <p:extLst>
      <p:ext uri="{BB962C8B-B14F-4D97-AF65-F5344CB8AC3E}">
        <p14:creationId xmlns:p14="http://schemas.microsoft.com/office/powerpoint/2010/main" val="6380730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An opportunity is a defined point where a defect could occur. In this referral example, incomplete information, incorrect booking, incomplete records, and missing communication are separate opportunities. Simplifying the process can reduce risk by removing unnecessary approvals, handoffs, and duplicated steps. In Equus work, enabling technology can also reduce opportunities through required fields, workflow routing, and standard templates. The objective is not to remove steps that add customer value. It is to remove avoidable complexity that creates failure points.</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17</a:t>
            </a:fld>
            <a:endParaRPr lang="en-US"/>
          </a:p>
        </p:txBody>
      </p:sp>
    </p:spTree>
    <p:extLst>
      <p:ext uri="{BB962C8B-B14F-4D97-AF65-F5344CB8AC3E}">
        <p14:creationId xmlns:p14="http://schemas.microsoft.com/office/powerpoint/2010/main" val="22550747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2.5 MINUTES</a:t>
            </a:r>
            <a:endParaRPr lang="en-US"/>
          </a:p>
          <a:p>
            <a:pPr>
              <a:spcAft>
                <a:spcPts val="500"/>
              </a:spcAft>
            </a:pPr>
            <a:r>
              <a:rPr lang="en-US" b="1" dirty="0"/>
              <a:t>SPEAKER SCRIPT</a:t>
            </a:r>
            <a:endParaRPr lang="en-US"/>
          </a:p>
          <a:p>
            <a:pPr>
              <a:spcAft>
                <a:spcPts val="500"/>
              </a:spcAft>
            </a:pPr>
            <a:r>
              <a:rPr lang="en-US" dirty="0"/>
              <a:t>Opportunity definitions must remain consistent. Begin with the routine defect types that matter to the customer or process. Group similar defects, connect them to the points where they can occur, and validate the list against standards and tolerances. Avoid counting every imaginable failure scenario. We want a practical set of repeatable opportunities. Once measurement begins, do not change the definition without documenting the change, because that would make results difficult to compare over time or across projects.</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18</a:t>
            </a:fld>
            <a:endParaRPr lang="en-US"/>
          </a:p>
        </p:txBody>
      </p:sp>
    </p:spTree>
    <p:extLst>
      <p:ext uri="{BB962C8B-B14F-4D97-AF65-F5344CB8AC3E}">
        <p14:creationId xmlns:p14="http://schemas.microsoft.com/office/powerpoint/2010/main" val="14582054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500"/>
              </a:spcAft>
            </a:pPr>
            <a:r>
              <a:rPr lang="en-US" b="1" dirty="0"/>
              <a:t>TIMING: 2.5 MINUTES</a:t>
            </a:r>
            <a:endParaRPr lang="en-US"/>
          </a:p>
          <a:p>
            <a:pPr>
              <a:spcAft>
                <a:spcPts val="500"/>
              </a:spcAft>
            </a:pPr>
            <a:r>
              <a:rPr lang="en-US" b="1" dirty="0"/>
              <a:t>SPEAKER SCRIPT</a:t>
            </a:r>
            <a:endParaRPr lang="en-US"/>
          </a:p>
          <a:p>
            <a:pPr>
              <a:spcAft>
                <a:spcPts val="500"/>
              </a:spcAft>
            </a:pPr>
            <a:r>
              <a:rPr lang="en-US" dirty="0"/>
              <a:t>This example brings the calculation together. One hundred cakes, with three opportunities per cake, create 300 total opportunities. Three defects across 100 cakes give a DPU of 0.03. Divide 0.03 by three opportunities and multiply by one million. The result is 10,000 DPMO. Opportunities represent what could go wrong. DPU represents what did go wrong per unit. DPMO places that performance on a common scale.</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19</a:t>
            </a:fld>
            <a:endParaRPr lang="en-US"/>
          </a:p>
        </p:txBody>
      </p:sp>
    </p:spTree>
    <p:extLst>
      <p:ext uri="{BB962C8B-B14F-4D97-AF65-F5344CB8AC3E}">
        <p14:creationId xmlns:p14="http://schemas.microsoft.com/office/powerpoint/2010/main" val="6703615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6C980-25DB-6E08-9C52-CC36659A43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12AC0D-5CF4-24B3-56AC-36E173070A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0F09D-7A50-5D7F-C547-27F64767EAFF}"/>
              </a:ext>
            </a:extLst>
          </p:cNvPr>
          <p:cNvSpPr>
            <a:spLocks noGrp="1"/>
          </p:cNvSpPr>
          <p:nvPr>
            <p:ph type="body" idx="1"/>
          </p:nvPr>
        </p:nvSpPr>
        <p:spPr/>
        <p:txBody>
          <a:bodyPr/>
          <a:lstStyle/>
          <a:p>
            <a:pPr>
              <a:spcAft>
                <a:spcPts val="500"/>
              </a:spcAft>
            </a:pPr>
            <a:r>
              <a:rPr lang="en-US" b="1" dirty="0"/>
              <a:t>TIMING: 1.5 MINUTES</a:t>
            </a:r>
            <a:endParaRPr lang="en-US"/>
          </a:p>
          <a:p>
            <a:pPr>
              <a:spcAft>
                <a:spcPts val="500"/>
              </a:spcAft>
            </a:pPr>
            <a:r>
              <a:rPr lang="en-US" b="1" dirty="0"/>
              <a:t>SPEAKER SCRIPT</a:t>
            </a:r>
            <a:endParaRPr lang="en-US"/>
          </a:p>
          <a:p>
            <a:pPr>
              <a:spcAft>
                <a:spcPts val="500"/>
              </a:spcAft>
            </a:pPr>
            <a:r>
              <a:rPr lang="en-US" dirty="0"/>
              <a:t>Now apply the same logic to occupational health referrals. One hundred referrals with three defined opportunities create 300 total opportunities. Three defects divided by 100 referrals gives a DPU of 0.03. Divide by three opportunities and multiply by one million to get 10,000 DPMO. The calculations are the same, but the customer effect is different, so the defect definitions and improvement priorities must reflect the service.</a:t>
            </a:r>
            <a:endParaRPr lang="en-US"/>
          </a:p>
        </p:txBody>
      </p:sp>
      <p:sp>
        <p:nvSpPr>
          <p:cNvPr id="4" name="Slide Number Placeholder 3">
            <a:extLst>
              <a:ext uri="{FF2B5EF4-FFF2-40B4-BE49-F238E27FC236}">
                <a16:creationId xmlns:a16="http://schemas.microsoft.com/office/drawing/2014/main" id="{30449080-523A-E781-1612-E1B1BE42A361}"/>
              </a:ext>
            </a:extLst>
          </p:cNvPr>
          <p:cNvSpPr>
            <a:spLocks noGrp="1"/>
          </p:cNvSpPr>
          <p:nvPr>
            <p:ph type="sldNum" sz="quarter" idx="5"/>
          </p:nvPr>
        </p:nvSpPr>
        <p:spPr/>
        <p:txBody>
          <a:bodyPr/>
          <a:lstStyle/>
          <a:p>
            <a:fld id="{336F8861-7D18-944D-B836-A484A82765AD}" type="slidenum">
              <a:rPr lang="en-US" smtClean="0"/>
              <a:t>20</a:t>
            </a:fld>
            <a:endParaRPr lang="en-US"/>
          </a:p>
        </p:txBody>
      </p:sp>
    </p:spTree>
    <p:extLst>
      <p:ext uri="{BB962C8B-B14F-4D97-AF65-F5344CB8AC3E}">
        <p14:creationId xmlns:p14="http://schemas.microsoft.com/office/powerpoint/2010/main" val="35521114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BE6E4-FBEC-1125-9488-9E95CF364E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73D2A-BDD1-F9F6-73E8-E5FBB5C562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978EFD-4614-90AD-513C-337853B254E1}"/>
              </a:ext>
            </a:extLst>
          </p:cNvPr>
          <p:cNvSpPr>
            <a:spLocks noGrp="1"/>
          </p:cNvSpPr>
          <p:nvPr>
            <p:ph type="body" idx="1"/>
          </p:nvPr>
        </p:nvSpPr>
        <p:spPr/>
        <p:txBody>
          <a:bodyPr/>
          <a:lstStyle/>
          <a:p>
            <a:pPr>
              <a:spcAft>
                <a:spcPts val="500"/>
              </a:spcAft>
            </a:pPr>
            <a:r>
              <a:rPr lang="en-US" b="1" dirty="0"/>
              <a:t>TIMING: 1.5 MINUTES</a:t>
            </a:r>
            <a:endParaRPr lang="en-US"/>
          </a:p>
          <a:p>
            <a:pPr>
              <a:spcAft>
                <a:spcPts val="500"/>
              </a:spcAft>
            </a:pPr>
            <a:r>
              <a:rPr lang="en-US" b="1" dirty="0"/>
              <a:t>SPEAKER SCRIPT</a:t>
            </a:r>
            <a:endParaRPr lang="en-US"/>
          </a:p>
          <a:p>
            <a:pPr>
              <a:spcAft>
                <a:spcPts val="500"/>
              </a:spcAft>
            </a:pPr>
            <a:r>
              <a:rPr lang="en-US" dirty="0"/>
              <a:t>In the employability example, 250 job seekers each have four defined opportunities, giving 1,000 total opportunities. Twelve defects divided by 250 job seekers gives a DPU of 0.048. Divide by four and multiply by one million to get 12,000 DPMO. The defect categories also tell us where to investigate: assessments, action plans, training assignments, or employer referrals. This is where the measure becomes actionable rather than simply descriptive.</a:t>
            </a:r>
            <a:endParaRPr lang="en-US"/>
          </a:p>
        </p:txBody>
      </p:sp>
      <p:sp>
        <p:nvSpPr>
          <p:cNvPr id="4" name="Slide Number Placeholder 3">
            <a:extLst>
              <a:ext uri="{FF2B5EF4-FFF2-40B4-BE49-F238E27FC236}">
                <a16:creationId xmlns:a16="http://schemas.microsoft.com/office/drawing/2014/main" id="{ACD1D4CC-2F05-70A6-F87C-23951F367D9C}"/>
              </a:ext>
            </a:extLst>
          </p:cNvPr>
          <p:cNvSpPr>
            <a:spLocks noGrp="1"/>
          </p:cNvSpPr>
          <p:nvPr>
            <p:ph type="sldNum" sz="quarter" idx="5"/>
          </p:nvPr>
        </p:nvSpPr>
        <p:spPr/>
        <p:txBody>
          <a:bodyPr/>
          <a:lstStyle/>
          <a:p>
            <a:fld id="{336F8861-7D18-944D-B836-A484A82765AD}" type="slidenum">
              <a:rPr lang="en-US" smtClean="0"/>
              <a:t>21</a:t>
            </a:fld>
            <a:endParaRPr lang="en-US"/>
          </a:p>
        </p:txBody>
      </p:sp>
    </p:spTree>
    <p:extLst>
      <p:ext uri="{BB962C8B-B14F-4D97-AF65-F5344CB8AC3E}">
        <p14:creationId xmlns:p14="http://schemas.microsoft.com/office/powerpoint/2010/main" val="41756467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FB09E-B9BD-E82A-51C3-2AB01D797F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1802B-38D8-8B09-E8DB-C76E908407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5E1F71-0D99-F829-A366-3E6D4056AA1D}"/>
              </a:ext>
            </a:extLst>
          </p:cNvPr>
          <p:cNvSpPr>
            <a:spLocks noGrp="1"/>
          </p:cNvSpPr>
          <p:nvPr>
            <p:ph type="body" idx="1"/>
          </p:nvPr>
        </p:nvSpPr>
        <p:spPr/>
        <p:txBody>
          <a:bodyPr/>
          <a:lstStyle/>
          <a:p>
            <a:pPr>
              <a:spcAft>
                <a:spcPts val="500"/>
              </a:spcAft>
            </a:pPr>
            <a:r>
              <a:rPr lang="en-US" b="1" dirty="0"/>
              <a:t>TIMING: 1.5 MINUTES</a:t>
            </a:r>
            <a:endParaRPr lang="en-US"/>
          </a:p>
          <a:p>
            <a:pPr>
              <a:spcAft>
                <a:spcPts val="500"/>
              </a:spcAft>
            </a:pPr>
            <a:r>
              <a:rPr lang="en-US" b="1" dirty="0"/>
              <a:t>SPEAKER SCRIPT</a:t>
            </a:r>
            <a:endParaRPr lang="en-US"/>
          </a:p>
          <a:p>
            <a:pPr>
              <a:spcAft>
                <a:spcPts val="500"/>
              </a:spcAft>
            </a:pPr>
            <a:r>
              <a:rPr lang="en-US" dirty="0"/>
              <a:t>For onboarding, 300 starters with five opportunities create 1,500 total opportunities. Twenty defects divided by 300 gives a DPU of approximately 0.0667. Divide by five and multiply by one million to get approximately 13,333 DPMO. This standardized result can support comparison over time, but the team should still review the defect mix. A payroll error, delayed access, and missing training may require different solutions.</a:t>
            </a:r>
            <a:endParaRPr lang="en-US"/>
          </a:p>
        </p:txBody>
      </p:sp>
      <p:sp>
        <p:nvSpPr>
          <p:cNvPr id="4" name="Slide Number Placeholder 3">
            <a:extLst>
              <a:ext uri="{FF2B5EF4-FFF2-40B4-BE49-F238E27FC236}">
                <a16:creationId xmlns:a16="http://schemas.microsoft.com/office/drawing/2014/main" id="{C5A79F94-2382-2E00-193E-D6777D0CE2C0}"/>
              </a:ext>
            </a:extLst>
          </p:cNvPr>
          <p:cNvSpPr>
            <a:spLocks noGrp="1"/>
          </p:cNvSpPr>
          <p:nvPr>
            <p:ph type="sldNum" sz="quarter" idx="5"/>
          </p:nvPr>
        </p:nvSpPr>
        <p:spPr/>
        <p:txBody>
          <a:bodyPr/>
          <a:lstStyle/>
          <a:p>
            <a:fld id="{336F8861-7D18-944D-B836-A484A82765AD}" type="slidenum">
              <a:rPr lang="en-US" smtClean="0"/>
              <a:t>22</a:t>
            </a:fld>
            <a:endParaRPr lang="en-US"/>
          </a:p>
        </p:txBody>
      </p:sp>
    </p:spTree>
    <p:extLst>
      <p:ext uri="{BB962C8B-B14F-4D97-AF65-F5344CB8AC3E}">
        <p14:creationId xmlns:p14="http://schemas.microsoft.com/office/powerpoint/2010/main" val="40216306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2.5 MINUTES</a:t>
            </a:r>
            <a:endParaRPr lang="en-US"/>
          </a:p>
          <a:p>
            <a:pPr>
              <a:spcAft>
                <a:spcPts val="500"/>
              </a:spcAft>
            </a:pPr>
            <a:r>
              <a:rPr lang="en-US" b="1" dirty="0"/>
              <a:t>SPEAKER SCRIPT</a:t>
            </a:r>
            <a:endParaRPr lang="en-US"/>
          </a:p>
          <a:p>
            <a:pPr>
              <a:spcAft>
                <a:spcPts val="500"/>
              </a:spcAft>
            </a:pPr>
            <a:r>
              <a:rPr lang="en-US" dirty="0"/>
              <a:t>Now it is your turn. Child Care supported 200 families. Each family has four defined opportunities, and the team found 16 defects. Work through three steps: calculate total opportunities, calculate DPU, and then calculate DPMO. Use the formula on the slide. I will give you a few minutes, and then we will compare answers. [Pause for activity.]</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23</a:t>
            </a:fld>
            <a:endParaRPr lang="en-US"/>
          </a:p>
        </p:txBody>
      </p:sp>
    </p:spTree>
    <p:extLst>
      <p:ext uri="{BB962C8B-B14F-4D97-AF65-F5344CB8AC3E}">
        <p14:creationId xmlns:p14="http://schemas.microsoft.com/office/powerpoint/2010/main" val="3372205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1.5 MINUTES</a:t>
            </a:r>
            <a:endParaRPr lang="en-US"/>
          </a:p>
          <a:p>
            <a:pPr>
              <a:spcAft>
                <a:spcPts val="500"/>
              </a:spcAft>
            </a:pPr>
            <a:r>
              <a:rPr lang="en-US" b="1" dirty="0"/>
              <a:t>SPEAKER SCRIPT</a:t>
            </a:r>
            <a:endParaRPr lang="en-US"/>
          </a:p>
          <a:p>
            <a:pPr>
              <a:spcAft>
                <a:spcPts val="500"/>
              </a:spcAft>
            </a:pPr>
            <a:r>
              <a:rPr lang="en-US" dirty="0"/>
              <a:t>Let's check the answer. Four opportunities across 200 families gives 800 total opportunities. Sixteen defects divided by 200 families gives a DPU of 0.08. Divide 0.08 by four opportunities and multiply by one million. The DPMO is 20,000. Notice that opportunities per unit, not total opportunities, are used in the second form of the formula because DPU already accounts for the total units.</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24</a:t>
            </a:fld>
            <a:endParaRPr lang="en-US"/>
          </a:p>
        </p:txBody>
      </p:sp>
    </p:spTree>
    <p:extLst>
      <p:ext uri="{BB962C8B-B14F-4D97-AF65-F5344CB8AC3E}">
        <p14:creationId xmlns:p14="http://schemas.microsoft.com/office/powerpoint/2010/main" val="3372205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0.5 MINUTES</a:t>
            </a:r>
            <a:endParaRPr lang="en-US"/>
          </a:p>
          <a:p>
            <a:pPr>
              <a:spcAft>
                <a:spcPts val="500"/>
              </a:spcAft>
            </a:pPr>
            <a:r>
              <a:rPr lang="en-US" b="1" dirty="0"/>
              <a:t>SPEAKER SCRIPT</a:t>
            </a:r>
            <a:endParaRPr lang="en-US"/>
          </a:p>
          <a:p>
            <a:pPr>
              <a:spcAft>
                <a:spcPts val="500"/>
              </a:spcAft>
            </a:pPr>
            <a:r>
              <a:rPr lang="en-US" dirty="0"/>
              <a:t>We have calculated defect performance. The next section converts DPMO into Process Sigma, giving us another way to describe process capability.</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25</a:t>
            </a:fld>
            <a:endParaRPr lang="en-US"/>
          </a:p>
        </p:txBody>
      </p:sp>
    </p:spTree>
    <p:extLst>
      <p:ext uri="{BB962C8B-B14F-4D97-AF65-F5344CB8AC3E}">
        <p14:creationId xmlns:p14="http://schemas.microsoft.com/office/powerpoint/2010/main" val="25453346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Process Sigma is a measure of how well a process performs based on defects and variation. A higher sigma level means fewer defects, less variation, and more consistent results. For Equus, this supports a common language for discussing whether a process consistently meets customer requirements. Sigma is not the improvement by itself. It is a summary measure that helps us establish a baseline, compare results, and track whether changes are working.</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26</a:t>
            </a:fld>
            <a:endParaRPr lang="en-US"/>
          </a:p>
        </p:txBody>
      </p:sp>
    </p:spTree>
    <p:extLst>
      <p:ext uri="{BB962C8B-B14F-4D97-AF65-F5344CB8AC3E}">
        <p14:creationId xmlns:p14="http://schemas.microsoft.com/office/powerpoint/2010/main" val="14913102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A sigma baseline describes current process performance. It helps us understand typical performance, variation around the average, defect volume, and where improvement opportunities may exist. The chart is a visual reminder that a process can have the same average while showing very different amounts of variation. After a change, we can compare the new result with the baseline to determine whether performance truly improved rather than relying on one good week or one isolated result.</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27</a:t>
            </a:fld>
            <a:endParaRPr lang="en-US"/>
          </a:p>
        </p:txBody>
      </p:sp>
    </p:spTree>
    <p:extLst>
      <p:ext uri="{BB962C8B-B14F-4D97-AF65-F5344CB8AC3E}">
        <p14:creationId xmlns:p14="http://schemas.microsoft.com/office/powerpoint/2010/main" val="40769873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These examples show customer-impacting defects across different services. In employment services, an incomplete assessment, incorrect training assignment, or late employer referral can delay progress for a job seeker. In shared services, wrong routing or an incorrect record can create rework for local teams. Tracking these defects establishes a baseline and helps direct improvement support. The intent is not to compare unlike services without context. It is to use a consistent method within each process and monitor whether quality improves.</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28</a:t>
            </a:fld>
            <a:endParaRPr lang="en-US"/>
          </a:p>
        </p:txBody>
      </p:sp>
    </p:spTree>
    <p:extLst>
      <p:ext uri="{BB962C8B-B14F-4D97-AF65-F5344CB8AC3E}">
        <p14:creationId xmlns:p14="http://schemas.microsoft.com/office/powerpoint/2010/main" val="7230418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2.5 MINUTES</a:t>
            </a:r>
            <a:endParaRPr lang="en-US"/>
          </a:p>
          <a:p>
            <a:pPr>
              <a:spcAft>
                <a:spcPts val="500"/>
              </a:spcAft>
            </a:pPr>
            <a:r>
              <a:rPr lang="en-US" b="1" dirty="0"/>
              <a:t>SPEAKER SCRIPT</a:t>
            </a:r>
            <a:endParaRPr lang="en-US"/>
          </a:p>
          <a:p>
            <a:pPr>
              <a:spcAft>
                <a:spcPts val="500"/>
              </a:spcAft>
            </a:pPr>
            <a:r>
              <a:rPr lang="en-US" dirty="0"/>
              <a:t>To convert DPMO to sigma, locate the nearest DPMO value in the table and read the corresponding sigma level. In the example, seven defects across 100 units gives a DPU of 0.07. Divide by five opportunities and multiply by one million to get 14,000 DPMO. The nearest value on the table corresponds to approximately 3.7 sigma. Remember the direction: lower DPMO means higher sigma and better quality.</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29</a:t>
            </a:fld>
            <a:endParaRPr lang="en-US"/>
          </a:p>
        </p:txBody>
      </p:sp>
    </p:spTree>
    <p:extLst>
      <p:ext uri="{BB962C8B-B14F-4D97-AF65-F5344CB8AC3E}">
        <p14:creationId xmlns:p14="http://schemas.microsoft.com/office/powerpoint/2010/main" val="40716803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3 MINUTES</a:t>
            </a:r>
            <a:endParaRPr lang="en-US"/>
          </a:p>
          <a:p>
            <a:pPr>
              <a:spcAft>
                <a:spcPts val="500"/>
              </a:spcAft>
            </a:pPr>
            <a:r>
              <a:rPr lang="en-US" b="1" dirty="0"/>
              <a:t>SPEAKER SCRIPT</a:t>
            </a:r>
            <a:endParaRPr lang="en-US"/>
          </a:p>
          <a:p>
            <a:pPr>
              <a:spcAft>
                <a:spcPts val="500"/>
              </a:spcAft>
            </a:pPr>
            <a:r>
              <a:rPr lang="en-US" dirty="0"/>
              <a:t>Work through the three examples independently or with a partner. For each one, calculate DPU first, then divide by the opportunities per unit and multiply by one million. Finally, use the sigma table and choose the nearest DPMO value. I will give you several minutes, then we will check each answer together. [Pause for activity and circulate through responses.]</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30</a:t>
            </a:fld>
            <a:endParaRPr lang="en-US"/>
          </a:p>
        </p:txBody>
      </p:sp>
    </p:spTree>
    <p:extLst>
      <p:ext uri="{BB962C8B-B14F-4D97-AF65-F5344CB8AC3E}">
        <p14:creationId xmlns:p14="http://schemas.microsoft.com/office/powerpoint/2010/main" val="15771969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Let's review. For the first process, 12 divided by 800 gives 0.015 DPU. Dividing by 20 opportunities and multiplying by one million gives 750 DPMO, approximately 4.7 sigma. For the second, use seven opportunities as shown in the solution: 10 divided by 150 is about 0.0667; divided by seven and multiplied by one million is about 9,524 DPMO, close to the displayed rounded result and approximately 4.0 sigma. For the third, seven divided by 75 is about 0.0933; divided by nine and multiplied by one million is about 10,370 DPMO, approximately 3.8 sigma. Small differences can come from rounding, so retain enough decimal precision until the end.</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31</a:t>
            </a:fld>
            <a:endParaRPr lang="en-US"/>
          </a:p>
        </p:txBody>
      </p:sp>
    </p:spTree>
    <p:extLst>
      <p:ext uri="{BB962C8B-B14F-4D97-AF65-F5344CB8AC3E}">
        <p14:creationId xmlns:p14="http://schemas.microsoft.com/office/powerpoint/2010/main" val="35933751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0.5 MINUTES</a:t>
            </a:r>
            <a:endParaRPr lang="en-US"/>
          </a:p>
          <a:p>
            <a:pPr>
              <a:spcAft>
                <a:spcPts val="500"/>
              </a:spcAft>
            </a:pPr>
            <a:r>
              <a:rPr lang="en-US" b="1" dirty="0"/>
              <a:t>SPEAKER SCRIPT</a:t>
            </a:r>
            <a:endParaRPr lang="en-US"/>
          </a:p>
          <a:p>
            <a:pPr>
              <a:spcAft>
                <a:spcPts val="500"/>
              </a:spcAft>
            </a:pPr>
            <a:r>
              <a:rPr lang="en-US" dirty="0"/>
              <a:t>Now we will use these measures to explore improvement opportunities. The question shifts from 'What is the score?' to 'What does the score tell us to investigate?'</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32</a:t>
            </a:fld>
            <a:endParaRPr lang="en-US"/>
          </a:p>
        </p:txBody>
      </p:sp>
    </p:spTree>
    <p:extLst>
      <p:ext uri="{BB962C8B-B14F-4D97-AF65-F5344CB8AC3E}">
        <p14:creationId xmlns:p14="http://schemas.microsoft.com/office/powerpoint/2010/main" val="13626629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This activity uses printed information packs. One hundred packs were sampled, five defects were found, and each pack has 40 defined opportunities. DPU is 0.05. Divide by 40 and multiply by one million to get 1,250 DPMO. Use the sigma table to find the corresponding level. Then compare that with the result you would get if you looked only at defective units and ignored opportunities. [Pause for calculation.]</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33</a:t>
            </a:fld>
            <a:endParaRPr lang="en-US"/>
          </a:p>
        </p:txBody>
      </p:sp>
    </p:spTree>
    <p:extLst>
      <p:ext uri="{BB962C8B-B14F-4D97-AF65-F5344CB8AC3E}">
        <p14:creationId xmlns:p14="http://schemas.microsoft.com/office/powerpoint/2010/main" val="37443820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A125B-534C-0004-8F3A-BA2F1CA7C4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04CA58-7F66-6506-F741-988C1FA1C50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A6986A6-F1F4-6B06-64D8-A24D83653417}"/>
              </a:ext>
            </a:extLst>
          </p:cNvPr>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The DPMO result of 1,250 corresponds to approximately 4.5 to 4.6 sigma on the table, while looking only at the unit-level defect result gives a much lower sigma estimate. The purpose of opportunities is to account for process complexity. A pack with many pages, images, and finishing steps has more defined chances for a defect than a simple one-page item. Use this carefully: opportunities must be defined consistently, not increased simply to make the score look better.</a:t>
            </a:r>
            <a:endParaRPr lang="en-US"/>
          </a:p>
        </p:txBody>
      </p:sp>
      <p:sp>
        <p:nvSpPr>
          <p:cNvPr id="4" name="Slide Number Placeholder 3">
            <a:extLst>
              <a:ext uri="{FF2B5EF4-FFF2-40B4-BE49-F238E27FC236}">
                <a16:creationId xmlns:a16="http://schemas.microsoft.com/office/drawing/2014/main" id="{538EF692-E01C-1E85-3636-B6A99E0A72A9}"/>
              </a:ext>
            </a:extLst>
          </p:cNvPr>
          <p:cNvSpPr>
            <a:spLocks noGrp="1"/>
          </p:cNvSpPr>
          <p:nvPr>
            <p:ph type="sldNum" sz="quarter" idx="5"/>
          </p:nvPr>
        </p:nvSpPr>
        <p:spPr/>
        <p:txBody>
          <a:bodyPr/>
          <a:lstStyle/>
          <a:p>
            <a:fld id="{336F8861-7D18-944D-B836-A484A82765AD}" type="slidenum">
              <a:rPr lang="en-US" smtClean="0"/>
              <a:t>34</a:t>
            </a:fld>
            <a:endParaRPr lang="en-US"/>
          </a:p>
        </p:txBody>
      </p:sp>
    </p:spTree>
    <p:extLst>
      <p:ext uri="{BB962C8B-B14F-4D97-AF65-F5344CB8AC3E}">
        <p14:creationId xmlns:p14="http://schemas.microsoft.com/office/powerpoint/2010/main" val="33042431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Let's confirm those values on the table. The unit-level view shows 95 percent yield and a sigma level around 3.1 to 3.2. The opportunity-adjusted DPMO of 1,250 falls around 4.5 to 4.6 sigma. These measures answer different questions. Yield tells us how many packs were defect-free. DPMO describes defects relative to the defined opportunities. We should report the definition alongside the result so the audience understands what is being compared.</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35</a:t>
            </a:fld>
            <a:endParaRPr lang="en-US"/>
          </a:p>
        </p:txBody>
      </p:sp>
    </p:spTree>
    <p:extLst>
      <p:ext uri="{BB962C8B-B14F-4D97-AF65-F5344CB8AC3E}">
        <p14:creationId xmlns:p14="http://schemas.microsoft.com/office/powerpoint/2010/main" val="3713541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D4D3C-DCFF-B8D1-1BF5-80CE1DCAF4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FF813D-7E87-6BE5-6B55-C139878AA86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2BCDFEE-06A2-C254-8C62-2AE3C88B129B}"/>
              </a:ext>
            </a:extLst>
          </p:cNvPr>
          <p:cNvSpPr>
            <a:spLocks noGrp="1"/>
          </p:cNvSpPr>
          <p:nvPr>
            <p:ph type="body" idx="1"/>
          </p:nvPr>
        </p:nvSpPr>
        <p:spPr/>
        <p:txBody>
          <a:bodyPr/>
          <a:lstStyle/>
          <a:p>
            <a:pPr>
              <a:spcAft>
                <a:spcPts val="500"/>
              </a:spcAft>
            </a:pPr>
            <a:r>
              <a:rPr lang="en-US" b="1" dirty="0"/>
              <a:t>TIMING: 3 MINUTES</a:t>
            </a:r>
            <a:endParaRPr lang="en-US"/>
          </a:p>
          <a:p>
            <a:pPr>
              <a:spcAft>
                <a:spcPts val="500"/>
              </a:spcAft>
            </a:pPr>
            <a:r>
              <a:rPr lang="en-US" b="1" dirty="0"/>
              <a:t>SPEAKER SCRIPT</a:t>
            </a:r>
            <a:endParaRPr lang="en-US"/>
          </a:p>
          <a:p>
            <a:pPr>
              <a:spcAft>
                <a:spcPts val="500"/>
              </a:spcAft>
            </a:pPr>
            <a:r>
              <a:rPr lang="en-US" dirty="0"/>
              <a:t>Now consider the redesigned pack. The sample contains 100 packs and three defects. Each pack has 78 defined opportunities. DPU is 0.03. Divide by 78 and multiply by one million to get approximately 385 DPMO. Use the sigma table to identify the corresponding sigma level. As you work, consider whether the redesign actually reduced customer-visible defects and whether the opportunity definition remained consistent. [Pause for calculation.]</a:t>
            </a:r>
            <a:endParaRPr lang="en-US"/>
          </a:p>
        </p:txBody>
      </p:sp>
      <p:sp>
        <p:nvSpPr>
          <p:cNvPr id="4" name="Slide Number Placeholder 3">
            <a:extLst>
              <a:ext uri="{FF2B5EF4-FFF2-40B4-BE49-F238E27FC236}">
                <a16:creationId xmlns:a16="http://schemas.microsoft.com/office/drawing/2014/main" id="{B82BBEA2-C803-EC01-65D2-AAA507AD47B7}"/>
              </a:ext>
            </a:extLst>
          </p:cNvPr>
          <p:cNvSpPr>
            <a:spLocks noGrp="1"/>
          </p:cNvSpPr>
          <p:nvPr>
            <p:ph type="sldNum" sz="quarter" idx="5"/>
          </p:nvPr>
        </p:nvSpPr>
        <p:spPr/>
        <p:txBody>
          <a:bodyPr/>
          <a:lstStyle/>
          <a:p>
            <a:fld id="{336F8861-7D18-944D-B836-A484A82765AD}" type="slidenum">
              <a:rPr lang="en-US" smtClean="0"/>
              <a:t>36</a:t>
            </a:fld>
            <a:endParaRPr lang="en-US"/>
          </a:p>
        </p:txBody>
      </p:sp>
    </p:spTree>
    <p:extLst>
      <p:ext uri="{BB962C8B-B14F-4D97-AF65-F5344CB8AC3E}">
        <p14:creationId xmlns:p14="http://schemas.microsoft.com/office/powerpoint/2010/main" val="7813031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The opportunity-adjusted result is approximately 4.8 to 4.9 sigma, while the unit-level view is around 3.3 to 3.4. The DPMO calculation is 0.03 divided by 78, multiplied by one million, which is approximately 385. The main lesson is to calculate from the same definitions each time and keep full precision until the final step.</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37</a:t>
            </a:fld>
            <a:endParaRPr lang="en-US"/>
          </a:p>
        </p:txBody>
      </p:sp>
    </p:spTree>
    <p:extLst>
      <p:ext uri="{BB962C8B-B14F-4D97-AF65-F5344CB8AC3E}">
        <p14:creationId xmlns:p14="http://schemas.microsoft.com/office/powerpoint/2010/main" val="4426708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Use the table to confirm the result. With three defective packs out of 100, the yield is 97 percent and the unit-level sigma is about 3.3 to 3.4. With 385 DPMO, the opportunity-adjusted sigma is about 4.8 to 4.9. Mark both locations so the distinction is visible.</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38</a:t>
            </a:fld>
            <a:endParaRPr lang="en-US"/>
          </a:p>
        </p:txBody>
      </p:sp>
    </p:spTree>
    <p:extLst>
      <p:ext uri="{BB962C8B-B14F-4D97-AF65-F5344CB8AC3E}">
        <p14:creationId xmlns:p14="http://schemas.microsoft.com/office/powerpoint/2010/main" val="22435315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Which format is better? Version 2 has fewer observed defects and a higher opportunity-adjusted sigma result. That suggests better quality in this example. But we should also ask whether the additional pages, images, and finishing steps add customer value. A more complex product can achieve a strong quality score and still cost more to produce or maintain. For Equus, the better option should balance customer usefulness, defect performance, effort, and return on investment.</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39</a:t>
            </a:fld>
            <a:endParaRPr lang="en-US"/>
          </a:p>
        </p:txBody>
      </p:sp>
    </p:spTree>
    <p:extLst>
      <p:ext uri="{BB962C8B-B14F-4D97-AF65-F5344CB8AC3E}">
        <p14:creationId xmlns:p14="http://schemas.microsoft.com/office/powerpoint/2010/main" val="22221653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500"/>
              </a:spcAft>
            </a:pPr>
            <a:r>
              <a:rPr lang="en-US" b="1" dirty="0"/>
              <a:t>TIMING: 2.5 MINUTES</a:t>
            </a:r>
            <a:endParaRPr lang="en-US"/>
          </a:p>
          <a:p>
            <a:pPr>
              <a:spcAft>
                <a:spcPts val="500"/>
              </a:spcAft>
            </a:pPr>
            <a:r>
              <a:rPr lang="en-US" b="1" dirty="0"/>
              <a:t>SPEAKER SCRIPT</a:t>
            </a:r>
            <a:endParaRPr lang="en-US"/>
          </a:p>
          <a:p>
            <a:pPr>
              <a:spcAft>
                <a:spcPts val="500"/>
              </a:spcAft>
            </a:pPr>
            <a:r>
              <a:rPr lang="en-US" dirty="0"/>
              <a:t>Return to the Child Care example. We calculated 20,000 DPMO. Use the table to find the sigma level. [Pause.] The displayed interpretation is approximately 2.3 to 2.4 sigma. The important follow-up is not just the score. Review which defect categories contribute most and which changes would protect families from delay, incorrect eligibility decisions, or missing notices.</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40</a:t>
            </a:fld>
            <a:endParaRPr lang="en-US"/>
          </a:p>
        </p:txBody>
      </p:sp>
    </p:spTree>
    <p:extLst>
      <p:ext uri="{BB962C8B-B14F-4D97-AF65-F5344CB8AC3E}">
        <p14:creationId xmlns:p14="http://schemas.microsoft.com/office/powerpoint/2010/main" val="39423203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0.5 MINUTES</a:t>
            </a:r>
            <a:endParaRPr lang="en-US"/>
          </a:p>
          <a:p>
            <a:pPr>
              <a:spcAft>
                <a:spcPts val="500"/>
              </a:spcAft>
            </a:pPr>
            <a:r>
              <a:rPr lang="en-US" b="1" dirty="0"/>
              <a:t>SPEAKER SCRIPT</a:t>
            </a:r>
            <a:endParaRPr lang="en-US"/>
          </a:p>
          <a:p>
            <a:pPr>
              <a:spcAft>
                <a:spcPts val="500"/>
              </a:spcAft>
            </a:pPr>
            <a:r>
              <a:rPr lang="en-US" dirty="0"/>
              <a:t>The final section introduces Rolled Throughput Yield. This measure helps us see quality across every step rather than only at the final output.</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41</a:t>
            </a:fld>
            <a:endParaRPr lang="en-US"/>
          </a:p>
        </p:txBody>
      </p:sp>
    </p:spTree>
    <p:extLst>
      <p:ext uri="{BB962C8B-B14F-4D97-AF65-F5344CB8AC3E}">
        <p14:creationId xmlns:p14="http://schemas.microsoft.com/office/powerpoint/2010/main" val="400066889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2.5 MINUTES</a:t>
            </a:r>
            <a:endParaRPr lang="en-US"/>
          </a:p>
          <a:p>
            <a:pPr>
              <a:spcAft>
                <a:spcPts val="500"/>
              </a:spcAft>
            </a:pPr>
            <a:r>
              <a:rPr lang="en-US" b="1" dirty="0"/>
              <a:t>SPEAKER SCRIPT</a:t>
            </a:r>
            <a:endParaRPr lang="en-US"/>
          </a:p>
          <a:p>
            <a:pPr>
              <a:spcAft>
                <a:spcPts val="500"/>
              </a:spcAft>
            </a:pPr>
            <a:r>
              <a:rPr lang="en-US" dirty="0"/>
              <a:t>Final Yield shows what reaches the customer. Rolled Throughput Yield, or RTY, shows the probability that a unit passes every step without a defect. To calculate RTY, multiply the first-time yield for each step. Using the values shown on the slide, 0.95 times 0.95 times 0.85 is approximately 0.767, or 76.7 percent. When RTY and Final Yield are similar, there is little hidden rework. When Final Yield is much higher than RTY, the final result may look good only because people are correcting errors behind the scenes.</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42</a:t>
            </a:fld>
            <a:endParaRPr lang="en-US"/>
          </a:p>
        </p:txBody>
      </p:sp>
    </p:spTree>
    <p:extLst>
      <p:ext uri="{BB962C8B-B14F-4D97-AF65-F5344CB8AC3E}">
        <p14:creationId xmlns:p14="http://schemas.microsoft.com/office/powerpoint/2010/main" val="18330036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D7737-3005-0D72-CC00-C349C91B7D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C674A-ED21-D85B-2AA2-27A6162D75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0C88FA8-508D-F43F-AAD1-69A0C1225A2F}"/>
              </a:ext>
            </a:extLst>
          </p:cNvPr>
          <p:cNvSpPr>
            <a:spLocks noGrp="1"/>
          </p:cNvSpPr>
          <p:nvPr>
            <p:ph type="body" idx="1"/>
          </p:nvPr>
        </p:nvSpPr>
        <p:spPr/>
        <p:txBody>
          <a:bodyPr/>
          <a:lstStyle/>
          <a:p>
            <a:pPr>
              <a:spcAft>
                <a:spcPts val="500"/>
              </a:spcAft>
            </a:pPr>
            <a:r>
              <a:rPr lang="en-US" b="1" dirty="0"/>
              <a:t>TIMING: 2.5 MINUTES</a:t>
            </a:r>
            <a:endParaRPr lang="en-US"/>
          </a:p>
          <a:p>
            <a:pPr>
              <a:spcAft>
                <a:spcPts val="500"/>
              </a:spcAft>
            </a:pPr>
            <a:r>
              <a:rPr lang="en-US" b="1" dirty="0"/>
              <a:t>SPEAKER SCRIPT</a:t>
            </a:r>
            <a:endParaRPr lang="en-US"/>
          </a:p>
          <a:p>
            <a:pPr>
              <a:spcAft>
                <a:spcPts val="500"/>
              </a:spcAft>
            </a:pPr>
            <a:r>
              <a:rPr lang="en-US" dirty="0"/>
              <a:t>The IT service example makes that difference clear. The three first-time yields are 90 percent, 80 percent, and 95 percent. Multiply them to get 68.4 percent RTY. Yet Final Yield is 95 percent. Customers eventually receive a completed request, but only about 68 percent moved through the full process without an issue. Step 2 is the weakest point. In an Equus enabling function, this kind of analysis can reveal where local teams experience delays or repeated handoffs even when the final service-level result looks acceptable.</a:t>
            </a:r>
            <a:endParaRPr lang="en-US"/>
          </a:p>
        </p:txBody>
      </p:sp>
      <p:sp>
        <p:nvSpPr>
          <p:cNvPr id="4" name="Slide Number Placeholder 3">
            <a:extLst>
              <a:ext uri="{FF2B5EF4-FFF2-40B4-BE49-F238E27FC236}">
                <a16:creationId xmlns:a16="http://schemas.microsoft.com/office/drawing/2014/main" id="{DCDF6590-EB11-E7E9-0545-9F80D782E42E}"/>
              </a:ext>
            </a:extLst>
          </p:cNvPr>
          <p:cNvSpPr>
            <a:spLocks noGrp="1"/>
          </p:cNvSpPr>
          <p:nvPr>
            <p:ph type="sldNum" sz="quarter" idx="5"/>
          </p:nvPr>
        </p:nvSpPr>
        <p:spPr/>
        <p:txBody>
          <a:bodyPr/>
          <a:lstStyle/>
          <a:p>
            <a:fld id="{336F8861-7D18-944D-B836-A484A82765AD}" type="slidenum">
              <a:rPr lang="en-US" smtClean="0"/>
              <a:t>43</a:t>
            </a:fld>
            <a:endParaRPr lang="en-US"/>
          </a:p>
        </p:txBody>
      </p:sp>
    </p:spTree>
    <p:extLst>
      <p:ext uri="{BB962C8B-B14F-4D97-AF65-F5344CB8AC3E}">
        <p14:creationId xmlns:p14="http://schemas.microsoft.com/office/powerpoint/2010/main" val="13625055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The gap between Final Yield and RTY represents hidden work: fixing, redoing, routing again, reopening, and correcting errors that do not add customer value. This is often called the Hidden Factory or the cost of poor quality. In the example, 31.6 requests out of 100 involve failure or rework. That hidden effort consumes capacity that could otherwise support customers, employers, or project teams. Reducing it improves both customer experience and return on investment.</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44</a:t>
            </a:fld>
            <a:endParaRPr lang="en-US"/>
          </a:p>
        </p:txBody>
      </p:sp>
    </p:spTree>
    <p:extLst>
      <p:ext uri="{BB962C8B-B14F-4D97-AF65-F5344CB8AC3E}">
        <p14:creationId xmlns:p14="http://schemas.microsoft.com/office/powerpoint/2010/main" val="89961383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This summary shows where the hidden work is created. Step 1 loses 10 requests to missing information. Step 2 has the lowest yield and creates the largest loss through routing. Step 3 loses additional work through incorrect resolution and reopening. Step 2 should be prioritized because it has the lowest yield and the largest contribution to rework. The improvement team should still investigate root causes before selecting a solution, but the RTY breakdown tells us where to begin.</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45</a:t>
            </a:fld>
            <a:endParaRPr lang="en-US"/>
          </a:p>
        </p:txBody>
      </p:sp>
    </p:spTree>
    <p:extLst>
      <p:ext uri="{BB962C8B-B14F-4D97-AF65-F5344CB8AC3E}">
        <p14:creationId xmlns:p14="http://schemas.microsoft.com/office/powerpoint/2010/main" val="18291088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500"/>
              </a:spcAft>
            </a:pPr>
            <a:r>
              <a:rPr lang="en-US" b="1" dirty="0"/>
              <a:t>TIMING: 2 MINUTES</a:t>
            </a:r>
            <a:endParaRPr lang="en-US"/>
          </a:p>
          <a:p>
            <a:pPr>
              <a:spcAft>
                <a:spcPts val="500"/>
              </a:spcAft>
            </a:pPr>
            <a:r>
              <a:rPr lang="en-US" b="1" dirty="0"/>
              <a:t>SPEAKER SCRIPT</a:t>
            </a:r>
            <a:endParaRPr lang="en-US"/>
          </a:p>
          <a:p>
            <a:pPr>
              <a:spcAft>
                <a:spcPts val="500"/>
              </a:spcAft>
            </a:pPr>
            <a:r>
              <a:rPr lang="en-US" dirty="0"/>
              <a:t>Let's summarize. Defects are outputs that do not meet customer requirements. Final Yield tells us how often work is right first time. DPU counts defects within units. Opportunities are defined points where defects could occur. DPMO standardizes performance, and Process Sigma translates that result into a capability measure. RTY shows performance across all steps, while the Hidden Factory exposes rework and correction effort. Together, these measures help us focus improvement on fewer defects, less waste, better customer outcomes, and stronger use of resources.</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46</a:t>
            </a:fld>
            <a:endParaRPr lang="en-US"/>
          </a:p>
        </p:txBody>
      </p:sp>
    </p:spTree>
    <p:extLst>
      <p:ext uri="{BB962C8B-B14F-4D97-AF65-F5344CB8AC3E}">
        <p14:creationId xmlns:p14="http://schemas.microsoft.com/office/powerpoint/2010/main" val="24146165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500"/>
              </a:spcAft>
            </a:pPr>
            <a:r>
              <a:rPr lang="en-US" b="1" dirty="0"/>
              <a:t>TIMING: 1 MINUTES</a:t>
            </a:r>
            <a:endParaRPr lang="en-US"/>
          </a:p>
          <a:p>
            <a:pPr>
              <a:spcAft>
                <a:spcPts val="500"/>
              </a:spcAft>
            </a:pPr>
            <a:r>
              <a:rPr lang="en-US" b="1" dirty="0"/>
              <a:t>SPEAKER SCRIPT</a:t>
            </a:r>
            <a:endParaRPr lang="en-US"/>
          </a:p>
          <a:p>
            <a:pPr>
              <a:spcAft>
                <a:spcPts val="500"/>
              </a:spcAft>
            </a:pPr>
            <a:r>
              <a:rPr lang="en-US" dirty="0"/>
              <a:t>Thank you for your participation. Before we close, choose one process you work with and identify the measure from today's session that would add the most useful insight. Would you begin with Final Yield, DPU, DPMO, sigma, or RTY? Add your answer in the chat, along with one sentence explaining why. Once attendance is recorded, the module-end test and slides will be available according to the course process.</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47</a:t>
            </a:fld>
            <a:endParaRPr lang="en-US"/>
          </a:p>
        </p:txBody>
      </p:sp>
    </p:spTree>
    <p:extLst>
      <p:ext uri="{BB962C8B-B14F-4D97-AF65-F5344CB8AC3E}">
        <p14:creationId xmlns:p14="http://schemas.microsoft.com/office/powerpoint/2010/main" val="25339670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sp>
        <p:nvSpPr>
          <p:cNvPr id="16" name="bg object 16"/>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25408D"/>
          </a:solidFill>
        </p:spPr>
        <p:txBody>
          <a:bodyPr wrap="square" lIns="0" tIns="0" rIns="0" bIns="0" rtlCol="0"/>
          <a:lstStyle/>
          <a:p>
            <a:endParaRPr/>
          </a:p>
        </p:txBody>
      </p:sp>
      <p:sp>
        <p:nvSpPr>
          <p:cNvPr id="15" name="Text Placeholder 14">
            <a:extLst>
              <a:ext uri="{FF2B5EF4-FFF2-40B4-BE49-F238E27FC236}">
                <a16:creationId xmlns:a16="http://schemas.microsoft.com/office/drawing/2014/main" id="{B49E1506-44A0-C243-961B-917943DAE1E2}"/>
              </a:ext>
            </a:extLst>
          </p:cNvPr>
          <p:cNvSpPr>
            <a:spLocks noGrp="1"/>
          </p:cNvSpPr>
          <p:nvPr>
            <p:ph type="body" sz="quarter" idx="10" hasCustomPrompt="1"/>
          </p:nvPr>
        </p:nvSpPr>
        <p:spPr>
          <a:xfrm>
            <a:off x="533400" y="2318598"/>
            <a:ext cx="5562600" cy="1485900"/>
          </a:xfrm>
        </p:spPr>
        <p:txBody>
          <a:bodyPr/>
          <a:lstStyle>
            <a:lvl1pPr>
              <a:defRPr sz="5000" b="1" baseline="0">
                <a:solidFill>
                  <a:srgbClr val="FDBA13"/>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8" name="Text Placeholder 17">
            <a:extLst>
              <a:ext uri="{FF2B5EF4-FFF2-40B4-BE49-F238E27FC236}">
                <a16:creationId xmlns:a16="http://schemas.microsoft.com/office/drawing/2014/main" id="{7A74C29E-264C-E546-AA84-D6DEEEFAE46E}"/>
              </a:ext>
            </a:extLst>
          </p:cNvPr>
          <p:cNvSpPr>
            <a:spLocks noGrp="1"/>
          </p:cNvSpPr>
          <p:nvPr>
            <p:ph type="body" sz="quarter" idx="11" hasCustomPrompt="1"/>
          </p:nvPr>
        </p:nvSpPr>
        <p:spPr>
          <a:xfrm>
            <a:off x="533400" y="3947160"/>
            <a:ext cx="2743200" cy="384721"/>
          </a:xfrm>
        </p:spPr>
        <p:txBody>
          <a:bodyPr/>
          <a:lstStyle>
            <a:lvl1pPr>
              <a:defRPr sz="2500">
                <a:solidFill>
                  <a:schemeClr val="bg1"/>
                </a:solidFill>
                <a:latin typeface="Arial" panose="020B0604020202020204" pitchFamily="34" charset="0"/>
                <a:cs typeface="Arial" panose="020B0604020202020204" pitchFamily="34" charset="0"/>
              </a:defRPr>
            </a:lvl1pPr>
          </a:lstStyle>
          <a:p>
            <a:pPr lvl="0"/>
            <a:r>
              <a:rPr lang="en-GB"/>
              <a:t>Sub Header</a:t>
            </a:r>
            <a:endParaRPr lang="en-US"/>
          </a:p>
        </p:txBody>
      </p:sp>
      <p:pic>
        <p:nvPicPr>
          <p:cNvPr id="8" name="Picture 7">
            <a:extLst>
              <a:ext uri="{FF2B5EF4-FFF2-40B4-BE49-F238E27FC236}">
                <a16:creationId xmlns:a16="http://schemas.microsoft.com/office/drawing/2014/main" id="{09406C76-BFDA-2443-8FE2-8A696F72BB97}"/>
              </a:ext>
            </a:extLst>
          </p:cNvPr>
          <p:cNvPicPr>
            <a:picLocks noChangeAspect="1"/>
          </p:cNvPicPr>
          <p:nvPr userDrawn="1"/>
        </p:nvPicPr>
        <p:blipFill>
          <a:blip r:embed="rId2"/>
          <a:stretch>
            <a:fillRect/>
          </a:stretch>
        </p:blipFill>
        <p:spPr>
          <a:xfrm>
            <a:off x="575994" y="5788803"/>
            <a:ext cx="1616743" cy="547430"/>
          </a:xfrm>
          <a:prstGeom prst="rect">
            <a:avLst/>
          </a:prstGeom>
        </p:spPr>
      </p:pic>
      <p:pic>
        <p:nvPicPr>
          <p:cNvPr id="9" name="Picture 8">
            <a:extLst>
              <a:ext uri="{FF2B5EF4-FFF2-40B4-BE49-F238E27FC236}">
                <a16:creationId xmlns:a16="http://schemas.microsoft.com/office/drawing/2014/main" id="{1B6C17F0-EC2B-8849-AC98-388A1F15AAA1}"/>
              </a:ext>
            </a:extLst>
          </p:cNvPr>
          <p:cNvPicPr>
            <a:picLocks noChangeAspect="1"/>
          </p:cNvPicPr>
          <p:nvPr userDrawn="1"/>
        </p:nvPicPr>
        <p:blipFill>
          <a:blip r:embed="rId3"/>
          <a:stretch>
            <a:fillRect/>
          </a:stretch>
        </p:blipFill>
        <p:spPr>
          <a:xfrm>
            <a:off x="575994" y="577370"/>
            <a:ext cx="2353083" cy="722375"/>
          </a:xfrm>
          <a:prstGeom prst="rect">
            <a:avLst/>
          </a:prstGeom>
        </p:spPr>
      </p:pic>
      <p:pic>
        <p:nvPicPr>
          <p:cNvPr id="11" name="Picture 10">
            <a:extLst>
              <a:ext uri="{FF2B5EF4-FFF2-40B4-BE49-F238E27FC236}">
                <a16:creationId xmlns:a16="http://schemas.microsoft.com/office/drawing/2014/main" id="{AA8B8DAD-9481-AA47-88A7-BFE49BF958F8}"/>
              </a:ext>
            </a:extLst>
          </p:cNvPr>
          <p:cNvPicPr>
            <a:picLocks noChangeAspect="1"/>
          </p:cNvPicPr>
          <p:nvPr userDrawn="1"/>
        </p:nvPicPr>
        <p:blipFill>
          <a:blip r:embed="rId4"/>
          <a:stretch>
            <a:fillRect/>
          </a:stretch>
        </p:blipFill>
        <p:spPr>
          <a:xfrm>
            <a:off x="6688306" y="1328904"/>
            <a:ext cx="5300495" cy="530049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NTENT TITLE 1">
    <p:bg>
      <p:bgPr>
        <a:solidFill>
          <a:schemeClr val="bg1"/>
        </a:solidFill>
        <a:effectLst/>
      </p:bgPr>
    </p:bg>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E1C47ABA-B797-8D40-9EA9-D68CBCD1CFA6}"/>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FDB913"/>
          </a:solidFill>
        </p:spPr>
        <p:txBody>
          <a:bodyPr wrap="square" lIns="0" tIns="0" rIns="0" bIns="0" rtlCol="0"/>
          <a:lstStyle/>
          <a:p>
            <a:endParaRPr/>
          </a:p>
        </p:txBody>
      </p:sp>
      <p:pic>
        <p:nvPicPr>
          <p:cNvPr id="10" name="Picture 9">
            <a:extLst>
              <a:ext uri="{FF2B5EF4-FFF2-40B4-BE49-F238E27FC236}">
                <a16:creationId xmlns:a16="http://schemas.microsoft.com/office/drawing/2014/main" id="{D37420C8-369F-9048-9E36-6E4EB475F5E0}"/>
              </a:ext>
            </a:extLst>
          </p:cNvPr>
          <p:cNvPicPr>
            <a:picLocks noChangeAspect="1"/>
          </p:cNvPicPr>
          <p:nvPr userDrawn="1"/>
        </p:nvPicPr>
        <p:blipFill>
          <a:blip r:embed="rId2"/>
          <a:stretch>
            <a:fillRect/>
          </a:stretch>
        </p:blipFill>
        <p:spPr>
          <a:xfrm>
            <a:off x="9815421" y="575923"/>
            <a:ext cx="1801777" cy="553129"/>
          </a:xfrm>
          <a:prstGeom prst="rect">
            <a:avLst/>
          </a:prstGeom>
        </p:spPr>
      </p:pic>
      <p:sp>
        <p:nvSpPr>
          <p:cNvPr id="6" name="object 17">
            <a:extLst>
              <a:ext uri="{FF2B5EF4-FFF2-40B4-BE49-F238E27FC236}">
                <a16:creationId xmlns:a16="http://schemas.microsoft.com/office/drawing/2014/main" id="{D41CAC6E-A1AF-EE41-B7C8-5E89759F1640}"/>
              </a:ext>
            </a:extLst>
          </p:cNvPr>
          <p:cNvSpPr/>
          <p:nvPr userDrawn="1"/>
        </p:nvSpPr>
        <p:spPr>
          <a:xfrm>
            <a:off x="576000" y="3335991"/>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25408D"/>
          </a:solidFill>
        </p:spPr>
        <p:txBody>
          <a:bodyPr wrap="square" lIns="0" tIns="0" rIns="0" bIns="0" rtlCol="0"/>
          <a:lstStyle/>
          <a:p>
            <a:endParaRPr/>
          </a:p>
        </p:txBody>
      </p:sp>
      <p:sp>
        <p:nvSpPr>
          <p:cNvPr id="13" name="Text Placeholder 14">
            <a:extLst>
              <a:ext uri="{FF2B5EF4-FFF2-40B4-BE49-F238E27FC236}">
                <a16:creationId xmlns:a16="http://schemas.microsoft.com/office/drawing/2014/main" id="{4079F3DD-B8B1-A048-BFFD-2B692EB3A3D7}"/>
              </a:ext>
            </a:extLst>
          </p:cNvPr>
          <p:cNvSpPr>
            <a:spLocks noGrp="1"/>
          </p:cNvSpPr>
          <p:nvPr>
            <p:ph type="body" sz="quarter" idx="10" hasCustomPrompt="1"/>
          </p:nvPr>
        </p:nvSpPr>
        <p:spPr>
          <a:xfrm>
            <a:off x="533400" y="4343400"/>
            <a:ext cx="5562600" cy="1538883"/>
          </a:xfrm>
        </p:spPr>
        <p:txBody>
          <a:bodyPr/>
          <a:lstStyle>
            <a:lvl1pPr>
              <a:defRPr sz="5000" b="1" baseline="0">
                <a:solidFill>
                  <a:srgbClr val="24408D"/>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4" name="Text Placeholder 17">
            <a:extLst>
              <a:ext uri="{FF2B5EF4-FFF2-40B4-BE49-F238E27FC236}">
                <a16:creationId xmlns:a16="http://schemas.microsoft.com/office/drawing/2014/main" id="{74190006-AD26-B942-B35A-C304E8CFA96B}"/>
              </a:ext>
            </a:extLst>
          </p:cNvPr>
          <p:cNvSpPr>
            <a:spLocks noGrp="1"/>
          </p:cNvSpPr>
          <p:nvPr>
            <p:ph type="body" sz="quarter" idx="11" hasCustomPrompt="1"/>
          </p:nvPr>
        </p:nvSpPr>
        <p:spPr>
          <a:xfrm>
            <a:off x="533400" y="5971962"/>
            <a:ext cx="2743200" cy="384721"/>
          </a:xfrm>
        </p:spPr>
        <p:txBody>
          <a:bodyPr/>
          <a:lstStyle>
            <a:lvl1pPr>
              <a:defRPr sz="2500">
                <a:solidFill>
                  <a:schemeClr val="bg1"/>
                </a:solidFill>
                <a:latin typeface="Arial" panose="020B0604020202020204" pitchFamily="34" charset="0"/>
                <a:cs typeface="Arial" panose="020B0604020202020204" pitchFamily="34" charset="0"/>
              </a:defRPr>
            </a:lvl1pPr>
          </a:lstStyle>
          <a:p>
            <a:pPr lvl="0"/>
            <a:r>
              <a:rPr lang="en-GB"/>
              <a:t>Sub Header</a:t>
            </a:r>
            <a:endParaRPr lang="en-US"/>
          </a:p>
        </p:txBody>
      </p:sp>
      <p:sp>
        <p:nvSpPr>
          <p:cNvPr id="15" name="Text Placeholder 2">
            <a:extLst>
              <a:ext uri="{FF2B5EF4-FFF2-40B4-BE49-F238E27FC236}">
                <a16:creationId xmlns:a16="http://schemas.microsoft.com/office/drawing/2014/main" id="{0C25CAF6-6C38-434A-8515-C32412E0E9E0}"/>
              </a:ext>
            </a:extLst>
          </p:cNvPr>
          <p:cNvSpPr>
            <a:spLocks noGrp="1"/>
          </p:cNvSpPr>
          <p:nvPr>
            <p:ph type="body" sz="quarter" idx="12" hasCustomPrompt="1"/>
          </p:nvPr>
        </p:nvSpPr>
        <p:spPr>
          <a:xfrm>
            <a:off x="530280" y="3505200"/>
            <a:ext cx="914400" cy="484748"/>
          </a:xfrm>
        </p:spPr>
        <p:txBody>
          <a:bodyPr/>
          <a:lstStyle>
            <a:lvl1pPr algn="ctr">
              <a:defRPr sz="3150" b="1">
                <a:solidFill>
                  <a:srgbClr val="FDBA13"/>
                </a:solidFill>
                <a:latin typeface="Arial" panose="020B0604020202020204" pitchFamily="34" charset="0"/>
                <a:cs typeface="Arial" panose="020B0604020202020204" pitchFamily="34" charset="0"/>
              </a:defRPr>
            </a:lvl1pPr>
          </a:lstStyle>
          <a:p>
            <a:pPr lvl="0"/>
            <a:r>
              <a:rPr lang="en-GB"/>
              <a:t>01</a:t>
            </a:r>
            <a:endParaRPr lang="en-US"/>
          </a:p>
        </p:txBody>
      </p:sp>
      <p:pic>
        <p:nvPicPr>
          <p:cNvPr id="12" name="Picture 11">
            <a:extLst>
              <a:ext uri="{FF2B5EF4-FFF2-40B4-BE49-F238E27FC236}">
                <a16:creationId xmlns:a16="http://schemas.microsoft.com/office/drawing/2014/main" id="{E681081D-0C96-5943-BBC3-B8DF5ADDFC9E}"/>
              </a:ext>
            </a:extLst>
          </p:cNvPr>
          <p:cNvPicPr>
            <a:picLocks noChangeAspect="1"/>
          </p:cNvPicPr>
          <p:nvPr userDrawn="1"/>
        </p:nvPicPr>
        <p:blipFill>
          <a:blip r:embed="rId3"/>
          <a:stretch>
            <a:fillRect/>
          </a:stretch>
        </p:blipFill>
        <p:spPr>
          <a:xfrm>
            <a:off x="6688305" y="1328905"/>
            <a:ext cx="5300496" cy="530049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TITLE 2">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7AFBEAC9-D4A4-5E45-8FBD-DB63B8A4CE08}"/>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25408D"/>
          </a:solidFill>
        </p:spPr>
        <p:txBody>
          <a:bodyPr wrap="square" lIns="0" tIns="0" rIns="0" bIns="0" rtlCol="0"/>
          <a:lstStyle/>
          <a:p>
            <a:endParaRPr/>
          </a:p>
        </p:txBody>
      </p:sp>
      <p:pic>
        <p:nvPicPr>
          <p:cNvPr id="9" name="Picture 8">
            <a:extLst>
              <a:ext uri="{FF2B5EF4-FFF2-40B4-BE49-F238E27FC236}">
                <a16:creationId xmlns:a16="http://schemas.microsoft.com/office/drawing/2014/main" id="{FFE8A3FC-ACA8-EF44-99E1-272DA6597867}"/>
              </a:ext>
            </a:extLst>
          </p:cNvPr>
          <p:cNvPicPr>
            <a:picLocks noChangeAspect="1"/>
          </p:cNvPicPr>
          <p:nvPr userDrawn="1"/>
        </p:nvPicPr>
        <p:blipFill>
          <a:blip r:embed="rId2"/>
          <a:stretch>
            <a:fillRect/>
          </a:stretch>
        </p:blipFill>
        <p:spPr>
          <a:xfrm>
            <a:off x="9815421" y="577622"/>
            <a:ext cx="1801776" cy="553129"/>
          </a:xfrm>
          <a:prstGeom prst="rect">
            <a:avLst/>
          </a:prstGeom>
        </p:spPr>
      </p:pic>
      <p:sp>
        <p:nvSpPr>
          <p:cNvPr id="6" name="object 17">
            <a:extLst>
              <a:ext uri="{FF2B5EF4-FFF2-40B4-BE49-F238E27FC236}">
                <a16:creationId xmlns:a16="http://schemas.microsoft.com/office/drawing/2014/main" id="{BA6F8A2B-F6D6-6042-86E5-0359E3657077}"/>
              </a:ext>
            </a:extLst>
          </p:cNvPr>
          <p:cNvSpPr/>
          <p:nvPr userDrawn="1"/>
        </p:nvSpPr>
        <p:spPr>
          <a:xfrm>
            <a:off x="576000" y="3335991"/>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7" name="Text Placeholder 14">
            <a:extLst>
              <a:ext uri="{FF2B5EF4-FFF2-40B4-BE49-F238E27FC236}">
                <a16:creationId xmlns:a16="http://schemas.microsoft.com/office/drawing/2014/main" id="{2B64CBD6-E94F-384D-B3C7-5EF72981368A}"/>
              </a:ext>
            </a:extLst>
          </p:cNvPr>
          <p:cNvSpPr>
            <a:spLocks noGrp="1"/>
          </p:cNvSpPr>
          <p:nvPr>
            <p:ph type="body" sz="quarter" idx="10" hasCustomPrompt="1"/>
          </p:nvPr>
        </p:nvSpPr>
        <p:spPr>
          <a:xfrm>
            <a:off x="533400" y="4343400"/>
            <a:ext cx="5562600" cy="1538883"/>
          </a:xfrm>
        </p:spPr>
        <p:txBody>
          <a:bodyPr/>
          <a:lstStyle>
            <a:lvl1pPr>
              <a:defRPr sz="5000" b="1" baseline="0">
                <a:solidFill>
                  <a:srgbClr val="FDBA13"/>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2" name="Text Placeholder 17">
            <a:extLst>
              <a:ext uri="{FF2B5EF4-FFF2-40B4-BE49-F238E27FC236}">
                <a16:creationId xmlns:a16="http://schemas.microsoft.com/office/drawing/2014/main" id="{AC9E665C-77BC-F04C-84E1-EE652A544129}"/>
              </a:ext>
            </a:extLst>
          </p:cNvPr>
          <p:cNvSpPr>
            <a:spLocks noGrp="1"/>
          </p:cNvSpPr>
          <p:nvPr>
            <p:ph type="body" sz="quarter" idx="11" hasCustomPrompt="1"/>
          </p:nvPr>
        </p:nvSpPr>
        <p:spPr>
          <a:xfrm>
            <a:off x="533400" y="5971962"/>
            <a:ext cx="2743200" cy="384721"/>
          </a:xfrm>
        </p:spPr>
        <p:txBody>
          <a:bodyPr/>
          <a:lstStyle>
            <a:lvl1pPr>
              <a:defRPr sz="2500">
                <a:solidFill>
                  <a:schemeClr val="bg1"/>
                </a:solidFill>
                <a:latin typeface="Arial" panose="020B0604020202020204" pitchFamily="34" charset="0"/>
                <a:cs typeface="Arial" panose="020B0604020202020204" pitchFamily="34" charset="0"/>
              </a:defRPr>
            </a:lvl1pPr>
          </a:lstStyle>
          <a:p>
            <a:pPr lvl="0"/>
            <a:r>
              <a:rPr lang="en-GB"/>
              <a:t>Sub Header</a:t>
            </a:r>
            <a:endParaRPr lang="en-US"/>
          </a:p>
        </p:txBody>
      </p:sp>
      <p:sp>
        <p:nvSpPr>
          <p:cNvPr id="13" name="Text Placeholder 2">
            <a:extLst>
              <a:ext uri="{FF2B5EF4-FFF2-40B4-BE49-F238E27FC236}">
                <a16:creationId xmlns:a16="http://schemas.microsoft.com/office/drawing/2014/main" id="{EACB878B-8222-1C49-9B67-4305EC50063C}"/>
              </a:ext>
            </a:extLst>
          </p:cNvPr>
          <p:cNvSpPr>
            <a:spLocks noGrp="1"/>
          </p:cNvSpPr>
          <p:nvPr>
            <p:ph type="body" sz="quarter" idx="12" hasCustomPrompt="1"/>
          </p:nvPr>
        </p:nvSpPr>
        <p:spPr>
          <a:xfrm>
            <a:off x="530280" y="3505200"/>
            <a:ext cx="914400" cy="484748"/>
          </a:xfrm>
        </p:spPr>
        <p:txBody>
          <a:bodyPr/>
          <a:lstStyle>
            <a:lvl1pPr algn="ctr">
              <a:defRPr sz="3150" b="1">
                <a:solidFill>
                  <a:srgbClr val="24408D"/>
                </a:solidFill>
                <a:latin typeface="Arial" panose="020B0604020202020204" pitchFamily="34" charset="0"/>
                <a:cs typeface="Arial" panose="020B0604020202020204" pitchFamily="34" charset="0"/>
              </a:defRPr>
            </a:lvl1pPr>
          </a:lstStyle>
          <a:p>
            <a:pPr lvl="0"/>
            <a:r>
              <a:rPr lang="en-GB"/>
              <a:t>01</a:t>
            </a:r>
            <a:endParaRPr lang="en-US"/>
          </a:p>
        </p:txBody>
      </p:sp>
      <p:pic>
        <p:nvPicPr>
          <p:cNvPr id="10" name="Picture 9">
            <a:extLst>
              <a:ext uri="{FF2B5EF4-FFF2-40B4-BE49-F238E27FC236}">
                <a16:creationId xmlns:a16="http://schemas.microsoft.com/office/drawing/2014/main" id="{70FCB4A0-59FC-5D4F-BD50-3F3913132A7D}"/>
              </a:ext>
            </a:extLst>
          </p:cNvPr>
          <p:cNvPicPr>
            <a:picLocks noChangeAspect="1"/>
          </p:cNvPicPr>
          <p:nvPr userDrawn="1"/>
        </p:nvPicPr>
        <p:blipFill>
          <a:blip r:embed="rId3"/>
          <a:stretch>
            <a:fillRect/>
          </a:stretch>
        </p:blipFill>
        <p:spPr>
          <a:xfrm>
            <a:off x="6688306" y="1328904"/>
            <a:ext cx="5300495" cy="530049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EXT">
    <p:bg>
      <p:bgPr>
        <a:solidFill>
          <a:schemeClr val="bg1"/>
        </a:solidFill>
        <a:effectLst/>
      </p:bgPr>
    </p:bg>
    <p:spTree>
      <p:nvGrpSpPr>
        <p:cNvPr id="1" name=""/>
        <p:cNvGrpSpPr/>
        <p:nvPr/>
      </p:nvGrpSpPr>
      <p:grpSpPr>
        <a:xfrm>
          <a:off x="0" y="0"/>
          <a:ext cx="0" cy="0"/>
          <a:chOff x="0" y="0"/>
          <a:chExt cx="0" cy="0"/>
        </a:xfrm>
      </p:grpSpPr>
      <p:sp>
        <p:nvSpPr>
          <p:cNvPr id="5" name="object 4">
            <a:extLst>
              <a:ext uri="{FF2B5EF4-FFF2-40B4-BE49-F238E27FC236}">
                <a16:creationId xmlns:a16="http://schemas.microsoft.com/office/drawing/2014/main" id="{C1F0E6C2-2EE5-D841-B127-9502BB69D97F}"/>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7" name="Picture 6">
            <a:extLst>
              <a:ext uri="{FF2B5EF4-FFF2-40B4-BE49-F238E27FC236}">
                <a16:creationId xmlns:a16="http://schemas.microsoft.com/office/drawing/2014/main" id="{02EE7552-CF1D-3046-90BC-DA62E4CFA17F}"/>
              </a:ext>
            </a:extLst>
          </p:cNvPr>
          <p:cNvPicPr>
            <a:picLocks noChangeAspect="1"/>
          </p:cNvPicPr>
          <p:nvPr userDrawn="1"/>
        </p:nvPicPr>
        <p:blipFill>
          <a:blip r:embed="rId2"/>
          <a:stretch>
            <a:fillRect/>
          </a:stretch>
        </p:blipFill>
        <p:spPr>
          <a:xfrm>
            <a:off x="9815421" y="424767"/>
            <a:ext cx="1801776" cy="553129"/>
          </a:xfrm>
          <a:prstGeom prst="rect">
            <a:avLst/>
          </a:prstGeom>
        </p:spPr>
      </p:pic>
      <p:sp>
        <p:nvSpPr>
          <p:cNvPr id="11" name="Text Placeholder 14">
            <a:extLst>
              <a:ext uri="{FF2B5EF4-FFF2-40B4-BE49-F238E27FC236}">
                <a16:creationId xmlns:a16="http://schemas.microsoft.com/office/drawing/2014/main" id="{6502E452-DD04-A942-B9C7-FB3B968F6231}"/>
              </a:ext>
            </a:extLst>
          </p:cNvPr>
          <p:cNvSpPr>
            <a:spLocks noGrp="1"/>
          </p:cNvSpPr>
          <p:nvPr>
            <p:ph type="body" sz="quarter" idx="10" hasCustomPrompt="1"/>
          </p:nvPr>
        </p:nvSpPr>
        <p:spPr>
          <a:xfrm>
            <a:off x="533400" y="219670"/>
            <a:ext cx="5562600" cy="923330"/>
          </a:xfrm>
        </p:spPr>
        <p:txBody>
          <a:bodyPr/>
          <a:lstStyle>
            <a:lvl1pPr>
              <a:defRPr sz="6000" b="1" baseline="0">
                <a:solidFill>
                  <a:srgbClr val="FDBA13"/>
                </a:solidFill>
                <a:latin typeface="Arial" panose="020B0604020202020204" pitchFamily="34" charset="0"/>
                <a:cs typeface="Arial" panose="020B0604020202020204" pitchFamily="34" charset="0"/>
              </a:defRPr>
            </a:lvl1pPr>
          </a:lstStyle>
          <a:p>
            <a:pPr lvl="0"/>
            <a:r>
              <a:rPr lang="en-GB"/>
              <a:t>Header</a:t>
            </a:r>
            <a:endParaRPr lang="en-US"/>
          </a:p>
        </p:txBody>
      </p:sp>
      <p:sp>
        <p:nvSpPr>
          <p:cNvPr id="12" name="Content Placeholder 2">
            <a:extLst>
              <a:ext uri="{FF2B5EF4-FFF2-40B4-BE49-F238E27FC236}">
                <a16:creationId xmlns:a16="http://schemas.microsoft.com/office/drawing/2014/main" id="{C92D5A97-B1C2-DC43-8911-4BEF1080F833}"/>
              </a:ext>
            </a:extLst>
          </p:cNvPr>
          <p:cNvSpPr>
            <a:spLocks noGrp="1"/>
          </p:cNvSpPr>
          <p:nvPr>
            <p:ph sz="quarter" idx="11"/>
          </p:nvPr>
        </p:nvSpPr>
        <p:spPr>
          <a:xfrm>
            <a:off x="6240463" y="1995059"/>
            <a:ext cx="5951537" cy="4862941"/>
          </a:xfrm>
          <a:solidFill>
            <a:schemeClr val="bg1">
              <a:lumMod val="85000"/>
            </a:schemeClr>
          </a:solidFill>
        </p:spPr>
        <p:txBody>
          <a:bodyPr/>
          <a:lstStyle/>
          <a:p>
            <a:pPr lvl="0"/>
            <a:endParaRPr lang="en-US"/>
          </a:p>
        </p:txBody>
      </p:sp>
      <p:sp>
        <p:nvSpPr>
          <p:cNvPr id="15" name="Text Placeholder 14">
            <a:extLst>
              <a:ext uri="{FF2B5EF4-FFF2-40B4-BE49-F238E27FC236}">
                <a16:creationId xmlns:a16="http://schemas.microsoft.com/office/drawing/2014/main" id="{2B32422C-E3F5-664F-A900-E87EE9A73BA9}"/>
              </a:ext>
            </a:extLst>
          </p:cNvPr>
          <p:cNvSpPr>
            <a:spLocks noGrp="1"/>
          </p:cNvSpPr>
          <p:nvPr>
            <p:ph type="body" sz="quarter" idx="12" hasCustomPrompt="1"/>
          </p:nvPr>
        </p:nvSpPr>
        <p:spPr>
          <a:xfrm>
            <a:off x="533400" y="1995059"/>
            <a:ext cx="4572000" cy="1401761"/>
          </a:xfrm>
        </p:spPr>
        <p:txBody>
          <a:bodyPr/>
          <a:lstStyle>
            <a:lvl1pPr>
              <a:defRPr sz="2500" b="1">
                <a:solidFill>
                  <a:srgbClr val="24408D"/>
                </a:solidFill>
                <a:latin typeface="Arial" panose="020B0604020202020204" pitchFamily="34" charset="0"/>
                <a:cs typeface="Arial" panose="020B0604020202020204" pitchFamily="34"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Duis at </a:t>
            </a:r>
            <a:r>
              <a:rPr lang="en-GB" err="1"/>
              <a:t>commodo</a:t>
            </a:r>
            <a:r>
              <a:rPr lang="en-GB"/>
              <a:t> </a:t>
            </a:r>
            <a:r>
              <a:rPr lang="en-GB" err="1"/>
              <a:t>neque</a:t>
            </a:r>
            <a:r>
              <a:rPr lang="en-GB"/>
              <a:t>, non </a:t>
            </a:r>
            <a:r>
              <a:rPr lang="en-GB" err="1"/>
              <a:t>ultrices</a:t>
            </a:r>
            <a:r>
              <a:rPr lang="en-GB"/>
              <a:t> </a:t>
            </a:r>
            <a:r>
              <a:rPr lang="en-GB" err="1"/>
              <a:t>turpis</a:t>
            </a:r>
            <a:r>
              <a:rPr lang="en-GB"/>
              <a:t>.</a:t>
            </a:r>
            <a:endParaRPr lang="en-US"/>
          </a:p>
        </p:txBody>
      </p:sp>
      <p:sp>
        <p:nvSpPr>
          <p:cNvPr id="16" name="Text Placeholder 14">
            <a:extLst>
              <a:ext uri="{FF2B5EF4-FFF2-40B4-BE49-F238E27FC236}">
                <a16:creationId xmlns:a16="http://schemas.microsoft.com/office/drawing/2014/main" id="{E2D74DB2-1448-F044-80ED-D57DCBA77357}"/>
              </a:ext>
            </a:extLst>
          </p:cNvPr>
          <p:cNvSpPr>
            <a:spLocks noGrp="1"/>
          </p:cNvSpPr>
          <p:nvPr>
            <p:ph type="body" sz="quarter" idx="13" hasCustomPrompt="1"/>
          </p:nvPr>
        </p:nvSpPr>
        <p:spPr>
          <a:xfrm>
            <a:off x="533400" y="3823541"/>
            <a:ext cx="5334000" cy="2523394"/>
          </a:xfrm>
        </p:spPr>
        <p:txBody>
          <a:bodyPr/>
          <a:lstStyle>
            <a:lvl1pPr>
              <a:defRPr sz="2000" b="0">
                <a:solidFill>
                  <a:schemeClr val="tx1"/>
                </a:solidFill>
                <a:latin typeface="Arial" panose="020B0604020202020204" pitchFamily="34" charset="0"/>
                <a:cs typeface="Arial" panose="020B0604020202020204" pitchFamily="34" charset="0"/>
              </a:defRPr>
            </a:lvl1pPr>
          </a:lstStyle>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a:p>
            <a:pPr>
              <a:lnSpc>
                <a:spcPct val="100000"/>
              </a:lnSpc>
              <a:spcBef>
                <a:spcPts val="45"/>
              </a:spcBef>
            </a:pPr>
            <a:endParaRPr lang="en-GB" sz="2050">
              <a:latin typeface="Arial"/>
              <a:cs typeface="Arial"/>
            </a:endParaRPr>
          </a:p>
          <a:p>
            <a:pPr marL="12700" marR="5080">
              <a:lnSpc>
                <a:spcPct val="100000"/>
              </a:lnSpc>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endParaRPr lang="en-GB" sz="2000">
              <a:latin typeface="Arial"/>
              <a:cs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 COLLUM">
    <p:bg>
      <p:bgPr>
        <a:solidFill>
          <a:schemeClr val="bg1"/>
        </a:solidFill>
        <a:effectLst/>
      </p:bgPr>
    </p:bg>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2B32422C-E3F5-664F-A900-E87EE9A73BA9}"/>
              </a:ext>
            </a:extLst>
          </p:cNvPr>
          <p:cNvSpPr>
            <a:spLocks noGrp="1"/>
          </p:cNvSpPr>
          <p:nvPr>
            <p:ph type="body" sz="quarter" idx="12" hasCustomPrompt="1"/>
          </p:nvPr>
        </p:nvSpPr>
        <p:spPr>
          <a:xfrm>
            <a:off x="533400" y="1981200"/>
            <a:ext cx="4572000" cy="1401761"/>
          </a:xfrm>
        </p:spPr>
        <p:txBody>
          <a:bodyPr/>
          <a:lstStyle>
            <a:lvl1pPr>
              <a:defRPr sz="2500" b="1">
                <a:solidFill>
                  <a:srgbClr val="24408D"/>
                </a:solidFill>
                <a:latin typeface="Arial" panose="020B0604020202020204" pitchFamily="34" charset="0"/>
                <a:cs typeface="Arial" panose="020B0604020202020204" pitchFamily="34"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Duis at </a:t>
            </a:r>
            <a:r>
              <a:rPr lang="en-GB" err="1"/>
              <a:t>commodo</a:t>
            </a:r>
            <a:r>
              <a:rPr lang="en-GB"/>
              <a:t> </a:t>
            </a:r>
            <a:r>
              <a:rPr lang="en-GB" err="1"/>
              <a:t>neque</a:t>
            </a:r>
            <a:r>
              <a:rPr lang="en-GB"/>
              <a:t>, non </a:t>
            </a:r>
            <a:r>
              <a:rPr lang="en-GB" err="1"/>
              <a:t>ultrices</a:t>
            </a:r>
            <a:r>
              <a:rPr lang="en-GB"/>
              <a:t> </a:t>
            </a:r>
            <a:r>
              <a:rPr lang="en-GB" err="1"/>
              <a:t>turpis</a:t>
            </a:r>
            <a:r>
              <a:rPr lang="en-GB"/>
              <a:t>.</a:t>
            </a:r>
            <a:endParaRPr lang="en-US"/>
          </a:p>
        </p:txBody>
      </p:sp>
      <p:sp>
        <p:nvSpPr>
          <p:cNvPr id="16" name="Text Placeholder 14">
            <a:extLst>
              <a:ext uri="{FF2B5EF4-FFF2-40B4-BE49-F238E27FC236}">
                <a16:creationId xmlns:a16="http://schemas.microsoft.com/office/drawing/2014/main" id="{E2D74DB2-1448-F044-80ED-D57DCBA77357}"/>
              </a:ext>
            </a:extLst>
          </p:cNvPr>
          <p:cNvSpPr>
            <a:spLocks noGrp="1"/>
          </p:cNvSpPr>
          <p:nvPr>
            <p:ph type="body" sz="quarter" idx="13" hasCustomPrompt="1"/>
          </p:nvPr>
        </p:nvSpPr>
        <p:spPr>
          <a:xfrm>
            <a:off x="533400" y="3809682"/>
            <a:ext cx="5334000" cy="2523394"/>
          </a:xfrm>
        </p:spPr>
        <p:txBody>
          <a:bodyPr/>
          <a:lstStyle>
            <a:lvl1pPr>
              <a:defRPr sz="2000" b="0">
                <a:solidFill>
                  <a:schemeClr val="tx1"/>
                </a:solidFill>
                <a:latin typeface="Arial" panose="020B0604020202020204" pitchFamily="34" charset="0"/>
                <a:cs typeface="Arial" panose="020B0604020202020204" pitchFamily="34" charset="0"/>
              </a:defRPr>
            </a:lvl1pPr>
          </a:lstStyle>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a:p>
            <a:pPr>
              <a:lnSpc>
                <a:spcPct val="100000"/>
              </a:lnSpc>
              <a:spcBef>
                <a:spcPts val="45"/>
              </a:spcBef>
            </a:pPr>
            <a:endParaRPr lang="en-GB" sz="2050">
              <a:latin typeface="Arial"/>
              <a:cs typeface="Arial"/>
            </a:endParaRPr>
          </a:p>
          <a:p>
            <a:pPr marL="12700" marR="5080">
              <a:lnSpc>
                <a:spcPct val="100000"/>
              </a:lnSpc>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endParaRPr lang="en-GB" sz="2000">
              <a:latin typeface="Arial"/>
              <a:cs typeface="Arial"/>
            </a:endParaRPr>
          </a:p>
        </p:txBody>
      </p:sp>
      <p:sp>
        <p:nvSpPr>
          <p:cNvPr id="9" name="Text Placeholder 14">
            <a:extLst>
              <a:ext uri="{FF2B5EF4-FFF2-40B4-BE49-F238E27FC236}">
                <a16:creationId xmlns:a16="http://schemas.microsoft.com/office/drawing/2014/main" id="{152D63FE-C961-5245-824E-AFA31B16316F}"/>
              </a:ext>
            </a:extLst>
          </p:cNvPr>
          <p:cNvSpPr>
            <a:spLocks noGrp="1"/>
          </p:cNvSpPr>
          <p:nvPr>
            <p:ph type="body" sz="quarter" idx="14" hasCustomPrompt="1"/>
          </p:nvPr>
        </p:nvSpPr>
        <p:spPr>
          <a:xfrm>
            <a:off x="6236546" y="1981201"/>
            <a:ext cx="5574453" cy="4616648"/>
          </a:xfrm>
        </p:spPr>
        <p:txBody>
          <a:bodyPr/>
          <a:lstStyle>
            <a:lvl1pPr marL="12700" marR="5080" indent="0" defTabSz="914400" eaLnBrk="1" fontAlgn="auto" latinLnBrk="0" hangingPunct="1">
              <a:lnSpc>
                <a:spcPct val="100000"/>
              </a:lnSpc>
              <a:spcBef>
                <a:spcPts val="0"/>
              </a:spcBef>
              <a:spcAft>
                <a:spcPts val="0"/>
              </a:spcAft>
              <a:buClr>
                <a:srgbClr val="FDBA13"/>
              </a:buClr>
              <a:buSzTx/>
              <a:buFont typeface="Arial" panose="020B0604020202020204" pitchFamily="34" charset="0"/>
              <a:buChar char="•"/>
              <a:tabLst/>
              <a:defRPr sz="2000" b="0">
                <a:solidFill>
                  <a:schemeClr val="tx1"/>
                </a:solidFill>
                <a:latin typeface="Arial" panose="020B0604020202020204" pitchFamily="34" charset="0"/>
                <a:cs typeface="Arial" panose="020B0604020202020204" pitchFamily="34" charset="0"/>
              </a:defRPr>
            </a:lvl1pPr>
          </a:lstStyle>
          <a:p>
            <a:pPr marL="355600" marR="5080" lvl="0" indent="-342900" defTabSz="914400" eaLnBrk="1" fontAlgn="auto" latinLnBrk="0" hangingPunct="1">
              <a:lnSpc>
                <a:spcPct val="100000"/>
              </a:lnSpc>
              <a:spcBef>
                <a:spcPts val="0"/>
              </a:spcBef>
              <a:spcAft>
                <a:spcPts val="0"/>
              </a:spcAft>
              <a:buClr>
                <a:srgbClr val="FDBA13"/>
              </a:buClr>
              <a:buSzTx/>
              <a:tabLst/>
              <a:defRPr/>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355600" marR="5080" lvl="0" indent="-342900" defTabSz="914400" eaLnBrk="1" fontAlgn="auto" latinLnBrk="0" hangingPunct="1">
              <a:lnSpc>
                <a:spcPct val="100000"/>
              </a:lnSpc>
              <a:spcBef>
                <a:spcPts val="0"/>
              </a:spcBef>
              <a:spcAft>
                <a:spcPts val="0"/>
              </a:spcAft>
              <a:buClr>
                <a:srgbClr val="FDBA13"/>
              </a:buClr>
              <a:buSzTx/>
              <a:tabLst/>
              <a:defRPr/>
            </a:pPr>
            <a:endParaRPr lang="en-GB" sz="2000" spc="-5">
              <a:solidFill>
                <a:srgbClr val="231F20"/>
              </a:solidFill>
              <a:latin typeface="Arial"/>
              <a:cs typeface="Arial"/>
            </a:endParaRPr>
          </a:p>
          <a:p>
            <a:pPr marL="355600" marR="5080" lvl="0" indent="-342900" defTabSz="914400" eaLnBrk="1" fontAlgn="auto" latinLnBrk="0" hangingPunct="1">
              <a:lnSpc>
                <a:spcPct val="100000"/>
              </a:lnSpc>
              <a:spcBef>
                <a:spcPts val="0"/>
              </a:spcBef>
              <a:spcAft>
                <a:spcPts val="0"/>
              </a:spcAft>
              <a:buClr>
                <a:srgbClr val="FDBA13"/>
              </a:buClr>
              <a:buSzTx/>
              <a:tabLst/>
              <a:defRPr/>
            </a:pPr>
            <a:r>
              <a:rPr lang="en-GB" sz="2000" spc="-5">
                <a:solidFill>
                  <a:srgbClr val="231F20"/>
                </a:solidFill>
                <a:latin typeface="Arial"/>
                <a:cs typeface="Arial"/>
              </a:rPr>
              <a:t>Donec </a:t>
            </a:r>
            <a:r>
              <a:rPr lang="en-GB" sz="2000" spc="-5" err="1">
                <a:solidFill>
                  <a:srgbClr val="231F20"/>
                </a:solidFill>
                <a:latin typeface="Arial"/>
                <a:cs typeface="Arial"/>
              </a:rPr>
              <a:t>ut</a:t>
            </a:r>
            <a:r>
              <a:rPr lang="en-GB" sz="2000" spc="-5">
                <a:solidFill>
                  <a:srgbClr val="231F20"/>
                </a:solidFill>
                <a:latin typeface="Arial"/>
                <a:cs typeface="Arial"/>
              </a:rPr>
              <a:t> </a:t>
            </a:r>
            <a:r>
              <a:rPr lang="en-GB" sz="2000" spc="-5" err="1">
                <a:solidFill>
                  <a:srgbClr val="231F20"/>
                </a:solidFill>
                <a:latin typeface="Arial"/>
                <a:cs typeface="Arial"/>
              </a:rPr>
              <a:t>suscipit</a:t>
            </a:r>
            <a:r>
              <a:rPr lang="en-GB" sz="2000" spc="-5">
                <a:solidFill>
                  <a:srgbClr val="231F20"/>
                </a:solidFill>
                <a:latin typeface="Arial"/>
                <a:cs typeface="Arial"/>
              </a:rPr>
              <a:t> </a:t>
            </a:r>
            <a:r>
              <a:rPr lang="en-GB" sz="2000" spc="-5" err="1">
                <a:solidFill>
                  <a:srgbClr val="231F20"/>
                </a:solidFill>
                <a:latin typeface="Arial"/>
                <a:cs typeface="Arial"/>
              </a:rPr>
              <a:t>dolor</a:t>
            </a:r>
            <a:r>
              <a:rPr lang="en-GB" sz="2000" spc="-5">
                <a:solidFill>
                  <a:srgbClr val="231F20"/>
                </a:solidFill>
                <a:latin typeface="Arial"/>
                <a:cs typeface="Arial"/>
              </a:rPr>
              <a:t>, vitae </a:t>
            </a:r>
            <a:r>
              <a:rPr lang="en-GB" sz="2000" spc="-5" err="1">
                <a:solidFill>
                  <a:srgbClr val="231F20"/>
                </a:solidFill>
                <a:latin typeface="Arial"/>
                <a:cs typeface="Arial"/>
              </a:rPr>
              <a:t>sollicitudin</a:t>
            </a:r>
            <a:r>
              <a:rPr lang="en-GB" sz="2000" spc="-5">
                <a:solidFill>
                  <a:srgbClr val="231F20"/>
                </a:solidFill>
                <a:latin typeface="Arial"/>
                <a:cs typeface="Arial"/>
              </a:rPr>
              <a:t> sem. </a:t>
            </a:r>
            <a:r>
              <a:rPr lang="en-GB" sz="2000" spc="-5" err="1">
                <a:solidFill>
                  <a:srgbClr val="231F20"/>
                </a:solidFill>
                <a:latin typeface="Arial"/>
                <a:cs typeface="Arial"/>
              </a:rPr>
              <a:t>Sed</a:t>
            </a:r>
            <a:r>
              <a:rPr lang="en-GB" sz="2000" spc="-5">
                <a:solidFill>
                  <a:srgbClr val="231F20"/>
                </a:solidFill>
                <a:latin typeface="Arial"/>
                <a:cs typeface="Arial"/>
              </a:rPr>
              <a:t> </a:t>
            </a:r>
            <a:r>
              <a:rPr lang="en-GB" sz="2000" spc="-5" err="1">
                <a:solidFill>
                  <a:srgbClr val="231F20"/>
                </a:solidFill>
                <a:latin typeface="Arial"/>
                <a:cs typeface="Arial"/>
              </a:rPr>
              <a:t>eget</a:t>
            </a:r>
            <a:r>
              <a:rPr lang="en-GB" sz="2000" spc="-5">
                <a:solidFill>
                  <a:srgbClr val="231F20"/>
                </a:solidFill>
                <a:latin typeface="Arial"/>
                <a:cs typeface="Arial"/>
              </a:rPr>
              <a:t> cursus </a:t>
            </a:r>
            <a:r>
              <a:rPr lang="en-GB" sz="2000" spc="-5" err="1">
                <a:solidFill>
                  <a:srgbClr val="231F20"/>
                </a:solidFill>
                <a:latin typeface="Arial"/>
                <a:cs typeface="Arial"/>
              </a:rPr>
              <a:t>nulla</a:t>
            </a:r>
            <a:r>
              <a:rPr lang="en-GB" sz="2000" spc="-5">
                <a:solidFill>
                  <a:srgbClr val="231F20"/>
                </a:solidFill>
                <a:latin typeface="Arial"/>
                <a:cs typeface="Arial"/>
              </a:rPr>
              <a:t>, </a:t>
            </a:r>
            <a:r>
              <a:rPr lang="en-GB" sz="2000" spc="-5" err="1">
                <a:solidFill>
                  <a:srgbClr val="231F20"/>
                </a:solidFill>
                <a:latin typeface="Arial"/>
                <a:cs typeface="Arial"/>
              </a:rPr>
              <a:t>nec</a:t>
            </a:r>
            <a:r>
              <a:rPr lang="en-GB" sz="2000" spc="-5">
                <a:solidFill>
                  <a:srgbClr val="231F20"/>
                </a:solidFill>
                <a:latin typeface="Arial"/>
                <a:cs typeface="Arial"/>
              </a:rPr>
              <a:t> </a:t>
            </a:r>
            <a:r>
              <a:rPr lang="en-GB" sz="2000" spc="-5" err="1">
                <a:solidFill>
                  <a:srgbClr val="231F20"/>
                </a:solidFill>
                <a:latin typeface="Arial"/>
                <a:cs typeface="Arial"/>
              </a:rPr>
              <a:t>consequat</a:t>
            </a:r>
            <a:r>
              <a:rPr lang="en-GB" sz="2000" spc="-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355600" marR="5080" lvl="0" indent="-342900" defTabSz="914400" eaLnBrk="1" fontAlgn="auto" latinLnBrk="0" hangingPunct="1">
              <a:lnSpc>
                <a:spcPct val="100000"/>
              </a:lnSpc>
              <a:spcBef>
                <a:spcPts val="0"/>
              </a:spcBef>
              <a:spcAft>
                <a:spcPts val="0"/>
              </a:spcAft>
              <a:buClr>
                <a:srgbClr val="FDBA13"/>
              </a:buClr>
              <a:buSzTx/>
              <a:tabLst/>
              <a:defRPr/>
            </a:pPr>
            <a:endParaRPr lang="en-GB" sz="2000" spc="-5">
              <a:solidFill>
                <a:srgbClr val="231F20"/>
              </a:solidFill>
              <a:latin typeface="Arial"/>
              <a:cs typeface="Arial"/>
            </a:endParaRPr>
          </a:p>
          <a:p>
            <a:pPr marL="355600" marR="5080" lvl="0" indent="-342900" defTabSz="914400" eaLnBrk="1" fontAlgn="auto" latinLnBrk="0" hangingPunct="1">
              <a:lnSpc>
                <a:spcPct val="100000"/>
              </a:lnSpc>
              <a:spcBef>
                <a:spcPts val="0"/>
              </a:spcBef>
              <a:spcAft>
                <a:spcPts val="0"/>
              </a:spcAft>
              <a:buClr>
                <a:srgbClr val="FDBA13"/>
              </a:buClr>
              <a:buSzTx/>
              <a:tabLst/>
              <a:defRPr/>
            </a:pPr>
            <a:r>
              <a:rPr lang="en-GB" sz="2000" spc="-5">
                <a:solidFill>
                  <a:srgbClr val="231F20"/>
                </a:solidFill>
                <a:latin typeface="Arial"/>
                <a:cs typeface="Arial"/>
              </a:rPr>
              <a:t>Donec </a:t>
            </a:r>
            <a:r>
              <a:rPr lang="en-GB" sz="2000" spc="-5" err="1">
                <a:solidFill>
                  <a:srgbClr val="231F20"/>
                </a:solidFill>
                <a:latin typeface="Arial"/>
                <a:cs typeface="Arial"/>
              </a:rPr>
              <a:t>ut</a:t>
            </a:r>
            <a:r>
              <a:rPr lang="en-GB" sz="2000" spc="-5">
                <a:solidFill>
                  <a:srgbClr val="231F20"/>
                </a:solidFill>
                <a:latin typeface="Arial"/>
                <a:cs typeface="Arial"/>
              </a:rPr>
              <a:t> </a:t>
            </a:r>
            <a:r>
              <a:rPr lang="en-GB" sz="2000" spc="-5" err="1">
                <a:solidFill>
                  <a:srgbClr val="231F20"/>
                </a:solidFill>
                <a:latin typeface="Arial"/>
                <a:cs typeface="Arial"/>
              </a:rPr>
              <a:t>suscipit</a:t>
            </a:r>
            <a:r>
              <a:rPr lang="en-GB" sz="2000" spc="-5">
                <a:solidFill>
                  <a:srgbClr val="231F20"/>
                </a:solidFill>
                <a:latin typeface="Arial"/>
                <a:cs typeface="Arial"/>
              </a:rPr>
              <a:t> </a:t>
            </a:r>
            <a:r>
              <a:rPr lang="en-GB" sz="2000" spc="-5" err="1">
                <a:solidFill>
                  <a:srgbClr val="231F20"/>
                </a:solidFill>
                <a:latin typeface="Arial"/>
                <a:cs typeface="Arial"/>
              </a:rPr>
              <a:t>dolor</a:t>
            </a:r>
            <a:r>
              <a:rPr lang="en-GB" sz="2000" spc="-5">
                <a:solidFill>
                  <a:srgbClr val="231F20"/>
                </a:solidFill>
                <a:latin typeface="Arial"/>
                <a:cs typeface="Arial"/>
              </a:rPr>
              <a:t>, vitae </a:t>
            </a:r>
            <a:r>
              <a:rPr lang="en-GB" sz="2000" spc="-5" err="1">
                <a:solidFill>
                  <a:srgbClr val="231F20"/>
                </a:solidFill>
                <a:latin typeface="Arial"/>
                <a:cs typeface="Arial"/>
              </a:rPr>
              <a:t>sollicitudin</a:t>
            </a:r>
            <a:r>
              <a:rPr lang="en-GB" sz="2000" spc="-5">
                <a:solidFill>
                  <a:srgbClr val="231F20"/>
                </a:solidFill>
                <a:latin typeface="Arial"/>
                <a:cs typeface="Arial"/>
              </a:rPr>
              <a:t> sem. </a:t>
            </a:r>
            <a:r>
              <a:rPr lang="en-GB" sz="2000" spc="-5" err="1">
                <a:solidFill>
                  <a:srgbClr val="231F20"/>
                </a:solidFill>
                <a:latin typeface="Arial"/>
                <a:cs typeface="Arial"/>
              </a:rPr>
              <a:t>Sed</a:t>
            </a:r>
            <a:r>
              <a:rPr lang="en-GB" sz="2000" spc="-5">
                <a:solidFill>
                  <a:srgbClr val="231F20"/>
                </a:solidFill>
                <a:latin typeface="Arial"/>
                <a:cs typeface="Arial"/>
              </a:rPr>
              <a:t> </a:t>
            </a:r>
            <a:r>
              <a:rPr lang="en-GB" sz="2000" spc="-5" err="1">
                <a:solidFill>
                  <a:srgbClr val="231F20"/>
                </a:solidFill>
                <a:latin typeface="Arial"/>
                <a:cs typeface="Arial"/>
              </a:rPr>
              <a:t>eget</a:t>
            </a:r>
            <a:r>
              <a:rPr lang="en-GB" sz="2000" spc="-5">
                <a:solidFill>
                  <a:srgbClr val="231F20"/>
                </a:solidFill>
                <a:latin typeface="Arial"/>
                <a:cs typeface="Arial"/>
              </a:rPr>
              <a:t> cursus </a:t>
            </a:r>
            <a:r>
              <a:rPr lang="en-GB" sz="2000" spc="-5" err="1">
                <a:solidFill>
                  <a:srgbClr val="231F20"/>
                </a:solidFill>
                <a:latin typeface="Arial"/>
                <a:cs typeface="Arial"/>
              </a:rPr>
              <a:t>nulla</a:t>
            </a:r>
            <a:r>
              <a:rPr lang="en-GB" sz="2000" spc="-5">
                <a:solidFill>
                  <a:srgbClr val="231F20"/>
                </a:solidFill>
                <a:latin typeface="Arial"/>
                <a:cs typeface="Arial"/>
              </a:rPr>
              <a:t>, </a:t>
            </a:r>
            <a:r>
              <a:rPr lang="en-GB" sz="2000" spc="-5" err="1">
                <a:solidFill>
                  <a:srgbClr val="231F20"/>
                </a:solidFill>
                <a:latin typeface="Arial"/>
                <a:cs typeface="Arial"/>
              </a:rPr>
              <a:t>nec</a:t>
            </a:r>
            <a:r>
              <a:rPr lang="en-GB" sz="2000" spc="-5">
                <a:solidFill>
                  <a:srgbClr val="231F20"/>
                </a:solidFill>
                <a:latin typeface="Arial"/>
                <a:cs typeface="Arial"/>
              </a:rPr>
              <a:t> </a:t>
            </a:r>
            <a:r>
              <a:rPr lang="en-GB" sz="2000" spc="-5" err="1">
                <a:solidFill>
                  <a:srgbClr val="231F20"/>
                </a:solidFill>
                <a:latin typeface="Arial"/>
                <a:cs typeface="Arial"/>
              </a:rPr>
              <a:t>consequat</a:t>
            </a:r>
            <a:r>
              <a:rPr lang="en-GB" sz="2000" spc="-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355600" marR="5080" lvl="0" indent="-342900" defTabSz="914400" eaLnBrk="1" fontAlgn="auto" latinLnBrk="0" hangingPunct="1">
              <a:lnSpc>
                <a:spcPct val="100000"/>
              </a:lnSpc>
              <a:spcBef>
                <a:spcPts val="0"/>
              </a:spcBef>
              <a:spcAft>
                <a:spcPts val="0"/>
              </a:spcAft>
              <a:buClr>
                <a:srgbClr val="FDBA13"/>
              </a:buClr>
              <a:buSzTx/>
              <a:tabLst/>
              <a:defRPr/>
            </a:pPr>
            <a:endParaRPr lang="en-GB" sz="2000" spc="-5">
              <a:solidFill>
                <a:srgbClr val="231F20"/>
              </a:solidFill>
              <a:latin typeface="Arial"/>
              <a:cs typeface="Arial"/>
            </a:endParaRPr>
          </a:p>
          <a:p>
            <a:pPr marL="355600" marR="5080" lvl="0" indent="-342900" defTabSz="914400" eaLnBrk="1" fontAlgn="auto" latinLnBrk="0" hangingPunct="1">
              <a:lnSpc>
                <a:spcPct val="100000"/>
              </a:lnSpc>
              <a:spcBef>
                <a:spcPts val="0"/>
              </a:spcBef>
              <a:spcAft>
                <a:spcPts val="0"/>
              </a:spcAft>
              <a:buClr>
                <a:srgbClr val="FDBA13"/>
              </a:buClr>
              <a:buSzTx/>
              <a:tabLst/>
              <a:defRPr/>
            </a:pPr>
            <a:r>
              <a:rPr lang="en-GB" sz="2000" spc="-5">
                <a:solidFill>
                  <a:srgbClr val="231F20"/>
                </a:solidFill>
                <a:latin typeface="Arial"/>
                <a:cs typeface="Arial"/>
              </a:rPr>
              <a:t>Donec </a:t>
            </a:r>
            <a:r>
              <a:rPr lang="en-GB" sz="2000" spc="-5" err="1">
                <a:solidFill>
                  <a:srgbClr val="231F20"/>
                </a:solidFill>
                <a:latin typeface="Arial"/>
                <a:cs typeface="Arial"/>
              </a:rPr>
              <a:t>ut</a:t>
            </a:r>
            <a:r>
              <a:rPr lang="en-GB" sz="2000" spc="-5">
                <a:solidFill>
                  <a:srgbClr val="231F20"/>
                </a:solidFill>
                <a:latin typeface="Arial"/>
                <a:cs typeface="Arial"/>
              </a:rPr>
              <a:t> </a:t>
            </a:r>
            <a:r>
              <a:rPr lang="en-GB" sz="2000" spc="-5" err="1">
                <a:solidFill>
                  <a:srgbClr val="231F20"/>
                </a:solidFill>
                <a:latin typeface="Arial"/>
                <a:cs typeface="Arial"/>
              </a:rPr>
              <a:t>suscipit</a:t>
            </a:r>
            <a:r>
              <a:rPr lang="en-GB" sz="2000" spc="-5">
                <a:solidFill>
                  <a:srgbClr val="231F20"/>
                </a:solidFill>
                <a:latin typeface="Arial"/>
                <a:cs typeface="Arial"/>
              </a:rPr>
              <a:t> </a:t>
            </a:r>
            <a:r>
              <a:rPr lang="en-GB" sz="2000" spc="-5" err="1">
                <a:solidFill>
                  <a:srgbClr val="231F20"/>
                </a:solidFill>
                <a:latin typeface="Arial"/>
                <a:cs typeface="Arial"/>
              </a:rPr>
              <a:t>dolor</a:t>
            </a:r>
            <a:r>
              <a:rPr lang="en-GB" sz="2000" spc="-5">
                <a:solidFill>
                  <a:srgbClr val="231F20"/>
                </a:solidFill>
                <a:latin typeface="Arial"/>
                <a:cs typeface="Arial"/>
              </a:rPr>
              <a:t>, vitae </a:t>
            </a:r>
            <a:r>
              <a:rPr lang="en-GB" sz="2000" spc="-5" err="1">
                <a:solidFill>
                  <a:srgbClr val="231F20"/>
                </a:solidFill>
                <a:latin typeface="Arial"/>
                <a:cs typeface="Arial"/>
              </a:rPr>
              <a:t>sollicitudin</a:t>
            </a:r>
            <a:r>
              <a:rPr lang="en-GB" sz="2000" spc="-5">
                <a:solidFill>
                  <a:srgbClr val="231F20"/>
                </a:solidFill>
                <a:latin typeface="Arial"/>
                <a:cs typeface="Arial"/>
              </a:rPr>
              <a:t> sem. </a:t>
            </a:r>
            <a:r>
              <a:rPr lang="en-GB" sz="2000" spc="-5" err="1">
                <a:solidFill>
                  <a:srgbClr val="231F20"/>
                </a:solidFill>
                <a:latin typeface="Arial"/>
                <a:cs typeface="Arial"/>
              </a:rPr>
              <a:t>Sed</a:t>
            </a:r>
            <a:r>
              <a:rPr lang="en-GB" sz="2000" spc="-5">
                <a:solidFill>
                  <a:srgbClr val="231F20"/>
                </a:solidFill>
                <a:latin typeface="Arial"/>
                <a:cs typeface="Arial"/>
              </a:rPr>
              <a:t> </a:t>
            </a:r>
            <a:r>
              <a:rPr lang="en-GB" sz="2000" spc="-5" err="1">
                <a:solidFill>
                  <a:srgbClr val="231F20"/>
                </a:solidFill>
                <a:latin typeface="Arial"/>
                <a:cs typeface="Arial"/>
              </a:rPr>
              <a:t>eget</a:t>
            </a:r>
            <a:r>
              <a:rPr lang="en-GB" sz="2000" spc="-5">
                <a:solidFill>
                  <a:srgbClr val="231F20"/>
                </a:solidFill>
                <a:latin typeface="Arial"/>
                <a:cs typeface="Arial"/>
              </a:rPr>
              <a:t> cursus </a:t>
            </a:r>
            <a:r>
              <a:rPr lang="en-GB" sz="2000" spc="-5" err="1">
                <a:solidFill>
                  <a:srgbClr val="231F20"/>
                </a:solidFill>
                <a:latin typeface="Arial"/>
                <a:cs typeface="Arial"/>
              </a:rPr>
              <a:t>nulla</a:t>
            </a:r>
            <a:r>
              <a:rPr lang="en-GB" sz="2000" spc="-5">
                <a:solidFill>
                  <a:srgbClr val="231F20"/>
                </a:solidFill>
                <a:latin typeface="Arial"/>
                <a:cs typeface="Arial"/>
              </a:rPr>
              <a:t>, </a:t>
            </a:r>
            <a:r>
              <a:rPr lang="en-GB" sz="2000" spc="-5" err="1">
                <a:solidFill>
                  <a:srgbClr val="231F20"/>
                </a:solidFill>
                <a:latin typeface="Arial"/>
                <a:cs typeface="Arial"/>
              </a:rPr>
              <a:t>nec</a:t>
            </a:r>
            <a:r>
              <a:rPr lang="en-GB" sz="2000" spc="-5">
                <a:solidFill>
                  <a:srgbClr val="231F20"/>
                </a:solidFill>
                <a:latin typeface="Arial"/>
                <a:cs typeface="Arial"/>
              </a:rPr>
              <a:t> </a:t>
            </a:r>
            <a:r>
              <a:rPr lang="en-GB" sz="2000" spc="-5" err="1">
                <a:solidFill>
                  <a:srgbClr val="231F20"/>
                </a:solidFill>
                <a:latin typeface="Arial"/>
                <a:cs typeface="Arial"/>
              </a:rPr>
              <a:t>consequat</a:t>
            </a:r>
            <a:r>
              <a:rPr lang="en-GB" sz="2000" spc="-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355600" marR="5080" lvl="0" indent="-342900" defTabSz="914400" eaLnBrk="1" fontAlgn="auto" latinLnBrk="0" hangingPunct="1">
              <a:lnSpc>
                <a:spcPct val="100000"/>
              </a:lnSpc>
              <a:spcBef>
                <a:spcPts val="0"/>
              </a:spcBef>
              <a:spcAft>
                <a:spcPts val="0"/>
              </a:spcAft>
              <a:buClr>
                <a:srgbClr val="FDBA13"/>
              </a:buClr>
              <a:buSzTx/>
              <a:tabLst/>
              <a:defRPr/>
            </a:pPr>
            <a:endParaRPr lang="en-GB" sz="2000" spc="-5">
              <a:solidFill>
                <a:srgbClr val="231F20"/>
              </a:solidFill>
              <a:latin typeface="Arial"/>
              <a:cs typeface="Arial"/>
            </a:endParaRPr>
          </a:p>
          <a:p>
            <a:pPr marL="355600" marR="5080" lvl="0" indent="-342900" defTabSz="914400" eaLnBrk="1" fontAlgn="auto" latinLnBrk="0" hangingPunct="1">
              <a:lnSpc>
                <a:spcPct val="100000"/>
              </a:lnSpc>
              <a:spcBef>
                <a:spcPts val="0"/>
              </a:spcBef>
              <a:spcAft>
                <a:spcPts val="0"/>
              </a:spcAft>
              <a:buClr>
                <a:srgbClr val="FDBA13"/>
              </a:buClr>
              <a:buSzTx/>
              <a:tabLst/>
              <a:defRPr/>
            </a:pPr>
            <a:r>
              <a:rPr lang="en-GB" sz="2000" spc="-5">
                <a:solidFill>
                  <a:srgbClr val="231F20"/>
                </a:solidFill>
                <a:latin typeface="Arial"/>
                <a:cs typeface="Arial"/>
              </a:rPr>
              <a:t>Donec </a:t>
            </a:r>
            <a:r>
              <a:rPr lang="en-GB" sz="2000" spc="-5" err="1">
                <a:solidFill>
                  <a:srgbClr val="231F20"/>
                </a:solidFill>
                <a:latin typeface="Arial"/>
                <a:cs typeface="Arial"/>
              </a:rPr>
              <a:t>ut</a:t>
            </a:r>
            <a:r>
              <a:rPr lang="en-GB" sz="2000" spc="-5">
                <a:solidFill>
                  <a:srgbClr val="231F20"/>
                </a:solidFill>
                <a:latin typeface="Arial"/>
                <a:cs typeface="Arial"/>
              </a:rPr>
              <a:t> </a:t>
            </a:r>
            <a:r>
              <a:rPr lang="en-GB" sz="2000" spc="-5" err="1">
                <a:solidFill>
                  <a:srgbClr val="231F20"/>
                </a:solidFill>
                <a:latin typeface="Arial"/>
                <a:cs typeface="Arial"/>
              </a:rPr>
              <a:t>suscipit</a:t>
            </a:r>
            <a:r>
              <a:rPr lang="en-GB" sz="2000" spc="-5">
                <a:solidFill>
                  <a:srgbClr val="231F20"/>
                </a:solidFill>
                <a:latin typeface="Arial"/>
                <a:cs typeface="Arial"/>
              </a:rPr>
              <a:t> </a:t>
            </a:r>
            <a:r>
              <a:rPr lang="en-GB" sz="2000" spc="-5" err="1">
                <a:solidFill>
                  <a:srgbClr val="231F20"/>
                </a:solidFill>
                <a:latin typeface="Arial"/>
                <a:cs typeface="Arial"/>
              </a:rPr>
              <a:t>dolor</a:t>
            </a:r>
            <a:r>
              <a:rPr lang="en-GB" sz="2000" spc="-5">
                <a:solidFill>
                  <a:srgbClr val="231F20"/>
                </a:solidFill>
                <a:latin typeface="Arial"/>
                <a:cs typeface="Arial"/>
              </a:rPr>
              <a:t>, vitae </a:t>
            </a:r>
            <a:r>
              <a:rPr lang="en-GB" sz="2000" spc="-5" err="1">
                <a:solidFill>
                  <a:srgbClr val="231F20"/>
                </a:solidFill>
                <a:latin typeface="Arial"/>
                <a:cs typeface="Arial"/>
              </a:rPr>
              <a:t>sollicitudin</a:t>
            </a:r>
            <a:r>
              <a:rPr lang="en-GB" sz="2000" spc="-5">
                <a:solidFill>
                  <a:srgbClr val="231F20"/>
                </a:solidFill>
                <a:latin typeface="Arial"/>
                <a:cs typeface="Arial"/>
              </a:rPr>
              <a:t> sem. </a:t>
            </a:r>
            <a:r>
              <a:rPr lang="en-GB" sz="2000" spc="-5" err="1">
                <a:solidFill>
                  <a:srgbClr val="231F20"/>
                </a:solidFill>
                <a:latin typeface="Arial"/>
                <a:cs typeface="Arial"/>
              </a:rPr>
              <a:t>Sed</a:t>
            </a:r>
            <a:r>
              <a:rPr lang="en-GB" sz="2000" spc="-5">
                <a:solidFill>
                  <a:srgbClr val="231F20"/>
                </a:solidFill>
                <a:latin typeface="Arial"/>
                <a:cs typeface="Arial"/>
              </a:rPr>
              <a:t> </a:t>
            </a:r>
            <a:r>
              <a:rPr lang="en-GB" sz="2000" spc="-5" err="1">
                <a:solidFill>
                  <a:srgbClr val="231F20"/>
                </a:solidFill>
                <a:latin typeface="Arial"/>
                <a:cs typeface="Arial"/>
              </a:rPr>
              <a:t>eget</a:t>
            </a:r>
            <a:r>
              <a:rPr lang="en-GB" sz="2000" spc="-5">
                <a:solidFill>
                  <a:srgbClr val="231F20"/>
                </a:solidFill>
                <a:latin typeface="Arial"/>
                <a:cs typeface="Arial"/>
              </a:rPr>
              <a:t> cursus </a:t>
            </a:r>
            <a:r>
              <a:rPr lang="en-GB" sz="2000" spc="-5" err="1">
                <a:solidFill>
                  <a:srgbClr val="231F20"/>
                </a:solidFill>
                <a:latin typeface="Arial"/>
                <a:cs typeface="Arial"/>
              </a:rPr>
              <a:t>nulla</a:t>
            </a:r>
            <a:r>
              <a:rPr lang="en-GB" sz="2000" spc="-5">
                <a:solidFill>
                  <a:srgbClr val="231F20"/>
                </a:solidFill>
                <a:latin typeface="Arial"/>
                <a:cs typeface="Arial"/>
              </a:rPr>
              <a:t>, </a:t>
            </a:r>
            <a:r>
              <a:rPr lang="en-GB" sz="2000" spc="-5" err="1">
                <a:solidFill>
                  <a:srgbClr val="231F20"/>
                </a:solidFill>
                <a:latin typeface="Arial"/>
                <a:cs typeface="Arial"/>
              </a:rPr>
              <a:t>nec</a:t>
            </a:r>
            <a:r>
              <a:rPr lang="en-GB" sz="2000" spc="-5">
                <a:solidFill>
                  <a:srgbClr val="231F20"/>
                </a:solidFill>
                <a:latin typeface="Arial"/>
                <a:cs typeface="Arial"/>
              </a:rPr>
              <a:t> </a:t>
            </a:r>
            <a:r>
              <a:rPr lang="en-GB" sz="2000" spc="-5" err="1">
                <a:solidFill>
                  <a:srgbClr val="231F20"/>
                </a:solidFill>
                <a:latin typeface="Arial"/>
                <a:cs typeface="Arial"/>
              </a:rPr>
              <a:t>consequat</a:t>
            </a:r>
            <a:r>
              <a:rPr lang="en-GB" sz="2000" spc="-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12700" marR="5080">
              <a:lnSpc>
                <a:spcPct val="100000"/>
              </a:lnSpc>
            </a:pPr>
            <a:endParaRPr lang="en-GB" sz="2000" spc="-5">
              <a:solidFill>
                <a:srgbClr val="231F20"/>
              </a:solidFill>
              <a:latin typeface="Arial"/>
              <a:cs typeface="Arial"/>
            </a:endParaRPr>
          </a:p>
        </p:txBody>
      </p:sp>
      <p:sp>
        <p:nvSpPr>
          <p:cNvPr id="10" name="object 4">
            <a:extLst>
              <a:ext uri="{FF2B5EF4-FFF2-40B4-BE49-F238E27FC236}">
                <a16:creationId xmlns:a16="http://schemas.microsoft.com/office/drawing/2014/main" id="{0A30B750-42BF-FF4D-AB6F-E41F3BC02A90}"/>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12" name="Picture 11">
            <a:extLst>
              <a:ext uri="{FF2B5EF4-FFF2-40B4-BE49-F238E27FC236}">
                <a16:creationId xmlns:a16="http://schemas.microsoft.com/office/drawing/2014/main" id="{C908B0D0-73CA-6441-BC67-8241C0EC4EA4}"/>
              </a:ext>
            </a:extLst>
          </p:cNvPr>
          <p:cNvPicPr>
            <a:picLocks noChangeAspect="1"/>
          </p:cNvPicPr>
          <p:nvPr userDrawn="1"/>
        </p:nvPicPr>
        <p:blipFill>
          <a:blip r:embed="rId2"/>
          <a:stretch>
            <a:fillRect/>
          </a:stretch>
        </p:blipFill>
        <p:spPr>
          <a:xfrm>
            <a:off x="9815421" y="424767"/>
            <a:ext cx="1801776" cy="553129"/>
          </a:xfrm>
          <a:prstGeom prst="rect">
            <a:avLst/>
          </a:prstGeom>
        </p:spPr>
      </p:pic>
      <p:sp>
        <p:nvSpPr>
          <p:cNvPr id="13" name="Text Placeholder 14">
            <a:extLst>
              <a:ext uri="{FF2B5EF4-FFF2-40B4-BE49-F238E27FC236}">
                <a16:creationId xmlns:a16="http://schemas.microsoft.com/office/drawing/2014/main" id="{B257E25B-CC3A-1B41-9B97-EAFA50DA9770}"/>
              </a:ext>
            </a:extLst>
          </p:cNvPr>
          <p:cNvSpPr>
            <a:spLocks noGrp="1"/>
          </p:cNvSpPr>
          <p:nvPr>
            <p:ph type="body" sz="quarter" idx="10" hasCustomPrompt="1"/>
          </p:nvPr>
        </p:nvSpPr>
        <p:spPr>
          <a:xfrm>
            <a:off x="533400" y="219670"/>
            <a:ext cx="5562600" cy="923330"/>
          </a:xfrm>
        </p:spPr>
        <p:txBody>
          <a:bodyPr/>
          <a:lstStyle>
            <a:lvl1pPr>
              <a:defRPr sz="6000" b="1" baseline="0">
                <a:solidFill>
                  <a:srgbClr val="FDBA13"/>
                </a:solidFill>
                <a:latin typeface="Arial" panose="020B0604020202020204" pitchFamily="34" charset="0"/>
                <a:cs typeface="Arial" panose="020B0604020202020204" pitchFamily="34" charset="0"/>
              </a:defRPr>
            </a:lvl1pPr>
          </a:lstStyle>
          <a:p>
            <a:pPr lvl="0"/>
            <a:r>
              <a:rPr lang="en-GB"/>
              <a:t>Header</a:t>
            </a:r>
            <a:endParaRPr lang="en-US"/>
          </a:p>
        </p:txBody>
      </p:sp>
    </p:spTree>
    <p:extLst>
      <p:ext uri="{BB962C8B-B14F-4D97-AF65-F5344CB8AC3E}">
        <p14:creationId xmlns:p14="http://schemas.microsoft.com/office/powerpoint/2010/main" val="2430717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S">
    <p:bg>
      <p:bgPr>
        <a:solidFill>
          <a:schemeClr val="bg1"/>
        </a:solidFill>
        <a:effectLst/>
      </p:bgPr>
    </p:bg>
    <p:spTree>
      <p:nvGrpSpPr>
        <p:cNvPr id="1" name=""/>
        <p:cNvGrpSpPr/>
        <p:nvPr/>
      </p:nvGrpSpPr>
      <p:grpSpPr>
        <a:xfrm>
          <a:off x="0" y="0"/>
          <a:ext cx="0" cy="0"/>
          <a:chOff x="0" y="0"/>
          <a:chExt cx="0" cy="0"/>
        </a:xfrm>
      </p:grpSpPr>
      <p:sp>
        <p:nvSpPr>
          <p:cNvPr id="10" name="object 3">
            <a:extLst>
              <a:ext uri="{FF2B5EF4-FFF2-40B4-BE49-F238E27FC236}">
                <a16:creationId xmlns:a16="http://schemas.microsoft.com/office/drawing/2014/main" id="{960FC9AD-7910-8743-81A8-EBA958370EDB}"/>
              </a:ext>
            </a:extLst>
          </p:cNvPr>
          <p:cNvSpPr/>
          <p:nvPr userDrawn="1"/>
        </p:nvSpPr>
        <p:spPr>
          <a:xfrm>
            <a:off x="1311503" y="2153308"/>
            <a:ext cx="4641215" cy="473075"/>
          </a:xfrm>
          <a:custGeom>
            <a:avLst/>
            <a:gdLst/>
            <a:ahLst/>
            <a:cxnLst/>
            <a:rect l="l" t="t" r="r" b="b"/>
            <a:pathLst>
              <a:path w="4641215" h="473075">
                <a:moveTo>
                  <a:pt x="4641087" y="0"/>
                </a:moveTo>
                <a:lnTo>
                  <a:pt x="0" y="0"/>
                </a:lnTo>
                <a:lnTo>
                  <a:pt x="0" y="472579"/>
                </a:lnTo>
                <a:lnTo>
                  <a:pt x="4641087" y="472579"/>
                </a:lnTo>
                <a:lnTo>
                  <a:pt x="4641087" y="0"/>
                </a:lnTo>
                <a:close/>
              </a:path>
            </a:pathLst>
          </a:custGeom>
          <a:solidFill>
            <a:srgbClr val="25408D"/>
          </a:solidFill>
        </p:spPr>
        <p:txBody>
          <a:bodyPr wrap="square" lIns="0" tIns="0" rIns="0" bIns="0" rtlCol="0"/>
          <a:lstStyle/>
          <a:p>
            <a:endParaRPr/>
          </a:p>
        </p:txBody>
      </p:sp>
      <p:sp>
        <p:nvSpPr>
          <p:cNvPr id="12" name="object 4">
            <a:extLst>
              <a:ext uri="{FF2B5EF4-FFF2-40B4-BE49-F238E27FC236}">
                <a16:creationId xmlns:a16="http://schemas.microsoft.com/office/drawing/2014/main" id="{DA685DF8-8924-ED43-8E28-E944088185A6}"/>
              </a:ext>
            </a:extLst>
          </p:cNvPr>
          <p:cNvSpPr/>
          <p:nvPr userDrawn="1"/>
        </p:nvSpPr>
        <p:spPr>
          <a:xfrm>
            <a:off x="6959079" y="2153308"/>
            <a:ext cx="4658360" cy="473075"/>
          </a:xfrm>
          <a:custGeom>
            <a:avLst/>
            <a:gdLst/>
            <a:ahLst/>
            <a:cxnLst/>
            <a:rect l="l" t="t" r="r" b="b"/>
            <a:pathLst>
              <a:path w="4658359" h="473075">
                <a:moveTo>
                  <a:pt x="4658118" y="0"/>
                </a:moveTo>
                <a:lnTo>
                  <a:pt x="0" y="0"/>
                </a:lnTo>
                <a:lnTo>
                  <a:pt x="0" y="472579"/>
                </a:lnTo>
                <a:lnTo>
                  <a:pt x="4658118" y="472579"/>
                </a:lnTo>
                <a:lnTo>
                  <a:pt x="4658118" y="0"/>
                </a:lnTo>
                <a:close/>
              </a:path>
            </a:pathLst>
          </a:custGeom>
          <a:solidFill>
            <a:srgbClr val="25408D"/>
          </a:solidFill>
        </p:spPr>
        <p:txBody>
          <a:bodyPr wrap="square" lIns="0" tIns="0" rIns="0" bIns="0" rtlCol="0"/>
          <a:lstStyle/>
          <a:p>
            <a:endParaRPr/>
          </a:p>
        </p:txBody>
      </p:sp>
      <p:sp>
        <p:nvSpPr>
          <p:cNvPr id="13" name="object 5">
            <a:extLst>
              <a:ext uri="{FF2B5EF4-FFF2-40B4-BE49-F238E27FC236}">
                <a16:creationId xmlns:a16="http://schemas.microsoft.com/office/drawing/2014/main" id="{E28742B9-AFD3-9546-9C5A-D9EF026370FF}"/>
              </a:ext>
            </a:extLst>
          </p:cNvPr>
          <p:cNvSpPr/>
          <p:nvPr userDrawn="1"/>
        </p:nvSpPr>
        <p:spPr>
          <a:xfrm>
            <a:off x="1311503" y="4503747"/>
            <a:ext cx="4641215" cy="473075"/>
          </a:xfrm>
          <a:custGeom>
            <a:avLst/>
            <a:gdLst/>
            <a:ahLst/>
            <a:cxnLst/>
            <a:rect l="l" t="t" r="r" b="b"/>
            <a:pathLst>
              <a:path w="4641215" h="473075">
                <a:moveTo>
                  <a:pt x="4641087" y="0"/>
                </a:moveTo>
                <a:lnTo>
                  <a:pt x="0" y="0"/>
                </a:lnTo>
                <a:lnTo>
                  <a:pt x="0" y="472579"/>
                </a:lnTo>
                <a:lnTo>
                  <a:pt x="4641087" y="472579"/>
                </a:lnTo>
                <a:lnTo>
                  <a:pt x="4641087" y="0"/>
                </a:lnTo>
                <a:close/>
              </a:path>
            </a:pathLst>
          </a:custGeom>
          <a:solidFill>
            <a:srgbClr val="25408D"/>
          </a:solidFill>
        </p:spPr>
        <p:txBody>
          <a:bodyPr wrap="square" lIns="0" tIns="0" rIns="0" bIns="0" rtlCol="0"/>
          <a:lstStyle/>
          <a:p>
            <a:endParaRPr/>
          </a:p>
        </p:txBody>
      </p:sp>
      <p:sp>
        <p:nvSpPr>
          <p:cNvPr id="14" name="object 7">
            <a:extLst>
              <a:ext uri="{FF2B5EF4-FFF2-40B4-BE49-F238E27FC236}">
                <a16:creationId xmlns:a16="http://schemas.microsoft.com/office/drawing/2014/main" id="{BD2FA597-EB5B-4D43-872B-304E902F9C79}"/>
              </a:ext>
            </a:extLst>
          </p:cNvPr>
          <p:cNvSpPr/>
          <p:nvPr userDrawn="1"/>
        </p:nvSpPr>
        <p:spPr>
          <a:xfrm>
            <a:off x="1311503" y="3334560"/>
            <a:ext cx="4641215" cy="473075"/>
          </a:xfrm>
          <a:custGeom>
            <a:avLst/>
            <a:gdLst/>
            <a:ahLst/>
            <a:cxnLst/>
            <a:rect l="l" t="t" r="r" b="b"/>
            <a:pathLst>
              <a:path w="4641215" h="473075">
                <a:moveTo>
                  <a:pt x="4641087" y="0"/>
                </a:moveTo>
                <a:lnTo>
                  <a:pt x="0" y="0"/>
                </a:lnTo>
                <a:lnTo>
                  <a:pt x="0" y="472579"/>
                </a:lnTo>
                <a:lnTo>
                  <a:pt x="4641087" y="472579"/>
                </a:lnTo>
                <a:lnTo>
                  <a:pt x="4641087" y="0"/>
                </a:lnTo>
                <a:close/>
              </a:path>
            </a:pathLst>
          </a:custGeom>
          <a:solidFill>
            <a:srgbClr val="25408D"/>
          </a:solidFill>
        </p:spPr>
        <p:txBody>
          <a:bodyPr wrap="square" lIns="0" tIns="0" rIns="0" bIns="0" rtlCol="0"/>
          <a:lstStyle/>
          <a:p>
            <a:endParaRPr/>
          </a:p>
        </p:txBody>
      </p:sp>
      <p:sp>
        <p:nvSpPr>
          <p:cNvPr id="17" name="object 8">
            <a:extLst>
              <a:ext uri="{FF2B5EF4-FFF2-40B4-BE49-F238E27FC236}">
                <a16:creationId xmlns:a16="http://schemas.microsoft.com/office/drawing/2014/main" id="{39C42EC1-3D8B-D04C-8FF4-F0A04B09D8A2}"/>
              </a:ext>
            </a:extLst>
          </p:cNvPr>
          <p:cNvSpPr/>
          <p:nvPr userDrawn="1"/>
        </p:nvSpPr>
        <p:spPr>
          <a:xfrm>
            <a:off x="6959079" y="3334560"/>
            <a:ext cx="4658360" cy="473075"/>
          </a:xfrm>
          <a:custGeom>
            <a:avLst/>
            <a:gdLst/>
            <a:ahLst/>
            <a:cxnLst/>
            <a:rect l="l" t="t" r="r" b="b"/>
            <a:pathLst>
              <a:path w="4658359" h="473075">
                <a:moveTo>
                  <a:pt x="4658118" y="0"/>
                </a:moveTo>
                <a:lnTo>
                  <a:pt x="0" y="0"/>
                </a:lnTo>
                <a:lnTo>
                  <a:pt x="0" y="472579"/>
                </a:lnTo>
                <a:lnTo>
                  <a:pt x="4658118" y="472579"/>
                </a:lnTo>
                <a:lnTo>
                  <a:pt x="4658118" y="0"/>
                </a:lnTo>
                <a:close/>
              </a:path>
            </a:pathLst>
          </a:custGeom>
          <a:solidFill>
            <a:srgbClr val="25408D"/>
          </a:solidFill>
        </p:spPr>
        <p:txBody>
          <a:bodyPr wrap="square" lIns="0" tIns="0" rIns="0" bIns="0" rtlCol="0"/>
          <a:lstStyle/>
          <a:p>
            <a:endParaRPr/>
          </a:p>
        </p:txBody>
      </p:sp>
      <p:sp>
        <p:nvSpPr>
          <p:cNvPr id="18" name="object 9">
            <a:extLst>
              <a:ext uri="{FF2B5EF4-FFF2-40B4-BE49-F238E27FC236}">
                <a16:creationId xmlns:a16="http://schemas.microsoft.com/office/drawing/2014/main" id="{DEE12DEA-7EC1-3C4C-A6B3-4C2E2CC12877}"/>
              </a:ext>
            </a:extLst>
          </p:cNvPr>
          <p:cNvSpPr/>
          <p:nvPr userDrawn="1"/>
        </p:nvSpPr>
        <p:spPr>
          <a:xfrm>
            <a:off x="1311503" y="5633885"/>
            <a:ext cx="4641215" cy="473075"/>
          </a:xfrm>
          <a:custGeom>
            <a:avLst/>
            <a:gdLst/>
            <a:ahLst/>
            <a:cxnLst/>
            <a:rect l="l" t="t" r="r" b="b"/>
            <a:pathLst>
              <a:path w="4641215" h="473075">
                <a:moveTo>
                  <a:pt x="4641087" y="0"/>
                </a:moveTo>
                <a:lnTo>
                  <a:pt x="0" y="0"/>
                </a:lnTo>
                <a:lnTo>
                  <a:pt x="0" y="472579"/>
                </a:lnTo>
                <a:lnTo>
                  <a:pt x="4641087" y="472579"/>
                </a:lnTo>
                <a:lnTo>
                  <a:pt x="4641087" y="0"/>
                </a:lnTo>
                <a:close/>
              </a:path>
            </a:pathLst>
          </a:custGeom>
          <a:solidFill>
            <a:srgbClr val="25408D"/>
          </a:solidFill>
        </p:spPr>
        <p:txBody>
          <a:bodyPr wrap="square" lIns="0" tIns="0" rIns="0" bIns="0" rtlCol="0"/>
          <a:lstStyle/>
          <a:p>
            <a:endParaRPr/>
          </a:p>
        </p:txBody>
      </p:sp>
      <p:sp>
        <p:nvSpPr>
          <p:cNvPr id="19" name="object 10">
            <a:extLst>
              <a:ext uri="{FF2B5EF4-FFF2-40B4-BE49-F238E27FC236}">
                <a16:creationId xmlns:a16="http://schemas.microsoft.com/office/drawing/2014/main" id="{112A1AAD-969A-A440-A26A-58E4FDCC424F}"/>
              </a:ext>
            </a:extLst>
          </p:cNvPr>
          <p:cNvSpPr/>
          <p:nvPr userDrawn="1"/>
        </p:nvSpPr>
        <p:spPr>
          <a:xfrm>
            <a:off x="6959079" y="5633885"/>
            <a:ext cx="4658360" cy="473075"/>
          </a:xfrm>
          <a:custGeom>
            <a:avLst/>
            <a:gdLst/>
            <a:ahLst/>
            <a:cxnLst/>
            <a:rect l="l" t="t" r="r" b="b"/>
            <a:pathLst>
              <a:path w="4658359" h="473075">
                <a:moveTo>
                  <a:pt x="4658118" y="0"/>
                </a:moveTo>
                <a:lnTo>
                  <a:pt x="0" y="0"/>
                </a:lnTo>
                <a:lnTo>
                  <a:pt x="0" y="472579"/>
                </a:lnTo>
                <a:lnTo>
                  <a:pt x="4658118" y="472579"/>
                </a:lnTo>
                <a:lnTo>
                  <a:pt x="4658118" y="0"/>
                </a:lnTo>
                <a:close/>
              </a:path>
            </a:pathLst>
          </a:custGeom>
          <a:solidFill>
            <a:srgbClr val="25408D"/>
          </a:solidFill>
        </p:spPr>
        <p:txBody>
          <a:bodyPr wrap="square" lIns="0" tIns="0" rIns="0" bIns="0" rtlCol="0"/>
          <a:lstStyle/>
          <a:p>
            <a:endParaRPr/>
          </a:p>
        </p:txBody>
      </p:sp>
      <p:sp>
        <p:nvSpPr>
          <p:cNvPr id="41" name="object 6">
            <a:extLst>
              <a:ext uri="{FF2B5EF4-FFF2-40B4-BE49-F238E27FC236}">
                <a16:creationId xmlns:a16="http://schemas.microsoft.com/office/drawing/2014/main" id="{A8F91473-624E-7442-B71A-4CB0B89B8F3D}"/>
              </a:ext>
            </a:extLst>
          </p:cNvPr>
          <p:cNvSpPr/>
          <p:nvPr userDrawn="1"/>
        </p:nvSpPr>
        <p:spPr>
          <a:xfrm>
            <a:off x="6959079" y="4503747"/>
            <a:ext cx="4658360" cy="473075"/>
          </a:xfrm>
          <a:custGeom>
            <a:avLst/>
            <a:gdLst/>
            <a:ahLst/>
            <a:cxnLst/>
            <a:rect l="l" t="t" r="r" b="b"/>
            <a:pathLst>
              <a:path w="4658359" h="473075">
                <a:moveTo>
                  <a:pt x="4658118" y="0"/>
                </a:moveTo>
                <a:lnTo>
                  <a:pt x="0" y="0"/>
                </a:lnTo>
                <a:lnTo>
                  <a:pt x="0" y="472579"/>
                </a:lnTo>
                <a:lnTo>
                  <a:pt x="4658118" y="472579"/>
                </a:lnTo>
                <a:lnTo>
                  <a:pt x="4658118" y="0"/>
                </a:lnTo>
                <a:close/>
              </a:path>
            </a:pathLst>
          </a:custGeom>
          <a:solidFill>
            <a:srgbClr val="25408D"/>
          </a:solidFill>
        </p:spPr>
        <p:txBody>
          <a:bodyPr wrap="square" lIns="0" tIns="0" rIns="0" bIns="0" rtlCol="0"/>
          <a:lstStyle/>
          <a:p>
            <a:endParaRPr/>
          </a:p>
        </p:txBody>
      </p:sp>
      <p:sp>
        <p:nvSpPr>
          <p:cNvPr id="47" name="object 17">
            <a:extLst>
              <a:ext uri="{FF2B5EF4-FFF2-40B4-BE49-F238E27FC236}">
                <a16:creationId xmlns:a16="http://schemas.microsoft.com/office/drawing/2014/main" id="{AF8A0B8F-4945-4349-AEEE-D808D1ABAAA0}"/>
              </a:ext>
            </a:extLst>
          </p:cNvPr>
          <p:cNvSpPr/>
          <p:nvPr userDrawn="1"/>
        </p:nvSpPr>
        <p:spPr>
          <a:xfrm>
            <a:off x="568396" y="1981200"/>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48" name="Text Placeholder 2">
            <a:extLst>
              <a:ext uri="{FF2B5EF4-FFF2-40B4-BE49-F238E27FC236}">
                <a16:creationId xmlns:a16="http://schemas.microsoft.com/office/drawing/2014/main" id="{1C5E7EFD-6ED2-AF47-AF4D-7EE7CD54FBAA}"/>
              </a:ext>
            </a:extLst>
          </p:cNvPr>
          <p:cNvSpPr>
            <a:spLocks noGrp="1"/>
          </p:cNvSpPr>
          <p:nvPr>
            <p:ph type="body" sz="quarter" idx="12" hasCustomPrompt="1"/>
          </p:nvPr>
        </p:nvSpPr>
        <p:spPr>
          <a:xfrm>
            <a:off x="522676" y="2150409"/>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01</a:t>
            </a:r>
            <a:endParaRPr lang="en-US"/>
          </a:p>
        </p:txBody>
      </p:sp>
      <p:sp>
        <p:nvSpPr>
          <p:cNvPr id="51" name="object 17">
            <a:extLst>
              <a:ext uri="{FF2B5EF4-FFF2-40B4-BE49-F238E27FC236}">
                <a16:creationId xmlns:a16="http://schemas.microsoft.com/office/drawing/2014/main" id="{EEDFC4BB-EE81-5842-891A-567CF4465459}"/>
              </a:ext>
            </a:extLst>
          </p:cNvPr>
          <p:cNvSpPr/>
          <p:nvPr userDrawn="1"/>
        </p:nvSpPr>
        <p:spPr>
          <a:xfrm>
            <a:off x="568396" y="3147906"/>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52" name="Text Placeholder 2">
            <a:extLst>
              <a:ext uri="{FF2B5EF4-FFF2-40B4-BE49-F238E27FC236}">
                <a16:creationId xmlns:a16="http://schemas.microsoft.com/office/drawing/2014/main" id="{BA3FFFEB-07B7-9642-8573-8D1C96B0234D}"/>
              </a:ext>
            </a:extLst>
          </p:cNvPr>
          <p:cNvSpPr>
            <a:spLocks noGrp="1"/>
          </p:cNvSpPr>
          <p:nvPr>
            <p:ph type="body" sz="quarter" idx="13" hasCustomPrompt="1"/>
          </p:nvPr>
        </p:nvSpPr>
        <p:spPr>
          <a:xfrm>
            <a:off x="522676" y="3317115"/>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02</a:t>
            </a:r>
            <a:endParaRPr lang="en-US"/>
          </a:p>
        </p:txBody>
      </p:sp>
      <p:sp>
        <p:nvSpPr>
          <p:cNvPr id="53" name="object 17">
            <a:extLst>
              <a:ext uri="{FF2B5EF4-FFF2-40B4-BE49-F238E27FC236}">
                <a16:creationId xmlns:a16="http://schemas.microsoft.com/office/drawing/2014/main" id="{185B463A-D151-9D4D-9EA4-0580C5809736}"/>
              </a:ext>
            </a:extLst>
          </p:cNvPr>
          <p:cNvSpPr/>
          <p:nvPr userDrawn="1"/>
        </p:nvSpPr>
        <p:spPr>
          <a:xfrm>
            <a:off x="568396" y="4312130"/>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54" name="Text Placeholder 2">
            <a:extLst>
              <a:ext uri="{FF2B5EF4-FFF2-40B4-BE49-F238E27FC236}">
                <a16:creationId xmlns:a16="http://schemas.microsoft.com/office/drawing/2014/main" id="{B3C02F17-611A-BB40-8C9E-41278C003124}"/>
              </a:ext>
            </a:extLst>
          </p:cNvPr>
          <p:cNvSpPr>
            <a:spLocks noGrp="1"/>
          </p:cNvSpPr>
          <p:nvPr>
            <p:ph type="body" sz="quarter" idx="14" hasCustomPrompt="1"/>
          </p:nvPr>
        </p:nvSpPr>
        <p:spPr>
          <a:xfrm>
            <a:off x="522676" y="4481339"/>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03</a:t>
            </a:r>
            <a:endParaRPr lang="en-US"/>
          </a:p>
        </p:txBody>
      </p:sp>
      <p:sp>
        <p:nvSpPr>
          <p:cNvPr id="55" name="object 17">
            <a:extLst>
              <a:ext uri="{FF2B5EF4-FFF2-40B4-BE49-F238E27FC236}">
                <a16:creationId xmlns:a16="http://schemas.microsoft.com/office/drawing/2014/main" id="{9A36F3D8-5A74-4346-97CA-25AD14701876}"/>
              </a:ext>
            </a:extLst>
          </p:cNvPr>
          <p:cNvSpPr/>
          <p:nvPr userDrawn="1"/>
        </p:nvSpPr>
        <p:spPr>
          <a:xfrm>
            <a:off x="568396" y="5461493"/>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56" name="Text Placeholder 2">
            <a:extLst>
              <a:ext uri="{FF2B5EF4-FFF2-40B4-BE49-F238E27FC236}">
                <a16:creationId xmlns:a16="http://schemas.microsoft.com/office/drawing/2014/main" id="{48D914B5-B6B8-6C42-B5FE-5154EAFCD577}"/>
              </a:ext>
            </a:extLst>
          </p:cNvPr>
          <p:cNvSpPr>
            <a:spLocks noGrp="1"/>
          </p:cNvSpPr>
          <p:nvPr>
            <p:ph type="body" sz="quarter" idx="15" hasCustomPrompt="1"/>
          </p:nvPr>
        </p:nvSpPr>
        <p:spPr>
          <a:xfrm>
            <a:off x="522676" y="5630702"/>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04</a:t>
            </a:r>
            <a:endParaRPr lang="en-US"/>
          </a:p>
        </p:txBody>
      </p:sp>
      <p:sp>
        <p:nvSpPr>
          <p:cNvPr id="65" name="object 17">
            <a:extLst>
              <a:ext uri="{FF2B5EF4-FFF2-40B4-BE49-F238E27FC236}">
                <a16:creationId xmlns:a16="http://schemas.microsoft.com/office/drawing/2014/main" id="{124734BE-8E85-0C4A-A9C3-5C30D151A195}"/>
              </a:ext>
            </a:extLst>
          </p:cNvPr>
          <p:cNvSpPr/>
          <p:nvPr userDrawn="1"/>
        </p:nvSpPr>
        <p:spPr>
          <a:xfrm>
            <a:off x="6237676" y="1990357"/>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66" name="Text Placeholder 2">
            <a:extLst>
              <a:ext uri="{FF2B5EF4-FFF2-40B4-BE49-F238E27FC236}">
                <a16:creationId xmlns:a16="http://schemas.microsoft.com/office/drawing/2014/main" id="{640ADF69-D899-2C43-9A90-8741851A3DE3}"/>
              </a:ext>
            </a:extLst>
          </p:cNvPr>
          <p:cNvSpPr>
            <a:spLocks noGrp="1"/>
          </p:cNvSpPr>
          <p:nvPr>
            <p:ph type="body" sz="quarter" idx="16" hasCustomPrompt="1"/>
          </p:nvPr>
        </p:nvSpPr>
        <p:spPr>
          <a:xfrm>
            <a:off x="6191956" y="2159566"/>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05</a:t>
            </a:r>
            <a:endParaRPr lang="en-US"/>
          </a:p>
        </p:txBody>
      </p:sp>
      <p:sp>
        <p:nvSpPr>
          <p:cNvPr id="67" name="object 17">
            <a:extLst>
              <a:ext uri="{FF2B5EF4-FFF2-40B4-BE49-F238E27FC236}">
                <a16:creationId xmlns:a16="http://schemas.microsoft.com/office/drawing/2014/main" id="{930131F0-6C47-5A4A-9583-7D8CA4B72483}"/>
              </a:ext>
            </a:extLst>
          </p:cNvPr>
          <p:cNvSpPr/>
          <p:nvPr userDrawn="1"/>
        </p:nvSpPr>
        <p:spPr>
          <a:xfrm>
            <a:off x="6237676" y="3157063"/>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68" name="Text Placeholder 2">
            <a:extLst>
              <a:ext uri="{FF2B5EF4-FFF2-40B4-BE49-F238E27FC236}">
                <a16:creationId xmlns:a16="http://schemas.microsoft.com/office/drawing/2014/main" id="{0A3C8333-6CAE-0F42-A0C0-BA10D92836CA}"/>
              </a:ext>
            </a:extLst>
          </p:cNvPr>
          <p:cNvSpPr>
            <a:spLocks noGrp="1"/>
          </p:cNvSpPr>
          <p:nvPr>
            <p:ph type="body" sz="quarter" idx="17" hasCustomPrompt="1"/>
          </p:nvPr>
        </p:nvSpPr>
        <p:spPr>
          <a:xfrm>
            <a:off x="6191956" y="3326272"/>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06</a:t>
            </a:r>
            <a:endParaRPr lang="en-US"/>
          </a:p>
        </p:txBody>
      </p:sp>
      <p:sp>
        <p:nvSpPr>
          <p:cNvPr id="69" name="object 17">
            <a:extLst>
              <a:ext uri="{FF2B5EF4-FFF2-40B4-BE49-F238E27FC236}">
                <a16:creationId xmlns:a16="http://schemas.microsoft.com/office/drawing/2014/main" id="{02712926-CB6C-8248-B2E4-AA2E3C6260EB}"/>
              </a:ext>
            </a:extLst>
          </p:cNvPr>
          <p:cNvSpPr/>
          <p:nvPr userDrawn="1"/>
        </p:nvSpPr>
        <p:spPr>
          <a:xfrm>
            <a:off x="6237676" y="4309648"/>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70" name="Text Placeholder 2">
            <a:extLst>
              <a:ext uri="{FF2B5EF4-FFF2-40B4-BE49-F238E27FC236}">
                <a16:creationId xmlns:a16="http://schemas.microsoft.com/office/drawing/2014/main" id="{F5582053-EE49-BB4C-A8C4-FB472EA30EA8}"/>
              </a:ext>
            </a:extLst>
          </p:cNvPr>
          <p:cNvSpPr>
            <a:spLocks noGrp="1"/>
          </p:cNvSpPr>
          <p:nvPr>
            <p:ph type="body" sz="quarter" idx="18" hasCustomPrompt="1"/>
          </p:nvPr>
        </p:nvSpPr>
        <p:spPr>
          <a:xfrm>
            <a:off x="6191956" y="4492978"/>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07</a:t>
            </a:r>
            <a:endParaRPr lang="en-US"/>
          </a:p>
        </p:txBody>
      </p:sp>
      <p:sp>
        <p:nvSpPr>
          <p:cNvPr id="71" name="object 17">
            <a:extLst>
              <a:ext uri="{FF2B5EF4-FFF2-40B4-BE49-F238E27FC236}">
                <a16:creationId xmlns:a16="http://schemas.microsoft.com/office/drawing/2014/main" id="{DB950829-8155-7C4A-814E-022B44884A74}"/>
              </a:ext>
            </a:extLst>
          </p:cNvPr>
          <p:cNvSpPr/>
          <p:nvPr userDrawn="1"/>
        </p:nvSpPr>
        <p:spPr>
          <a:xfrm>
            <a:off x="6237676" y="5461493"/>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72" name="Text Placeholder 2">
            <a:extLst>
              <a:ext uri="{FF2B5EF4-FFF2-40B4-BE49-F238E27FC236}">
                <a16:creationId xmlns:a16="http://schemas.microsoft.com/office/drawing/2014/main" id="{A854C96B-7FCE-5048-8682-21610E74FA2E}"/>
              </a:ext>
            </a:extLst>
          </p:cNvPr>
          <p:cNvSpPr>
            <a:spLocks noGrp="1"/>
          </p:cNvSpPr>
          <p:nvPr>
            <p:ph type="body" sz="quarter" idx="19" hasCustomPrompt="1"/>
          </p:nvPr>
        </p:nvSpPr>
        <p:spPr>
          <a:xfrm>
            <a:off x="6191956" y="5630702"/>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08</a:t>
            </a:r>
            <a:endParaRPr lang="en-US"/>
          </a:p>
        </p:txBody>
      </p:sp>
      <p:sp>
        <p:nvSpPr>
          <p:cNvPr id="74" name="Text Placeholder 2">
            <a:extLst>
              <a:ext uri="{FF2B5EF4-FFF2-40B4-BE49-F238E27FC236}">
                <a16:creationId xmlns:a16="http://schemas.microsoft.com/office/drawing/2014/main" id="{17338358-2637-4F40-B17E-16CE627EF048}"/>
              </a:ext>
            </a:extLst>
          </p:cNvPr>
          <p:cNvSpPr>
            <a:spLocks noGrp="1"/>
          </p:cNvSpPr>
          <p:nvPr>
            <p:ph type="body" sz="quarter" idx="20" hasCustomPrompt="1"/>
          </p:nvPr>
        </p:nvSpPr>
        <p:spPr>
          <a:xfrm>
            <a:off x="1578655" y="2248647"/>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75" name="Text Placeholder 2">
            <a:extLst>
              <a:ext uri="{FF2B5EF4-FFF2-40B4-BE49-F238E27FC236}">
                <a16:creationId xmlns:a16="http://schemas.microsoft.com/office/drawing/2014/main" id="{B435CC68-4CCA-8E48-8352-69AEE946461A}"/>
              </a:ext>
            </a:extLst>
          </p:cNvPr>
          <p:cNvSpPr>
            <a:spLocks noGrp="1"/>
          </p:cNvSpPr>
          <p:nvPr>
            <p:ph type="body" sz="quarter" idx="21" hasCustomPrompt="1"/>
          </p:nvPr>
        </p:nvSpPr>
        <p:spPr>
          <a:xfrm>
            <a:off x="1578655" y="3415354"/>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76" name="Text Placeholder 2">
            <a:extLst>
              <a:ext uri="{FF2B5EF4-FFF2-40B4-BE49-F238E27FC236}">
                <a16:creationId xmlns:a16="http://schemas.microsoft.com/office/drawing/2014/main" id="{FFD479F7-74E2-2C46-A1CD-0BD117AED980}"/>
              </a:ext>
            </a:extLst>
          </p:cNvPr>
          <p:cNvSpPr>
            <a:spLocks noGrp="1"/>
          </p:cNvSpPr>
          <p:nvPr>
            <p:ph type="body" sz="quarter" idx="22" hasCustomPrompt="1"/>
          </p:nvPr>
        </p:nvSpPr>
        <p:spPr>
          <a:xfrm>
            <a:off x="1578655" y="4595607"/>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77" name="Text Placeholder 2">
            <a:extLst>
              <a:ext uri="{FF2B5EF4-FFF2-40B4-BE49-F238E27FC236}">
                <a16:creationId xmlns:a16="http://schemas.microsoft.com/office/drawing/2014/main" id="{0FF4259C-63E8-0C4A-80D2-B3CD0132F6D6}"/>
              </a:ext>
            </a:extLst>
          </p:cNvPr>
          <p:cNvSpPr>
            <a:spLocks noGrp="1"/>
          </p:cNvSpPr>
          <p:nvPr>
            <p:ph type="body" sz="quarter" idx="23" hasCustomPrompt="1"/>
          </p:nvPr>
        </p:nvSpPr>
        <p:spPr>
          <a:xfrm>
            <a:off x="1578655" y="5742451"/>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82" name="Text Placeholder 2">
            <a:extLst>
              <a:ext uri="{FF2B5EF4-FFF2-40B4-BE49-F238E27FC236}">
                <a16:creationId xmlns:a16="http://schemas.microsoft.com/office/drawing/2014/main" id="{AFCE00A5-7058-9C4D-B14D-FDE32BDBA044}"/>
              </a:ext>
            </a:extLst>
          </p:cNvPr>
          <p:cNvSpPr>
            <a:spLocks noGrp="1"/>
          </p:cNvSpPr>
          <p:nvPr>
            <p:ph type="body" sz="quarter" idx="24" hasCustomPrompt="1"/>
          </p:nvPr>
        </p:nvSpPr>
        <p:spPr>
          <a:xfrm>
            <a:off x="7193748" y="2234526"/>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83" name="Text Placeholder 2">
            <a:extLst>
              <a:ext uri="{FF2B5EF4-FFF2-40B4-BE49-F238E27FC236}">
                <a16:creationId xmlns:a16="http://schemas.microsoft.com/office/drawing/2014/main" id="{BB212FAD-928F-AE48-90B8-764BCBFBA485}"/>
              </a:ext>
            </a:extLst>
          </p:cNvPr>
          <p:cNvSpPr>
            <a:spLocks noGrp="1"/>
          </p:cNvSpPr>
          <p:nvPr>
            <p:ph type="body" sz="quarter" idx="25" hasCustomPrompt="1"/>
          </p:nvPr>
        </p:nvSpPr>
        <p:spPr>
          <a:xfrm>
            <a:off x="7193748" y="3401233"/>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84" name="Text Placeholder 2">
            <a:extLst>
              <a:ext uri="{FF2B5EF4-FFF2-40B4-BE49-F238E27FC236}">
                <a16:creationId xmlns:a16="http://schemas.microsoft.com/office/drawing/2014/main" id="{84540E62-23A8-9146-ADE1-EBEF6532B062}"/>
              </a:ext>
            </a:extLst>
          </p:cNvPr>
          <p:cNvSpPr>
            <a:spLocks noGrp="1"/>
          </p:cNvSpPr>
          <p:nvPr>
            <p:ph type="body" sz="quarter" idx="26" hasCustomPrompt="1"/>
          </p:nvPr>
        </p:nvSpPr>
        <p:spPr>
          <a:xfrm>
            <a:off x="7193748" y="4581486"/>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85" name="Text Placeholder 2">
            <a:extLst>
              <a:ext uri="{FF2B5EF4-FFF2-40B4-BE49-F238E27FC236}">
                <a16:creationId xmlns:a16="http://schemas.microsoft.com/office/drawing/2014/main" id="{1C53A4AE-C416-4442-B6D4-D0A54E97F665}"/>
              </a:ext>
            </a:extLst>
          </p:cNvPr>
          <p:cNvSpPr>
            <a:spLocks noGrp="1"/>
          </p:cNvSpPr>
          <p:nvPr>
            <p:ph type="body" sz="quarter" idx="27" hasCustomPrompt="1"/>
          </p:nvPr>
        </p:nvSpPr>
        <p:spPr>
          <a:xfrm>
            <a:off x="7193748" y="5742451"/>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38" name="object 4">
            <a:extLst>
              <a:ext uri="{FF2B5EF4-FFF2-40B4-BE49-F238E27FC236}">
                <a16:creationId xmlns:a16="http://schemas.microsoft.com/office/drawing/2014/main" id="{F06D9F0C-C8DC-3146-B5BD-4804081AB093}"/>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39" name="Picture 38">
            <a:extLst>
              <a:ext uri="{FF2B5EF4-FFF2-40B4-BE49-F238E27FC236}">
                <a16:creationId xmlns:a16="http://schemas.microsoft.com/office/drawing/2014/main" id="{512059AF-015C-4F4D-8003-829F6993C829}"/>
              </a:ext>
            </a:extLst>
          </p:cNvPr>
          <p:cNvPicPr>
            <a:picLocks noChangeAspect="1"/>
          </p:cNvPicPr>
          <p:nvPr userDrawn="1"/>
        </p:nvPicPr>
        <p:blipFill>
          <a:blip r:embed="rId2"/>
          <a:stretch>
            <a:fillRect/>
          </a:stretch>
        </p:blipFill>
        <p:spPr>
          <a:xfrm>
            <a:off x="9815421" y="424767"/>
            <a:ext cx="1801776" cy="553129"/>
          </a:xfrm>
          <a:prstGeom prst="rect">
            <a:avLst/>
          </a:prstGeom>
        </p:spPr>
      </p:pic>
      <p:sp>
        <p:nvSpPr>
          <p:cNvPr id="40" name="Text Placeholder 14">
            <a:extLst>
              <a:ext uri="{FF2B5EF4-FFF2-40B4-BE49-F238E27FC236}">
                <a16:creationId xmlns:a16="http://schemas.microsoft.com/office/drawing/2014/main" id="{08AC4639-2DD2-FE49-AADD-EED8D4A5974D}"/>
              </a:ext>
            </a:extLst>
          </p:cNvPr>
          <p:cNvSpPr>
            <a:spLocks noGrp="1"/>
          </p:cNvSpPr>
          <p:nvPr>
            <p:ph type="body" sz="quarter" idx="10" hasCustomPrompt="1"/>
          </p:nvPr>
        </p:nvSpPr>
        <p:spPr>
          <a:xfrm>
            <a:off x="533400" y="219670"/>
            <a:ext cx="5562600" cy="923330"/>
          </a:xfrm>
        </p:spPr>
        <p:txBody>
          <a:bodyPr/>
          <a:lstStyle>
            <a:lvl1pPr>
              <a:defRPr sz="6000" b="1" baseline="0">
                <a:solidFill>
                  <a:srgbClr val="FDBA13"/>
                </a:solidFill>
                <a:latin typeface="Arial" panose="020B0604020202020204" pitchFamily="34" charset="0"/>
                <a:cs typeface="Arial" panose="020B0604020202020204" pitchFamily="34" charset="0"/>
              </a:defRPr>
            </a:lvl1pPr>
          </a:lstStyle>
          <a:p>
            <a:pPr lvl="0"/>
            <a:r>
              <a:rPr lang="en-GB"/>
              <a:t>Header</a:t>
            </a:r>
            <a:endParaRPr lang="en-US"/>
          </a:p>
        </p:txBody>
      </p:sp>
    </p:spTree>
    <p:extLst>
      <p:ext uri="{BB962C8B-B14F-4D97-AF65-F5344CB8AC3E}">
        <p14:creationId xmlns:p14="http://schemas.microsoft.com/office/powerpoint/2010/main" val="1822914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XT FULL WIDTH">
    <p:bg>
      <p:bgPr>
        <a:solidFill>
          <a:schemeClr val="bg1"/>
        </a:solidFill>
        <a:effectLst/>
      </p:bgPr>
    </p:bg>
    <p:spTree>
      <p:nvGrpSpPr>
        <p:cNvPr id="1" name=""/>
        <p:cNvGrpSpPr/>
        <p:nvPr/>
      </p:nvGrpSpPr>
      <p:grpSpPr>
        <a:xfrm>
          <a:off x="0" y="0"/>
          <a:ext cx="0" cy="0"/>
          <a:chOff x="0" y="0"/>
          <a:chExt cx="0" cy="0"/>
        </a:xfrm>
      </p:grpSpPr>
      <p:sp>
        <p:nvSpPr>
          <p:cNvPr id="5" name="object 4">
            <a:extLst>
              <a:ext uri="{FF2B5EF4-FFF2-40B4-BE49-F238E27FC236}">
                <a16:creationId xmlns:a16="http://schemas.microsoft.com/office/drawing/2014/main" id="{C1F0E6C2-2EE5-D841-B127-9502BB69D97F}"/>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7" name="Picture 6">
            <a:extLst>
              <a:ext uri="{FF2B5EF4-FFF2-40B4-BE49-F238E27FC236}">
                <a16:creationId xmlns:a16="http://schemas.microsoft.com/office/drawing/2014/main" id="{02EE7552-CF1D-3046-90BC-DA62E4CFA17F}"/>
              </a:ext>
            </a:extLst>
          </p:cNvPr>
          <p:cNvPicPr>
            <a:picLocks noChangeAspect="1"/>
          </p:cNvPicPr>
          <p:nvPr userDrawn="1"/>
        </p:nvPicPr>
        <p:blipFill>
          <a:blip r:embed="rId2"/>
          <a:stretch>
            <a:fillRect/>
          </a:stretch>
        </p:blipFill>
        <p:spPr>
          <a:xfrm>
            <a:off x="9815421" y="424767"/>
            <a:ext cx="1801776" cy="553129"/>
          </a:xfrm>
          <a:prstGeom prst="rect">
            <a:avLst/>
          </a:prstGeom>
        </p:spPr>
      </p:pic>
      <p:sp>
        <p:nvSpPr>
          <p:cNvPr id="11" name="Text Placeholder 14">
            <a:extLst>
              <a:ext uri="{FF2B5EF4-FFF2-40B4-BE49-F238E27FC236}">
                <a16:creationId xmlns:a16="http://schemas.microsoft.com/office/drawing/2014/main" id="{6502E452-DD04-A942-B9C7-FB3B968F6231}"/>
              </a:ext>
            </a:extLst>
          </p:cNvPr>
          <p:cNvSpPr>
            <a:spLocks noGrp="1"/>
          </p:cNvSpPr>
          <p:nvPr>
            <p:ph type="body" sz="quarter" idx="10" hasCustomPrompt="1"/>
          </p:nvPr>
        </p:nvSpPr>
        <p:spPr>
          <a:xfrm>
            <a:off x="533400" y="219670"/>
            <a:ext cx="5562600" cy="923330"/>
          </a:xfrm>
        </p:spPr>
        <p:txBody>
          <a:bodyPr/>
          <a:lstStyle>
            <a:lvl1pPr>
              <a:defRPr sz="6000" b="1" baseline="0">
                <a:solidFill>
                  <a:srgbClr val="FDBA13"/>
                </a:solidFill>
                <a:latin typeface="Arial" panose="020B0604020202020204" pitchFamily="34" charset="0"/>
                <a:cs typeface="Arial" panose="020B0604020202020204" pitchFamily="34" charset="0"/>
              </a:defRPr>
            </a:lvl1pPr>
          </a:lstStyle>
          <a:p>
            <a:pPr lvl="0"/>
            <a:r>
              <a:rPr lang="en-GB"/>
              <a:t>Header</a:t>
            </a:r>
            <a:endParaRPr lang="en-US"/>
          </a:p>
        </p:txBody>
      </p:sp>
      <p:sp>
        <p:nvSpPr>
          <p:cNvPr id="15" name="Text Placeholder 14">
            <a:extLst>
              <a:ext uri="{FF2B5EF4-FFF2-40B4-BE49-F238E27FC236}">
                <a16:creationId xmlns:a16="http://schemas.microsoft.com/office/drawing/2014/main" id="{2B32422C-E3F5-664F-A900-E87EE9A73BA9}"/>
              </a:ext>
            </a:extLst>
          </p:cNvPr>
          <p:cNvSpPr>
            <a:spLocks noGrp="1"/>
          </p:cNvSpPr>
          <p:nvPr>
            <p:ph type="body" sz="quarter" idx="12" hasCustomPrompt="1"/>
          </p:nvPr>
        </p:nvSpPr>
        <p:spPr>
          <a:xfrm>
            <a:off x="533399" y="1995059"/>
            <a:ext cx="11083797" cy="1538883"/>
          </a:xfrm>
        </p:spPr>
        <p:txBody>
          <a:bodyPr/>
          <a:lstStyle>
            <a:lvl1pPr>
              <a:defRPr sz="2500" b="1">
                <a:solidFill>
                  <a:srgbClr val="24408D"/>
                </a:solidFill>
                <a:latin typeface="Arial" panose="020B0604020202020204" pitchFamily="34" charset="0"/>
                <a:cs typeface="Arial" panose="020B0604020202020204" pitchFamily="34"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Duis at </a:t>
            </a:r>
            <a:r>
              <a:rPr lang="en-GB" err="1"/>
              <a:t>commodo</a:t>
            </a:r>
            <a:r>
              <a:rPr lang="en-GB"/>
              <a:t> </a:t>
            </a:r>
            <a:r>
              <a:rPr lang="en-GB" err="1"/>
              <a:t>neque</a:t>
            </a:r>
            <a:r>
              <a:rPr lang="en-GB"/>
              <a:t>, non </a:t>
            </a:r>
            <a:r>
              <a:rPr lang="en-GB" err="1"/>
              <a:t>ultrices</a:t>
            </a:r>
            <a:r>
              <a:rPr lang="en-GB"/>
              <a:t> </a:t>
            </a:r>
            <a:r>
              <a:rPr lang="en-GB" err="1"/>
              <a:t>turpis</a:t>
            </a:r>
            <a:r>
              <a:rPr lang="en-GB"/>
              <a:t>. Integer </a:t>
            </a:r>
            <a:r>
              <a:rPr lang="en-GB" err="1"/>
              <a:t>rutrum</a:t>
            </a:r>
            <a:r>
              <a:rPr lang="en-GB"/>
              <a:t> </a:t>
            </a:r>
            <a:r>
              <a:rPr lang="en-GB" err="1"/>
              <a:t>sem</a:t>
            </a:r>
            <a:r>
              <a:rPr lang="en-GB"/>
              <a:t> </a:t>
            </a:r>
            <a:r>
              <a:rPr lang="en-GB" err="1"/>
              <a:t>quis</a:t>
            </a:r>
            <a:r>
              <a:rPr lang="en-GB"/>
              <a:t> </a:t>
            </a:r>
            <a:r>
              <a:rPr lang="en-GB" err="1"/>
              <a:t>neque</a:t>
            </a:r>
            <a:r>
              <a:rPr lang="en-GB"/>
              <a:t> </a:t>
            </a:r>
            <a:r>
              <a:rPr lang="en-GB" err="1"/>
              <a:t>interdum</a:t>
            </a:r>
            <a:r>
              <a:rPr lang="en-GB"/>
              <a:t> </a:t>
            </a:r>
            <a:r>
              <a:rPr lang="en-GB" err="1"/>
              <a:t>egestas</a:t>
            </a:r>
            <a:r>
              <a:rPr lang="en-GB"/>
              <a:t>. </a:t>
            </a:r>
            <a:r>
              <a:rPr lang="en-GB" err="1"/>
              <a:t>Praesent</a:t>
            </a:r>
            <a:r>
              <a:rPr lang="en-GB"/>
              <a:t> </a:t>
            </a:r>
            <a:r>
              <a:rPr lang="en-GB" err="1"/>
              <a:t>nibh</a:t>
            </a:r>
            <a:r>
              <a:rPr lang="en-GB"/>
              <a:t> </a:t>
            </a:r>
            <a:r>
              <a:rPr lang="en-GB" err="1"/>
              <a:t>est</a:t>
            </a:r>
            <a:r>
              <a:rPr lang="en-GB"/>
              <a:t>, </a:t>
            </a:r>
            <a:r>
              <a:rPr lang="en-GB" err="1"/>
              <a:t>pellentesque</a:t>
            </a:r>
            <a:r>
              <a:rPr lang="en-GB"/>
              <a:t> et </a:t>
            </a:r>
            <a:r>
              <a:rPr lang="en-GB" err="1"/>
              <a:t>felis</a:t>
            </a:r>
            <a:r>
              <a:rPr lang="en-GB"/>
              <a:t> </a:t>
            </a:r>
            <a:r>
              <a:rPr lang="en-GB" err="1"/>
              <a:t>vel</a:t>
            </a:r>
            <a:r>
              <a:rPr lang="en-GB"/>
              <a:t>, </a:t>
            </a:r>
            <a:r>
              <a:rPr lang="en-GB" err="1"/>
              <a:t>aliquet</a:t>
            </a:r>
            <a:r>
              <a:rPr lang="en-GB"/>
              <a:t> </a:t>
            </a:r>
            <a:r>
              <a:rPr lang="en-GB" err="1"/>
              <a:t>interdum</a:t>
            </a:r>
            <a:r>
              <a:rPr lang="en-GB"/>
              <a:t> magna.</a:t>
            </a:r>
            <a:endParaRPr lang="en-US"/>
          </a:p>
        </p:txBody>
      </p:sp>
      <p:sp>
        <p:nvSpPr>
          <p:cNvPr id="16" name="Text Placeholder 14">
            <a:extLst>
              <a:ext uri="{FF2B5EF4-FFF2-40B4-BE49-F238E27FC236}">
                <a16:creationId xmlns:a16="http://schemas.microsoft.com/office/drawing/2014/main" id="{E2D74DB2-1448-F044-80ED-D57DCBA77357}"/>
              </a:ext>
            </a:extLst>
          </p:cNvPr>
          <p:cNvSpPr>
            <a:spLocks noGrp="1"/>
          </p:cNvSpPr>
          <p:nvPr>
            <p:ph type="body" sz="quarter" idx="13" hasCustomPrompt="1"/>
          </p:nvPr>
        </p:nvSpPr>
        <p:spPr>
          <a:xfrm>
            <a:off x="533400" y="3823541"/>
            <a:ext cx="11083796" cy="2752035"/>
          </a:xfrm>
        </p:spPr>
        <p:txBody>
          <a:bodyPr/>
          <a:lstStyle>
            <a:lvl1pPr>
              <a:defRPr sz="2000" b="0">
                <a:solidFill>
                  <a:schemeClr val="tx1"/>
                </a:solidFill>
                <a:latin typeface="Arial" panose="020B0604020202020204" pitchFamily="34" charset="0"/>
                <a:cs typeface="Arial" panose="020B0604020202020204" pitchFamily="34" charset="0"/>
              </a:defRPr>
            </a:lvl1pPr>
          </a:lstStyle>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a:p>
            <a:pPr>
              <a:lnSpc>
                <a:spcPct val="100000"/>
              </a:lnSpc>
              <a:spcBef>
                <a:spcPts val="45"/>
              </a:spcBef>
            </a:pPr>
            <a:endParaRPr lang="en-GB" sz="2050">
              <a:latin typeface="Arial"/>
              <a:cs typeface="Arial"/>
            </a:endParaRPr>
          </a:p>
          <a:p>
            <a:pPr marL="12700" marR="5080">
              <a:lnSpc>
                <a:spcPct val="100000"/>
              </a:lnSpc>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p:txBody>
      </p:sp>
    </p:spTree>
    <p:extLst>
      <p:ext uri="{BB962C8B-B14F-4D97-AF65-F5344CB8AC3E}">
        <p14:creationId xmlns:p14="http://schemas.microsoft.com/office/powerpoint/2010/main" val="3876289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WATERMARK">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962BE2F-60AC-894F-B8EE-A0F0C34CD80D}"/>
              </a:ext>
            </a:extLst>
          </p:cNvPr>
          <p:cNvPicPr>
            <a:picLocks noChangeAspect="1"/>
          </p:cNvPicPr>
          <p:nvPr userDrawn="1"/>
        </p:nvPicPr>
        <p:blipFill>
          <a:blip r:embed="rId2">
            <a:alphaModFix amt="20000"/>
          </a:blip>
          <a:stretch>
            <a:fillRect/>
          </a:stretch>
        </p:blipFill>
        <p:spPr>
          <a:xfrm>
            <a:off x="7082294" y="1720622"/>
            <a:ext cx="4906507" cy="4906507"/>
          </a:xfrm>
          <a:prstGeom prst="rect">
            <a:avLst/>
          </a:prstGeom>
        </p:spPr>
      </p:pic>
      <p:sp>
        <p:nvSpPr>
          <p:cNvPr id="5" name="object 4">
            <a:extLst>
              <a:ext uri="{FF2B5EF4-FFF2-40B4-BE49-F238E27FC236}">
                <a16:creationId xmlns:a16="http://schemas.microsoft.com/office/drawing/2014/main" id="{C1F0E6C2-2EE5-D841-B127-9502BB69D97F}"/>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7" name="Picture 6">
            <a:extLst>
              <a:ext uri="{FF2B5EF4-FFF2-40B4-BE49-F238E27FC236}">
                <a16:creationId xmlns:a16="http://schemas.microsoft.com/office/drawing/2014/main" id="{02EE7552-CF1D-3046-90BC-DA62E4CFA17F}"/>
              </a:ext>
            </a:extLst>
          </p:cNvPr>
          <p:cNvPicPr>
            <a:picLocks noChangeAspect="1"/>
          </p:cNvPicPr>
          <p:nvPr userDrawn="1"/>
        </p:nvPicPr>
        <p:blipFill>
          <a:blip r:embed="rId3"/>
          <a:stretch>
            <a:fillRect/>
          </a:stretch>
        </p:blipFill>
        <p:spPr>
          <a:xfrm>
            <a:off x="9815421" y="424767"/>
            <a:ext cx="1801776" cy="553129"/>
          </a:xfrm>
          <a:prstGeom prst="rect">
            <a:avLst/>
          </a:prstGeom>
        </p:spPr>
      </p:pic>
      <p:sp>
        <p:nvSpPr>
          <p:cNvPr id="15" name="Text Placeholder 14">
            <a:extLst>
              <a:ext uri="{FF2B5EF4-FFF2-40B4-BE49-F238E27FC236}">
                <a16:creationId xmlns:a16="http://schemas.microsoft.com/office/drawing/2014/main" id="{2B32422C-E3F5-664F-A900-E87EE9A73BA9}"/>
              </a:ext>
            </a:extLst>
          </p:cNvPr>
          <p:cNvSpPr>
            <a:spLocks noGrp="1"/>
          </p:cNvSpPr>
          <p:nvPr>
            <p:ph type="body" sz="quarter" idx="12" hasCustomPrompt="1"/>
          </p:nvPr>
        </p:nvSpPr>
        <p:spPr>
          <a:xfrm>
            <a:off x="533399" y="1995059"/>
            <a:ext cx="11083797" cy="1538883"/>
          </a:xfrm>
        </p:spPr>
        <p:txBody>
          <a:bodyPr/>
          <a:lstStyle>
            <a:lvl1pPr>
              <a:defRPr sz="2500" b="1">
                <a:solidFill>
                  <a:srgbClr val="24408D"/>
                </a:solidFill>
                <a:latin typeface="Arial" panose="020B0604020202020204" pitchFamily="34" charset="0"/>
                <a:cs typeface="Arial" panose="020B0604020202020204" pitchFamily="34"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Duis at </a:t>
            </a:r>
            <a:r>
              <a:rPr lang="en-GB" err="1"/>
              <a:t>commodo</a:t>
            </a:r>
            <a:r>
              <a:rPr lang="en-GB"/>
              <a:t> </a:t>
            </a:r>
            <a:r>
              <a:rPr lang="en-GB" err="1"/>
              <a:t>neque</a:t>
            </a:r>
            <a:r>
              <a:rPr lang="en-GB"/>
              <a:t>, non </a:t>
            </a:r>
            <a:r>
              <a:rPr lang="en-GB" err="1"/>
              <a:t>ultrices</a:t>
            </a:r>
            <a:r>
              <a:rPr lang="en-GB"/>
              <a:t> </a:t>
            </a:r>
            <a:r>
              <a:rPr lang="en-GB" err="1"/>
              <a:t>turpis</a:t>
            </a:r>
            <a:r>
              <a:rPr lang="en-GB"/>
              <a:t>. Integer </a:t>
            </a:r>
            <a:r>
              <a:rPr lang="en-GB" err="1"/>
              <a:t>rutrum</a:t>
            </a:r>
            <a:r>
              <a:rPr lang="en-GB"/>
              <a:t> </a:t>
            </a:r>
            <a:r>
              <a:rPr lang="en-GB" err="1"/>
              <a:t>sem</a:t>
            </a:r>
            <a:r>
              <a:rPr lang="en-GB"/>
              <a:t> </a:t>
            </a:r>
            <a:r>
              <a:rPr lang="en-GB" err="1"/>
              <a:t>quis</a:t>
            </a:r>
            <a:r>
              <a:rPr lang="en-GB"/>
              <a:t> </a:t>
            </a:r>
            <a:r>
              <a:rPr lang="en-GB" err="1"/>
              <a:t>neque</a:t>
            </a:r>
            <a:r>
              <a:rPr lang="en-GB"/>
              <a:t> </a:t>
            </a:r>
            <a:r>
              <a:rPr lang="en-GB" err="1"/>
              <a:t>interdum</a:t>
            </a:r>
            <a:r>
              <a:rPr lang="en-GB"/>
              <a:t> </a:t>
            </a:r>
            <a:r>
              <a:rPr lang="en-GB" err="1"/>
              <a:t>egestas</a:t>
            </a:r>
            <a:r>
              <a:rPr lang="en-GB"/>
              <a:t>. </a:t>
            </a:r>
            <a:r>
              <a:rPr lang="en-GB" err="1"/>
              <a:t>Praesent</a:t>
            </a:r>
            <a:r>
              <a:rPr lang="en-GB"/>
              <a:t> </a:t>
            </a:r>
            <a:r>
              <a:rPr lang="en-GB" err="1"/>
              <a:t>nibh</a:t>
            </a:r>
            <a:r>
              <a:rPr lang="en-GB"/>
              <a:t> </a:t>
            </a:r>
            <a:r>
              <a:rPr lang="en-GB" err="1"/>
              <a:t>est</a:t>
            </a:r>
            <a:r>
              <a:rPr lang="en-GB"/>
              <a:t>, </a:t>
            </a:r>
            <a:r>
              <a:rPr lang="en-GB" err="1"/>
              <a:t>pellentesque</a:t>
            </a:r>
            <a:r>
              <a:rPr lang="en-GB"/>
              <a:t> et </a:t>
            </a:r>
            <a:r>
              <a:rPr lang="en-GB" err="1"/>
              <a:t>felis</a:t>
            </a:r>
            <a:r>
              <a:rPr lang="en-GB"/>
              <a:t> </a:t>
            </a:r>
            <a:r>
              <a:rPr lang="en-GB" err="1"/>
              <a:t>vel</a:t>
            </a:r>
            <a:r>
              <a:rPr lang="en-GB"/>
              <a:t>, </a:t>
            </a:r>
            <a:r>
              <a:rPr lang="en-GB" err="1"/>
              <a:t>aliquet</a:t>
            </a:r>
            <a:r>
              <a:rPr lang="en-GB"/>
              <a:t> </a:t>
            </a:r>
            <a:r>
              <a:rPr lang="en-GB" err="1"/>
              <a:t>interdum</a:t>
            </a:r>
            <a:r>
              <a:rPr lang="en-GB"/>
              <a:t> magna.</a:t>
            </a:r>
            <a:endParaRPr lang="en-US"/>
          </a:p>
        </p:txBody>
      </p:sp>
      <p:sp>
        <p:nvSpPr>
          <p:cNvPr id="16" name="Text Placeholder 14">
            <a:extLst>
              <a:ext uri="{FF2B5EF4-FFF2-40B4-BE49-F238E27FC236}">
                <a16:creationId xmlns:a16="http://schemas.microsoft.com/office/drawing/2014/main" id="{E2D74DB2-1448-F044-80ED-D57DCBA77357}"/>
              </a:ext>
            </a:extLst>
          </p:cNvPr>
          <p:cNvSpPr>
            <a:spLocks noGrp="1"/>
          </p:cNvSpPr>
          <p:nvPr>
            <p:ph type="body" sz="quarter" idx="13" hasCustomPrompt="1"/>
          </p:nvPr>
        </p:nvSpPr>
        <p:spPr>
          <a:xfrm>
            <a:off x="533400" y="3823541"/>
            <a:ext cx="11083796" cy="2752035"/>
          </a:xfrm>
        </p:spPr>
        <p:txBody>
          <a:bodyPr/>
          <a:lstStyle>
            <a:lvl1pPr>
              <a:defRPr sz="2000" b="0">
                <a:solidFill>
                  <a:schemeClr val="tx1"/>
                </a:solidFill>
                <a:latin typeface="Arial" panose="020B0604020202020204" pitchFamily="34" charset="0"/>
                <a:cs typeface="Arial" panose="020B0604020202020204" pitchFamily="34" charset="0"/>
              </a:defRPr>
            </a:lvl1pPr>
          </a:lstStyle>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a:p>
            <a:pPr>
              <a:lnSpc>
                <a:spcPct val="100000"/>
              </a:lnSpc>
              <a:spcBef>
                <a:spcPts val="45"/>
              </a:spcBef>
            </a:pPr>
            <a:endParaRPr lang="en-GB" sz="2050">
              <a:latin typeface="Arial"/>
              <a:cs typeface="Arial"/>
            </a:endParaRPr>
          </a:p>
          <a:p>
            <a:pPr marL="12700" marR="5080">
              <a:lnSpc>
                <a:spcPct val="100000"/>
              </a:lnSpc>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p:txBody>
      </p:sp>
    </p:spTree>
    <p:extLst>
      <p:ext uri="{BB962C8B-B14F-4D97-AF65-F5344CB8AC3E}">
        <p14:creationId xmlns:p14="http://schemas.microsoft.com/office/powerpoint/2010/main" val="1426425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ACK COVER">
    <p:bg>
      <p:bgPr>
        <a:solidFill>
          <a:schemeClr val="bg1"/>
        </a:solidFill>
        <a:effectLst/>
      </p:bgPr>
    </p:bg>
    <p:spTree>
      <p:nvGrpSpPr>
        <p:cNvPr id="1" name=""/>
        <p:cNvGrpSpPr/>
        <p:nvPr/>
      </p:nvGrpSpPr>
      <p:grpSpPr>
        <a:xfrm>
          <a:off x="0" y="0"/>
          <a:ext cx="0" cy="0"/>
          <a:chOff x="0" y="0"/>
          <a:chExt cx="0" cy="0"/>
        </a:xfrm>
      </p:grpSpPr>
      <p:sp>
        <p:nvSpPr>
          <p:cNvPr id="16" name="bg object 16"/>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25408D"/>
          </a:solidFill>
        </p:spPr>
        <p:txBody>
          <a:bodyPr wrap="square" lIns="0" tIns="0" rIns="0" bIns="0" rtlCol="0"/>
          <a:lstStyle/>
          <a:p>
            <a:endParaRPr/>
          </a:p>
        </p:txBody>
      </p:sp>
      <p:sp>
        <p:nvSpPr>
          <p:cNvPr id="15" name="Text Placeholder 14">
            <a:extLst>
              <a:ext uri="{FF2B5EF4-FFF2-40B4-BE49-F238E27FC236}">
                <a16:creationId xmlns:a16="http://schemas.microsoft.com/office/drawing/2014/main" id="{B49E1506-44A0-C243-961B-917943DAE1E2}"/>
              </a:ext>
            </a:extLst>
          </p:cNvPr>
          <p:cNvSpPr>
            <a:spLocks noGrp="1"/>
          </p:cNvSpPr>
          <p:nvPr>
            <p:ph type="body" sz="quarter" idx="10" hasCustomPrompt="1"/>
          </p:nvPr>
        </p:nvSpPr>
        <p:spPr>
          <a:xfrm>
            <a:off x="533400" y="2318598"/>
            <a:ext cx="5562600" cy="1485900"/>
          </a:xfrm>
        </p:spPr>
        <p:txBody>
          <a:bodyPr/>
          <a:lstStyle>
            <a:lvl1pPr>
              <a:defRPr sz="5000" b="1" baseline="0">
                <a:solidFill>
                  <a:srgbClr val="FDBA13"/>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8" name="Text Placeholder 17">
            <a:extLst>
              <a:ext uri="{FF2B5EF4-FFF2-40B4-BE49-F238E27FC236}">
                <a16:creationId xmlns:a16="http://schemas.microsoft.com/office/drawing/2014/main" id="{7A74C29E-264C-E546-AA84-D6DEEEFAE46E}"/>
              </a:ext>
            </a:extLst>
          </p:cNvPr>
          <p:cNvSpPr>
            <a:spLocks noGrp="1"/>
          </p:cNvSpPr>
          <p:nvPr>
            <p:ph type="body" sz="quarter" idx="11" hasCustomPrompt="1"/>
          </p:nvPr>
        </p:nvSpPr>
        <p:spPr>
          <a:xfrm>
            <a:off x="533400" y="3947160"/>
            <a:ext cx="4572000" cy="1538883"/>
          </a:xfrm>
        </p:spPr>
        <p:txBody>
          <a:bodyPr/>
          <a:lstStyle>
            <a:lvl1pPr marL="0" marR="0" indent="0" defTabSz="914400" eaLnBrk="1" fontAlgn="auto" latinLnBrk="0" hangingPunct="1">
              <a:lnSpc>
                <a:spcPct val="100000"/>
              </a:lnSpc>
              <a:spcBef>
                <a:spcPts val="0"/>
              </a:spcBef>
              <a:spcAft>
                <a:spcPts val="0"/>
              </a:spcAft>
              <a:buClrTx/>
              <a:buSzTx/>
              <a:buFontTx/>
              <a:buNone/>
              <a:tabLst/>
              <a:defRPr sz="2500">
                <a:solidFill>
                  <a:schemeClr val="bg1"/>
                </a:solidFill>
                <a:latin typeface="Arial" panose="020B0604020202020204" pitchFamily="34" charset="0"/>
                <a:cs typeface="Arial" panose="020B0604020202020204"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lang="en-GB"/>
              <a:t>Tel: XXXX XXXXXX</a:t>
            </a:r>
            <a:br>
              <a:rPr lang="en-GB"/>
            </a:br>
            <a:r>
              <a:rPr lang="en-GB"/>
              <a:t>Web: XXXXXXXXXX.XXX</a:t>
            </a:r>
            <a:endParaRPr lang="en-US"/>
          </a:p>
          <a:p>
            <a:pPr lvl="0"/>
            <a:endParaRPr lang="en-US"/>
          </a:p>
        </p:txBody>
      </p:sp>
      <p:pic>
        <p:nvPicPr>
          <p:cNvPr id="8" name="Picture 7">
            <a:extLst>
              <a:ext uri="{FF2B5EF4-FFF2-40B4-BE49-F238E27FC236}">
                <a16:creationId xmlns:a16="http://schemas.microsoft.com/office/drawing/2014/main" id="{09406C76-BFDA-2443-8FE2-8A696F72BB97}"/>
              </a:ext>
            </a:extLst>
          </p:cNvPr>
          <p:cNvPicPr>
            <a:picLocks noChangeAspect="1"/>
          </p:cNvPicPr>
          <p:nvPr userDrawn="1"/>
        </p:nvPicPr>
        <p:blipFill>
          <a:blip r:embed="rId2"/>
          <a:stretch>
            <a:fillRect/>
          </a:stretch>
        </p:blipFill>
        <p:spPr>
          <a:xfrm>
            <a:off x="575994" y="5788803"/>
            <a:ext cx="1616743" cy="547430"/>
          </a:xfrm>
          <a:prstGeom prst="rect">
            <a:avLst/>
          </a:prstGeom>
        </p:spPr>
      </p:pic>
      <p:pic>
        <p:nvPicPr>
          <p:cNvPr id="9" name="Picture 8">
            <a:extLst>
              <a:ext uri="{FF2B5EF4-FFF2-40B4-BE49-F238E27FC236}">
                <a16:creationId xmlns:a16="http://schemas.microsoft.com/office/drawing/2014/main" id="{1B6C17F0-EC2B-8849-AC98-388A1F15AAA1}"/>
              </a:ext>
            </a:extLst>
          </p:cNvPr>
          <p:cNvPicPr>
            <a:picLocks noChangeAspect="1"/>
          </p:cNvPicPr>
          <p:nvPr userDrawn="1"/>
        </p:nvPicPr>
        <p:blipFill>
          <a:blip r:embed="rId3"/>
          <a:stretch>
            <a:fillRect/>
          </a:stretch>
        </p:blipFill>
        <p:spPr>
          <a:xfrm>
            <a:off x="575994" y="577370"/>
            <a:ext cx="2353083" cy="722375"/>
          </a:xfrm>
          <a:prstGeom prst="rect">
            <a:avLst/>
          </a:prstGeom>
        </p:spPr>
      </p:pic>
      <p:pic>
        <p:nvPicPr>
          <p:cNvPr id="10" name="Picture 9">
            <a:extLst>
              <a:ext uri="{FF2B5EF4-FFF2-40B4-BE49-F238E27FC236}">
                <a16:creationId xmlns:a16="http://schemas.microsoft.com/office/drawing/2014/main" id="{055C0B87-51A5-3949-8E61-B0322586B7CE}"/>
              </a:ext>
            </a:extLst>
          </p:cNvPr>
          <p:cNvPicPr>
            <a:picLocks noChangeAspect="1"/>
          </p:cNvPicPr>
          <p:nvPr userDrawn="1"/>
        </p:nvPicPr>
        <p:blipFill>
          <a:blip r:embed="rId4"/>
          <a:stretch>
            <a:fillRect/>
          </a:stretch>
        </p:blipFill>
        <p:spPr>
          <a:xfrm>
            <a:off x="6688306" y="1328904"/>
            <a:ext cx="5300495" cy="5300495"/>
          </a:xfrm>
          <a:prstGeom prst="rect">
            <a:avLst/>
          </a:prstGeom>
        </p:spPr>
      </p:pic>
    </p:spTree>
    <p:extLst>
      <p:ext uri="{BB962C8B-B14F-4D97-AF65-F5344CB8AC3E}">
        <p14:creationId xmlns:p14="http://schemas.microsoft.com/office/powerpoint/2010/main" val="3635430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5" name="Picture 4" descr="A picture containing person, clothing, man, indoor&#10;&#10;Description generated with very high confidence">
            <a:extLst>
              <a:ext uri="{FF2B5EF4-FFF2-40B4-BE49-F238E27FC236}">
                <a16:creationId xmlns:a16="http://schemas.microsoft.com/office/drawing/2014/main" id="{5A2AF239-AC0A-4440-93DD-736D00FE7B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1" name="Freeform: Shape 20">
            <a:extLst>
              <a:ext uri="{FF2B5EF4-FFF2-40B4-BE49-F238E27FC236}">
                <a16:creationId xmlns:a16="http://schemas.microsoft.com/office/drawing/2014/main" id="{AFFE477E-4140-491C-B36C-2012D9E86E84}"/>
              </a:ext>
            </a:extLst>
          </p:cNvPr>
          <p:cNvSpPr/>
          <p:nvPr userDrawn="1"/>
        </p:nvSpPr>
        <p:spPr>
          <a:xfrm>
            <a:off x="6845300" y="4191000"/>
            <a:ext cx="5346700" cy="736600"/>
          </a:xfrm>
          <a:custGeom>
            <a:avLst/>
            <a:gdLst>
              <a:gd name="connsiteX0" fmla="*/ 368300 w 5346700"/>
              <a:gd name="connsiteY0" fmla="*/ 0 h 736600"/>
              <a:gd name="connsiteX1" fmla="*/ 5346700 w 5346700"/>
              <a:gd name="connsiteY1" fmla="*/ 0 h 736600"/>
              <a:gd name="connsiteX2" fmla="*/ 5346700 w 5346700"/>
              <a:gd name="connsiteY2" fmla="*/ 736600 h 736600"/>
              <a:gd name="connsiteX3" fmla="*/ 368300 w 5346700"/>
              <a:gd name="connsiteY3" fmla="*/ 736600 h 736600"/>
              <a:gd name="connsiteX4" fmla="*/ 0 w 5346700"/>
              <a:gd name="connsiteY4" fmla="*/ 368300 h 736600"/>
              <a:gd name="connsiteX5" fmla="*/ 368300 w 5346700"/>
              <a:gd name="connsiteY5" fmla="*/ 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6700" h="736600">
                <a:moveTo>
                  <a:pt x="368300" y="0"/>
                </a:moveTo>
                <a:lnTo>
                  <a:pt x="5346700" y="0"/>
                </a:lnTo>
                <a:lnTo>
                  <a:pt x="5346700" y="736600"/>
                </a:lnTo>
                <a:lnTo>
                  <a:pt x="368300" y="736600"/>
                </a:lnTo>
                <a:cubicBezTo>
                  <a:pt x="164894" y="736600"/>
                  <a:pt x="0" y="571706"/>
                  <a:pt x="0" y="368300"/>
                </a:cubicBezTo>
                <a:cubicBezTo>
                  <a:pt x="0" y="164894"/>
                  <a:pt x="164894" y="0"/>
                  <a:pt x="368300"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63FED2B7-789D-48D3-845F-B0EE1A13CFC5}"/>
              </a:ext>
            </a:extLst>
          </p:cNvPr>
          <p:cNvSpPr>
            <a:spLocks noGrp="1"/>
          </p:cNvSpPr>
          <p:nvPr>
            <p:ph type="ctrTitle"/>
          </p:nvPr>
        </p:nvSpPr>
        <p:spPr>
          <a:xfrm>
            <a:off x="7226300" y="1833563"/>
            <a:ext cx="4254500" cy="2128837"/>
          </a:xfrm>
        </p:spPr>
        <p:txBody>
          <a:bodyPr anchor="b">
            <a:normAutofit/>
          </a:bodyPr>
          <a:lstStyle>
            <a:lvl1pPr algn="l">
              <a:lnSpc>
                <a:spcPct val="100000"/>
              </a:lnSpc>
              <a:defRPr sz="3600" b="1" cap="all" baseline="0">
                <a:solidFill>
                  <a:schemeClr val="tx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E7620CC6-2136-4A58-91C3-1A411D2008D8}"/>
              </a:ext>
            </a:extLst>
          </p:cNvPr>
          <p:cNvSpPr>
            <a:spLocks noGrp="1"/>
          </p:cNvSpPr>
          <p:nvPr>
            <p:ph type="subTitle" idx="1"/>
          </p:nvPr>
        </p:nvSpPr>
        <p:spPr>
          <a:xfrm>
            <a:off x="7226300" y="4302919"/>
            <a:ext cx="4254500" cy="512762"/>
          </a:xfrm>
        </p:spPr>
        <p:txBody>
          <a:bodyPr anchor="ctr">
            <a:normAutofit/>
          </a:bodyPr>
          <a:lstStyle>
            <a:lvl1pPr marL="0" indent="0" algn="l">
              <a:lnSpc>
                <a:spcPct val="100000"/>
              </a:lnSpc>
              <a:spcBef>
                <a:spcPts val="0"/>
              </a:spcBef>
              <a:buNone/>
              <a:defRPr sz="2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a:t>
            </a:r>
            <a:endParaRPr lang="en-GB"/>
          </a:p>
        </p:txBody>
      </p:sp>
      <p:grpSp>
        <p:nvGrpSpPr>
          <p:cNvPr id="10" name="Group 9">
            <a:extLst>
              <a:ext uri="{FF2B5EF4-FFF2-40B4-BE49-F238E27FC236}">
                <a16:creationId xmlns:a16="http://schemas.microsoft.com/office/drawing/2014/main" id="{58D6B991-1E19-4811-A1FD-04E9AC08BB88}"/>
              </a:ext>
            </a:extLst>
          </p:cNvPr>
          <p:cNvGrpSpPr/>
          <p:nvPr userDrawn="1"/>
        </p:nvGrpSpPr>
        <p:grpSpPr>
          <a:xfrm>
            <a:off x="9786622" y="508001"/>
            <a:ext cx="1724967" cy="622299"/>
            <a:chOff x="3663950" y="2217738"/>
            <a:chExt cx="2508251" cy="904876"/>
          </a:xfrm>
        </p:grpSpPr>
        <p:sp>
          <p:nvSpPr>
            <p:cNvPr id="11" name="Freeform 5">
              <a:extLst>
                <a:ext uri="{FF2B5EF4-FFF2-40B4-BE49-F238E27FC236}">
                  <a16:creationId xmlns:a16="http://schemas.microsoft.com/office/drawing/2014/main" id="{5BF59F9C-F30F-41E8-A161-AF1A18EAD1F2}"/>
                </a:ext>
              </a:extLst>
            </p:cNvPr>
            <p:cNvSpPr>
              <a:spLocks/>
            </p:cNvSpPr>
            <p:nvPr userDrawn="1"/>
          </p:nvSpPr>
          <p:spPr bwMode="auto">
            <a:xfrm>
              <a:off x="3719513" y="2217738"/>
              <a:ext cx="133350" cy="133350"/>
            </a:xfrm>
            <a:custGeom>
              <a:avLst/>
              <a:gdLst>
                <a:gd name="T0" fmla="*/ 1 w 41"/>
                <a:gd name="T1" fmla="*/ 19 h 41"/>
                <a:gd name="T2" fmla="*/ 22 w 41"/>
                <a:gd name="T3" fmla="*/ 1 h 41"/>
                <a:gd name="T4" fmla="*/ 40 w 41"/>
                <a:gd name="T5" fmla="*/ 23 h 41"/>
                <a:gd name="T6" fmla="*/ 18 w 41"/>
                <a:gd name="T7" fmla="*/ 40 h 41"/>
                <a:gd name="T8" fmla="*/ 1 w 41"/>
                <a:gd name="T9" fmla="*/ 19 h 41"/>
              </a:gdLst>
              <a:ahLst/>
              <a:cxnLst>
                <a:cxn ang="0">
                  <a:pos x="T0" y="T1"/>
                </a:cxn>
                <a:cxn ang="0">
                  <a:pos x="T2" y="T3"/>
                </a:cxn>
                <a:cxn ang="0">
                  <a:pos x="T4" y="T5"/>
                </a:cxn>
                <a:cxn ang="0">
                  <a:pos x="T6" y="T7"/>
                </a:cxn>
                <a:cxn ang="0">
                  <a:pos x="T8" y="T9"/>
                </a:cxn>
              </a:cxnLst>
              <a:rect l="0" t="0" r="r" b="b"/>
              <a:pathLst>
                <a:path w="41" h="41">
                  <a:moveTo>
                    <a:pt x="1" y="19"/>
                  </a:moveTo>
                  <a:cubicBezTo>
                    <a:pt x="2" y="8"/>
                    <a:pt x="12" y="0"/>
                    <a:pt x="22" y="1"/>
                  </a:cubicBezTo>
                  <a:cubicBezTo>
                    <a:pt x="33" y="3"/>
                    <a:pt x="41" y="12"/>
                    <a:pt x="40" y="23"/>
                  </a:cubicBezTo>
                  <a:cubicBezTo>
                    <a:pt x="39" y="34"/>
                    <a:pt x="29" y="41"/>
                    <a:pt x="18" y="40"/>
                  </a:cubicBezTo>
                  <a:cubicBezTo>
                    <a:pt x="8" y="39"/>
                    <a:pt x="0" y="30"/>
                    <a:pt x="1" y="19"/>
                  </a:cubicBezTo>
                </a:path>
              </a:pathLst>
            </a:custGeom>
            <a:solidFill>
              <a:srgbClr val="FB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Freeform 6">
              <a:extLst>
                <a:ext uri="{FF2B5EF4-FFF2-40B4-BE49-F238E27FC236}">
                  <a16:creationId xmlns:a16="http://schemas.microsoft.com/office/drawing/2014/main" id="{B4D02C02-C1B5-495B-B3A8-BCE8AC690733}"/>
                </a:ext>
              </a:extLst>
            </p:cNvPr>
            <p:cNvSpPr>
              <a:spLocks/>
            </p:cNvSpPr>
            <p:nvPr userDrawn="1"/>
          </p:nvSpPr>
          <p:spPr bwMode="auto">
            <a:xfrm>
              <a:off x="3663950" y="2419351"/>
              <a:ext cx="169863" cy="503238"/>
            </a:xfrm>
            <a:custGeom>
              <a:avLst/>
              <a:gdLst>
                <a:gd name="T0" fmla="*/ 51 w 107"/>
                <a:gd name="T1" fmla="*/ 317 h 317"/>
                <a:gd name="T2" fmla="*/ 51 w 107"/>
                <a:gd name="T3" fmla="*/ 48 h 317"/>
                <a:gd name="T4" fmla="*/ 0 w 107"/>
                <a:gd name="T5" fmla="*/ 48 h 317"/>
                <a:gd name="T6" fmla="*/ 0 w 107"/>
                <a:gd name="T7" fmla="*/ 0 h 317"/>
                <a:gd name="T8" fmla="*/ 107 w 107"/>
                <a:gd name="T9" fmla="*/ 0 h 317"/>
                <a:gd name="T10" fmla="*/ 107 w 107"/>
                <a:gd name="T11" fmla="*/ 317 h 317"/>
                <a:gd name="T12" fmla="*/ 51 w 107"/>
                <a:gd name="T13" fmla="*/ 317 h 317"/>
              </a:gdLst>
              <a:ahLst/>
              <a:cxnLst>
                <a:cxn ang="0">
                  <a:pos x="T0" y="T1"/>
                </a:cxn>
                <a:cxn ang="0">
                  <a:pos x="T2" y="T3"/>
                </a:cxn>
                <a:cxn ang="0">
                  <a:pos x="T4" y="T5"/>
                </a:cxn>
                <a:cxn ang="0">
                  <a:pos x="T6" y="T7"/>
                </a:cxn>
                <a:cxn ang="0">
                  <a:pos x="T8" y="T9"/>
                </a:cxn>
                <a:cxn ang="0">
                  <a:pos x="T10" y="T11"/>
                </a:cxn>
                <a:cxn ang="0">
                  <a:pos x="T12" y="T13"/>
                </a:cxn>
              </a:cxnLst>
              <a:rect l="0" t="0" r="r" b="b"/>
              <a:pathLst>
                <a:path w="107" h="317">
                  <a:moveTo>
                    <a:pt x="51" y="317"/>
                  </a:moveTo>
                  <a:lnTo>
                    <a:pt x="51" y="48"/>
                  </a:lnTo>
                  <a:lnTo>
                    <a:pt x="0" y="48"/>
                  </a:lnTo>
                  <a:lnTo>
                    <a:pt x="0" y="0"/>
                  </a:lnTo>
                  <a:lnTo>
                    <a:pt x="107" y="0"/>
                  </a:lnTo>
                  <a:lnTo>
                    <a:pt x="107" y="317"/>
                  </a:lnTo>
                  <a:lnTo>
                    <a:pt x="51" y="317"/>
                  </a:lnTo>
                  <a:close/>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7">
              <a:extLst>
                <a:ext uri="{FF2B5EF4-FFF2-40B4-BE49-F238E27FC236}">
                  <a16:creationId xmlns:a16="http://schemas.microsoft.com/office/drawing/2014/main" id="{663A1132-9AF5-424A-B72F-3552BDBAE087}"/>
                </a:ext>
              </a:extLst>
            </p:cNvPr>
            <p:cNvSpPr>
              <a:spLocks/>
            </p:cNvSpPr>
            <p:nvPr userDrawn="1"/>
          </p:nvSpPr>
          <p:spPr bwMode="auto">
            <a:xfrm>
              <a:off x="3917950" y="2409826"/>
              <a:ext cx="398463" cy="512763"/>
            </a:xfrm>
            <a:custGeom>
              <a:avLst/>
              <a:gdLst>
                <a:gd name="T0" fmla="*/ 95 w 122"/>
                <a:gd name="T1" fmla="*/ 157 h 157"/>
                <a:gd name="T2" fmla="*/ 95 w 122"/>
                <a:gd name="T3" fmla="*/ 68 h 157"/>
                <a:gd name="T4" fmla="*/ 88 w 122"/>
                <a:gd name="T5" fmla="*/ 33 h 157"/>
                <a:gd name="T6" fmla="*/ 63 w 122"/>
                <a:gd name="T7" fmla="*/ 23 h 157"/>
                <a:gd name="T8" fmla="*/ 43 w 122"/>
                <a:gd name="T9" fmla="*/ 29 h 157"/>
                <a:gd name="T10" fmla="*/ 27 w 122"/>
                <a:gd name="T11" fmla="*/ 43 h 157"/>
                <a:gd name="T12" fmla="*/ 27 w 122"/>
                <a:gd name="T13" fmla="*/ 157 h 157"/>
                <a:gd name="T14" fmla="*/ 0 w 122"/>
                <a:gd name="T15" fmla="*/ 157 h 157"/>
                <a:gd name="T16" fmla="*/ 0 w 122"/>
                <a:gd name="T17" fmla="*/ 3 h 157"/>
                <a:gd name="T18" fmla="*/ 19 w 122"/>
                <a:gd name="T19" fmla="*/ 3 h 157"/>
                <a:gd name="T20" fmla="*/ 27 w 122"/>
                <a:gd name="T21" fmla="*/ 23 h 157"/>
                <a:gd name="T22" fmla="*/ 72 w 122"/>
                <a:gd name="T23" fmla="*/ 0 h 157"/>
                <a:gd name="T24" fmla="*/ 122 w 122"/>
                <a:gd name="T25" fmla="*/ 62 h 157"/>
                <a:gd name="T26" fmla="*/ 122 w 122"/>
                <a:gd name="T27" fmla="*/ 157 h 157"/>
                <a:gd name="T28" fmla="*/ 95 w 122"/>
                <a:gd name="T29"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57">
                  <a:moveTo>
                    <a:pt x="95" y="157"/>
                  </a:moveTo>
                  <a:cubicBezTo>
                    <a:pt x="95" y="68"/>
                    <a:pt x="95" y="68"/>
                    <a:pt x="95" y="68"/>
                  </a:cubicBezTo>
                  <a:cubicBezTo>
                    <a:pt x="95" y="51"/>
                    <a:pt x="93" y="40"/>
                    <a:pt x="88" y="33"/>
                  </a:cubicBezTo>
                  <a:cubicBezTo>
                    <a:pt x="83" y="26"/>
                    <a:pt x="74" y="23"/>
                    <a:pt x="63" y="23"/>
                  </a:cubicBezTo>
                  <a:cubicBezTo>
                    <a:pt x="56" y="23"/>
                    <a:pt x="50" y="25"/>
                    <a:pt x="43" y="29"/>
                  </a:cubicBezTo>
                  <a:cubicBezTo>
                    <a:pt x="36" y="33"/>
                    <a:pt x="31" y="37"/>
                    <a:pt x="27" y="43"/>
                  </a:cubicBezTo>
                  <a:cubicBezTo>
                    <a:pt x="27" y="157"/>
                    <a:pt x="27" y="157"/>
                    <a:pt x="27" y="157"/>
                  </a:cubicBezTo>
                  <a:cubicBezTo>
                    <a:pt x="0" y="157"/>
                    <a:pt x="0" y="157"/>
                    <a:pt x="0" y="157"/>
                  </a:cubicBezTo>
                  <a:cubicBezTo>
                    <a:pt x="0" y="3"/>
                    <a:pt x="0" y="3"/>
                    <a:pt x="0" y="3"/>
                  </a:cubicBezTo>
                  <a:cubicBezTo>
                    <a:pt x="19" y="3"/>
                    <a:pt x="19" y="3"/>
                    <a:pt x="19" y="3"/>
                  </a:cubicBezTo>
                  <a:cubicBezTo>
                    <a:pt x="27" y="23"/>
                    <a:pt x="27" y="23"/>
                    <a:pt x="27" y="23"/>
                  </a:cubicBezTo>
                  <a:cubicBezTo>
                    <a:pt x="36" y="8"/>
                    <a:pt x="51" y="0"/>
                    <a:pt x="72" y="0"/>
                  </a:cubicBezTo>
                  <a:cubicBezTo>
                    <a:pt x="106" y="0"/>
                    <a:pt x="122" y="21"/>
                    <a:pt x="122" y="62"/>
                  </a:cubicBezTo>
                  <a:cubicBezTo>
                    <a:pt x="122" y="157"/>
                    <a:pt x="122" y="157"/>
                    <a:pt x="122" y="157"/>
                  </a:cubicBezTo>
                  <a:lnTo>
                    <a:pt x="95" y="157"/>
                  </a:lnTo>
                  <a:close/>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Freeform 8">
              <a:extLst>
                <a:ext uri="{FF2B5EF4-FFF2-40B4-BE49-F238E27FC236}">
                  <a16:creationId xmlns:a16="http://schemas.microsoft.com/office/drawing/2014/main" id="{57FAD8B9-9F3D-4626-9306-C83F30C3939E}"/>
                </a:ext>
              </a:extLst>
            </p:cNvPr>
            <p:cNvSpPr>
              <a:spLocks noEditPoints="1"/>
            </p:cNvSpPr>
            <p:nvPr userDrawn="1"/>
          </p:nvSpPr>
          <p:spPr bwMode="auto">
            <a:xfrm>
              <a:off x="4384675" y="2387601"/>
              <a:ext cx="417513" cy="735013"/>
            </a:xfrm>
            <a:custGeom>
              <a:avLst/>
              <a:gdLst>
                <a:gd name="T0" fmla="*/ 61 w 128"/>
                <a:gd name="T1" fmla="*/ 29 h 225"/>
                <a:gd name="T2" fmla="*/ 37 w 128"/>
                <a:gd name="T3" fmla="*/ 39 h 225"/>
                <a:gd name="T4" fmla="*/ 28 w 128"/>
                <a:gd name="T5" fmla="*/ 64 h 225"/>
                <a:gd name="T6" fmla="*/ 37 w 128"/>
                <a:gd name="T7" fmla="*/ 91 h 225"/>
                <a:gd name="T8" fmla="*/ 61 w 128"/>
                <a:gd name="T9" fmla="*/ 101 h 225"/>
                <a:gd name="T10" fmla="*/ 84 w 128"/>
                <a:gd name="T11" fmla="*/ 91 h 225"/>
                <a:gd name="T12" fmla="*/ 92 w 128"/>
                <a:gd name="T13" fmla="*/ 64 h 225"/>
                <a:gd name="T14" fmla="*/ 83 w 128"/>
                <a:gd name="T15" fmla="*/ 39 h 225"/>
                <a:gd name="T16" fmla="*/ 61 w 128"/>
                <a:gd name="T17" fmla="*/ 29 h 225"/>
                <a:gd name="T18" fmla="*/ 3 w 128"/>
                <a:gd name="T19" fmla="*/ 207 h 225"/>
                <a:gd name="T20" fmla="*/ 17 w 128"/>
                <a:gd name="T21" fmla="*/ 185 h 225"/>
                <a:gd name="T22" fmla="*/ 62 w 128"/>
                <a:gd name="T23" fmla="*/ 201 h 225"/>
                <a:gd name="T24" fmla="*/ 91 w 128"/>
                <a:gd name="T25" fmla="*/ 194 h 225"/>
                <a:gd name="T26" fmla="*/ 102 w 128"/>
                <a:gd name="T27" fmla="*/ 178 h 225"/>
                <a:gd name="T28" fmla="*/ 75 w 128"/>
                <a:gd name="T29" fmla="*/ 160 h 225"/>
                <a:gd name="T30" fmla="*/ 58 w 128"/>
                <a:gd name="T31" fmla="*/ 162 h 225"/>
                <a:gd name="T32" fmla="*/ 39 w 128"/>
                <a:gd name="T33" fmla="*/ 164 h 225"/>
                <a:gd name="T34" fmla="*/ 6 w 128"/>
                <a:gd name="T35" fmla="*/ 140 h 225"/>
                <a:gd name="T36" fmla="*/ 14 w 128"/>
                <a:gd name="T37" fmla="*/ 126 h 225"/>
                <a:gd name="T38" fmla="*/ 33 w 128"/>
                <a:gd name="T39" fmla="*/ 117 h 225"/>
                <a:gd name="T40" fmla="*/ 0 w 128"/>
                <a:gd name="T41" fmla="*/ 64 h 225"/>
                <a:gd name="T42" fmla="*/ 17 w 128"/>
                <a:gd name="T43" fmla="*/ 23 h 225"/>
                <a:gd name="T44" fmla="*/ 59 w 128"/>
                <a:gd name="T45" fmla="*/ 7 h 225"/>
                <a:gd name="T46" fmla="*/ 95 w 128"/>
                <a:gd name="T47" fmla="*/ 16 h 225"/>
                <a:gd name="T48" fmla="*/ 108 w 128"/>
                <a:gd name="T49" fmla="*/ 0 h 225"/>
                <a:gd name="T50" fmla="*/ 126 w 128"/>
                <a:gd name="T51" fmla="*/ 17 h 225"/>
                <a:gd name="T52" fmla="*/ 110 w 128"/>
                <a:gd name="T53" fmla="*/ 29 h 225"/>
                <a:gd name="T54" fmla="*/ 120 w 128"/>
                <a:gd name="T55" fmla="*/ 65 h 225"/>
                <a:gd name="T56" fmla="*/ 106 w 128"/>
                <a:gd name="T57" fmla="*/ 104 h 225"/>
                <a:gd name="T58" fmla="*/ 67 w 128"/>
                <a:gd name="T59" fmla="*/ 122 h 225"/>
                <a:gd name="T60" fmla="*/ 45 w 128"/>
                <a:gd name="T61" fmla="*/ 125 h 225"/>
                <a:gd name="T62" fmla="*/ 34 w 128"/>
                <a:gd name="T63" fmla="*/ 128 h 225"/>
                <a:gd name="T64" fmla="*/ 27 w 128"/>
                <a:gd name="T65" fmla="*/ 135 h 225"/>
                <a:gd name="T66" fmla="*/ 41 w 128"/>
                <a:gd name="T67" fmla="*/ 141 h 225"/>
                <a:gd name="T68" fmla="*/ 61 w 128"/>
                <a:gd name="T69" fmla="*/ 139 h 225"/>
                <a:gd name="T70" fmla="*/ 80 w 128"/>
                <a:gd name="T71" fmla="*/ 136 h 225"/>
                <a:gd name="T72" fmla="*/ 116 w 128"/>
                <a:gd name="T73" fmla="*/ 147 h 225"/>
                <a:gd name="T74" fmla="*/ 128 w 128"/>
                <a:gd name="T75" fmla="*/ 177 h 225"/>
                <a:gd name="T76" fmla="*/ 109 w 128"/>
                <a:gd name="T77" fmla="*/ 212 h 225"/>
                <a:gd name="T78" fmla="*/ 61 w 128"/>
                <a:gd name="T79" fmla="*/ 225 h 225"/>
                <a:gd name="T80" fmla="*/ 29 w 128"/>
                <a:gd name="T81" fmla="*/ 220 h 225"/>
                <a:gd name="T82" fmla="*/ 3 w 128"/>
                <a:gd name="T83" fmla="*/ 20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28" h="225">
                  <a:moveTo>
                    <a:pt x="61" y="29"/>
                  </a:moveTo>
                  <a:cubicBezTo>
                    <a:pt x="51" y="29"/>
                    <a:pt x="43" y="32"/>
                    <a:pt x="37" y="39"/>
                  </a:cubicBezTo>
                  <a:cubicBezTo>
                    <a:pt x="31" y="46"/>
                    <a:pt x="28" y="54"/>
                    <a:pt x="28" y="64"/>
                  </a:cubicBezTo>
                  <a:cubicBezTo>
                    <a:pt x="28" y="75"/>
                    <a:pt x="31" y="83"/>
                    <a:pt x="37" y="91"/>
                  </a:cubicBezTo>
                  <a:cubicBezTo>
                    <a:pt x="43" y="98"/>
                    <a:pt x="51" y="101"/>
                    <a:pt x="61" y="101"/>
                  </a:cubicBezTo>
                  <a:cubicBezTo>
                    <a:pt x="70" y="101"/>
                    <a:pt x="78" y="98"/>
                    <a:pt x="84" y="91"/>
                  </a:cubicBezTo>
                  <a:cubicBezTo>
                    <a:pt x="89" y="84"/>
                    <a:pt x="92" y="75"/>
                    <a:pt x="92" y="64"/>
                  </a:cubicBezTo>
                  <a:cubicBezTo>
                    <a:pt x="92" y="54"/>
                    <a:pt x="89" y="46"/>
                    <a:pt x="83" y="39"/>
                  </a:cubicBezTo>
                  <a:cubicBezTo>
                    <a:pt x="77" y="32"/>
                    <a:pt x="70" y="29"/>
                    <a:pt x="61" y="29"/>
                  </a:cubicBezTo>
                  <a:moveTo>
                    <a:pt x="3" y="207"/>
                  </a:moveTo>
                  <a:cubicBezTo>
                    <a:pt x="17" y="185"/>
                    <a:pt x="17" y="185"/>
                    <a:pt x="17" y="185"/>
                  </a:cubicBezTo>
                  <a:cubicBezTo>
                    <a:pt x="33" y="196"/>
                    <a:pt x="48" y="201"/>
                    <a:pt x="62" y="201"/>
                  </a:cubicBezTo>
                  <a:cubicBezTo>
                    <a:pt x="74" y="201"/>
                    <a:pt x="84" y="199"/>
                    <a:pt x="91" y="194"/>
                  </a:cubicBezTo>
                  <a:cubicBezTo>
                    <a:pt x="98" y="190"/>
                    <a:pt x="102" y="185"/>
                    <a:pt x="102" y="178"/>
                  </a:cubicBezTo>
                  <a:cubicBezTo>
                    <a:pt x="102" y="166"/>
                    <a:pt x="93" y="160"/>
                    <a:pt x="75" y="160"/>
                  </a:cubicBezTo>
                  <a:cubicBezTo>
                    <a:pt x="72" y="160"/>
                    <a:pt x="66" y="161"/>
                    <a:pt x="58" y="162"/>
                  </a:cubicBezTo>
                  <a:cubicBezTo>
                    <a:pt x="50" y="164"/>
                    <a:pt x="43" y="164"/>
                    <a:pt x="39" y="164"/>
                  </a:cubicBezTo>
                  <a:cubicBezTo>
                    <a:pt x="17" y="164"/>
                    <a:pt x="6" y="156"/>
                    <a:pt x="6" y="140"/>
                  </a:cubicBezTo>
                  <a:cubicBezTo>
                    <a:pt x="6" y="134"/>
                    <a:pt x="9" y="130"/>
                    <a:pt x="14" y="126"/>
                  </a:cubicBezTo>
                  <a:cubicBezTo>
                    <a:pt x="19" y="122"/>
                    <a:pt x="25" y="119"/>
                    <a:pt x="33" y="117"/>
                  </a:cubicBezTo>
                  <a:cubicBezTo>
                    <a:pt x="11" y="107"/>
                    <a:pt x="0" y="89"/>
                    <a:pt x="0" y="64"/>
                  </a:cubicBezTo>
                  <a:cubicBezTo>
                    <a:pt x="0" y="47"/>
                    <a:pt x="6" y="34"/>
                    <a:pt x="17" y="23"/>
                  </a:cubicBezTo>
                  <a:cubicBezTo>
                    <a:pt x="28" y="12"/>
                    <a:pt x="42" y="7"/>
                    <a:pt x="59" y="7"/>
                  </a:cubicBezTo>
                  <a:cubicBezTo>
                    <a:pt x="74" y="7"/>
                    <a:pt x="86" y="10"/>
                    <a:pt x="95" y="16"/>
                  </a:cubicBezTo>
                  <a:cubicBezTo>
                    <a:pt x="108" y="0"/>
                    <a:pt x="108" y="0"/>
                    <a:pt x="108" y="0"/>
                  </a:cubicBezTo>
                  <a:cubicBezTo>
                    <a:pt x="126" y="17"/>
                    <a:pt x="126" y="17"/>
                    <a:pt x="126" y="17"/>
                  </a:cubicBezTo>
                  <a:cubicBezTo>
                    <a:pt x="110" y="29"/>
                    <a:pt x="110" y="29"/>
                    <a:pt x="110" y="29"/>
                  </a:cubicBezTo>
                  <a:cubicBezTo>
                    <a:pt x="117" y="38"/>
                    <a:pt x="120" y="50"/>
                    <a:pt x="120" y="65"/>
                  </a:cubicBezTo>
                  <a:cubicBezTo>
                    <a:pt x="120" y="81"/>
                    <a:pt x="115" y="94"/>
                    <a:pt x="106" y="104"/>
                  </a:cubicBezTo>
                  <a:cubicBezTo>
                    <a:pt x="96" y="115"/>
                    <a:pt x="83" y="121"/>
                    <a:pt x="67" y="122"/>
                  </a:cubicBezTo>
                  <a:cubicBezTo>
                    <a:pt x="45" y="125"/>
                    <a:pt x="45" y="125"/>
                    <a:pt x="45" y="125"/>
                  </a:cubicBezTo>
                  <a:cubicBezTo>
                    <a:pt x="42" y="125"/>
                    <a:pt x="38" y="126"/>
                    <a:pt x="34" y="128"/>
                  </a:cubicBezTo>
                  <a:cubicBezTo>
                    <a:pt x="29" y="130"/>
                    <a:pt x="27" y="132"/>
                    <a:pt x="27" y="135"/>
                  </a:cubicBezTo>
                  <a:cubicBezTo>
                    <a:pt x="27" y="139"/>
                    <a:pt x="32" y="141"/>
                    <a:pt x="41" y="141"/>
                  </a:cubicBezTo>
                  <a:cubicBezTo>
                    <a:pt x="45" y="141"/>
                    <a:pt x="52" y="140"/>
                    <a:pt x="61" y="139"/>
                  </a:cubicBezTo>
                  <a:cubicBezTo>
                    <a:pt x="69" y="137"/>
                    <a:pt x="76" y="136"/>
                    <a:pt x="80" y="136"/>
                  </a:cubicBezTo>
                  <a:cubicBezTo>
                    <a:pt x="95" y="136"/>
                    <a:pt x="107" y="140"/>
                    <a:pt x="116" y="147"/>
                  </a:cubicBezTo>
                  <a:cubicBezTo>
                    <a:pt x="124" y="155"/>
                    <a:pt x="128" y="165"/>
                    <a:pt x="128" y="177"/>
                  </a:cubicBezTo>
                  <a:cubicBezTo>
                    <a:pt x="128" y="192"/>
                    <a:pt x="122" y="203"/>
                    <a:pt x="109" y="212"/>
                  </a:cubicBezTo>
                  <a:cubicBezTo>
                    <a:pt x="97" y="221"/>
                    <a:pt x="80" y="225"/>
                    <a:pt x="61" y="225"/>
                  </a:cubicBezTo>
                  <a:cubicBezTo>
                    <a:pt x="51" y="225"/>
                    <a:pt x="40" y="223"/>
                    <a:pt x="29" y="220"/>
                  </a:cubicBezTo>
                  <a:cubicBezTo>
                    <a:pt x="18" y="216"/>
                    <a:pt x="9" y="212"/>
                    <a:pt x="3" y="207"/>
                  </a:cubicBezTo>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9">
              <a:extLst>
                <a:ext uri="{FF2B5EF4-FFF2-40B4-BE49-F238E27FC236}">
                  <a16:creationId xmlns:a16="http://schemas.microsoft.com/office/drawing/2014/main" id="{DE342850-0900-4272-8122-CC827B67F3B5}"/>
                </a:ext>
              </a:extLst>
            </p:cNvPr>
            <p:cNvSpPr>
              <a:spLocks noEditPoints="1"/>
            </p:cNvSpPr>
            <p:nvPr userDrawn="1"/>
          </p:nvSpPr>
          <p:spPr bwMode="auto">
            <a:xfrm>
              <a:off x="4838700" y="2409826"/>
              <a:ext cx="463550" cy="522288"/>
            </a:xfrm>
            <a:custGeom>
              <a:avLst/>
              <a:gdLst>
                <a:gd name="T0" fmla="*/ 74 w 142"/>
                <a:gd name="T1" fmla="*/ 23 h 160"/>
                <a:gd name="T2" fmla="*/ 43 w 142"/>
                <a:gd name="T3" fmla="*/ 35 h 160"/>
                <a:gd name="T4" fmla="*/ 29 w 142"/>
                <a:gd name="T5" fmla="*/ 63 h 160"/>
                <a:gd name="T6" fmla="*/ 115 w 142"/>
                <a:gd name="T7" fmla="*/ 63 h 160"/>
                <a:gd name="T8" fmla="*/ 105 w 142"/>
                <a:gd name="T9" fmla="*/ 35 h 160"/>
                <a:gd name="T10" fmla="*/ 74 w 142"/>
                <a:gd name="T11" fmla="*/ 23 h 160"/>
                <a:gd name="T12" fmla="*/ 140 w 142"/>
                <a:gd name="T13" fmla="*/ 83 h 160"/>
                <a:gd name="T14" fmla="*/ 29 w 142"/>
                <a:gd name="T15" fmla="*/ 83 h 160"/>
                <a:gd name="T16" fmla="*/ 44 w 142"/>
                <a:gd name="T17" fmla="*/ 125 h 160"/>
                <a:gd name="T18" fmla="*/ 77 w 142"/>
                <a:gd name="T19" fmla="*/ 137 h 160"/>
                <a:gd name="T20" fmla="*/ 117 w 142"/>
                <a:gd name="T21" fmla="*/ 124 h 160"/>
                <a:gd name="T22" fmla="*/ 128 w 142"/>
                <a:gd name="T23" fmla="*/ 143 h 160"/>
                <a:gd name="T24" fmla="*/ 109 w 142"/>
                <a:gd name="T25" fmla="*/ 154 h 160"/>
                <a:gd name="T26" fmla="*/ 72 w 142"/>
                <a:gd name="T27" fmla="*/ 160 h 160"/>
                <a:gd name="T28" fmla="*/ 22 w 142"/>
                <a:gd name="T29" fmla="*/ 141 h 160"/>
                <a:gd name="T30" fmla="*/ 0 w 142"/>
                <a:gd name="T31" fmla="*/ 82 h 160"/>
                <a:gd name="T32" fmla="*/ 23 w 142"/>
                <a:gd name="T33" fmla="*/ 21 h 160"/>
                <a:gd name="T34" fmla="*/ 72 w 142"/>
                <a:gd name="T35" fmla="*/ 0 h 160"/>
                <a:gd name="T36" fmla="*/ 124 w 142"/>
                <a:gd name="T37" fmla="*/ 19 h 160"/>
                <a:gd name="T38" fmla="*/ 142 w 142"/>
                <a:gd name="T39" fmla="*/ 66 h 160"/>
                <a:gd name="T40" fmla="*/ 140 w 142"/>
                <a:gd name="T41" fmla="*/ 8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2" h="160">
                  <a:moveTo>
                    <a:pt x="74" y="23"/>
                  </a:moveTo>
                  <a:cubicBezTo>
                    <a:pt x="61" y="23"/>
                    <a:pt x="51" y="27"/>
                    <a:pt x="43" y="35"/>
                  </a:cubicBezTo>
                  <a:cubicBezTo>
                    <a:pt x="35" y="42"/>
                    <a:pt x="30" y="52"/>
                    <a:pt x="29" y="63"/>
                  </a:cubicBezTo>
                  <a:cubicBezTo>
                    <a:pt x="115" y="63"/>
                    <a:pt x="115" y="63"/>
                    <a:pt x="115" y="63"/>
                  </a:cubicBezTo>
                  <a:cubicBezTo>
                    <a:pt x="115" y="52"/>
                    <a:pt x="112" y="43"/>
                    <a:pt x="105" y="35"/>
                  </a:cubicBezTo>
                  <a:cubicBezTo>
                    <a:pt x="97" y="27"/>
                    <a:pt x="87" y="23"/>
                    <a:pt x="74" y="23"/>
                  </a:cubicBezTo>
                  <a:moveTo>
                    <a:pt x="140" y="83"/>
                  </a:moveTo>
                  <a:cubicBezTo>
                    <a:pt x="29" y="83"/>
                    <a:pt x="29" y="83"/>
                    <a:pt x="29" y="83"/>
                  </a:cubicBezTo>
                  <a:cubicBezTo>
                    <a:pt x="29" y="101"/>
                    <a:pt x="34" y="115"/>
                    <a:pt x="44" y="125"/>
                  </a:cubicBezTo>
                  <a:cubicBezTo>
                    <a:pt x="52" y="133"/>
                    <a:pt x="64" y="137"/>
                    <a:pt x="77" y="137"/>
                  </a:cubicBezTo>
                  <a:cubicBezTo>
                    <a:pt x="93" y="137"/>
                    <a:pt x="106" y="133"/>
                    <a:pt x="117" y="124"/>
                  </a:cubicBezTo>
                  <a:cubicBezTo>
                    <a:pt x="128" y="143"/>
                    <a:pt x="128" y="143"/>
                    <a:pt x="128" y="143"/>
                  </a:cubicBezTo>
                  <a:cubicBezTo>
                    <a:pt x="124" y="148"/>
                    <a:pt x="117" y="151"/>
                    <a:pt x="109" y="154"/>
                  </a:cubicBezTo>
                  <a:cubicBezTo>
                    <a:pt x="98" y="158"/>
                    <a:pt x="85" y="160"/>
                    <a:pt x="72" y="160"/>
                  </a:cubicBezTo>
                  <a:cubicBezTo>
                    <a:pt x="53" y="160"/>
                    <a:pt x="36" y="154"/>
                    <a:pt x="22" y="141"/>
                  </a:cubicBezTo>
                  <a:cubicBezTo>
                    <a:pt x="7" y="126"/>
                    <a:pt x="0" y="107"/>
                    <a:pt x="0" y="82"/>
                  </a:cubicBezTo>
                  <a:cubicBezTo>
                    <a:pt x="0" y="57"/>
                    <a:pt x="8" y="36"/>
                    <a:pt x="23" y="21"/>
                  </a:cubicBezTo>
                  <a:cubicBezTo>
                    <a:pt x="37" y="7"/>
                    <a:pt x="53" y="0"/>
                    <a:pt x="72" y="0"/>
                  </a:cubicBezTo>
                  <a:cubicBezTo>
                    <a:pt x="94" y="0"/>
                    <a:pt x="112" y="6"/>
                    <a:pt x="124" y="19"/>
                  </a:cubicBezTo>
                  <a:cubicBezTo>
                    <a:pt x="136" y="31"/>
                    <a:pt x="142" y="46"/>
                    <a:pt x="142" y="66"/>
                  </a:cubicBezTo>
                  <a:cubicBezTo>
                    <a:pt x="142" y="72"/>
                    <a:pt x="142" y="78"/>
                    <a:pt x="140" y="83"/>
                  </a:cubicBezTo>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10">
              <a:extLst>
                <a:ext uri="{FF2B5EF4-FFF2-40B4-BE49-F238E27FC236}">
                  <a16:creationId xmlns:a16="http://schemas.microsoft.com/office/drawing/2014/main" id="{06F7DD2B-7643-4151-BEE0-8F66A034CE5A}"/>
                </a:ext>
              </a:extLst>
            </p:cNvPr>
            <p:cNvSpPr>
              <a:spLocks/>
            </p:cNvSpPr>
            <p:nvPr userDrawn="1"/>
          </p:nvSpPr>
          <p:spPr bwMode="auto">
            <a:xfrm>
              <a:off x="5370513" y="2419351"/>
              <a:ext cx="411163" cy="512763"/>
            </a:xfrm>
            <a:custGeom>
              <a:avLst/>
              <a:gdLst>
                <a:gd name="T0" fmla="*/ 28 w 126"/>
                <a:gd name="T1" fmla="*/ 0 h 157"/>
                <a:gd name="T2" fmla="*/ 28 w 126"/>
                <a:gd name="T3" fmla="*/ 98 h 157"/>
                <a:gd name="T4" fmla="*/ 59 w 126"/>
                <a:gd name="T5" fmla="*/ 134 h 157"/>
                <a:gd name="T6" fmla="*/ 84 w 126"/>
                <a:gd name="T7" fmla="*/ 126 h 157"/>
                <a:gd name="T8" fmla="*/ 99 w 126"/>
                <a:gd name="T9" fmla="*/ 108 h 157"/>
                <a:gd name="T10" fmla="*/ 99 w 126"/>
                <a:gd name="T11" fmla="*/ 0 h 157"/>
                <a:gd name="T12" fmla="*/ 126 w 126"/>
                <a:gd name="T13" fmla="*/ 0 h 157"/>
                <a:gd name="T14" fmla="*/ 126 w 126"/>
                <a:gd name="T15" fmla="*/ 154 h 157"/>
                <a:gd name="T16" fmla="*/ 99 w 126"/>
                <a:gd name="T17" fmla="*/ 154 h 157"/>
                <a:gd name="T18" fmla="*/ 99 w 126"/>
                <a:gd name="T19" fmla="*/ 133 h 157"/>
                <a:gd name="T20" fmla="*/ 80 w 126"/>
                <a:gd name="T21" fmla="*/ 150 h 157"/>
                <a:gd name="T22" fmla="*/ 53 w 126"/>
                <a:gd name="T23" fmla="*/ 157 h 157"/>
                <a:gd name="T24" fmla="*/ 14 w 126"/>
                <a:gd name="T25" fmla="*/ 143 h 157"/>
                <a:gd name="T26" fmla="*/ 0 w 126"/>
                <a:gd name="T27" fmla="*/ 101 h 157"/>
                <a:gd name="T28" fmla="*/ 0 w 126"/>
                <a:gd name="T29" fmla="*/ 0 h 157"/>
                <a:gd name="T30" fmla="*/ 28 w 126"/>
                <a:gd name="T3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6" h="157">
                  <a:moveTo>
                    <a:pt x="28" y="0"/>
                  </a:moveTo>
                  <a:cubicBezTo>
                    <a:pt x="28" y="98"/>
                    <a:pt x="28" y="98"/>
                    <a:pt x="28" y="98"/>
                  </a:cubicBezTo>
                  <a:cubicBezTo>
                    <a:pt x="28" y="122"/>
                    <a:pt x="38" y="134"/>
                    <a:pt x="59" y="134"/>
                  </a:cubicBezTo>
                  <a:cubicBezTo>
                    <a:pt x="68" y="134"/>
                    <a:pt x="76" y="132"/>
                    <a:pt x="84" y="126"/>
                  </a:cubicBezTo>
                  <a:cubicBezTo>
                    <a:pt x="91" y="121"/>
                    <a:pt x="96" y="115"/>
                    <a:pt x="99" y="108"/>
                  </a:cubicBezTo>
                  <a:cubicBezTo>
                    <a:pt x="99" y="0"/>
                    <a:pt x="99" y="0"/>
                    <a:pt x="99" y="0"/>
                  </a:cubicBezTo>
                  <a:cubicBezTo>
                    <a:pt x="126" y="0"/>
                    <a:pt x="126" y="0"/>
                    <a:pt x="126" y="0"/>
                  </a:cubicBezTo>
                  <a:cubicBezTo>
                    <a:pt x="126" y="154"/>
                    <a:pt x="126" y="154"/>
                    <a:pt x="126" y="154"/>
                  </a:cubicBezTo>
                  <a:cubicBezTo>
                    <a:pt x="99" y="154"/>
                    <a:pt x="99" y="154"/>
                    <a:pt x="99" y="154"/>
                  </a:cubicBezTo>
                  <a:cubicBezTo>
                    <a:pt x="99" y="133"/>
                    <a:pt x="99" y="133"/>
                    <a:pt x="99" y="133"/>
                  </a:cubicBezTo>
                  <a:cubicBezTo>
                    <a:pt x="95" y="139"/>
                    <a:pt x="89" y="145"/>
                    <a:pt x="80" y="150"/>
                  </a:cubicBezTo>
                  <a:cubicBezTo>
                    <a:pt x="71" y="155"/>
                    <a:pt x="62" y="157"/>
                    <a:pt x="53" y="157"/>
                  </a:cubicBezTo>
                  <a:cubicBezTo>
                    <a:pt x="36" y="157"/>
                    <a:pt x="23" y="153"/>
                    <a:pt x="14" y="143"/>
                  </a:cubicBezTo>
                  <a:cubicBezTo>
                    <a:pt x="5" y="133"/>
                    <a:pt x="0" y="119"/>
                    <a:pt x="0" y="101"/>
                  </a:cubicBezTo>
                  <a:cubicBezTo>
                    <a:pt x="0" y="0"/>
                    <a:pt x="0" y="0"/>
                    <a:pt x="0" y="0"/>
                  </a:cubicBezTo>
                  <a:lnTo>
                    <a:pt x="28" y="0"/>
                  </a:lnTo>
                  <a:close/>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11">
              <a:extLst>
                <a:ext uri="{FF2B5EF4-FFF2-40B4-BE49-F238E27FC236}">
                  <a16:creationId xmlns:a16="http://schemas.microsoft.com/office/drawing/2014/main" id="{282113B7-B0E1-434E-9A73-59B3FB749986}"/>
                </a:ext>
              </a:extLst>
            </p:cNvPr>
            <p:cNvSpPr>
              <a:spLocks/>
            </p:cNvSpPr>
            <p:nvPr userDrawn="1"/>
          </p:nvSpPr>
          <p:spPr bwMode="auto">
            <a:xfrm>
              <a:off x="5843588" y="2409826"/>
              <a:ext cx="328613" cy="522288"/>
            </a:xfrm>
            <a:custGeom>
              <a:avLst/>
              <a:gdLst>
                <a:gd name="T0" fmla="*/ 0 w 101"/>
                <a:gd name="T1" fmla="*/ 148 h 160"/>
                <a:gd name="T2" fmla="*/ 10 w 101"/>
                <a:gd name="T3" fmla="*/ 122 h 160"/>
                <a:gd name="T4" fmla="*/ 47 w 101"/>
                <a:gd name="T5" fmla="*/ 137 h 160"/>
                <a:gd name="T6" fmla="*/ 72 w 101"/>
                <a:gd name="T7" fmla="*/ 116 h 160"/>
                <a:gd name="T8" fmla="*/ 47 w 101"/>
                <a:gd name="T9" fmla="*/ 90 h 160"/>
                <a:gd name="T10" fmla="*/ 22 w 101"/>
                <a:gd name="T11" fmla="*/ 77 h 160"/>
                <a:gd name="T12" fmla="*/ 10 w 101"/>
                <a:gd name="T13" fmla="*/ 66 h 160"/>
                <a:gd name="T14" fmla="*/ 3 w 101"/>
                <a:gd name="T15" fmla="*/ 54 h 160"/>
                <a:gd name="T16" fmla="*/ 1 w 101"/>
                <a:gd name="T17" fmla="*/ 40 h 160"/>
                <a:gd name="T18" fmla="*/ 15 w 101"/>
                <a:gd name="T19" fmla="*/ 11 h 160"/>
                <a:gd name="T20" fmla="*/ 51 w 101"/>
                <a:gd name="T21" fmla="*/ 0 h 160"/>
                <a:gd name="T22" fmla="*/ 94 w 101"/>
                <a:gd name="T23" fmla="*/ 11 h 160"/>
                <a:gd name="T24" fmla="*/ 86 w 101"/>
                <a:gd name="T25" fmla="*/ 36 h 160"/>
                <a:gd name="T26" fmla="*/ 53 w 101"/>
                <a:gd name="T27" fmla="*/ 23 h 160"/>
                <a:gd name="T28" fmla="*/ 36 w 101"/>
                <a:gd name="T29" fmla="*/ 28 h 160"/>
                <a:gd name="T30" fmla="*/ 30 w 101"/>
                <a:gd name="T31" fmla="*/ 39 h 160"/>
                <a:gd name="T32" fmla="*/ 47 w 101"/>
                <a:gd name="T33" fmla="*/ 62 h 160"/>
                <a:gd name="T34" fmla="*/ 66 w 101"/>
                <a:gd name="T35" fmla="*/ 71 h 160"/>
                <a:gd name="T36" fmla="*/ 93 w 101"/>
                <a:gd name="T37" fmla="*/ 90 h 160"/>
                <a:gd name="T38" fmla="*/ 101 w 101"/>
                <a:gd name="T39" fmla="*/ 116 h 160"/>
                <a:gd name="T40" fmla="*/ 86 w 101"/>
                <a:gd name="T41" fmla="*/ 149 h 160"/>
                <a:gd name="T42" fmla="*/ 46 w 101"/>
                <a:gd name="T43" fmla="*/ 160 h 160"/>
                <a:gd name="T44" fmla="*/ 0 w 101"/>
                <a:gd name="T45" fmla="*/ 14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1" h="160">
                  <a:moveTo>
                    <a:pt x="0" y="148"/>
                  </a:moveTo>
                  <a:cubicBezTo>
                    <a:pt x="10" y="122"/>
                    <a:pt x="10" y="122"/>
                    <a:pt x="10" y="122"/>
                  </a:cubicBezTo>
                  <a:cubicBezTo>
                    <a:pt x="25" y="132"/>
                    <a:pt x="37" y="137"/>
                    <a:pt x="47" y="137"/>
                  </a:cubicBezTo>
                  <a:cubicBezTo>
                    <a:pt x="63" y="137"/>
                    <a:pt x="72" y="130"/>
                    <a:pt x="72" y="116"/>
                  </a:cubicBezTo>
                  <a:cubicBezTo>
                    <a:pt x="72" y="106"/>
                    <a:pt x="64" y="97"/>
                    <a:pt x="47" y="90"/>
                  </a:cubicBezTo>
                  <a:cubicBezTo>
                    <a:pt x="35" y="84"/>
                    <a:pt x="26" y="80"/>
                    <a:pt x="22" y="77"/>
                  </a:cubicBezTo>
                  <a:cubicBezTo>
                    <a:pt x="18" y="74"/>
                    <a:pt x="14" y="70"/>
                    <a:pt x="10" y="66"/>
                  </a:cubicBezTo>
                  <a:cubicBezTo>
                    <a:pt x="7" y="63"/>
                    <a:pt x="5" y="59"/>
                    <a:pt x="3" y="54"/>
                  </a:cubicBezTo>
                  <a:cubicBezTo>
                    <a:pt x="2" y="50"/>
                    <a:pt x="1" y="45"/>
                    <a:pt x="1" y="40"/>
                  </a:cubicBezTo>
                  <a:cubicBezTo>
                    <a:pt x="1" y="28"/>
                    <a:pt x="6" y="18"/>
                    <a:pt x="15" y="11"/>
                  </a:cubicBezTo>
                  <a:cubicBezTo>
                    <a:pt x="24" y="4"/>
                    <a:pt x="36" y="0"/>
                    <a:pt x="51" y="0"/>
                  </a:cubicBezTo>
                  <a:cubicBezTo>
                    <a:pt x="62" y="0"/>
                    <a:pt x="76" y="4"/>
                    <a:pt x="94" y="11"/>
                  </a:cubicBezTo>
                  <a:cubicBezTo>
                    <a:pt x="86" y="36"/>
                    <a:pt x="86" y="36"/>
                    <a:pt x="86" y="36"/>
                  </a:cubicBezTo>
                  <a:cubicBezTo>
                    <a:pt x="75" y="27"/>
                    <a:pt x="64" y="23"/>
                    <a:pt x="53" y="23"/>
                  </a:cubicBezTo>
                  <a:cubicBezTo>
                    <a:pt x="46" y="23"/>
                    <a:pt x="41" y="25"/>
                    <a:pt x="36" y="28"/>
                  </a:cubicBezTo>
                  <a:cubicBezTo>
                    <a:pt x="32" y="31"/>
                    <a:pt x="30" y="35"/>
                    <a:pt x="30" y="39"/>
                  </a:cubicBezTo>
                  <a:cubicBezTo>
                    <a:pt x="30" y="49"/>
                    <a:pt x="35" y="57"/>
                    <a:pt x="47" y="62"/>
                  </a:cubicBezTo>
                  <a:cubicBezTo>
                    <a:pt x="66" y="71"/>
                    <a:pt x="66" y="71"/>
                    <a:pt x="66" y="71"/>
                  </a:cubicBezTo>
                  <a:cubicBezTo>
                    <a:pt x="78" y="76"/>
                    <a:pt x="87" y="83"/>
                    <a:pt x="93" y="90"/>
                  </a:cubicBezTo>
                  <a:cubicBezTo>
                    <a:pt x="98" y="97"/>
                    <a:pt x="101" y="105"/>
                    <a:pt x="101" y="116"/>
                  </a:cubicBezTo>
                  <a:cubicBezTo>
                    <a:pt x="101" y="130"/>
                    <a:pt x="96" y="141"/>
                    <a:pt x="86" y="149"/>
                  </a:cubicBezTo>
                  <a:cubicBezTo>
                    <a:pt x="76" y="156"/>
                    <a:pt x="63" y="160"/>
                    <a:pt x="46" y="160"/>
                  </a:cubicBezTo>
                  <a:cubicBezTo>
                    <a:pt x="30" y="160"/>
                    <a:pt x="14" y="156"/>
                    <a:pt x="0" y="148"/>
                  </a:cubicBezTo>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61584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p:spTree>
      <p:nvGrpSpPr>
        <p:cNvPr id="1" name=""/>
        <p:cNvGrpSpPr/>
        <p:nvPr/>
      </p:nvGrpSpPr>
      <p:grpSpPr>
        <a:xfrm>
          <a:off x="0" y="0"/>
          <a:ext cx="0" cy="0"/>
          <a:chOff x="0" y="0"/>
          <a:chExt cx="0" cy="0"/>
        </a:xfrm>
      </p:grpSpPr>
      <p:pic>
        <p:nvPicPr>
          <p:cNvPr id="28" name="Picture 27" descr="A picture containing outdoor&#10;&#10;Description generated with very high confidence">
            <a:extLst>
              <a:ext uri="{FF2B5EF4-FFF2-40B4-BE49-F238E27FC236}">
                <a16:creationId xmlns:a16="http://schemas.microsoft.com/office/drawing/2014/main" id="{8BDD3F1A-0226-4133-8200-2BFD2994E4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9" name="Rectangle 28">
            <a:extLst>
              <a:ext uri="{FF2B5EF4-FFF2-40B4-BE49-F238E27FC236}">
                <a16:creationId xmlns:a16="http://schemas.microsoft.com/office/drawing/2014/main" id="{2CC44766-F15A-41E7-A5D3-BF025F156C34}"/>
              </a:ext>
            </a:extLst>
          </p:cNvPr>
          <p:cNvSpPr/>
          <p:nvPr userDrawn="1"/>
        </p:nvSpPr>
        <p:spPr>
          <a:xfrm>
            <a:off x="0" y="0"/>
            <a:ext cx="12192000" cy="6857998"/>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Freeform: Shape 23">
            <a:extLst>
              <a:ext uri="{FF2B5EF4-FFF2-40B4-BE49-F238E27FC236}">
                <a16:creationId xmlns:a16="http://schemas.microsoft.com/office/drawing/2014/main" id="{9D047DD6-73B3-4C28-B429-327937A6303A}"/>
              </a:ext>
            </a:extLst>
          </p:cNvPr>
          <p:cNvSpPr/>
          <p:nvPr userDrawn="1"/>
        </p:nvSpPr>
        <p:spPr>
          <a:xfrm>
            <a:off x="693556" y="493485"/>
            <a:ext cx="1543020" cy="6364515"/>
          </a:xfrm>
          <a:custGeom>
            <a:avLst/>
            <a:gdLst>
              <a:gd name="connsiteX0" fmla="*/ 771510 w 1543020"/>
              <a:gd name="connsiteY0" fmla="*/ 0 h 6364515"/>
              <a:gd name="connsiteX1" fmla="*/ 1543020 w 1543020"/>
              <a:gd name="connsiteY1" fmla="*/ 771510 h 6364515"/>
              <a:gd name="connsiteX2" fmla="*/ 1543020 w 1543020"/>
              <a:gd name="connsiteY2" fmla="*/ 6364515 h 6364515"/>
              <a:gd name="connsiteX3" fmla="*/ 0 w 1543020"/>
              <a:gd name="connsiteY3" fmla="*/ 6364515 h 6364515"/>
              <a:gd name="connsiteX4" fmla="*/ 0 w 1543020"/>
              <a:gd name="connsiteY4" fmla="*/ 771510 h 6364515"/>
              <a:gd name="connsiteX5" fmla="*/ 771510 w 1543020"/>
              <a:gd name="connsiteY5" fmla="*/ 0 h 6364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3020" h="6364515">
                <a:moveTo>
                  <a:pt x="771510" y="0"/>
                </a:moveTo>
                <a:cubicBezTo>
                  <a:pt x="1197603" y="0"/>
                  <a:pt x="1543020" y="345417"/>
                  <a:pt x="1543020" y="771510"/>
                </a:cubicBezTo>
                <a:lnTo>
                  <a:pt x="1543020" y="6364515"/>
                </a:lnTo>
                <a:lnTo>
                  <a:pt x="0" y="6364515"/>
                </a:lnTo>
                <a:lnTo>
                  <a:pt x="0" y="771510"/>
                </a:lnTo>
                <a:cubicBezTo>
                  <a:pt x="0" y="345417"/>
                  <a:pt x="345417" y="0"/>
                  <a:pt x="771510" y="0"/>
                </a:cubicBezTo>
                <a:close/>
              </a:path>
            </a:pathLst>
          </a:cu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ADAB6006-8FF0-4ECE-9F3A-911691C7A7B3}"/>
              </a:ext>
            </a:extLst>
          </p:cNvPr>
          <p:cNvSpPr/>
          <p:nvPr userDrawn="1"/>
        </p:nvSpPr>
        <p:spPr>
          <a:xfrm>
            <a:off x="837322" y="609601"/>
            <a:ext cx="1255488" cy="1255486"/>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a:solidFill>
                <a:schemeClr val="bg1"/>
              </a:solidFill>
            </a:endParaRPr>
          </a:p>
        </p:txBody>
      </p:sp>
      <p:sp>
        <p:nvSpPr>
          <p:cNvPr id="2" name="Title 1">
            <a:extLst>
              <a:ext uri="{FF2B5EF4-FFF2-40B4-BE49-F238E27FC236}">
                <a16:creationId xmlns:a16="http://schemas.microsoft.com/office/drawing/2014/main" id="{0B9ADC4A-720F-46B1-98A1-87DAD495DC1B}"/>
              </a:ext>
            </a:extLst>
          </p:cNvPr>
          <p:cNvSpPr>
            <a:spLocks noGrp="1"/>
          </p:cNvSpPr>
          <p:nvPr>
            <p:ph type="title"/>
          </p:nvPr>
        </p:nvSpPr>
        <p:spPr>
          <a:xfrm>
            <a:off x="3048000" y="795338"/>
            <a:ext cx="4229100" cy="2852737"/>
          </a:xfrm>
        </p:spPr>
        <p:txBody>
          <a:bodyPr anchor="b">
            <a:normAutofit/>
          </a:bodyPr>
          <a:lstStyle>
            <a:lvl1pPr>
              <a:defRPr sz="3600" b="1" cap="all" baseline="0">
                <a:solidFill>
                  <a:schemeClr val="tx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E6739A5-7B29-4322-8DEC-B816DF173FEF}"/>
              </a:ext>
            </a:extLst>
          </p:cNvPr>
          <p:cNvSpPr>
            <a:spLocks noGrp="1"/>
          </p:cNvSpPr>
          <p:nvPr>
            <p:ph type="body" idx="1"/>
          </p:nvPr>
        </p:nvSpPr>
        <p:spPr>
          <a:xfrm>
            <a:off x="3048000" y="3789364"/>
            <a:ext cx="4229100" cy="552450"/>
          </a:xfrm>
        </p:spPr>
        <p:txBody>
          <a:bodyPr anchor="ctr">
            <a:normAutofit/>
          </a:bodyPr>
          <a:lstStyle>
            <a:lvl1pPr marL="0" indent="0">
              <a:lnSpc>
                <a:spcPct val="100000"/>
              </a:lnSpc>
              <a:spcBef>
                <a:spcPts val="0"/>
              </a:spcBef>
              <a:buNone/>
              <a:defRPr sz="2800" b="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35" name="Freeform: Shape 34">
            <a:extLst>
              <a:ext uri="{FF2B5EF4-FFF2-40B4-BE49-F238E27FC236}">
                <a16:creationId xmlns:a16="http://schemas.microsoft.com/office/drawing/2014/main" id="{4071DF3E-A139-4B83-B575-BC1867577449}"/>
              </a:ext>
            </a:extLst>
          </p:cNvPr>
          <p:cNvSpPr/>
          <p:nvPr userDrawn="1"/>
        </p:nvSpPr>
        <p:spPr>
          <a:xfrm rot="5400000">
            <a:off x="2486478" y="5543550"/>
            <a:ext cx="1892300" cy="736600"/>
          </a:xfrm>
          <a:custGeom>
            <a:avLst/>
            <a:gdLst>
              <a:gd name="connsiteX0" fmla="*/ 0 w 1892300"/>
              <a:gd name="connsiteY0" fmla="*/ 368300 h 736600"/>
              <a:gd name="connsiteX1" fmla="*/ 368300 w 1892300"/>
              <a:gd name="connsiteY1" fmla="*/ 0 h 736600"/>
              <a:gd name="connsiteX2" fmla="*/ 1892300 w 1892300"/>
              <a:gd name="connsiteY2" fmla="*/ 0 h 736600"/>
              <a:gd name="connsiteX3" fmla="*/ 1892300 w 1892300"/>
              <a:gd name="connsiteY3" fmla="*/ 736600 h 736600"/>
              <a:gd name="connsiteX4" fmla="*/ 368300 w 1892300"/>
              <a:gd name="connsiteY4" fmla="*/ 736600 h 736600"/>
              <a:gd name="connsiteX5" fmla="*/ 0 w 1892300"/>
              <a:gd name="connsiteY5" fmla="*/ 3683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2300" h="736600">
                <a:moveTo>
                  <a:pt x="0" y="368300"/>
                </a:moveTo>
                <a:cubicBezTo>
                  <a:pt x="0" y="164894"/>
                  <a:pt x="164894" y="0"/>
                  <a:pt x="368300" y="0"/>
                </a:cubicBezTo>
                <a:lnTo>
                  <a:pt x="1892300" y="0"/>
                </a:lnTo>
                <a:lnTo>
                  <a:pt x="1892300" y="736600"/>
                </a:lnTo>
                <a:lnTo>
                  <a:pt x="368300" y="736600"/>
                </a:lnTo>
                <a:cubicBezTo>
                  <a:pt x="164894" y="736600"/>
                  <a:pt x="0" y="571706"/>
                  <a:pt x="0" y="3683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Freeform: Shape 31">
            <a:extLst>
              <a:ext uri="{FF2B5EF4-FFF2-40B4-BE49-F238E27FC236}">
                <a16:creationId xmlns:a16="http://schemas.microsoft.com/office/drawing/2014/main" id="{282668F5-FEFD-49FC-A2DA-9EFBBC585DF3}"/>
              </a:ext>
            </a:extLst>
          </p:cNvPr>
          <p:cNvSpPr/>
          <p:nvPr userDrawn="1"/>
        </p:nvSpPr>
        <p:spPr>
          <a:xfrm rot="5400000">
            <a:off x="6965950" y="730250"/>
            <a:ext cx="2197100" cy="736600"/>
          </a:xfrm>
          <a:custGeom>
            <a:avLst/>
            <a:gdLst>
              <a:gd name="connsiteX0" fmla="*/ 0 w 2197100"/>
              <a:gd name="connsiteY0" fmla="*/ 736600 h 736600"/>
              <a:gd name="connsiteX1" fmla="*/ 0 w 2197100"/>
              <a:gd name="connsiteY1" fmla="*/ 0 h 736600"/>
              <a:gd name="connsiteX2" fmla="*/ 1828800 w 2197100"/>
              <a:gd name="connsiteY2" fmla="*/ 0 h 736600"/>
              <a:gd name="connsiteX3" fmla="*/ 2197100 w 2197100"/>
              <a:gd name="connsiteY3" fmla="*/ 368300 h 736600"/>
              <a:gd name="connsiteX4" fmla="*/ 1828800 w 2197100"/>
              <a:gd name="connsiteY4" fmla="*/ 736600 h 736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7100" h="736600">
                <a:moveTo>
                  <a:pt x="0" y="736600"/>
                </a:moveTo>
                <a:lnTo>
                  <a:pt x="0" y="0"/>
                </a:lnTo>
                <a:lnTo>
                  <a:pt x="1828800" y="0"/>
                </a:lnTo>
                <a:cubicBezTo>
                  <a:pt x="2032206" y="0"/>
                  <a:pt x="2197100" y="164894"/>
                  <a:pt x="2197100" y="368300"/>
                </a:cubicBezTo>
                <a:cubicBezTo>
                  <a:pt x="2197100" y="571706"/>
                  <a:pt x="2032206" y="736600"/>
                  <a:pt x="1828800" y="7366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ext Placeholder 9">
            <a:extLst>
              <a:ext uri="{FF2B5EF4-FFF2-40B4-BE49-F238E27FC236}">
                <a16:creationId xmlns:a16="http://schemas.microsoft.com/office/drawing/2014/main" id="{98ED0577-7CE6-4271-BE86-1FC4E49AD44C}"/>
              </a:ext>
            </a:extLst>
          </p:cNvPr>
          <p:cNvSpPr>
            <a:spLocks noGrp="1"/>
          </p:cNvSpPr>
          <p:nvPr>
            <p:ph type="body" sz="quarter" idx="10" hasCustomPrompt="1"/>
          </p:nvPr>
        </p:nvSpPr>
        <p:spPr>
          <a:xfrm>
            <a:off x="836410" y="609601"/>
            <a:ext cx="1256400" cy="1256400"/>
          </a:xfrm>
        </p:spPr>
        <p:txBody>
          <a:bodyPr anchor="ctr">
            <a:normAutofit/>
          </a:bodyPr>
          <a:lstStyle>
            <a:lvl1pPr algn="ctr">
              <a:lnSpc>
                <a:spcPct val="100000"/>
              </a:lnSpc>
              <a:spcBef>
                <a:spcPts val="0"/>
              </a:spcBef>
              <a:defRPr sz="4400">
                <a:solidFill>
                  <a:schemeClr val="bg1"/>
                </a:solidFill>
              </a:defRPr>
            </a:lvl1pPr>
          </a:lstStyle>
          <a:p>
            <a:pPr lvl="0"/>
            <a:r>
              <a:rPr lang="en-US"/>
              <a:t>##</a:t>
            </a:r>
            <a:endParaRPr lang="en-GB"/>
          </a:p>
        </p:txBody>
      </p:sp>
      <p:sp>
        <p:nvSpPr>
          <p:cNvPr id="43" name="Freeform: Shape 42">
            <a:extLst>
              <a:ext uri="{FF2B5EF4-FFF2-40B4-BE49-F238E27FC236}">
                <a16:creationId xmlns:a16="http://schemas.microsoft.com/office/drawing/2014/main" id="{33C8BA43-3B9B-4D2C-A1CB-6E3CE971B31C}"/>
              </a:ext>
            </a:extLst>
          </p:cNvPr>
          <p:cNvSpPr/>
          <p:nvPr userDrawn="1"/>
        </p:nvSpPr>
        <p:spPr>
          <a:xfrm rot="5400000">
            <a:off x="8648700" y="4013200"/>
            <a:ext cx="4953000" cy="736600"/>
          </a:xfrm>
          <a:custGeom>
            <a:avLst/>
            <a:gdLst>
              <a:gd name="connsiteX0" fmla="*/ 0 w 4953000"/>
              <a:gd name="connsiteY0" fmla="*/ 368300 h 736600"/>
              <a:gd name="connsiteX1" fmla="*/ 368300 w 4953000"/>
              <a:gd name="connsiteY1" fmla="*/ 0 h 736600"/>
              <a:gd name="connsiteX2" fmla="*/ 4953000 w 4953000"/>
              <a:gd name="connsiteY2" fmla="*/ 0 h 736600"/>
              <a:gd name="connsiteX3" fmla="*/ 4953000 w 4953000"/>
              <a:gd name="connsiteY3" fmla="*/ 736600 h 736600"/>
              <a:gd name="connsiteX4" fmla="*/ 368300 w 4953000"/>
              <a:gd name="connsiteY4" fmla="*/ 736600 h 736600"/>
              <a:gd name="connsiteX5" fmla="*/ 0 w 4953000"/>
              <a:gd name="connsiteY5" fmla="*/ 3683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53000" h="736600">
                <a:moveTo>
                  <a:pt x="0" y="368300"/>
                </a:moveTo>
                <a:cubicBezTo>
                  <a:pt x="0" y="164894"/>
                  <a:pt x="164894" y="0"/>
                  <a:pt x="368300" y="0"/>
                </a:cubicBezTo>
                <a:lnTo>
                  <a:pt x="4953000" y="0"/>
                </a:lnTo>
                <a:lnTo>
                  <a:pt x="4953000" y="736600"/>
                </a:lnTo>
                <a:lnTo>
                  <a:pt x="368300" y="736600"/>
                </a:lnTo>
                <a:cubicBezTo>
                  <a:pt x="164894" y="736600"/>
                  <a:pt x="0" y="571706"/>
                  <a:pt x="0" y="3683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4" name="Group 43">
            <a:extLst>
              <a:ext uri="{FF2B5EF4-FFF2-40B4-BE49-F238E27FC236}">
                <a16:creationId xmlns:a16="http://schemas.microsoft.com/office/drawing/2014/main" id="{0D9CC793-7332-4F1C-9139-C5AADEE66B67}"/>
              </a:ext>
            </a:extLst>
          </p:cNvPr>
          <p:cNvGrpSpPr/>
          <p:nvPr userDrawn="1"/>
        </p:nvGrpSpPr>
        <p:grpSpPr>
          <a:xfrm>
            <a:off x="10817037" y="1965137"/>
            <a:ext cx="617726" cy="617726"/>
            <a:chOff x="10131237" y="1965137"/>
            <a:chExt cx="617726" cy="617726"/>
          </a:xfrm>
        </p:grpSpPr>
        <p:sp>
          <p:nvSpPr>
            <p:cNvPr id="45" name="Oval 44">
              <a:extLst>
                <a:ext uri="{FF2B5EF4-FFF2-40B4-BE49-F238E27FC236}">
                  <a16:creationId xmlns:a16="http://schemas.microsoft.com/office/drawing/2014/main" id="{104B4FF7-1B5E-4389-BBB5-CF129712E3F8}"/>
                </a:ext>
              </a:extLst>
            </p:cNvPr>
            <p:cNvSpPr>
              <a:spLocks noChangeAspect="1"/>
            </p:cNvSpPr>
            <p:nvPr userDrawn="1"/>
          </p:nvSpPr>
          <p:spPr>
            <a:xfrm>
              <a:off x="10131237" y="1965137"/>
              <a:ext cx="617726" cy="6177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46" name="Group 45">
              <a:extLst>
                <a:ext uri="{FF2B5EF4-FFF2-40B4-BE49-F238E27FC236}">
                  <a16:creationId xmlns:a16="http://schemas.microsoft.com/office/drawing/2014/main" id="{73DB47BB-4CAB-4613-BD5A-879D595B0618}"/>
                </a:ext>
              </a:extLst>
            </p:cNvPr>
            <p:cNvGrpSpPr/>
            <p:nvPr/>
          </p:nvGrpSpPr>
          <p:grpSpPr>
            <a:xfrm>
              <a:off x="10379250" y="2093262"/>
              <a:ext cx="121701" cy="361477"/>
              <a:chOff x="-12442" y="1663700"/>
              <a:chExt cx="1761630" cy="5232400"/>
            </a:xfrm>
            <a:solidFill>
              <a:schemeClr val="tx2"/>
            </a:solidFill>
          </p:grpSpPr>
          <p:sp>
            <p:nvSpPr>
              <p:cNvPr id="47" name="Freeform 5">
                <a:extLst>
                  <a:ext uri="{FF2B5EF4-FFF2-40B4-BE49-F238E27FC236}">
                    <a16:creationId xmlns:a16="http://schemas.microsoft.com/office/drawing/2014/main" id="{CD97D5F9-8577-4E55-A370-E70B9ED773B1}"/>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sp>
            <p:nvSpPr>
              <p:cNvPr id="48" name="Freeform 6">
                <a:extLst>
                  <a:ext uri="{FF2B5EF4-FFF2-40B4-BE49-F238E27FC236}">
                    <a16:creationId xmlns:a16="http://schemas.microsoft.com/office/drawing/2014/main" id="{538CA225-9D4A-41EA-8C13-07EACEF994DC}"/>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grpSp>
      </p:grpSp>
    </p:spTree>
    <p:extLst>
      <p:ext uri="{BB962C8B-B14F-4D97-AF65-F5344CB8AC3E}">
        <p14:creationId xmlns:p14="http://schemas.microsoft.com/office/powerpoint/2010/main" val="1332363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 Divider">
    <p:spTree>
      <p:nvGrpSpPr>
        <p:cNvPr id="1" name=""/>
        <p:cNvGrpSpPr/>
        <p:nvPr/>
      </p:nvGrpSpPr>
      <p:grpSpPr>
        <a:xfrm>
          <a:off x="0" y="0"/>
          <a:ext cx="0" cy="0"/>
          <a:chOff x="0" y="0"/>
          <a:chExt cx="0" cy="0"/>
        </a:xfrm>
      </p:grpSpPr>
      <p:pic>
        <p:nvPicPr>
          <p:cNvPr id="28" name="Picture 27" descr="A picture containing outdoor&#10;&#10;Description generated with very high confidence">
            <a:extLst>
              <a:ext uri="{FF2B5EF4-FFF2-40B4-BE49-F238E27FC236}">
                <a16:creationId xmlns:a16="http://schemas.microsoft.com/office/drawing/2014/main" id="{8BDD3F1A-0226-4133-8200-2BFD2994E4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9" name="Rectangle 28">
            <a:extLst>
              <a:ext uri="{FF2B5EF4-FFF2-40B4-BE49-F238E27FC236}">
                <a16:creationId xmlns:a16="http://schemas.microsoft.com/office/drawing/2014/main" id="{2CC44766-F15A-41E7-A5D3-BF025F156C34}"/>
              </a:ext>
            </a:extLst>
          </p:cNvPr>
          <p:cNvSpPr/>
          <p:nvPr userDrawn="1"/>
        </p:nvSpPr>
        <p:spPr>
          <a:xfrm>
            <a:off x="0" y="0"/>
            <a:ext cx="12192000" cy="6857998"/>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Freeform: Shape 23">
            <a:extLst>
              <a:ext uri="{FF2B5EF4-FFF2-40B4-BE49-F238E27FC236}">
                <a16:creationId xmlns:a16="http://schemas.microsoft.com/office/drawing/2014/main" id="{9D047DD6-73B3-4C28-B429-327937A6303A}"/>
              </a:ext>
            </a:extLst>
          </p:cNvPr>
          <p:cNvSpPr/>
          <p:nvPr userDrawn="1"/>
        </p:nvSpPr>
        <p:spPr>
          <a:xfrm>
            <a:off x="693556" y="493485"/>
            <a:ext cx="1543020" cy="6364515"/>
          </a:xfrm>
          <a:custGeom>
            <a:avLst/>
            <a:gdLst>
              <a:gd name="connsiteX0" fmla="*/ 771510 w 1543020"/>
              <a:gd name="connsiteY0" fmla="*/ 0 h 6364515"/>
              <a:gd name="connsiteX1" fmla="*/ 1543020 w 1543020"/>
              <a:gd name="connsiteY1" fmla="*/ 771510 h 6364515"/>
              <a:gd name="connsiteX2" fmla="*/ 1543020 w 1543020"/>
              <a:gd name="connsiteY2" fmla="*/ 6364515 h 6364515"/>
              <a:gd name="connsiteX3" fmla="*/ 0 w 1543020"/>
              <a:gd name="connsiteY3" fmla="*/ 6364515 h 6364515"/>
              <a:gd name="connsiteX4" fmla="*/ 0 w 1543020"/>
              <a:gd name="connsiteY4" fmla="*/ 771510 h 6364515"/>
              <a:gd name="connsiteX5" fmla="*/ 771510 w 1543020"/>
              <a:gd name="connsiteY5" fmla="*/ 0 h 6364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3020" h="6364515">
                <a:moveTo>
                  <a:pt x="771510" y="0"/>
                </a:moveTo>
                <a:cubicBezTo>
                  <a:pt x="1197603" y="0"/>
                  <a:pt x="1543020" y="345417"/>
                  <a:pt x="1543020" y="771510"/>
                </a:cubicBezTo>
                <a:lnTo>
                  <a:pt x="1543020" y="6364515"/>
                </a:lnTo>
                <a:lnTo>
                  <a:pt x="0" y="6364515"/>
                </a:lnTo>
                <a:lnTo>
                  <a:pt x="0" y="771510"/>
                </a:lnTo>
                <a:cubicBezTo>
                  <a:pt x="0" y="345417"/>
                  <a:pt x="345417" y="0"/>
                  <a:pt x="771510" y="0"/>
                </a:cubicBezTo>
                <a:close/>
              </a:path>
            </a:pathLst>
          </a:cu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ADAB6006-8FF0-4ECE-9F3A-911691C7A7B3}"/>
              </a:ext>
            </a:extLst>
          </p:cNvPr>
          <p:cNvSpPr/>
          <p:nvPr userDrawn="1"/>
        </p:nvSpPr>
        <p:spPr>
          <a:xfrm>
            <a:off x="837322" y="609601"/>
            <a:ext cx="1255488" cy="12554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a:solidFill>
                <a:schemeClr val="bg1"/>
              </a:solidFill>
            </a:endParaRPr>
          </a:p>
        </p:txBody>
      </p:sp>
      <p:sp>
        <p:nvSpPr>
          <p:cNvPr id="2" name="Title 1">
            <a:extLst>
              <a:ext uri="{FF2B5EF4-FFF2-40B4-BE49-F238E27FC236}">
                <a16:creationId xmlns:a16="http://schemas.microsoft.com/office/drawing/2014/main" id="{0B9ADC4A-720F-46B1-98A1-87DAD495DC1B}"/>
              </a:ext>
            </a:extLst>
          </p:cNvPr>
          <p:cNvSpPr>
            <a:spLocks noGrp="1"/>
          </p:cNvSpPr>
          <p:nvPr>
            <p:ph type="title"/>
          </p:nvPr>
        </p:nvSpPr>
        <p:spPr>
          <a:xfrm>
            <a:off x="3048000" y="795338"/>
            <a:ext cx="4229100" cy="2852737"/>
          </a:xfrm>
        </p:spPr>
        <p:txBody>
          <a:bodyPr anchor="b">
            <a:normAutofit/>
          </a:bodyPr>
          <a:lstStyle>
            <a:lvl1pPr>
              <a:defRPr sz="3600" b="1" cap="all" baseline="0">
                <a:solidFill>
                  <a:schemeClr val="tx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E6739A5-7B29-4322-8DEC-B816DF173FEF}"/>
              </a:ext>
            </a:extLst>
          </p:cNvPr>
          <p:cNvSpPr>
            <a:spLocks noGrp="1"/>
          </p:cNvSpPr>
          <p:nvPr>
            <p:ph type="body" idx="1"/>
          </p:nvPr>
        </p:nvSpPr>
        <p:spPr>
          <a:xfrm>
            <a:off x="3048000" y="3789364"/>
            <a:ext cx="4229100" cy="552450"/>
          </a:xfrm>
        </p:spPr>
        <p:txBody>
          <a:bodyPr anchor="ctr">
            <a:normAutofit/>
          </a:bodyPr>
          <a:lstStyle>
            <a:lvl1pPr marL="0" indent="0">
              <a:lnSpc>
                <a:spcPct val="100000"/>
              </a:lnSpc>
              <a:spcBef>
                <a:spcPts val="0"/>
              </a:spcBef>
              <a:buNone/>
              <a:defRPr sz="2800" b="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35" name="Freeform: Shape 34">
            <a:extLst>
              <a:ext uri="{FF2B5EF4-FFF2-40B4-BE49-F238E27FC236}">
                <a16:creationId xmlns:a16="http://schemas.microsoft.com/office/drawing/2014/main" id="{4071DF3E-A139-4B83-B575-BC1867577449}"/>
              </a:ext>
            </a:extLst>
          </p:cNvPr>
          <p:cNvSpPr/>
          <p:nvPr userDrawn="1"/>
        </p:nvSpPr>
        <p:spPr>
          <a:xfrm rot="5400000">
            <a:off x="2486478" y="5543550"/>
            <a:ext cx="1892300" cy="736600"/>
          </a:xfrm>
          <a:custGeom>
            <a:avLst/>
            <a:gdLst>
              <a:gd name="connsiteX0" fmla="*/ 0 w 1892300"/>
              <a:gd name="connsiteY0" fmla="*/ 368300 h 736600"/>
              <a:gd name="connsiteX1" fmla="*/ 368300 w 1892300"/>
              <a:gd name="connsiteY1" fmla="*/ 0 h 736600"/>
              <a:gd name="connsiteX2" fmla="*/ 1892300 w 1892300"/>
              <a:gd name="connsiteY2" fmla="*/ 0 h 736600"/>
              <a:gd name="connsiteX3" fmla="*/ 1892300 w 1892300"/>
              <a:gd name="connsiteY3" fmla="*/ 736600 h 736600"/>
              <a:gd name="connsiteX4" fmla="*/ 368300 w 1892300"/>
              <a:gd name="connsiteY4" fmla="*/ 736600 h 736600"/>
              <a:gd name="connsiteX5" fmla="*/ 0 w 1892300"/>
              <a:gd name="connsiteY5" fmla="*/ 3683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2300" h="736600">
                <a:moveTo>
                  <a:pt x="0" y="368300"/>
                </a:moveTo>
                <a:cubicBezTo>
                  <a:pt x="0" y="164894"/>
                  <a:pt x="164894" y="0"/>
                  <a:pt x="368300" y="0"/>
                </a:cubicBezTo>
                <a:lnTo>
                  <a:pt x="1892300" y="0"/>
                </a:lnTo>
                <a:lnTo>
                  <a:pt x="1892300" y="736600"/>
                </a:lnTo>
                <a:lnTo>
                  <a:pt x="368300" y="736600"/>
                </a:lnTo>
                <a:cubicBezTo>
                  <a:pt x="164894" y="736600"/>
                  <a:pt x="0" y="571706"/>
                  <a:pt x="0" y="3683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Freeform: Shape 31">
            <a:extLst>
              <a:ext uri="{FF2B5EF4-FFF2-40B4-BE49-F238E27FC236}">
                <a16:creationId xmlns:a16="http://schemas.microsoft.com/office/drawing/2014/main" id="{282668F5-FEFD-49FC-A2DA-9EFBBC585DF3}"/>
              </a:ext>
            </a:extLst>
          </p:cNvPr>
          <p:cNvSpPr/>
          <p:nvPr userDrawn="1"/>
        </p:nvSpPr>
        <p:spPr>
          <a:xfrm rot="5400000">
            <a:off x="6965950" y="730250"/>
            <a:ext cx="2197100" cy="736600"/>
          </a:xfrm>
          <a:custGeom>
            <a:avLst/>
            <a:gdLst>
              <a:gd name="connsiteX0" fmla="*/ 0 w 2197100"/>
              <a:gd name="connsiteY0" fmla="*/ 736600 h 736600"/>
              <a:gd name="connsiteX1" fmla="*/ 0 w 2197100"/>
              <a:gd name="connsiteY1" fmla="*/ 0 h 736600"/>
              <a:gd name="connsiteX2" fmla="*/ 1828800 w 2197100"/>
              <a:gd name="connsiteY2" fmla="*/ 0 h 736600"/>
              <a:gd name="connsiteX3" fmla="*/ 2197100 w 2197100"/>
              <a:gd name="connsiteY3" fmla="*/ 368300 h 736600"/>
              <a:gd name="connsiteX4" fmla="*/ 1828800 w 2197100"/>
              <a:gd name="connsiteY4" fmla="*/ 736600 h 736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7100" h="736600">
                <a:moveTo>
                  <a:pt x="0" y="736600"/>
                </a:moveTo>
                <a:lnTo>
                  <a:pt x="0" y="0"/>
                </a:lnTo>
                <a:lnTo>
                  <a:pt x="1828800" y="0"/>
                </a:lnTo>
                <a:cubicBezTo>
                  <a:pt x="2032206" y="0"/>
                  <a:pt x="2197100" y="164894"/>
                  <a:pt x="2197100" y="368300"/>
                </a:cubicBezTo>
                <a:cubicBezTo>
                  <a:pt x="2197100" y="571706"/>
                  <a:pt x="2032206" y="736600"/>
                  <a:pt x="1828800" y="7366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Freeform: Shape 42">
            <a:extLst>
              <a:ext uri="{FF2B5EF4-FFF2-40B4-BE49-F238E27FC236}">
                <a16:creationId xmlns:a16="http://schemas.microsoft.com/office/drawing/2014/main" id="{33C8BA43-3B9B-4D2C-A1CB-6E3CE971B31C}"/>
              </a:ext>
            </a:extLst>
          </p:cNvPr>
          <p:cNvSpPr/>
          <p:nvPr userDrawn="1"/>
        </p:nvSpPr>
        <p:spPr>
          <a:xfrm rot="5400000">
            <a:off x="8648700" y="4013200"/>
            <a:ext cx="4953000" cy="736600"/>
          </a:xfrm>
          <a:custGeom>
            <a:avLst/>
            <a:gdLst>
              <a:gd name="connsiteX0" fmla="*/ 0 w 4953000"/>
              <a:gd name="connsiteY0" fmla="*/ 368300 h 736600"/>
              <a:gd name="connsiteX1" fmla="*/ 368300 w 4953000"/>
              <a:gd name="connsiteY1" fmla="*/ 0 h 736600"/>
              <a:gd name="connsiteX2" fmla="*/ 4953000 w 4953000"/>
              <a:gd name="connsiteY2" fmla="*/ 0 h 736600"/>
              <a:gd name="connsiteX3" fmla="*/ 4953000 w 4953000"/>
              <a:gd name="connsiteY3" fmla="*/ 736600 h 736600"/>
              <a:gd name="connsiteX4" fmla="*/ 368300 w 4953000"/>
              <a:gd name="connsiteY4" fmla="*/ 736600 h 736600"/>
              <a:gd name="connsiteX5" fmla="*/ 0 w 4953000"/>
              <a:gd name="connsiteY5" fmla="*/ 3683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53000" h="736600">
                <a:moveTo>
                  <a:pt x="0" y="368300"/>
                </a:moveTo>
                <a:cubicBezTo>
                  <a:pt x="0" y="164894"/>
                  <a:pt x="164894" y="0"/>
                  <a:pt x="368300" y="0"/>
                </a:cubicBezTo>
                <a:lnTo>
                  <a:pt x="4953000" y="0"/>
                </a:lnTo>
                <a:lnTo>
                  <a:pt x="4953000" y="736600"/>
                </a:lnTo>
                <a:lnTo>
                  <a:pt x="368300" y="736600"/>
                </a:lnTo>
                <a:cubicBezTo>
                  <a:pt x="164894" y="736600"/>
                  <a:pt x="0" y="571706"/>
                  <a:pt x="0" y="3683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4" name="Group 43">
            <a:extLst>
              <a:ext uri="{FF2B5EF4-FFF2-40B4-BE49-F238E27FC236}">
                <a16:creationId xmlns:a16="http://schemas.microsoft.com/office/drawing/2014/main" id="{0D9CC793-7332-4F1C-9139-C5AADEE66B67}"/>
              </a:ext>
            </a:extLst>
          </p:cNvPr>
          <p:cNvGrpSpPr/>
          <p:nvPr userDrawn="1"/>
        </p:nvGrpSpPr>
        <p:grpSpPr>
          <a:xfrm>
            <a:off x="10817037" y="1965137"/>
            <a:ext cx="617726" cy="617726"/>
            <a:chOff x="10131237" y="1965137"/>
            <a:chExt cx="617726" cy="617726"/>
          </a:xfrm>
        </p:grpSpPr>
        <p:sp>
          <p:nvSpPr>
            <p:cNvPr id="45" name="Oval 44">
              <a:extLst>
                <a:ext uri="{FF2B5EF4-FFF2-40B4-BE49-F238E27FC236}">
                  <a16:creationId xmlns:a16="http://schemas.microsoft.com/office/drawing/2014/main" id="{104B4FF7-1B5E-4389-BBB5-CF129712E3F8}"/>
                </a:ext>
              </a:extLst>
            </p:cNvPr>
            <p:cNvSpPr>
              <a:spLocks noChangeAspect="1"/>
            </p:cNvSpPr>
            <p:nvPr userDrawn="1"/>
          </p:nvSpPr>
          <p:spPr>
            <a:xfrm>
              <a:off x="10131237" y="1965137"/>
              <a:ext cx="617726" cy="6177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46" name="Group 45">
              <a:extLst>
                <a:ext uri="{FF2B5EF4-FFF2-40B4-BE49-F238E27FC236}">
                  <a16:creationId xmlns:a16="http://schemas.microsoft.com/office/drawing/2014/main" id="{73DB47BB-4CAB-4613-BD5A-879D595B0618}"/>
                </a:ext>
              </a:extLst>
            </p:cNvPr>
            <p:cNvGrpSpPr/>
            <p:nvPr/>
          </p:nvGrpSpPr>
          <p:grpSpPr>
            <a:xfrm>
              <a:off x="10379250" y="2093262"/>
              <a:ext cx="121701" cy="361477"/>
              <a:chOff x="-12442" y="1663700"/>
              <a:chExt cx="1761630" cy="5232400"/>
            </a:xfrm>
            <a:solidFill>
              <a:schemeClr val="tx2"/>
            </a:solidFill>
          </p:grpSpPr>
          <p:sp>
            <p:nvSpPr>
              <p:cNvPr id="47" name="Freeform 5">
                <a:extLst>
                  <a:ext uri="{FF2B5EF4-FFF2-40B4-BE49-F238E27FC236}">
                    <a16:creationId xmlns:a16="http://schemas.microsoft.com/office/drawing/2014/main" id="{CD97D5F9-8577-4E55-A370-E70B9ED773B1}"/>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sp>
            <p:nvSpPr>
              <p:cNvPr id="48" name="Freeform 6">
                <a:extLst>
                  <a:ext uri="{FF2B5EF4-FFF2-40B4-BE49-F238E27FC236}">
                    <a16:creationId xmlns:a16="http://schemas.microsoft.com/office/drawing/2014/main" id="{538CA225-9D4A-41EA-8C13-07EACEF994DC}"/>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grpSp>
      </p:grpSp>
      <p:pic>
        <p:nvPicPr>
          <p:cNvPr id="5" name="Picture 4">
            <a:extLst>
              <a:ext uri="{FF2B5EF4-FFF2-40B4-BE49-F238E27FC236}">
                <a16:creationId xmlns:a16="http://schemas.microsoft.com/office/drawing/2014/main" id="{A8B1BCA3-CCE8-4A84-805D-D08185020EA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0800000" flipH="1" flipV="1">
            <a:off x="1007064" y="782424"/>
            <a:ext cx="912921" cy="912921"/>
          </a:xfrm>
          <a:prstGeom prst="rect">
            <a:avLst/>
          </a:prstGeom>
        </p:spPr>
      </p:pic>
    </p:spTree>
    <p:extLst>
      <p:ext uri="{BB962C8B-B14F-4D97-AF65-F5344CB8AC3E}">
        <p14:creationId xmlns:p14="http://schemas.microsoft.com/office/powerpoint/2010/main" val="716886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pic>
        <p:nvPicPr>
          <p:cNvPr id="4" name="Picture 3" descr="A picture containing building, outdoor, sky&#10;&#10;Description generated with high confidence">
            <a:extLst>
              <a:ext uri="{FF2B5EF4-FFF2-40B4-BE49-F238E27FC236}">
                <a16:creationId xmlns:a16="http://schemas.microsoft.com/office/drawing/2014/main" id="{C1DF82AB-AF7D-4639-9012-DE1C56D96EF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5979"/>
          <a:stretch/>
        </p:blipFill>
        <p:spPr>
          <a:xfrm>
            <a:off x="0" y="6582228"/>
            <a:ext cx="12192000" cy="275771"/>
          </a:xfrm>
          <a:prstGeom prst="rect">
            <a:avLst/>
          </a:prstGeom>
        </p:spPr>
      </p:pic>
      <p:sp>
        <p:nvSpPr>
          <p:cNvPr id="9" name="Rectangle 8">
            <a:extLst>
              <a:ext uri="{FF2B5EF4-FFF2-40B4-BE49-F238E27FC236}">
                <a16:creationId xmlns:a16="http://schemas.microsoft.com/office/drawing/2014/main" id="{1374559E-AE65-4C9B-AAD3-CC94FB7F013C}"/>
              </a:ext>
            </a:extLst>
          </p:cNvPr>
          <p:cNvSpPr/>
          <p:nvPr userDrawn="1"/>
        </p:nvSpPr>
        <p:spPr>
          <a:xfrm>
            <a:off x="0" y="6582228"/>
            <a:ext cx="12192000" cy="275772"/>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08952E4C-D196-4C84-9515-57E479D2EFA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B6F85792-A727-402C-807C-EA609F45C62D}"/>
              </a:ext>
            </a:extLst>
          </p:cNvPr>
          <p:cNvSpPr>
            <a:spLocks noGrp="1"/>
          </p:cNvSpPr>
          <p:nvPr>
            <p:ph type="sldNum" sz="quarter" idx="12"/>
          </p:nvPr>
        </p:nvSpPr>
        <p:spPr/>
        <p:txBody>
          <a:bodyPr/>
          <a:lstStyle/>
          <a:p>
            <a:fld id="{FAEEC637-5006-4E50-A83C-29CEB747C05F}" type="slidenum">
              <a:rPr lang="en-GB" smtClean="0"/>
              <a:t>‹#›</a:t>
            </a:fld>
            <a:endParaRPr lang="en-GB"/>
          </a:p>
        </p:txBody>
      </p:sp>
      <p:sp>
        <p:nvSpPr>
          <p:cNvPr id="28" name="Title 27">
            <a:extLst>
              <a:ext uri="{FF2B5EF4-FFF2-40B4-BE49-F238E27FC236}">
                <a16:creationId xmlns:a16="http://schemas.microsoft.com/office/drawing/2014/main" id="{D7DE24CA-30C6-4AD5-9799-CF97131D6364}"/>
              </a:ext>
            </a:extLst>
          </p:cNvPr>
          <p:cNvSpPr>
            <a:spLocks noGrp="1"/>
          </p:cNvSpPr>
          <p:nvPr>
            <p:ph type="title"/>
          </p:nvPr>
        </p:nvSpPr>
        <p:spPr/>
        <p:txBody>
          <a:bodyPr/>
          <a:lstStyle/>
          <a:p>
            <a:r>
              <a:rPr lang="en-US"/>
              <a:t>Click to edit Master title style</a:t>
            </a:r>
            <a:endParaRPr lang="en-GB"/>
          </a:p>
        </p:txBody>
      </p:sp>
      <p:sp>
        <p:nvSpPr>
          <p:cNvPr id="5" name="Footer Placeholder 4">
            <a:extLst>
              <a:ext uri="{FF2B5EF4-FFF2-40B4-BE49-F238E27FC236}">
                <a16:creationId xmlns:a16="http://schemas.microsoft.com/office/drawing/2014/main" id="{D7A77A6D-683B-4BDB-A6A4-E320FBD7F851}"/>
              </a:ext>
            </a:extLst>
          </p:cNvPr>
          <p:cNvSpPr>
            <a:spLocks noGrp="1"/>
          </p:cNvSpPr>
          <p:nvPr>
            <p:ph type="ftr" sz="quarter" idx="11"/>
          </p:nvPr>
        </p:nvSpPr>
        <p:spPr/>
        <p:txBody>
          <a:bodyPr/>
          <a:lstStyle/>
          <a:p>
            <a:r>
              <a:rPr lang="en-US"/>
              <a:t>Go to Insert &gt; Header &amp; Footer to edit footer text</a:t>
            </a:r>
            <a:endParaRPr lang="en-GB"/>
          </a:p>
        </p:txBody>
      </p:sp>
    </p:spTree>
    <p:extLst>
      <p:ext uri="{BB962C8B-B14F-4D97-AF65-F5344CB8AC3E}">
        <p14:creationId xmlns:p14="http://schemas.microsoft.com/office/powerpoint/2010/main" val="3641268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BD2A9174-AE62-4C39-A3DA-08D2294098A4}"/>
              </a:ext>
            </a:extLst>
          </p:cNvPr>
          <p:cNvSpPr>
            <a:spLocks noGrp="1"/>
          </p:cNvSpPr>
          <p:nvPr>
            <p:ph type="ftr" sz="quarter" idx="11"/>
          </p:nvPr>
        </p:nvSpPr>
        <p:spPr/>
        <p:txBody>
          <a:bodyPr/>
          <a:lstStyle/>
          <a:p>
            <a:r>
              <a:rPr lang="en-US"/>
              <a:t>Go to Insert &gt; Header &amp; Footer to edit footer text</a:t>
            </a:r>
            <a:endParaRPr lang="en-GB"/>
          </a:p>
        </p:txBody>
      </p:sp>
      <p:sp>
        <p:nvSpPr>
          <p:cNvPr id="7" name="Slide Number Placeholder 6">
            <a:extLst>
              <a:ext uri="{FF2B5EF4-FFF2-40B4-BE49-F238E27FC236}">
                <a16:creationId xmlns:a16="http://schemas.microsoft.com/office/drawing/2014/main" id="{B8EF8DD2-D12D-4F33-B472-AA51ABC12719}"/>
              </a:ext>
            </a:extLst>
          </p:cNvPr>
          <p:cNvSpPr>
            <a:spLocks noGrp="1"/>
          </p:cNvSpPr>
          <p:nvPr>
            <p:ph type="sldNum" sz="quarter" idx="12"/>
          </p:nvPr>
        </p:nvSpPr>
        <p:spPr/>
        <p:txBody>
          <a:bodyPr/>
          <a:lstStyle/>
          <a:p>
            <a:fld id="{FAEEC637-5006-4E50-A83C-29CEB747C05F}" type="slidenum">
              <a:rPr lang="en-GB" smtClean="0"/>
              <a:t>‹#›</a:t>
            </a:fld>
            <a:endParaRPr lang="en-GB"/>
          </a:p>
        </p:txBody>
      </p:sp>
      <p:sp>
        <p:nvSpPr>
          <p:cNvPr id="14" name="Title 13">
            <a:extLst>
              <a:ext uri="{FF2B5EF4-FFF2-40B4-BE49-F238E27FC236}">
                <a16:creationId xmlns:a16="http://schemas.microsoft.com/office/drawing/2014/main" id="{B87D5249-2480-44E9-9FEE-825E44639A83}"/>
              </a:ext>
            </a:extLst>
          </p:cNvPr>
          <p:cNvSpPr>
            <a:spLocks noGrp="1"/>
          </p:cNvSpPr>
          <p:nvPr>
            <p:ph type="title"/>
          </p:nvPr>
        </p:nvSpPr>
        <p:spPr>
          <a:xfrm>
            <a:off x="710381" y="275771"/>
            <a:ext cx="10783118" cy="1085172"/>
          </a:xfrm>
        </p:spPr>
        <p:txBody>
          <a:bodyPr/>
          <a:lstStyle/>
          <a:p>
            <a:r>
              <a:rPr lang="en-US"/>
              <a:t>Click to edit Master title style</a:t>
            </a:r>
            <a:endParaRPr lang="en-GB"/>
          </a:p>
        </p:txBody>
      </p:sp>
      <p:sp>
        <p:nvSpPr>
          <p:cNvPr id="16" name="Content Placeholder 15">
            <a:extLst>
              <a:ext uri="{FF2B5EF4-FFF2-40B4-BE49-F238E27FC236}">
                <a16:creationId xmlns:a16="http://schemas.microsoft.com/office/drawing/2014/main" id="{4A8F2D77-441F-48B4-A821-351780FDE8D5}"/>
              </a:ext>
            </a:extLst>
          </p:cNvPr>
          <p:cNvSpPr>
            <a:spLocks noGrp="1"/>
          </p:cNvSpPr>
          <p:nvPr>
            <p:ph sz="quarter" idx="15"/>
          </p:nvPr>
        </p:nvSpPr>
        <p:spPr>
          <a:xfrm>
            <a:off x="710381" y="1748712"/>
            <a:ext cx="5119687"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Content Placeholder 15">
            <a:extLst>
              <a:ext uri="{FF2B5EF4-FFF2-40B4-BE49-F238E27FC236}">
                <a16:creationId xmlns:a16="http://schemas.microsoft.com/office/drawing/2014/main" id="{CD68D76E-AFF8-4B02-BAA9-0FED28F1004D}"/>
              </a:ext>
            </a:extLst>
          </p:cNvPr>
          <p:cNvSpPr>
            <a:spLocks noGrp="1"/>
          </p:cNvSpPr>
          <p:nvPr>
            <p:ph sz="quarter" idx="16"/>
          </p:nvPr>
        </p:nvSpPr>
        <p:spPr>
          <a:xfrm>
            <a:off x="6373812" y="1748712"/>
            <a:ext cx="5119687"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descr="A picture containing building, outdoor, sky&#10;&#10;Description generated with high confidence">
            <a:extLst>
              <a:ext uri="{FF2B5EF4-FFF2-40B4-BE49-F238E27FC236}">
                <a16:creationId xmlns:a16="http://schemas.microsoft.com/office/drawing/2014/main" id="{B9C24068-C1A2-477D-9F25-18C90AF8F22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5979"/>
          <a:stretch/>
        </p:blipFill>
        <p:spPr>
          <a:xfrm>
            <a:off x="0" y="6582228"/>
            <a:ext cx="12192000" cy="275771"/>
          </a:xfrm>
          <a:prstGeom prst="rect">
            <a:avLst/>
          </a:prstGeom>
        </p:spPr>
      </p:pic>
      <p:sp>
        <p:nvSpPr>
          <p:cNvPr id="9" name="Rectangle 8">
            <a:extLst>
              <a:ext uri="{FF2B5EF4-FFF2-40B4-BE49-F238E27FC236}">
                <a16:creationId xmlns:a16="http://schemas.microsoft.com/office/drawing/2014/main" id="{7175C9FE-EA62-4AA9-AE88-39A9966CA189}"/>
              </a:ext>
            </a:extLst>
          </p:cNvPr>
          <p:cNvSpPr/>
          <p:nvPr userDrawn="1"/>
        </p:nvSpPr>
        <p:spPr>
          <a:xfrm>
            <a:off x="0" y="6582228"/>
            <a:ext cx="12192000" cy="275772"/>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56562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BD2A9174-AE62-4C39-A3DA-08D2294098A4}"/>
              </a:ext>
            </a:extLst>
          </p:cNvPr>
          <p:cNvSpPr>
            <a:spLocks noGrp="1"/>
          </p:cNvSpPr>
          <p:nvPr>
            <p:ph type="ftr" sz="quarter" idx="11"/>
          </p:nvPr>
        </p:nvSpPr>
        <p:spPr/>
        <p:txBody>
          <a:bodyPr/>
          <a:lstStyle/>
          <a:p>
            <a:r>
              <a:rPr lang="en-US"/>
              <a:t>Go to Insert &gt; Header &amp; Footer to edit footer text</a:t>
            </a:r>
            <a:endParaRPr lang="en-GB"/>
          </a:p>
        </p:txBody>
      </p:sp>
      <p:sp>
        <p:nvSpPr>
          <p:cNvPr id="7" name="Slide Number Placeholder 6">
            <a:extLst>
              <a:ext uri="{FF2B5EF4-FFF2-40B4-BE49-F238E27FC236}">
                <a16:creationId xmlns:a16="http://schemas.microsoft.com/office/drawing/2014/main" id="{B8EF8DD2-D12D-4F33-B472-AA51ABC12719}"/>
              </a:ext>
            </a:extLst>
          </p:cNvPr>
          <p:cNvSpPr>
            <a:spLocks noGrp="1"/>
          </p:cNvSpPr>
          <p:nvPr>
            <p:ph type="sldNum" sz="quarter" idx="12"/>
          </p:nvPr>
        </p:nvSpPr>
        <p:spPr/>
        <p:txBody>
          <a:bodyPr/>
          <a:lstStyle/>
          <a:p>
            <a:fld id="{FAEEC637-5006-4E50-A83C-29CEB747C05F}" type="slidenum">
              <a:rPr lang="en-GB" smtClean="0"/>
              <a:t>‹#›</a:t>
            </a:fld>
            <a:endParaRPr lang="en-GB"/>
          </a:p>
        </p:txBody>
      </p:sp>
      <p:sp>
        <p:nvSpPr>
          <p:cNvPr id="3" name="Title 2">
            <a:extLst>
              <a:ext uri="{FF2B5EF4-FFF2-40B4-BE49-F238E27FC236}">
                <a16:creationId xmlns:a16="http://schemas.microsoft.com/office/drawing/2014/main" id="{550994A2-FF53-473B-9518-B935E654BB62}"/>
              </a:ext>
            </a:extLst>
          </p:cNvPr>
          <p:cNvSpPr>
            <a:spLocks noGrp="1"/>
          </p:cNvSpPr>
          <p:nvPr>
            <p:ph type="title"/>
          </p:nvPr>
        </p:nvSpPr>
        <p:spPr>
          <a:xfrm>
            <a:off x="710381" y="275771"/>
            <a:ext cx="10783118" cy="1085172"/>
          </a:xfrm>
        </p:spPr>
        <p:txBody>
          <a:bodyPr/>
          <a:lstStyle/>
          <a:p>
            <a:r>
              <a:rPr lang="en-US"/>
              <a:t>Click to edit Master title style</a:t>
            </a:r>
            <a:endParaRPr lang="en-GB"/>
          </a:p>
        </p:txBody>
      </p:sp>
      <p:sp>
        <p:nvSpPr>
          <p:cNvPr id="17" name="Content Placeholder 15">
            <a:extLst>
              <a:ext uri="{FF2B5EF4-FFF2-40B4-BE49-F238E27FC236}">
                <a16:creationId xmlns:a16="http://schemas.microsoft.com/office/drawing/2014/main" id="{5FF0F91E-87EA-4199-AA93-F4252B351E92}"/>
              </a:ext>
            </a:extLst>
          </p:cNvPr>
          <p:cNvSpPr>
            <a:spLocks noGrp="1"/>
          </p:cNvSpPr>
          <p:nvPr>
            <p:ph sz="quarter" idx="16"/>
          </p:nvPr>
        </p:nvSpPr>
        <p:spPr>
          <a:xfrm>
            <a:off x="710381" y="1748712"/>
            <a:ext cx="3257073"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15">
            <a:extLst>
              <a:ext uri="{FF2B5EF4-FFF2-40B4-BE49-F238E27FC236}">
                <a16:creationId xmlns:a16="http://schemas.microsoft.com/office/drawing/2014/main" id="{C1F72E16-6A8E-4447-87BA-003C5FA15F5A}"/>
              </a:ext>
            </a:extLst>
          </p:cNvPr>
          <p:cNvSpPr>
            <a:spLocks noGrp="1"/>
          </p:cNvSpPr>
          <p:nvPr>
            <p:ph sz="quarter" idx="17"/>
          </p:nvPr>
        </p:nvSpPr>
        <p:spPr>
          <a:xfrm>
            <a:off x="8236426" y="1748712"/>
            <a:ext cx="3257073"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Content Placeholder 15">
            <a:extLst>
              <a:ext uri="{FF2B5EF4-FFF2-40B4-BE49-F238E27FC236}">
                <a16:creationId xmlns:a16="http://schemas.microsoft.com/office/drawing/2014/main" id="{5E832D2A-A709-4375-B688-8EB1C4928F02}"/>
              </a:ext>
            </a:extLst>
          </p:cNvPr>
          <p:cNvSpPr>
            <a:spLocks noGrp="1"/>
          </p:cNvSpPr>
          <p:nvPr>
            <p:ph sz="quarter" idx="18"/>
          </p:nvPr>
        </p:nvSpPr>
        <p:spPr>
          <a:xfrm>
            <a:off x="4473403" y="1748712"/>
            <a:ext cx="3257073"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descr="A picture containing building, outdoor, sky&#10;&#10;Description generated with high confidence">
            <a:extLst>
              <a:ext uri="{FF2B5EF4-FFF2-40B4-BE49-F238E27FC236}">
                <a16:creationId xmlns:a16="http://schemas.microsoft.com/office/drawing/2014/main" id="{9E693D63-499E-4EC1-8ED6-D8B9BC755A9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5979"/>
          <a:stretch/>
        </p:blipFill>
        <p:spPr>
          <a:xfrm>
            <a:off x="0" y="6582228"/>
            <a:ext cx="12192000" cy="275771"/>
          </a:xfrm>
          <a:prstGeom prst="rect">
            <a:avLst/>
          </a:prstGeom>
        </p:spPr>
      </p:pic>
      <p:sp>
        <p:nvSpPr>
          <p:cNvPr id="9" name="Rectangle 8">
            <a:extLst>
              <a:ext uri="{FF2B5EF4-FFF2-40B4-BE49-F238E27FC236}">
                <a16:creationId xmlns:a16="http://schemas.microsoft.com/office/drawing/2014/main" id="{D5906753-7C29-4620-8395-5A49F5FD9932}"/>
              </a:ext>
            </a:extLst>
          </p:cNvPr>
          <p:cNvSpPr/>
          <p:nvPr userDrawn="1"/>
        </p:nvSpPr>
        <p:spPr>
          <a:xfrm>
            <a:off x="0" y="6582228"/>
            <a:ext cx="12192000" cy="275772"/>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88345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mp; Left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D585246-1954-427D-B255-C25001135C7B}"/>
              </a:ext>
            </a:extLst>
          </p:cNvPr>
          <p:cNvSpPr>
            <a:spLocks noGrp="1"/>
          </p:cNvSpPr>
          <p:nvPr>
            <p:ph type="pic" sz="quarter" idx="15"/>
          </p:nvPr>
        </p:nvSpPr>
        <p:spPr>
          <a:xfrm>
            <a:off x="0" y="0"/>
            <a:ext cx="3657600" cy="6858000"/>
          </a:xfrm>
          <a:solidFill>
            <a:schemeClr val="bg1">
              <a:lumMod val="95000"/>
            </a:schemeClr>
          </a:solidFill>
        </p:spPr>
        <p:txBody>
          <a:bodyPr anchor="ctr"/>
          <a:lstStyle>
            <a:lvl1pPr algn="ctr">
              <a:defRPr>
                <a:solidFill>
                  <a:schemeClr val="tx1"/>
                </a:solidFill>
              </a:defRPr>
            </a:lvl1pPr>
          </a:lstStyle>
          <a:p>
            <a:endParaRPr lang="en-GB"/>
          </a:p>
        </p:txBody>
      </p:sp>
      <p:sp>
        <p:nvSpPr>
          <p:cNvPr id="6" name="Footer Placeholder 5">
            <a:extLst>
              <a:ext uri="{FF2B5EF4-FFF2-40B4-BE49-F238E27FC236}">
                <a16:creationId xmlns:a16="http://schemas.microsoft.com/office/drawing/2014/main" id="{BD2A9174-AE62-4C39-A3DA-08D2294098A4}"/>
              </a:ext>
            </a:extLst>
          </p:cNvPr>
          <p:cNvSpPr>
            <a:spLocks noGrp="1"/>
          </p:cNvSpPr>
          <p:nvPr>
            <p:ph type="ftr" sz="quarter" idx="11"/>
          </p:nvPr>
        </p:nvSpPr>
        <p:spPr/>
        <p:txBody>
          <a:bodyPr/>
          <a:lstStyle/>
          <a:p>
            <a:r>
              <a:rPr lang="en-US"/>
              <a:t>Go to Insert &gt; Header &amp; Footer to edit footer text</a:t>
            </a:r>
            <a:endParaRPr lang="en-GB"/>
          </a:p>
        </p:txBody>
      </p:sp>
      <p:sp>
        <p:nvSpPr>
          <p:cNvPr id="7" name="Slide Number Placeholder 6">
            <a:extLst>
              <a:ext uri="{FF2B5EF4-FFF2-40B4-BE49-F238E27FC236}">
                <a16:creationId xmlns:a16="http://schemas.microsoft.com/office/drawing/2014/main" id="{B8EF8DD2-D12D-4F33-B472-AA51ABC12719}"/>
              </a:ext>
            </a:extLst>
          </p:cNvPr>
          <p:cNvSpPr>
            <a:spLocks noGrp="1"/>
          </p:cNvSpPr>
          <p:nvPr>
            <p:ph type="sldNum" sz="quarter" idx="12"/>
          </p:nvPr>
        </p:nvSpPr>
        <p:spPr/>
        <p:txBody>
          <a:bodyPr/>
          <a:lstStyle/>
          <a:p>
            <a:fld id="{FAEEC637-5006-4E50-A83C-29CEB747C05F}" type="slidenum">
              <a:rPr lang="en-GB" smtClean="0"/>
              <a:t>‹#›</a:t>
            </a:fld>
            <a:endParaRPr lang="en-GB"/>
          </a:p>
        </p:txBody>
      </p:sp>
      <p:grpSp>
        <p:nvGrpSpPr>
          <p:cNvPr id="11" name="Group 10">
            <a:extLst>
              <a:ext uri="{FF2B5EF4-FFF2-40B4-BE49-F238E27FC236}">
                <a16:creationId xmlns:a16="http://schemas.microsoft.com/office/drawing/2014/main" id="{AE9ADE75-6973-43E5-A5E5-C73FAA64A8D3}"/>
              </a:ext>
            </a:extLst>
          </p:cNvPr>
          <p:cNvGrpSpPr/>
          <p:nvPr userDrawn="1"/>
        </p:nvGrpSpPr>
        <p:grpSpPr>
          <a:xfrm>
            <a:off x="3657600" y="445112"/>
            <a:ext cx="368300" cy="746490"/>
            <a:chOff x="0" y="415872"/>
            <a:chExt cx="368300" cy="746490"/>
          </a:xfrm>
        </p:grpSpPr>
        <p:sp>
          <p:nvSpPr>
            <p:cNvPr id="13" name="Freeform: Shape 12">
              <a:extLst>
                <a:ext uri="{FF2B5EF4-FFF2-40B4-BE49-F238E27FC236}">
                  <a16:creationId xmlns:a16="http://schemas.microsoft.com/office/drawing/2014/main" id="{0BCC7A88-3E81-41A9-BE87-E6D48B19D7E2}"/>
                </a:ext>
              </a:extLst>
            </p:cNvPr>
            <p:cNvSpPr>
              <a:spLocks noChangeAspect="1"/>
            </p:cNvSpPr>
            <p:nvPr/>
          </p:nvSpPr>
          <p:spPr>
            <a:xfrm>
              <a:off x="0" y="41587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grpSp>
          <p:nvGrpSpPr>
            <p:cNvPr id="14" name="Group 13">
              <a:extLst>
                <a:ext uri="{FF2B5EF4-FFF2-40B4-BE49-F238E27FC236}">
                  <a16:creationId xmlns:a16="http://schemas.microsoft.com/office/drawing/2014/main" id="{78E85866-BFA6-443A-A892-469B61A3AFF2}"/>
                </a:ext>
              </a:extLst>
            </p:cNvPr>
            <p:cNvGrpSpPr/>
            <p:nvPr/>
          </p:nvGrpSpPr>
          <p:grpSpPr>
            <a:xfrm>
              <a:off x="78324" y="605745"/>
              <a:ext cx="121701" cy="361477"/>
              <a:chOff x="-12442" y="1663700"/>
              <a:chExt cx="1761630" cy="5232400"/>
            </a:xfrm>
          </p:grpSpPr>
          <p:sp>
            <p:nvSpPr>
              <p:cNvPr id="15" name="Freeform 5">
                <a:extLst>
                  <a:ext uri="{FF2B5EF4-FFF2-40B4-BE49-F238E27FC236}">
                    <a16:creationId xmlns:a16="http://schemas.microsoft.com/office/drawing/2014/main" id="{B430C14F-CB1F-4CEE-9B91-FFAEB3609D44}"/>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sp>
            <p:nvSpPr>
              <p:cNvPr id="16" name="Freeform 6">
                <a:extLst>
                  <a:ext uri="{FF2B5EF4-FFF2-40B4-BE49-F238E27FC236}">
                    <a16:creationId xmlns:a16="http://schemas.microsoft.com/office/drawing/2014/main" id="{F06A3196-F07E-44B7-A538-72649FE99C84}"/>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grpSp>
      </p:grpSp>
      <p:sp>
        <p:nvSpPr>
          <p:cNvPr id="4" name="Title 3">
            <a:extLst>
              <a:ext uri="{FF2B5EF4-FFF2-40B4-BE49-F238E27FC236}">
                <a16:creationId xmlns:a16="http://schemas.microsoft.com/office/drawing/2014/main" id="{832148D3-C9A7-4EA0-9252-3D0008D222CB}"/>
              </a:ext>
            </a:extLst>
          </p:cNvPr>
          <p:cNvSpPr>
            <a:spLocks noGrp="1"/>
          </p:cNvSpPr>
          <p:nvPr>
            <p:ph type="title"/>
          </p:nvPr>
        </p:nvSpPr>
        <p:spPr>
          <a:xfrm>
            <a:off x="4393379" y="275771"/>
            <a:ext cx="7100119" cy="1085172"/>
          </a:xfrm>
        </p:spPr>
        <p:txBody>
          <a:bodyPr/>
          <a:lstStyle/>
          <a:p>
            <a:r>
              <a:rPr lang="en-US"/>
              <a:t>Click to edit Master title style</a:t>
            </a:r>
            <a:endParaRPr lang="en-GB"/>
          </a:p>
        </p:txBody>
      </p:sp>
      <p:sp>
        <p:nvSpPr>
          <p:cNvPr id="17" name="Content Placeholder 15">
            <a:extLst>
              <a:ext uri="{FF2B5EF4-FFF2-40B4-BE49-F238E27FC236}">
                <a16:creationId xmlns:a16="http://schemas.microsoft.com/office/drawing/2014/main" id="{A11C52F5-48D0-4855-B28C-0BD5E409C5B3}"/>
              </a:ext>
            </a:extLst>
          </p:cNvPr>
          <p:cNvSpPr>
            <a:spLocks noGrp="1"/>
          </p:cNvSpPr>
          <p:nvPr>
            <p:ph sz="quarter" idx="16"/>
          </p:nvPr>
        </p:nvSpPr>
        <p:spPr>
          <a:xfrm>
            <a:off x="4393379" y="1748712"/>
            <a:ext cx="7100121"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60229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mp; Right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D585246-1954-427D-B255-C25001135C7B}"/>
              </a:ext>
            </a:extLst>
          </p:cNvPr>
          <p:cNvSpPr>
            <a:spLocks noGrp="1"/>
          </p:cNvSpPr>
          <p:nvPr>
            <p:ph type="pic" sz="quarter" idx="15"/>
          </p:nvPr>
        </p:nvSpPr>
        <p:spPr>
          <a:xfrm>
            <a:off x="8534400" y="0"/>
            <a:ext cx="3657600" cy="6858000"/>
          </a:xfrm>
          <a:solidFill>
            <a:schemeClr val="bg1">
              <a:lumMod val="95000"/>
            </a:schemeClr>
          </a:solidFill>
        </p:spPr>
        <p:txBody>
          <a:bodyPr anchor="ctr"/>
          <a:lstStyle>
            <a:lvl1pPr algn="ctr">
              <a:defRPr>
                <a:solidFill>
                  <a:schemeClr val="tx1"/>
                </a:solidFill>
              </a:defRPr>
            </a:lvl1pPr>
          </a:lstStyle>
          <a:p>
            <a:endParaRPr lang="en-GB"/>
          </a:p>
        </p:txBody>
      </p:sp>
      <p:sp>
        <p:nvSpPr>
          <p:cNvPr id="6" name="Footer Placeholder 5">
            <a:extLst>
              <a:ext uri="{FF2B5EF4-FFF2-40B4-BE49-F238E27FC236}">
                <a16:creationId xmlns:a16="http://schemas.microsoft.com/office/drawing/2014/main" id="{BD2A9174-AE62-4C39-A3DA-08D2294098A4}"/>
              </a:ext>
            </a:extLst>
          </p:cNvPr>
          <p:cNvSpPr>
            <a:spLocks noGrp="1"/>
          </p:cNvSpPr>
          <p:nvPr>
            <p:ph type="ftr" sz="quarter" idx="11"/>
          </p:nvPr>
        </p:nvSpPr>
        <p:spPr/>
        <p:txBody>
          <a:bodyPr/>
          <a:lstStyle/>
          <a:p>
            <a:r>
              <a:rPr lang="en-US"/>
              <a:t>Go to Insert &gt; Header &amp; Footer to edit footer text</a:t>
            </a:r>
            <a:endParaRPr lang="en-GB"/>
          </a:p>
        </p:txBody>
      </p:sp>
      <p:sp>
        <p:nvSpPr>
          <p:cNvPr id="17" name="Freeform: Shape 16">
            <a:extLst>
              <a:ext uri="{FF2B5EF4-FFF2-40B4-BE49-F238E27FC236}">
                <a16:creationId xmlns:a16="http://schemas.microsoft.com/office/drawing/2014/main" id="{D5BCA6B4-C5FD-4781-B3F1-316CAB213A1A}"/>
              </a:ext>
            </a:extLst>
          </p:cNvPr>
          <p:cNvSpPr>
            <a:spLocks noChangeAspect="1"/>
          </p:cNvSpPr>
          <p:nvPr userDrawn="1"/>
        </p:nvSpPr>
        <p:spPr>
          <a:xfrm flipH="1">
            <a:off x="8178800" y="44511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sp>
        <p:nvSpPr>
          <p:cNvPr id="18" name="Slide Number Placeholder 5">
            <a:extLst>
              <a:ext uri="{FF2B5EF4-FFF2-40B4-BE49-F238E27FC236}">
                <a16:creationId xmlns:a16="http://schemas.microsoft.com/office/drawing/2014/main" id="{03805916-7BFC-4FAD-BE47-414CDF4220FE}"/>
              </a:ext>
            </a:extLst>
          </p:cNvPr>
          <p:cNvSpPr>
            <a:spLocks noGrp="1"/>
          </p:cNvSpPr>
          <p:nvPr>
            <p:ph type="sldNum" sz="quarter" idx="4"/>
          </p:nvPr>
        </p:nvSpPr>
        <p:spPr>
          <a:xfrm>
            <a:off x="8140700" y="635795"/>
            <a:ext cx="368300" cy="365125"/>
          </a:xfrm>
          <a:prstGeom prst="rect">
            <a:avLst/>
          </a:prstGeom>
        </p:spPr>
        <p:txBody>
          <a:bodyPr vert="horz" lIns="0" tIns="0" rIns="0" bIns="0" rtlCol="0" anchor="ctr"/>
          <a:lstStyle>
            <a:lvl1pPr algn="r">
              <a:defRPr sz="1050">
                <a:solidFill>
                  <a:schemeClr val="bg1"/>
                </a:solidFill>
              </a:defRPr>
            </a:lvl1pPr>
          </a:lstStyle>
          <a:p>
            <a:fld id="{FAEEC637-5006-4E50-A83C-29CEB747C05F}" type="slidenum">
              <a:rPr lang="en-GB" smtClean="0"/>
              <a:pPr/>
              <a:t>‹#›</a:t>
            </a:fld>
            <a:endParaRPr lang="en-GB"/>
          </a:p>
        </p:txBody>
      </p:sp>
      <p:sp>
        <p:nvSpPr>
          <p:cNvPr id="4" name="Title 3">
            <a:extLst>
              <a:ext uri="{FF2B5EF4-FFF2-40B4-BE49-F238E27FC236}">
                <a16:creationId xmlns:a16="http://schemas.microsoft.com/office/drawing/2014/main" id="{31608B16-B6FA-4F3E-8353-0A541E8BE5F1}"/>
              </a:ext>
            </a:extLst>
          </p:cNvPr>
          <p:cNvSpPr>
            <a:spLocks noGrp="1"/>
          </p:cNvSpPr>
          <p:nvPr>
            <p:ph type="title"/>
          </p:nvPr>
        </p:nvSpPr>
        <p:spPr>
          <a:xfrm>
            <a:off x="710381" y="275771"/>
            <a:ext cx="7100118" cy="1085172"/>
          </a:xfrm>
        </p:spPr>
        <p:txBody>
          <a:bodyPr/>
          <a:lstStyle/>
          <a:p>
            <a:r>
              <a:rPr lang="en-US"/>
              <a:t>Click to edit Master title style</a:t>
            </a:r>
            <a:endParaRPr lang="en-GB"/>
          </a:p>
        </p:txBody>
      </p:sp>
      <p:sp>
        <p:nvSpPr>
          <p:cNvPr id="22" name="Content Placeholder 15">
            <a:extLst>
              <a:ext uri="{FF2B5EF4-FFF2-40B4-BE49-F238E27FC236}">
                <a16:creationId xmlns:a16="http://schemas.microsoft.com/office/drawing/2014/main" id="{CB4E58A0-1EA8-4DBE-B28A-67728CEC13EC}"/>
              </a:ext>
            </a:extLst>
          </p:cNvPr>
          <p:cNvSpPr>
            <a:spLocks noGrp="1"/>
          </p:cNvSpPr>
          <p:nvPr>
            <p:ph sz="quarter" idx="16"/>
          </p:nvPr>
        </p:nvSpPr>
        <p:spPr>
          <a:xfrm>
            <a:off x="710381" y="1748712"/>
            <a:ext cx="7100121"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85551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Quote or Statement">
    <p:spTree>
      <p:nvGrpSpPr>
        <p:cNvPr id="1" name=""/>
        <p:cNvGrpSpPr/>
        <p:nvPr/>
      </p:nvGrpSpPr>
      <p:grpSpPr>
        <a:xfrm>
          <a:off x="0" y="0"/>
          <a:ext cx="0" cy="0"/>
          <a:chOff x="0" y="0"/>
          <a:chExt cx="0" cy="0"/>
        </a:xfrm>
      </p:grpSpPr>
      <p:pic>
        <p:nvPicPr>
          <p:cNvPr id="18" name="Picture 17" descr="A picture containing outdoor&#10;&#10;Description generated with very high confidence">
            <a:extLst>
              <a:ext uri="{FF2B5EF4-FFF2-40B4-BE49-F238E27FC236}">
                <a16:creationId xmlns:a16="http://schemas.microsoft.com/office/drawing/2014/main" id="{9596B830-8529-46BF-BF6A-67DB63FB05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9" name="Rectangle 18">
            <a:extLst>
              <a:ext uri="{FF2B5EF4-FFF2-40B4-BE49-F238E27FC236}">
                <a16:creationId xmlns:a16="http://schemas.microsoft.com/office/drawing/2014/main" id="{AE6AEA2D-94B1-4669-B3E4-612302B88B9D}"/>
              </a:ext>
            </a:extLst>
          </p:cNvPr>
          <p:cNvSpPr/>
          <p:nvPr userDrawn="1"/>
        </p:nvSpPr>
        <p:spPr>
          <a:xfrm>
            <a:off x="0" y="0"/>
            <a:ext cx="12192000" cy="6857998"/>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Footer Placeholder 2">
            <a:extLst>
              <a:ext uri="{FF2B5EF4-FFF2-40B4-BE49-F238E27FC236}">
                <a16:creationId xmlns:a16="http://schemas.microsoft.com/office/drawing/2014/main" id="{709C8322-D2BC-4FB2-81D0-54CD35257875}"/>
              </a:ext>
            </a:extLst>
          </p:cNvPr>
          <p:cNvSpPr>
            <a:spLocks noGrp="1"/>
          </p:cNvSpPr>
          <p:nvPr>
            <p:ph type="ftr" sz="quarter" idx="10"/>
          </p:nvPr>
        </p:nvSpPr>
        <p:spPr/>
        <p:txBody>
          <a:bodyPr/>
          <a:lstStyle/>
          <a:p>
            <a:r>
              <a:rPr lang="en-US"/>
              <a:t>Go to Insert &gt; Header &amp; Footer to edit footer text</a:t>
            </a:r>
            <a:endParaRPr lang="en-GB"/>
          </a:p>
        </p:txBody>
      </p:sp>
      <p:sp>
        <p:nvSpPr>
          <p:cNvPr id="17" name="Freeform: Shape 16">
            <a:extLst>
              <a:ext uri="{FF2B5EF4-FFF2-40B4-BE49-F238E27FC236}">
                <a16:creationId xmlns:a16="http://schemas.microsoft.com/office/drawing/2014/main" id="{A8D4B3AC-666F-4E9E-B904-F633D547596C}"/>
              </a:ext>
            </a:extLst>
          </p:cNvPr>
          <p:cNvSpPr/>
          <p:nvPr userDrawn="1"/>
        </p:nvSpPr>
        <p:spPr>
          <a:xfrm>
            <a:off x="698501" y="1884731"/>
            <a:ext cx="11493499" cy="3327398"/>
          </a:xfrm>
          <a:custGeom>
            <a:avLst/>
            <a:gdLst>
              <a:gd name="connsiteX0" fmla="*/ 1663699 w 11493499"/>
              <a:gd name="connsiteY0" fmla="*/ 0 h 3327398"/>
              <a:gd name="connsiteX1" fmla="*/ 11493499 w 11493499"/>
              <a:gd name="connsiteY1" fmla="*/ 0 h 3327398"/>
              <a:gd name="connsiteX2" fmla="*/ 11493499 w 11493499"/>
              <a:gd name="connsiteY2" fmla="*/ 3327398 h 3327398"/>
              <a:gd name="connsiteX3" fmla="*/ 1663699 w 11493499"/>
              <a:gd name="connsiteY3" fmla="*/ 3327398 h 3327398"/>
              <a:gd name="connsiteX4" fmla="*/ 0 w 11493499"/>
              <a:gd name="connsiteY4" fmla="*/ 1663699 h 3327398"/>
              <a:gd name="connsiteX5" fmla="*/ 1663699 w 11493499"/>
              <a:gd name="connsiteY5" fmla="*/ 0 h 3327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93499" h="3327398">
                <a:moveTo>
                  <a:pt x="1663699" y="0"/>
                </a:moveTo>
                <a:lnTo>
                  <a:pt x="11493499" y="0"/>
                </a:lnTo>
                <a:lnTo>
                  <a:pt x="11493499" y="3327398"/>
                </a:lnTo>
                <a:lnTo>
                  <a:pt x="1663699" y="3327398"/>
                </a:lnTo>
                <a:cubicBezTo>
                  <a:pt x="744863" y="3327398"/>
                  <a:pt x="0" y="2582535"/>
                  <a:pt x="0" y="1663699"/>
                </a:cubicBezTo>
                <a:cubicBezTo>
                  <a:pt x="0" y="744863"/>
                  <a:pt x="744863" y="0"/>
                  <a:pt x="1663699"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3" name="Picture Placeholder 12">
            <a:extLst>
              <a:ext uri="{FF2B5EF4-FFF2-40B4-BE49-F238E27FC236}">
                <a16:creationId xmlns:a16="http://schemas.microsoft.com/office/drawing/2014/main" id="{7F595A26-9317-4CC6-BE9B-BCC5CE1C0790}"/>
              </a:ext>
            </a:extLst>
          </p:cNvPr>
          <p:cNvSpPr>
            <a:spLocks noGrp="1"/>
          </p:cNvSpPr>
          <p:nvPr>
            <p:ph type="pic" sz="quarter" idx="12"/>
          </p:nvPr>
        </p:nvSpPr>
        <p:spPr>
          <a:xfrm>
            <a:off x="688875" y="1885230"/>
            <a:ext cx="3348000" cy="3326400"/>
          </a:xfrm>
          <a:custGeom>
            <a:avLst/>
            <a:gdLst>
              <a:gd name="connsiteX0" fmla="*/ 1663200 w 3326400"/>
              <a:gd name="connsiteY0" fmla="*/ 0 h 3326400"/>
              <a:gd name="connsiteX1" fmla="*/ 3326400 w 3326400"/>
              <a:gd name="connsiteY1" fmla="*/ 1663200 h 3326400"/>
              <a:gd name="connsiteX2" fmla="*/ 1663200 w 3326400"/>
              <a:gd name="connsiteY2" fmla="*/ 3326400 h 3326400"/>
              <a:gd name="connsiteX3" fmla="*/ 0 w 3326400"/>
              <a:gd name="connsiteY3" fmla="*/ 1663200 h 3326400"/>
              <a:gd name="connsiteX4" fmla="*/ 1663200 w 3326400"/>
              <a:gd name="connsiteY4" fmla="*/ 0 h 332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6400" h="3326400">
                <a:moveTo>
                  <a:pt x="1663200" y="0"/>
                </a:moveTo>
                <a:cubicBezTo>
                  <a:pt x="2581760" y="0"/>
                  <a:pt x="3326400" y="744640"/>
                  <a:pt x="3326400" y="1663200"/>
                </a:cubicBezTo>
                <a:cubicBezTo>
                  <a:pt x="3326400" y="2581760"/>
                  <a:pt x="2581760" y="3326400"/>
                  <a:pt x="1663200" y="3326400"/>
                </a:cubicBezTo>
                <a:cubicBezTo>
                  <a:pt x="744640" y="3326400"/>
                  <a:pt x="0" y="2581760"/>
                  <a:pt x="0" y="1663200"/>
                </a:cubicBezTo>
                <a:cubicBezTo>
                  <a:pt x="0" y="744640"/>
                  <a:pt x="744640" y="0"/>
                  <a:pt x="1663200"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en-GB"/>
          </a:p>
        </p:txBody>
      </p:sp>
      <p:sp>
        <p:nvSpPr>
          <p:cNvPr id="15" name="Text Placeholder 14">
            <a:extLst>
              <a:ext uri="{FF2B5EF4-FFF2-40B4-BE49-F238E27FC236}">
                <a16:creationId xmlns:a16="http://schemas.microsoft.com/office/drawing/2014/main" id="{DE5A9667-5612-4B76-B61A-FB5335E7C461}"/>
              </a:ext>
            </a:extLst>
          </p:cNvPr>
          <p:cNvSpPr>
            <a:spLocks noGrp="1"/>
          </p:cNvSpPr>
          <p:nvPr>
            <p:ph type="body" sz="quarter" idx="13"/>
          </p:nvPr>
        </p:nvSpPr>
        <p:spPr>
          <a:xfrm>
            <a:off x="4584700" y="2291130"/>
            <a:ext cx="6908799" cy="2514600"/>
          </a:xfrm>
        </p:spPr>
        <p:txBody>
          <a:bodyPr anchor="ctr">
            <a:normAutofit/>
          </a:bodyPr>
          <a:lstStyle>
            <a:lvl1pPr>
              <a:defRPr sz="3600">
                <a:solidFill>
                  <a:schemeClr val="bg1"/>
                </a:solidFill>
              </a:defRPr>
            </a:lvl1pPr>
          </a:lstStyle>
          <a:p>
            <a:pPr lvl="0"/>
            <a:r>
              <a:rPr lang="en-US"/>
              <a:t>Edit Master text styles</a:t>
            </a:r>
          </a:p>
        </p:txBody>
      </p:sp>
      <p:sp>
        <p:nvSpPr>
          <p:cNvPr id="20" name="Freeform: Shape 19">
            <a:extLst>
              <a:ext uri="{FF2B5EF4-FFF2-40B4-BE49-F238E27FC236}">
                <a16:creationId xmlns:a16="http://schemas.microsoft.com/office/drawing/2014/main" id="{49A37327-6163-44BA-97B3-2D3415A4DE61}"/>
              </a:ext>
            </a:extLst>
          </p:cNvPr>
          <p:cNvSpPr>
            <a:spLocks noChangeAspect="1"/>
          </p:cNvSpPr>
          <p:nvPr userDrawn="1"/>
        </p:nvSpPr>
        <p:spPr>
          <a:xfrm flipH="1">
            <a:off x="11823700" y="44511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grpSp>
        <p:nvGrpSpPr>
          <p:cNvPr id="21" name="Group 20">
            <a:extLst>
              <a:ext uri="{FF2B5EF4-FFF2-40B4-BE49-F238E27FC236}">
                <a16:creationId xmlns:a16="http://schemas.microsoft.com/office/drawing/2014/main" id="{8DDAD210-C494-48B6-95BE-8C9B9DB75551}"/>
              </a:ext>
            </a:extLst>
          </p:cNvPr>
          <p:cNvGrpSpPr/>
          <p:nvPr userDrawn="1"/>
        </p:nvGrpSpPr>
        <p:grpSpPr>
          <a:xfrm>
            <a:off x="0" y="445112"/>
            <a:ext cx="368300" cy="746490"/>
            <a:chOff x="0" y="415872"/>
            <a:chExt cx="368300" cy="746490"/>
          </a:xfrm>
        </p:grpSpPr>
        <p:sp>
          <p:nvSpPr>
            <p:cNvPr id="22" name="Freeform: Shape 21">
              <a:extLst>
                <a:ext uri="{FF2B5EF4-FFF2-40B4-BE49-F238E27FC236}">
                  <a16:creationId xmlns:a16="http://schemas.microsoft.com/office/drawing/2014/main" id="{A15C7EC2-27C0-44C8-AF3E-AD0C8FE81E69}"/>
                </a:ext>
              </a:extLst>
            </p:cNvPr>
            <p:cNvSpPr>
              <a:spLocks noChangeAspect="1"/>
            </p:cNvSpPr>
            <p:nvPr/>
          </p:nvSpPr>
          <p:spPr>
            <a:xfrm>
              <a:off x="0" y="41587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grpSp>
          <p:nvGrpSpPr>
            <p:cNvPr id="23" name="Group 22">
              <a:extLst>
                <a:ext uri="{FF2B5EF4-FFF2-40B4-BE49-F238E27FC236}">
                  <a16:creationId xmlns:a16="http://schemas.microsoft.com/office/drawing/2014/main" id="{EE8BA3DF-3DB6-4B5C-8BDA-1337AA8E1FAE}"/>
                </a:ext>
              </a:extLst>
            </p:cNvPr>
            <p:cNvGrpSpPr/>
            <p:nvPr/>
          </p:nvGrpSpPr>
          <p:grpSpPr>
            <a:xfrm>
              <a:off x="78324" y="605745"/>
              <a:ext cx="121701" cy="361477"/>
              <a:chOff x="-12442" y="1663700"/>
              <a:chExt cx="1761630" cy="5232400"/>
            </a:xfrm>
          </p:grpSpPr>
          <p:sp>
            <p:nvSpPr>
              <p:cNvPr id="24" name="Freeform 5">
                <a:extLst>
                  <a:ext uri="{FF2B5EF4-FFF2-40B4-BE49-F238E27FC236}">
                    <a16:creationId xmlns:a16="http://schemas.microsoft.com/office/drawing/2014/main" id="{F92DBA50-E586-417D-ACE8-E9328CAD1DB3}"/>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sp>
            <p:nvSpPr>
              <p:cNvPr id="25" name="Freeform 6">
                <a:extLst>
                  <a:ext uri="{FF2B5EF4-FFF2-40B4-BE49-F238E27FC236}">
                    <a16:creationId xmlns:a16="http://schemas.microsoft.com/office/drawing/2014/main" id="{CCD4F696-0109-496D-8830-21B98FFAB290}"/>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grpSp>
      </p:grpSp>
      <p:sp>
        <p:nvSpPr>
          <p:cNvPr id="4" name="Slide Number Placeholder 3">
            <a:extLst>
              <a:ext uri="{FF2B5EF4-FFF2-40B4-BE49-F238E27FC236}">
                <a16:creationId xmlns:a16="http://schemas.microsoft.com/office/drawing/2014/main" id="{5FD8AA36-DC02-4C10-B19F-8CC1013CFC9D}"/>
              </a:ext>
            </a:extLst>
          </p:cNvPr>
          <p:cNvSpPr>
            <a:spLocks noGrp="1"/>
          </p:cNvSpPr>
          <p:nvPr>
            <p:ph type="sldNum" sz="quarter" idx="11"/>
          </p:nvPr>
        </p:nvSpPr>
        <p:spPr/>
        <p:txBody>
          <a:bodyPr/>
          <a:lstStyle/>
          <a:p>
            <a:fld id="{FAEEC637-5006-4E50-A83C-29CEB747C05F}" type="slidenum">
              <a:rPr lang="en-GB" smtClean="0"/>
              <a:pPr/>
              <a:t>‹#›</a:t>
            </a:fld>
            <a:endParaRPr lang="en-GB"/>
          </a:p>
        </p:txBody>
      </p:sp>
    </p:spTree>
    <p:extLst>
      <p:ext uri="{BB962C8B-B14F-4D97-AF65-F5344CB8AC3E}">
        <p14:creationId xmlns:p14="http://schemas.microsoft.com/office/powerpoint/2010/main" val="1623929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11500-00F8-4965-84B4-14C20B61B64D}"/>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ACB3732C-FC7F-4DE3-88A8-A46C602C6181}"/>
              </a:ext>
            </a:extLst>
          </p:cNvPr>
          <p:cNvSpPr>
            <a:spLocks noGrp="1"/>
          </p:cNvSpPr>
          <p:nvPr>
            <p:ph type="ftr" sz="quarter" idx="11"/>
          </p:nvPr>
        </p:nvSpPr>
        <p:spPr/>
        <p:txBody>
          <a:bodyPr/>
          <a:lstStyle/>
          <a:p>
            <a:r>
              <a:rPr lang="en-US"/>
              <a:t>Go to Insert &gt; Header &amp; Footer to edit footer text</a:t>
            </a:r>
            <a:endParaRPr lang="en-GB"/>
          </a:p>
        </p:txBody>
      </p:sp>
      <p:sp>
        <p:nvSpPr>
          <p:cNvPr id="5" name="Slide Number Placeholder 4">
            <a:extLst>
              <a:ext uri="{FF2B5EF4-FFF2-40B4-BE49-F238E27FC236}">
                <a16:creationId xmlns:a16="http://schemas.microsoft.com/office/drawing/2014/main" id="{83506D75-FF9B-4780-94C9-D353E2FAEE5F}"/>
              </a:ext>
            </a:extLst>
          </p:cNvPr>
          <p:cNvSpPr>
            <a:spLocks noGrp="1"/>
          </p:cNvSpPr>
          <p:nvPr>
            <p:ph type="sldNum" sz="quarter" idx="12"/>
          </p:nvPr>
        </p:nvSpPr>
        <p:spPr/>
        <p:txBody>
          <a:bodyPr/>
          <a:lstStyle/>
          <a:p>
            <a:fld id="{FAEEC637-5006-4E50-A83C-29CEB747C05F}" type="slidenum">
              <a:rPr lang="en-GB" smtClean="0"/>
              <a:t>‹#›</a:t>
            </a:fld>
            <a:endParaRPr lang="en-GB"/>
          </a:p>
        </p:txBody>
      </p:sp>
    </p:spTree>
    <p:extLst>
      <p:ext uri="{BB962C8B-B14F-4D97-AF65-F5344CB8AC3E}">
        <p14:creationId xmlns:p14="http://schemas.microsoft.com/office/powerpoint/2010/main" val="1372136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EEF98BD-1ACC-47C2-B49D-F62045976874}"/>
              </a:ext>
            </a:extLst>
          </p:cNvPr>
          <p:cNvSpPr>
            <a:spLocks noGrp="1"/>
          </p:cNvSpPr>
          <p:nvPr>
            <p:ph type="ftr" sz="quarter" idx="11"/>
          </p:nvPr>
        </p:nvSpPr>
        <p:spPr/>
        <p:txBody>
          <a:bodyPr/>
          <a:lstStyle/>
          <a:p>
            <a:r>
              <a:rPr lang="en-US"/>
              <a:t>Go to Insert &gt; Header &amp; Footer to edit footer text</a:t>
            </a:r>
            <a:endParaRPr lang="en-GB"/>
          </a:p>
        </p:txBody>
      </p:sp>
      <p:sp>
        <p:nvSpPr>
          <p:cNvPr id="4" name="Slide Number Placeholder 3">
            <a:extLst>
              <a:ext uri="{FF2B5EF4-FFF2-40B4-BE49-F238E27FC236}">
                <a16:creationId xmlns:a16="http://schemas.microsoft.com/office/drawing/2014/main" id="{FD5A0906-AC26-44F3-9B49-2006953D6072}"/>
              </a:ext>
            </a:extLst>
          </p:cNvPr>
          <p:cNvSpPr>
            <a:spLocks noGrp="1"/>
          </p:cNvSpPr>
          <p:nvPr>
            <p:ph type="sldNum" sz="quarter" idx="12"/>
          </p:nvPr>
        </p:nvSpPr>
        <p:spPr/>
        <p:txBody>
          <a:bodyPr/>
          <a:lstStyle/>
          <a:p>
            <a:fld id="{FAEEC637-5006-4E50-A83C-29CEB747C05F}" type="slidenum">
              <a:rPr lang="en-GB" smtClean="0"/>
              <a:t>‹#›</a:t>
            </a:fld>
            <a:endParaRPr lang="en-GB"/>
          </a:p>
        </p:txBody>
      </p:sp>
    </p:spTree>
    <p:extLst>
      <p:ext uri="{BB962C8B-B14F-4D97-AF65-F5344CB8AC3E}">
        <p14:creationId xmlns:p14="http://schemas.microsoft.com/office/powerpoint/2010/main" val="1819967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Thank You">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BB1815A-B3AC-4EED-B654-8903A2CE163E}"/>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n>
                <a:solidFill>
                  <a:schemeClr val="bg1"/>
                </a:solidFill>
              </a:ln>
              <a:solidFill>
                <a:schemeClr val="bg1"/>
              </a:solidFill>
            </a:endParaRPr>
          </a:p>
        </p:txBody>
      </p:sp>
      <p:pic>
        <p:nvPicPr>
          <p:cNvPr id="6" name="Picture 5" descr="A picture containing outdoor&#10;&#10;Description generated with very high confidence">
            <a:extLst>
              <a:ext uri="{FF2B5EF4-FFF2-40B4-BE49-F238E27FC236}">
                <a16:creationId xmlns:a16="http://schemas.microsoft.com/office/drawing/2014/main" id="{353441D7-B154-431A-A906-AE049925AFE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Rectangle 6">
            <a:extLst>
              <a:ext uri="{FF2B5EF4-FFF2-40B4-BE49-F238E27FC236}">
                <a16:creationId xmlns:a16="http://schemas.microsoft.com/office/drawing/2014/main" id="{FB89681C-A500-41B3-AEC8-006EF607E575}"/>
              </a:ext>
            </a:extLst>
          </p:cNvPr>
          <p:cNvSpPr/>
          <p:nvPr userDrawn="1"/>
        </p:nvSpPr>
        <p:spPr>
          <a:xfrm>
            <a:off x="0" y="0"/>
            <a:ext cx="12192000" cy="6857998"/>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reeform: Shape 7">
            <a:extLst>
              <a:ext uri="{FF2B5EF4-FFF2-40B4-BE49-F238E27FC236}">
                <a16:creationId xmlns:a16="http://schemas.microsoft.com/office/drawing/2014/main" id="{24DE3A14-50CC-4DE7-BC04-ECE2D4476919}"/>
              </a:ext>
            </a:extLst>
          </p:cNvPr>
          <p:cNvSpPr/>
          <p:nvPr userDrawn="1"/>
        </p:nvSpPr>
        <p:spPr>
          <a:xfrm>
            <a:off x="695326" y="2119449"/>
            <a:ext cx="11496674" cy="2645018"/>
          </a:xfrm>
          <a:custGeom>
            <a:avLst/>
            <a:gdLst>
              <a:gd name="connsiteX0" fmla="*/ 1322509 w 11496675"/>
              <a:gd name="connsiteY0" fmla="*/ 0 h 2645018"/>
              <a:gd name="connsiteX1" fmla="*/ 11496675 w 11496675"/>
              <a:gd name="connsiteY1" fmla="*/ 0 h 2645018"/>
              <a:gd name="connsiteX2" fmla="*/ 11496675 w 11496675"/>
              <a:gd name="connsiteY2" fmla="*/ 2645018 h 2645018"/>
              <a:gd name="connsiteX3" fmla="*/ 1322509 w 11496675"/>
              <a:gd name="connsiteY3" fmla="*/ 2645018 h 2645018"/>
              <a:gd name="connsiteX4" fmla="*/ 0 w 11496675"/>
              <a:gd name="connsiteY4" fmla="*/ 1322509 h 2645018"/>
              <a:gd name="connsiteX5" fmla="*/ 1322509 w 11496675"/>
              <a:gd name="connsiteY5" fmla="*/ 0 h 2645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96675" h="2645018">
                <a:moveTo>
                  <a:pt x="1322509" y="0"/>
                </a:moveTo>
                <a:lnTo>
                  <a:pt x="11496675" y="0"/>
                </a:lnTo>
                <a:lnTo>
                  <a:pt x="11496675" y="2645018"/>
                </a:lnTo>
                <a:lnTo>
                  <a:pt x="1322509" y="2645018"/>
                </a:lnTo>
                <a:cubicBezTo>
                  <a:pt x="592109" y="2645018"/>
                  <a:pt x="0" y="2052909"/>
                  <a:pt x="0" y="1322509"/>
                </a:cubicBezTo>
                <a:cubicBezTo>
                  <a:pt x="0" y="592109"/>
                  <a:pt x="592109" y="0"/>
                  <a:pt x="1322509" y="0"/>
                </a:cubicBezTo>
                <a:close/>
              </a:path>
            </a:pathLst>
          </a:cu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GB"/>
          </a:p>
        </p:txBody>
      </p:sp>
      <p:sp>
        <p:nvSpPr>
          <p:cNvPr id="9" name="Oval 8">
            <a:extLst>
              <a:ext uri="{FF2B5EF4-FFF2-40B4-BE49-F238E27FC236}">
                <a16:creationId xmlns:a16="http://schemas.microsoft.com/office/drawing/2014/main" id="{208AB5E0-AFB1-46D0-B888-EFB7A35BC2A2}"/>
              </a:ext>
            </a:extLst>
          </p:cNvPr>
          <p:cNvSpPr/>
          <p:nvPr userDrawn="1"/>
        </p:nvSpPr>
        <p:spPr>
          <a:xfrm>
            <a:off x="905606" y="2329730"/>
            <a:ext cx="2224456" cy="222445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Footer Placeholder 2">
            <a:extLst>
              <a:ext uri="{FF2B5EF4-FFF2-40B4-BE49-F238E27FC236}">
                <a16:creationId xmlns:a16="http://schemas.microsoft.com/office/drawing/2014/main" id="{8EEF98BD-1ACC-47C2-B49D-F62045976874}"/>
              </a:ext>
            </a:extLst>
          </p:cNvPr>
          <p:cNvSpPr>
            <a:spLocks noGrp="1"/>
          </p:cNvSpPr>
          <p:nvPr>
            <p:ph type="ftr" sz="quarter" idx="11"/>
          </p:nvPr>
        </p:nvSpPr>
        <p:spPr/>
        <p:txBody>
          <a:bodyPr/>
          <a:lstStyle/>
          <a:p>
            <a:r>
              <a:rPr lang="en-US"/>
              <a:t>Go to Insert &gt; Header &amp; Footer to edit footer text</a:t>
            </a:r>
            <a:endParaRPr lang="en-GB"/>
          </a:p>
        </p:txBody>
      </p:sp>
      <p:sp>
        <p:nvSpPr>
          <p:cNvPr id="11" name="Rectangle 10">
            <a:extLst>
              <a:ext uri="{FF2B5EF4-FFF2-40B4-BE49-F238E27FC236}">
                <a16:creationId xmlns:a16="http://schemas.microsoft.com/office/drawing/2014/main" id="{E50116F5-C21D-4DA9-892D-50392E4BD607}"/>
              </a:ext>
            </a:extLst>
          </p:cNvPr>
          <p:cNvSpPr/>
          <p:nvPr userDrawn="1"/>
        </p:nvSpPr>
        <p:spPr>
          <a:xfrm>
            <a:off x="3522951" y="2657128"/>
            <a:ext cx="7973723" cy="1569660"/>
          </a:xfrm>
          <a:prstGeom prst="rect">
            <a:avLst/>
          </a:prstGeom>
        </p:spPr>
        <p:txBody>
          <a:bodyPr wrap="square">
            <a:spAutoFit/>
          </a:bodyPr>
          <a:lstStyle/>
          <a:p>
            <a:pPr algn="ctr" defTabSz="914400" rtl="0" eaLnBrk="1" latinLnBrk="0" hangingPunct="1">
              <a:lnSpc>
                <a:spcPct val="100000"/>
              </a:lnSpc>
              <a:spcBef>
                <a:spcPct val="0"/>
              </a:spcBef>
              <a:buNone/>
            </a:pPr>
            <a:r>
              <a:rPr lang="en-US" sz="9600" b="1" kern="1200" cap="all" baseline="0" noProof="0">
                <a:solidFill>
                  <a:schemeClr val="bg2"/>
                </a:solidFill>
                <a:latin typeface="+mj-lt"/>
                <a:ea typeface="+mj-ea"/>
                <a:cs typeface="+mj-cs"/>
              </a:rPr>
              <a:t>THANK YOU</a:t>
            </a:r>
            <a:endParaRPr lang="en-US" sz="9600" b="1" kern="1200" cap="all" baseline="0">
              <a:solidFill>
                <a:schemeClr val="bg2"/>
              </a:solidFill>
              <a:latin typeface="+mj-lt"/>
              <a:ea typeface="+mj-ea"/>
              <a:cs typeface="+mj-cs"/>
            </a:endParaRPr>
          </a:p>
        </p:txBody>
      </p:sp>
      <p:pic>
        <p:nvPicPr>
          <p:cNvPr id="10" name="Picture 9">
            <a:extLst>
              <a:ext uri="{FF2B5EF4-FFF2-40B4-BE49-F238E27FC236}">
                <a16:creationId xmlns:a16="http://schemas.microsoft.com/office/drawing/2014/main" id="{1DCE2996-6646-445A-9880-B094B54B8E8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0800000" flipH="1" flipV="1">
            <a:off x="1168246" y="2573517"/>
            <a:ext cx="1699176" cy="1699174"/>
          </a:xfrm>
          <a:prstGeom prst="rect">
            <a:avLst/>
          </a:prstGeom>
        </p:spPr>
      </p:pic>
    </p:spTree>
    <p:extLst>
      <p:ext uri="{BB962C8B-B14F-4D97-AF65-F5344CB8AC3E}">
        <p14:creationId xmlns:p14="http://schemas.microsoft.com/office/powerpoint/2010/main" val="351365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RASPBERRY">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594524" y="326585"/>
            <a:ext cx="11186962" cy="540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defRPr>
                <a:solidFill>
                  <a:srgbClr val="CA005D"/>
                </a:solidFill>
              </a:defRPr>
            </a:lvl1pPr>
          </a:lstStyle>
          <a:p>
            <a:pPr lvl="0"/>
            <a:r>
              <a:rPr lang="en-US" noProof="0"/>
              <a:t>Click to edit Master title style</a:t>
            </a:r>
            <a:endParaRPr lang="en-GB" noProof="0"/>
          </a:p>
        </p:txBody>
      </p:sp>
      <p:sp>
        <p:nvSpPr>
          <p:cNvPr id="4" name="Text Placeholder 3"/>
          <p:cNvSpPr>
            <a:spLocks noGrp="1"/>
          </p:cNvSpPr>
          <p:nvPr>
            <p:ph type="body" sz="quarter" idx="10"/>
          </p:nvPr>
        </p:nvSpPr>
        <p:spPr>
          <a:xfrm>
            <a:off x="410925" y="1468954"/>
            <a:ext cx="11370562" cy="45075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Slide Number Placeholder 1"/>
          <p:cNvSpPr>
            <a:spLocks noGrp="1"/>
          </p:cNvSpPr>
          <p:nvPr>
            <p:ph type="sldNum" sz="quarter" idx="11"/>
          </p:nvPr>
        </p:nvSpPr>
        <p:spPr/>
        <p:txBody>
          <a:bodyPr/>
          <a:lstStyle/>
          <a:p>
            <a:fld id="{68E9E923-BE2F-B54C-8612-CEC3CBE68F6C}" type="slidenum">
              <a:rPr lang="en-GB" smtClean="0"/>
              <a:pPr/>
              <a:t>‹#›</a:t>
            </a:fld>
            <a:r>
              <a:rPr lang="en-GB"/>
              <a:t> </a:t>
            </a:r>
          </a:p>
          <a:p>
            <a:endParaRPr lang="en-GB"/>
          </a:p>
        </p:txBody>
      </p:sp>
      <p:sp>
        <p:nvSpPr>
          <p:cNvPr id="5" name="TextBox 4"/>
          <p:cNvSpPr txBox="1"/>
          <p:nvPr userDrawn="1"/>
        </p:nvSpPr>
        <p:spPr>
          <a:xfrm>
            <a:off x="787841" y="-244357"/>
            <a:ext cx="184731" cy="343620"/>
          </a:xfrm>
          <a:prstGeom prst="rect">
            <a:avLst/>
          </a:prstGeom>
          <a:noFill/>
        </p:spPr>
        <p:txBody>
          <a:bodyPr wrap="none" rtlCol="0">
            <a:spAutoFit/>
          </a:bodyPr>
          <a:lstStyle/>
          <a:p>
            <a:endParaRPr lang="en-US" sz="1633"/>
          </a:p>
        </p:txBody>
      </p:sp>
      <p:cxnSp>
        <p:nvCxnSpPr>
          <p:cNvPr id="7" name="Straight Connector 6"/>
          <p:cNvCxnSpPr/>
          <p:nvPr userDrawn="1"/>
        </p:nvCxnSpPr>
        <p:spPr bwMode="auto">
          <a:xfrm>
            <a:off x="410512" y="360581"/>
            <a:ext cx="0" cy="522595"/>
          </a:xfrm>
          <a:prstGeom prst="line">
            <a:avLst/>
          </a:prstGeom>
          <a:solidFill>
            <a:srgbClr val="FF9900"/>
          </a:solidFill>
          <a:ln w="57150" cap="flat" cmpd="sng" algn="ctr">
            <a:solidFill>
              <a:srgbClr val="CA005D"/>
            </a:solidFill>
            <a:prstDash val="solid"/>
            <a:round/>
            <a:headEnd type="none" w="med" len="med"/>
            <a:tailEnd type="none" w="med" len="med"/>
          </a:ln>
          <a:effectLst/>
        </p:spPr>
      </p:cxnSp>
      <p:cxnSp>
        <p:nvCxnSpPr>
          <p:cNvPr id="8" name="Straight Connector 7"/>
          <p:cNvCxnSpPr/>
          <p:nvPr userDrawn="1"/>
        </p:nvCxnSpPr>
        <p:spPr bwMode="auto">
          <a:xfrm>
            <a:off x="409440" y="6303271"/>
            <a:ext cx="11372046" cy="0"/>
          </a:xfrm>
          <a:prstGeom prst="line">
            <a:avLst/>
          </a:prstGeom>
          <a:solidFill>
            <a:srgbClr val="FF9900"/>
          </a:solidFill>
          <a:ln w="38100" cap="flat" cmpd="sng" algn="ctr">
            <a:solidFill>
              <a:srgbClr val="CA005D"/>
            </a:solidFill>
            <a:prstDash val="solid"/>
            <a:round/>
            <a:headEnd type="none" w="med" len="med"/>
            <a:tailEnd type="none" w="med" len="med"/>
          </a:ln>
          <a:effectLst/>
        </p:spPr>
      </p:cxnSp>
    </p:spTree>
    <p:extLst>
      <p:ext uri="{BB962C8B-B14F-4D97-AF65-F5344CB8AC3E}">
        <p14:creationId xmlns:p14="http://schemas.microsoft.com/office/powerpoint/2010/main" val="4087684309"/>
      </p:ext>
    </p:extLst>
  </p:cSld>
  <p:clrMapOvr>
    <a:masterClrMapping/>
  </p:clrMapOvr>
  <p:extLst>
    <p:ext uri="{DCECCB84-F9BA-43D5-87BE-67443E8EF086}">
      <p15:sldGuideLst xmlns:p15="http://schemas.microsoft.com/office/powerpoint/2012/main">
        <p15:guide id="4" orient="horz" pos="415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25408D"/>
          </a:solidFill>
        </p:spPr>
        <p:txBody>
          <a:bodyPr wrap="square" lIns="0" tIns="0" rIns="0" bIns="0" rtlCol="0"/>
          <a:lstStyle/>
          <a:p>
            <a:endParaRPr/>
          </a:p>
        </p:txBody>
      </p:sp>
      <p:sp>
        <p:nvSpPr>
          <p:cNvPr id="2" name="Holder 2"/>
          <p:cNvSpPr>
            <a:spLocks noGrp="1"/>
          </p:cNvSpPr>
          <p:nvPr>
            <p:ph type="title"/>
          </p:nvPr>
        </p:nvSpPr>
        <p:spPr>
          <a:xfrm>
            <a:off x="563299" y="356055"/>
            <a:ext cx="11071750" cy="939800"/>
          </a:xfrm>
          <a:prstGeom prst="rect">
            <a:avLst/>
          </a:prstGeom>
        </p:spPr>
        <p:txBody>
          <a:bodyPr wrap="square" lIns="0" tIns="0" rIns="0" bIns="0">
            <a:spAutoFit/>
          </a:bodyPr>
          <a:lstStyle>
            <a:lvl1pPr>
              <a:defRPr sz="6000" b="1" i="0">
                <a:solidFill>
                  <a:srgbClr val="FDB913"/>
                </a:solidFill>
                <a:latin typeface="Arial"/>
                <a:cs typeface="Arial"/>
              </a:defRPr>
            </a:lvl1pPr>
          </a:lstStyle>
          <a:p>
            <a:endParaRPr/>
          </a:p>
        </p:txBody>
      </p:sp>
      <p:sp>
        <p:nvSpPr>
          <p:cNvPr id="3" name="Holder 3"/>
          <p:cNvSpPr>
            <a:spLocks noGrp="1"/>
          </p:cNvSpPr>
          <p:nvPr>
            <p:ph type="body" idx="1"/>
          </p:nvPr>
        </p:nvSpPr>
        <p:spPr>
          <a:xfrm>
            <a:off x="563299" y="2079848"/>
            <a:ext cx="11071750" cy="426593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7439" y="6377940"/>
            <a:ext cx="3903472"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917" y="6377940"/>
            <a:ext cx="28056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9/8/2026</a:t>
            </a:fld>
            <a:endParaRPr lang="en-US"/>
          </a:p>
        </p:txBody>
      </p:sp>
      <p:sp>
        <p:nvSpPr>
          <p:cNvPr id="6" name="Holder 6"/>
          <p:cNvSpPr>
            <a:spLocks noGrp="1"/>
          </p:cNvSpPr>
          <p:nvPr>
            <p:ph type="sldNum" sz="quarter" idx="7"/>
          </p:nvPr>
        </p:nvSpPr>
        <p:spPr>
          <a:xfrm>
            <a:off x="8782812" y="6377940"/>
            <a:ext cx="28056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6" r:id="rId5"/>
    <p:sldLayoutId id="2147483667" r:id="rId6"/>
    <p:sldLayoutId id="2147483668" r:id="rId7"/>
    <p:sldLayoutId id="2147483669" r:id="rId8"/>
    <p:sldLayoutId id="2147483670" r:id="rId9"/>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6" name="Freeform: Shape 55">
            <a:extLst>
              <a:ext uri="{FF2B5EF4-FFF2-40B4-BE49-F238E27FC236}">
                <a16:creationId xmlns:a16="http://schemas.microsoft.com/office/drawing/2014/main" id="{4BD9B2D0-4DAD-4C9A-86A9-6492BED11C88}"/>
              </a:ext>
            </a:extLst>
          </p:cNvPr>
          <p:cNvSpPr>
            <a:spLocks noChangeAspect="1"/>
          </p:cNvSpPr>
          <p:nvPr userDrawn="1"/>
        </p:nvSpPr>
        <p:spPr>
          <a:xfrm flipH="1">
            <a:off x="11823700" y="44511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grpSp>
        <p:nvGrpSpPr>
          <p:cNvPr id="57" name="Group 56">
            <a:extLst>
              <a:ext uri="{FF2B5EF4-FFF2-40B4-BE49-F238E27FC236}">
                <a16:creationId xmlns:a16="http://schemas.microsoft.com/office/drawing/2014/main" id="{B3597DD2-4311-487A-BDC8-D6C18BBFB2A3}"/>
              </a:ext>
            </a:extLst>
          </p:cNvPr>
          <p:cNvGrpSpPr/>
          <p:nvPr userDrawn="1"/>
        </p:nvGrpSpPr>
        <p:grpSpPr>
          <a:xfrm>
            <a:off x="0" y="445112"/>
            <a:ext cx="368300" cy="746490"/>
            <a:chOff x="0" y="415872"/>
            <a:chExt cx="368300" cy="746490"/>
          </a:xfrm>
        </p:grpSpPr>
        <p:sp>
          <p:nvSpPr>
            <p:cNvPr id="58" name="Freeform: Shape 57">
              <a:extLst>
                <a:ext uri="{FF2B5EF4-FFF2-40B4-BE49-F238E27FC236}">
                  <a16:creationId xmlns:a16="http://schemas.microsoft.com/office/drawing/2014/main" id="{CE9C42D4-C9D4-432A-9D66-DCDC964320FD}"/>
                </a:ext>
              </a:extLst>
            </p:cNvPr>
            <p:cNvSpPr>
              <a:spLocks noChangeAspect="1"/>
            </p:cNvSpPr>
            <p:nvPr/>
          </p:nvSpPr>
          <p:spPr>
            <a:xfrm>
              <a:off x="0" y="41587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grpSp>
          <p:nvGrpSpPr>
            <p:cNvPr id="59" name="Group 58">
              <a:extLst>
                <a:ext uri="{FF2B5EF4-FFF2-40B4-BE49-F238E27FC236}">
                  <a16:creationId xmlns:a16="http://schemas.microsoft.com/office/drawing/2014/main" id="{22F65F2D-951E-47A0-AE6C-369C25E83A73}"/>
                </a:ext>
              </a:extLst>
            </p:cNvPr>
            <p:cNvGrpSpPr/>
            <p:nvPr/>
          </p:nvGrpSpPr>
          <p:grpSpPr>
            <a:xfrm>
              <a:off x="78324" y="605745"/>
              <a:ext cx="121701" cy="361477"/>
              <a:chOff x="-12442" y="1663700"/>
              <a:chExt cx="1761630" cy="5232400"/>
            </a:xfrm>
          </p:grpSpPr>
          <p:sp>
            <p:nvSpPr>
              <p:cNvPr id="60" name="Freeform 5">
                <a:extLst>
                  <a:ext uri="{FF2B5EF4-FFF2-40B4-BE49-F238E27FC236}">
                    <a16:creationId xmlns:a16="http://schemas.microsoft.com/office/drawing/2014/main" id="{0FB2E93E-7D77-43B4-8773-6972AD5BFAC5}"/>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sp>
            <p:nvSpPr>
              <p:cNvPr id="61" name="Freeform 6">
                <a:extLst>
                  <a:ext uri="{FF2B5EF4-FFF2-40B4-BE49-F238E27FC236}">
                    <a16:creationId xmlns:a16="http://schemas.microsoft.com/office/drawing/2014/main" id="{4A43FD87-41BC-4166-AE05-76ECC39D31D0}"/>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grpSp>
      </p:grpSp>
      <p:sp>
        <p:nvSpPr>
          <p:cNvPr id="2" name="Title Placeholder 1">
            <a:extLst>
              <a:ext uri="{FF2B5EF4-FFF2-40B4-BE49-F238E27FC236}">
                <a16:creationId xmlns:a16="http://schemas.microsoft.com/office/drawing/2014/main" id="{38386F46-B8A7-4A41-B9E3-152DBB5AF39C}"/>
              </a:ext>
            </a:extLst>
          </p:cNvPr>
          <p:cNvSpPr>
            <a:spLocks noGrp="1"/>
          </p:cNvSpPr>
          <p:nvPr>
            <p:ph type="title"/>
          </p:nvPr>
        </p:nvSpPr>
        <p:spPr>
          <a:xfrm>
            <a:off x="710381" y="275771"/>
            <a:ext cx="10783118" cy="1085172"/>
          </a:xfrm>
          <a:prstGeom prst="rect">
            <a:avLst/>
          </a:prstGeom>
        </p:spPr>
        <p:txBody>
          <a:bodyPr vert="horz" lIns="0" tIns="45720" rIns="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03B2E23-FA8D-4BFB-8633-584027D63898}"/>
              </a:ext>
            </a:extLst>
          </p:cNvPr>
          <p:cNvSpPr>
            <a:spLocks noGrp="1"/>
          </p:cNvSpPr>
          <p:nvPr>
            <p:ph type="body" idx="1"/>
          </p:nvPr>
        </p:nvSpPr>
        <p:spPr>
          <a:xfrm>
            <a:off x="710381" y="1749425"/>
            <a:ext cx="10783118" cy="4175125"/>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67AB9E95-2B69-4CC2-AA68-608768FABD0E}"/>
              </a:ext>
            </a:extLst>
          </p:cNvPr>
          <p:cNvSpPr>
            <a:spLocks noGrp="1"/>
          </p:cNvSpPr>
          <p:nvPr>
            <p:ph type="ftr" sz="quarter" idx="3"/>
          </p:nvPr>
        </p:nvSpPr>
        <p:spPr>
          <a:xfrm>
            <a:off x="7382881" y="6387307"/>
            <a:ext cx="4114800" cy="199231"/>
          </a:xfrm>
          <a:prstGeom prst="rect">
            <a:avLst/>
          </a:prstGeom>
        </p:spPr>
        <p:txBody>
          <a:bodyPr vert="horz" lIns="0" tIns="0" rIns="0" bIns="0" rtlCol="0" anchor="ctr"/>
          <a:lstStyle>
            <a:lvl1pPr algn="r">
              <a:defRPr sz="1050">
                <a:solidFill>
                  <a:schemeClr val="tx1"/>
                </a:solidFill>
              </a:defRPr>
            </a:lvl1pPr>
          </a:lstStyle>
          <a:p>
            <a:r>
              <a:rPr lang="en-US"/>
              <a:t>Go to Insert &gt; Header &amp; Footer to edit footer text</a:t>
            </a:r>
            <a:endParaRPr lang="en-GB"/>
          </a:p>
        </p:txBody>
      </p:sp>
      <p:sp>
        <p:nvSpPr>
          <p:cNvPr id="6" name="Slide Number Placeholder 5">
            <a:extLst>
              <a:ext uri="{FF2B5EF4-FFF2-40B4-BE49-F238E27FC236}">
                <a16:creationId xmlns:a16="http://schemas.microsoft.com/office/drawing/2014/main" id="{6CC352AB-4E9A-4CB2-BC09-E1F646D7F671}"/>
              </a:ext>
            </a:extLst>
          </p:cNvPr>
          <p:cNvSpPr>
            <a:spLocks noGrp="1"/>
          </p:cNvSpPr>
          <p:nvPr>
            <p:ph type="sldNum" sz="quarter" idx="4"/>
          </p:nvPr>
        </p:nvSpPr>
        <p:spPr>
          <a:xfrm>
            <a:off x="11785600" y="635795"/>
            <a:ext cx="368300" cy="365125"/>
          </a:xfrm>
          <a:prstGeom prst="rect">
            <a:avLst/>
          </a:prstGeom>
        </p:spPr>
        <p:txBody>
          <a:bodyPr vert="horz" lIns="0" tIns="0" rIns="0" bIns="0" rtlCol="0" anchor="ctr"/>
          <a:lstStyle>
            <a:lvl1pPr algn="r">
              <a:defRPr sz="1050">
                <a:solidFill>
                  <a:schemeClr val="bg1"/>
                </a:solidFill>
              </a:defRPr>
            </a:lvl1pPr>
          </a:lstStyle>
          <a:p>
            <a:fld id="{FAEEC637-5006-4E50-A83C-29CEB747C05F}" type="slidenum">
              <a:rPr lang="en-GB" smtClean="0"/>
              <a:pPr/>
              <a:t>‹#›</a:t>
            </a:fld>
            <a:endParaRPr lang="en-GB"/>
          </a:p>
        </p:txBody>
      </p:sp>
    </p:spTree>
    <p:extLst>
      <p:ext uri="{BB962C8B-B14F-4D97-AF65-F5344CB8AC3E}">
        <p14:creationId xmlns:p14="http://schemas.microsoft.com/office/powerpoint/2010/main" val="510719657"/>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438">
          <p15:clr>
            <a:srgbClr val="F26B43"/>
          </p15:clr>
        </p15:guide>
        <p15:guide id="3" pos="7242">
          <p15:clr>
            <a:srgbClr val="F26B43"/>
          </p15:clr>
        </p15:guide>
        <p15:guide id="4" orient="horz" pos="3744">
          <p15:clr>
            <a:srgbClr val="F26B43"/>
          </p15:clr>
        </p15:guide>
        <p15:guide id="5" orient="horz" pos="109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4.jpe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5.jpe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hemeOverride" Target="../theme/themeOverride1.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hemeOverride" Target="../theme/themeOverride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39.xml"/><Relationship Id="rId1" Type="http://schemas.openxmlformats.org/officeDocument/2006/relationships/slideLayout" Target="../slideLayouts/slideLayout5.xml"/><Relationship Id="rId5" Type="http://schemas.openxmlformats.org/officeDocument/2006/relationships/image" Target="../media/image40.png"/><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4" name="Text Placeholder 3">
            <a:extLst>
              <a:ext uri="{FF2B5EF4-FFF2-40B4-BE49-F238E27FC236}">
                <a16:creationId xmlns:a16="http://schemas.microsoft.com/office/drawing/2014/main" id="{E0578AD4-E9AB-144D-8D25-75B212E9DAFE}"/>
              </a:ext>
            </a:extLst>
          </p:cNvPr>
          <p:cNvSpPr>
            <a:spLocks noGrp="1"/>
          </p:cNvSpPr>
          <p:nvPr>
            <p:ph type="body" sz="quarter" idx="10"/>
          </p:nvPr>
        </p:nvSpPr>
        <p:spPr>
          <a:xfrm>
            <a:off x="533400" y="2318598"/>
            <a:ext cx="5562600" cy="615553"/>
          </a:xfrm>
        </p:spPr>
        <p:txBody>
          <a:bodyPr/>
          <a:lstStyle/>
          <a:p>
            <a:r>
              <a:rPr lang="en-US" sz="4000" noProof="0"/>
              <a:t>Summarizing Data</a:t>
            </a:r>
          </a:p>
        </p:txBody>
      </p:sp>
      <p:sp>
        <p:nvSpPr>
          <p:cNvPr id="5" name="Text Placeholder 4">
            <a:extLst>
              <a:ext uri="{FF2B5EF4-FFF2-40B4-BE49-F238E27FC236}">
                <a16:creationId xmlns:a16="http://schemas.microsoft.com/office/drawing/2014/main" id="{921EE887-B48F-AD4F-8697-4305800340F0}"/>
              </a:ext>
            </a:extLst>
          </p:cNvPr>
          <p:cNvSpPr>
            <a:spLocks noGrp="1"/>
          </p:cNvSpPr>
          <p:nvPr>
            <p:ph type="body" sz="quarter" idx="11"/>
          </p:nvPr>
        </p:nvSpPr>
        <p:spPr>
          <a:xfrm>
            <a:off x="533400" y="3947160"/>
            <a:ext cx="2743200" cy="1015663"/>
          </a:xfrm>
        </p:spPr>
        <p:txBody>
          <a:bodyPr wrap="square" lIns="0" tIns="0" rIns="0" bIns="0" anchor="t">
            <a:spAutoFit/>
          </a:bodyPr>
          <a:lstStyle/>
          <a:p>
            <a:r>
              <a:rPr lang="en-US" sz="2300" b="1" noProof="0"/>
              <a:t>DMAIC – LSS14</a:t>
            </a:r>
          </a:p>
          <a:p>
            <a:endParaRPr lang="en-US" noProof="0"/>
          </a:p>
          <a:p>
            <a:r>
              <a:rPr lang="en-US" sz="1700" b="1" noProof="0">
                <a:latin typeface="Arial"/>
                <a:cs typeface="Arial"/>
              </a:rPr>
              <a:t>Version: </a:t>
            </a:r>
            <a:r>
              <a:rPr lang="en-US" sz="1700" b="1">
                <a:latin typeface="Arial"/>
                <a:cs typeface="Arial"/>
              </a:rPr>
              <a:t>June 2026</a:t>
            </a:r>
            <a:endParaRPr lang="en-US" sz="1700" b="1" noProof="0"/>
          </a:p>
        </p:txBody>
      </p:sp>
      <p:pic>
        <p:nvPicPr>
          <p:cNvPr id="2" name="Picture 1" descr="A blue square with white lines&#10;&#10;AI-generated content may be incorrect.">
            <a:extLst>
              <a:ext uri="{FF2B5EF4-FFF2-40B4-BE49-F238E27FC236}">
                <a16:creationId xmlns:a16="http://schemas.microsoft.com/office/drawing/2014/main" id="{EB941362-5BB7-8F54-81E1-EE9E0F676F2F}"/>
              </a:ext>
            </a:extLst>
          </p:cNvPr>
          <p:cNvPicPr>
            <a:picLocks noChangeAspect="1"/>
          </p:cNvPicPr>
          <p:nvPr/>
        </p:nvPicPr>
        <p:blipFill>
          <a:blip r:embed="rId3"/>
          <a:stretch>
            <a:fillRect/>
          </a:stretch>
        </p:blipFill>
        <p:spPr>
          <a:xfrm>
            <a:off x="128588" y="5653314"/>
            <a:ext cx="2181225" cy="76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pic>
        <p:nvPicPr>
          <p:cNvPr id="4" name="Picture 3" descr="Woman looking at computer screen">
            <a:extLst>
              <a:ext uri="{FF2B5EF4-FFF2-40B4-BE49-F238E27FC236}">
                <a16:creationId xmlns:a16="http://schemas.microsoft.com/office/drawing/2014/main" id="{9A9A7879-3834-4E16-83BA-78EE2EC2C4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77689" y="352117"/>
            <a:ext cx="3104322" cy="2069548"/>
          </a:xfrm>
          <a:prstGeom prst="rect">
            <a:avLst/>
          </a:prstGeom>
        </p:spPr>
      </p:pic>
      <p:pic>
        <p:nvPicPr>
          <p:cNvPr id="5" name="Picture 4" descr="Person looking at computer screen">
            <a:extLst>
              <a:ext uri="{FF2B5EF4-FFF2-40B4-BE49-F238E27FC236}">
                <a16:creationId xmlns:a16="http://schemas.microsoft.com/office/drawing/2014/main" id="{2E842367-3A6C-41A8-B546-96842971403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9723" y="352117"/>
            <a:ext cx="3104322" cy="2069548"/>
          </a:xfrm>
          <a:prstGeom prst="rect">
            <a:avLst/>
          </a:prstGeom>
        </p:spPr>
      </p:pic>
      <p:sp>
        <p:nvSpPr>
          <p:cNvPr id="7" name="Content Placeholder 2">
            <a:extLst>
              <a:ext uri="{FF2B5EF4-FFF2-40B4-BE49-F238E27FC236}">
                <a16:creationId xmlns:a16="http://schemas.microsoft.com/office/drawing/2014/main" id="{3FF8775C-D23D-46B1-A586-AC0645F3760E}"/>
              </a:ext>
            </a:extLst>
          </p:cNvPr>
          <p:cNvSpPr txBox="1">
            <a:spLocks/>
          </p:cNvSpPr>
          <p:nvPr/>
        </p:nvSpPr>
        <p:spPr>
          <a:xfrm>
            <a:off x="1413765" y="2782278"/>
            <a:ext cx="4682235" cy="3584019"/>
          </a:xfrm>
          <a:prstGeom prst="rect">
            <a:avLst/>
          </a:prstGeom>
          <a:ln w="19050">
            <a:solidFill>
              <a:srgbClr val="00B0F0"/>
            </a:solidFill>
            <a:prstDash val="dash"/>
          </a:ln>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en-US" b="1" kern="0" noProof="0">
              <a:solidFill>
                <a:srgbClr val="00B0F0"/>
              </a:solidFill>
              <a:latin typeface="Trebuchet MS" panose="020B0603020202020204" pitchFamily="34" charset="0"/>
              <a:cs typeface="Arial" panose="020B0604020202020204" pitchFamily="34" charset="0"/>
            </a:endParaRPr>
          </a:p>
          <a:p>
            <a:r>
              <a:rPr lang="en-US" sz="3200" b="1" kern="0" noProof="0">
                <a:solidFill>
                  <a:srgbClr val="00B0F0"/>
                </a:solidFill>
                <a:latin typeface="Trebuchet MS" panose="020B0603020202020204" pitchFamily="34" charset="0"/>
                <a:cs typeface="Arial" panose="020B0604020202020204" pitchFamily="34" charset="0"/>
              </a:rPr>
              <a:t>Virtual Classroom</a:t>
            </a:r>
          </a:p>
          <a:p>
            <a:r>
              <a:rPr lang="en-US" sz="3200" b="1" kern="0" noProof="0">
                <a:solidFill>
                  <a:srgbClr val="00B0F0"/>
                </a:solidFill>
                <a:latin typeface="Trebuchet MS" panose="020B0603020202020204" pitchFamily="34" charset="0"/>
                <a:cs typeface="Arial" panose="020B0604020202020204" pitchFamily="34" charset="0"/>
              </a:rPr>
              <a:t>Module</a:t>
            </a:r>
          </a:p>
          <a:p>
            <a:endParaRPr lang="en-US" kern="0" noProof="0">
              <a:solidFill>
                <a:srgbClr val="24408D"/>
              </a:solidFill>
              <a:latin typeface="Trebuchet MS" panose="020B0603020202020204" pitchFamily="34" charset="0"/>
              <a:cs typeface="Arial" panose="020B0604020202020204" pitchFamily="34" charset="0"/>
            </a:endParaRPr>
          </a:p>
          <a:p>
            <a:pPr marL="285750" indent="-285750">
              <a:buFont typeface="Arial" panose="020B0604020202020204" pitchFamily="34" charset="0"/>
              <a:buChar char="•"/>
            </a:pPr>
            <a:r>
              <a:rPr lang="en-US" kern="0" noProof="0">
                <a:solidFill>
                  <a:srgbClr val="002060"/>
                </a:solidFill>
                <a:latin typeface="Trebuchet MS" panose="020B0603020202020204" pitchFamily="34" charset="0"/>
                <a:cs typeface="Arial" panose="020B0604020202020204" pitchFamily="34" charset="0"/>
              </a:rPr>
              <a:t>90 mins session.</a:t>
            </a:r>
          </a:p>
          <a:p>
            <a:pPr marL="285750" indent="-285750">
              <a:buFont typeface="Arial" panose="020B0604020202020204" pitchFamily="34" charset="0"/>
              <a:buChar char="•"/>
            </a:pPr>
            <a:endParaRPr lang="en-US" kern="0" noProof="0">
              <a:solidFill>
                <a:srgbClr val="002060"/>
              </a:solidFill>
              <a:latin typeface="Trebuchet MS" panose="020B0603020202020204" pitchFamily="34" charset="0"/>
              <a:cs typeface="Arial" panose="020B0604020202020204" pitchFamily="34" charset="0"/>
            </a:endParaRPr>
          </a:p>
          <a:p>
            <a:pPr marL="285750" indent="-285750">
              <a:buFont typeface="Arial" panose="020B0604020202020204" pitchFamily="34" charset="0"/>
              <a:buChar char="•"/>
            </a:pPr>
            <a:r>
              <a:rPr lang="en-US" kern="0" noProof="0">
                <a:solidFill>
                  <a:srgbClr val="002060"/>
                </a:solidFill>
                <a:latin typeface="Trebuchet MS" panose="020B0603020202020204" pitchFamily="34" charset="0"/>
                <a:cs typeface="Arial" panose="020B0604020202020204" pitchFamily="34" charset="0"/>
              </a:rPr>
              <a:t>Please mute your microphone if you are not speaking.</a:t>
            </a:r>
          </a:p>
          <a:p>
            <a:pPr marL="285750" indent="-285750">
              <a:buFont typeface="Arial" panose="020B0604020202020204" pitchFamily="34" charset="0"/>
              <a:buChar char="•"/>
            </a:pPr>
            <a:endParaRPr lang="en-US" kern="0" noProof="0">
              <a:solidFill>
                <a:srgbClr val="002060"/>
              </a:solidFill>
              <a:latin typeface="Trebuchet MS" panose="020B0603020202020204" pitchFamily="34" charset="0"/>
              <a:cs typeface="Arial" panose="020B0604020202020204" pitchFamily="34" charset="0"/>
            </a:endParaRPr>
          </a:p>
          <a:p>
            <a:pPr marL="285750" indent="-285750">
              <a:buFont typeface="Arial" panose="020B0604020202020204" pitchFamily="34" charset="0"/>
              <a:buChar char="•"/>
            </a:pPr>
            <a:r>
              <a:rPr lang="en-US" kern="0" noProof="0">
                <a:solidFill>
                  <a:srgbClr val="002060"/>
                </a:solidFill>
                <a:latin typeface="Trebuchet MS" panose="020B0603020202020204" pitchFamily="34" charset="0"/>
                <a:cs typeface="Arial" panose="020B0604020202020204" pitchFamily="34" charset="0"/>
              </a:rPr>
              <a:t>Q&amp;A during the session in chat.</a:t>
            </a:r>
          </a:p>
          <a:p>
            <a:pPr marL="742950" lvl="1" indent="-285750">
              <a:buFont typeface="Courier New" panose="02070309020205020404" pitchFamily="49" charset="0"/>
              <a:buChar char="o"/>
            </a:pPr>
            <a:endParaRPr lang="en-US" kern="0" noProof="0">
              <a:latin typeface="Trebuchet MS" panose="020B0603020202020204" pitchFamily="34" charset="0"/>
              <a:cs typeface="Arial" panose="020B0604020202020204" pitchFamily="34" charset="0"/>
            </a:endParaRPr>
          </a:p>
          <a:p>
            <a:endParaRPr lang="en-US" kern="0" noProof="0">
              <a:solidFill>
                <a:sysClr val="windowText" lastClr="000000"/>
              </a:solidFill>
              <a:latin typeface="Trebuchet MS" panose="020B0603020202020204" pitchFamily="34" charset="0"/>
              <a:cs typeface="Arial" panose="020B0604020202020204" pitchFamily="34" charset="0"/>
            </a:endParaRPr>
          </a:p>
          <a:p>
            <a:pPr marL="342900" indent="-342900">
              <a:buFont typeface="+mj-lt"/>
              <a:buAutoNum type="arabicPeriod"/>
            </a:pPr>
            <a:endParaRPr lang="en-US" kern="0" noProof="0">
              <a:solidFill>
                <a:sysClr val="windowText" lastClr="000000"/>
              </a:solidFill>
              <a:latin typeface="Trebuchet MS" panose="020B0603020202020204" pitchFamily="34" charset="0"/>
              <a:cs typeface="Arial" panose="020B0604020202020204" pitchFamily="34" charset="0"/>
            </a:endParaRPr>
          </a:p>
          <a:p>
            <a:endParaRPr lang="en-US" kern="0" noProof="0">
              <a:solidFill>
                <a:sysClr val="windowText" lastClr="000000"/>
              </a:solidFill>
              <a:latin typeface="Trebuchet MS" panose="020B0603020202020204" pitchFamily="34" charset="0"/>
              <a:cs typeface="Arial" panose="020B0604020202020204" pitchFamily="34" charset="0"/>
            </a:endParaRPr>
          </a:p>
          <a:p>
            <a:endParaRPr lang="en-US" kern="0" noProof="0">
              <a:solidFill>
                <a:sysClr val="windowText" lastClr="000000"/>
              </a:solidFill>
              <a:latin typeface="Trebuchet MS" panose="020B0603020202020204" pitchFamily="34" charset="0"/>
              <a:cs typeface="Arial" panose="020B0604020202020204" pitchFamily="34" charset="0"/>
            </a:endParaRPr>
          </a:p>
        </p:txBody>
      </p:sp>
      <p:graphicFrame>
        <p:nvGraphicFramePr>
          <p:cNvPr id="6" name="Diagram 5">
            <a:extLst>
              <a:ext uri="{FF2B5EF4-FFF2-40B4-BE49-F238E27FC236}">
                <a16:creationId xmlns:a16="http://schemas.microsoft.com/office/drawing/2014/main" id="{CCCACFAE-A132-4400-9E56-83527DBA58C4}"/>
              </a:ext>
            </a:extLst>
          </p:cNvPr>
          <p:cNvGraphicFramePr/>
          <p:nvPr>
            <p:extLst>
              <p:ext uri="{D42A27DB-BD31-4B8C-83A1-F6EECF244321}">
                <p14:modId xmlns:p14="http://schemas.microsoft.com/office/powerpoint/2010/main" val="1578149250"/>
              </p:ext>
            </p:extLst>
          </p:nvPr>
        </p:nvGraphicFramePr>
        <p:xfrm>
          <a:off x="8213264" y="2936929"/>
          <a:ext cx="2642464" cy="248246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161517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533400" y="345110"/>
            <a:ext cx="7239000" cy="553998"/>
          </a:xfrm>
        </p:spPr>
        <p:txBody>
          <a:bodyPr/>
          <a:lstStyle/>
          <a:p>
            <a:r>
              <a:rPr lang="en-US" sz="3600" noProof="0">
                <a:latin typeface="Trebuchet MS" panose="020B0603020202020204" pitchFamily="34" charset="0"/>
              </a:rPr>
              <a:t>Measure Modules</a:t>
            </a:r>
          </a:p>
        </p:txBody>
      </p:sp>
      <p:sp>
        <p:nvSpPr>
          <p:cNvPr id="9" name="TextBox 8">
            <a:extLst>
              <a:ext uri="{FF2B5EF4-FFF2-40B4-BE49-F238E27FC236}">
                <a16:creationId xmlns:a16="http://schemas.microsoft.com/office/drawing/2014/main" id="{C466EA28-7C2A-41C6-A28D-3948DA1E39D5}"/>
              </a:ext>
            </a:extLst>
          </p:cNvPr>
          <p:cNvSpPr txBox="1"/>
          <p:nvPr/>
        </p:nvSpPr>
        <p:spPr>
          <a:xfrm>
            <a:off x="414731" y="1532346"/>
            <a:ext cx="6843865" cy="369332"/>
          </a:xfrm>
          <a:prstGeom prst="rect">
            <a:avLst/>
          </a:prstGeom>
          <a:noFill/>
        </p:spPr>
        <p:txBody>
          <a:bodyPr wrap="square">
            <a:spAutoFit/>
          </a:bodyPr>
          <a:lstStyle/>
          <a:p>
            <a:r>
              <a:rPr lang="en-US" noProof="0">
                <a:solidFill>
                  <a:srgbClr val="002060"/>
                </a:solidFill>
                <a:latin typeface="Trebuchet MS" panose="020B0603020202020204" pitchFamily="34" charset="0"/>
                <a:cs typeface="Arial" panose="020B0604020202020204" pitchFamily="34" charset="0"/>
              </a:rPr>
              <a:t>5 modules you will study in </a:t>
            </a:r>
            <a:r>
              <a:rPr lang="en-US" b="1" noProof="0">
                <a:solidFill>
                  <a:srgbClr val="00B0F0"/>
                </a:solidFill>
                <a:latin typeface="Trebuchet MS" panose="020B0603020202020204" pitchFamily="34" charset="0"/>
                <a:cs typeface="Arial" panose="020B0604020202020204" pitchFamily="34" charset="0"/>
              </a:rPr>
              <a:t>Measure</a:t>
            </a:r>
            <a:r>
              <a:rPr lang="en-US" noProof="0">
                <a:solidFill>
                  <a:srgbClr val="00B0F0"/>
                </a:solidFill>
                <a:latin typeface="Trebuchet MS" panose="020B0603020202020204" pitchFamily="34" charset="0"/>
                <a:cs typeface="Arial" panose="020B0604020202020204" pitchFamily="34" charset="0"/>
              </a:rPr>
              <a:t>:</a:t>
            </a:r>
          </a:p>
        </p:txBody>
      </p:sp>
      <p:grpSp>
        <p:nvGrpSpPr>
          <p:cNvPr id="2" name="Group 1">
            <a:extLst>
              <a:ext uri="{FF2B5EF4-FFF2-40B4-BE49-F238E27FC236}">
                <a16:creationId xmlns:a16="http://schemas.microsoft.com/office/drawing/2014/main" id="{B49DF827-C956-4427-ADBC-30364D40F589}"/>
              </a:ext>
            </a:extLst>
          </p:cNvPr>
          <p:cNvGrpSpPr/>
          <p:nvPr/>
        </p:nvGrpSpPr>
        <p:grpSpPr>
          <a:xfrm>
            <a:off x="914400" y="2327460"/>
            <a:ext cx="3976114" cy="3696171"/>
            <a:chOff x="414731" y="2246942"/>
            <a:chExt cx="5491616" cy="4123418"/>
          </a:xfrm>
          <a:solidFill>
            <a:srgbClr val="00B0F0"/>
          </a:solidFill>
        </p:grpSpPr>
        <p:sp>
          <p:nvSpPr>
            <p:cNvPr id="11" name="Rectangle: Rounded Corners 10">
              <a:extLst>
                <a:ext uri="{FF2B5EF4-FFF2-40B4-BE49-F238E27FC236}">
                  <a16:creationId xmlns:a16="http://schemas.microsoft.com/office/drawing/2014/main" id="{58AC4F61-03E5-43E5-8DF4-E663A4539C56}"/>
                </a:ext>
              </a:extLst>
            </p:cNvPr>
            <p:cNvSpPr/>
            <p:nvPr/>
          </p:nvSpPr>
          <p:spPr>
            <a:xfrm>
              <a:off x="429548" y="2246942"/>
              <a:ext cx="5447167" cy="691633"/>
            </a:xfrm>
            <a:prstGeom prst="roundRect">
              <a:avLst/>
            </a:prstGeom>
            <a:grp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noProof="0">
                  <a:solidFill>
                    <a:schemeClr val="bg1"/>
                  </a:solidFill>
                  <a:latin typeface="Trebuchet MS" panose="020B0603020202020204" pitchFamily="34" charset="0"/>
                  <a:cs typeface="Arial" panose="020B0604020202020204" pitchFamily="34" charset="0"/>
                </a:rPr>
                <a:t>LSS10</a:t>
              </a:r>
              <a:r>
                <a:rPr lang="en-US" sz="1600" b="1" noProof="0">
                  <a:solidFill>
                    <a:schemeClr val="bg1"/>
                  </a:solidFill>
                  <a:latin typeface="Trebuchet MS" panose="020B0603020202020204" pitchFamily="34" charset="0"/>
                  <a:cs typeface="Arial" panose="020B0604020202020204" pitchFamily="34" charset="0"/>
                </a:rPr>
                <a:t>	Data</a:t>
              </a:r>
            </a:p>
          </p:txBody>
        </p:sp>
        <p:sp>
          <p:nvSpPr>
            <p:cNvPr id="12" name="Rectangle: Rounded Corners 11">
              <a:extLst>
                <a:ext uri="{FF2B5EF4-FFF2-40B4-BE49-F238E27FC236}">
                  <a16:creationId xmlns:a16="http://schemas.microsoft.com/office/drawing/2014/main" id="{F22C3B31-FD7C-4611-82B7-9B342AAD1CE8}"/>
                </a:ext>
              </a:extLst>
            </p:cNvPr>
            <p:cNvSpPr/>
            <p:nvPr/>
          </p:nvSpPr>
          <p:spPr>
            <a:xfrm>
              <a:off x="414732" y="3088982"/>
              <a:ext cx="5461983" cy="691633"/>
            </a:xfrm>
            <a:prstGeom prst="roundRect">
              <a:avLst/>
            </a:prstGeom>
            <a:grp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noProof="0">
                  <a:solidFill>
                    <a:schemeClr val="bg1"/>
                  </a:solidFill>
                  <a:latin typeface="Trebuchet MS" panose="020B0603020202020204" pitchFamily="34" charset="0"/>
                  <a:cs typeface="Arial" panose="020B0604020202020204" pitchFamily="34" charset="0"/>
                </a:rPr>
                <a:t>LSS11</a:t>
              </a:r>
              <a:r>
                <a:rPr lang="en-US" sz="1600" b="1" noProof="0">
                  <a:solidFill>
                    <a:schemeClr val="bg1"/>
                  </a:solidFill>
                  <a:latin typeface="Trebuchet MS" panose="020B0603020202020204" pitchFamily="34" charset="0"/>
                  <a:cs typeface="Arial" panose="020B0604020202020204" pitchFamily="34" charset="0"/>
                </a:rPr>
                <a:t>	Data Measurement &amp;       	Operational Definitions</a:t>
              </a:r>
            </a:p>
          </p:txBody>
        </p:sp>
        <p:sp>
          <p:nvSpPr>
            <p:cNvPr id="13" name="Rectangle: Rounded Corners 12">
              <a:extLst>
                <a:ext uri="{FF2B5EF4-FFF2-40B4-BE49-F238E27FC236}">
                  <a16:creationId xmlns:a16="http://schemas.microsoft.com/office/drawing/2014/main" id="{B23327B7-7889-4A50-A8DC-313F87F32979}"/>
                </a:ext>
              </a:extLst>
            </p:cNvPr>
            <p:cNvSpPr/>
            <p:nvPr/>
          </p:nvSpPr>
          <p:spPr>
            <a:xfrm>
              <a:off x="414731" y="3964729"/>
              <a:ext cx="5461983" cy="691633"/>
            </a:xfrm>
            <a:prstGeom prst="roundRect">
              <a:avLst/>
            </a:prstGeom>
            <a:grp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noProof="0">
                  <a:solidFill>
                    <a:schemeClr val="bg1"/>
                  </a:solidFill>
                  <a:latin typeface="Trebuchet MS" panose="020B0603020202020204" pitchFamily="34" charset="0"/>
                  <a:cs typeface="Arial" panose="020B0604020202020204" pitchFamily="34" charset="0"/>
                </a:rPr>
                <a:t>LSS12</a:t>
              </a:r>
              <a:r>
                <a:rPr lang="en-US" sz="1600" b="1" noProof="0">
                  <a:solidFill>
                    <a:schemeClr val="bg1"/>
                  </a:solidFill>
                  <a:latin typeface="Trebuchet MS" panose="020B0603020202020204" pitchFamily="34" charset="0"/>
                  <a:cs typeface="Arial" panose="020B0604020202020204" pitchFamily="34" charset="0"/>
                </a:rPr>
                <a:t> 	Data Verification</a:t>
              </a:r>
            </a:p>
          </p:txBody>
        </p:sp>
        <p:sp>
          <p:nvSpPr>
            <p:cNvPr id="14" name="Rectangle: Rounded Corners 13">
              <a:extLst>
                <a:ext uri="{FF2B5EF4-FFF2-40B4-BE49-F238E27FC236}">
                  <a16:creationId xmlns:a16="http://schemas.microsoft.com/office/drawing/2014/main" id="{495A1D16-887D-4C80-8022-24A5FE2E95A3}"/>
                </a:ext>
              </a:extLst>
            </p:cNvPr>
            <p:cNvSpPr/>
            <p:nvPr/>
          </p:nvSpPr>
          <p:spPr>
            <a:xfrm>
              <a:off x="414731" y="4840476"/>
              <a:ext cx="5476799" cy="691633"/>
            </a:xfrm>
            <a:prstGeom prst="roundRect">
              <a:avLst/>
            </a:prstGeom>
            <a:grp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noProof="0">
                  <a:solidFill>
                    <a:schemeClr val="bg1"/>
                  </a:solidFill>
                  <a:latin typeface="Trebuchet MS" panose="020B0603020202020204" pitchFamily="34" charset="0"/>
                  <a:cs typeface="Arial" panose="020B0604020202020204" pitchFamily="34" charset="0"/>
                </a:rPr>
                <a:t>LSS13</a:t>
              </a:r>
              <a:r>
                <a:rPr lang="en-US" sz="1600" b="1" noProof="0">
                  <a:solidFill>
                    <a:schemeClr val="bg1"/>
                  </a:solidFill>
                  <a:latin typeface="Trebuchet MS" panose="020B0603020202020204" pitchFamily="34" charset="0"/>
                  <a:cs typeface="Arial" panose="020B0604020202020204" pitchFamily="34" charset="0"/>
                </a:rPr>
                <a:t>	Basic Statistics</a:t>
              </a:r>
            </a:p>
          </p:txBody>
        </p:sp>
        <p:sp>
          <p:nvSpPr>
            <p:cNvPr id="15" name="Rectangle: Rounded Corners 14">
              <a:extLst>
                <a:ext uri="{FF2B5EF4-FFF2-40B4-BE49-F238E27FC236}">
                  <a16:creationId xmlns:a16="http://schemas.microsoft.com/office/drawing/2014/main" id="{F5F5BFDC-018A-4AC7-8AC8-5D79C0FF25D1}"/>
                </a:ext>
              </a:extLst>
            </p:cNvPr>
            <p:cNvSpPr/>
            <p:nvPr/>
          </p:nvSpPr>
          <p:spPr>
            <a:xfrm>
              <a:off x="429548" y="5678727"/>
              <a:ext cx="5476799" cy="691633"/>
            </a:xfrm>
            <a:prstGeom prst="roundRect">
              <a:avLst/>
            </a:prstGeom>
            <a:solidFill>
              <a:schemeClr val="accent5">
                <a:lumMod val="40000"/>
                <a:lumOff val="60000"/>
              </a:schemeClr>
            </a:solidFill>
            <a:ln w="57150">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noProof="0">
                  <a:solidFill>
                    <a:srgbClr val="24408D"/>
                  </a:solidFill>
                  <a:latin typeface="Trebuchet MS" panose="020B0603020202020204" pitchFamily="34" charset="0"/>
                  <a:cs typeface="Arial" panose="020B0604020202020204" pitchFamily="34" charset="0"/>
                </a:rPr>
                <a:t>LSS14</a:t>
              </a:r>
              <a:r>
                <a:rPr lang="en-US" sz="1600" b="1" noProof="0">
                  <a:solidFill>
                    <a:srgbClr val="24408D"/>
                  </a:solidFill>
                  <a:latin typeface="Trebuchet MS" panose="020B0603020202020204" pitchFamily="34" charset="0"/>
                  <a:cs typeface="Arial" panose="020B0604020202020204" pitchFamily="34" charset="0"/>
                </a:rPr>
                <a:t>	Summarizing Data</a:t>
              </a:r>
            </a:p>
          </p:txBody>
        </p:sp>
      </p:grpSp>
      <p:graphicFrame>
        <p:nvGraphicFramePr>
          <p:cNvPr id="17" name="Diagram 16">
            <a:extLst>
              <a:ext uri="{FF2B5EF4-FFF2-40B4-BE49-F238E27FC236}">
                <a16:creationId xmlns:a16="http://schemas.microsoft.com/office/drawing/2014/main" id="{9D5558A3-D634-4D96-8E8E-5EA065CD4EA2}"/>
              </a:ext>
            </a:extLst>
          </p:cNvPr>
          <p:cNvGraphicFramePr/>
          <p:nvPr>
            <p:extLst>
              <p:ext uri="{D42A27DB-BD31-4B8C-83A1-F6EECF244321}">
                <p14:modId xmlns:p14="http://schemas.microsoft.com/office/powerpoint/2010/main" val="3731136401"/>
              </p:ext>
            </p:extLst>
          </p:nvPr>
        </p:nvGraphicFramePr>
        <p:xfrm>
          <a:off x="4953000" y="1913826"/>
          <a:ext cx="5638800" cy="45234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36474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487868" y="457200"/>
            <a:ext cx="5562600" cy="492443"/>
          </a:xfrm>
        </p:spPr>
        <p:txBody>
          <a:bodyPr/>
          <a:lstStyle/>
          <a:p>
            <a:r>
              <a:rPr lang="en-US" sz="3200" noProof="0">
                <a:solidFill>
                  <a:srgbClr val="FFC000"/>
                </a:solidFill>
                <a:latin typeface="Trebuchet MS" panose="020B0603020202020204" pitchFamily="34" charset="0"/>
              </a:rPr>
              <a:t>Module Learning Outcomes</a:t>
            </a:r>
          </a:p>
        </p:txBody>
      </p:sp>
      <p:pic>
        <p:nvPicPr>
          <p:cNvPr id="10" name="Picture 9" descr="Person working with laptop and notepad">
            <a:extLst>
              <a:ext uri="{FF2B5EF4-FFF2-40B4-BE49-F238E27FC236}">
                <a16:creationId xmlns:a16="http://schemas.microsoft.com/office/drawing/2014/main" id="{B10F143C-6FB9-432F-A6D2-05F04FC0F3A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376" b="13354"/>
          <a:stretch/>
        </p:blipFill>
        <p:spPr>
          <a:xfrm>
            <a:off x="7179726" y="2438400"/>
            <a:ext cx="5012274" cy="2819400"/>
          </a:xfrm>
          <a:prstGeom prst="rect">
            <a:avLst/>
          </a:prstGeom>
        </p:spPr>
      </p:pic>
      <p:graphicFrame>
        <p:nvGraphicFramePr>
          <p:cNvPr id="12" name="Table 12">
            <a:extLst>
              <a:ext uri="{FF2B5EF4-FFF2-40B4-BE49-F238E27FC236}">
                <a16:creationId xmlns:a16="http://schemas.microsoft.com/office/drawing/2014/main" id="{EF9E26F7-5659-4DE6-8C31-180EC39A74F4}"/>
              </a:ext>
            </a:extLst>
          </p:cNvPr>
          <p:cNvGraphicFramePr>
            <a:graphicFrameLocks noGrp="1"/>
          </p:cNvGraphicFramePr>
          <p:nvPr>
            <p:extLst>
              <p:ext uri="{D42A27DB-BD31-4B8C-83A1-F6EECF244321}">
                <p14:modId xmlns:p14="http://schemas.microsoft.com/office/powerpoint/2010/main" val="4040297196"/>
              </p:ext>
            </p:extLst>
          </p:nvPr>
        </p:nvGraphicFramePr>
        <p:xfrm>
          <a:off x="487868" y="2210271"/>
          <a:ext cx="6095812" cy="3925861"/>
        </p:xfrm>
        <a:graphic>
          <a:graphicData uri="http://schemas.openxmlformats.org/drawingml/2006/table">
            <a:tbl>
              <a:tblPr firstRow="1" bandRow="1">
                <a:tableStyleId>{5C22544A-7EE6-4342-B048-85BDC9FD1C3A}</a:tableStyleId>
              </a:tblPr>
              <a:tblGrid>
                <a:gridCol w="6095812">
                  <a:extLst>
                    <a:ext uri="{9D8B030D-6E8A-4147-A177-3AD203B41FA5}">
                      <a16:colId xmlns:a16="http://schemas.microsoft.com/office/drawing/2014/main" val="3720059813"/>
                    </a:ext>
                  </a:extLst>
                </a:gridCol>
              </a:tblGrid>
              <a:tr h="441489">
                <a:tc>
                  <a:txBody>
                    <a:bodyPr/>
                    <a:lstStyle/>
                    <a:p>
                      <a:r>
                        <a:rPr lang="en-US" noProof="0">
                          <a:solidFill>
                            <a:schemeClr val="bg1"/>
                          </a:solidFill>
                          <a:latin typeface="Arial" panose="020B0604020202020204" pitchFamily="34" charset="0"/>
                          <a:cs typeface="Arial" panose="020B0604020202020204" pitchFamily="34" charset="0"/>
                        </a:rPr>
                        <a:t>Summarizing Data – LSS14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52283500"/>
                  </a:ext>
                </a:extLst>
              </a:tr>
              <a:tr h="2655272">
                <a:tc>
                  <a:txBody>
                    <a:bodyPr/>
                    <a:lstStyle/>
                    <a:p>
                      <a:pPr marL="0" lvl="0" indent="0" algn="l">
                        <a:lnSpc>
                          <a:spcPct val="120000"/>
                        </a:lnSpc>
                        <a:buFont typeface="Wingdings" panose="05000000000000000000" pitchFamily="2" charset="2"/>
                        <a:buNone/>
                      </a:pPr>
                      <a:endParaRPr lang="en-US" sz="1600" b="0" noProof="0">
                        <a:solidFill>
                          <a:srgbClr val="808080"/>
                        </a:solidFill>
                        <a:effectLst/>
                        <a:latin typeface="Arial" panose="020B0604020202020204" pitchFamily="34" charset="0"/>
                        <a:cs typeface="Arial" panose="020B0604020202020204" pitchFamily="34" charset="0"/>
                      </a:endParaRPr>
                    </a:p>
                    <a:p>
                      <a:pPr marL="0" lvl="0" indent="0" algn="l">
                        <a:lnSpc>
                          <a:spcPct val="120000"/>
                        </a:lnSpc>
                        <a:buFont typeface="Wingdings" panose="05000000000000000000" pitchFamily="2" charset="2"/>
                        <a:buNone/>
                      </a:pPr>
                      <a:r>
                        <a:rPr lang="en-US" sz="1800" b="0" noProof="0">
                          <a:solidFill>
                            <a:srgbClr val="002060"/>
                          </a:solidFill>
                          <a:effectLst/>
                          <a:latin typeface="Arial" panose="020B0604020202020204" pitchFamily="34" charset="0"/>
                          <a:cs typeface="Arial" panose="020B0604020202020204" pitchFamily="34" charset="0"/>
                        </a:rPr>
                        <a:t>By the end of this module, you will:</a:t>
                      </a:r>
                    </a:p>
                    <a:p>
                      <a:pPr marL="0" lvl="0" indent="0" algn="ctr">
                        <a:lnSpc>
                          <a:spcPct val="120000"/>
                        </a:lnSpc>
                        <a:buFont typeface="Wingdings" panose="05000000000000000000" pitchFamily="2" charset="2"/>
                        <a:buNone/>
                      </a:pPr>
                      <a:endParaRPr lang="en-US" sz="1800" b="0" noProof="0">
                        <a:solidFill>
                          <a:srgbClr val="002060"/>
                        </a:solidFill>
                        <a:effectLst/>
                        <a:latin typeface="Arial" panose="020B0604020202020204" pitchFamily="34" charset="0"/>
                        <a:cs typeface="Arial" panose="020B0604020202020204" pitchFamily="34" charset="0"/>
                      </a:endParaRPr>
                    </a:p>
                    <a:p>
                      <a:pPr marL="285750" lvl="0" indent="-285750" algn="l">
                        <a:lnSpc>
                          <a:spcPct val="120000"/>
                        </a:lnSpc>
                        <a:buFont typeface="Wingdings" panose="05000000000000000000" pitchFamily="2" charset="2"/>
                        <a:buChar char="q"/>
                      </a:pPr>
                      <a:r>
                        <a:rPr lang="en-US" sz="1800" b="0" noProof="0">
                          <a:solidFill>
                            <a:srgbClr val="002060"/>
                          </a:solidFill>
                          <a:effectLst/>
                          <a:latin typeface="Arial" panose="020B0604020202020204" pitchFamily="34" charset="0"/>
                          <a:cs typeface="Arial" panose="020B0604020202020204" pitchFamily="34" charset="0"/>
                        </a:rPr>
                        <a:t>Understand the meaning of defects and yield.</a:t>
                      </a:r>
                    </a:p>
                    <a:p>
                      <a:pPr marL="285750" lvl="0" indent="-285750" algn="l">
                        <a:lnSpc>
                          <a:spcPct val="120000"/>
                        </a:lnSpc>
                        <a:buFont typeface="Wingdings" panose="05000000000000000000" pitchFamily="2" charset="2"/>
                        <a:buChar char="q"/>
                      </a:pPr>
                      <a:r>
                        <a:rPr lang="en-US" sz="1800" b="0" noProof="0">
                          <a:solidFill>
                            <a:srgbClr val="002060"/>
                          </a:solidFill>
                          <a:effectLst/>
                          <a:latin typeface="Arial" panose="020B0604020202020204" pitchFamily="34" charset="0"/>
                          <a:cs typeface="Arial" panose="020B0604020202020204" pitchFamily="34" charset="0"/>
                        </a:rPr>
                        <a:t>Understand the meaning of process baseline and sigma.</a:t>
                      </a:r>
                    </a:p>
                    <a:p>
                      <a:pPr marL="285750" lvl="0" indent="-285750" algn="l">
                        <a:lnSpc>
                          <a:spcPct val="120000"/>
                        </a:lnSpc>
                        <a:buFont typeface="Wingdings" panose="05000000000000000000" pitchFamily="2" charset="2"/>
                        <a:buChar char="q"/>
                      </a:pPr>
                      <a:r>
                        <a:rPr lang="en-US" sz="1800" b="0" noProof="0">
                          <a:solidFill>
                            <a:srgbClr val="002060"/>
                          </a:solidFill>
                          <a:effectLst/>
                          <a:latin typeface="Arial" panose="020B0604020202020204" pitchFamily="34" charset="0"/>
                          <a:cs typeface="Arial" panose="020B0604020202020204" pitchFamily="34" charset="0"/>
                        </a:rPr>
                        <a:t>Be able to calculate defects and opportunities.</a:t>
                      </a:r>
                    </a:p>
                    <a:p>
                      <a:pPr marL="285750" lvl="0" indent="-285750" algn="l">
                        <a:lnSpc>
                          <a:spcPct val="120000"/>
                        </a:lnSpc>
                        <a:buFont typeface="Wingdings" panose="05000000000000000000" pitchFamily="2" charset="2"/>
                        <a:buChar char="q"/>
                      </a:pPr>
                      <a:r>
                        <a:rPr lang="en-US" sz="1800" b="0" noProof="0">
                          <a:solidFill>
                            <a:srgbClr val="002060"/>
                          </a:solidFill>
                          <a:effectLst/>
                          <a:latin typeface="Arial"/>
                          <a:cs typeface="Arial"/>
                        </a:rPr>
                        <a:t>Understand and be able to apply 'Final Yield' and 'Rolled Throughput Yield'.</a:t>
                      </a:r>
                    </a:p>
                    <a:p>
                      <a:pPr marL="457200" lvl="1" indent="0" algn="l">
                        <a:lnSpc>
                          <a:spcPct val="120000"/>
                        </a:lnSpc>
                        <a:buFont typeface="Wingdings" panose="05000000000000000000" pitchFamily="2" charset="2"/>
                        <a:buNone/>
                      </a:pPr>
                      <a:endParaRPr lang="en-US" sz="1600" b="0" noProof="0">
                        <a:solidFill>
                          <a:srgbClr val="24408D"/>
                        </a:solidFill>
                        <a:effectLst/>
                        <a:latin typeface="Arial" panose="020B0604020202020204" pitchFamily="34" charset="0"/>
                        <a:cs typeface="Arial" panose="020B0604020202020204" pitchFamily="34" charset="0"/>
                      </a:endParaRPr>
                    </a:p>
                    <a:p>
                      <a:pPr marL="457200" lvl="1" indent="0" algn="r">
                        <a:lnSpc>
                          <a:spcPct val="120000"/>
                        </a:lnSpc>
                        <a:buFont typeface="Wingdings" panose="05000000000000000000" pitchFamily="2" charset="2"/>
                        <a:buNone/>
                      </a:pPr>
                      <a:endParaRPr lang="en-US" sz="1600" b="0" noProof="0">
                        <a:solidFill>
                          <a:srgbClr val="24408D"/>
                        </a:solidFill>
                        <a:effectLst/>
                        <a:latin typeface="Arial" panose="020B060402020202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8752962"/>
                  </a:ext>
                </a:extLst>
              </a:tr>
            </a:tbl>
          </a:graphicData>
        </a:graphic>
      </p:graphicFrame>
    </p:spTree>
    <p:extLst>
      <p:ext uri="{BB962C8B-B14F-4D97-AF65-F5344CB8AC3E}">
        <p14:creationId xmlns:p14="http://schemas.microsoft.com/office/powerpoint/2010/main" val="3899145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DFD83-5514-3A6F-404F-28B3B446A43A}"/>
            </a:ext>
          </a:extLst>
        </p:cNvPr>
        <p:cNvGrpSpPr/>
        <p:nvPr/>
      </p:nvGrpSpPr>
      <p:grpSpPr>
        <a:xfrm>
          <a:off x="0" y="0"/>
          <a:ext cx="1" cy="1"/>
          <a:chOff x="0" y="0"/>
          <a:chExt cx="1" cy="1"/>
        </a:xfrm>
      </p:grpSpPr>
      <p:sp>
        <p:nvSpPr>
          <p:cNvPr id="5" name="Text Placeholder 4">
            <a:extLst>
              <a:ext uri="{FF2B5EF4-FFF2-40B4-BE49-F238E27FC236}">
                <a16:creationId xmlns:a16="http://schemas.microsoft.com/office/drawing/2014/main" id="{7089EA57-79A9-E8E1-2AE8-3CF3C1D1832E}"/>
              </a:ext>
            </a:extLst>
          </p:cNvPr>
          <p:cNvSpPr>
            <a:spLocks noGrp="1"/>
          </p:cNvSpPr>
          <p:nvPr>
            <p:ph type="body" sz="quarter" idx="10"/>
          </p:nvPr>
        </p:nvSpPr>
        <p:spPr>
          <a:xfrm>
            <a:off x="533400" y="4343400"/>
            <a:ext cx="5562600" cy="1477328"/>
          </a:xfrm>
        </p:spPr>
        <p:txBody>
          <a:bodyPr/>
          <a:lstStyle/>
          <a:p>
            <a:r>
              <a:rPr lang="en-US" sz="3200" noProof="0">
                <a:latin typeface="Trebuchet MS" panose="020B0603020202020204" pitchFamily="34" charset="0"/>
              </a:rPr>
              <a:t>Definition of Process Defects and Yields</a:t>
            </a:r>
          </a:p>
          <a:p>
            <a:endParaRPr lang="en-US" sz="3200" noProof="0">
              <a:latin typeface="Trebuchet MS" panose="020B0603020202020204" pitchFamily="34" charset="0"/>
            </a:endParaRPr>
          </a:p>
        </p:txBody>
      </p:sp>
      <p:sp>
        <p:nvSpPr>
          <p:cNvPr id="7" name="Text Placeholder 6">
            <a:extLst>
              <a:ext uri="{FF2B5EF4-FFF2-40B4-BE49-F238E27FC236}">
                <a16:creationId xmlns:a16="http://schemas.microsoft.com/office/drawing/2014/main" id="{725F049F-A379-E595-4C10-298FFA0F51E3}"/>
              </a:ext>
            </a:extLst>
          </p:cNvPr>
          <p:cNvSpPr>
            <a:spLocks noGrp="1"/>
          </p:cNvSpPr>
          <p:nvPr>
            <p:ph type="body" sz="quarter" idx="12"/>
          </p:nvPr>
        </p:nvSpPr>
        <p:spPr>
          <a:xfrm>
            <a:off x="530280" y="3505200"/>
            <a:ext cx="914400" cy="492443"/>
          </a:xfrm>
        </p:spPr>
        <p:txBody>
          <a:bodyPr/>
          <a:lstStyle/>
          <a:p>
            <a:r>
              <a:rPr lang="en-US" sz="3200" noProof="0"/>
              <a:t>01</a:t>
            </a:r>
          </a:p>
        </p:txBody>
      </p:sp>
      <p:sp>
        <p:nvSpPr>
          <p:cNvPr id="2" name="Text Placeholder 5">
            <a:extLst>
              <a:ext uri="{FF2B5EF4-FFF2-40B4-BE49-F238E27FC236}">
                <a16:creationId xmlns:a16="http://schemas.microsoft.com/office/drawing/2014/main" id="{98AC456C-13D8-CD06-FDD3-A3E1608AEB80}"/>
              </a:ext>
            </a:extLst>
          </p:cNvPr>
          <p:cNvSpPr>
            <a:spLocks noGrp="1"/>
          </p:cNvSpPr>
          <p:nvPr>
            <p:ph type="body" sz="quarter" idx="11"/>
          </p:nvPr>
        </p:nvSpPr>
        <p:spPr>
          <a:xfrm>
            <a:off x="533400" y="5971962"/>
            <a:ext cx="2743200" cy="384721"/>
          </a:xfrm>
        </p:spPr>
        <p:txBody>
          <a:bodyPr/>
          <a:lstStyle/>
          <a:p>
            <a:r>
              <a:rPr lang="en-US" noProof="0">
                <a:latin typeface="Trebuchet MS" panose="020B0603020202020204" pitchFamily="34" charset="0"/>
              </a:rPr>
              <a:t>Summarizing Data</a:t>
            </a:r>
          </a:p>
        </p:txBody>
      </p:sp>
    </p:spTree>
    <p:extLst>
      <p:ext uri="{BB962C8B-B14F-4D97-AF65-F5344CB8AC3E}">
        <p14:creationId xmlns:p14="http://schemas.microsoft.com/office/powerpoint/2010/main" val="1488107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cxnSp>
        <p:nvCxnSpPr>
          <p:cNvPr id="28" name="Straight Connector 27">
            <a:extLst>
              <a:ext uri="{FF2B5EF4-FFF2-40B4-BE49-F238E27FC236}">
                <a16:creationId xmlns:a16="http://schemas.microsoft.com/office/drawing/2014/main" id="{E49A4BA2-4A7A-F011-C496-3C36550E4024}"/>
              </a:ext>
            </a:extLst>
          </p:cNvPr>
          <p:cNvCxnSpPr>
            <a:cxnSpLocks/>
          </p:cNvCxnSpPr>
          <p:nvPr/>
        </p:nvCxnSpPr>
        <p:spPr>
          <a:xfrm flipV="1">
            <a:off x="11189308" y="4333280"/>
            <a:ext cx="1" cy="747413"/>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E8E8C6D-5A57-F25A-5C4B-902E7B5CD7EF}"/>
              </a:ext>
            </a:extLst>
          </p:cNvPr>
          <p:cNvCxnSpPr/>
          <p:nvPr/>
        </p:nvCxnSpPr>
        <p:spPr>
          <a:xfrm flipV="1">
            <a:off x="8305800" y="4352330"/>
            <a:ext cx="1" cy="62662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F1FD6FA-C96A-67F8-458A-C98ED0320E33}"/>
              </a:ext>
            </a:extLst>
          </p:cNvPr>
          <p:cNvCxnSpPr/>
          <p:nvPr/>
        </p:nvCxnSpPr>
        <p:spPr>
          <a:xfrm>
            <a:off x="9906000" y="2819400"/>
            <a:ext cx="1" cy="60960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65A0EBB-E0EF-166F-A6E2-3B0D0E8BAF98}"/>
              </a:ext>
            </a:extLst>
          </p:cNvPr>
          <p:cNvCxnSpPr>
            <a:stCxn id="9" idx="0"/>
          </p:cNvCxnSpPr>
          <p:nvPr/>
        </p:nvCxnSpPr>
        <p:spPr>
          <a:xfrm flipH="1" flipV="1">
            <a:off x="7162800" y="2819400"/>
            <a:ext cx="12092" cy="59055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 name="Text Placeholder 1">
            <a:extLst>
              <a:ext uri="{FF2B5EF4-FFF2-40B4-BE49-F238E27FC236}">
                <a16:creationId xmlns:a16="http://schemas.microsoft.com/office/drawing/2014/main" id="{E9911927-3587-48BC-9B6B-B4B2DA17C1F9}"/>
              </a:ext>
            </a:extLst>
          </p:cNvPr>
          <p:cNvSpPr>
            <a:spLocks noGrp="1"/>
          </p:cNvSpPr>
          <p:nvPr>
            <p:ph type="body" sz="quarter" idx="10"/>
          </p:nvPr>
        </p:nvSpPr>
        <p:spPr>
          <a:xfrm>
            <a:off x="533400" y="381000"/>
            <a:ext cx="5562600" cy="492443"/>
          </a:xfrm>
        </p:spPr>
        <p:txBody>
          <a:bodyPr/>
          <a:lstStyle/>
          <a:p>
            <a:r>
              <a:rPr lang="en-US" sz="3200" noProof="0">
                <a:latin typeface="Trebuchet MS" panose="020B0603020202020204" pitchFamily="34" charset="0"/>
              </a:rPr>
              <a:t>Definition - Defects</a:t>
            </a:r>
          </a:p>
        </p:txBody>
      </p:sp>
      <p:sp>
        <p:nvSpPr>
          <p:cNvPr id="3" name="Text Placeholder 2">
            <a:extLst>
              <a:ext uri="{FF2B5EF4-FFF2-40B4-BE49-F238E27FC236}">
                <a16:creationId xmlns:a16="http://schemas.microsoft.com/office/drawing/2014/main" id="{D38215AE-C54B-4319-99B1-6B6823C39B5A}"/>
              </a:ext>
            </a:extLst>
          </p:cNvPr>
          <p:cNvSpPr>
            <a:spLocks noGrp="1"/>
          </p:cNvSpPr>
          <p:nvPr>
            <p:ph type="body" sz="quarter" idx="12"/>
          </p:nvPr>
        </p:nvSpPr>
        <p:spPr>
          <a:xfrm>
            <a:off x="554101" y="1834827"/>
            <a:ext cx="11083797" cy="307777"/>
          </a:xfrm>
        </p:spPr>
        <p:txBody>
          <a:bodyPr/>
          <a:lstStyle/>
          <a:p>
            <a:r>
              <a:rPr lang="en-US" sz="2000" kern="1200" noProof="0">
                <a:solidFill>
                  <a:srgbClr val="002060"/>
                </a:solidFill>
                <a:latin typeface="Trebuchet MS" panose="020B0603020202020204" pitchFamily="34" charset="0"/>
              </a:rPr>
              <a:t>Defects are defined as:</a:t>
            </a:r>
          </a:p>
        </p:txBody>
      </p:sp>
      <p:sp>
        <p:nvSpPr>
          <p:cNvPr id="4" name="Text Placeholder 3">
            <a:extLst>
              <a:ext uri="{FF2B5EF4-FFF2-40B4-BE49-F238E27FC236}">
                <a16:creationId xmlns:a16="http://schemas.microsoft.com/office/drawing/2014/main" id="{F020F3DC-7B98-4B11-B5B6-9879F8EE323E}"/>
              </a:ext>
            </a:extLst>
          </p:cNvPr>
          <p:cNvSpPr>
            <a:spLocks noGrp="1"/>
          </p:cNvSpPr>
          <p:nvPr>
            <p:ph type="body" sz="quarter" idx="13"/>
          </p:nvPr>
        </p:nvSpPr>
        <p:spPr>
          <a:xfrm>
            <a:off x="576090" y="2362200"/>
            <a:ext cx="5638800" cy="3231654"/>
          </a:xfrm>
        </p:spPr>
        <p:txBody>
          <a:bodyPr/>
          <a:lstStyle/>
          <a:p>
            <a:pPr marL="342900" indent="-342900">
              <a:buFont typeface="Arial" panose="020B0604020202020204" pitchFamily="34" charset="0"/>
              <a:buChar char="•"/>
            </a:pPr>
            <a:r>
              <a:rPr lang="en-US" noProof="0">
                <a:solidFill>
                  <a:srgbClr val="002060"/>
                </a:solidFill>
                <a:latin typeface="Trebuchet MS" panose="020B0603020202020204" pitchFamily="34" charset="0"/>
              </a:rPr>
              <a:t>Outputs that do not meet expected results. </a:t>
            </a:r>
          </a:p>
          <a:p>
            <a:pPr marL="342900" indent="-342900">
              <a:buFont typeface="Arial" panose="020B0604020202020204" pitchFamily="34" charset="0"/>
              <a:buChar char="•"/>
            </a:pPr>
            <a:r>
              <a:rPr lang="en-US" noProof="0">
                <a:solidFill>
                  <a:srgbClr val="002060"/>
                </a:solidFill>
                <a:latin typeface="Trebuchet MS" panose="020B0603020202020204" pitchFamily="34" charset="0"/>
              </a:rPr>
              <a:t>Customer requirements not achieved.</a:t>
            </a:r>
          </a:p>
          <a:p>
            <a:pPr marL="342900" indent="-342900">
              <a:buFont typeface="Arial" panose="020B0604020202020204" pitchFamily="34" charset="0"/>
              <a:buChar char="•"/>
            </a:pPr>
            <a:r>
              <a:rPr lang="en-US" noProof="0">
                <a:solidFill>
                  <a:srgbClr val="002060"/>
                </a:solidFill>
                <a:latin typeface="Trebuchet MS" panose="020B0603020202020204" pitchFamily="34" charset="0"/>
              </a:rPr>
              <a:t>Variation or human error.</a:t>
            </a:r>
          </a:p>
          <a:p>
            <a:pPr marL="342900" indent="-342900">
              <a:buFont typeface="Arial" panose="020B0604020202020204" pitchFamily="34" charset="0"/>
              <a:buChar char="•"/>
            </a:pPr>
            <a:r>
              <a:rPr lang="en-US" noProof="0">
                <a:solidFill>
                  <a:srgbClr val="002060"/>
                </a:solidFill>
                <a:latin typeface="Trebuchet MS" panose="020B0603020202020204" pitchFamily="34" charset="0"/>
              </a:rPr>
              <a:t>Waste or rework.</a:t>
            </a:r>
          </a:p>
          <a:p>
            <a:endParaRPr lang="en-US" noProof="0">
              <a:solidFill>
                <a:srgbClr val="002060"/>
              </a:solidFill>
              <a:latin typeface="Trebuchet MS" panose="020B0603020202020204" pitchFamily="34" charset="0"/>
            </a:endParaRPr>
          </a:p>
          <a:p>
            <a:r>
              <a:rPr lang="en-US" noProof="0">
                <a:solidFill>
                  <a:srgbClr val="002060"/>
                </a:solidFill>
                <a:latin typeface="Trebuchet MS" panose="020B0603020202020204" pitchFamily="34" charset="0"/>
              </a:rPr>
              <a:t>We measure defect risk using Failure Mode and Effect Analysis (FMEA) which we will explore in greater detail at various points in DMAIC. </a:t>
            </a:r>
          </a:p>
          <a:p>
            <a:endParaRPr lang="en-US" sz="1600" b="0" i="0" noProof="0">
              <a:solidFill>
                <a:srgbClr val="002060"/>
              </a:solidFill>
              <a:effectLst/>
              <a:latin typeface="Trebuchet MS" panose="020B0603020202020204" pitchFamily="34" charset="0"/>
            </a:endParaRPr>
          </a:p>
          <a:p>
            <a:endParaRPr lang="en-US" sz="1600" noProof="0">
              <a:solidFill>
                <a:srgbClr val="002060"/>
              </a:solidFill>
              <a:latin typeface="Trebuchet MS" panose="020B0603020202020204" pitchFamily="34" charset="0"/>
            </a:endParaRPr>
          </a:p>
          <a:p>
            <a:endParaRPr lang="en-US" sz="1800" noProof="0">
              <a:solidFill>
                <a:srgbClr val="002060"/>
              </a:solidFill>
              <a:latin typeface="Trebuchet MS" panose="020B0603020202020204" pitchFamily="34" charset="0"/>
            </a:endParaRPr>
          </a:p>
        </p:txBody>
      </p:sp>
      <p:pic>
        <p:nvPicPr>
          <p:cNvPr id="6" name="Picture 5">
            <a:extLst>
              <a:ext uri="{FF2B5EF4-FFF2-40B4-BE49-F238E27FC236}">
                <a16:creationId xmlns:a16="http://schemas.microsoft.com/office/drawing/2014/main" id="{A8B2F9FA-FC6E-13F2-1C51-458800262A4A}"/>
              </a:ext>
            </a:extLst>
          </p:cNvPr>
          <p:cNvPicPr>
            <a:picLocks noChangeAspect="1"/>
          </p:cNvPicPr>
          <p:nvPr/>
        </p:nvPicPr>
        <p:blipFill>
          <a:blip r:embed="rId3"/>
          <a:srcRect t="28775" b="34658"/>
          <a:stretch>
            <a:fillRect/>
          </a:stretch>
        </p:blipFill>
        <p:spPr>
          <a:xfrm>
            <a:off x="5583388" y="3019425"/>
            <a:ext cx="7294412" cy="1778242"/>
          </a:xfrm>
          <a:prstGeom prst="rect">
            <a:avLst/>
          </a:prstGeom>
        </p:spPr>
      </p:pic>
      <p:sp>
        <p:nvSpPr>
          <p:cNvPr id="8" name="Rectangle 7">
            <a:extLst>
              <a:ext uri="{FF2B5EF4-FFF2-40B4-BE49-F238E27FC236}">
                <a16:creationId xmlns:a16="http://schemas.microsoft.com/office/drawing/2014/main" id="{E1FBD052-3B58-1BB1-AA8B-BE4F9B38BBE3}"/>
              </a:ext>
            </a:extLst>
          </p:cNvPr>
          <p:cNvSpPr/>
          <p:nvPr/>
        </p:nvSpPr>
        <p:spPr>
          <a:xfrm>
            <a:off x="10892593" y="3429000"/>
            <a:ext cx="593432" cy="923330"/>
          </a:xfrm>
          <a:prstGeom prst="rect">
            <a:avLst/>
          </a:prstGeom>
          <a:noFill/>
        </p:spPr>
        <p:txBody>
          <a:bodyPr wrap="none" lIns="91440" tIns="45720" rIns="91440" bIns="45720">
            <a:spAutoFit/>
          </a:bodyPr>
          <a:lstStyle/>
          <a:p>
            <a:pPr algn="ctr"/>
            <a:r>
              <a:rPr lang="en-US" sz="5400" b="0" cap="none" spc="0" noProof="0">
                <a:ln w="0"/>
                <a:solidFill>
                  <a:schemeClr val="bg1"/>
                </a:solidFill>
                <a:effectLst>
                  <a:outerShdw blurRad="38100" dist="19050" dir="2700000" algn="tl" rotWithShape="0">
                    <a:schemeClr val="dk1">
                      <a:alpha val="40000"/>
                    </a:schemeClr>
                  </a:outerShdw>
                </a:effectLst>
                <a:latin typeface="Trebuchet MS" panose="020B0603020202020204" pitchFamily="34" charset="0"/>
              </a:rPr>
              <a:t>A</a:t>
            </a:r>
          </a:p>
        </p:txBody>
      </p:sp>
      <p:sp>
        <p:nvSpPr>
          <p:cNvPr id="9" name="Rectangle 8">
            <a:extLst>
              <a:ext uri="{FF2B5EF4-FFF2-40B4-BE49-F238E27FC236}">
                <a16:creationId xmlns:a16="http://schemas.microsoft.com/office/drawing/2014/main" id="{BDDDD9D6-9616-A6F6-4BE1-309467F313D4}"/>
              </a:ext>
            </a:extLst>
          </p:cNvPr>
          <p:cNvSpPr/>
          <p:nvPr/>
        </p:nvSpPr>
        <p:spPr>
          <a:xfrm>
            <a:off x="6900618" y="3409950"/>
            <a:ext cx="548548" cy="923330"/>
          </a:xfrm>
          <a:prstGeom prst="rect">
            <a:avLst/>
          </a:prstGeom>
          <a:noFill/>
        </p:spPr>
        <p:txBody>
          <a:bodyPr wrap="none" lIns="91440" tIns="45720" rIns="91440" bIns="45720">
            <a:spAutoFit/>
          </a:bodyPr>
          <a:lstStyle/>
          <a:p>
            <a:pPr algn="ctr"/>
            <a:r>
              <a:rPr lang="en-US" sz="5400" noProof="0">
                <a:ln w="0"/>
                <a:solidFill>
                  <a:schemeClr val="bg1"/>
                </a:solidFill>
                <a:effectLst>
                  <a:outerShdw blurRad="38100" dist="19050" dir="2700000" algn="tl" rotWithShape="0">
                    <a:schemeClr val="dk1">
                      <a:alpha val="40000"/>
                    </a:schemeClr>
                  </a:outerShdw>
                </a:effectLst>
                <a:latin typeface="Trebuchet MS" panose="020B0603020202020204" pitchFamily="34" charset="0"/>
              </a:rPr>
              <a:t>F</a:t>
            </a:r>
            <a:endParaRPr lang="en-US" sz="5400" b="0" cap="none" spc="0" noProof="0">
              <a:ln w="0"/>
              <a:solidFill>
                <a:schemeClr val="bg1"/>
              </a:solidFill>
              <a:effectLst>
                <a:outerShdw blurRad="38100" dist="19050" dir="2700000" algn="tl" rotWithShape="0">
                  <a:schemeClr val="dk1">
                    <a:alpha val="40000"/>
                  </a:schemeClr>
                </a:outerShdw>
              </a:effectLst>
              <a:latin typeface="Trebuchet MS" panose="020B0603020202020204" pitchFamily="34" charset="0"/>
            </a:endParaRPr>
          </a:p>
        </p:txBody>
      </p:sp>
      <p:sp>
        <p:nvSpPr>
          <p:cNvPr id="10" name="Rectangle 9">
            <a:extLst>
              <a:ext uri="{FF2B5EF4-FFF2-40B4-BE49-F238E27FC236}">
                <a16:creationId xmlns:a16="http://schemas.microsoft.com/office/drawing/2014/main" id="{CFFF157D-A1E4-AC70-AC69-CCE4E606664A}"/>
              </a:ext>
            </a:extLst>
          </p:cNvPr>
          <p:cNvSpPr/>
          <p:nvPr/>
        </p:nvSpPr>
        <p:spPr>
          <a:xfrm>
            <a:off x="8134894" y="3420070"/>
            <a:ext cx="675185" cy="923330"/>
          </a:xfrm>
          <a:prstGeom prst="rect">
            <a:avLst/>
          </a:prstGeom>
          <a:noFill/>
        </p:spPr>
        <p:txBody>
          <a:bodyPr wrap="none" lIns="91440" tIns="45720" rIns="91440" bIns="45720">
            <a:spAutoFit/>
          </a:bodyPr>
          <a:lstStyle/>
          <a:p>
            <a:pPr algn="ctr"/>
            <a:r>
              <a:rPr lang="en-US" sz="5400" noProof="0">
                <a:ln w="0"/>
                <a:solidFill>
                  <a:schemeClr val="bg1"/>
                </a:solidFill>
                <a:effectLst>
                  <a:outerShdw blurRad="38100" dist="19050" dir="2700000" algn="tl" rotWithShape="0">
                    <a:schemeClr val="dk1">
                      <a:alpha val="40000"/>
                    </a:schemeClr>
                  </a:outerShdw>
                </a:effectLst>
                <a:latin typeface="Trebuchet MS" panose="020B0603020202020204" pitchFamily="34" charset="0"/>
              </a:rPr>
              <a:t>M</a:t>
            </a:r>
            <a:endParaRPr lang="en-US" sz="5400" b="0" cap="none" spc="0" noProof="0">
              <a:ln w="0"/>
              <a:solidFill>
                <a:schemeClr val="bg1"/>
              </a:solidFill>
              <a:effectLst>
                <a:outerShdw blurRad="38100" dist="19050" dir="2700000" algn="tl" rotWithShape="0">
                  <a:schemeClr val="dk1">
                    <a:alpha val="40000"/>
                  </a:schemeClr>
                </a:outerShdw>
              </a:effectLst>
              <a:latin typeface="Trebuchet MS" panose="020B0603020202020204" pitchFamily="34" charset="0"/>
            </a:endParaRPr>
          </a:p>
        </p:txBody>
      </p:sp>
      <p:sp>
        <p:nvSpPr>
          <p:cNvPr id="11" name="Rectangle 10">
            <a:extLst>
              <a:ext uri="{FF2B5EF4-FFF2-40B4-BE49-F238E27FC236}">
                <a16:creationId xmlns:a16="http://schemas.microsoft.com/office/drawing/2014/main" id="{5DB59B76-D31B-624D-E940-3E8D2E48C726}"/>
              </a:ext>
            </a:extLst>
          </p:cNvPr>
          <p:cNvSpPr/>
          <p:nvPr/>
        </p:nvSpPr>
        <p:spPr>
          <a:xfrm>
            <a:off x="9528124" y="3409950"/>
            <a:ext cx="554960" cy="923330"/>
          </a:xfrm>
          <a:prstGeom prst="rect">
            <a:avLst/>
          </a:prstGeom>
          <a:noFill/>
        </p:spPr>
        <p:txBody>
          <a:bodyPr wrap="none" lIns="91440" tIns="45720" rIns="91440" bIns="45720">
            <a:spAutoFit/>
          </a:bodyPr>
          <a:lstStyle/>
          <a:p>
            <a:pPr algn="ctr"/>
            <a:r>
              <a:rPr lang="en-US" sz="5400" b="0" cap="none" spc="0" noProof="0">
                <a:ln w="0"/>
                <a:solidFill>
                  <a:schemeClr val="bg1"/>
                </a:solidFill>
                <a:effectLst>
                  <a:outerShdw blurRad="38100" dist="19050" dir="2700000" algn="tl" rotWithShape="0">
                    <a:schemeClr val="dk1">
                      <a:alpha val="40000"/>
                    </a:schemeClr>
                  </a:outerShdw>
                </a:effectLst>
                <a:latin typeface="Trebuchet MS" panose="020B0603020202020204" pitchFamily="34" charset="0"/>
              </a:rPr>
              <a:t>E</a:t>
            </a:r>
          </a:p>
        </p:txBody>
      </p:sp>
      <p:sp>
        <p:nvSpPr>
          <p:cNvPr id="14" name="TextBox 13">
            <a:extLst>
              <a:ext uri="{FF2B5EF4-FFF2-40B4-BE49-F238E27FC236}">
                <a16:creationId xmlns:a16="http://schemas.microsoft.com/office/drawing/2014/main" id="{2CA8CD41-4549-815B-6F3A-4991BB3B34AA}"/>
              </a:ext>
            </a:extLst>
          </p:cNvPr>
          <p:cNvSpPr txBox="1"/>
          <p:nvPr/>
        </p:nvSpPr>
        <p:spPr>
          <a:xfrm>
            <a:off x="6432973" y="2142604"/>
            <a:ext cx="1534711" cy="855047"/>
          </a:xfrm>
          <a:prstGeom prst="roundRect">
            <a:avLst>
              <a:gd name="adj" fmla="val 9264"/>
            </a:avLst>
          </a:prstGeom>
          <a:solidFill>
            <a:schemeClr val="bg1"/>
          </a:solidFill>
          <a:ln w="28575">
            <a:solidFill>
              <a:srgbClr val="FDBA13"/>
            </a:solidFill>
          </a:ln>
        </p:spPr>
        <p:txBody>
          <a:bodyPr wrap="square" rtlCol="0">
            <a:spAutoFit/>
          </a:bodyPr>
          <a:lstStyle/>
          <a:p>
            <a:endParaRPr lang="en-US" sz="400" noProof="0">
              <a:solidFill>
                <a:srgbClr val="172859"/>
              </a:solidFill>
              <a:latin typeface="Trebuchet MS" panose="020B0603020202020204" pitchFamily="34" charset="0"/>
              <a:cs typeface="Arial" panose="020B0604020202020204" pitchFamily="34" charset="0"/>
            </a:endParaRPr>
          </a:p>
          <a:p>
            <a:r>
              <a:rPr lang="en-US" sz="1400" noProof="0">
                <a:solidFill>
                  <a:srgbClr val="172859"/>
                </a:solidFill>
                <a:latin typeface="Trebuchet MS" panose="020B0603020202020204" pitchFamily="34" charset="0"/>
                <a:cs typeface="Arial" panose="020B0604020202020204" pitchFamily="34" charset="0"/>
              </a:rPr>
              <a:t>Potential errors, defects or issues.</a:t>
            </a:r>
          </a:p>
        </p:txBody>
      </p:sp>
      <p:sp>
        <p:nvSpPr>
          <p:cNvPr id="16" name="TextBox 15">
            <a:extLst>
              <a:ext uri="{FF2B5EF4-FFF2-40B4-BE49-F238E27FC236}">
                <a16:creationId xmlns:a16="http://schemas.microsoft.com/office/drawing/2014/main" id="{FD6200B7-96E3-E34A-717E-54CAC9009DD3}"/>
              </a:ext>
            </a:extLst>
          </p:cNvPr>
          <p:cNvSpPr txBox="1"/>
          <p:nvPr/>
        </p:nvSpPr>
        <p:spPr>
          <a:xfrm>
            <a:off x="9209488" y="1757362"/>
            <a:ext cx="1534712" cy="1290638"/>
          </a:xfrm>
          <a:prstGeom prst="roundRect">
            <a:avLst>
              <a:gd name="adj" fmla="val 9264"/>
            </a:avLst>
          </a:prstGeom>
          <a:solidFill>
            <a:schemeClr val="bg1"/>
          </a:solidFill>
          <a:ln w="28575">
            <a:solidFill>
              <a:schemeClr val="accent6"/>
            </a:solidFill>
          </a:ln>
        </p:spPr>
        <p:txBody>
          <a:bodyPr wrap="square" rtlCol="0">
            <a:spAutoFit/>
          </a:bodyPr>
          <a:lstStyle/>
          <a:p>
            <a:endParaRPr lang="en-US" sz="400" noProof="0">
              <a:solidFill>
                <a:srgbClr val="172859"/>
              </a:solidFill>
              <a:latin typeface="Trebuchet MS" panose="020B0603020202020204" pitchFamily="34" charset="0"/>
              <a:cs typeface="Arial" panose="020B0604020202020204" pitchFamily="34" charset="0"/>
            </a:endParaRPr>
          </a:p>
          <a:p>
            <a:r>
              <a:rPr lang="en-US" sz="1400" noProof="0">
                <a:solidFill>
                  <a:srgbClr val="172859"/>
                </a:solidFill>
                <a:latin typeface="Trebuchet MS" panose="020B0603020202020204" pitchFamily="34" charset="0"/>
                <a:cs typeface="Arial" panose="020B0604020202020204" pitchFamily="34" charset="0"/>
              </a:rPr>
              <a:t>Impact the failure will have on the process being analyzed.</a:t>
            </a:r>
          </a:p>
        </p:txBody>
      </p:sp>
      <p:pic>
        <p:nvPicPr>
          <p:cNvPr id="17" name="Picture 2">
            <a:extLst>
              <a:ext uri="{FF2B5EF4-FFF2-40B4-BE49-F238E27FC236}">
                <a16:creationId xmlns:a16="http://schemas.microsoft.com/office/drawing/2014/main" id="{DDBCAA6B-E7B4-F30A-A807-44E73B7C5A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6280" y="9319423"/>
            <a:ext cx="5962650" cy="3138960"/>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B10A48A5-33D1-84C9-B723-6641D7CFAF37}"/>
              </a:ext>
            </a:extLst>
          </p:cNvPr>
          <p:cNvSpPr txBox="1"/>
          <p:nvPr/>
        </p:nvSpPr>
        <p:spPr>
          <a:xfrm>
            <a:off x="7772400" y="5336024"/>
            <a:ext cx="1534712" cy="1064776"/>
          </a:xfrm>
          <a:prstGeom prst="roundRect">
            <a:avLst>
              <a:gd name="adj" fmla="val 9264"/>
            </a:avLst>
          </a:prstGeom>
          <a:solidFill>
            <a:schemeClr val="bg1"/>
          </a:solidFill>
          <a:ln w="28575">
            <a:solidFill>
              <a:srgbClr val="00B050"/>
            </a:solidFill>
          </a:ln>
        </p:spPr>
        <p:txBody>
          <a:bodyPr wrap="square" rtlCol="0">
            <a:spAutoFit/>
          </a:bodyPr>
          <a:lstStyle/>
          <a:p>
            <a:endParaRPr lang="en-US" sz="400" noProof="0">
              <a:solidFill>
                <a:srgbClr val="172859"/>
              </a:solidFill>
              <a:latin typeface="Trebuchet MS" panose="020B0603020202020204" pitchFamily="34" charset="0"/>
              <a:cs typeface="Arial" panose="020B0604020202020204" pitchFamily="34" charset="0"/>
            </a:endParaRPr>
          </a:p>
          <a:p>
            <a:r>
              <a:rPr lang="en-US" sz="1400" noProof="0">
                <a:solidFill>
                  <a:srgbClr val="172859"/>
                </a:solidFill>
                <a:latin typeface="Trebuchet MS" panose="020B0603020202020204" pitchFamily="34" charset="0"/>
                <a:cs typeface="Arial" panose="020B0604020202020204" pitchFamily="34" charset="0"/>
              </a:rPr>
              <a:t>Possible types of failure and ways it can happen.</a:t>
            </a:r>
          </a:p>
        </p:txBody>
      </p:sp>
      <p:sp>
        <p:nvSpPr>
          <p:cNvPr id="21" name="TextBox 20">
            <a:extLst>
              <a:ext uri="{FF2B5EF4-FFF2-40B4-BE49-F238E27FC236}">
                <a16:creationId xmlns:a16="http://schemas.microsoft.com/office/drawing/2014/main" id="{B08E3B82-5488-BA0F-6520-AC4282053668}"/>
              </a:ext>
            </a:extLst>
          </p:cNvPr>
          <p:cNvSpPr txBox="1"/>
          <p:nvPr/>
        </p:nvSpPr>
        <p:spPr>
          <a:xfrm>
            <a:off x="10578168" y="5437763"/>
            <a:ext cx="1534712" cy="1290638"/>
          </a:xfrm>
          <a:prstGeom prst="roundRect">
            <a:avLst>
              <a:gd name="adj" fmla="val 9264"/>
            </a:avLst>
          </a:prstGeom>
          <a:solidFill>
            <a:schemeClr val="bg1"/>
          </a:solidFill>
          <a:ln w="28575">
            <a:solidFill>
              <a:srgbClr val="00B0F0"/>
            </a:solidFill>
          </a:ln>
        </p:spPr>
        <p:txBody>
          <a:bodyPr wrap="square" rtlCol="0">
            <a:spAutoFit/>
          </a:bodyPr>
          <a:lstStyle/>
          <a:p>
            <a:endParaRPr lang="en-US" sz="400" noProof="0">
              <a:solidFill>
                <a:srgbClr val="172859"/>
              </a:solidFill>
              <a:latin typeface="Trebuchet MS" panose="020B0603020202020204" pitchFamily="34" charset="0"/>
              <a:cs typeface="Arial" panose="020B0604020202020204" pitchFamily="34" charset="0"/>
            </a:endParaRPr>
          </a:p>
          <a:p>
            <a:r>
              <a:rPr lang="en-US" sz="1400" noProof="0">
                <a:solidFill>
                  <a:srgbClr val="172859"/>
                </a:solidFill>
                <a:latin typeface="Trebuchet MS" panose="020B0603020202020204" pitchFamily="34" charset="0"/>
                <a:cs typeface="Arial" panose="020B0604020202020204" pitchFamily="34" charset="0"/>
              </a:rPr>
              <a:t>Analyzing and studying how we can eliminate and prevent risk. </a:t>
            </a:r>
          </a:p>
        </p:txBody>
      </p:sp>
      <p:sp>
        <p:nvSpPr>
          <p:cNvPr id="20" name="Rectangle: Rounded Corners 19">
            <a:extLst>
              <a:ext uri="{FF2B5EF4-FFF2-40B4-BE49-F238E27FC236}">
                <a16:creationId xmlns:a16="http://schemas.microsoft.com/office/drawing/2014/main" id="{795C9574-3F43-B8F9-017B-1FC55FE8239E}"/>
              </a:ext>
            </a:extLst>
          </p:cNvPr>
          <p:cNvSpPr/>
          <p:nvPr/>
        </p:nvSpPr>
        <p:spPr>
          <a:xfrm>
            <a:off x="10578168" y="5080693"/>
            <a:ext cx="1534712" cy="428508"/>
          </a:xfrm>
          <a:prstGeom prst="roundRect">
            <a:avLst/>
          </a:prstGeom>
          <a:solidFill>
            <a:srgbClr val="00B0F0"/>
          </a:solidFill>
          <a:ln w="38100">
            <a:solidFill>
              <a:srgbClr val="00B0F0"/>
            </a:solidFill>
          </a:ln>
          <a:effectLst/>
        </p:spPr>
        <p:style>
          <a:lnRef idx="1">
            <a:schemeClr val="accent4"/>
          </a:lnRef>
          <a:fillRef idx="3">
            <a:schemeClr val="accent4"/>
          </a:fillRef>
          <a:effectRef idx="2">
            <a:schemeClr val="accent4"/>
          </a:effectRef>
          <a:fontRef idx="minor">
            <a:schemeClr val="lt1"/>
          </a:fontRef>
        </p:style>
        <p:txBody>
          <a:bodyPr rtlCol="0" anchor="ctr"/>
          <a:lstStyle/>
          <a:p>
            <a:r>
              <a:rPr lang="en-US" sz="2000" b="1" noProof="0">
                <a:solidFill>
                  <a:schemeClr val="bg1"/>
                </a:solidFill>
                <a:latin typeface="Trebuchet MS" panose="020B0603020202020204" pitchFamily="34" charset="0"/>
                <a:cs typeface="Arial" panose="020B0604020202020204" pitchFamily="34" charset="0"/>
              </a:rPr>
              <a:t>Analysis</a:t>
            </a:r>
          </a:p>
        </p:txBody>
      </p:sp>
      <p:sp>
        <p:nvSpPr>
          <p:cNvPr id="13" name="Rectangle: Rounded Corners 12">
            <a:extLst>
              <a:ext uri="{FF2B5EF4-FFF2-40B4-BE49-F238E27FC236}">
                <a16:creationId xmlns:a16="http://schemas.microsoft.com/office/drawing/2014/main" id="{22896472-8572-F6E8-0E38-B91A4E647ABA}"/>
              </a:ext>
            </a:extLst>
          </p:cNvPr>
          <p:cNvSpPr/>
          <p:nvPr/>
        </p:nvSpPr>
        <p:spPr>
          <a:xfrm>
            <a:off x="6432973" y="1752600"/>
            <a:ext cx="1534711" cy="428508"/>
          </a:xfrm>
          <a:prstGeom prst="roundRect">
            <a:avLst/>
          </a:prstGeom>
          <a:solidFill>
            <a:srgbClr val="FDBA13"/>
          </a:solidFill>
          <a:ln w="38100">
            <a:solidFill>
              <a:srgbClr val="FDBA13"/>
            </a:solidFill>
          </a:ln>
          <a:effectLst/>
        </p:spPr>
        <p:style>
          <a:lnRef idx="1">
            <a:schemeClr val="accent4"/>
          </a:lnRef>
          <a:fillRef idx="3">
            <a:schemeClr val="accent4"/>
          </a:fillRef>
          <a:effectRef idx="2">
            <a:schemeClr val="accent4"/>
          </a:effectRef>
          <a:fontRef idx="minor">
            <a:schemeClr val="lt1"/>
          </a:fontRef>
        </p:style>
        <p:txBody>
          <a:bodyPr rtlCol="0" anchor="ctr"/>
          <a:lstStyle/>
          <a:p>
            <a:r>
              <a:rPr lang="en-US" sz="2000" b="1" noProof="0">
                <a:solidFill>
                  <a:schemeClr val="bg1"/>
                </a:solidFill>
                <a:latin typeface="Trebuchet MS" panose="020B0603020202020204" pitchFamily="34" charset="0"/>
                <a:cs typeface="Arial" panose="020B0604020202020204" pitchFamily="34" charset="0"/>
              </a:rPr>
              <a:t>Failure</a:t>
            </a:r>
          </a:p>
        </p:txBody>
      </p:sp>
      <p:sp>
        <p:nvSpPr>
          <p:cNvPr id="15" name="Rectangle: Rounded Corners 14">
            <a:extLst>
              <a:ext uri="{FF2B5EF4-FFF2-40B4-BE49-F238E27FC236}">
                <a16:creationId xmlns:a16="http://schemas.microsoft.com/office/drawing/2014/main" id="{F33184CF-9335-73C2-84F2-7A558F4D498B}"/>
              </a:ext>
            </a:extLst>
          </p:cNvPr>
          <p:cNvSpPr/>
          <p:nvPr/>
        </p:nvSpPr>
        <p:spPr>
          <a:xfrm>
            <a:off x="9209488" y="1400292"/>
            <a:ext cx="1534712" cy="428508"/>
          </a:xfrm>
          <a:prstGeom prst="roundRect">
            <a:avLst/>
          </a:prstGeom>
          <a:solidFill>
            <a:schemeClr val="accent6"/>
          </a:solidFill>
          <a:ln w="38100">
            <a:solidFill>
              <a:schemeClr val="accent6"/>
            </a:solidFill>
          </a:ln>
          <a:effectLst/>
        </p:spPr>
        <p:style>
          <a:lnRef idx="1">
            <a:schemeClr val="accent4"/>
          </a:lnRef>
          <a:fillRef idx="3">
            <a:schemeClr val="accent4"/>
          </a:fillRef>
          <a:effectRef idx="2">
            <a:schemeClr val="accent4"/>
          </a:effectRef>
          <a:fontRef idx="minor">
            <a:schemeClr val="lt1"/>
          </a:fontRef>
        </p:style>
        <p:txBody>
          <a:bodyPr rtlCol="0" anchor="ctr"/>
          <a:lstStyle/>
          <a:p>
            <a:r>
              <a:rPr lang="en-US" sz="2000" b="1" noProof="0">
                <a:solidFill>
                  <a:schemeClr val="bg1"/>
                </a:solidFill>
                <a:latin typeface="Trebuchet MS" panose="020B0603020202020204" pitchFamily="34" charset="0"/>
                <a:cs typeface="Arial" panose="020B0604020202020204" pitchFamily="34" charset="0"/>
              </a:rPr>
              <a:t>Effect</a:t>
            </a:r>
          </a:p>
        </p:txBody>
      </p:sp>
      <p:sp>
        <p:nvSpPr>
          <p:cNvPr id="18" name="Rectangle: Rounded Corners 17">
            <a:extLst>
              <a:ext uri="{FF2B5EF4-FFF2-40B4-BE49-F238E27FC236}">
                <a16:creationId xmlns:a16="http://schemas.microsoft.com/office/drawing/2014/main" id="{6054BF30-090C-DD86-3473-C7CD45821E28}"/>
              </a:ext>
            </a:extLst>
          </p:cNvPr>
          <p:cNvSpPr/>
          <p:nvPr/>
        </p:nvSpPr>
        <p:spPr>
          <a:xfrm>
            <a:off x="7772400" y="4978954"/>
            <a:ext cx="1534712" cy="428508"/>
          </a:xfrm>
          <a:prstGeom prst="roundRect">
            <a:avLst/>
          </a:prstGeom>
          <a:solidFill>
            <a:srgbClr val="00B050"/>
          </a:solidFill>
          <a:ln w="38100">
            <a:solidFill>
              <a:srgbClr val="00B050"/>
            </a:solidFill>
          </a:ln>
          <a:effectLst/>
        </p:spPr>
        <p:style>
          <a:lnRef idx="1">
            <a:schemeClr val="accent4"/>
          </a:lnRef>
          <a:fillRef idx="3">
            <a:schemeClr val="accent4"/>
          </a:fillRef>
          <a:effectRef idx="2">
            <a:schemeClr val="accent4"/>
          </a:effectRef>
          <a:fontRef idx="minor">
            <a:schemeClr val="lt1"/>
          </a:fontRef>
        </p:style>
        <p:txBody>
          <a:bodyPr rtlCol="0" anchor="ctr"/>
          <a:lstStyle/>
          <a:p>
            <a:r>
              <a:rPr lang="en-US" sz="2000" b="1" noProof="0">
                <a:solidFill>
                  <a:schemeClr val="bg1"/>
                </a:solidFill>
                <a:latin typeface="Trebuchet MS" panose="020B0603020202020204" pitchFamily="34" charset="0"/>
                <a:cs typeface="Arial" panose="020B0604020202020204" pitchFamily="34" charset="0"/>
              </a:rPr>
              <a:t>Mode</a:t>
            </a:r>
          </a:p>
        </p:txBody>
      </p:sp>
    </p:spTree>
    <p:extLst>
      <p:ext uri="{BB962C8B-B14F-4D97-AF65-F5344CB8AC3E}">
        <p14:creationId xmlns:p14="http://schemas.microsoft.com/office/powerpoint/2010/main" val="147848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9" grpId="0"/>
      <p:bldP spid="10" grpId="0"/>
      <p:bldP spid="11" grpId="0"/>
      <p:bldP spid="14" grpId="0" animBg="1"/>
      <p:bldP spid="16" grpId="0" animBg="1"/>
      <p:bldP spid="19" grpId="0" animBg="1"/>
      <p:bldP spid="21" grpId="0" animBg="1"/>
      <p:bldP spid="20" grpId="0" animBg="1"/>
      <p:bldP spid="13" grpId="0" animBg="1"/>
      <p:bldP spid="15"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6BD90-CE21-BAD5-8BB6-F86ED8BC4FF9}"/>
            </a:ext>
          </a:extLst>
        </p:cNvPr>
        <p:cNvGrpSpPr/>
        <p:nvPr/>
      </p:nvGrpSpPr>
      <p:grpSpPr>
        <a:xfrm>
          <a:off x="0" y="0"/>
          <a:ext cx="1" cy="1"/>
          <a:chOff x="0" y="0"/>
          <a:chExt cx="1" cy="1"/>
        </a:xfrm>
      </p:grpSpPr>
      <p:sp>
        <p:nvSpPr>
          <p:cNvPr id="2" name="Text Placeholder 1">
            <a:extLst>
              <a:ext uri="{FF2B5EF4-FFF2-40B4-BE49-F238E27FC236}">
                <a16:creationId xmlns:a16="http://schemas.microsoft.com/office/drawing/2014/main" id="{19885C4A-C12E-7B10-0E55-53D2020E8C0A}"/>
              </a:ext>
            </a:extLst>
          </p:cNvPr>
          <p:cNvSpPr>
            <a:spLocks noGrp="1"/>
          </p:cNvSpPr>
          <p:nvPr>
            <p:ph type="body" sz="quarter" idx="10"/>
          </p:nvPr>
        </p:nvSpPr>
        <p:spPr>
          <a:xfrm>
            <a:off x="533400" y="381000"/>
            <a:ext cx="5562600" cy="492443"/>
          </a:xfrm>
        </p:spPr>
        <p:txBody>
          <a:bodyPr/>
          <a:lstStyle/>
          <a:p>
            <a:r>
              <a:rPr lang="en-US" sz="3200" noProof="0">
                <a:latin typeface="Trebuchet MS" panose="020B0603020202020204" pitchFamily="34" charset="0"/>
              </a:rPr>
              <a:t>Example Defects</a:t>
            </a:r>
          </a:p>
        </p:txBody>
      </p:sp>
      <p:pic>
        <p:nvPicPr>
          <p:cNvPr id="17" name="Picture 2">
            <a:extLst>
              <a:ext uri="{FF2B5EF4-FFF2-40B4-BE49-F238E27FC236}">
                <a16:creationId xmlns:a16="http://schemas.microsoft.com/office/drawing/2014/main" id="{A54DB9E9-E7AA-96DD-4E15-60974A1B38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6280" y="9319423"/>
            <a:ext cx="5962650" cy="3138960"/>
          </a:xfrm>
          <a:prstGeom prst="rect">
            <a:avLst/>
          </a:prstGeom>
          <a:noFill/>
          <a:extLst>
            <a:ext uri="{909E8E84-426E-40DD-AFC4-6F175D3DCCD1}">
              <a14:hiddenFill xmlns:a14="http://schemas.microsoft.com/office/drawing/2010/main">
                <a:solidFill>
                  <a:srgbClr val="FFFFFF"/>
                </a:solidFill>
              </a14:hiddenFill>
            </a:ext>
          </a:extLst>
        </p:spPr>
      </p:pic>
      <p:sp>
        <p:nvSpPr>
          <p:cNvPr id="31" name="Rectangle 30">
            <a:extLst>
              <a:ext uri="{FF2B5EF4-FFF2-40B4-BE49-F238E27FC236}">
                <a16:creationId xmlns:a16="http://schemas.microsoft.com/office/drawing/2014/main" id="{DBF1B3BE-7A20-2CE7-6281-8841BD86869D}"/>
              </a:ext>
            </a:extLst>
          </p:cNvPr>
          <p:cNvSpPr/>
          <p:nvPr/>
        </p:nvSpPr>
        <p:spPr>
          <a:xfrm>
            <a:off x="304800" y="2514599"/>
            <a:ext cx="2160000" cy="3096000"/>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2000" b="1" noProof="0">
              <a:solidFill>
                <a:schemeClr val="bg1"/>
              </a:solidFill>
              <a:latin typeface="Trebuchet MS" panose="020B0603020202020204" pitchFamily="34" charset="0"/>
            </a:endParaRPr>
          </a:p>
          <a:p>
            <a:pPr algn="ctr"/>
            <a:r>
              <a:rPr lang="en-US" sz="2000" b="1" noProof="0">
                <a:solidFill>
                  <a:schemeClr val="bg1"/>
                </a:solidFill>
                <a:latin typeface="Trebuchet MS" panose="020B0603020202020204" pitchFamily="34" charset="0"/>
              </a:rPr>
              <a:t>Missing Data</a:t>
            </a:r>
          </a:p>
          <a:p>
            <a:pPr marL="285750" indent="-285750">
              <a:buFont typeface="Arial" panose="020B0604020202020204" pitchFamily="34" charset="0"/>
              <a:buChar char="•"/>
            </a:pPr>
            <a:endParaRPr lang="en-US" sz="1600" noProof="0">
              <a:solidFill>
                <a:schemeClr val="bg1"/>
              </a:solidFill>
              <a:latin typeface="Trebuchet MS" panose="020B0603020202020204" pitchFamily="34" charset="0"/>
            </a:endParaRP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Customer record has no contact number.</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Appointment notes not completed.</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Mandatory fields in a form left blank.</a:t>
            </a:r>
          </a:p>
          <a:p>
            <a:pPr marL="285750" indent="-285750">
              <a:buFont typeface="Arial" panose="020B0604020202020204" pitchFamily="34" charset="0"/>
              <a:buChar char="•"/>
            </a:pPr>
            <a:endParaRPr lang="en-US" sz="1600" noProof="0">
              <a:solidFill>
                <a:schemeClr val="bg1"/>
              </a:solidFill>
              <a:latin typeface="Trebuchet MS" panose="020B0603020202020204" pitchFamily="34" charset="0"/>
            </a:endParaRPr>
          </a:p>
          <a:p>
            <a:pPr marL="285750" indent="-285750">
              <a:buFont typeface="Arial" panose="020B0604020202020204" pitchFamily="34" charset="0"/>
              <a:buChar char="•"/>
            </a:pPr>
            <a:endParaRPr lang="en-US" sz="1600" noProof="0">
              <a:solidFill>
                <a:schemeClr val="bg1"/>
              </a:solidFill>
              <a:latin typeface="Trebuchet MS" panose="020B0603020202020204" pitchFamily="34" charset="0"/>
            </a:endParaRPr>
          </a:p>
          <a:p>
            <a:pPr marL="285750" indent="-285750">
              <a:buFont typeface="Arial" panose="020B0604020202020204" pitchFamily="34" charset="0"/>
              <a:buChar char="•"/>
            </a:pPr>
            <a:endParaRPr lang="en-US" sz="1600" noProof="0">
              <a:solidFill>
                <a:schemeClr val="bg1"/>
              </a:solidFill>
              <a:latin typeface="Trebuchet MS" panose="020B0603020202020204" pitchFamily="34" charset="0"/>
            </a:endParaRPr>
          </a:p>
          <a:p>
            <a:pPr marL="285750" indent="-285750">
              <a:buFont typeface="Arial" panose="020B0604020202020204" pitchFamily="34" charset="0"/>
              <a:buChar char="•"/>
            </a:pPr>
            <a:endParaRPr lang="en-US" sz="1600" noProof="0">
              <a:solidFill>
                <a:schemeClr val="bg1"/>
              </a:solidFill>
              <a:latin typeface="Trebuchet MS" panose="020B0603020202020204" pitchFamily="34" charset="0"/>
            </a:endParaRPr>
          </a:p>
        </p:txBody>
      </p:sp>
      <p:sp>
        <p:nvSpPr>
          <p:cNvPr id="33" name="Rectangle 32">
            <a:extLst>
              <a:ext uri="{FF2B5EF4-FFF2-40B4-BE49-F238E27FC236}">
                <a16:creationId xmlns:a16="http://schemas.microsoft.com/office/drawing/2014/main" id="{74341301-3D25-0330-DECD-D0436AF9E8EF}"/>
              </a:ext>
            </a:extLst>
          </p:cNvPr>
          <p:cNvSpPr/>
          <p:nvPr/>
        </p:nvSpPr>
        <p:spPr>
          <a:xfrm>
            <a:off x="2667000" y="2514600"/>
            <a:ext cx="2160000" cy="3096000"/>
          </a:xfrm>
          <a:prstGeom prst="rect">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2000" b="1" noProof="0">
              <a:solidFill>
                <a:schemeClr val="bg1"/>
              </a:solidFill>
              <a:latin typeface="Trebuchet MS" panose="020B0603020202020204" pitchFamily="34" charset="0"/>
            </a:endParaRPr>
          </a:p>
          <a:p>
            <a:pPr algn="ctr"/>
            <a:r>
              <a:rPr lang="en-US" sz="2000" b="1" noProof="0">
                <a:solidFill>
                  <a:schemeClr val="bg1"/>
                </a:solidFill>
                <a:latin typeface="Trebuchet MS" panose="020B0603020202020204" pitchFamily="34" charset="0"/>
              </a:rPr>
              <a:t>Incorrect Input</a:t>
            </a:r>
          </a:p>
          <a:p>
            <a:pPr marL="285750" indent="-285750">
              <a:buFont typeface="Arial" panose="020B0604020202020204" pitchFamily="34" charset="0"/>
              <a:buChar char="•"/>
            </a:pPr>
            <a:endParaRPr lang="en-US" sz="1600" noProof="0">
              <a:solidFill>
                <a:schemeClr val="bg1"/>
              </a:solidFill>
              <a:latin typeface="Trebuchet MS" panose="020B0603020202020204" pitchFamily="34" charset="0"/>
            </a:endParaRP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Wrong customer details entered (e.g. name/date of birth).</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Incorrect payment type selected.</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Data entered in wrong format (e.g. date or Zip code).</a:t>
            </a:r>
          </a:p>
          <a:p>
            <a:pPr marL="285750" indent="-285750">
              <a:buFont typeface="Arial" panose="020B0604020202020204" pitchFamily="34" charset="0"/>
              <a:buChar char="•"/>
            </a:pPr>
            <a:endParaRPr lang="en-US" sz="1600" noProof="0">
              <a:solidFill>
                <a:schemeClr val="bg1"/>
              </a:solidFill>
              <a:latin typeface="Trebuchet MS" panose="020B0603020202020204" pitchFamily="34" charset="0"/>
            </a:endParaRPr>
          </a:p>
        </p:txBody>
      </p:sp>
      <p:sp>
        <p:nvSpPr>
          <p:cNvPr id="34" name="Rectangle 33">
            <a:extLst>
              <a:ext uri="{FF2B5EF4-FFF2-40B4-BE49-F238E27FC236}">
                <a16:creationId xmlns:a16="http://schemas.microsoft.com/office/drawing/2014/main" id="{79EDDE8C-4330-0E88-24B1-2E78C0FE808D}"/>
              </a:ext>
            </a:extLst>
          </p:cNvPr>
          <p:cNvSpPr/>
          <p:nvPr/>
        </p:nvSpPr>
        <p:spPr>
          <a:xfrm>
            <a:off x="5028310" y="2529838"/>
            <a:ext cx="2160000" cy="3096000"/>
          </a:xfrm>
          <a:prstGeom prst="rect">
            <a:avLst/>
          </a:prstGeom>
          <a:solidFill>
            <a:srgbClr val="27AAE1"/>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2000" b="1" noProof="0">
              <a:solidFill>
                <a:schemeClr val="bg1"/>
              </a:solidFill>
              <a:latin typeface="Trebuchet MS" panose="020B0603020202020204" pitchFamily="34" charset="0"/>
            </a:endParaRPr>
          </a:p>
          <a:p>
            <a:pPr algn="ctr"/>
            <a:r>
              <a:rPr lang="en-US" sz="2000" b="1" noProof="0">
                <a:solidFill>
                  <a:schemeClr val="bg1"/>
                </a:solidFill>
                <a:latin typeface="Trebuchet MS" panose="020B0603020202020204" pitchFamily="34" charset="0"/>
              </a:rPr>
              <a:t>Process Delays</a:t>
            </a:r>
          </a:p>
          <a:p>
            <a:pPr marL="285750" indent="-285750">
              <a:buFont typeface="Arial" panose="020B0604020202020204" pitchFamily="34" charset="0"/>
              <a:buChar char="•"/>
            </a:pPr>
            <a:endParaRPr lang="en-US" sz="1600" noProof="0">
              <a:solidFill>
                <a:schemeClr val="bg1"/>
              </a:solidFill>
              <a:latin typeface="Trebuchet MS" panose="020B0603020202020204" pitchFamily="34" charset="0"/>
            </a:endParaRP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Appointment not scheduled within target timeframe.</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Approval not completed on time.</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Request sits in queue with no action.</a:t>
            </a:r>
          </a:p>
          <a:p>
            <a:pPr marL="285750" indent="-285750">
              <a:buFont typeface="Arial" panose="020B0604020202020204" pitchFamily="34" charset="0"/>
              <a:buChar char="•"/>
            </a:pPr>
            <a:endParaRPr lang="en-US" sz="1400" noProof="0">
              <a:solidFill>
                <a:schemeClr val="bg1"/>
              </a:solidFill>
              <a:latin typeface="Trebuchet MS" panose="020B0603020202020204" pitchFamily="34" charset="0"/>
            </a:endParaRPr>
          </a:p>
          <a:p>
            <a:pPr marL="285750" indent="-285750">
              <a:buFont typeface="Arial" panose="020B0604020202020204" pitchFamily="34" charset="0"/>
              <a:buChar char="•"/>
            </a:pPr>
            <a:endParaRPr lang="en-US" sz="1400" noProof="0">
              <a:solidFill>
                <a:schemeClr val="bg1"/>
              </a:solidFill>
              <a:latin typeface="Trebuchet MS" panose="020B0603020202020204" pitchFamily="34" charset="0"/>
            </a:endParaRPr>
          </a:p>
        </p:txBody>
      </p:sp>
      <p:sp>
        <p:nvSpPr>
          <p:cNvPr id="35" name="Rectangle 34">
            <a:extLst>
              <a:ext uri="{FF2B5EF4-FFF2-40B4-BE49-F238E27FC236}">
                <a16:creationId xmlns:a16="http://schemas.microsoft.com/office/drawing/2014/main" id="{086923D4-ED5C-3A5C-9827-71FAFFAD0941}"/>
              </a:ext>
            </a:extLst>
          </p:cNvPr>
          <p:cNvSpPr/>
          <p:nvPr/>
        </p:nvSpPr>
        <p:spPr>
          <a:xfrm>
            <a:off x="7391400" y="2514600"/>
            <a:ext cx="2160000" cy="3096000"/>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2000" b="1" noProof="0">
              <a:solidFill>
                <a:schemeClr val="bg1"/>
              </a:solidFill>
              <a:latin typeface="Trebuchet MS" panose="020B0603020202020204" pitchFamily="34" charset="0"/>
            </a:endParaRPr>
          </a:p>
          <a:p>
            <a:pPr algn="ctr"/>
            <a:r>
              <a:rPr lang="en-US" sz="2000" b="1" noProof="0">
                <a:solidFill>
                  <a:schemeClr val="bg1"/>
                </a:solidFill>
                <a:latin typeface="Trebuchet MS" panose="020B0603020202020204" pitchFamily="34" charset="0"/>
              </a:rPr>
              <a:t>Quality Errors</a:t>
            </a:r>
          </a:p>
          <a:p>
            <a:pPr algn="ctr"/>
            <a:endParaRPr lang="en-US" sz="2000" b="1" noProof="0">
              <a:solidFill>
                <a:schemeClr val="bg1"/>
              </a:solidFill>
              <a:latin typeface="Trebuchet MS" panose="020B0603020202020204" pitchFamily="34" charset="0"/>
            </a:endParaRP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Document contains spelling mistakes.</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Incorrect information provided to customer.</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Output does not meet agreed standard.</a:t>
            </a:r>
          </a:p>
          <a:p>
            <a:pPr marL="285750" indent="-285750">
              <a:buFont typeface="Arial" panose="020B0604020202020204" pitchFamily="34" charset="0"/>
              <a:buChar char="•"/>
            </a:pPr>
            <a:endParaRPr lang="en-US" sz="1400" noProof="0">
              <a:solidFill>
                <a:schemeClr val="bg1"/>
              </a:solidFill>
              <a:latin typeface="Trebuchet MS" panose="020B0603020202020204" pitchFamily="34" charset="0"/>
            </a:endParaRPr>
          </a:p>
        </p:txBody>
      </p:sp>
      <p:sp>
        <p:nvSpPr>
          <p:cNvPr id="36" name="Rectangle 35">
            <a:extLst>
              <a:ext uri="{FF2B5EF4-FFF2-40B4-BE49-F238E27FC236}">
                <a16:creationId xmlns:a16="http://schemas.microsoft.com/office/drawing/2014/main" id="{A06A5AC7-F019-6E12-1EA3-B8323C49BC98}"/>
              </a:ext>
            </a:extLst>
          </p:cNvPr>
          <p:cNvSpPr/>
          <p:nvPr/>
        </p:nvSpPr>
        <p:spPr>
          <a:xfrm>
            <a:off x="9753600" y="2499360"/>
            <a:ext cx="2160000" cy="309600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2000" b="1" noProof="0">
              <a:solidFill>
                <a:schemeClr val="bg1"/>
              </a:solidFill>
              <a:latin typeface="Trebuchet MS" panose="020B0603020202020204" pitchFamily="34" charset="0"/>
            </a:endParaRPr>
          </a:p>
          <a:p>
            <a:pPr algn="ctr"/>
            <a:r>
              <a:rPr lang="en-US" sz="2000" b="1" noProof="0">
                <a:solidFill>
                  <a:schemeClr val="bg1"/>
                </a:solidFill>
                <a:latin typeface="Trebuchet MS" panose="020B0603020202020204" pitchFamily="34" charset="0"/>
              </a:rPr>
              <a:t>Incomplete</a:t>
            </a:r>
          </a:p>
          <a:p>
            <a:pPr algn="ctr"/>
            <a:endParaRPr lang="en-US" sz="2000" b="1" noProof="0">
              <a:solidFill>
                <a:schemeClr val="bg1"/>
              </a:solidFill>
              <a:latin typeface="Trebuchet MS" panose="020B0603020202020204" pitchFamily="34" charset="0"/>
            </a:endParaRP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Task started but not finished.</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Required documentation not uploaded.</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Process skipped a required step.</a:t>
            </a:r>
          </a:p>
          <a:p>
            <a:pPr marL="285750" indent="-285750">
              <a:buFont typeface="Arial" panose="020B0604020202020204" pitchFamily="34" charset="0"/>
              <a:buChar char="•"/>
            </a:pPr>
            <a:endParaRPr lang="en-US" sz="1400" noProof="0">
              <a:solidFill>
                <a:schemeClr val="bg1"/>
              </a:solidFill>
              <a:latin typeface="Trebuchet MS" panose="020B0603020202020204" pitchFamily="34" charset="0"/>
            </a:endParaRPr>
          </a:p>
          <a:p>
            <a:pPr marL="285750" indent="-285750">
              <a:buFont typeface="Arial" panose="020B0604020202020204" pitchFamily="34" charset="0"/>
              <a:buChar char="•"/>
            </a:pPr>
            <a:endParaRPr lang="en-US" sz="1400" noProof="0">
              <a:solidFill>
                <a:schemeClr val="bg1"/>
              </a:solidFill>
              <a:latin typeface="Trebuchet MS" panose="020B0603020202020204" pitchFamily="34" charset="0"/>
            </a:endParaRPr>
          </a:p>
          <a:p>
            <a:pPr marL="285750" indent="-285750">
              <a:buFont typeface="Arial" panose="020B0604020202020204" pitchFamily="34" charset="0"/>
              <a:buChar char="•"/>
            </a:pPr>
            <a:endParaRPr lang="en-US" sz="1400" noProof="0">
              <a:solidFill>
                <a:schemeClr val="bg1"/>
              </a:solidFill>
              <a:latin typeface="Trebuchet MS" panose="020B0603020202020204" pitchFamily="34" charset="0"/>
            </a:endParaRPr>
          </a:p>
        </p:txBody>
      </p:sp>
      <p:sp>
        <p:nvSpPr>
          <p:cNvPr id="44" name="Flowchart: Connector 43">
            <a:extLst>
              <a:ext uri="{FF2B5EF4-FFF2-40B4-BE49-F238E27FC236}">
                <a16:creationId xmlns:a16="http://schemas.microsoft.com/office/drawing/2014/main" id="{E9CC84BF-56AB-4283-28A2-06B75458FC2F}"/>
              </a:ext>
            </a:extLst>
          </p:cNvPr>
          <p:cNvSpPr/>
          <p:nvPr/>
        </p:nvSpPr>
        <p:spPr>
          <a:xfrm>
            <a:off x="838200" y="1638033"/>
            <a:ext cx="1065600" cy="1066800"/>
          </a:xfrm>
          <a:prstGeom prst="flowChartConnector">
            <a:avLst/>
          </a:prstGeom>
          <a:solidFill>
            <a:schemeClr val="accent6"/>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endParaRPr>
          </a:p>
        </p:txBody>
      </p:sp>
      <p:sp>
        <p:nvSpPr>
          <p:cNvPr id="45" name="Flowchart: Connector 44">
            <a:extLst>
              <a:ext uri="{FF2B5EF4-FFF2-40B4-BE49-F238E27FC236}">
                <a16:creationId xmlns:a16="http://schemas.microsoft.com/office/drawing/2014/main" id="{A3657D68-B773-4753-5BC4-43E8E7323C50}"/>
              </a:ext>
            </a:extLst>
          </p:cNvPr>
          <p:cNvSpPr/>
          <p:nvPr/>
        </p:nvSpPr>
        <p:spPr>
          <a:xfrm>
            <a:off x="3186687" y="1619544"/>
            <a:ext cx="1065600" cy="1066800"/>
          </a:xfrm>
          <a:prstGeom prst="flowChartConnector">
            <a:avLst/>
          </a:prstGeom>
          <a:solidFill>
            <a:srgbClr val="00AF74"/>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endParaRPr>
          </a:p>
        </p:txBody>
      </p:sp>
      <p:sp>
        <p:nvSpPr>
          <p:cNvPr id="46" name="Flowchart: Connector 45">
            <a:extLst>
              <a:ext uri="{FF2B5EF4-FFF2-40B4-BE49-F238E27FC236}">
                <a16:creationId xmlns:a16="http://schemas.microsoft.com/office/drawing/2014/main" id="{913C9295-1C32-CC49-639C-85A4182E5FB3}"/>
              </a:ext>
            </a:extLst>
          </p:cNvPr>
          <p:cNvSpPr/>
          <p:nvPr/>
        </p:nvSpPr>
        <p:spPr>
          <a:xfrm>
            <a:off x="5564593" y="1638033"/>
            <a:ext cx="1065600" cy="1066800"/>
          </a:xfrm>
          <a:prstGeom prst="flowChartConnector">
            <a:avLst/>
          </a:prstGeom>
          <a:solidFill>
            <a:srgbClr val="27AAE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endParaRPr>
          </a:p>
        </p:txBody>
      </p:sp>
      <p:sp>
        <p:nvSpPr>
          <p:cNvPr id="47" name="Flowchart: Connector 46">
            <a:extLst>
              <a:ext uri="{FF2B5EF4-FFF2-40B4-BE49-F238E27FC236}">
                <a16:creationId xmlns:a16="http://schemas.microsoft.com/office/drawing/2014/main" id="{B21FF461-AC87-2B18-AB3B-05304761A35A}"/>
              </a:ext>
            </a:extLst>
          </p:cNvPr>
          <p:cNvSpPr/>
          <p:nvPr/>
        </p:nvSpPr>
        <p:spPr>
          <a:xfrm>
            <a:off x="7913080" y="1638033"/>
            <a:ext cx="1065600" cy="1066800"/>
          </a:xfrm>
          <a:prstGeom prst="flowChartConnector">
            <a:avLst/>
          </a:prstGeom>
          <a:solidFill>
            <a:srgbClr val="00206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endParaRPr>
          </a:p>
        </p:txBody>
      </p:sp>
      <p:sp>
        <p:nvSpPr>
          <p:cNvPr id="48" name="Flowchart: Connector 47">
            <a:extLst>
              <a:ext uri="{FF2B5EF4-FFF2-40B4-BE49-F238E27FC236}">
                <a16:creationId xmlns:a16="http://schemas.microsoft.com/office/drawing/2014/main" id="{2B0DE117-CE51-D6A2-C390-2E18B65475F0}"/>
              </a:ext>
            </a:extLst>
          </p:cNvPr>
          <p:cNvSpPr/>
          <p:nvPr/>
        </p:nvSpPr>
        <p:spPr>
          <a:xfrm>
            <a:off x="10287000" y="1609470"/>
            <a:ext cx="1065600" cy="1066800"/>
          </a:xfrm>
          <a:prstGeom prst="flowChartConnector">
            <a:avLst/>
          </a:prstGeom>
          <a:solidFill>
            <a:srgbClr val="7030A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endParaRPr>
          </a:p>
        </p:txBody>
      </p:sp>
      <p:pic>
        <p:nvPicPr>
          <p:cNvPr id="50" name="Graphic 49" descr="Clipboard Mixed with solid fill">
            <a:extLst>
              <a:ext uri="{FF2B5EF4-FFF2-40B4-BE49-F238E27FC236}">
                <a16:creationId xmlns:a16="http://schemas.microsoft.com/office/drawing/2014/main" id="{1D134C3D-9006-AC0E-C93A-CF262631F1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2192" y="1774062"/>
            <a:ext cx="737616" cy="737616"/>
          </a:xfrm>
          <a:prstGeom prst="rect">
            <a:avLst/>
          </a:prstGeom>
        </p:spPr>
      </p:pic>
      <p:pic>
        <p:nvPicPr>
          <p:cNvPr id="52" name="Graphic 51" descr="Keyboard with solid fill">
            <a:extLst>
              <a:ext uri="{FF2B5EF4-FFF2-40B4-BE49-F238E27FC236}">
                <a16:creationId xmlns:a16="http://schemas.microsoft.com/office/drawing/2014/main" id="{73D7CC34-8FF7-502F-AC41-56DAFC838CF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16962" y="1765876"/>
            <a:ext cx="608533" cy="830957"/>
          </a:xfrm>
          <a:prstGeom prst="rect">
            <a:avLst/>
          </a:prstGeom>
        </p:spPr>
      </p:pic>
      <p:pic>
        <p:nvPicPr>
          <p:cNvPr id="54" name="Graphic 53" descr="Clock with solid fill">
            <a:extLst>
              <a:ext uri="{FF2B5EF4-FFF2-40B4-BE49-F238E27FC236}">
                <a16:creationId xmlns:a16="http://schemas.microsoft.com/office/drawing/2014/main" id="{1A7AF6B9-102B-02A2-20F7-040A83B5BAA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75410" y="1752333"/>
            <a:ext cx="838200" cy="838200"/>
          </a:xfrm>
          <a:prstGeom prst="rect">
            <a:avLst/>
          </a:prstGeom>
        </p:spPr>
      </p:pic>
      <p:pic>
        <p:nvPicPr>
          <p:cNvPr id="56" name="Graphic 55" descr="Clipboard Checked with solid fill">
            <a:extLst>
              <a:ext uri="{FF2B5EF4-FFF2-40B4-BE49-F238E27FC236}">
                <a16:creationId xmlns:a16="http://schemas.microsoft.com/office/drawing/2014/main" id="{CD0AD512-F0BB-5426-D1F3-206D7AE6CE4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68028" y="1793581"/>
            <a:ext cx="755703" cy="755703"/>
          </a:xfrm>
          <a:prstGeom prst="rect">
            <a:avLst/>
          </a:prstGeom>
        </p:spPr>
      </p:pic>
      <p:pic>
        <p:nvPicPr>
          <p:cNvPr id="58" name="Graphic 57" descr="Irritant with solid fill">
            <a:extLst>
              <a:ext uri="{FF2B5EF4-FFF2-40B4-BE49-F238E27FC236}">
                <a16:creationId xmlns:a16="http://schemas.microsoft.com/office/drawing/2014/main" id="{BCFED159-83CF-D625-B65C-A70936FA283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440265" y="1705650"/>
            <a:ext cx="755703" cy="755703"/>
          </a:xfrm>
          <a:prstGeom prst="rect">
            <a:avLst/>
          </a:prstGeom>
        </p:spPr>
      </p:pic>
    </p:spTree>
    <p:extLst>
      <p:ext uri="{BB962C8B-B14F-4D97-AF65-F5344CB8AC3E}">
        <p14:creationId xmlns:p14="http://schemas.microsoft.com/office/powerpoint/2010/main" val="2085494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3" grpId="0" animBg="1"/>
      <p:bldP spid="34" grpId="0" animBg="1"/>
      <p:bldP spid="35" grpId="0" animBg="1"/>
      <p:bldP spid="36" grpId="0" animBg="1"/>
      <p:bldP spid="44" grpId="0" animBg="1"/>
      <p:bldP spid="45" grpId="0" animBg="1"/>
      <p:bldP spid="46" grpId="0" animBg="1"/>
      <p:bldP spid="47" grpId="0" animBg="1"/>
      <p:bldP spid="4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1" cy="1"/>
          <a:chOff x="0" y="0"/>
          <a:chExt cx="1" cy="1"/>
        </a:xfrm>
      </p:grpSpPr>
      <p:sp>
        <p:nvSpPr>
          <p:cNvPr id="9" name="Text Placeholder 8">
            <a:extLst>
              <a:ext uri="{FF2B5EF4-FFF2-40B4-BE49-F238E27FC236}">
                <a16:creationId xmlns:a16="http://schemas.microsoft.com/office/drawing/2014/main" id="{C0E53D5D-B4A5-1A41-883D-13E334FB6997}"/>
              </a:ext>
            </a:extLst>
          </p:cNvPr>
          <p:cNvSpPr>
            <a:spLocks noGrp="1"/>
          </p:cNvSpPr>
          <p:nvPr>
            <p:ph type="body" sz="quarter" idx="10"/>
          </p:nvPr>
        </p:nvSpPr>
        <p:spPr>
          <a:xfrm>
            <a:off x="533400" y="381000"/>
            <a:ext cx="5562600" cy="492443"/>
          </a:xfrm>
        </p:spPr>
        <p:txBody>
          <a:bodyPr/>
          <a:lstStyle/>
          <a:p>
            <a:r>
              <a:rPr lang="en-US" sz="3200" noProof="0">
                <a:solidFill>
                  <a:srgbClr val="FFC000"/>
                </a:solidFill>
                <a:latin typeface="Trebuchet MS" panose="020B0603020202020204" pitchFamily="34" charset="0"/>
              </a:rPr>
              <a:t>Definition – Final Yield</a:t>
            </a:r>
          </a:p>
        </p:txBody>
      </p:sp>
      <p:sp>
        <p:nvSpPr>
          <p:cNvPr id="11" name="Text Placeholder 10">
            <a:extLst>
              <a:ext uri="{FF2B5EF4-FFF2-40B4-BE49-F238E27FC236}">
                <a16:creationId xmlns:a16="http://schemas.microsoft.com/office/drawing/2014/main" id="{BE480800-403E-9E49-9F24-2A83B4040E7A}"/>
              </a:ext>
            </a:extLst>
          </p:cNvPr>
          <p:cNvSpPr>
            <a:spLocks noGrp="1"/>
          </p:cNvSpPr>
          <p:nvPr>
            <p:ph type="body" sz="quarter" idx="12"/>
          </p:nvPr>
        </p:nvSpPr>
        <p:spPr>
          <a:xfrm>
            <a:off x="533400" y="1828800"/>
            <a:ext cx="10058400" cy="1846659"/>
          </a:xfrm>
        </p:spPr>
        <p:txBody>
          <a:bodyPr wrap="square" lIns="0" tIns="0" rIns="0" bIns="0" anchor="t">
            <a:spAutoFit/>
          </a:bodyPr>
          <a:lstStyle/>
          <a:p>
            <a:pPr algn="l" rtl="0"/>
            <a:r>
              <a:rPr lang="en-US" sz="2000" b="0" kern="1200" noProof="0">
                <a:solidFill>
                  <a:srgbClr val="172859"/>
                </a:solidFill>
                <a:latin typeface="Trebuchet MS"/>
                <a:cs typeface="Arial"/>
              </a:rPr>
              <a:t>Final Yield is used to measure the performance of the process. </a:t>
            </a:r>
          </a:p>
          <a:p>
            <a:pPr algn="l" rtl="0"/>
            <a:endParaRPr lang="en-US" sz="2000" b="0" kern="1200" noProof="0">
              <a:solidFill>
                <a:srgbClr val="172859"/>
              </a:solidFill>
              <a:latin typeface="Trebuchet MS" panose="020B0603020202020204" pitchFamily="34" charset="0"/>
            </a:endParaRPr>
          </a:p>
          <a:p>
            <a:pPr algn="l" rtl="0"/>
            <a:r>
              <a:rPr lang="en-US" sz="2000" kern="1200" noProof="0">
                <a:solidFill>
                  <a:srgbClr val="172859"/>
                </a:solidFill>
                <a:latin typeface="Trebuchet MS" panose="020B0603020202020204" pitchFamily="34" charset="0"/>
              </a:rPr>
              <a:t>Definition: </a:t>
            </a:r>
            <a:r>
              <a:rPr lang="en-US" sz="2000" b="0" kern="1200" noProof="0">
                <a:solidFill>
                  <a:srgbClr val="172859"/>
                </a:solidFill>
                <a:latin typeface="Trebuchet MS" panose="020B0603020202020204" pitchFamily="34" charset="0"/>
              </a:rPr>
              <a:t>% of activities or outcomes completed correctly first time.</a:t>
            </a:r>
          </a:p>
          <a:p>
            <a:pPr algn="l" rtl="0"/>
            <a:endParaRPr lang="en-US" sz="2000" b="0" kern="1200" noProof="0">
              <a:solidFill>
                <a:srgbClr val="172859"/>
              </a:solidFill>
              <a:latin typeface="Trebuchet MS" panose="020B0603020202020204" pitchFamily="34" charset="0"/>
            </a:endParaRPr>
          </a:p>
          <a:p>
            <a:pPr algn="l" rtl="0"/>
            <a:r>
              <a:rPr lang="en-US" sz="2000" kern="1200" noProof="0">
                <a:solidFill>
                  <a:srgbClr val="172859"/>
                </a:solidFill>
                <a:latin typeface="Trebuchet MS" panose="020B0603020202020204" pitchFamily="34" charset="0"/>
              </a:rPr>
              <a:t>Formula:</a:t>
            </a:r>
            <a:endParaRPr lang="en-US" sz="2400" noProof="0">
              <a:solidFill>
                <a:schemeClr val="tx2"/>
              </a:solidFill>
              <a:latin typeface="Trebuchet MS" panose="020B0603020202020204" pitchFamily="34" charset="0"/>
            </a:endParaRPr>
          </a:p>
          <a:p>
            <a:endParaRPr lang="en-US" sz="2000" kern="1200" noProof="0">
              <a:solidFill>
                <a:srgbClr val="172859"/>
              </a:solidFill>
              <a:latin typeface="Trebuchet MS" panose="020B0603020202020204" pitchFamily="34" charset="0"/>
            </a:endParaRPr>
          </a:p>
        </p:txBody>
      </p:sp>
      <p:grpSp>
        <p:nvGrpSpPr>
          <p:cNvPr id="2" name="Group 1">
            <a:extLst>
              <a:ext uri="{FF2B5EF4-FFF2-40B4-BE49-F238E27FC236}">
                <a16:creationId xmlns:a16="http://schemas.microsoft.com/office/drawing/2014/main" id="{0DF56B75-F6AE-3446-3054-08885125683C}"/>
              </a:ext>
            </a:extLst>
          </p:cNvPr>
          <p:cNvGrpSpPr/>
          <p:nvPr/>
        </p:nvGrpSpPr>
        <p:grpSpPr>
          <a:xfrm>
            <a:off x="1485900" y="3675459"/>
            <a:ext cx="9220199" cy="1846658"/>
            <a:chOff x="5407152" y="2640426"/>
            <a:chExt cx="6470522" cy="876300"/>
          </a:xfrm>
        </p:grpSpPr>
        <p:sp>
          <p:nvSpPr>
            <p:cNvPr id="3" name="Rectangle: Rounded Corners 2">
              <a:extLst>
                <a:ext uri="{FF2B5EF4-FFF2-40B4-BE49-F238E27FC236}">
                  <a16:creationId xmlns:a16="http://schemas.microsoft.com/office/drawing/2014/main" id="{54D9A006-005E-9A57-10F4-65B4DBBDED51}"/>
                </a:ext>
              </a:extLst>
            </p:cNvPr>
            <p:cNvSpPr/>
            <p:nvPr/>
          </p:nvSpPr>
          <p:spPr>
            <a:xfrm>
              <a:off x="5407152" y="2640426"/>
              <a:ext cx="1790702" cy="876300"/>
            </a:xfrm>
            <a:prstGeom prst="roundRect">
              <a:avLst/>
            </a:prstGeom>
            <a:solidFill>
              <a:srgbClr val="FDBA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a:solidFill>
                    <a:schemeClr val="bg1"/>
                  </a:solidFill>
                  <a:latin typeface="Trebuchet MS" panose="020B0603020202020204" pitchFamily="34" charset="0"/>
                  <a:cs typeface="Arial" panose="020B0604020202020204" pitchFamily="34" charset="0"/>
                </a:rPr>
                <a:t>Number of activities completed correctly</a:t>
              </a:r>
            </a:p>
          </p:txBody>
        </p:sp>
        <p:sp>
          <p:nvSpPr>
            <p:cNvPr id="4" name="Division Sign 3">
              <a:extLst>
                <a:ext uri="{FF2B5EF4-FFF2-40B4-BE49-F238E27FC236}">
                  <a16:creationId xmlns:a16="http://schemas.microsoft.com/office/drawing/2014/main" id="{E8C17234-3B16-C3D9-C9FD-9835DDB2BB3D}"/>
                </a:ext>
              </a:extLst>
            </p:cNvPr>
            <p:cNvSpPr/>
            <p:nvPr/>
          </p:nvSpPr>
          <p:spPr>
            <a:xfrm>
              <a:off x="7280150" y="2754726"/>
              <a:ext cx="688848" cy="647700"/>
            </a:xfrm>
            <a:prstGeom prst="mathDivide">
              <a:avLst/>
            </a:prstGeom>
            <a:solidFill>
              <a:srgbClr val="2440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cs typeface="Arial" panose="020B0604020202020204" pitchFamily="34" charset="0"/>
              </a:endParaRPr>
            </a:p>
          </p:txBody>
        </p:sp>
        <p:sp>
          <p:nvSpPr>
            <p:cNvPr id="5" name="Rectangle: Rounded Corners 4">
              <a:extLst>
                <a:ext uri="{FF2B5EF4-FFF2-40B4-BE49-F238E27FC236}">
                  <a16:creationId xmlns:a16="http://schemas.microsoft.com/office/drawing/2014/main" id="{0E050CC8-75BF-7214-8A20-302426CCEF92}"/>
                </a:ext>
              </a:extLst>
            </p:cNvPr>
            <p:cNvSpPr/>
            <p:nvPr/>
          </p:nvSpPr>
          <p:spPr>
            <a:xfrm>
              <a:off x="8051294" y="2640426"/>
              <a:ext cx="1815082" cy="876300"/>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a:latin typeface="Trebuchet MS" panose="020B0603020202020204" pitchFamily="34" charset="0"/>
                  <a:cs typeface="Arial" panose="020B0604020202020204" pitchFamily="34" charset="0"/>
                </a:rPr>
                <a:t>Total number of activities </a:t>
              </a:r>
            </a:p>
          </p:txBody>
        </p:sp>
        <p:sp>
          <p:nvSpPr>
            <p:cNvPr id="6" name="Equals 5">
              <a:extLst>
                <a:ext uri="{FF2B5EF4-FFF2-40B4-BE49-F238E27FC236}">
                  <a16:creationId xmlns:a16="http://schemas.microsoft.com/office/drawing/2014/main" id="{71131064-9029-D7B9-8F08-84076BFEC93E}"/>
                </a:ext>
              </a:extLst>
            </p:cNvPr>
            <p:cNvSpPr/>
            <p:nvPr/>
          </p:nvSpPr>
          <p:spPr>
            <a:xfrm>
              <a:off x="9938575" y="2926176"/>
              <a:ext cx="533400" cy="304800"/>
            </a:xfrm>
            <a:prstGeom prst="mathEqual">
              <a:avLst/>
            </a:prstGeom>
            <a:solidFill>
              <a:srgbClr val="2440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latin typeface="Trebuchet MS" panose="020B0603020202020204" pitchFamily="34" charset="0"/>
                <a:cs typeface="Arial" panose="020B0604020202020204" pitchFamily="34" charset="0"/>
              </a:endParaRPr>
            </a:p>
          </p:txBody>
        </p:sp>
        <p:sp>
          <p:nvSpPr>
            <p:cNvPr id="7" name="Rectangle: Rounded Corners 6">
              <a:extLst>
                <a:ext uri="{FF2B5EF4-FFF2-40B4-BE49-F238E27FC236}">
                  <a16:creationId xmlns:a16="http://schemas.microsoft.com/office/drawing/2014/main" id="{512C60B2-A087-234A-08BB-ED29E860B5D8}"/>
                </a:ext>
              </a:extLst>
            </p:cNvPr>
            <p:cNvSpPr/>
            <p:nvPr/>
          </p:nvSpPr>
          <p:spPr>
            <a:xfrm>
              <a:off x="10582274" y="2640426"/>
              <a:ext cx="1295400" cy="876300"/>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noProof="0">
                  <a:latin typeface="Trebuchet MS"/>
                  <a:cs typeface="Arial"/>
                </a:rPr>
                <a:t>Final Yield</a:t>
              </a:r>
            </a:p>
          </p:txBody>
        </p:sp>
      </p:grpSp>
      <p:sp>
        <p:nvSpPr>
          <p:cNvPr id="10" name="TextBox 9">
            <a:extLst>
              <a:ext uri="{FF2B5EF4-FFF2-40B4-BE49-F238E27FC236}">
                <a16:creationId xmlns:a16="http://schemas.microsoft.com/office/drawing/2014/main" id="{D9428449-2F0B-779B-8DE1-D7F4E9D3FAC9}"/>
              </a:ext>
            </a:extLst>
          </p:cNvPr>
          <p:cNvSpPr txBox="1"/>
          <p:nvPr/>
        </p:nvSpPr>
        <p:spPr>
          <a:xfrm>
            <a:off x="536082" y="5978787"/>
            <a:ext cx="10589118" cy="646331"/>
          </a:xfrm>
          <a:prstGeom prst="rect">
            <a:avLst/>
          </a:prstGeom>
          <a:solidFill>
            <a:srgbClr val="24408D"/>
          </a:solidFill>
        </p:spPr>
        <p:txBody>
          <a:bodyPr wrap="square" lIns="91440" tIns="45720" rIns="91440" bIns="45720" anchor="t">
            <a:spAutoFit/>
          </a:bodyPr>
          <a:lstStyle/>
          <a:p>
            <a:pPr fontAlgn="t"/>
            <a:r>
              <a:rPr lang="en-US" b="1" i="0" noProof="0">
                <a:solidFill>
                  <a:schemeClr val="bg1"/>
                </a:solidFill>
                <a:effectLst/>
                <a:latin typeface="Trebuchet MS"/>
              </a:rPr>
              <a:t>Key Takeaway: </a:t>
            </a:r>
            <a:r>
              <a:rPr lang="en-US" b="0" i="0" noProof="0">
                <a:solidFill>
                  <a:schemeClr val="bg1"/>
                </a:solidFill>
                <a:effectLst/>
                <a:latin typeface="Trebuchet MS"/>
              </a:rPr>
              <a:t>If defects tell us what’s going wrong,</a:t>
            </a:r>
            <a:r>
              <a:rPr lang="en-US">
                <a:solidFill>
                  <a:schemeClr val="bg1"/>
                </a:solidFill>
                <a:latin typeface="Trebuchet MS"/>
              </a:rPr>
              <a:t>  final </a:t>
            </a:r>
            <a:r>
              <a:rPr lang="en-US" b="1">
                <a:solidFill>
                  <a:schemeClr val="bg1"/>
                </a:solidFill>
                <a:latin typeface="Trebuchet MS"/>
              </a:rPr>
              <a:t>yield</a:t>
            </a:r>
            <a:r>
              <a:rPr lang="en-US" b="1" i="0" noProof="0">
                <a:solidFill>
                  <a:schemeClr val="bg1"/>
                </a:solidFill>
                <a:effectLst/>
                <a:latin typeface="Trebuchet MS"/>
              </a:rPr>
              <a:t> tells us how often we’re getting it right first time.</a:t>
            </a:r>
            <a:endParaRPr lang="en-US" b="0" i="0" noProof="0">
              <a:solidFill>
                <a:schemeClr val="bg1"/>
              </a:solidFill>
              <a:effectLst/>
              <a:latin typeface="Trebuchet MS"/>
            </a:endParaRPr>
          </a:p>
        </p:txBody>
      </p:sp>
    </p:spTree>
    <p:extLst>
      <p:ext uri="{BB962C8B-B14F-4D97-AF65-F5344CB8AC3E}">
        <p14:creationId xmlns:p14="http://schemas.microsoft.com/office/powerpoint/2010/main" val="75695018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94E2583C-588A-5583-BE25-B217024FF698}"/>
              </a:ext>
            </a:extLst>
          </p:cNvPr>
          <p:cNvSpPr>
            <a:spLocks noGrp="1"/>
          </p:cNvSpPr>
          <p:nvPr>
            <p:ph type="body" sz="quarter" idx="10"/>
          </p:nvPr>
        </p:nvSpPr>
        <p:spPr>
          <a:xfrm>
            <a:off x="533400" y="381000"/>
            <a:ext cx="5562600" cy="430887"/>
          </a:xfrm>
        </p:spPr>
        <p:txBody>
          <a:bodyPr/>
          <a:lstStyle/>
          <a:p>
            <a:r>
              <a:rPr lang="en-US" sz="2800" noProof="0">
                <a:latin typeface="Trebuchet MS" panose="020B0603020202020204" pitchFamily="34" charset="0"/>
              </a:rPr>
              <a:t>Example</a:t>
            </a:r>
          </a:p>
        </p:txBody>
      </p:sp>
      <p:sp>
        <p:nvSpPr>
          <p:cNvPr id="7" name="TextBox 6">
            <a:extLst>
              <a:ext uri="{FF2B5EF4-FFF2-40B4-BE49-F238E27FC236}">
                <a16:creationId xmlns:a16="http://schemas.microsoft.com/office/drawing/2014/main" id="{04E84234-D56D-4357-6941-DCB7EB999140}"/>
              </a:ext>
            </a:extLst>
          </p:cNvPr>
          <p:cNvSpPr txBox="1"/>
          <p:nvPr/>
        </p:nvSpPr>
        <p:spPr>
          <a:xfrm>
            <a:off x="518160" y="1676400"/>
            <a:ext cx="7482840" cy="3416320"/>
          </a:xfrm>
          <a:prstGeom prst="rect">
            <a:avLst/>
          </a:prstGeom>
          <a:noFill/>
        </p:spPr>
        <p:txBody>
          <a:bodyPr wrap="square" lIns="91440" tIns="45720" rIns="91440" bIns="45720" anchor="t">
            <a:spAutoFit/>
          </a:bodyPr>
          <a:lstStyle/>
          <a:p>
            <a:r>
              <a:rPr lang="en-US" b="1" noProof="0">
                <a:solidFill>
                  <a:srgbClr val="002060"/>
                </a:solidFill>
                <a:latin typeface="Trebuchet MS" panose="020B0603020202020204" pitchFamily="34" charset="0"/>
              </a:rPr>
              <a:t>Example: </a:t>
            </a:r>
          </a:p>
          <a:p>
            <a:endParaRPr lang="en-US" noProof="0">
              <a:solidFill>
                <a:srgbClr val="002060"/>
              </a:solidFill>
              <a:latin typeface="Trebuchet MS" panose="020B0603020202020204" pitchFamily="34" charset="0"/>
            </a:endParaRPr>
          </a:p>
          <a:p>
            <a:r>
              <a:rPr lang="en-US" noProof="0">
                <a:solidFill>
                  <a:srgbClr val="002060"/>
                </a:solidFill>
                <a:latin typeface="Trebuchet MS" panose="020B0603020202020204" pitchFamily="34" charset="0"/>
              </a:rPr>
              <a:t>A bakery produces 100 cakes in a day. Out of these, 85 units are good (no defects the first time). The other 15 were missing some icing or the cherry on the top.</a:t>
            </a:r>
          </a:p>
          <a:p>
            <a:endParaRPr lang="en-US" noProof="0">
              <a:solidFill>
                <a:srgbClr val="002060"/>
              </a:solidFill>
              <a:latin typeface="Trebuchet MS" panose="020B0603020202020204" pitchFamily="34" charset="0"/>
            </a:endParaRPr>
          </a:p>
          <a:p>
            <a:r>
              <a:rPr lang="en-US" noProof="0">
                <a:solidFill>
                  <a:srgbClr val="002060"/>
                </a:solidFill>
                <a:latin typeface="Trebuchet MS" panose="020B0603020202020204" pitchFamily="34" charset="0"/>
              </a:rPr>
              <a:t>Let’s apply a formula to work out how well the process is working to create cakes right first time. </a:t>
            </a:r>
          </a:p>
          <a:p>
            <a:endParaRPr lang="en-US"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noProof="0">
                <a:solidFill>
                  <a:srgbClr val="002060"/>
                </a:solidFill>
                <a:latin typeface="Trebuchet MS"/>
              </a:rPr>
              <a:t>Step 1 – Apply the formula: Final Yield = Good Cakes / Total cakes</a:t>
            </a:r>
          </a:p>
          <a:p>
            <a:pPr marL="285750" indent="-285750">
              <a:buFont typeface="Arial" panose="020B0604020202020204" pitchFamily="34" charset="0"/>
              <a:buChar char="•"/>
            </a:pPr>
            <a:r>
              <a:rPr lang="en-US" noProof="0">
                <a:solidFill>
                  <a:srgbClr val="002060"/>
                </a:solidFill>
                <a:latin typeface="Trebuchet MS" panose="020B0603020202020204" pitchFamily="34" charset="0"/>
              </a:rPr>
              <a:t>Step 2 – Calculate: Yield = 85 / 100 = 0.85</a:t>
            </a:r>
          </a:p>
          <a:p>
            <a:pPr marL="285750" indent="-285750">
              <a:buFont typeface="Arial" panose="020B0604020202020204" pitchFamily="34" charset="0"/>
              <a:buChar char="•"/>
            </a:pPr>
            <a:r>
              <a:rPr lang="en-US" noProof="0">
                <a:solidFill>
                  <a:srgbClr val="002060"/>
                </a:solidFill>
                <a:latin typeface="Trebuchet MS"/>
              </a:rPr>
              <a:t>Step 3 – Convert to percentage: Final Yield = 85%</a:t>
            </a:r>
          </a:p>
        </p:txBody>
      </p:sp>
      <p:sp>
        <p:nvSpPr>
          <p:cNvPr id="10" name="TextBox 9">
            <a:extLst>
              <a:ext uri="{FF2B5EF4-FFF2-40B4-BE49-F238E27FC236}">
                <a16:creationId xmlns:a16="http://schemas.microsoft.com/office/drawing/2014/main" id="{F689E9DF-5660-BAF2-B549-715341D3AA64}"/>
              </a:ext>
            </a:extLst>
          </p:cNvPr>
          <p:cNvSpPr txBox="1"/>
          <p:nvPr/>
        </p:nvSpPr>
        <p:spPr>
          <a:xfrm>
            <a:off x="533400" y="5486400"/>
            <a:ext cx="10668000" cy="646331"/>
          </a:xfrm>
          <a:prstGeom prst="rect">
            <a:avLst/>
          </a:prstGeom>
          <a:solidFill>
            <a:srgbClr val="24408D"/>
          </a:solidFill>
        </p:spPr>
        <p:txBody>
          <a:bodyPr wrap="square" lIns="91440" tIns="45720" rIns="91440" bIns="45720" anchor="t">
            <a:spAutoFit/>
          </a:bodyPr>
          <a:lstStyle/>
          <a:p>
            <a:pPr fontAlgn="t"/>
            <a:r>
              <a:rPr lang="en-US" b="1" noProof="0">
                <a:solidFill>
                  <a:schemeClr val="bg1"/>
                </a:solidFill>
                <a:latin typeface="Trebuchet MS"/>
              </a:rPr>
              <a:t>Final Answer: </a:t>
            </a:r>
            <a:r>
              <a:rPr lang="en-US" noProof="0">
                <a:solidFill>
                  <a:schemeClr val="bg1"/>
                </a:solidFill>
                <a:latin typeface="Trebuchet MS"/>
              </a:rPr>
              <a:t>The Final Yield is 85%, meaning 85% of were produced correctly the first time without rework.</a:t>
            </a:r>
          </a:p>
        </p:txBody>
      </p:sp>
      <p:pic>
        <p:nvPicPr>
          <p:cNvPr id="12" name="Picture 11">
            <a:extLst>
              <a:ext uri="{FF2B5EF4-FFF2-40B4-BE49-F238E27FC236}">
                <a16:creationId xmlns:a16="http://schemas.microsoft.com/office/drawing/2014/main" id="{6F36C4D1-946C-D45D-4FA1-FF2356389DBE}"/>
              </a:ext>
            </a:extLst>
          </p:cNvPr>
          <p:cNvPicPr>
            <a:picLocks noChangeAspect="1"/>
          </p:cNvPicPr>
          <p:nvPr/>
        </p:nvPicPr>
        <p:blipFill>
          <a:blip r:embed="rId3"/>
          <a:stretch>
            <a:fillRect/>
          </a:stretch>
        </p:blipFill>
        <p:spPr>
          <a:xfrm>
            <a:off x="8404541" y="1747642"/>
            <a:ext cx="3279932" cy="3273836"/>
          </a:xfrm>
          <a:prstGeom prst="rect">
            <a:avLst/>
          </a:prstGeom>
        </p:spPr>
      </p:pic>
    </p:spTree>
    <p:extLst>
      <p:ext uri="{BB962C8B-B14F-4D97-AF65-F5344CB8AC3E}">
        <p14:creationId xmlns:p14="http://schemas.microsoft.com/office/powerpoint/2010/main" val="407740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4DCD1AEE-B26D-3BFE-F222-5D84B8C9DFEF}"/>
              </a:ext>
            </a:extLst>
          </p:cNvPr>
          <p:cNvSpPr>
            <a:spLocks noGrp="1"/>
          </p:cNvSpPr>
          <p:nvPr>
            <p:ph type="body" sz="quarter" idx="10"/>
          </p:nvPr>
        </p:nvSpPr>
        <p:spPr>
          <a:xfrm>
            <a:off x="477516" y="411180"/>
            <a:ext cx="9753600" cy="492443"/>
          </a:xfrm>
        </p:spPr>
        <p:txBody>
          <a:bodyPr wrap="square" lIns="0" tIns="0" rIns="0" bIns="0" anchor="t">
            <a:spAutoFit/>
          </a:bodyPr>
          <a:lstStyle/>
          <a:p>
            <a:r>
              <a:rPr lang="en-US" sz="3200">
                <a:latin typeface="Trebuchet MS"/>
                <a:cs typeface="Arial"/>
              </a:rPr>
              <a:t>Final</a:t>
            </a:r>
            <a:r>
              <a:rPr lang="en-US" sz="3200" noProof="0">
                <a:latin typeface="Trebuchet MS"/>
                <a:cs typeface="Arial"/>
              </a:rPr>
              <a:t> Yield Limitations</a:t>
            </a:r>
          </a:p>
        </p:txBody>
      </p:sp>
      <p:sp>
        <p:nvSpPr>
          <p:cNvPr id="8" name="TextBox 7">
            <a:extLst>
              <a:ext uri="{FF2B5EF4-FFF2-40B4-BE49-F238E27FC236}">
                <a16:creationId xmlns:a16="http://schemas.microsoft.com/office/drawing/2014/main" id="{185B9B3F-082C-200E-B073-D9C0ED252576}"/>
              </a:ext>
            </a:extLst>
          </p:cNvPr>
          <p:cNvSpPr txBox="1"/>
          <p:nvPr/>
        </p:nvSpPr>
        <p:spPr>
          <a:xfrm>
            <a:off x="426721" y="1473029"/>
            <a:ext cx="7158145" cy="3970318"/>
          </a:xfrm>
          <a:prstGeom prst="rect">
            <a:avLst/>
          </a:prstGeom>
          <a:noFill/>
        </p:spPr>
        <p:txBody>
          <a:bodyPr wrap="square" lIns="91440" tIns="45720" rIns="91440" bIns="45720" anchor="t">
            <a:spAutoFit/>
          </a:bodyPr>
          <a:lstStyle/>
          <a:p>
            <a:pPr fontAlgn="t"/>
            <a:r>
              <a:rPr lang="en-US">
                <a:solidFill>
                  <a:srgbClr val="002060"/>
                </a:solidFill>
                <a:latin typeface="Trebuchet MS"/>
              </a:rPr>
              <a:t>Final yield</a:t>
            </a:r>
            <a:r>
              <a:rPr lang="en-US" b="0" i="0" noProof="0">
                <a:solidFill>
                  <a:srgbClr val="002060"/>
                </a:solidFill>
                <a:effectLst/>
                <a:latin typeface="Trebuchet MS"/>
              </a:rPr>
              <a:t> tells us whether a unit is defective, but it does not show how many defects it contains. While we know some cakes did not meet the required standard, </a:t>
            </a:r>
            <a:r>
              <a:rPr lang="en-US">
                <a:solidFill>
                  <a:srgbClr val="002060"/>
                </a:solidFill>
                <a:latin typeface="Trebuchet MS"/>
              </a:rPr>
              <a:t>final yield</a:t>
            </a:r>
            <a:r>
              <a:rPr lang="en-US" b="0" i="0" noProof="0">
                <a:solidFill>
                  <a:srgbClr val="002060"/>
                </a:solidFill>
                <a:effectLst/>
                <a:latin typeface="Trebuchet MS"/>
              </a:rPr>
              <a:t> alone cannot tell us the total number of defects.</a:t>
            </a:r>
          </a:p>
          <a:p>
            <a:pPr fontAlgn="t">
              <a:buNone/>
            </a:pPr>
            <a:endParaRPr lang="en-US" noProof="0">
              <a:solidFill>
                <a:srgbClr val="002060"/>
              </a:solidFill>
              <a:latin typeface="Trebuchet MS" panose="020B0603020202020204" pitchFamily="34" charset="0"/>
            </a:endParaRPr>
          </a:p>
          <a:p>
            <a:pPr fontAlgn="t">
              <a:buNone/>
            </a:pPr>
            <a:r>
              <a:rPr lang="en-US" b="1" i="0" noProof="0">
                <a:solidFill>
                  <a:srgbClr val="00AF74"/>
                </a:solidFill>
                <a:effectLst/>
                <a:latin typeface="Trebuchet MS" panose="020B0603020202020204" pitchFamily="34" charset="0"/>
              </a:rPr>
              <a:t>Example:</a:t>
            </a:r>
          </a:p>
          <a:p>
            <a:pPr fontAlgn="t">
              <a:buNone/>
            </a:pPr>
            <a:endParaRPr lang="en-US" noProof="0">
              <a:solidFill>
                <a:srgbClr val="00AF74"/>
              </a:solidFill>
              <a:latin typeface="Trebuchet MS" panose="020B0603020202020204" pitchFamily="34" charset="0"/>
            </a:endParaRPr>
          </a:p>
          <a:p>
            <a:pPr marL="285750" indent="-285750" fontAlgn="t">
              <a:buFont typeface="Arial" panose="020B0604020202020204" pitchFamily="34" charset="0"/>
              <a:buChar char="•"/>
            </a:pPr>
            <a:r>
              <a:rPr lang="en-US" noProof="0">
                <a:solidFill>
                  <a:srgbClr val="00AF74"/>
                </a:solidFill>
                <a:latin typeface="Trebuchet MS" panose="020B0603020202020204" pitchFamily="34" charset="0"/>
              </a:rPr>
              <a:t>Cake </a:t>
            </a:r>
            <a:r>
              <a:rPr lang="en-US" b="0" i="0" noProof="0">
                <a:solidFill>
                  <a:srgbClr val="00AF74"/>
                </a:solidFill>
                <a:effectLst/>
                <a:latin typeface="Trebuchet MS" panose="020B0603020202020204" pitchFamily="34" charset="0"/>
              </a:rPr>
              <a:t>A → 1 defect (no icing)</a:t>
            </a:r>
          </a:p>
          <a:p>
            <a:pPr marL="285750" indent="-285750" fontAlgn="t">
              <a:buFont typeface="Arial" panose="020B0604020202020204" pitchFamily="34" charset="0"/>
              <a:buChar char="•"/>
            </a:pPr>
            <a:r>
              <a:rPr lang="en-US" noProof="0">
                <a:solidFill>
                  <a:srgbClr val="00AF74"/>
                </a:solidFill>
                <a:latin typeface="Trebuchet MS" panose="020B0603020202020204" pitchFamily="34" charset="0"/>
              </a:rPr>
              <a:t>Cake B</a:t>
            </a:r>
            <a:r>
              <a:rPr lang="en-US" b="0" i="0" noProof="0">
                <a:solidFill>
                  <a:srgbClr val="00AF74"/>
                </a:solidFill>
                <a:effectLst/>
                <a:latin typeface="Trebuchet MS" panose="020B0603020202020204" pitchFamily="34" charset="0"/>
              </a:rPr>
              <a:t> → 4 defects (Too small, no icing, no sprinkles, no cherry)</a:t>
            </a:r>
          </a:p>
          <a:p>
            <a:pPr fontAlgn="t">
              <a:buNone/>
            </a:pPr>
            <a:endParaRPr lang="en-US" noProof="0">
              <a:solidFill>
                <a:srgbClr val="002060"/>
              </a:solidFill>
              <a:latin typeface="Trebuchet MS" panose="020B0603020202020204" pitchFamily="34" charset="0"/>
            </a:endParaRPr>
          </a:p>
          <a:p>
            <a:pPr fontAlgn="t"/>
            <a:r>
              <a:rPr lang="en-US" noProof="0">
                <a:solidFill>
                  <a:srgbClr val="002060"/>
                </a:solidFill>
                <a:latin typeface="Trebuchet MS"/>
              </a:rPr>
              <a:t>In terms of </a:t>
            </a:r>
            <a:r>
              <a:rPr lang="en-US">
                <a:solidFill>
                  <a:srgbClr val="002060"/>
                </a:solidFill>
                <a:latin typeface="Trebuchet MS"/>
              </a:rPr>
              <a:t>final yield</a:t>
            </a:r>
            <a:r>
              <a:rPr lang="en-US" noProof="0">
                <a:solidFill>
                  <a:srgbClr val="002060"/>
                </a:solidFill>
                <a:latin typeface="Trebuchet MS"/>
              </a:rPr>
              <a:t>, both cakes are counted the same because both are defective. However, Cake B has more defects and is therefore a poorer-quality product. This is why </a:t>
            </a:r>
            <a:r>
              <a:rPr lang="en-US" b="1" noProof="0">
                <a:solidFill>
                  <a:srgbClr val="002060"/>
                </a:solidFill>
                <a:latin typeface="Trebuchet MS"/>
              </a:rPr>
              <a:t>Defects Per Unit</a:t>
            </a:r>
            <a:r>
              <a:rPr lang="en-US" noProof="0">
                <a:solidFill>
                  <a:srgbClr val="002060"/>
                </a:solidFill>
                <a:latin typeface="Trebuchet MS"/>
              </a:rPr>
              <a:t> (DPU) is an important measure.</a:t>
            </a:r>
            <a:endParaRPr lang="en-US" b="0" i="0" noProof="0">
              <a:solidFill>
                <a:srgbClr val="002060"/>
              </a:solidFill>
              <a:effectLst/>
              <a:latin typeface="Trebuchet MS"/>
            </a:endParaRPr>
          </a:p>
        </p:txBody>
      </p:sp>
      <p:pic>
        <p:nvPicPr>
          <p:cNvPr id="10" name="Graphic 9" descr="Cupcake with solid fill">
            <a:extLst>
              <a:ext uri="{FF2B5EF4-FFF2-40B4-BE49-F238E27FC236}">
                <a16:creationId xmlns:a16="http://schemas.microsoft.com/office/drawing/2014/main" id="{55593FA9-E894-9BBB-9165-10AEC3978D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93357" y="3581400"/>
            <a:ext cx="1371600" cy="1371600"/>
          </a:xfrm>
          <a:prstGeom prst="rect">
            <a:avLst/>
          </a:prstGeom>
        </p:spPr>
      </p:pic>
      <p:pic>
        <p:nvPicPr>
          <p:cNvPr id="14" name="Graphic 13" descr="Cupcake with solid fill">
            <a:extLst>
              <a:ext uri="{FF2B5EF4-FFF2-40B4-BE49-F238E27FC236}">
                <a16:creationId xmlns:a16="http://schemas.microsoft.com/office/drawing/2014/main" id="{E6FF5EE4-F7E6-DEA5-8AE5-5FB5902E74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46567" y="1676400"/>
            <a:ext cx="2590800" cy="2590800"/>
          </a:xfrm>
          <a:prstGeom prst="rect">
            <a:avLst/>
          </a:prstGeom>
        </p:spPr>
      </p:pic>
      <p:sp>
        <p:nvSpPr>
          <p:cNvPr id="15" name="Flowchart: Connector 14">
            <a:extLst>
              <a:ext uri="{FF2B5EF4-FFF2-40B4-BE49-F238E27FC236}">
                <a16:creationId xmlns:a16="http://schemas.microsoft.com/office/drawing/2014/main" id="{94AAAE96-8342-A695-490F-5447C0CFAA5C}"/>
              </a:ext>
            </a:extLst>
          </p:cNvPr>
          <p:cNvSpPr/>
          <p:nvPr/>
        </p:nvSpPr>
        <p:spPr>
          <a:xfrm>
            <a:off x="8651467" y="1756789"/>
            <a:ext cx="381000" cy="381000"/>
          </a:xfrm>
          <a:prstGeom prst="flowChartConnector">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rgbClr val="002060"/>
              </a:solidFill>
              <a:latin typeface="Trebuchet MS" panose="020B0603020202020204" pitchFamily="34" charset="0"/>
            </a:endParaRPr>
          </a:p>
        </p:txBody>
      </p:sp>
      <p:pic>
        <p:nvPicPr>
          <p:cNvPr id="17" name="Picture 16">
            <a:extLst>
              <a:ext uri="{FF2B5EF4-FFF2-40B4-BE49-F238E27FC236}">
                <a16:creationId xmlns:a16="http://schemas.microsoft.com/office/drawing/2014/main" id="{39E1684D-E083-8A3B-7999-75B706CCF41E}"/>
              </a:ext>
            </a:extLst>
          </p:cNvPr>
          <p:cNvPicPr>
            <a:picLocks noChangeAspect="1"/>
          </p:cNvPicPr>
          <p:nvPr/>
        </p:nvPicPr>
        <p:blipFill>
          <a:blip r:embed="rId4"/>
          <a:stretch>
            <a:fillRect/>
          </a:stretch>
        </p:blipFill>
        <p:spPr>
          <a:xfrm>
            <a:off x="10231116" y="3821041"/>
            <a:ext cx="347432" cy="446159"/>
          </a:xfrm>
          <a:prstGeom prst="rect">
            <a:avLst/>
          </a:prstGeom>
        </p:spPr>
      </p:pic>
      <p:pic>
        <p:nvPicPr>
          <p:cNvPr id="18" name="Picture 17">
            <a:extLst>
              <a:ext uri="{FF2B5EF4-FFF2-40B4-BE49-F238E27FC236}">
                <a16:creationId xmlns:a16="http://schemas.microsoft.com/office/drawing/2014/main" id="{4443AC8C-EC4C-1999-12CD-9E364F1AADE4}"/>
              </a:ext>
            </a:extLst>
          </p:cNvPr>
          <p:cNvPicPr>
            <a:picLocks noChangeAspect="1"/>
          </p:cNvPicPr>
          <p:nvPr/>
        </p:nvPicPr>
        <p:blipFill>
          <a:blip r:embed="rId4"/>
          <a:stretch>
            <a:fillRect/>
          </a:stretch>
        </p:blipFill>
        <p:spPr>
          <a:xfrm>
            <a:off x="10555357" y="3964779"/>
            <a:ext cx="228600" cy="293560"/>
          </a:xfrm>
          <a:prstGeom prst="rect">
            <a:avLst/>
          </a:prstGeom>
        </p:spPr>
      </p:pic>
      <p:pic>
        <p:nvPicPr>
          <p:cNvPr id="19" name="Picture 18">
            <a:extLst>
              <a:ext uri="{FF2B5EF4-FFF2-40B4-BE49-F238E27FC236}">
                <a16:creationId xmlns:a16="http://schemas.microsoft.com/office/drawing/2014/main" id="{E8BAF091-F582-12BE-5915-C2CFF706A553}"/>
              </a:ext>
            </a:extLst>
          </p:cNvPr>
          <p:cNvPicPr>
            <a:picLocks noChangeAspect="1"/>
          </p:cNvPicPr>
          <p:nvPr/>
        </p:nvPicPr>
        <p:blipFill>
          <a:blip r:embed="rId4"/>
          <a:stretch>
            <a:fillRect/>
          </a:stretch>
        </p:blipFill>
        <p:spPr>
          <a:xfrm>
            <a:off x="10131727" y="3883643"/>
            <a:ext cx="236132" cy="303232"/>
          </a:xfrm>
          <a:prstGeom prst="rect">
            <a:avLst/>
          </a:prstGeom>
        </p:spPr>
      </p:pic>
      <p:sp>
        <p:nvSpPr>
          <p:cNvPr id="23" name="TextBox 22">
            <a:extLst>
              <a:ext uri="{FF2B5EF4-FFF2-40B4-BE49-F238E27FC236}">
                <a16:creationId xmlns:a16="http://schemas.microsoft.com/office/drawing/2014/main" id="{E828425C-5BAE-C407-D657-6C77DB98B1CE}"/>
              </a:ext>
            </a:extLst>
          </p:cNvPr>
          <p:cNvSpPr txBox="1"/>
          <p:nvPr/>
        </p:nvSpPr>
        <p:spPr>
          <a:xfrm>
            <a:off x="426721" y="6091811"/>
            <a:ext cx="11384279" cy="646331"/>
          </a:xfrm>
          <a:prstGeom prst="rect">
            <a:avLst/>
          </a:prstGeom>
          <a:solidFill>
            <a:srgbClr val="24408D"/>
          </a:solidFill>
        </p:spPr>
        <p:txBody>
          <a:bodyPr wrap="square" lIns="91440" tIns="45720" rIns="91440" bIns="45720" anchor="t">
            <a:spAutoFit/>
          </a:bodyPr>
          <a:lstStyle/>
          <a:p>
            <a:r>
              <a:rPr lang="en-US" b="1" noProof="0">
                <a:solidFill>
                  <a:schemeClr val="bg1"/>
                </a:solidFill>
                <a:latin typeface="Trebuchet MS"/>
              </a:rPr>
              <a:t>Key Takeaway</a:t>
            </a:r>
            <a:r>
              <a:rPr lang="en-US" noProof="0">
                <a:solidFill>
                  <a:schemeClr val="bg1"/>
                </a:solidFill>
                <a:latin typeface="Trebuchet MS"/>
              </a:rPr>
              <a:t>: </a:t>
            </a:r>
            <a:r>
              <a:rPr lang="en-US">
                <a:solidFill>
                  <a:schemeClr val="bg1"/>
                </a:solidFill>
                <a:latin typeface="Trebuchet MS"/>
              </a:rPr>
              <a:t>Final yield</a:t>
            </a:r>
            <a:r>
              <a:rPr lang="en-US" noProof="0">
                <a:solidFill>
                  <a:schemeClr val="bg1"/>
                </a:solidFill>
                <a:latin typeface="Trebuchet MS"/>
              </a:rPr>
              <a:t> is useful for a quick view, but to really understand and improve performance, we need to go deeper.</a:t>
            </a:r>
          </a:p>
        </p:txBody>
      </p:sp>
      <p:sp>
        <p:nvSpPr>
          <p:cNvPr id="2" name="TextBox 1">
            <a:extLst>
              <a:ext uri="{FF2B5EF4-FFF2-40B4-BE49-F238E27FC236}">
                <a16:creationId xmlns:a16="http://schemas.microsoft.com/office/drawing/2014/main" id="{76A0F16A-9080-3E5F-15E6-F83B2DE8B079}"/>
              </a:ext>
            </a:extLst>
          </p:cNvPr>
          <p:cNvSpPr txBox="1"/>
          <p:nvPr/>
        </p:nvSpPr>
        <p:spPr>
          <a:xfrm>
            <a:off x="9156591" y="1756789"/>
            <a:ext cx="1434548" cy="381000"/>
          </a:xfrm>
          <a:prstGeom prst="rect">
            <a:avLst/>
          </a:prstGeom>
          <a:noFill/>
        </p:spPr>
        <p:txBody>
          <a:bodyPr wrap="square" rtlCol="0">
            <a:spAutoFit/>
          </a:bodyPr>
          <a:lstStyle/>
          <a:p>
            <a:r>
              <a:rPr lang="en-US" noProof="0">
                <a:solidFill>
                  <a:srgbClr val="00AF74"/>
                </a:solidFill>
                <a:latin typeface="Trebuchet MS" panose="020B0603020202020204" pitchFamily="34" charset="0"/>
              </a:rPr>
              <a:t>Cake A</a:t>
            </a:r>
          </a:p>
        </p:txBody>
      </p:sp>
      <p:sp>
        <p:nvSpPr>
          <p:cNvPr id="3" name="TextBox 2">
            <a:extLst>
              <a:ext uri="{FF2B5EF4-FFF2-40B4-BE49-F238E27FC236}">
                <a16:creationId xmlns:a16="http://schemas.microsoft.com/office/drawing/2014/main" id="{C8AF5AE2-17FF-70F0-2646-08BE7AF44C59}"/>
              </a:ext>
            </a:extLst>
          </p:cNvPr>
          <p:cNvSpPr txBox="1"/>
          <p:nvPr/>
        </p:nvSpPr>
        <p:spPr>
          <a:xfrm>
            <a:off x="10949609" y="3581400"/>
            <a:ext cx="1434548" cy="381000"/>
          </a:xfrm>
          <a:prstGeom prst="rect">
            <a:avLst/>
          </a:prstGeom>
          <a:noFill/>
        </p:spPr>
        <p:txBody>
          <a:bodyPr wrap="square" rtlCol="0">
            <a:spAutoFit/>
          </a:bodyPr>
          <a:lstStyle/>
          <a:p>
            <a:r>
              <a:rPr lang="en-US" noProof="0">
                <a:solidFill>
                  <a:srgbClr val="00AF74"/>
                </a:solidFill>
                <a:latin typeface="Trebuchet MS" panose="020B0603020202020204" pitchFamily="34" charset="0"/>
              </a:rPr>
              <a:t>Cake B</a:t>
            </a:r>
          </a:p>
        </p:txBody>
      </p:sp>
    </p:spTree>
    <p:extLst>
      <p:ext uri="{BB962C8B-B14F-4D97-AF65-F5344CB8AC3E}">
        <p14:creationId xmlns:p14="http://schemas.microsoft.com/office/powerpoint/2010/main" val="2649067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AD142-59F3-FC74-415E-2B53C36D197F}"/>
            </a:ext>
          </a:extLst>
        </p:cNvPr>
        <p:cNvGrpSpPr/>
        <p:nvPr/>
      </p:nvGrpSpPr>
      <p:grpSpPr>
        <a:xfrm>
          <a:off x="0" y="0"/>
          <a:ext cx="1" cy="1"/>
          <a:chOff x="0" y="0"/>
          <a:chExt cx="1" cy="1"/>
        </a:xfrm>
      </p:grpSpPr>
      <p:cxnSp>
        <p:nvCxnSpPr>
          <p:cNvPr id="22" name="Straight Arrow Connector 21">
            <a:extLst>
              <a:ext uri="{FF2B5EF4-FFF2-40B4-BE49-F238E27FC236}">
                <a16:creationId xmlns:a16="http://schemas.microsoft.com/office/drawing/2014/main" id="{362FBDA3-CC35-7A70-A903-8031B4342E65}"/>
              </a:ext>
            </a:extLst>
          </p:cNvPr>
          <p:cNvCxnSpPr>
            <a:cxnSpLocks/>
            <a:stCxn id="8" idx="2"/>
            <a:endCxn id="23" idx="0"/>
          </p:cNvCxnSpPr>
          <p:nvPr/>
        </p:nvCxnSpPr>
        <p:spPr>
          <a:xfrm>
            <a:off x="6986418" y="3304562"/>
            <a:ext cx="1" cy="2154245"/>
          </a:xfrm>
          <a:prstGeom prst="straightConnector1">
            <a:avLst/>
          </a:prstGeom>
          <a:ln w="381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 name="Text Placeholder 4">
            <a:extLst>
              <a:ext uri="{FF2B5EF4-FFF2-40B4-BE49-F238E27FC236}">
                <a16:creationId xmlns:a16="http://schemas.microsoft.com/office/drawing/2014/main" id="{128CF02E-89D8-087F-5257-551FD59F4333}"/>
              </a:ext>
            </a:extLst>
          </p:cNvPr>
          <p:cNvSpPr>
            <a:spLocks noGrp="1"/>
          </p:cNvSpPr>
          <p:nvPr>
            <p:ph type="body" sz="quarter" idx="10"/>
          </p:nvPr>
        </p:nvSpPr>
        <p:spPr>
          <a:xfrm>
            <a:off x="533400" y="219670"/>
            <a:ext cx="8229600" cy="615553"/>
          </a:xfrm>
        </p:spPr>
        <p:txBody>
          <a:bodyPr wrap="square" lIns="0" tIns="0" rIns="0" bIns="0" anchor="t">
            <a:spAutoFit/>
          </a:bodyPr>
          <a:lstStyle/>
          <a:p>
            <a:r>
              <a:rPr lang="en-US" sz="4000">
                <a:latin typeface="Trebuchet MS"/>
                <a:cs typeface="Arial"/>
              </a:rPr>
              <a:t>Final Yield</a:t>
            </a:r>
            <a:r>
              <a:rPr lang="en-US" sz="4000" noProof="0">
                <a:latin typeface="Trebuchet MS"/>
                <a:cs typeface="Arial"/>
              </a:rPr>
              <a:t> to DPU Flow Example</a:t>
            </a:r>
          </a:p>
        </p:txBody>
      </p:sp>
      <p:sp>
        <p:nvSpPr>
          <p:cNvPr id="6" name="Rectangle: Rounded Corners 5">
            <a:extLst>
              <a:ext uri="{FF2B5EF4-FFF2-40B4-BE49-F238E27FC236}">
                <a16:creationId xmlns:a16="http://schemas.microsoft.com/office/drawing/2014/main" id="{53152292-6154-C02A-2031-4FBDAA757C30}"/>
              </a:ext>
            </a:extLst>
          </p:cNvPr>
          <p:cNvSpPr/>
          <p:nvPr/>
        </p:nvSpPr>
        <p:spPr>
          <a:xfrm>
            <a:off x="5995818" y="1603456"/>
            <a:ext cx="1981200" cy="567036"/>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a:latin typeface="Trebuchet MS" panose="020B0603020202020204" pitchFamily="34" charset="0"/>
              </a:rPr>
              <a:t>Units completed</a:t>
            </a:r>
          </a:p>
        </p:txBody>
      </p:sp>
      <p:sp>
        <p:nvSpPr>
          <p:cNvPr id="8" name="Flowchart: Decision 7">
            <a:extLst>
              <a:ext uri="{FF2B5EF4-FFF2-40B4-BE49-F238E27FC236}">
                <a16:creationId xmlns:a16="http://schemas.microsoft.com/office/drawing/2014/main" id="{581DA28F-04B8-0DC2-6D10-C4A7399E898E}"/>
              </a:ext>
            </a:extLst>
          </p:cNvPr>
          <p:cNvSpPr/>
          <p:nvPr/>
        </p:nvSpPr>
        <p:spPr>
          <a:xfrm>
            <a:off x="5843418" y="2466362"/>
            <a:ext cx="2286000" cy="838200"/>
          </a:xfrm>
          <a:prstGeom prst="flowChartDecision">
            <a:avLst/>
          </a:prstGeom>
          <a:solidFill>
            <a:srgbClr val="244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a:latin typeface="Trebuchet MS" panose="020B0603020202020204" pitchFamily="34" charset="0"/>
              </a:rPr>
              <a:t>Defect Free</a:t>
            </a:r>
          </a:p>
        </p:txBody>
      </p:sp>
      <p:cxnSp>
        <p:nvCxnSpPr>
          <p:cNvPr id="10" name="Straight Connector 9">
            <a:extLst>
              <a:ext uri="{FF2B5EF4-FFF2-40B4-BE49-F238E27FC236}">
                <a16:creationId xmlns:a16="http://schemas.microsoft.com/office/drawing/2014/main" id="{2C880CA1-804B-FF9A-FCC1-9AF2C4093C85}"/>
              </a:ext>
            </a:extLst>
          </p:cNvPr>
          <p:cNvCxnSpPr>
            <a:cxnSpLocks/>
            <a:stCxn id="6" idx="2"/>
            <a:endCxn id="8" idx="0"/>
          </p:cNvCxnSpPr>
          <p:nvPr/>
        </p:nvCxnSpPr>
        <p:spPr>
          <a:xfrm>
            <a:off x="6986418" y="2170492"/>
            <a:ext cx="1" cy="295870"/>
          </a:xfrm>
          <a:prstGeom prst="line">
            <a:avLst/>
          </a:prstGeom>
          <a:ln w="38100">
            <a:solidFill>
              <a:srgbClr val="24408D"/>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7CD88C9-F3B9-7C04-0049-5DBF505533C4}"/>
              </a:ext>
            </a:extLst>
          </p:cNvPr>
          <p:cNvCxnSpPr>
            <a:cxnSpLocks/>
            <a:stCxn id="8" idx="3"/>
            <a:endCxn id="13" idx="2"/>
          </p:cNvCxnSpPr>
          <p:nvPr/>
        </p:nvCxnSpPr>
        <p:spPr>
          <a:xfrm>
            <a:off x="8129418" y="2885462"/>
            <a:ext cx="2437261" cy="1"/>
          </a:xfrm>
          <a:prstGeom prst="straightConnector1">
            <a:avLst/>
          </a:prstGeom>
          <a:ln w="38100">
            <a:solidFill>
              <a:srgbClr val="00AF74"/>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3" name="Flowchart: Connector 12">
            <a:extLst>
              <a:ext uri="{FF2B5EF4-FFF2-40B4-BE49-F238E27FC236}">
                <a16:creationId xmlns:a16="http://schemas.microsoft.com/office/drawing/2014/main" id="{66CAC1A1-6D71-51D4-6899-842371D47AF0}"/>
              </a:ext>
            </a:extLst>
          </p:cNvPr>
          <p:cNvSpPr/>
          <p:nvPr/>
        </p:nvSpPr>
        <p:spPr>
          <a:xfrm>
            <a:off x="10566679" y="2294915"/>
            <a:ext cx="1219200" cy="1181093"/>
          </a:xfrm>
          <a:prstGeom prst="flowChartConnector">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latin typeface="Trebuchet MS"/>
              </a:rPr>
              <a:t>Final </a:t>
            </a:r>
            <a:endParaRPr lang="en-US" sz="2000" b="1">
              <a:latin typeface="Trebuchet MS" panose="020B0603020202020204" pitchFamily="34" charset="0"/>
            </a:endParaRPr>
          </a:p>
          <a:p>
            <a:pPr algn="ctr"/>
            <a:r>
              <a:rPr lang="en-US" sz="2000" b="1">
                <a:latin typeface="Trebuchet MS"/>
              </a:rPr>
              <a:t>Yield</a:t>
            </a:r>
            <a:endParaRPr lang="en-US" sz="2000" b="1" noProof="0">
              <a:latin typeface="Trebuchet MS" panose="020B0603020202020204" pitchFamily="34" charset="0"/>
            </a:endParaRPr>
          </a:p>
        </p:txBody>
      </p:sp>
      <p:sp>
        <p:nvSpPr>
          <p:cNvPr id="14" name="Rectangle: Rounded Corners 13">
            <a:extLst>
              <a:ext uri="{FF2B5EF4-FFF2-40B4-BE49-F238E27FC236}">
                <a16:creationId xmlns:a16="http://schemas.microsoft.com/office/drawing/2014/main" id="{6795D0BA-DE6E-77E1-E4B2-284801CB232A}"/>
              </a:ext>
            </a:extLst>
          </p:cNvPr>
          <p:cNvSpPr/>
          <p:nvPr/>
        </p:nvSpPr>
        <p:spPr>
          <a:xfrm>
            <a:off x="9046660" y="2656865"/>
            <a:ext cx="762000" cy="457191"/>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latin typeface="Trebuchet MS" panose="020B0603020202020204" pitchFamily="34" charset="0"/>
              </a:rPr>
              <a:t>YES</a:t>
            </a:r>
          </a:p>
        </p:txBody>
      </p:sp>
      <p:sp>
        <p:nvSpPr>
          <p:cNvPr id="17" name="Rectangle: Rounded Corners 16">
            <a:extLst>
              <a:ext uri="{FF2B5EF4-FFF2-40B4-BE49-F238E27FC236}">
                <a16:creationId xmlns:a16="http://schemas.microsoft.com/office/drawing/2014/main" id="{AD3FF5EB-89C8-4928-113E-541840233D8A}"/>
              </a:ext>
            </a:extLst>
          </p:cNvPr>
          <p:cNvSpPr/>
          <p:nvPr/>
        </p:nvSpPr>
        <p:spPr>
          <a:xfrm>
            <a:off x="6605418" y="3823924"/>
            <a:ext cx="762000" cy="457191"/>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latin typeface="Trebuchet MS" panose="020B0603020202020204" pitchFamily="34" charset="0"/>
              </a:rPr>
              <a:t>NO</a:t>
            </a:r>
          </a:p>
        </p:txBody>
      </p:sp>
      <p:sp>
        <p:nvSpPr>
          <p:cNvPr id="20" name="Rectangle 19">
            <a:extLst>
              <a:ext uri="{FF2B5EF4-FFF2-40B4-BE49-F238E27FC236}">
                <a16:creationId xmlns:a16="http://schemas.microsoft.com/office/drawing/2014/main" id="{4087C8FA-0701-4B6E-E6FE-54E400EB918F}"/>
              </a:ext>
            </a:extLst>
          </p:cNvPr>
          <p:cNvSpPr/>
          <p:nvPr/>
        </p:nvSpPr>
        <p:spPr>
          <a:xfrm>
            <a:off x="5843423" y="4573874"/>
            <a:ext cx="2285995" cy="532741"/>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latin typeface="Trebuchet MS" panose="020B0603020202020204" pitchFamily="34" charset="0"/>
              </a:rPr>
              <a:t>How many defects?</a:t>
            </a:r>
          </a:p>
        </p:txBody>
      </p:sp>
      <p:sp>
        <p:nvSpPr>
          <p:cNvPr id="23" name="Flowchart: Connector 22">
            <a:extLst>
              <a:ext uri="{FF2B5EF4-FFF2-40B4-BE49-F238E27FC236}">
                <a16:creationId xmlns:a16="http://schemas.microsoft.com/office/drawing/2014/main" id="{285067E6-353F-3FA7-551C-DBD21AC6D1BC}"/>
              </a:ext>
            </a:extLst>
          </p:cNvPr>
          <p:cNvSpPr/>
          <p:nvPr/>
        </p:nvSpPr>
        <p:spPr>
          <a:xfrm>
            <a:off x="6376818" y="5458807"/>
            <a:ext cx="1219200" cy="1181093"/>
          </a:xfrm>
          <a:prstGeom prst="flowChartConnector">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0">
                <a:latin typeface="Trebuchet MS" panose="020B0603020202020204" pitchFamily="34" charset="0"/>
              </a:rPr>
              <a:t>DPU</a:t>
            </a:r>
          </a:p>
        </p:txBody>
      </p:sp>
      <p:sp>
        <p:nvSpPr>
          <p:cNvPr id="2" name="TextBox 1">
            <a:extLst>
              <a:ext uri="{FF2B5EF4-FFF2-40B4-BE49-F238E27FC236}">
                <a16:creationId xmlns:a16="http://schemas.microsoft.com/office/drawing/2014/main" id="{843C36C8-E963-02C6-6A00-A4D0BF61F4BF}"/>
              </a:ext>
            </a:extLst>
          </p:cNvPr>
          <p:cNvSpPr txBox="1"/>
          <p:nvPr/>
        </p:nvSpPr>
        <p:spPr>
          <a:xfrm>
            <a:off x="500341" y="1370273"/>
            <a:ext cx="4649619" cy="1538883"/>
          </a:xfrm>
          <a:prstGeom prst="rect">
            <a:avLst/>
          </a:prstGeom>
          <a:solidFill>
            <a:schemeClr val="bg1"/>
          </a:solidFill>
          <a:ln w="57150">
            <a:solidFill>
              <a:srgbClr val="7030A0"/>
            </a:solidFill>
          </a:ln>
        </p:spPr>
        <p:txBody>
          <a:bodyPr wrap="square" rtlCol="0">
            <a:spAutoFit/>
          </a:bodyPr>
          <a:lstStyle/>
          <a:p>
            <a:r>
              <a:rPr lang="en-US" sz="1400" b="1" noProof="0">
                <a:solidFill>
                  <a:srgbClr val="002060"/>
                </a:solidFill>
                <a:latin typeface="Trebuchet MS" panose="020B0603020202020204" pitchFamily="34" charset="0"/>
              </a:rPr>
              <a:t>Unit examples (item to be created or processed):</a:t>
            </a:r>
          </a:p>
          <a:p>
            <a:pPr marL="285750" indent="-285750">
              <a:buFont typeface="Arial" panose="020B0604020202020204" pitchFamily="34" charset="0"/>
              <a:buChar char="•"/>
            </a:pPr>
            <a:endParaRPr lang="en-US" sz="5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200" noProof="0">
                <a:solidFill>
                  <a:srgbClr val="002060"/>
                </a:solidFill>
                <a:latin typeface="Trebuchet MS" panose="020B0603020202020204" pitchFamily="34" charset="0"/>
              </a:rPr>
              <a:t>Cases created</a:t>
            </a:r>
          </a:p>
          <a:p>
            <a:pPr marL="285750" indent="-285750">
              <a:buFont typeface="Arial" panose="020B0604020202020204" pitchFamily="34" charset="0"/>
              <a:buChar char="•"/>
            </a:pPr>
            <a:r>
              <a:rPr lang="en-US" sz="1200" noProof="0">
                <a:solidFill>
                  <a:srgbClr val="002060"/>
                </a:solidFill>
                <a:latin typeface="Trebuchet MS" panose="020B0603020202020204" pitchFamily="34" charset="0"/>
              </a:rPr>
              <a:t>HR requests</a:t>
            </a:r>
          </a:p>
          <a:p>
            <a:pPr marL="285750" indent="-285750">
              <a:buFont typeface="Arial" panose="020B0604020202020204" pitchFamily="34" charset="0"/>
              <a:buChar char="•"/>
            </a:pPr>
            <a:r>
              <a:rPr lang="en-US" sz="1200" noProof="0">
                <a:solidFill>
                  <a:srgbClr val="002060"/>
                </a:solidFill>
                <a:latin typeface="Trebuchet MS" panose="020B0603020202020204" pitchFamily="34" charset="0"/>
              </a:rPr>
              <a:t>Payroll transactions</a:t>
            </a:r>
          </a:p>
          <a:p>
            <a:pPr marL="285750" indent="-285750">
              <a:buFont typeface="Arial" panose="020B0604020202020204" pitchFamily="34" charset="0"/>
              <a:buChar char="•"/>
            </a:pPr>
            <a:r>
              <a:rPr lang="en-US" sz="1200" noProof="0">
                <a:solidFill>
                  <a:srgbClr val="002060"/>
                </a:solidFill>
                <a:latin typeface="Trebuchet MS" panose="020B0603020202020204" pitchFamily="34" charset="0"/>
              </a:rPr>
              <a:t>Leave requests</a:t>
            </a:r>
          </a:p>
          <a:p>
            <a:pPr marL="285750" indent="-285750">
              <a:buFont typeface="Arial" panose="020B0604020202020204" pitchFamily="34" charset="0"/>
              <a:buChar char="•"/>
            </a:pPr>
            <a:r>
              <a:rPr lang="en-US" sz="1200" noProof="0">
                <a:solidFill>
                  <a:srgbClr val="002060"/>
                </a:solidFill>
                <a:latin typeface="Trebuchet MS" panose="020B0603020202020204" pitchFamily="34" charset="0"/>
              </a:rPr>
              <a:t>Benefits inquiries</a:t>
            </a:r>
          </a:p>
          <a:p>
            <a:pPr marL="285750" indent="-285750">
              <a:buFont typeface="Arial" panose="020B0604020202020204" pitchFamily="34" charset="0"/>
              <a:buChar char="•"/>
            </a:pPr>
            <a:r>
              <a:rPr lang="en-US" sz="1200" noProof="0">
                <a:solidFill>
                  <a:srgbClr val="002060"/>
                </a:solidFill>
                <a:latin typeface="Trebuchet MS" panose="020B0603020202020204" pitchFamily="34" charset="0"/>
              </a:rPr>
              <a:t>Employee onboarding/offboarding actions</a:t>
            </a:r>
          </a:p>
        </p:txBody>
      </p:sp>
      <p:cxnSp>
        <p:nvCxnSpPr>
          <p:cNvPr id="4" name="Straight Arrow Connector 3">
            <a:extLst>
              <a:ext uri="{FF2B5EF4-FFF2-40B4-BE49-F238E27FC236}">
                <a16:creationId xmlns:a16="http://schemas.microsoft.com/office/drawing/2014/main" id="{283E9C6A-52A9-56C3-3CA8-374887268B2D}"/>
              </a:ext>
            </a:extLst>
          </p:cNvPr>
          <p:cNvCxnSpPr>
            <a:cxnSpLocks/>
            <a:stCxn id="2" idx="3"/>
            <a:endCxn id="6" idx="1"/>
          </p:cNvCxnSpPr>
          <p:nvPr/>
        </p:nvCxnSpPr>
        <p:spPr>
          <a:xfrm flipV="1">
            <a:off x="5149960" y="1886974"/>
            <a:ext cx="845858" cy="252741"/>
          </a:xfrm>
          <a:prstGeom prst="straightConnector1">
            <a:avLst/>
          </a:prstGeom>
          <a:ln w="38100">
            <a:solidFill>
              <a:srgbClr val="7030A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6EA7F3B-7105-8B57-2CEE-3452EA93DF3E}"/>
              </a:ext>
            </a:extLst>
          </p:cNvPr>
          <p:cNvSpPr txBox="1"/>
          <p:nvPr/>
        </p:nvSpPr>
        <p:spPr>
          <a:xfrm>
            <a:off x="8610608" y="4135368"/>
            <a:ext cx="3187972" cy="2215991"/>
          </a:xfrm>
          <a:prstGeom prst="rect">
            <a:avLst/>
          </a:prstGeom>
          <a:solidFill>
            <a:schemeClr val="bg1"/>
          </a:solidFill>
          <a:ln>
            <a:solidFill>
              <a:srgbClr val="00AF74"/>
            </a:solidFill>
          </a:ln>
        </p:spPr>
        <p:txBody>
          <a:bodyPr wrap="square" lIns="91440" tIns="45720" rIns="91440" bIns="45720" rtlCol="0" anchor="t">
            <a:spAutoFit/>
          </a:bodyPr>
          <a:lstStyle>
            <a:defPPr>
              <a:defRPr lang="en-US"/>
            </a:defPPr>
            <a:lvl1pPr marL="285750" indent="-285750">
              <a:buFont typeface="Arial" panose="020B0604020202020204" pitchFamily="34" charset="0"/>
              <a:buChar char="•"/>
              <a:defRPr sz="1600">
                <a:latin typeface="Trebuchet MS" panose="020B0603020202020204" pitchFamily="34" charset="0"/>
              </a:defRPr>
            </a:lvl1pPr>
          </a:lstStyle>
          <a:p>
            <a:pPr marL="0" indent="0">
              <a:buNone/>
            </a:pPr>
            <a:r>
              <a:rPr lang="en-US" sz="1400" b="1">
                <a:solidFill>
                  <a:srgbClr val="002060"/>
                </a:solidFill>
                <a:latin typeface="Trebuchet MS"/>
              </a:rPr>
              <a:t>Final yield</a:t>
            </a:r>
            <a:r>
              <a:rPr lang="en-US" sz="1400" b="1" noProof="0">
                <a:solidFill>
                  <a:srgbClr val="002060"/>
                </a:solidFill>
                <a:latin typeface="Trebuchet MS"/>
              </a:rPr>
              <a:t> examples ( % Items completed first time)</a:t>
            </a:r>
          </a:p>
          <a:p>
            <a:endParaRPr lang="en-US" sz="1200" noProof="0">
              <a:solidFill>
                <a:srgbClr val="002060"/>
              </a:solidFill>
            </a:endParaRPr>
          </a:p>
          <a:p>
            <a:r>
              <a:rPr lang="en-US" sz="1200" noProof="0">
                <a:solidFill>
                  <a:srgbClr val="002060"/>
                </a:solidFill>
              </a:rPr>
              <a:t>Cases/requests completed correctly the first time </a:t>
            </a:r>
          </a:p>
          <a:p>
            <a:r>
              <a:rPr lang="en-US" sz="1200" noProof="0">
                <a:solidFill>
                  <a:srgbClr val="002060"/>
                </a:solidFill>
              </a:rPr>
              <a:t>No rework required </a:t>
            </a:r>
          </a:p>
          <a:p>
            <a:r>
              <a:rPr lang="en-US" sz="1200" noProof="0">
                <a:solidFill>
                  <a:srgbClr val="002060"/>
                </a:solidFill>
              </a:rPr>
              <a:t>No escalation required </a:t>
            </a:r>
          </a:p>
          <a:p>
            <a:r>
              <a:rPr lang="en-US" sz="1200" noProof="0">
                <a:solidFill>
                  <a:srgbClr val="002060"/>
                </a:solidFill>
              </a:rPr>
              <a:t>Targets met</a:t>
            </a:r>
          </a:p>
          <a:p>
            <a:endParaRPr lang="en-US" sz="1200" noProof="0">
              <a:solidFill>
                <a:srgbClr val="002060"/>
              </a:solidFill>
            </a:endParaRPr>
          </a:p>
          <a:p>
            <a:pPr marL="0" indent="0" algn="ctr">
              <a:buNone/>
            </a:pPr>
            <a:r>
              <a:rPr lang="en-US" sz="1400" b="1" noProof="0">
                <a:solidFill>
                  <a:srgbClr val="002060"/>
                </a:solidFill>
                <a:latin typeface="Trebuchet MS"/>
              </a:rPr>
              <a:t>Final Yield =</a:t>
            </a:r>
            <a:r>
              <a:rPr lang="en-US" sz="1200" noProof="0">
                <a:solidFill>
                  <a:srgbClr val="002060"/>
                </a:solidFill>
                <a:latin typeface="Trebuchet MS"/>
              </a:rPr>
              <a:t> </a:t>
            </a:r>
            <a:r>
              <a:rPr lang="en-US" sz="1200" b="1" u="sng" noProof="0">
                <a:solidFill>
                  <a:srgbClr val="002060"/>
                </a:solidFill>
                <a:latin typeface="Trebuchet MS"/>
              </a:rPr>
              <a:t>Right first time</a:t>
            </a:r>
          </a:p>
          <a:p>
            <a:pPr marL="0" indent="0" algn="ctr">
              <a:buNone/>
            </a:pPr>
            <a:r>
              <a:rPr lang="en-US" sz="1200" b="1" noProof="0">
                <a:solidFill>
                  <a:srgbClr val="002060"/>
                </a:solidFill>
              </a:rPr>
              <a:t>	Total number of items</a:t>
            </a:r>
          </a:p>
        </p:txBody>
      </p:sp>
      <p:cxnSp>
        <p:nvCxnSpPr>
          <p:cNvPr id="16" name="Straight Arrow Connector 15">
            <a:extLst>
              <a:ext uri="{FF2B5EF4-FFF2-40B4-BE49-F238E27FC236}">
                <a16:creationId xmlns:a16="http://schemas.microsoft.com/office/drawing/2014/main" id="{CCF9057D-4BF0-B89F-E979-ACAE133747D9}"/>
              </a:ext>
            </a:extLst>
          </p:cNvPr>
          <p:cNvCxnSpPr>
            <a:cxnSpLocks/>
            <a:stCxn id="11" idx="0"/>
            <a:endCxn id="13" idx="4"/>
          </p:cNvCxnSpPr>
          <p:nvPr/>
        </p:nvCxnSpPr>
        <p:spPr>
          <a:xfrm flipV="1">
            <a:off x="10204594" y="3476008"/>
            <a:ext cx="971685" cy="659360"/>
          </a:xfrm>
          <a:prstGeom prst="straightConnector1">
            <a:avLst/>
          </a:prstGeom>
          <a:ln w="38100">
            <a:solidFill>
              <a:srgbClr val="00AF74"/>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70C9AA6-FFF7-5459-B23C-54AAEE5D8FF5}"/>
              </a:ext>
            </a:extLst>
          </p:cNvPr>
          <p:cNvSpPr txBox="1"/>
          <p:nvPr/>
        </p:nvSpPr>
        <p:spPr>
          <a:xfrm>
            <a:off x="510000" y="5495356"/>
            <a:ext cx="4643770" cy="1107996"/>
          </a:xfrm>
          <a:prstGeom prst="rect">
            <a:avLst/>
          </a:prstGeom>
          <a:solidFill>
            <a:schemeClr val="bg1"/>
          </a:solidFill>
          <a:ln>
            <a:solidFill>
              <a:srgbClr val="FF0000"/>
            </a:solidFill>
          </a:ln>
        </p:spPr>
        <p:txBody>
          <a:bodyPr wrap="square" rtlCol="0">
            <a:spAutoFit/>
          </a:bodyPr>
          <a:lstStyle>
            <a:defPPr>
              <a:defRPr lang="en-US"/>
            </a:defPPr>
            <a:lvl1pPr marL="285750" indent="-285750">
              <a:buFont typeface="Arial" panose="020B0604020202020204" pitchFamily="34" charset="0"/>
              <a:buChar char="•"/>
              <a:defRPr sz="1600">
                <a:latin typeface="Trebuchet MS" panose="020B0603020202020204" pitchFamily="34" charset="0"/>
              </a:defRPr>
            </a:lvl1pPr>
          </a:lstStyle>
          <a:p>
            <a:pPr marL="0" indent="0">
              <a:buNone/>
            </a:pPr>
            <a:r>
              <a:rPr lang="en-US" sz="1400" b="1" noProof="0">
                <a:solidFill>
                  <a:srgbClr val="002060"/>
                </a:solidFill>
              </a:rPr>
              <a:t>Defects per unit (number of defects of total units)</a:t>
            </a:r>
          </a:p>
          <a:p>
            <a:pPr marL="0" indent="0">
              <a:buNone/>
            </a:pPr>
            <a:endParaRPr lang="en-US" sz="1400" b="1" noProof="0">
              <a:solidFill>
                <a:srgbClr val="002060"/>
              </a:solidFill>
            </a:endParaRPr>
          </a:p>
          <a:p>
            <a:pPr marL="0" indent="0">
              <a:buNone/>
            </a:pPr>
            <a:r>
              <a:rPr lang="en-US" sz="1200" b="1" noProof="0">
                <a:solidFill>
                  <a:srgbClr val="002060"/>
                </a:solidFill>
              </a:rPr>
              <a:t>DPU=	</a:t>
            </a:r>
            <a:r>
              <a:rPr lang="en-US" sz="1200" b="1" u="sng" noProof="0">
                <a:solidFill>
                  <a:srgbClr val="002060"/>
                </a:solidFill>
              </a:rPr>
              <a:t>Total defects</a:t>
            </a:r>
          </a:p>
          <a:p>
            <a:pPr marL="0" indent="0">
              <a:buNone/>
            </a:pPr>
            <a:r>
              <a:rPr lang="en-US" sz="1200" b="1" noProof="0">
                <a:solidFill>
                  <a:srgbClr val="002060"/>
                </a:solidFill>
              </a:rPr>
              <a:t>	Total Units completed</a:t>
            </a:r>
            <a:endParaRPr lang="en-US" sz="1200" noProof="0">
              <a:solidFill>
                <a:srgbClr val="002060"/>
              </a:solidFill>
            </a:endParaRPr>
          </a:p>
          <a:p>
            <a:pPr marL="0" indent="0">
              <a:buNone/>
            </a:pPr>
            <a:endParaRPr lang="en-US" sz="1400" noProof="0">
              <a:solidFill>
                <a:srgbClr val="002060"/>
              </a:solidFill>
            </a:endParaRPr>
          </a:p>
        </p:txBody>
      </p:sp>
      <p:cxnSp>
        <p:nvCxnSpPr>
          <p:cNvPr id="25" name="Straight Arrow Connector 24">
            <a:extLst>
              <a:ext uri="{FF2B5EF4-FFF2-40B4-BE49-F238E27FC236}">
                <a16:creationId xmlns:a16="http://schemas.microsoft.com/office/drawing/2014/main" id="{D46ADB68-7611-536D-B9F8-6BBBB3E1199B}"/>
              </a:ext>
            </a:extLst>
          </p:cNvPr>
          <p:cNvCxnSpPr>
            <a:cxnSpLocks/>
            <a:stCxn id="32" idx="3"/>
            <a:endCxn id="8" idx="1"/>
          </p:cNvCxnSpPr>
          <p:nvPr/>
        </p:nvCxnSpPr>
        <p:spPr>
          <a:xfrm flipV="1">
            <a:off x="5153770" y="2885462"/>
            <a:ext cx="689648" cy="1067750"/>
          </a:xfrm>
          <a:prstGeom prst="straightConnector1">
            <a:avLst/>
          </a:prstGeom>
          <a:ln w="38100">
            <a:solidFill>
              <a:srgbClr val="00206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0A5B3184-B888-C3AF-8EE0-6498FA22BE17}"/>
              </a:ext>
            </a:extLst>
          </p:cNvPr>
          <p:cNvSpPr txBox="1"/>
          <p:nvPr/>
        </p:nvSpPr>
        <p:spPr>
          <a:xfrm>
            <a:off x="510000" y="3114521"/>
            <a:ext cx="4643770" cy="1677382"/>
          </a:xfrm>
          <a:prstGeom prst="rect">
            <a:avLst/>
          </a:prstGeom>
          <a:solidFill>
            <a:schemeClr val="bg1"/>
          </a:solidFill>
          <a:ln w="57150">
            <a:solidFill>
              <a:srgbClr val="002060"/>
            </a:solidFill>
          </a:ln>
        </p:spPr>
        <p:txBody>
          <a:bodyPr wrap="square" rtlCol="0">
            <a:spAutoFit/>
          </a:bodyPr>
          <a:lstStyle>
            <a:defPPr>
              <a:defRPr lang="en-US"/>
            </a:defPPr>
            <a:lvl1pPr marL="285750" indent="-285750">
              <a:buFont typeface="Arial" panose="020B0604020202020204" pitchFamily="34" charset="0"/>
              <a:buChar char="•"/>
              <a:defRPr sz="1600">
                <a:latin typeface="Trebuchet MS" panose="020B0603020202020204" pitchFamily="34" charset="0"/>
              </a:defRPr>
            </a:lvl1pPr>
          </a:lstStyle>
          <a:p>
            <a:pPr marL="0" indent="0">
              <a:buNone/>
            </a:pPr>
            <a:r>
              <a:rPr lang="en-US" sz="1400" b="1" noProof="0">
                <a:solidFill>
                  <a:srgbClr val="002060"/>
                </a:solidFill>
              </a:rPr>
              <a:t>Defect examples (things that have gone wrong):</a:t>
            </a:r>
          </a:p>
          <a:p>
            <a:pPr marL="0" indent="0">
              <a:buNone/>
            </a:pPr>
            <a:endParaRPr lang="en-US" sz="500" b="1" noProof="0">
              <a:solidFill>
                <a:srgbClr val="002060"/>
              </a:solidFill>
            </a:endParaRPr>
          </a:p>
          <a:p>
            <a:r>
              <a:rPr lang="en-US" sz="1200" noProof="0">
                <a:solidFill>
                  <a:srgbClr val="002060"/>
                </a:solidFill>
              </a:rPr>
              <a:t>Incorrect case update</a:t>
            </a:r>
          </a:p>
          <a:p>
            <a:r>
              <a:rPr lang="en-US" sz="1200" noProof="0">
                <a:solidFill>
                  <a:srgbClr val="002060"/>
                </a:solidFill>
              </a:rPr>
              <a:t>Payroll processing error</a:t>
            </a:r>
          </a:p>
          <a:p>
            <a:r>
              <a:rPr lang="en-US" sz="1200" noProof="0">
                <a:solidFill>
                  <a:srgbClr val="002060"/>
                </a:solidFill>
              </a:rPr>
              <a:t>Missing documentation</a:t>
            </a:r>
          </a:p>
          <a:p>
            <a:r>
              <a:rPr lang="en-US" sz="1200" noProof="0">
                <a:solidFill>
                  <a:srgbClr val="002060"/>
                </a:solidFill>
              </a:rPr>
              <a:t>Wrong benefit enrollment</a:t>
            </a:r>
          </a:p>
          <a:p>
            <a:r>
              <a:rPr lang="en-US" sz="1200" noProof="0">
                <a:solidFill>
                  <a:srgbClr val="002060"/>
                </a:solidFill>
              </a:rPr>
              <a:t>Completion timescale failure</a:t>
            </a:r>
          </a:p>
          <a:p>
            <a:r>
              <a:rPr lang="en-US" sz="1200" noProof="0">
                <a:solidFill>
                  <a:srgbClr val="002060"/>
                </a:solidFill>
              </a:rPr>
              <a:t>Case reassignment</a:t>
            </a:r>
          </a:p>
          <a:p>
            <a:r>
              <a:rPr lang="en-US" sz="1200" noProof="0">
                <a:solidFill>
                  <a:srgbClr val="002060"/>
                </a:solidFill>
              </a:rPr>
              <a:t>Employee/Customer call back required</a:t>
            </a:r>
            <a:endParaRPr lang="en-US" sz="1400" noProof="0">
              <a:solidFill>
                <a:srgbClr val="002060"/>
              </a:solidFill>
            </a:endParaRPr>
          </a:p>
        </p:txBody>
      </p:sp>
      <p:cxnSp>
        <p:nvCxnSpPr>
          <p:cNvPr id="37" name="Straight Arrow Connector 36">
            <a:extLst>
              <a:ext uri="{FF2B5EF4-FFF2-40B4-BE49-F238E27FC236}">
                <a16:creationId xmlns:a16="http://schemas.microsoft.com/office/drawing/2014/main" id="{702331C1-9514-6F11-74B9-B4735ABE06D6}"/>
              </a:ext>
            </a:extLst>
          </p:cNvPr>
          <p:cNvCxnSpPr>
            <a:cxnSpLocks/>
            <a:stCxn id="21" idx="3"/>
            <a:endCxn id="23" idx="2"/>
          </p:cNvCxnSpPr>
          <p:nvPr/>
        </p:nvCxnSpPr>
        <p:spPr>
          <a:xfrm>
            <a:off x="5153770" y="6049354"/>
            <a:ext cx="1223048" cy="1"/>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746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4F3C461B-B06D-8BBA-5D1B-5204277A6DCE}"/>
              </a:ext>
            </a:extLst>
          </p:cNvPr>
          <p:cNvSpPr>
            <a:spLocks noGrp="1"/>
          </p:cNvSpPr>
          <p:nvPr>
            <p:ph type="body" sz="quarter" idx="10"/>
          </p:nvPr>
        </p:nvSpPr>
        <p:spPr>
          <a:xfrm>
            <a:off x="533400" y="219670"/>
            <a:ext cx="8305800" cy="615553"/>
          </a:xfrm>
        </p:spPr>
        <p:txBody>
          <a:bodyPr/>
          <a:lstStyle/>
          <a:p>
            <a:r>
              <a:rPr lang="en-US" sz="4000" noProof="0">
                <a:latin typeface="Trebuchet MS" panose="020B0603020202020204" pitchFamily="34" charset="0"/>
              </a:rPr>
              <a:t>Defects Per Unit (DPU)</a:t>
            </a:r>
          </a:p>
        </p:txBody>
      </p:sp>
      <p:sp>
        <p:nvSpPr>
          <p:cNvPr id="7" name="TextBox 6">
            <a:extLst>
              <a:ext uri="{FF2B5EF4-FFF2-40B4-BE49-F238E27FC236}">
                <a16:creationId xmlns:a16="http://schemas.microsoft.com/office/drawing/2014/main" id="{85FC207F-C0B8-463E-826A-DA02E29D757D}"/>
              </a:ext>
            </a:extLst>
          </p:cNvPr>
          <p:cNvSpPr txBox="1"/>
          <p:nvPr/>
        </p:nvSpPr>
        <p:spPr>
          <a:xfrm>
            <a:off x="533400" y="1674674"/>
            <a:ext cx="10896600" cy="1200329"/>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US" noProof="0">
                <a:solidFill>
                  <a:srgbClr val="002060"/>
                </a:solidFill>
                <a:latin typeface="Trebuchet MS" panose="020B0603020202020204" pitchFamily="34" charset="0"/>
              </a:rPr>
              <a:t>Rather than simply classifying units as good or bad, DPU counts every defect.</a:t>
            </a:r>
          </a:p>
          <a:p>
            <a:pPr marL="285750" indent="-285750">
              <a:buFont typeface="Arial" panose="020B0604020202020204" pitchFamily="34" charset="0"/>
              <a:buChar char="•"/>
            </a:pPr>
            <a:r>
              <a:rPr lang="en-US" noProof="0">
                <a:solidFill>
                  <a:srgbClr val="002060"/>
                </a:solidFill>
                <a:latin typeface="Trebuchet MS" panose="020B0603020202020204" pitchFamily="34" charset="0"/>
              </a:rPr>
              <a:t>DPU answers the question: “How many defects does each unit contain?”</a:t>
            </a:r>
          </a:p>
          <a:p>
            <a:pPr marL="285750" indent="-285750">
              <a:buFont typeface="Arial" panose="020B0604020202020204" pitchFamily="34" charset="0"/>
              <a:buChar char="•"/>
            </a:pPr>
            <a:r>
              <a:rPr lang="en-US">
                <a:solidFill>
                  <a:srgbClr val="002060"/>
                </a:solidFill>
                <a:latin typeface="Trebuchet MS"/>
              </a:rPr>
              <a:t>Final Yield</a:t>
            </a:r>
            <a:r>
              <a:rPr lang="en-US" noProof="0">
                <a:solidFill>
                  <a:srgbClr val="002060"/>
                </a:solidFill>
                <a:latin typeface="Trebuchet MS"/>
              </a:rPr>
              <a:t> measures how many units are defect-free, while DPU measures the number of defects within those units.</a:t>
            </a:r>
          </a:p>
        </p:txBody>
      </p:sp>
      <p:graphicFrame>
        <p:nvGraphicFramePr>
          <p:cNvPr id="10" name="Table 9">
            <a:extLst>
              <a:ext uri="{FF2B5EF4-FFF2-40B4-BE49-F238E27FC236}">
                <a16:creationId xmlns:a16="http://schemas.microsoft.com/office/drawing/2014/main" id="{C2674746-5706-21A2-0B48-08283CA2B950}"/>
              </a:ext>
            </a:extLst>
          </p:cNvPr>
          <p:cNvGraphicFramePr>
            <a:graphicFrameLocks noGrp="1"/>
          </p:cNvGraphicFramePr>
          <p:nvPr>
            <p:extLst>
              <p:ext uri="{D42A27DB-BD31-4B8C-83A1-F6EECF244321}">
                <p14:modId xmlns:p14="http://schemas.microsoft.com/office/powerpoint/2010/main" val="404441411"/>
              </p:ext>
            </p:extLst>
          </p:nvPr>
        </p:nvGraphicFramePr>
        <p:xfrm>
          <a:off x="655321" y="3307814"/>
          <a:ext cx="11071224" cy="1097280"/>
        </p:xfrm>
        <a:graphic>
          <a:graphicData uri="http://schemas.openxmlformats.org/drawingml/2006/table">
            <a:tbl>
              <a:tblPr/>
              <a:tblGrid>
                <a:gridCol w="3690408">
                  <a:extLst>
                    <a:ext uri="{9D8B030D-6E8A-4147-A177-3AD203B41FA5}">
                      <a16:colId xmlns:a16="http://schemas.microsoft.com/office/drawing/2014/main" val="1932457824"/>
                    </a:ext>
                  </a:extLst>
                </a:gridCol>
                <a:gridCol w="3690408">
                  <a:extLst>
                    <a:ext uri="{9D8B030D-6E8A-4147-A177-3AD203B41FA5}">
                      <a16:colId xmlns:a16="http://schemas.microsoft.com/office/drawing/2014/main" val="2023425170"/>
                    </a:ext>
                  </a:extLst>
                </a:gridCol>
                <a:gridCol w="3690408">
                  <a:extLst>
                    <a:ext uri="{9D8B030D-6E8A-4147-A177-3AD203B41FA5}">
                      <a16:colId xmlns:a16="http://schemas.microsoft.com/office/drawing/2014/main" val="3285382461"/>
                    </a:ext>
                  </a:extLst>
                </a:gridCol>
              </a:tblGrid>
              <a:tr h="0">
                <a:tc>
                  <a:txBody>
                    <a:bodyPr/>
                    <a:lstStyle/>
                    <a:p>
                      <a:pPr>
                        <a:buNone/>
                      </a:pPr>
                      <a:r>
                        <a:rPr lang="en-US" b="1" noProof="0">
                          <a:solidFill>
                            <a:schemeClr val="bg1"/>
                          </a:solidFill>
                          <a:latin typeface="Trebuchet MS" panose="020B0603020202020204" pitchFamily="34" charset="0"/>
                        </a:rPr>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4408D"/>
                    </a:solidFill>
                  </a:tcPr>
                </a:tc>
                <a:tc>
                  <a:txBody>
                    <a:bodyPr/>
                    <a:lstStyle/>
                    <a:p>
                      <a:pPr>
                        <a:buNone/>
                      </a:pPr>
                      <a:r>
                        <a:rPr lang="en-US" b="1" noProof="0">
                          <a:solidFill>
                            <a:schemeClr val="bg1"/>
                          </a:solidFill>
                          <a:latin typeface="Trebuchet MS" panose="020B0603020202020204" pitchFamily="34" charset="0"/>
                        </a:rPr>
                        <a:t>What it Measures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4408D"/>
                    </a:solidFill>
                  </a:tcPr>
                </a:tc>
                <a:tc>
                  <a:txBody>
                    <a:bodyPr/>
                    <a:lstStyle/>
                    <a:p>
                      <a:pPr>
                        <a:buNone/>
                      </a:pPr>
                      <a:r>
                        <a:rPr lang="en-US" b="1" noProof="0">
                          <a:solidFill>
                            <a:schemeClr val="bg1"/>
                          </a:solidFill>
                          <a:latin typeface="Trebuchet MS" panose="020B0603020202020204" pitchFamily="34" charset="0"/>
                        </a:rPr>
                        <a:t>Focus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4408D"/>
                    </a:solidFill>
                  </a:tcPr>
                </a:tc>
                <a:extLst>
                  <a:ext uri="{0D108BD9-81ED-4DB2-BD59-A6C34878D82A}">
                    <a16:rowId xmlns:a16="http://schemas.microsoft.com/office/drawing/2014/main" val="3373580149"/>
                  </a:ext>
                </a:extLst>
              </a:tr>
              <a:tr h="0">
                <a:tc>
                  <a:txBody>
                    <a:bodyPr/>
                    <a:lstStyle/>
                    <a:p>
                      <a:pPr>
                        <a:buNone/>
                      </a:pPr>
                      <a:r>
                        <a:rPr lang="en-US" noProof="0">
                          <a:solidFill>
                            <a:srgbClr val="002060"/>
                          </a:solidFill>
                          <a:latin typeface="Trebuchet MS"/>
                        </a:rPr>
                        <a:t>Final Yield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noProof="0">
                          <a:solidFill>
                            <a:srgbClr val="002060"/>
                          </a:solidFill>
                          <a:latin typeface="Trebuchet MS" panose="020B0603020202020204" pitchFamily="34" charset="0"/>
                        </a:rPr>
                        <a:t>% of defect-free units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noProof="0">
                          <a:solidFill>
                            <a:srgbClr val="002060"/>
                          </a:solidFill>
                          <a:latin typeface="Trebuchet MS" panose="020B0603020202020204" pitchFamily="34" charset="0"/>
                        </a:rPr>
                        <a:t>Outcome (Good vs Bad)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6151279"/>
                  </a:ext>
                </a:extLst>
              </a:tr>
              <a:tr h="0">
                <a:tc>
                  <a:txBody>
                    <a:bodyPr/>
                    <a:lstStyle/>
                    <a:p>
                      <a:pPr>
                        <a:buNone/>
                      </a:pPr>
                      <a:r>
                        <a:rPr lang="en-US" noProof="0">
                          <a:solidFill>
                            <a:srgbClr val="002060"/>
                          </a:solidFill>
                          <a:latin typeface="Trebuchet MS" panose="020B0603020202020204" pitchFamily="34" charset="0"/>
                        </a:rPr>
                        <a:t>DPU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noProof="0">
                          <a:solidFill>
                            <a:srgbClr val="002060"/>
                          </a:solidFill>
                          <a:latin typeface="Trebuchet MS" panose="020B0603020202020204" pitchFamily="34" charset="0"/>
                        </a:rPr>
                        <a:t>Average defects per unit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noProof="0">
                          <a:solidFill>
                            <a:srgbClr val="002060"/>
                          </a:solidFill>
                          <a:latin typeface="Trebuchet MS" panose="020B0603020202020204" pitchFamily="34" charset="0"/>
                        </a:rPr>
                        <a:t>Detail (How many defects)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7589384"/>
                  </a:ext>
                </a:extLst>
              </a:tr>
            </a:tbl>
          </a:graphicData>
        </a:graphic>
      </p:graphicFrame>
      <p:sp>
        <p:nvSpPr>
          <p:cNvPr id="13" name="TextBox 12">
            <a:extLst>
              <a:ext uri="{FF2B5EF4-FFF2-40B4-BE49-F238E27FC236}">
                <a16:creationId xmlns:a16="http://schemas.microsoft.com/office/drawing/2014/main" id="{2CDBEC32-515B-9037-CE1D-3B4488474E3A}"/>
              </a:ext>
            </a:extLst>
          </p:cNvPr>
          <p:cNvSpPr txBox="1"/>
          <p:nvPr/>
        </p:nvSpPr>
        <p:spPr>
          <a:xfrm>
            <a:off x="655321" y="4861096"/>
            <a:ext cx="11070907" cy="498213"/>
          </a:xfrm>
          <a:prstGeom prst="rect">
            <a:avLst/>
          </a:prstGeom>
          <a:noFill/>
        </p:spPr>
        <p:txBody>
          <a:bodyPr wrap="square">
            <a:spAutoFit/>
          </a:bodyPr>
          <a:lstStyle/>
          <a:p>
            <a:pPr fontAlgn="t">
              <a:lnSpc>
                <a:spcPts val="1500"/>
              </a:lnSpc>
              <a:buNone/>
            </a:pPr>
            <a:r>
              <a:rPr lang="en-US" b="0" i="0" noProof="0">
                <a:solidFill>
                  <a:srgbClr val="002060"/>
                </a:solidFill>
                <a:effectLst/>
                <a:latin typeface="Trebuchet MS" panose="020B0603020202020204" pitchFamily="34" charset="0"/>
              </a:rPr>
              <a:t>Yield measures how often we get it right. DPU measures how many defects are present when we get it wrong.</a:t>
            </a:r>
          </a:p>
        </p:txBody>
      </p:sp>
      <p:sp>
        <p:nvSpPr>
          <p:cNvPr id="15" name="TextBox 14">
            <a:extLst>
              <a:ext uri="{FF2B5EF4-FFF2-40B4-BE49-F238E27FC236}">
                <a16:creationId xmlns:a16="http://schemas.microsoft.com/office/drawing/2014/main" id="{E4D9217E-253C-CA45-6D9D-7ACDA45DA358}"/>
              </a:ext>
            </a:extLst>
          </p:cNvPr>
          <p:cNvSpPr txBox="1"/>
          <p:nvPr/>
        </p:nvSpPr>
        <p:spPr>
          <a:xfrm>
            <a:off x="685138" y="5815311"/>
            <a:ext cx="4953662" cy="338554"/>
          </a:xfrm>
          <a:prstGeom prst="rect">
            <a:avLst/>
          </a:prstGeom>
          <a:solidFill>
            <a:srgbClr val="27AAE1"/>
          </a:solidFill>
        </p:spPr>
        <p:txBody>
          <a:bodyPr wrap="square">
            <a:spAutoFit/>
          </a:bodyPr>
          <a:lstStyle/>
          <a:p>
            <a:r>
              <a:rPr lang="en-US" sz="1600" b="1" noProof="0">
                <a:solidFill>
                  <a:schemeClr val="bg1"/>
                </a:solidFill>
                <a:latin typeface="Trebuchet MS" panose="020B0603020202020204" pitchFamily="34" charset="0"/>
              </a:rPr>
              <a:t>Important: </a:t>
            </a:r>
            <a:r>
              <a:rPr lang="en-US" sz="1600" noProof="0">
                <a:solidFill>
                  <a:schemeClr val="bg1"/>
                </a:solidFill>
                <a:latin typeface="Trebuchet MS" panose="020B0603020202020204" pitchFamily="34" charset="0"/>
              </a:rPr>
              <a:t>A single unit can have multiple defects.</a:t>
            </a:r>
          </a:p>
        </p:txBody>
      </p:sp>
    </p:spTree>
    <p:extLst>
      <p:ext uri="{BB962C8B-B14F-4D97-AF65-F5344CB8AC3E}">
        <p14:creationId xmlns:p14="http://schemas.microsoft.com/office/powerpoint/2010/main" val="268948813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53E36321-23E1-3C26-CCF9-9414FEAB687F}"/>
              </a:ext>
            </a:extLst>
          </p:cNvPr>
          <p:cNvSpPr>
            <a:spLocks noGrp="1"/>
          </p:cNvSpPr>
          <p:nvPr>
            <p:ph type="body" sz="quarter" idx="10"/>
          </p:nvPr>
        </p:nvSpPr>
        <p:spPr>
          <a:xfrm>
            <a:off x="574276" y="351094"/>
            <a:ext cx="5562600" cy="615553"/>
          </a:xfrm>
        </p:spPr>
        <p:txBody>
          <a:bodyPr/>
          <a:lstStyle/>
          <a:p>
            <a:r>
              <a:rPr lang="en-US" sz="4000" noProof="0">
                <a:latin typeface="Trebuchet MS" panose="020B0603020202020204" pitchFamily="34" charset="0"/>
              </a:rPr>
              <a:t>DPU Formula</a:t>
            </a:r>
          </a:p>
        </p:txBody>
      </p:sp>
      <p:grpSp>
        <p:nvGrpSpPr>
          <p:cNvPr id="8" name="Group 7">
            <a:extLst>
              <a:ext uri="{FF2B5EF4-FFF2-40B4-BE49-F238E27FC236}">
                <a16:creationId xmlns:a16="http://schemas.microsoft.com/office/drawing/2014/main" id="{D1FD0A46-33BB-4331-369A-5D1D213E8AB2}"/>
              </a:ext>
            </a:extLst>
          </p:cNvPr>
          <p:cNvGrpSpPr/>
          <p:nvPr/>
        </p:nvGrpSpPr>
        <p:grpSpPr>
          <a:xfrm>
            <a:off x="1447800" y="2438400"/>
            <a:ext cx="8458200" cy="2387943"/>
            <a:chOff x="5407152" y="2640426"/>
            <a:chExt cx="6470522" cy="1193971"/>
          </a:xfrm>
        </p:grpSpPr>
        <p:sp>
          <p:nvSpPr>
            <p:cNvPr id="9" name="Rectangle: Rounded Corners 8">
              <a:extLst>
                <a:ext uri="{FF2B5EF4-FFF2-40B4-BE49-F238E27FC236}">
                  <a16:creationId xmlns:a16="http://schemas.microsoft.com/office/drawing/2014/main" id="{1F3A72B0-80D3-8FE8-1D17-E09DDE4714DB}"/>
                </a:ext>
              </a:extLst>
            </p:cNvPr>
            <p:cNvSpPr/>
            <p:nvPr/>
          </p:nvSpPr>
          <p:spPr>
            <a:xfrm>
              <a:off x="5407152" y="2640426"/>
              <a:ext cx="1790702" cy="876300"/>
            </a:xfrm>
            <a:prstGeom prst="roundRect">
              <a:avLst/>
            </a:prstGeom>
            <a:solidFill>
              <a:srgbClr val="2440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noProof="0">
                  <a:solidFill>
                    <a:schemeClr val="bg1"/>
                  </a:solidFill>
                  <a:latin typeface="Trebuchet MS" panose="020B0603020202020204" pitchFamily="34" charset="0"/>
                  <a:cs typeface="Arial" panose="020B0604020202020204" pitchFamily="34" charset="0"/>
                </a:rPr>
                <a:t>Total Number of Defects</a:t>
              </a:r>
            </a:p>
          </p:txBody>
        </p:sp>
        <p:sp>
          <p:nvSpPr>
            <p:cNvPr id="10" name="Division Sign 9">
              <a:extLst>
                <a:ext uri="{FF2B5EF4-FFF2-40B4-BE49-F238E27FC236}">
                  <a16:creationId xmlns:a16="http://schemas.microsoft.com/office/drawing/2014/main" id="{118C4BEC-F45F-8CC7-66AD-809BCBD1546C}"/>
                </a:ext>
              </a:extLst>
            </p:cNvPr>
            <p:cNvSpPr/>
            <p:nvPr/>
          </p:nvSpPr>
          <p:spPr>
            <a:xfrm>
              <a:off x="7279558" y="3186697"/>
              <a:ext cx="688848" cy="647700"/>
            </a:xfrm>
            <a:prstGeom prst="mathDivide">
              <a:avLst/>
            </a:prstGeom>
            <a:solidFill>
              <a:srgbClr val="2440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solidFill>
                  <a:srgbClr val="002060"/>
                </a:solidFill>
                <a:latin typeface="Trebuchet MS" panose="020B0603020202020204" pitchFamily="34" charset="0"/>
                <a:cs typeface="Arial" panose="020B0604020202020204" pitchFamily="34" charset="0"/>
              </a:endParaRPr>
            </a:p>
          </p:txBody>
        </p:sp>
        <p:sp>
          <p:nvSpPr>
            <p:cNvPr id="11" name="Rectangle: Rounded Corners 10">
              <a:extLst>
                <a:ext uri="{FF2B5EF4-FFF2-40B4-BE49-F238E27FC236}">
                  <a16:creationId xmlns:a16="http://schemas.microsoft.com/office/drawing/2014/main" id="{629D94ED-BA79-75AA-615A-31741F006CEA}"/>
                </a:ext>
              </a:extLst>
            </p:cNvPr>
            <p:cNvSpPr/>
            <p:nvPr/>
          </p:nvSpPr>
          <p:spPr>
            <a:xfrm>
              <a:off x="8051294" y="2640426"/>
              <a:ext cx="1815082" cy="876300"/>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noProof="0">
                  <a:solidFill>
                    <a:schemeClr val="bg1"/>
                  </a:solidFill>
                  <a:latin typeface="Trebuchet MS" panose="020B0603020202020204" pitchFamily="34" charset="0"/>
                  <a:cs typeface="Arial" panose="020B0604020202020204" pitchFamily="34" charset="0"/>
                </a:rPr>
                <a:t>Total Number of Units</a:t>
              </a:r>
            </a:p>
          </p:txBody>
        </p:sp>
        <p:sp>
          <p:nvSpPr>
            <p:cNvPr id="12" name="Equals 11">
              <a:extLst>
                <a:ext uri="{FF2B5EF4-FFF2-40B4-BE49-F238E27FC236}">
                  <a16:creationId xmlns:a16="http://schemas.microsoft.com/office/drawing/2014/main" id="{CBBA0EF8-6100-6A04-F680-626EF235E2DD}"/>
                </a:ext>
              </a:extLst>
            </p:cNvPr>
            <p:cNvSpPr/>
            <p:nvPr/>
          </p:nvSpPr>
          <p:spPr>
            <a:xfrm>
              <a:off x="9976047" y="3364326"/>
              <a:ext cx="533400" cy="304800"/>
            </a:xfrm>
            <a:prstGeom prst="mathEqual">
              <a:avLst/>
            </a:prstGeom>
            <a:solidFill>
              <a:srgbClr val="2440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solidFill>
                  <a:srgbClr val="002060"/>
                </a:solidFill>
                <a:latin typeface="Trebuchet MS" panose="020B0603020202020204" pitchFamily="34" charset="0"/>
                <a:cs typeface="Arial" panose="020B0604020202020204" pitchFamily="34" charset="0"/>
              </a:endParaRPr>
            </a:p>
          </p:txBody>
        </p:sp>
        <p:sp>
          <p:nvSpPr>
            <p:cNvPr id="13" name="Rectangle: Rounded Corners 12">
              <a:extLst>
                <a:ext uri="{FF2B5EF4-FFF2-40B4-BE49-F238E27FC236}">
                  <a16:creationId xmlns:a16="http://schemas.microsoft.com/office/drawing/2014/main" id="{0C65E4A4-E363-2839-0C52-4D0BCA6BAAAE}"/>
                </a:ext>
              </a:extLst>
            </p:cNvPr>
            <p:cNvSpPr/>
            <p:nvPr/>
          </p:nvSpPr>
          <p:spPr>
            <a:xfrm>
              <a:off x="10582274" y="2640426"/>
              <a:ext cx="1295400" cy="876300"/>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noProof="0">
                  <a:solidFill>
                    <a:schemeClr val="bg1"/>
                  </a:solidFill>
                  <a:latin typeface="Trebuchet MS" panose="020B0603020202020204" pitchFamily="34" charset="0"/>
                  <a:cs typeface="Arial" panose="020B0604020202020204" pitchFamily="34" charset="0"/>
                </a:rPr>
                <a:t>DPU (defects per unit)</a:t>
              </a:r>
            </a:p>
          </p:txBody>
        </p:sp>
      </p:grpSp>
      <p:sp>
        <p:nvSpPr>
          <p:cNvPr id="14" name="TextBox 13">
            <a:extLst>
              <a:ext uri="{FF2B5EF4-FFF2-40B4-BE49-F238E27FC236}">
                <a16:creationId xmlns:a16="http://schemas.microsoft.com/office/drawing/2014/main" id="{50143660-71BC-28F8-9912-D834C9A50ABC}"/>
              </a:ext>
            </a:extLst>
          </p:cNvPr>
          <p:cNvSpPr txBox="1"/>
          <p:nvPr/>
        </p:nvSpPr>
        <p:spPr>
          <a:xfrm>
            <a:off x="574276" y="1576247"/>
            <a:ext cx="9865124" cy="646331"/>
          </a:xfrm>
          <a:prstGeom prst="rect">
            <a:avLst/>
          </a:prstGeom>
          <a:noFill/>
        </p:spPr>
        <p:txBody>
          <a:bodyPr wrap="square" rtlCol="0">
            <a:spAutoFit/>
          </a:bodyPr>
          <a:lstStyle/>
          <a:p>
            <a:r>
              <a:rPr lang="en-US" noProof="0">
                <a:solidFill>
                  <a:srgbClr val="002060"/>
                </a:solidFill>
                <a:latin typeface="Trebuchet MS" panose="020B0603020202020204" pitchFamily="34" charset="0"/>
              </a:rPr>
              <a:t>Below is the formula used for calculating the DPU for a cake making process. Figures are example only. </a:t>
            </a:r>
          </a:p>
        </p:txBody>
      </p:sp>
      <p:sp>
        <p:nvSpPr>
          <p:cNvPr id="2" name="Rectangle: Rounded Corners 1">
            <a:extLst>
              <a:ext uri="{FF2B5EF4-FFF2-40B4-BE49-F238E27FC236}">
                <a16:creationId xmlns:a16="http://schemas.microsoft.com/office/drawing/2014/main" id="{EAF0F692-4342-17DB-EC07-7FC7CC0CBECF}"/>
              </a:ext>
            </a:extLst>
          </p:cNvPr>
          <p:cNvSpPr/>
          <p:nvPr/>
        </p:nvSpPr>
        <p:spPr>
          <a:xfrm>
            <a:off x="1944962" y="4468857"/>
            <a:ext cx="1142999" cy="876301"/>
          </a:xfrm>
          <a:prstGeom prst="roundRect">
            <a:avLst/>
          </a:prstGeom>
          <a:solidFill>
            <a:srgbClr val="24408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noProof="0">
                <a:solidFill>
                  <a:schemeClr val="bg1"/>
                </a:solidFill>
                <a:latin typeface="Trebuchet MS" panose="020B0603020202020204" pitchFamily="34" charset="0"/>
                <a:cs typeface="Arial" panose="020B0604020202020204" pitchFamily="34" charset="0"/>
              </a:rPr>
              <a:t>75 </a:t>
            </a:r>
            <a:endParaRPr lang="en-US"/>
          </a:p>
        </p:txBody>
      </p:sp>
      <p:sp>
        <p:nvSpPr>
          <p:cNvPr id="3" name="Rectangle: Rounded Corners 2">
            <a:extLst>
              <a:ext uri="{FF2B5EF4-FFF2-40B4-BE49-F238E27FC236}">
                <a16:creationId xmlns:a16="http://schemas.microsoft.com/office/drawing/2014/main" id="{C2BA3D55-ECF2-59AE-CDE4-D279CA167CA7}"/>
              </a:ext>
            </a:extLst>
          </p:cNvPr>
          <p:cNvSpPr/>
          <p:nvPr/>
        </p:nvSpPr>
        <p:spPr>
          <a:xfrm>
            <a:off x="5358218" y="4438650"/>
            <a:ext cx="1291143" cy="876302"/>
          </a:xfrm>
          <a:prstGeom prst="roundRect">
            <a:avLst/>
          </a:prstGeom>
          <a:solidFill>
            <a:srgbClr val="27AAE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noProof="0">
                <a:solidFill>
                  <a:schemeClr val="bg1"/>
                </a:solidFill>
                <a:latin typeface="Trebuchet MS" panose="020B0603020202020204" pitchFamily="34" charset="0"/>
                <a:cs typeface="Arial" panose="020B0604020202020204" pitchFamily="34" charset="0"/>
              </a:rPr>
              <a:t>1000</a:t>
            </a:r>
            <a:endParaRPr lang="en-US"/>
          </a:p>
        </p:txBody>
      </p:sp>
      <p:sp>
        <p:nvSpPr>
          <p:cNvPr id="4" name="Rectangle: Rounded Corners 3">
            <a:extLst>
              <a:ext uri="{FF2B5EF4-FFF2-40B4-BE49-F238E27FC236}">
                <a16:creationId xmlns:a16="http://schemas.microsoft.com/office/drawing/2014/main" id="{EDE2EF84-78DA-5F09-4562-913F8B38635F}"/>
              </a:ext>
            </a:extLst>
          </p:cNvPr>
          <p:cNvSpPr/>
          <p:nvPr/>
        </p:nvSpPr>
        <p:spPr>
          <a:xfrm>
            <a:off x="8458469" y="4468856"/>
            <a:ext cx="1291143" cy="876302"/>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noProof="0">
                <a:solidFill>
                  <a:schemeClr val="bg1"/>
                </a:solidFill>
                <a:latin typeface="Trebuchet MS" panose="020B0603020202020204" pitchFamily="34" charset="0"/>
                <a:cs typeface="Arial" panose="020B0604020202020204" pitchFamily="34" charset="0"/>
              </a:rPr>
              <a:t>0.075</a:t>
            </a:r>
          </a:p>
        </p:txBody>
      </p:sp>
      <p:sp>
        <p:nvSpPr>
          <p:cNvPr id="6" name="TextBox 5">
            <a:extLst>
              <a:ext uri="{FF2B5EF4-FFF2-40B4-BE49-F238E27FC236}">
                <a16:creationId xmlns:a16="http://schemas.microsoft.com/office/drawing/2014/main" id="{1BDD78A1-09BA-FC44-9E34-A0B45552BE0A}"/>
              </a:ext>
            </a:extLst>
          </p:cNvPr>
          <p:cNvSpPr txBox="1"/>
          <p:nvPr/>
        </p:nvSpPr>
        <p:spPr>
          <a:xfrm>
            <a:off x="574276" y="5715000"/>
            <a:ext cx="10322324" cy="646331"/>
          </a:xfrm>
          <a:prstGeom prst="rect">
            <a:avLst/>
          </a:prstGeom>
          <a:noFill/>
        </p:spPr>
        <p:txBody>
          <a:bodyPr wrap="square" rtlCol="0">
            <a:spAutoFit/>
          </a:bodyPr>
          <a:lstStyle/>
          <a:p>
            <a:r>
              <a:rPr lang="en-US" noProof="0">
                <a:solidFill>
                  <a:srgbClr val="002060"/>
                </a:solidFill>
                <a:latin typeface="Trebuchet MS" panose="020B0603020202020204" pitchFamily="34" charset="0"/>
              </a:rPr>
              <a:t>Once we have our DPU, we can then use this Information to determine whether the process is performing or whether improvement is needed. </a:t>
            </a:r>
          </a:p>
        </p:txBody>
      </p:sp>
    </p:spTree>
    <p:extLst>
      <p:ext uri="{BB962C8B-B14F-4D97-AF65-F5344CB8AC3E}">
        <p14:creationId xmlns:p14="http://schemas.microsoft.com/office/powerpoint/2010/main" val="473904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36B9DD5B-620B-3D75-9C3E-61F60541DE31}"/>
              </a:ext>
            </a:extLst>
          </p:cNvPr>
          <p:cNvSpPr>
            <a:spLocks noGrp="1"/>
          </p:cNvSpPr>
          <p:nvPr>
            <p:ph type="body" sz="quarter" idx="10"/>
          </p:nvPr>
        </p:nvSpPr>
        <p:spPr>
          <a:xfrm>
            <a:off x="533400" y="349383"/>
            <a:ext cx="8534400" cy="492443"/>
          </a:xfrm>
        </p:spPr>
        <p:txBody>
          <a:bodyPr/>
          <a:lstStyle/>
          <a:p>
            <a:r>
              <a:rPr lang="en-US" sz="3200" noProof="0">
                <a:latin typeface="Trebuchet MS" panose="020B0603020202020204" pitchFamily="34" charset="0"/>
              </a:rPr>
              <a:t>What does this tell us?</a:t>
            </a:r>
          </a:p>
        </p:txBody>
      </p:sp>
      <p:sp>
        <p:nvSpPr>
          <p:cNvPr id="7" name="TextBox 6">
            <a:extLst>
              <a:ext uri="{FF2B5EF4-FFF2-40B4-BE49-F238E27FC236}">
                <a16:creationId xmlns:a16="http://schemas.microsoft.com/office/drawing/2014/main" id="{DA35DB8A-8AEA-8AE3-1DF4-CD6492633AFB}"/>
              </a:ext>
            </a:extLst>
          </p:cNvPr>
          <p:cNvSpPr txBox="1"/>
          <p:nvPr/>
        </p:nvSpPr>
        <p:spPr>
          <a:xfrm>
            <a:off x="448139" y="1529536"/>
            <a:ext cx="4267200" cy="3139321"/>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US" noProof="0">
                <a:solidFill>
                  <a:srgbClr val="002060"/>
                </a:solidFill>
                <a:latin typeface="Trebuchet MS"/>
              </a:rPr>
              <a:t>DPU is set internally so it  varies according to </a:t>
            </a:r>
            <a:r>
              <a:rPr lang="en-US">
                <a:solidFill>
                  <a:srgbClr val="002060"/>
                </a:solidFill>
                <a:latin typeface="Trebuchet MS"/>
              </a:rPr>
              <a:t>each quality tolerance. </a:t>
            </a:r>
            <a:endParaRPr lang="en-US" noProof="0">
              <a:solidFill>
                <a:srgbClr val="002060"/>
              </a:solidFill>
              <a:latin typeface="Trebuchet MS"/>
            </a:endParaRPr>
          </a:p>
          <a:p>
            <a:pPr marL="285750" indent="-285750">
              <a:buFont typeface="Arial" panose="020B0604020202020204" pitchFamily="34" charset="0"/>
              <a:buChar char="•"/>
            </a:pPr>
            <a:endParaRPr lang="en-US"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noProof="0">
                <a:solidFill>
                  <a:srgbClr val="002060"/>
                </a:solidFill>
                <a:latin typeface="Trebuchet MS" panose="020B0603020202020204" pitchFamily="34" charset="0"/>
              </a:rPr>
              <a:t>Using a scale is often easier to understand than using DPU numbers.</a:t>
            </a:r>
          </a:p>
          <a:p>
            <a:pPr marL="285750" indent="-285750">
              <a:buFont typeface="Arial" panose="020B0604020202020204" pitchFamily="34" charset="0"/>
              <a:buChar char="•"/>
            </a:pPr>
            <a:endParaRPr lang="en-US"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noProof="0">
                <a:solidFill>
                  <a:srgbClr val="002060"/>
                </a:solidFill>
                <a:latin typeface="Trebuchet MS" panose="020B0603020202020204" pitchFamily="34" charset="0"/>
              </a:rPr>
              <a:t>Having this scale allows us to identify when action needs to be taken.</a:t>
            </a:r>
          </a:p>
          <a:p>
            <a:endParaRPr lang="en-US" noProof="0">
              <a:solidFill>
                <a:srgbClr val="002060"/>
              </a:solidFill>
              <a:latin typeface="Trebuchet MS" panose="020B0603020202020204" pitchFamily="34" charset="0"/>
            </a:endParaRPr>
          </a:p>
          <a:p>
            <a:endParaRPr lang="en-US" noProof="0"/>
          </a:p>
        </p:txBody>
      </p:sp>
      <p:sp>
        <p:nvSpPr>
          <p:cNvPr id="9" name="TextBox 8">
            <a:extLst>
              <a:ext uri="{FF2B5EF4-FFF2-40B4-BE49-F238E27FC236}">
                <a16:creationId xmlns:a16="http://schemas.microsoft.com/office/drawing/2014/main" id="{905C8D6E-387D-DE6D-9231-8562A883110C}"/>
              </a:ext>
            </a:extLst>
          </p:cNvPr>
          <p:cNvSpPr txBox="1"/>
          <p:nvPr/>
        </p:nvSpPr>
        <p:spPr>
          <a:xfrm>
            <a:off x="1981200" y="6266846"/>
            <a:ext cx="8419056" cy="381000"/>
          </a:xfrm>
          <a:prstGeom prst="rect">
            <a:avLst/>
          </a:prstGeom>
          <a:solidFill>
            <a:srgbClr val="27AAE1"/>
          </a:solidFill>
        </p:spPr>
        <p:txBody>
          <a:bodyPr wrap="square">
            <a:spAutoFit/>
          </a:bodyPr>
          <a:lstStyle/>
          <a:p>
            <a:r>
              <a:rPr lang="en-US" noProof="0">
                <a:solidFill>
                  <a:schemeClr val="bg1"/>
                </a:solidFill>
              </a:rPr>
              <a:t>It is important to note that we can also set our own acceptable scale for defects per unit.</a:t>
            </a:r>
          </a:p>
        </p:txBody>
      </p:sp>
      <p:graphicFrame>
        <p:nvGraphicFramePr>
          <p:cNvPr id="10" name="Table 9">
            <a:extLst>
              <a:ext uri="{FF2B5EF4-FFF2-40B4-BE49-F238E27FC236}">
                <a16:creationId xmlns:a16="http://schemas.microsoft.com/office/drawing/2014/main" id="{153C4640-0D80-B2FE-CAAC-13EB4965038D}"/>
              </a:ext>
            </a:extLst>
          </p:cNvPr>
          <p:cNvGraphicFramePr>
            <a:graphicFrameLocks noGrp="1"/>
          </p:cNvGraphicFramePr>
          <p:nvPr>
            <p:extLst>
              <p:ext uri="{D42A27DB-BD31-4B8C-83A1-F6EECF244321}">
                <p14:modId xmlns:p14="http://schemas.microsoft.com/office/powerpoint/2010/main" val="1841669973"/>
              </p:ext>
            </p:extLst>
          </p:nvPr>
        </p:nvGraphicFramePr>
        <p:xfrm>
          <a:off x="5029200" y="1404477"/>
          <a:ext cx="6540501" cy="3931920"/>
        </p:xfrm>
        <a:graphic>
          <a:graphicData uri="http://schemas.openxmlformats.org/drawingml/2006/table">
            <a:tbl>
              <a:tblPr/>
              <a:tblGrid>
                <a:gridCol w="2180167">
                  <a:extLst>
                    <a:ext uri="{9D8B030D-6E8A-4147-A177-3AD203B41FA5}">
                      <a16:colId xmlns:a16="http://schemas.microsoft.com/office/drawing/2014/main" val="1395885413"/>
                    </a:ext>
                  </a:extLst>
                </a:gridCol>
                <a:gridCol w="2180167">
                  <a:extLst>
                    <a:ext uri="{9D8B030D-6E8A-4147-A177-3AD203B41FA5}">
                      <a16:colId xmlns:a16="http://schemas.microsoft.com/office/drawing/2014/main" val="1175847028"/>
                    </a:ext>
                  </a:extLst>
                </a:gridCol>
                <a:gridCol w="2180167">
                  <a:extLst>
                    <a:ext uri="{9D8B030D-6E8A-4147-A177-3AD203B41FA5}">
                      <a16:colId xmlns:a16="http://schemas.microsoft.com/office/drawing/2014/main" val="777585560"/>
                    </a:ext>
                  </a:extLst>
                </a:gridCol>
              </a:tblGrid>
              <a:tr h="0">
                <a:tc>
                  <a:txBody>
                    <a:bodyPr/>
                    <a:lstStyle/>
                    <a:p>
                      <a:pPr>
                        <a:buNone/>
                      </a:pPr>
                      <a:r>
                        <a:rPr lang="en-US" b="1" noProof="0">
                          <a:solidFill>
                            <a:schemeClr val="bg1"/>
                          </a:solidFill>
                        </a:rPr>
                        <a:t>DPU</a:t>
                      </a:r>
                    </a:p>
                  </a:txBody>
                  <a:tcPr anchor="ctr">
                    <a:lnL>
                      <a:noFill/>
                    </a:lnL>
                    <a:lnR>
                      <a:noFill/>
                    </a:lnR>
                    <a:lnT>
                      <a:noFill/>
                    </a:lnT>
                    <a:lnB w="12700" cap="flat" cmpd="sng" algn="ctr">
                      <a:solidFill>
                        <a:schemeClr val="tx1"/>
                      </a:solidFill>
                      <a:prstDash val="solid"/>
                      <a:round/>
                      <a:headEnd type="none" w="med" len="med"/>
                      <a:tailEnd type="none" w="med" len="med"/>
                    </a:lnB>
                    <a:solidFill>
                      <a:srgbClr val="00AF74"/>
                    </a:solidFill>
                  </a:tcPr>
                </a:tc>
                <a:tc>
                  <a:txBody>
                    <a:bodyPr/>
                    <a:lstStyle/>
                    <a:p>
                      <a:pPr>
                        <a:buNone/>
                      </a:pPr>
                      <a:r>
                        <a:rPr lang="en-US" b="1" noProof="0">
                          <a:solidFill>
                            <a:schemeClr val="bg1"/>
                          </a:solidFill>
                        </a:rPr>
                        <a:t>Rating</a:t>
                      </a:r>
                    </a:p>
                  </a:txBody>
                  <a:tcPr anchor="ctr">
                    <a:lnL>
                      <a:noFill/>
                    </a:lnL>
                    <a:lnR>
                      <a:noFill/>
                    </a:lnR>
                    <a:lnT>
                      <a:noFill/>
                    </a:lnT>
                    <a:lnB w="12700" cap="flat" cmpd="sng" algn="ctr">
                      <a:solidFill>
                        <a:schemeClr val="tx1"/>
                      </a:solidFill>
                      <a:prstDash val="solid"/>
                      <a:round/>
                      <a:headEnd type="none" w="med" len="med"/>
                      <a:tailEnd type="none" w="med" len="med"/>
                    </a:lnB>
                    <a:solidFill>
                      <a:srgbClr val="00AF74"/>
                    </a:solidFill>
                  </a:tcPr>
                </a:tc>
                <a:tc>
                  <a:txBody>
                    <a:bodyPr/>
                    <a:lstStyle/>
                    <a:p>
                      <a:pPr>
                        <a:buNone/>
                      </a:pPr>
                      <a:r>
                        <a:rPr lang="en-US" b="1" noProof="0">
                          <a:solidFill>
                            <a:schemeClr val="bg1"/>
                          </a:solidFill>
                        </a:rPr>
                        <a:t>Interpretation</a:t>
                      </a:r>
                    </a:p>
                  </a:txBody>
                  <a:tcPr anchor="ctr">
                    <a:lnL>
                      <a:noFill/>
                    </a:lnL>
                    <a:lnR>
                      <a:noFill/>
                    </a:lnR>
                    <a:lnT>
                      <a:noFill/>
                    </a:lnT>
                    <a:lnB w="12700" cap="flat" cmpd="sng" algn="ctr">
                      <a:solidFill>
                        <a:schemeClr val="tx1"/>
                      </a:solidFill>
                      <a:prstDash val="solid"/>
                      <a:round/>
                      <a:headEnd type="none" w="med" len="med"/>
                      <a:tailEnd type="none" w="med" len="med"/>
                    </a:lnB>
                    <a:solidFill>
                      <a:srgbClr val="00AF74"/>
                    </a:solidFill>
                  </a:tcPr>
                </a:tc>
                <a:extLst>
                  <a:ext uri="{0D108BD9-81ED-4DB2-BD59-A6C34878D82A}">
                    <a16:rowId xmlns:a16="http://schemas.microsoft.com/office/drawing/2014/main" val="3821429165"/>
                  </a:ext>
                </a:extLst>
              </a:tr>
              <a:tr h="0">
                <a:tc>
                  <a:txBody>
                    <a:bodyPr/>
                    <a:lstStyle/>
                    <a:p>
                      <a:pPr>
                        <a:buNone/>
                      </a:pPr>
                      <a:r>
                        <a:rPr lang="en-US" noProof="0">
                          <a:solidFill>
                            <a:srgbClr val="002060"/>
                          </a:solidFill>
                        </a:rPr>
                        <a:t>&lt;0.02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0">
                          <a:solidFill>
                            <a:srgbClr val="002060"/>
                          </a:solidFill>
                        </a:rPr>
                        <a:t>Excellent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0">
                          <a:solidFill>
                            <a:srgbClr val="002060"/>
                          </a:solidFill>
                        </a:rPr>
                        <a:t>Highly capable process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8775841"/>
                  </a:ext>
                </a:extLst>
              </a:tr>
              <a:tr h="0">
                <a:tc>
                  <a:txBody>
                    <a:bodyPr/>
                    <a:lstStyle/>
                    <a:p>
                      <a:pPr>
                        <a:buNone/>
                      </a:pPr>
                      <a:r>
                        <a:rPr lang="en-US" noProof="0">
                          <a:solidFill>
                            <a:srgbClr val="002060"/>
                          </a:solidFill>
                        </a:rPr>
                        <a:t>0.02-0.05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0">
                          <a:solidFill>
                            <a:srgbClr val="002060"/>
                          </a:solidFill>
                        </a:rPr>
                        <a:t>Good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0">
                          <a:solidFill>
                            <a:srgbClr val="002060"/>
                          </a:solidFill>
                        </a:rPr>
                        <a:t>Minor rework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7346176"/>
                  </a:ext>
                </a:extLst>
              </a:tr>
              <a:tr h="0">
                <a:tc>
                  <a:txBody>
                    <a:bodyPr/>
                    <a:lstStyle/>
                    <a:p>
                      <a:pPr>
                        <a:buNone/>
                      </a:pPr>
                      <a:r>
                        <a:rPr lang="en-US" noProof="0">
                          <a:solidFill>
                            <a:srgbClr val="002060"/>
                          </a:solidFill>
                        </a:rPr>
                        <a:t>0.05-0.10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US" noProof="0">
                          <a:solidFill>
                            <a:srgbClr val="002060"/>
                          </a:solidFill>
                        </a:rPr>
                        <a:t>Within Tolerance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0">
                          <a:solidFill>
                            <a:srgbClr val="002060"/>
                          </a:solidFill>
                        </a:rPr>
                        <a:t>Some recurring defects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2514912"/>
                  </a:ext>
                </a:extLst>
              </a:tr>
              <a:tr h="0">
                <a:tc>
                  <a:txBody>
                    <a:bodyPr/>
                    <a:lstStyle/>
                    <a:p>
                      <a:pPr>
                        <a:buNone/>
                      </a:pPr>
                      <a:r>
                        <a:rPr lang="en-US" noProof="0">
                          <a:solidFill>
                            <a:srgbClr val="002060"/>
                          </a:solidFill>
                        </a:rPr>
                        <a:t>0.10-0.25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0">
                          <a:solidFill>
                            <a:srgbClr val="002060"/>
                          </a:solidFill>
                        </a:rPr>
                        <a:t>Needs Improvement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0">
                          <a:solidFill>
                            <a:srgbClr val="002060"/>
                          </a:solidFill>
                        </a:rPr>
                        <a:t>Noticeable rework burden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0189756"/>
                  </a:ext>
                </a:extLst>
              </a:tr>
              <a:tr h="0">
                <a:tc>
                  <a:txBody>
                    <a:bodyPr/>
                    <a:lstStyle/>
                    <a:p>
                      <a:pPr>
                        <a:buNone/>
                      </a:pPr>
                      <a:r>
                        <a:rPr lang="en-US" noProof="0">
                          <a:solidFill>
                            <a:srgbClr val="002060"/>
                          </a:solidFill>
                        </a:rPr>
                        <a:t>0.25-0.50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0">
                          <a:solidFill>
                            <a:srgbClr val="002060"/>
                          </a:solidFill>
                        </a:rPr>
                        <a:t>Poor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0">
                          <a:solidFill>
                            <a:srgbClr val="002060"/>
                          </a:solidFill>
                        </a:rPr>
                        <a:t>Significant quality issues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7669586"/>
                  </a:ext>
                </a:extLst>
              </a:tr>
              <a:tr h="0">
                <a:tc>
                  <a:txBody>
                    <a:bodyPr/>
                    <a:lstStyle/>
                    <a:p>
                      <a:pPr>
                        <a:buNone/>
                      </a:pPr>
                      <a:r>
                        <a:rPr lang="en-US" noProof="0">
                          <a:solidFill>
                            <a:srgbClr val="002060"/>
                          </a:solidFill>
                        </a:rPr>
                        <a:t>&gt;0.50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0">
                          <a:solidFill>
                            <a:srgbClr val="002060"/>
                          </a:solidFill>
                        </a:rPr>
                        <a:t>Critical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0">
                          <a:solidFill>
                            <a:srgbClr val="002060"/>
                          </a:solidFill>
                        </a:rPr>
                        <a:t>Systemic process problems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9836171"/>
                  </a:ext>
                </a:extLst>
              </a:tr>
            </a:tbl>
          </a:graphicData>
        </a:graphic>
      </p:graphicFrame>
      <p:sp>
        <p:nvSpPr>
          <p:cNvPr id="11" name="Rectangle 10">
            <a:extLst>
              <a:ext uri="{FF2B5EF4-FFF2-40B4-BE49-F238E27FC236}">
                <a16:creationId xmlns:a16="http://schemas.microsoft.com/office/drawing/2014/main" id="{31BC8873-7EE9-0717-9C1A-10B5FDB7E84A}"/>
              </a:ext>
            </a:extLst>
          </p:cNvPr>
          <p:cNvSpPr/>
          <p:nvPr/>
        </p:nvSpPr>
        <p:spPr>
          <a:xfrm>
            <a:off x="5029199" y="2819400"/>
            <a:ext cx="6540501" cy="609600"/>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18" name="Picture 17">
            <a:extLst>
              <a:ext uri="{FF2B5EF4-FFF2-40B4-BE49-F238E27FC236}">
                <a16:creationId xmlns:a16="http://schemas.microsoft.com/office/drawing/2014/main" id="{9E04B1E3-F8EF-9EF0-0881-645B1F96963F}"/>
              </a:ext>
            </a:extLst>
          </p:cNvPr>
          <p:cNvPicPr>
            <a:picLocks noChangeAspect="1"/>
          </p:cNvPicPr>
          <p:nvPr/>
        </p:nvPicPr>
        <p:blipFill>
          <a:blip r:embed="rId3"/>
          <a:stretch>
            <a:fillRect/>
          </a:stretch>
        </p:blipFill>
        <p:spPr>
          <a:xfrm>
            <a:off x="271149" y="4564826"/>
            <a:ext cx="4440947" cy="1527276"/>
          </a:xfrm>
          <a:prstGeom prst="rect">
            <a:avLst/>
          </a:prstGeom>
        </p:spPr>
      </p:pic>
    </p:spTree>
    <p:extLst>
      <p:ext uri="{BB962C8B-B14F-4D97-AF65-F5344CB8AC3E}">
        <p14:creationId xmlns:p14="http://schemas.microsoft.com/office/powerpoint/2010/main" val="3063489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4338F415-8764-5F09-7228-FB88B9551AED}"/>
              </a:ext>
            </a:extLst>
          </p:cNvPr>
          <p:cNvSpPr>
            <a:spLocks noGrp="1"/>
          </p:cNvSpPr>
          <p:nvPr>
            <p:ph type="body" sz="quarter" idx="10"/>
          </p:nvPr>
        </p:nvSpPr>
        <p:spPr>
          <a:xfrm>
            <a:off x="533400" y="283919"/>
            <a:ext cx="9448800" cy="492443"/>
          </a:xfrm>
        </p:spPr>
        <p:txBody>
          <a:bodyPr/>
          <a:lstStyle/>
          <a:p>
            <a:r>
              <a:rPr lang="en-US" sz="3200" noProof="0">
                <a:latin typeface="Trebuchet MS" panose="020B0603020202020204" pitchFamily="34" charset="0"/>
              </a:rPr>
              <a:t>What should we do about it?</a:t>
            </a:r>
          </a:p>
        </p:txBody>
      </p:sp>
      <p:sp>
        <p:nvSpPr>
          <p:cNvPr id="7" name="TextBox 6">
            <a:extLst>
              <a:ext uri="{FF2B5EF4-FFF2-40B4-BE49-F238E27FC236}">
                <a16:creationId xmlns:a16="http://schemas.microsoft.com/office/drawing/2014/main" id="{470AB678-47A0-9F4A-08DC-CD8E6410D3CC}"/>
              </a:ext>
            </a:extLst>
          </p:cNvPr>
          <p:cNvSpPr txBox="1"/>
          <p:nvPr/>
        </p:nvSpPr>
        <p:spPr>
          <a:xfrm>
            <a:off x="3885924" y="2684011"/>
            <a:ext cx="8128000" cy="3293209"/>
          </a:xfrm>
          <a:prstGeom prst="rect">
            <a:avLst/>
          </a:prstGeom>
          <a:noFill/>
        </p:spPr>
        <p:txBody>
          <a:bodyPr wrap="square">
            <a:spAutoFit/>
          </a:bodyPr>
          <a:lstStyle/>
          <a:p>
            <a:r>
              <a:rPr lang="en-US" sz="1600" noProof="0">
                <a:solidFill>
                  <a:srgbClr val="002060"/>
                </a:solidFill>
                <a:latin typeface="Trebuchet MS" panose="020B0603020202020204" pitchFamily="34" charset="0"/>
              </a:rPr>
              <a:t>DPU = 0.0.75 → Acceptable (Recurring)</a:t>
            </a:r>
          </a:p>
          <a:p>
            <a:endParaRPr lang="en-US" sz="1600" noProof="0">
              <a:solidFill>
                <a:srgbClr val="002060"/>
              </a:solidFill>
              <a:latin typeface="Trebuchet MS" panose="020B0603020202020204" pitchFamily="34" charset="0"/>
            </a:endParaRPr>
          </a:p>
          <a:p>
            <a:r>
              <a:rPr lang="en-US" sz="1600" b="1" noProof="0">
                <a:solidFill>
                  <a:srgbClr val="002060"/>
                </a:solidFill>
                <a:latin typeface="Trebuchet MS" panose="020B0603020202020204" pitchFamily="34" charset="0"/>
              </a:rPr>
              <a:t>What this means:</a:t>
            </a:r>
          </a:p>
          <a:p>
            <a:endParaRPr lang="en-US" sz="1600" noProof="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Defects are recurring and are not isolated incidents.</a:t>
            </a:r>
          </a:p>
          <a:p>
            <a:endParaRPr lang="en-US" sz="1600" noProof="0">
              <a:solidFill>
                <a:srgbClr val="002060"/>
              </a:solidFill>
              <a:latin typeface="Trebuchet MS" panose="020B0603020202020204" pitchFamily="34" charset="0"/>
            </a:endParaRPr>
          </a:p>
          <a:p>
            <a:r>
              <a:rPr lang="en-US" sz="1600" b="1" noProof="0">
                <a:solidFill>
                  <a:srgbClr val="002060"/>
                </a:solidFill>
                <a:latin typeface="Trebuchet MS" panose="020B0603020202020204" pitchFamily="34" charset="0"/>
              </a:rPr>
              <a:t>Action focus:</a:t>
            </a:r>
          </a:p>
          <a:p>
            <a:endParaRPr lang="en-US" sz="16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Identifying where defects recurring in the process before it becomes a bigger issue.</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Fixing root causes at high-impact steps.</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Reducing complexity and variation.</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Preventing defects before they happen (not just fixing after).</a:t>
            </a:r>
          </a:p>
        </p:txBody>
      </p:sp>
      <p:sp>
        <p:nvSpPr>
          <p:cNvPr id="9" name="TextBox 8">
            <a:extLst>
              <a:ext uri="{FF2B5EF4-FFF2-40B4-BE49-F238E27FC236}">
                <a16:creationId xmlns:a16="http://schemas.microsoft.com/office/drawing/2014/main" id="{071980C9-4050-A1F3-A7E1-3C7900B17764}"/>
              </a:ext>
            </a:extLst>
          </p:cNvPr>
          <p:cNvSpPr txBox="1"/>
          <p:nvPr/>
        </p:nvSpPr>
        <p:spPr>
          <a:xfrm>
            <a:off x="762000" y="6235527"/>
            <a:ext cx="8839200" cy="338554"/>
          </a:xfrm>
          <a:prstGeom prst="rect">
            <a:avLst/>
          </a:prstGeom>
          <a:solidFill>
            <a:srgbClr val="24408D"/>
          </a:solidFill>
        </p:spPr>
        <p:txBody>
          <a:bodyPr wrap="square">
            <a:spAutoFit/>
          </a:bodyPr>
          <a:lstStyle/>
          <a:p>
            <a:r>
              <a:rPr lang="en-US" sz="1600" b="1" noProof="0">
                <a:solidFill>
                  <a:schemeClr val="bg1"/>
                </a:solidFill>
                <a:latin typeface="Trebuchet MS" panose="020B0603020202020204" pitchFamily="34" charset="0"/>
              </a:rPr>
              <a:t>Key Takeaway: </a:t>
            </a:r>
            <a:r>
              <a:rPr lang="en-US" sz="1600" noProof="0">
                <a:solidFill>
                  <a:schemeClr val="bg1"/>
                </a:solidFill>
                <a:latin typeface="Trebuchet MS" panose="020B0603020202020204" pitchFamily="34" charset="0"/>
              </a:rPr>
              <a:t>At this level, the goal is not to fix individual defects. It is to fix the process.</a:t>
            </a:r>
          </a:p>
        </p:txBody>
      </p:sp>
      <p:graphicFrame>
        <p:nvGraphicFramePr>
          <p:cNvPr id="10" name="Diagram 9">
            <a:extLst>
              <a:ext uri="{FF2B5EF4-FFF2-40B4-BE49-F238E27FC236}">
                <a16:creationId xmlns:a16="http://schemas.microsoft.com/office/drawing/2014/main" id="{9F463222-04F9-1315-295D-C5F4C9AC9A53}"/>
              </a:ext>
            </a:extLst>
          </p:cNvPr>
          <p:cNvGraphicFramePr/>
          <p:nvPr>
            <p:extLst>
              <p:ext uri="{D42A27DB-BD31-4B8C-83A1-F6EECF244321}">
                <p14:modId xmlns:p14="http://schemas.microsoft.com/office/powerpoint/2010/main" val="3361098505"/>
              </p:ext>
            </p:extLst>
          </p:nvPr>
        </p:nvGraphicFramePr>
        <p:xfrm>
          <a:off x="609324" y="120557"/>
          <a:ext cx="11131550" cy="35051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5" name="Picture 14">
            <a:extLst>
              <a:ext uri="{FF2B5EF4-FFF2-40B4-BE49-F238E27FC236}">
                <a16:creationId xmlns:a16="http://schemas.microsoft.com/office/drawing/2014/main" id="{9EFEB982-6C90-7F32-E03B-16068B2DB004}"/>
              </a:ext>
            </a:extLst>
          </p:cNvPr>
          <p:cNvPicPr>
            <a:picLocks noChangeAspect="1"/>
          </p:cNvPicPr>
          <p:nvPr/>
        </p:nvPicPr>
        <p:blipFill>
          <a:blip r:embed="rId8"/>
          <a:stretch>
            <a:fillRect/>
          </a:stretch>
        </p:blipFill>
        <p:spPr>
          <a:xfrm>
            <a:off x="609324" y="2388451"/>
            <a:ext cx="3276600" cy="3276600"/>
          </a:xfrm>
          <a:prstGeom prst="rect">
            <a:avLst/>
          </a:prstGeom>
        </p:spPr>
      </p:pic>
    </p:spTree>
    <p:extLst>
      <p:ext uri="{BB962C8B-B14F-4D97-AF65-F5344CB8AC3E}">
        <p14:creationId xmlns:p14="http://schemas.microsoft.com/office/powerpoint/2010/main" val="1205185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ext Placeholder 6">
            <a:extLst>
              <a:ext uri="{FF2B5EF4-FFF2-40B4-BE49-F238E27FC236}">
                <a16:creationId xmlns:a16="http://schemas.microsoft.com/office/drawing/2014/main" id="{B854D7F8-561E-2140-9A6B-F2B28851105D}"/>
              </a:ext>
            </a:extLst>
          </p:cNvPr>
          <p:cNvSpPr>
            <a:spLocks noGrp="1"/>
          </p:cNvSpPr>
          <p:nvPr>
            <p:ph type="body" sz="quarter" idx="12"/>
          </p:nvPr>
        </p:nvSpPr>
        <p:spPr>
          <a:xfrm>
            <a:off x="286894" y="1605497"/>
            <a:ext cx="11762230" cy="276999"/>
          </a:xfrm>
        </p:spPr>
        <p:txBody>
          <a:bodyPr/>
          <a:lstStyle/>
          <a:p>
            <a:r>
              <a:rPr lang="en-US" sz="1800" b="0" kern="1200" noProof="0">
                <a:solidFill>
                  <a:srgbClr val="172859"/>
                </a:solidFill>
                <a:latin typeface="Trebuchet MS" panose="020B0603020202020204" pitchFamily="34" charset="0"/>
              </a:rPr>
              <a:t>Below are some other key terms you will need to know:</a:t>
            </a:r>
          </a:p>
        </p:txBody>
      </p:sp>
      <p:sp>
        <p:nvSpPr>
          <p:cNvPr id="8" name="Text Placeholder 7">
            <a:extLst>
              <a:ext uri="{FF2B5EF4-FFF2-40B4-BE49-F238E27FC236}">
                <a16:creationId xmlns:a16="http://schemas.microsoft.com/office/drawing/2014/main" id="{6B5991D7-DA0E-0341-965F-EEB4346A713C}"/>
              </a:ext>
            </a:extLst>
          </p:cNvPr>
          <p:cNvSpPr>
            <a:spLocks noGrp="1"/>
          </p:cNvSpPr>
          <p:nvPr>
            <p:ph type="body" sz="quarter" idx="13"/>
          </p:nvPr>
        </p:nvSpPr>
        <p:spPr>
          <a:xfrm>
            <a:off x="286894" y="2647680"/>
            <a:ext cx="4326257" cy="2462213"/>
          </a:xfrm>
        </p:spPr>
        <p:txBody>
          <a:bodyPr/>
          <a:lstStyle/>
          <a:p>
            <a:r>
              <a:rPr lang="en-US" sz="1600" b="1" kern="1200" noProof="0">
                <a:solidFill>
                  <a:srgbClr val="27AAE1"/>
                </a:solidFill>
                <a:latin typeface="Trebuchet MS" panose="020B0603020202020204" pitchFamily="34" charset="0"/>
              </a:rPr>
              <a:t>DPU (Defects per Unit): </a:t>
            </a:r>
            <a:r>
              <a:rPr lang="en-US" sz="1600" kern="1200" noProof="0">
                <a:solidFill>
                  <a:srgbClr val="172859"/>
                </a:solidFill>
                <a:latin typeface="Trebuchet MS" panose="020B0603020202020204" pitchFamily="34" charset="0"/>
              </a:rPr>
              <a:t>Measures defects per unit (e.g. appointment, service, product etc.).</a:t>
            </a:r>
          </a:p>
          <a:p>
            <a:endParaRPr lang="en-US" sz="1600" b="1" kern="1200" noProof="0">
              <a:solidFill>
                <a:srgbClr val="172859"/>
              </a:solidFill>
              <a:latin typeface="Trebuchet MS" panose="020B0603020202020204" pitchFamily="34" charset="0"/>
            </a:endParaRPr>
          </a:p>
          <a:p>
            <a:r>
              <a:rPr lang="en-US" sz="1600" b="1" kern="1200" noProof="0">
                <a:solidFill>
                  <a:srgbClr val="27AAE1"/>
                </a:solidFill>
                <a:latin typeface="Trebuchet MS" panose="020B0603020202020204" pitchFamily="34" charset="0"/>
              </a:rPr>
              <a:t>Number of Opportunities: </a:t>
            </a:r>
            <a:r>
              <a:rPr lang="en-US" sz="1600" kern="1200" noProof="0">
                <a:solidFill>
                  <a:srgbClr val="172859"/>
                </a:solidFill>
                <a:latin typeface="Trebuchet MS" panose="020B0603020202020204" pitchFamily="34" charset="0"/>
              </a:rPr>
              <a:t>The number of chances for a defect to occur within ONE unit.</a:t>
            </a:r>
          </a:p>
          <a:p>
            <a:endParaRPr lang="en-US" sz="1600" b="1" kern="1200" noProof="0">
              <a:solidFill>
                <a:srgbClr val="172859"/>
              </a:solidFill>
              <a:latin typeface="Trebuchet MS" panose="020B0603020202020204" pitchFamily="34" charset="0"/>
            </a:endParaRPr>
          </a:p>
          <a:p>
            <a:r>
              <a:rPr lang="en-US" sz="1600" b="1" kern="1200" noProof="0">
                <a:solidFill>
                  <a:srgbClr val="27AAE1"/>
                </a:solidFill>
                <a:latin typeface="Trebuchet MS" panose="020B0603020202020204" pitchFamily="34" charset="0"/>
              </a:rPr>
              <a:t>Defects per million opportunities (DPMO):</a:t>
            </a:r>
          </a:p>
          <a:p>
            <a:r>
              <a:rPr lang="en-US" sz="1600" kern="1200" noProof="0">
                <a:solidFill>
                  <a:srgbClr val="172859"/>
                </a:solidFill>
                <a:latin typeface="Trebuchet MS" panose="020B0603020202020204" pitchFamily="34" charset="0"/>
              </a:rPr>
              <a:t>Uses DPU and opportunities to calculate (predict) defects per million units. </a:t>
            </a:r>
          </a:p>
          <a:p>
            <a:endParaRPr lang="en-US" sz="1600" b="1" kern="1200" noProof="0">
              <a:solidFill>
                <a:srgbClr val="172859"/>
              </a:solidFill>
              <a:latin typeface="Trebuchet MS" panose="020B0603020202020204" pitchFamily="34" charset="0"/>
            </a:endParaRPr>
          </a:p>
        </p:txBody>
      </p:sp>
      <p:sp>
        <p:nvSpPr>
          <p:cNvPr id="6" name="Text Placeholder 5">
            <a:extLst>
              <a:ext uri="{FF2B5EF4-FFF2-40B4-BE49-F238E27FC236}">
                <a16:creationId xmlns:a16="http://schemas.microsoft.com/office/drawing/2014/main" id="{CF801EC0-0F2F-D947-87B6-8120222C609A}"/>
              </a:ext>
            </a:extLst>
          </p:cNvPr>
          <p:cNvSpPr>
            <a:spLocks noGrp="1"/>
          </p:cNvSpPr>
          <p:nvPr>
            <p:ph type="body" sz="quarter" idx="10"/>
          </p:nvPr>
        </p:nvSpPr>
        <p:spPr>
          <a:xfrm>
            <a:off x="533400" y="381000"/>
            <a:ext cx="8458200" cy="492443"/>
          </a:xfrm>
        </p:spPr>
        <p:txBody>
          <a:bodyPr/>
          <a:lstStyle/>
          <a:p>
            <a:r>
              <a:rPr lang="en-US" sz="3200" noProof="0">
                <a:solidFill>
                  <a:srgbClr val="FFC000"/>
                </a:solidFill>
                <a:latin typeface="Trebuchet MS" panose="020B0603020202020204" pitchFamily="34" charset="0"/>
              </a:rPr>
              <a:t>Calculating DPMO</a:t>
            </a:r>
          </a:p>
        </p:txBody>
      </p:sp>
      <p:pic>
        <p:nvPicPr>
          <p:cNvPr id="3" name="Picture 2">
            <a:extLst>
              <a:ext uri="{FF2B5EF4-FFF2-40B4-BE49-F238E27FC236}">
                <a16:creationId xmlns:a16="http://schemas.microsoft.com/office/drawing/2014/main" id="{43CDD0F2-9480-6FB5-C2C3-CDB3C91AA6F7}"/>
              </a:ext>
            </a:extLst>
          </p:cNvPr>
          <p:cNvPicPr>
            <a:picLocks noChangeAspect="1"/>
          </p:cNvPicPr>
          <p:nvPr/>
        </p:nvPicPr>
        <p:blipFill>
          <a:blip r:embed="rId3"/>
          <a:stretch>
            <a:fillRect/>
          </a:stretch>
        </p:blipFill>
        <p:spPr>
          <a:xfrm>
            <a:off x="4762500" y="2108425"/>
            <a:ext cx="7328614" cy="3216115"/>
          </a:xfrm>
          <a:prstGeom prst="rect">
            <a:avLst/>
          </a:prstGeom>
        </p:spPr>
      </p:pic>
      <p:sp>
        <p:nvSpPr>
          <p:cNvPr id="4" name="TextBox 3">
            <a:extLst>
              <a:ext uri="{FF2B5EF4-FFF2-40B4-BE49-F238E27FC236}">
                <a16:creationId xmlns:a16="http://schemas.microsoft.com/office/drawing/2014/main" id="{33981924-4ABC-3B15-03A4-E875B4C340CF}"/>
              </a:ext>
            </a:extLst>
          </p:cNvPr>
          <p:cNvSpPr txBox="1"/>
          <p:nvPr/>
        </p:nvSpPr>
        <p:spPr>
          <a:xfrm>
            <a:off x="367856" y="5766558"/>
            <a:ext cx="11600306" cy="646331"/>
          </a:xfrm>
          <a:prstGeom prst="rect">
            <a:avLst/>
          </a:prstGeom>
          <a:solidFill>
            <a:srgbClr val="27AAE1"/>
          </a:solidFill>
        </p:spPr>
        <p:txBody>
          <a:bodyPr wrap="square">
            <a:spAutoFit/>
          </a:bodyPr>
          <a:lstStyle/>
          <a:p>
            <a:r>
              <a:rPr lang="en-US" noProof="0">
                <a:solidFill>
                  <a:schemeClr val="bg1"/>
                </a:solidFill>
              </a:rPr>
              <a:t>DPMO doesn't mean you need a million cases, referrals, applications, or employees. It's simply a standardized way of predicting defect rates so different processes can be compared.</a:t>
            </a:r>
          </a:p>
        </p:txBody>
      </p:sp>
    </p:spTree>
    <p:extLst>
      <p:ext uri="{BB962C8B-B14F-4D97-AF65-F5344CB8AC3E}">
        <p14:creationId xmlns:p14="http://schemas.microsoft.com/office/powerpoint/2010/main" val="3577427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ext Placeholder 6">
            <a:extLst>
              <a:ext uri="{FF2B5EF4-FFF2-40B4-BE49-F238E27FC236}">
                <a16:creationId xmlns:a16="http://schemas.microsoft.com/office/drawing/2014/main" id="{B854D7F8-561E-2140-9A6B-F2B28851105D}"/>
              </a:ext>
            </a:extLst>
          </p:cNvPr>
          <p:cNvSpPr>
            <a:spLocks noGrp="1"/>
          </p:cNvSpPr>
          <p:nvPr>
            <p:ph type="body" sz="quarter" idx="12"/>
          </p:nvPr>
        </p:nvSpPr>
        <p:spPr>
          <a:xfrm>
            <a:off x="470280" y="1528545"/>
            <a:ext cx="11188320" cy="800219"/>
          </a:xfrm>
        </p:spPr>
        <p:txBody>
          <a:bodyPr wrap="square" lIns="0" tIns="0" rIns="0" bIns="0" anchor="t">
            <a:spAutoFit/>
          </a:bodyPr>
          <a:lstStyle/>
          <a:p>
            <a:pPr algn="l"/>
            <a:r>
              <a:rPr lang="en-US" sz="1600" b="0" noProof="0">
                <a:latin typeface="Trebuchet MS"/>
                <a:cs typeface="Arial"/>
              </a:rPr>
              <a:t>Opportunities are defined as the number of chances within a process for a defect to occur.</a:t>
            </a:r>
            <a:r>
              <a:rPr lang="en-US" sz="1600" noProof="0">
                <a:latin typeface="Trebuchet MS"/>
                <a:cs typeface="Arial"/>
              </a:rPr>
              <a:t> </a:t>
            </a:r>
            <a:r>
              <a:rPr lang="en-US" sz="1600" b="0" noProof="0">
                <a:latin typeface="Trebuchet MS"/>
                <a:cs typeface="Arial"/>
              </a:rPr>
              <a:t>The more components we have in our processes, the more opportunities there are for defects </a:t>
            </a:r>
            <a:r>
              <a:rPr lang="en-US" sz="1600" b="0">
                <a:latin typeface="Trebuchet MS"/>
                <a:cs typeface="Arial"/>
              </a:rPr>
              <a:t>to</a:t>
            </a:r>
            <a:r>
              <a:rPr lang="en-US" sz="1600" b="0" noProof="0">
                <a:latin typeface="Trebuchet MS"/>
                <a:cs typeface="Arial"/>
              </a:rPr>
              <a:t> occur.</a:t>
            </a:r>
          </a:p>
          <a:p>
            <a:endParaRPr lang="en-US" sz="2000" noProof="0">
              <a:latin typeface="Trebuchet MS" panose="020B0603020202020204" pitchFamily="34" charset="0"/>
            </a:endParaRPr>
          </a:p>
        </p:txBody>
      </p:sp>
      <p:sp>
        <p:nvSpPr>
          <p:cNvPr id="6" name="Text Placeholder 5">
            <a:extLst>
              <a:ext uri="{FF2B5EF4-FFF2-40B4-BE49-F238E27FC236}">
                <a16:creationId xmlns:a16="http://schemas.microsoft.com/office/drawing/2014/main" id="{CF801EC0-0F2F-D947-87B6-8120222C609A}"/>
              </a:ext>
            </a:extLst>
          </p:cNvPr>
          <p:cNvSpPr>
            <a:spLocks noGrp="1"/>
          </p:cNvSpPr>
          <p:nvPr>
            <p:ph type="body" sz="quarter" idx="10"/>
          </p:nvPr>
        </p:nvSpPr>
        <p:spPr>
          <a:xfrm>
            <a:off x="472514" y="403705"/>
            <a:ext cx="9448800" cy="492443"/>
          </a:xfrm>
        </p:spPr>
        <p:txBody>
          <a:bodyPr/>
          <a:lstStyle/>
          <a:p>
            <a:r>
              <a:rPr lang="en-US" sz="3200" noProof="0">
                <a:solidFill>
                  <a:srgbClr val="FFC000"/>
                </a:solidFill>
                <a:latin typeface="Trebuchet MS" panose="020B0603020202020204" pitchFamily="34" charset="0"/>
              </a:rPr>
              <a:t>Example: Opportunity Management</a:t>
            </a:r>
          </a:p>
        </p:txBody>
      </p:sp>
      <p:sp>
        <p:nvSpPr>
          <p:cNvPr id="10" name="Rectangle: Rounded Corners 9">
            <a:extLst>
              <a:ext uri="{FF2B5EF4-FFF2-40B4-BE49-F238E27FC236}">
                <a16:creationId xmlns:a16="http://schemas.microsoft.com/office/drawing/2014/main" id="{171A0E10-746D-D764-45D6-F4E98BD76B86}"/>
              </a:ext>
            </a:extLst>
          </p:cNvPr>
          <p:cNvSpPr/>
          <p:nvPr/>
        </p:nvSpPr>
        <p:spPr>
          <a:xfrm>
            <a:off x="461165" y="2356052"/>
            <a:ext cx="4615543" cy="3428999"/>
          </a:xfrm>
          <a:prstGeom prst="roundRect">
            <a:avLst/>
          </a:prstGeom>
          <a:noFill/>
          <a:ln w="38100">
            <a:solidFill>
              <a:srgbClr val="27AA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000" noProof="0">
              <a:solidFill>
                <a:srgbClr val="24408D"/>
              </a:solidFill>
              <a:latin typeface="Trebuchet MS" panose="020B0603020202020204" pitchFamily="34" charset="0"/>
              <a:cs typeface="Arial" panose="020B0604020202020204" pitchFamily="34" charset="0"/>
            </a:endParaRPr>
          </a:p>
          <a:p>
            <a:endParaRPr lang="en-US" sz="2000" noProof="0">
              <a:solidFill>
                <a:srgbClr val="24408D"/>
              </a:solidFill>
              <a:latin typeface="Trebuchet MS" panose="020B0603020202020204" pitchFamily="34" charset="0"/>
              <a:cs typeface="Arial" panose="020B0604020202020204" pitchFamily="34" charset="0"/>
            </a:endParaRPr>
          </a:p>
          <a:p>
            <a:endParaRPr lang="en-US" sz="2000" noProof="0">
              <a:solidFill>
                <a:srgbClr val="24408D"/>
              </a:solidFill>
              <a:latin typeface="Trebuchet MS" panose="020B0603020202020204" pitchFamily="34" charset="0"/>
              <a:cs typeface="Arial" panose="020B0604020202020204" pitchFamily="34" charset="0"/>
            </a:endParaRPr>
          </a:p>
          <a:p>
            <a:endParaRPr lang="en-US" sz="2000" noProof="0">
              <a:solidFill>
                <a:srgbClr val="24408D"/>
              </a:solidFill>
              <a:latin typeface="Trebuchet MS" panose="020B0603020202020204" pitchFamily="34" charset="0"/>
              <a:cs typeface="Arial" panose="020B0604020202020204" pitchFamily="34" charset="0"/>
            </a:endParaRPr>
          </a:p>
          <a:p>
            <a:endParaRPr lang="en-US" sz="2000" b="1" noProof="0">
              <a:solidFill>
                <a:srgbClr val="24408D"/>
              </a:solidFill>
              <a:latin typeface="Trebuchet MS" panose="020B0603020202020204" pitchFamily="34" charset="0"/>
              <a:cs typeface="Arial" panose="020B0604020202020204" pitchFamily="34" charset="0"/>
            </a:endParaRPr>
          </a:p>
          <a:p>
            <a:r>
              <a:rPr lang="en-US" sz="1400" noProof="0">
                <a:solidFill>
                  <a:srgbClr val="24408D"/>
                </a:solidFill>
                <a:latin typeface="Trebuchet MS" panose="020B0603020202020204" pitchFamily="34" charset="0"/>
                <a:cs typeface="Arial" panose="020B0604020202020204" pitchFamily="34" charset="0"/>
              </a:rPr>
              <a:t>An Occupational Health referral has multiple opportunities for defects, including:</a:t>
            </a:r>
          </a:p>
          <a:p>
            <a:endParaRPr lang="en-US" sz="1000" noProof="0">
              <a:solidFill>
                <a:srgbClr val="24408D"/>
              </a:solidFill>
              <a:latin typeface="Trebuchet MS" panose="020B0603020202020204" pitchFamily="34" charset="0"/>
              <a:cs typeface="Arial" panose="020B0604020202020204" pitchFamily="34" charset="0"/>
            </a:endParaRPr>
          </a:p>
          <a:p>
            <a:pPr marL="285750" indent="-285750">
              <a:buFont typeface="Arial" panose="020B0604020202020204" pitchFamily="34" charset="0"/>
              <a:buChar char="•"/>
            </a:pPr>
            <a:r>
              <a:rPr lang="en-US" sz="1400" noProof="0">
                <a:solidFill>
                  <a:srgbClr val="24408D"/>
                </a:solidFill>
                <a:latin typeface="Trebuchet MS" panose="020B0603020202020204" pitchFamily="34" charset="0"/>
                <a:cs typeface="Arial" panose="020B0604020202020204" pitchFamily="34" charset="0"/>
              </a:rPr>
              <a:t>Referral information incomplete</a:t>
            </a:r>
          </a:p>
          <a:p>
            <a:pPr marL="285750" indent="-285750">
              <a:buFont typeface="Arial" panose="020B0604020202020204" pitchFamily="34" charset="0"/>
              <a:buChar char="•"/>
            </a:pPr>
            <a:r>
              <a:rPr lang="en-US" sz="1400" noProof="0">
                <a:solidFill>
                  <a:srgbClr val="24408D"/>
                </a:solidFill>
                <a:latin typeface="Trebuchet MS" panose="020B0603020202020204" pitchFamily="34" charset="0"/>
                <a:cs typeface="Arial" panose="020B0604020202020204" pitchFamily="34" charset="0"/>
              </a:rPr>
              <a:t>Appointment scheduled incorrectly</a:t>
            </a:r>
          </a:p>
          <a:p>
            <a:pPr marL="285750" indent="-285750">
              <a:buFont typeface="Arial" panose="020B0604020202020204" pitchFamily="34" charset="0"/>
              <a:buChar char="•"/>
            </a:pPr>
            <a:r>
              <a:rPr lang="en-US" sz="1400" noProof="0">
                <a:solidFill>
                  <a:srgbClr val="24408D"/>
                </a:solidFill>
                <a:latin typeface="Trebuchet MS" panose="020B0603020202020204" pitchFamily="34" charset="0"/>
                <a:cs typeface="Arial" panose="020B0604020202020204" pitchFamily="34" charset="0"/>
              </a:rPr>
              <a:t>Medical records incomplete</a:t>
            </a:r>
          </a:p>
          <a:p>
            <a:pPr marL="285750" indent="-285750">
              <a:buFont typeface="Arial" panose="020B0604020202020204" pitchFamily="34" charset="0"/>
              <a:buChar char="•"/>
            </a:pPr>
            <a:r>
              <a:rPr lang="en-US" sz="1400" noProof="0">
                <a:solidFill>
                  <a:srgbClr val="24408D"/>
                </a:solidFill>
                <a:latin typeface="Trebuchet MS" panose="020B0603020202020204" pitchFamily="34" charset="0"/>
                <a:cs typeface="Arial" panose="020B0604020202020204" pitchFamily="34" charset="0"/>
              </a:rPr>
              <a:t>Return-to-work advice not communicated</a:t>
            </a:r>
          </a:p>
          <a:p>
            <a:endParaRPr lang="en-US" sz="1400" noProof="0">
              <a:solidFill>
                <a:srgbClr val="24408D"/>
              </a:solidFill>
              <a:latin typeface="Trebuchet MS" panose="020B0603020202020204" pitchFamily="34" charset="0"/>
              <a:cs typeface="Arial" panose="020B0604020202020204" pitchFamily="34" charset="0"/>
            </a:endParaRPr>
          </a:p>
          <a:p>
            <a:r>
              <a:rPr lang="en-US" sz="1400" noProof="0">
                <a:solidFill>
                  <a:srgbClr val="24408D"/>
                </a:solidFill>
                <a:latin typeface="Trebuchet MS" panose="020B0603020202020204" pitchFamily="34" charset="0"/>
                <a:cs typeface="Arial" panose="020B0604020202020204" pitchFamily="34" charset="0"/>
              </a:rPr>
              <a:t>By simplifying the referral process and using standard templates, the team can reduce process steps and handoffs.</a:t>
            </a:r>
          </a:p>
          <a:p>
            <a:endParaRPr lang="en-US" sz="1600" noProof="0">
              <a:solidFill>
                <a:srgbClr val="24408D"/>
              </a:solidFill>
              <a:latin typeface="Trebuchet MS" panose="020B0603020202020204" pitchFamily="34" charset="0"/>
              <a:cs typeface="Arial" panose="020B0604020202020204" pitchFamily="34" charset="0"/>
            </a:endParaRPr>
          </a:p>
          <a:p>
            <a:endParaRPr lang="en-US" sz="1600" noProof="0">
              <a:solidFill>
                <a:srgbClr val="24408D"/>
              </a:solidFill>
              <a:latin typeface="Trebuchet MS" panose="020B0603020202020204" pitchFamily="34" charset="0"/>
              <a:cs typeface="Arial" panose="020B0604020202020204" pitchFamily="34" charset="0"/>
            </a:endParaRPr>
          </a:p>
          <a:p>
            <a:endParaRPr lang="en-US" sz="2000" noProof="0">
              <a:solidFill>
                <a:srgbClr val="24408D"/>
              </a:solidFill>
              <a:latin typeface="Trebuchet MS" panose="020B0603020202020204" pitchFamily="34" charset="0"/>
              <a:cs typeface="Arial" panose="020B0604020202020204" pitchFamily="34" charset="0"/>
            </a:endParaRPr>
          </a:p>
          <a:p>
            <a:endParaRPr lang="en-US" sz="2000" noProof="0">
              <a:solidFill>
                <a:srgbClr val="24408D"/>
              </a:solidFill>
              <a:latin typeface="Trebuchet MS" panose="020B0603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9F729D24-6789-B832-665B-E48248B5CBF6}"/>
              </a:ext>
            </a:extLst>
          </p:cNvPr>
          <p:cNvSpPr txBox="1"/>
          <p:nvPr/>
        </p:nvSpPr>
        <p:spPr>
          <a:xfrm>
            <a:off x="533400" y="6108187"/>
            <a:ext cx="11381232" cy="490519"/>
          </a:xfrm>
          <a:prstGeom prst="rect">
            <a:avLst/>
          </a:prstGeom>
          <a:solidFill>
            <a:srgbClr val="24408D"/>
          </a:solidFill>
        </p:spPr>
        <p:txBody>
          <a:bodyPr wrap="square">
            <a:spAutoFit/>
          </a:bodyPr>
          <a:lstStyle/>
          <a:p>
            <a:pPr fontAlgn="t">
              <a:lnSpc>
                <a:spcPts val="1500"/>
              </a:lnSpc>
              <a:buNone/>
            </a:pPr>
            <a:r>
              <a:rPr lang="en-US" sz="1400" b="1" noProof="0">
                <a:solidFill>
                  <a:schemeClr val="bg1"/>
                </a:solidFill>
                <a:latin typeface="Segoe UI" panose="020B0502040204020203" pitchFamily="34" charset="0"/>
              </a:rPr>
              <a:t>Key Takeaway: </a:t>
            </a:r>
            <a:r>
              <a:rPr lang="en-US" sz="1400" noProof="0">
                <a:solidFill>
                  <a:schemeClr val="bg1"/>
                </a:solidFill>
                <a:latin typeface="Segoe UI" panose="020B0502040204020203" pitchFamily="34" charset="0"/>
              </a:rPr>
              <a:t>Reducing opportunities for defects is often achieved by removing unnecessary steps, approvals, and handoffs while retaining the activities that add value for the customer.</a:t>
            </a:r>
          </a:p>
        </p:txBody>
      </p:sp>
      <p:sp>
        <p:nvSpPr>
          <p:cNvPr id="2" name="Rectangle 1">
            <a:extLst>
              <a:ext uri="{FF2B5EF4-FFF2-40B4-BE49-F238E27FC236}">
                <a16:creationId xmlns:a16="http://schemas.microsoft.com/office/drawing/2014/main" id="{2695BF54-0BCE-99A3-D0E7-401DA592A2AC}"/>
              </a:ext>
            </a:extLst>
          </p:cNvPr>
          <p:cNvSpPr/>
          <p:nvPr/>
        </p:nvSpPr>
        <p:spPr>
          <a:xfrm>
            <a:off x="5791200" y="2646312"/>
            <a:ext cx="1600200" cy="2967839"/>
          </a:xfrm>
          <a:prstGeom prst="rect">
            <a:avLst/>
          </a:prstGeom>
          <a:solidFill>
            <a:schemeClr val="bg1">
              <a:lumMod val="95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noProof="0"/>
          </a:p>
        </p:txBody>
      </p:sp>
      <p:sp>
        <p:nvSpPr>
          <p:cNvPr id="4" name="Rectangle 3">
            <a:extLst>
              <a:ext uri="{FF2B5EF4-FFF2-40B4-BE49-F238E27FC236}">
                <a16:creationId xmlns:a16="http://schemas.microsoft.com/office/drawing/2014/main" id="{2DFE3394-EBB9-CAAD-E160-136C896DA0F6}"/>
              </a:ext>
            </a:extLst>
          </p:cNvPr>
          <p:cNvSpPr/>
          <p:nvPr/>
        </p:nvSpPr>
        <p:spPr>
          <a:xfrm>
            <a:off x="7828242" y="2646312"/>
            <a:ext cx="1600200" cy="2967839"/>
          </a:xfrm>
          <a:prstGeom prst="rect">
            <a:avLst/>
          </a:prstGeom>
          <a:solidFill>
            <a:schemeClr val="bg1">
              <a:lumMod val="95000"/>
            </a:schemeClr>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Rectangle 4">
            <a:extLst>
              <a:ext uri="{FF2B5EF4-FFF2-40B4-BE49-F238E27FC236}">
                <a16:creationId xmlns:a16="http://schemas.microsoft.com/office/drawing/2014/main" id="{36D7D7F5-C32C-0B3A-AF14-8A5DB6098574}"/>
              </a:ext>
            </a:extLst>
          </p:cNvPr>
          <p:cNvSpPr/>
          <p:nvPr/>
        </p:nvSpPr>
        <p:spPr>
          <a:xfrm>
            <a:off x="6018313" y="2818899"/>
            <a:ext cx="1143000" cy="360000"/>
          </a:xfrm>
          <a:prstGeom prst="rect">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t>Referral</a:t>
            </a:r>
          </a:p>
        </p:txBody>
      </p:sp>
      <p:sp>
        <p:nvSpPr>
          <p:cNvPr id="11" name="Rectangle 10">
            <a:extLst>
              <a:ext uri="{FF2B5EF4-FFF2-40B4-BE49-F238E27FC236}">
                <a16:creationId xmlns:a16="http://schemas.microsoft.com/office/drawing/2014/main" id="{76BEB9BF-C540-A7F1-753E-0A9F680E6643}"/>
              </a:ext>
            </a:extLst>
          </p:cNvPr>
          <p:cNvSpPr/>
          <p:nvPr/>
        </p:nvSpPr>
        <p:spPr>
          <a:xfrm>
            <a:off x="6019800" y="3280948"/>
            <a:ext cx="1143000" cy="360000"/>
          </a:xfrm>
          <a:prstGeom prst="rect">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t>Review</a:t>
            </a:r>
          </a:p>
        </p:txBody>
      </p:sp>
      <p:sp>
        <p:nvSpPr>
          <p:cNvPr id="13" name="Rectangle 12">
            <a:extLst>
              <a:ext uri="{FF2B5EF4-FFF2-40B4-BE49-F238E27FC236}">
                <a16:creationId xmlns:a16="http://schemas.microsoft.com/office/drawing/2014/main" id="{FF1C469B-F95E-FC8D-FF78-F8B281D5247D}"/>
              </a:ext>
            </a:extLst>
          </p:cNvPr>
          <p:cNvSpPr/>
          <p:nvPr/>
        </p:nvSpPr>
        <p:spPr>
          <a:xfrm>
            <a:off x="6019800" y="3738190"/>
            <a:ext cx="1143000" cy="360000"/>
          </a:xfrm>
          <a:prstGeom prst="rect">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t>Approval</a:t>
            </a:r>
          </a:p>
        </p:txBody>
      </p:sp>
      <p:sp>
        <p:nvSpPr>
          <p:cNvPr id="14" name="Rectangle 13">
            <a:extLst>
              <a:ext uri="{FF2B5EF4-FFF2-40B4-BE49-F238E27FC236}">
                <a16:creationId xmlns:a16="http://schemas.microsoft.com/office/drawing/2014/main" id="{61099C0F-7804-6C0E-8F1D-5C125B698A51}"/>
              </a:ext>
            </a:extLst>
          </p:cNvPr>
          <p:cNvSpPr/>
          <p:nvPr/>
        </p:nvSpPr>
        <p:spPr>
          <a:xfrm>
            <a:off x="6019800" y="4198303"/>
            <a:ext cx="1143000" cy="360000"/>
          </a:xfrm>
          <a:prstGeom prst="rect">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t>Assessment</a:t>
            </a:r>
          </a:p>
        </p:txBody>
      </p:sp>
      <p:sp>
        <p:nvSpPr>
          <p:cNvPr id="15" name="Rectangle 14">
            <a:extLst>
              <a:ext uri="{FF2B5EF4-FFF2-40B4-BE49-F238E27FC236}">
                <a16:creationId xmlns:a16="http://schemas.microsoft.com/office/drawing/2014/main" id="{3FB9F0E6-E89C-9F8E-17D9-28AF8513EC1E}"/>
              </a:ext>
            </a:extLst>
          </p:cNvPr>
          <p:cNvSpPr/>
          <p:nvPr/>
        </p:nvSpPr>
        <p:spPr>
          <a:xfrm>
            <a:off x="6019800" y="4671450"/>
            <a:ext cx="1143000" cy="360000"/>
          </a:xfrm>
          <a:prstGeom prst="rect">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t>Documentation</a:t>
            </a:r>
          </a:p>
        </p:txBody>
      </p:sp>
      <p:sp>
        <p:nvSpPr>
          <p:cNvPr id="16" name="Rectangle 15">
            <a:extLst>
              <a:ext uri="{FF2B5EF4-FFF2-40B4-BE49-F238E27FC236}">
                <a16:creationId xmlns:a16="http://schemas.microsoft.com/office/drawing/2014/main" id="{CBE87DAC-9BA1-7D2B-87C2-37F6560EC9A8}"/>
              </a:ext>
            </a:extLst>
          </p:cNvPr>
          <p:cNvSpPr/>
          <p:nvPr/>
        </p:nvSpPr>
        <p:spPr>
          <a:xfrm>
            <a:off x="6019800" y="5150437"/>
            <a:ext cx="1143000" cy="360000"/>
          </a:xfrm>
          <a:prstGeom prst="rect">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t>Communication</a:t>
            </a:r>
          </a:p>
        </p:txBody>
      </p:sp>
      <p:sp>
        <p:nvSpPr>
          <p:cNvPr id="17" name="Rectangle 16">
            <a:extLst>
              <a:ext uri="{FF2B5EF4-FFF2-40B4-BE49-F238E27FC236}">
                <a16:creationId xmlns:a16="http://schemas.microsoft.com/office/drawing/2014/main" id="{9E8A4066-E465-5DA2-E438-6E6CDFFEE670}"/>
              </a:ext>
            </a:extLst>
          </p:cNvPr>
          <p:cNvSpPr/>
          <p:nvPr/>
        </p:nvSpPr>
        <p:spPr>
          <a:xfrm>
            <a:off x="8056842" y="2875496"/>
            <a:ext cx="1143000" cy="360000"/>
          </a:xfrm>
          <a:prstGeom prst="rect">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t>Referral</a:t>
            </a:r>
          </a:p>
        </p:txBody>
      </p:sp>
      <p:sp>
        <p:nvSpPr>
          <p:cNvPr id="19" name="Rectangle 18">
            <a:extLst>
              <a:ext uri="{FF2B5EF4-FFF2-40B4-BE49-F238E27FC236}">
                <a16:creationId xmlns:a16="http://schemas.microsoft.com/office/drawing/2014/main" id="{31F05B7D-6F71-B15F-57AA-CA35F8A72110}"/>
              </a:ext>
            </a:extLst>
          </p:cNvPr>
          <p:cNvSpPr/>
          <p:nvPr/>
        </p:nvSpPr>
        <p:spPr>
          <a:xfrm>
            <a:off x="8056842" y="3431232"/>
            <a:ext cx="1143000" cy="360000"/>
          </a:xfrm>
          <a:prstGeom prst="rect">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t>Booking</a:t>
            </a:r>
          </a:p>
        </p:txBody>
      </p:sp>
      <p:sp>
        <p:nvSpPr>
          <p:cNvPr id="20" name="Rectangle 19">
            <a:extLst>
              <a:ext uri="{FF2B5EF4-FFF2-40B4-BE49-F238E27FC236}">
                <a16:creationId xmlns:a16="http://schemas.microsoft.com/office/drawing/2014/main" id="{DBE3F03F-CDCA-7AD3-3788-22632F231190}"/>
              </a:ext>
            </a:extLst>
          </p:cNvPr>
          <p:cNvSpPr/>
          <p:nvPr/>
        </p:nvSpPr>
        <p:spPr>
          <a:xfrm>
            <a:off x="8056842" y="3960753"/>
            <a:ext cx="1143000" cy="360000"/>
          </a:xfrm>
          <a:prstGeom prst="rect">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t>Assessment</a:t>
            </a:r>
          </a:p>
        </p:txBody>
      </p:sp>
      <p:sp>
        <p:nvSpPr>
          <p:cNvPr id="21" name="Rectangle 20">
            <a:extLst>
              <a:ext uri="{FF2B5EF4-FFF2-40B4-BE49-F238E27FC236}">
                <a16:creationId xmlns:a16="http://schemas.microsoft.com/office/drawing/2014/main" id="{AC6C0428-58F3-7962-0099-0A0FE82D0DE1}"/>
              </a:ext>
            </a:extLst>
          </p:cNvPr>
          <p:cNvSpPr/>
          <p:nvPr/>
        </p:nvSpPr>
        <p:spPr>
          <a:xfrm>
            <a:off x="8056842" y="4517938"/>
            <a:ext cx="1143000" cy="360000"/>
          </a:xfrm>
          <a:prstGeom prst="rect">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t>Report</a:t>
            </a:r>
          </a:p>
        </p:txBody>
      </p:sp>
      <p:sp>
        <p:nvSpPr>
          <p:cNvPr id="22" name="Rectangle 21">
            <a:extLst>
              <a:ext uri="{FF2B5EF4-FFF2-40B4-BE49-F238E27FC236}">
                <a16:creationId xmlns:a16="http://schemas.microsoft.com/office/drawing/2014/main" id="{392C6962-7580-0BDC-0058-9E3F8FF0FAC0}"/>
              </a:ext>
            </a:extLst>
          </p:cNvPr>
          <p:cNvSpPr/>
          <p:nvPr/>
        </p:nvSpPr>
        <p:spPr>
          <a:xfrm>
            <a:off x="8056842" y="5087304"/>
            <a:ext cx="1143000" cy="360000"/>
          </a:xfrm>
          <a:prstGeom prst="rect">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t>Communication</a:t>
            </a:r>
          </a:p>
        </p:txBody>
      </p:sp>
      <p:sp>
        <p:nvSpPr>
          <p:cNvPr id="37" name="Rectangle 36">
            <a:extLst>
              <a:ext uri="{FF2B5EF4-FFF2-40B4-BE49-F238E27FC236}">
                <a16:creationId xmlns:a16="http://schemas.microsoft.com/office/drawing/2014/main" id="{11D15450-D2C7-30FD-A762-0B852CDF320D}"/>
              </a:ext>
            </a:extLst>
          </p:cNvPr>
          <p:cNvSpPr/>
          <p:nvPr/>
        </p:nvSpPr>
        <p:spPr>
          <a:xfrm>
            <a:off x="5791200" y="2362200"/>
            <a:ext cx="1600200" cy="311059"/>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t>Complex</a:t>
            </a:r>
          </a:p>
        </p:txBody>
      </p:sp>
      <p:sp>
        <p:nvSpPr>
          <p:cNvPr id="38" name="Rectangle 37">
            <a:extLst>
              <a:ext uri="{FF2B5EF4-FFF2-40B4-BE49-F238E27FC236}">
                <a16:creationId xmlns:a16="http://schemas.microsoft.com/office/drawing/2014/main" id="{AE4C41B1-169E-F728-72AC-6D14830F0E95}"/>
              </a:ext>
            </a:extLst>
          </p:cNvPr>
          <p:cNvSpPr/>
          <p:nvPr/>
        </p:nvSpPr>
        <p:spPr>
          <a:xfrm>
            <a:off x="7828242" y="2368622"/>
            <a:ext cx="1600200" cy="311059"/>
          </a:xfrm>
          <a:prstGeom prst="rect">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t>Simplified</a:t>
            </a:r>
          </a:p>
        </p:txBody>
      </p:sp>
      <p:sp>
        <p:nvSpPr>
          <p:cNvPr id="41" name="TextBox 40">
            <a:extLst>
              <a:ext uri="{FF2B5EF4-FFF2-40B4-BE49-F238E27FC236}">
                <a16:creationId xmlns:a16="http://schemas.microsoft.com/office/drawing/2014/main" id="{17BFCBA0-9079-5E5F-E466-AD700C77E954}"/>
              </a:ext>
            </a:extLst>
          </p:cNvPr>
          <p:cNvSpPr txBox="1"/>
          <p:nvPr/>
        </p:nvSpPr>
        <p:spPr>
          <a:xfrm>
            <a:off x="9601200" y="3066804"/>
            <a:ext cx="2252726" cy="1917807"/>
          </a:xfrm>
          <a:prstGeom prst="roundRect">
            <a:avLst>
              <a:gd name="adj" fmla="val 9148"/>
            </a:avLst>
          </a:prstGeom>
          <a:solidFill>
            <a:srgbClr val="27AAE1"/>
          </a:solidFill>
        </p:spPr>
        <p:txBody>
          <a:bodyPr wrap="square" lIns="91440" tIns="45720" rIns="91440" bIns="45720" anchor="t">
            <a:spAutoFit/>
          </a:bodyPr>
          <a:lstStyle/>
          <a:p>
            <a:pPr fontAlgn="t">
              <a:lnSpc>
                <a:spcPts val="1500"/>
              </a:lnSpc>
              <a:buNone/>
            </a:pPr>
            <a:r>
              <a:rPr lang="en-US" sz="1400" b="1" noProof="0">
                <a:solidFill>
                  <a:schemeClr val="bg1"/>
                </a:solidFill>
                <a:latin typeface="Trebuchet MS" panose="020B0603020202020204" pitchFamily="34" charset="0"/>
              </a:rPr>
              <a:t>Example </a:t>
            </a:r>
            <a:r>
              <a:rPr lang="en-US" sz="1400" b="1" i="0" noProof="0">
                <a:solidFill>
                  <a:schemeClr val="bg1"/>
                </a:solidFill>
                <a:effectLst/>
                <a:latin typeface="Trebuchet MS" panose="020B0603020202020204" pitchFamily="34" charset="0"/>
              </a:rPr>
              <a:t>Improvements:</a:t>
            </a:r>
          </a:p>
          <a:p>
            <a:pPr fontAlgn="t">
              <a:lnSpc>
                <a:spcPts val="1500"/>
              </a:lnSpc>
              <a:buNone/>
            </a:pPr>
            <a:endParaRPr lang="en-US" sz="1400" b="0" i="0" noProof="0">
              <a:solidFill>
                <a:schemeClr val="bg1"/>
              </a:solidFill>
              <a:effectLst/>
              <a:latin typeface="Trebuchet MS" panose="020B0603020202020204" pitchFamily="34" charset="0"/>
            </a:endParaRPr>
          </a:p>
          <a:p>
            <a:pPr marL="171450" indent="-171450" fontAlgn="t">
              <a:lnSpc>
                <a:spcPts val="1500"/>
              </a:lnSpc>
              <a:buFont typeface="Arial" panose="020B0604020202020204" pitchFamily="34" charset="0"/>
              <a:buChar char="•"/>
            </a:pPr>
            <a:r>
              <a:rPr lang="en-US" sz="1400" b="0" i="0" noProof="0">
                <a:solidFill>
                  <a:schemeClr val="bg1"/>
                </a:solidFill>
                <a:effectLst/>
                <a:latin typeface="Trebuchet MS" panose="020B0603020202020204" pitchFamily="34" charset="0"/>
              </a:rPr>
              <a:t>Referral review incorporated into booking.</a:t>
            </a:r>
          </a:p>
          <a:p>
            <a:pPr marL="171450" indent="-171450">
              <a:lnSpc>
                <a:spcPts val="1500"/>
              </a:lnSpc>
              <a:buFont typeface="Arial" panose="020B0604020202020204" pitchFamily="34" charset="0"/>
              <a:buChar char="•"/>
            </a:pPr>
            <a:endParaRPr lang="en-US" sz="1400">
              <a:solidFill>
                <a:schemeClr val="bg1"/>
              </a:solidFill>
              <a:latin typeface="Trebuchet MS"/>
            </a:endParaRPr>
          </a:p>
          <a:p>
            <a:pPr marL="171450" indent="-171450" fontAlgn="t">
              <a:lnSpc>
                <a:spcPts val="1500"/>
              </a:lnSpc>
              <a:buFont typeface="Arial" panose="020B0604020202020204" pitchFamily="34" charset="0"/>
              <a:buChar char="•"/>
            </a:pPr>
            <a:r>
              <a:rPr lang="en-US" sz="1400">
                <a:solidFill>
                  <a:schemeClr val="bg1"/>
                </a:solidFill>
                <a:latin typeface="Trebuchet MS"/>
              </a:rPr>
              <a:t>U</a:t>
            </a:r>
            <a:r>
              <a:rPr lang="en-US" sz="1400" b="0" i="0" noProof="0">
                <a:solidFill>
                  <a:schemeClr val="bg1"/>
                </a:solidFill>
                <a:effectLst/>
                <a:latin typeface="Trebuchet MS"/>
              </a:rPr>
              <a:t>nnecessary approval removed.</a:t>
            </a:r>
          </a:p>
        </p:txBody>
      </p:sp>
      <p:sp>
        <p:nvSpPr>
          <p:cNvPr id="3" name="Rectangle: Rounded Corners 2">
            <a:extLst>
              <a:ext uri="{FF2B5EF4-FFF2-40B4-BE49-F238E27FC236}">
                <a16:creationId xmlns:a16="http://schemas.microsoft.com/office/drawing/2014/main" id="{56F271CE-21B7-B6E0-8BDE-696C6C934AFA}"/>
              </a:ext>
            </a:extLst>
          </p:cNvPr>
          <p:cNvSpPr/>
          <p:nvPr/>
        </p:nvSpPr>
        <p:spPr>
          <a:xfrm>
            <a:off x="470280" y="2230786"/>
            <a:ext cx="4597312" cy="634521"/>
          </a:xfrm>
          <a:prstGeom prst="roundRect">
            <a:avLst>
              <a:gd name="adj" fmla="val 28932"/>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latin typeface="Trebuchet MS" panose="020B0603020202020204" pitchFamily="34" charset="0"/>
              </a:rPr>
              <a:t>Occupational Health Example</a:t>
            </a:r>
          </a:p>
        </p:txBody>
      </p:sp>
    </p:spTree>
    <p:extLst>
      <p:ext uri="{BB962C8B-B14F-4D97-AF65-F5344CB8AC3E}">
        <p14:creationId xmlns:p14="http://schemas.microsoft.com/office/powerpoint/2010/main" val="2598756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ext Placeholder 6">
            <a:extLst>
              <a:ext uri="{FF2B5EF4-FFF2-40B4-BE49-F238E27FC236}">
                <a16:creationId xmlns:a16="http://schemas.microsoft.com/office/drawing/2014/main" id="{B854D7F8-561E-2140-9A6B-F2B28851105D}"/>
              </a:ext>
            </a:extLst>
          </p:cNvPr>
          <p:cNvSpPr>
            <a:spLocks noGrp="1"/>
          </p:cNvSpPr>
          <p:nvPr>
            <p:ph type="body" sz="quarter" idx="12"/>
          </p:nvPr>
        </p:nvSpPr>
        <p:spPr>
          <a:xfrm>
            <a:off x="533400" y="1524000"/>
            <a:ext cx="10820400" cy="276999"/>
          </a:xfrm>
        </p:spPr>
        <p:txBody>
          <a:bodyPr/>
          <a:lstStyle/>
          <a:p>
            <a:r>
              <a:rPr lang="en-US" sz="1800" noProof="0">
                <a:latin typeface="Trebuchet MS" panose="020B0603020202020204" pitchFamily="34" charset="0"/>
              </a:rPr>
              <a:t>When working out the number of opportunities for defects, you need to ensure consistency. </a:t>
            </a:r>
          </a:p>
        </p:txBody>
      </p:sp>
      <p:sp>
        <p:nvSpPr>
          <p:cNvPr id="6" name="Text Placeholder 5">
            <a:extLst>
              <a:ext uri="{FF2B5EF4-FFF2-40B4-BE49-F238E27FC236}">
                <a16:creationId xmlns:a16="http://schemas.microsoft.com/office/drawing/2014/main" id="{CF801EC0-0F2F-D947-87B6-8120222C609A}"/>
              </a:ext>
            </a:extLst>
          </p:cNvPr>
          <p:cNvSpPr>
            <a:spLocks noGrp="1"/>
          </p:cNvSpPr>
          <p:nvPr>
            <p:ph type="body" sz="quarter" idx="10"/>
          </p:nvPr>
        </p:nvSpPr>
        <p:spPr>
          <a:xfrm>
            <a:off x="533400" y="381000"/>
            <a:ext cx="8458200" cy="492443"/>
          </a:xfrm>
        </p:spPr>
        <p:txBody>
          <a:bodyPr/>
          <a:lstStyle/>
          <a:p>
            <a:r>
              <a:rPr lang="en-US" sz="3200" noProof="0">
                <a:solidFill>
                  <a:srgbClr val="FFC000"/>
                </a:solidFill>
                <a:latin typeface="Trebuchet MS" panose="020B0603020202020204" pitchFamily="34" charset="0"/>
              </a:rPr>
              <a:t>How to Determine Opportunities</a:t>
            </a:r>
          </a:p>
        </p:txBody>
      </p:sp>
      <p:graphicFrame>
        <p:nvGraphicFramePr>
          <p:cNvPr id="4" name="Table 7">
            <a:extLst>
              <a:ext uri="{FF2B5EF4-FFF2-40B4-BE49-F238E27FC236}">
                <a16:creationId xmlns:a16="http://schemas.microsoft.com/office/drawing/2014/main" id="{E06E394A-A7C1-7E76-3368-B612F1A5A3FA}"/>
              </a:ext>
            </a:extLst>
          </p:cNvPr>
          <p:cNvGraphicFramePr>
            <a:graphicFrameLocks noGrp="1"/>
          </p:cNvGraphicFramePr>
          <p:nvPr>
            <p:extLst>
              <p:ext uri="{D42A27DB-BD31-4B8C-83A1-F6EECF244321}">
                <p14:modId xmlns:p14="http://schemas.microsoft.com/office/powerpoint/2010/main" val="4265802024"/>
              </p:ext>
            </p:extLst>
          </p:nvPr>
        </p:nvGraphicFramePr>
        <p:xfrm>
          <a:off x="533400" y="2286000"/>
          <a:ext cx="10944226" cy="3134360"/>
        </p:xfrm>
        <a:graphic>
          <a:graphicData uri="http://schemas.openxmlformats.org/drawingml/2006/table">
            <a:tbl>
              <a:tblPr firstRow="1" bandRow="1">
                <a:tableStyleId>{69CF1AB2-1976-4502-BF36-3FF5EA218861}</a:tableStyleId>
              </a:tblPr>
              <a:tblGrid>
                <a:gridCol w="893406">
                  <a:extLst>
                    <a:ext uri="{9D8B030D-6E8A-4147-A177-3AD203B41FA5}">
                      <a16:colId xmlns:a16="http://schemas.microsoft.com/office/drawing/2014/main" val="2556741801"/>
                    </a:ext>
                  </a:extLst>
                </a:gridCol>
                <a:gridCol w="10050820">
                  <a:extLst>
                    <a:ext uri="{9D8B030D-6E8A-4147-A177-3AD203B41FA5}">
                      <a16:colId xmlns:a16="http://schemas.microsoft.com/office/drawing/2014/main" val="2143432187"/>
                    </a:ext>
                  </a:extLst>
                </a:gridCol>
              </a:tblGrid>
              <a:tr h="370840">
                <a:tc>
                  <a:txBody>
                    <a:bodyPr/>
                    <a:lstStyle/>
                    <a:p>
                      <a:pPr algn="ctr"/>
                      <a:r>
                        <a:rPr lang="en-US" sz="1600" b="1" noProof="0">
                          <a:solidFill>
                            <a:schemeClr val="bg1"/>
                          </a:solidFill>
                          <a:latin typeface="Trebuchet MS" panose="020B0603020202020204" pitchFamily="34" charset="0"/>
                        </a:rPr>
                        <a:t>1.</a:t>
                      </a:r>
                      <a:endParaRPr lang="en-US" sz="1600" b="1" noProof="0">
                        <a:solidFill>
                          <a:schemeClr val="bg1"/>
                        </a:solidFill>
                        <a:latin typeface="Trebuchet MS" panose="020B0603020202020204" pitchFamily="34" charset="0"/>
                        <a:cs typeface="Arial" panose="020B0604020202020204" pitchFamily="34" charset="0"/>
                      </a:endParaRPr>
                    </a:p>
                  </a:txBody>
                  <a:tcPr>
                    <a:solidFill>
                      <a:srgbClr val="24408D"/>
                    </a:solidFill>
                  </a:tcPr>
                </a:tc>
                <a:tc>
                  <a:txBody>
                    <a:bodyPr/>
                    <a:lstStyle/>
                    <a:p>
                      <a:r>
                        <a:rPr lang="en-US" sz="1400" b="1" noProof="0">
                          <a:solidFill>
                            <a:srgbClr val="002060"/>
                          </a:solidFill>
                          <a:latin typeface="Trebuchet MS" panose="020B0603020202020204" pitchFamily="34" charset="0"/>
                        </a:rPr>
                        <a:t>Identify defects</a:t>
                      </a:r>
                      <a:r>
                        <a:rPr lang="en-US" sz="1400" b="0" noProof="0">
                          <a:solidFill>
                            <a:srgbClr val="002060"/>
                          </a:solidFill>
                          <a:latin typeface="Trebuchet MS" panose="020B0603020202020204" pitchFamily="34" charset="0"/>
                        </a:rPr>
                        <a:t>: Prepare an initial list of possible defect types.</a:t>
                      </a:r>
                      <a:endParaRPr lang="en-US" sz="1400" b="0" noProof="0">
                        <a:solidFill>
                          <a:srgbClr val="002060"/>
                        </a:solidFill>
                        <a:latin typeface="Trebuchet MS" panose="020B0603020202020204" pitchFamily="34" charset="0"/>
                        <a:cs typeface="Arial" panose="020B0604020202020204" pitchFamily="34" charset="0"/>
                      </a:endParaRPr>
                    </a:p>
                  </a:txBody>
                  <a:tcPr/>
                </a:tc>
                <a:extLst>
                  <a:ext uri="{0D108BD9-81ED-4DB2-BD59-A6C34878D82A}">
                    <a16:rowId xmlns:a16="http://schemas.microsoft.com/office/drawing/2014/main" val="253042231"/>
                  </a:ext>
                </a:extLst>
              </a:tr>
              <a:tr h="370840">
                <a:tc>
                  <a:txBody>
                    <a:bodyPr/>
                    <a:lstStyle/>
                    <a:p>
                      <a:pPr algn="ctr"/>
                      <a:r>
                        <a:rPr lang="en-US" sz="1600" b="1" noProof="0">
                          <a:solidFill>
                            <a:schemeClr val="bg1"/>
                          </a:solidFill>
                          <a:latin typeface="Trebuchet MS" panose="020B0603020202020204" pitchFamily="34" charset="0"/>
                        </a:rPr>
                        <a:t>2.</a:t>
                      </a:r>
                      <a:endParaRPr lang="en-US" sz="1600" b="1" noProof="0">
                        <a:solidFill>
                          <a:schemeClr val="bg1"/>
                        </a:solidFill>
                        <a:latin typeface="Trebuchet MS" panose="020B0603020202020204" pitchFamily="34" charset="0"/>
                        <a:cs typeface="Arial" panose="020B0604020202020204" pitchFamily="34" charset="0"/>
                      </a:endParaRPr>
                    </a:p>
                  </a:txBody>
                  <a:tcPr>
                    <a:solidFill>
                      <a:srgbClr val="24408D"/>
                    </a:solidFill>
                  </a:tcPr>
                </a:tc>
                <a:tc>
                  <a:txBody>
                    <a:bodyPr/>
                    <a:lstStyle/>
                    <a:p>
                      <a:r>
                        <a:rPr lang="en-US" sz="1400" b="1" noProof="0">
                          <a:solidFill>
                            <a:srgbClr val="002060"/>
                          </a:solidFill>
                          <a:latin typeface="Trebuchet MS" panose="020B0603020202020204" pitchFamily="34" charset="0"/>
                        </a:rPr>
                        <a:t>Categorize defects:</a:t>
                      </a:r>
                    </a:p>
                    <a:p>
                      <a:pPr marL="285750" indent="-285750">
                        <a:buFont typeface="Arial" panose="020B0604020202020204" pitchFamily="34" charset="0"/>
                        <a:buChar char="•"/>
                      </a:pPr>
                      <a:r>
                        <a:rPr lang="en-US" sz="1400" b="1" noProof="0">
                          <a:solidFill>
                            <a:srgbClr val="002060"/>
                          </a:solidFill>
                          <a:latin typeface="Trebuchet MS" panose="020B0603020202020204" pitchFamily="34" charset="0"/>
                        </a:rPr>
                        <a:t>Actual defects </a:t>
                      </a:r>
                      <a:r>
                        <a:rPr lang="en-US" sz="1400" b="0" noProof="0">
                          <a:solidFill>
                            <a:srgbClr val="002060"/>
                          </a:solidFill>
                          <a:latin typeface="Trebuchet MS" panose="020B0603020202020204" pitchFamily="34" charset="0"/>
                        </a:rPr>
                        <a:t>– physical faults (e.g., cracks, damage).</a:t>
                      </a:r>
                    </a:p>
                    <a:p>
                      <a:pPr marL="285750" indent="-285750">
                        <a:buFont typeface="Arial" panose="020B0604020202020204" pitchFamily="34" charset="0"/>
                        <a:buChar char="•"/>
                      </a:pPr>
                      <a:r>
                        <a:rPr lang="en-US" sz="1400" b="1" noProof="0">
                          <a:solidFill>
                            <a:srgbClr val="002060"/>
                          </a:solidFill>
                          <a:latin typeface="Trebuchet MS" panose="020B0603020202020204" pitchFamily="34" charset="0"/>
                        </a:rPr>
                        <a:t>Customer-critical defects – </a:t>
                      </a:r>
                      <a:r>
                        <a:rPr lang="en-US" sz="1400" b="0" noProof="0">
                          <a:solidFill>
                            <a:srgbClr val="002060"/>
                          </a:solidFill>
                          <a:latin typeface="Trebuchet MS" panose="020B0603020202020204" pitchFamily="34" charset="0"/>
                        </a:rPr>
                        <a:t>impact customer satisfaction.</a:t>
                      </a:r>
                    </a:p>
                    <a:p>
                      <a:pPr marL="285750" indent="-285750">
                        <a:buFont typeface="Arial" panose="020B0604020202020204" pitchFamily="34" charset="0"/>
                        <a:buChar char="•"/>
                      </a:pPr>
                      <a:r>
                        <a:rPr lang="en-US" sz="1400" b="1" noProof="0">
                          <a:solidFill>
                            <a:srgbClr val="002060"/>
                          </a:solidFill>
                          <a:latin typeface="Trebuchet MS" panose="020B0603020202020204" pitchFamily="34" charset="0"/>
                        </a:rPr>
                        <a:t>Process-specific defects – </a:t>
                      </a:r>
                      <a:r>
                        <a:rPr lang="en-US" sz="1400" b="0" noProof="0">
                          <a:solidFill>
                            <a:srgbClr val="002060"/>
                          </a:solidFill>
                          <a:latin typeface="Trebuchet MS" panose="020B0603020202020204" pitchFamily="34" charset="0"/>
                        </a:rPr>
                        <a:t>related to how the process operates.</a:t>
                      </a:r>
                    </a:p>
                  </a:txBody>
                  <a:tcPr/>
                </a:tc>
                <a:extLst>
                  <a:ext uri="{0D108BD9-81ED-4DB2-BD59-A6C34878D82A}">
                    <a16:rowId xmlns:a16="http://schemas.microsoft.com/office/drawing/2014/main" val="236302368"/>
                  </a:ext>
                </a:extLst>
              </a:tr>
              <a:tr h="370840">
                <a:tc>
                  <a:txBody>
                    <a:bodyPr/>
                    <a:lstStyle/>
                    <a:p>
                      <a:pPr algn="ctr"/>
                      <a:r>
                        <a:rPr lang="en-US" sz="1600" b="1" noProof="0">
                          <a:solidFill>
                            <a:schemeClr val="bg1"/>
                          </a:solidFill>
                          <a:latin typeface="Trebuchet MS" panose="020B0603020202020204" pitchFamily="34" charset="0"/>
                        </a:rPr>
                        <a:t>3.</a:t>
                      </a:r>
                      <a:endParaRPr lang="en-US" sz="1600" b="1" noProof="0">
                        <a:solidFill>
                          <a:schemeClr val="bg1"/>
                        </a:solidFill>
                        <a:latin typeface="Trebuchet MS" panose="020B0603020202020204" pitchFamily="34" charset="0"/>
                        <a:cs typeface="Arial" panose="020B0604020202020204" pitchFamily="34" charset="0"/>
                      </a:endParaRPr>
                    </a:p>
                  </a:txBody>
                  <a:tcPr>
                    <a:solidFill>
                      <a:srgbClr val="24408D"/>
                    </a:solidFill>
                  </a:tcPr>
                </a:tc>
                <a:tc>
                  <a:txBody>
                    <a:bodyPr/>
                    <a:lstStyle/>
                    <a:p>
                      <a:r>
                        <a:rPr lang="en-US" sz="1400" b="1" noProof="0">
                          <a:solidFill>
                            <a:srgbClr val="002060"/>
                          </a:solidFill>
                          <a:latin typeface="Trebuchet MS" panose="020B0603020202020204" pitchFamily="34" charset="0"/>
                        </a:rPr>
                        <a:t>Focus on routine defects: </a:t>
                      </a:r>
                      <a:r>
                        <a:rPr lang="en-US" sz="1400" b="0" noProof="0">
                          <a:solidFill>
                            <a:srgbClr val="002060"/>
                          </a:solidFill>
                          <a:latin typeface="Trebuchet MS" panose="020B0603020202020204" pitchFamily="34" charset="0"/>
                        </a:rPr>
                        <a:t>Exclude one-off or non-routine issues.</a:t>
                      </a:r>
                      <a:endParaRPr lang="en-US" sz="1400" b="0" noProof="0">
                        <a:solidFill>
                          <a:srgbClr val="002060"/>
                        </a:solidFill>
                        <a:latin typeface="Trebuchet MS" panose="020B0603020202020204" pitchFamily="34" charset="0"/>
                        <a:cs typeface="Arial" panose="020B0604020202020204" pitchFamily="34" charset="0"/>
                      </a:endParaRPr>
                    </a:p>
                  </a:txBody>
                  <a:tcPr/>
                </a:tc>
                <a:extLst>
                  <a:ext uri="{0D108BD9-81ED-4DB2-BD59-A6C34878D82A}">
                    <a16:rowId xmlns:a16="http://schemas.microsoft.com/office/drawing/2014/main" val="3257223731"/>
                  </a:ext>
                </a:extLst>
              </a:tr>
              <a:tr h="370840">
                <a:tc>
                  <a:txBody>
                    <a:bodyPr/>
                    <a:lstStyle/>
                    <a:p>
                      <a:pPr algn="ctr"/>
                      <a:r>
                        <a:rPr lang="en-US" sz="1600" b="1" noProof="0">
                          <a:solidFill>
                            <a:schemeClr val="bg1"/>
                          </a:solidFill>
                          <a:latin typeface="Trebuchet MS" panose="020B0603020202020204" pitchFamily="34" charset="0"/>
                        </a:rPr>
                        <a:t>4.</a:t>
                      </a:r>
                      <a:endParaRPr lang="en-US" sz="1600" b="1" noProof="0">
                        <a:solidFill>
                          <a:schemeClr val="bg1"/>
                        </a:solidFill>
                        <a:latin typeface="Trebuchet MS" panose="020B0603020202020204" pitchFamily="34" charset="0"/>
                        <a:cs typeface="Arial" panose="020B0604020202020204" pitchFamily="34" charset="0"/>
                      </a:endParaRPr>
                    </a:p>
                  </a:txBody>
                  <a:tcPr>
                    <a:solidFill>
                      <a:srgbClr val="24408D"/>
                    </a:solidFill>
                  </a:tcPr>
                </a:tc>
                <a:tc>
                  <a:txBody>
                    <a:bodyPr/>
                    <a:lstStyle/>
                    <a:p>
                      <a:r>
                        <a:rPr lang="en-US" sz="1400" b="1" noProof="0">
                          <a:solidFill>
                            <a:srgbClr val="002060"/>
                          </a:solidFill>
                          <a:latin typeface="Trebuchet MS" panose="020B0603020202020204" pitchFamily="34" charset="0"/>
                        </a:rPr>
                        <a:t>Group similar defects: </a:t>
                      </a:r>
                      <a:r>
                        <a:rPr lang="en-US" sz="1400" b="0" noProof="0">
                          <a:solidFill>
                            <a:srgbClr val="002060"/>
                          </a:solidFill>
                          <a:latin typeface="Trebuchet MS" panose="020B0603020202020204" pitchFamily="34" charset="0"/>
                        </a:rPr>
                        <a:t>Combine related </a:t>
                      </a:r>
                      <a:r>
                        <a:rPr lang="en-US" sz="1400" noProof="0">
                          <a:solidFill>
                            <a:srgbClr val="002060"/>
                          </a:solidFill>
                          <a:latin typeface="Trebuchet MS" panose="020B0603020202020204" pitchFamily="34" charset="0"/>
                        </a:rPr>
                        <a:t>defects together.</a:t>
                      </a:r>
                      <a:endParaRPr lang="en-US" sz="1400" noProof="0">
                        <a:solidFill>
                          <a:srgbClr val="002060"/>
                        </a:solidFill>
                        <a:latin typeface="Trebuchet MS" panose="020B0603020202020204" pitchFamily="34" charset="0"/>
                        <a:cs typeface="Arial" panose="020B0604020202020204" pitchFamily="34" charset="0"/>
                      </a:endParaRPr>
                    </a:p>
                  </a:txBody>
                  <a:tcPr/>
                </a:tc>
                <a:extLst>
                  <a:ext uri="{0D108BD9-81ED-4DB2-BD59-A6C34878D82A}">
                    <a16:rowId xmlns:a16="http://schemas.microsoft.com/office/drawing/2014/main" val="834514130"/>
                  </a:ext>
                </a:extLst>
              </a:tr>
              <a:tr h="370840">
                <a:tc>
                  <a:txBody>
                    <a:bodyPr/>
                    <a:lstStyle/>
                    <a:p>
                      <a:pPr algn="ctr"/>
                      <a:r>
                        <a:rPr lang="en-US" sz="1600" b="1" noProof="0">
                          <a:solidFill>
                            <a:schemeClr val="bg1"/>
                          </a:solidFill>
                          <a:latin typeface="Trebuchet MS" panose="020B0603020202020204" pitchFamily="34" charset="0"/>
                        </a:rPr>
                        <a:t>5.</a:t>
                      </a:r>
                      <a:endParaRPr lang="en-US" sz="1600" b="1" noProof="0">
                        <a:solidFill>
                          <a:schemeClr val="bg1"/>
                        </a:solidFill>
                        <a:latin typeface="Trebuchet MS" panose="020B0603020202020204" pitchFamily="34" charset="0"/>
                        <a:cs typeface="Arial" panose="020B0604020202020204" pitchFamily="34" charset="0"/>
                      </a:endParaRPr>
                    </a:p>
                  </a:txBody>
                  <a:tcPr>
                    <a:solidFill>
                      <a:srgbClr val="24408D"/>
                    </a:solidFill>
                  </a:tcPr>
                </a:tc>
                <a:tc>
                  <a:txBody>
                    <a:bodyPr/>
                    <a:lstStyle/>
                    <a:p>
                      <a:r>
                        <a:rPr lang="en-US" sz="1400" b="1" noProof="0">
                          <a:solidFill>
                            <a:srgbClr val="002060"/>
                          </a:solidFill>
                          <a:latin typeface="Trebuchet MS" panose="020B0603020202020204" pitchFamily="34" charset="0"/>
                        </a:rPr>
                        <a:t>Apply a consistent definition: </a:t>
                      </a:r>
                      <a:r>
                        <a:rPr lang="en-US" sz="1400" b="0" noProof="0">
                          <a:solidFill>
                            <a:srgbClr val="002060"/>
                          </a:solidFill>
                          <a:latin typeface="Trebuchet MS" panose="020B0603020202020204" pitchFamily="34" charset="0"/>
                        </a:rPr>
                        <a:t>Opportunities should reflect where defects can occur, not every possible failure scenario.</a:t>
                      </a:r>
                      <a:endParaRPr lang="en-US" sz="1400" b="0" noProof="0">
                        <a:solidFill>
                          <a:srgbClr val="002060"/>
                        </a:solidFill>
                        <a:latin typeface="Trebuchet MS" panose="020B0603020202020204" pitchFamily="34" charset="0"/>
                        <a:cs typeface="Arial" panose="020B0604020202020204" pitchFamily="34" charset="0"/>
                      </a:endParaRPr>
                    </a:p>
                  </a:txBody>
                  <a:tcPr/>
                </a:tc>
                <a:extLst>
                  <a:ext uri="{0D108BD9-81ED-4DB2-BD59-A6C34878D82A}">
                    <a16:rowId xmlns:a16="http://schemas.microsoft.com/office/drawing/2014/main" val="4086707594"/>
                  </a:ext>
                </a:extLst>
              </a:tr>
              <a:tr h="330200">
                <a:tc>
                  <a:txBody>
                    <a:bodyPr/>
                    <a:lstStyle/>
                    <a:p>
                      <a:pPr algn="ctr"/>
                      <a:r>
                        <a:rPr lang="en-US" sz="1600" b="1" noProof="0">
                          <a:solidFill>
                            <a:schemeClr val="bg1"/>
                          </a:solidFill>
                          <a:latin typeface="Trebuchet MS" panose="020B0603020202020204" pitchFamily="34" charset="0"/>
                        </a:rPr>
                        <a:t>6.</a:t>
                      </a:r>
                      <a:endParaRPr lang="en-US" sz="1600" b="1" noProof="0">
                        <a:solidFill>
                          <a:schemeClr val="bg1"/>
                        </a:solidFill>
                        <a:latin typeface="Trebuchet MS" panose="020B0603020202020204" pitchFamily="34" charset="0"/>
                        <a:cs typeface="Arial" panose="020B0604020202020204" pitchFamily="34" charset="0"/>
                      </a:endParaRPr>
                    </a:p>
                  </a:txBody>
                  <a:tcPr>
                    <a:solidFill>
                      <a:srgbClr val="24408D"/>
                    </a:solidFill>
                  </a:tcPr>
                </a:tc>
                <a:tc>
                  <a:txBody>
                    <a:bodyPr/>
                    <a:lstStyle/>
                    <a:p>
                      <a:r>
                        <a:rPr lang="en-US" sz="1400" b="1" noProof="0">
                          <a:solidFill>
                            <a:srgbClr val="002060"/>
                          </a:solidFill>
                          <a:latin typeface="Trebuchet MS" panose="020B0603020202020204" pitchFamily="34" charset="0"/>
                          <a:cs typeface="Arial" panose="020B0604020202020204" pitchFamily="34" charset="0"/>
                        </a:rPr>
                        <a:t>Validate against standards: </a:t>
                      </a:r>
                      <a:r>
                        <a:rPr lang="en-US" sz="1400" noProof="0">
                          <a:solidFill>
                            <a:srgbClr val="002060"/>
                          </a:solidFill>
                          <a:latin typeface="Trebuchet MS" panose="020B0603020202020204" pitchFamily="34" charset="0"/>
                          <a:cs typeface="Arial" panose="020B0604020202020204" pitchFamily="34" charset="0"/>
                        </a:rPr>
                        <a:t>Cross-check opportunities with specifications and tolerances.</a:t>
                      </a:r>
                    </a:p>
                  </a:txBody>
                  <a:tcPr/>
                </a:tc>
                <a:extLst>
                  <a:ext uri="{0D108BD9-81ED-4DB2-BD59-A6C34878D82A}">
                    <a16:rowId xmlns:a16="http://schemas.microsoft.com/office/drawing/2014/main" val="2283342736"/>
                  </a:ext>
                </a:extLst>
              </a:tr>
              <a:tr h="370840">
                <a:tc>
                  <a:txBody>
                    <a:bodyPr/>
                    <a:lstStyle/>
                    <a:p>
                      <a:pPr algn="ctr"/>
                      <a:r>
                        <a:rPr lang="en-US" sz="1600" b="1" noProof="0">
                          <a:solidFill>
                            <a:schemeClr val="bg1"/>
                          </a:solidFill>
                          <a:latin typeface="Trebuchet MS" panose="020B0603020202020204" pitchFamily="34" charset="0"/>
                        </a:rPr>
                        <a:t>8.</a:t>
                      </a:r>
                      <a:endParaRPr lang="en-US" sz="1600" b="1" noProof="0">
                        <a:solidFill>
                          <a:schemeClr val="bg1"/>
                        </a:solidFill>
                        <a:latin typeface="Trebuchet MS" panose="020B0603020202020204" pitchFamily="34" charset="0"/>
                        <a:cs typeface="Arial" panose="020B0604020202020204" pitchFamily="34" charset="0"/>
                      </a:endParaRPr>
                    </a:p>
                  </a:txBody>
                  <a:tcPr>
                    <a:solidFill>
                      <a:srgbClr val="24408D"/>
                    </a:solidFill>
                  </a:tcPr>
                </a:tc>
                <a:tc>
                  <a:txBody>
                    <a:bodyPr/>
                    <a:lstStyle/>
                    <a:p>
                      <a:r>
                        <a:rPr lang="en-US" sz="1400" b="1" noProof="0">
                          <a:solidFill>
                            <a:srgbClr val="002060"/>
                          </a:solidFill>
                          <a:latin typeface="Trebuchet MS" panose="020B0603020202020204" pitchFamily="34" charset="0"/>
                        </a:rPr>
                        <a:t>Maintain consistency</a:t>
                      </a:r>
                      <a:r>
                        <a:rPr lang="en-US" sz="1400" noProof="0">
                          <a:solidFill>
                            <a:srgbClr val="002060"/>
                          </a:solidFill>
                          <a:latin typeface="Trebuchet MS" panose="020B0603020202020204" pitchFamily="34" charset="0"/>
                        </a:rPr>
                        <a:t>: Avoid changing definitions once measurement begins.</a:t>
                      </a:r>
                      <a:endParaRPr lang="en-US" sz="1400" noProof="0">
                        <a:solidFill>
                          <a:srgbClr val="002060"/>
                        </a:solidFill>
                        <a:latin typeface="Trebuchet MS" panose="020B0603020202020204" pitchFamily="34" charset="0"/>
                        <a:cs typeface="Arial" panose="020B0604020202020204" pitchFamily="34" charset="0"/>
                      </a:endParaRPr>
                    </a:p>
                  </a:txBody>
                  <a:tcPr/>
                </a:tc>
                <a:extLst>
                  <a:ext uri="{0D108BD9-81ED-4DB2-BD59-A6C34878D82A}">
                    <a16:rowId xmlns:a16="http://schemas.microsoft.com/office/drawing/2014/main" val="1948684844"/>
                  </a:ext>
                </a:extLst>
              </a:tr>
            </a:tbl>
          </a:graphicData>
        </a:graphic>
      </p:graphicFrame>
    </p:spTree>
    <p:extLst>
      <p:ext uri="{BB962C8B-B14F-4D97-AF65-F5344CB8AC3E}">
        <p14:creationId xmlns:p14="http://schemas.microsoft.com/office/powerpoint/2010/main" val="2742165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B1EDB2BD-9E52-F3FC-0C37-93B763F4D339}"/>
              </a:ext>
            </a:extLst>
          </p:cNvPr>
          <p:cNvSpPr>
            <a:spLocks noGrp="1"/>
          </p:cNvSpPr>
          <p:nvPr>
            <p:ph type="body" sz="quarter" idx="10"/>
          </p:nvPr>
        </p:nvSpPr>
        <p:spPr>
          <a:xfrm>
            <a:off x="304800" y="298936"/>
            <a:ext cx="9144000" cy="553998"/>
          </a:xfrm>
        </p:spPr>
        <p:txBody>
          <a:bodyPr/>
          <a:lstStyle/>
          <a:p>
            <a:r>
              <a:rPr lang="en-US" sz="3200" noProof="0">
                <a:latin typeface="Trebuchet MS" panose="020B0603020202020204" pitchFamily="34" charset="0"/>
              </a:rPr>
              <a:t>Opportunities</a:t>
            </a:r>
            <a:r>
              <a:rPr lang="en-US" sz="3600" noProof="0"/>
              <a:t> and DPMO Summary</a:t>
            </a:r>
          </a:p>
        </p:txBody>
      </p:sp>
      <p:sp>
        <p:nvSpPr>
          <p:cNvPr id="7" name="TextBox 6">
            <a:extLst>
              <a:ext uri="{FF2B5EF4-FFF2-40B4-BE49-F238E27FC236}">
                <a16:creationId xmlns:a16="http://schemas.microsoft.com/office/drawing/2014/main" id="{26B995A9-0DEB-2CD6-2161-6D4FE6D81526}"/>
              </a:ext>
            </a:extLst>
          </p:cNvPr>
          <p:cNvSpPr txBox="1"/>
          <p:nvPr/>
        </p:nvSpPr>
        <p:spPr>
          <a:xfrm>
            <a:off x="457200" y="1676400"/>
            <a:ext cx="5295901" cy="2477601"/>
          </a:xfrm>
          <a:prstGeom prst="rect">
            <a:avLst/>
          </a:prstGeom>
          <a:noFill/>
        </p:spPr>
        <p:txBody>
          <a:bodyPr wrap="square">
            <a:spAutoFit/>
          </a:bodyPr>
          <a:lstStyle/>
          <a:p>
            <a:r>
              <a:rPr lang="en-US" b="1" noProof="0">
                <a:solidFill>
                  <a:srgbClr val="002060"/>
                </a:solidFill>
                <a:latin typeface="Trebuchet MS" panose="020B0603020202020204" pitchFamily="34" charset="0"/>
              </a:rPr>
              <a:t>Scenario:</a:t>
            </a:r>
          </a:p>
          <a:p>
            <a:endParaRPr lang="en-US" noProof="0">
              <a:solidFill>
                <a:srgbClr val="002060"/>
              </a:solidFill>
              <a:latin typeface="Trebuchet MS" panose="020B0603020202020204" pitchFamily="34" charset="0"/>
            </a:endParaRPr>
          </a:p>
          <a:p>
            <a:r>
              <a:rPr lang="en-US" noProof="0">
                <a:solidFill>
                  <a:srgbClr val="002060"/>
                </a:solidFill>
                <a:latin typeface="Trebuchet MS" panose="020B0603020202020204" pitchFamily="34" charset="0"/>
              </a:rPr>
              <a:t>A bakery produces 100 cakes.</a:t>
            </a:r>
          </a:p>
          <a:p>
            <a:endParaRPr lang="en-US" noProof="0">
              <a:solidFill>
                <a:srgbClr val="002060"/>
              </a:solidFill>
              <a:latin typeface="Trebuchet MS" panose="020B0603020202020204" pitchFamily="34" charset="0"/>
            </a:endParaRPr>
          </a:p>
          <a:p>
            <a:r>
              <a:rPr lang="en-US" noProof="0">
                <a:solidFill>
                  <a:srgbClr val="002060"/>
                </a:solidFill>
                <a:latin typeface="Trebuchet MS" panose="020B0603020202020204" pitchFamily="34" charset="0"/>
              </a:rPr>
              <a:t>Each cake has 3 defect opportunities:</a:t>
            </a:r>
          </a:p>
          <a:p>
            <a:endParaRPr lang="en-US" sz="105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noProof="0">
                <a:solidFill>
                  <a:srgbClr val="002060"/>
                </a:solidFill>
                <a:latin typeface="Trebuchet MS" panose="020B0603020202020204" pitchFamily="34" charset="0"/>
              </a:rPr>
              <a:t>Sponge baked correctly</a:t>
            </a:r>
          </a:p>
          <a:p>
            <a:pPr marL="285750" indent="-285750">
              <a:buFont typeface="Arial" panose="020B0604020202020204" pitchFamily="34" charset="0"/>
              <a:buChar char="•"/>
            </a:pPr>
            <a:r>
              <a:rPr lang="en-US" noProof="0">
                <a:solidFill>
                  <a:srgbClr val="002060"/>
                </a:solidFill>
                <a:latin typeface="Trebuchet MS" panose="020B0603020202020204" pitchFamily="34" charset="0"/>
              </a:rPr>
              <a:t>Icing applied correctly</a:t>
            </a:r>
          </a:p>
          <a:p>
            <a:pPr marL="285750" indent="-285750">
              <a:buFont typeface="Arial" panose="020B0604020202020204" pitchFamily="34" charset="0"/>
              <a:buChar char="•"/>
            </a:pPr>
            <a:r>
              <a:rPr lang="en-US" noProof="0">
                <a:solidFill>
                  <a:srgbClr val="002060"/>
                </a:solidFill>
                <a:latin typeface="Trebuchet MS" panose="020B0603020202020204" pitchFamily="34" charset="0"/>
              </a:rPr>
              <a:t>Decoration added (e.g. cherry)</a:t>
            </a:r>
          </a:p>
        </p:txBody>
      </p:sp>
      <p:sp>
        <p:nvSpPr>
          <p:cNvPr id="8" name="Rectangle: Rounded Corners 7">
            <a:extLst>
              <a:ext uri="{FF2B5EF4-FFF2-40B4-BE49-F238E27FC236}">
                <a16:creationId xmlns:a16="http://schemas.microsoft.com/office/drawing/2014/main" id="{8FBBED9C-4A64-D6E0-A777-CC47018B84A4}"/>
              </a:ext>
            </a:extLst>
          </p:cNvPr>
          <p:cNvSpPr/>
          <p:nvPr/>
        </p:nvSpPr>
        <p:spPr>
          <a:xfrm>
            <a:off x="5636964" y="1528045"/>
            <a:ext cx="5295900" cy="762000"/>
          </a:xfrm>
          <a:prstGeom prst="roundRect">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Trebuchet MS" panose="020B0603020202020204" pitchFamily="34" charset="0"/>
              </a:rPr>
              <a:t>Identify defect opportunities per item</a:t>
            </a:r>
          </a:p>
        </p:txBody>
      </p:sp>
      <p:sp>
        <p:nvSpPr>
          <p:cNvPr id="9" name="Rectangle: Rounded Corners 8">
            <a:extLst>
              <a:ext uri="{FF2B5EF4-FFF2-40B4-BE49-F238E27FC236}">
                <a16:creationId xmlns:a16="http://schemas.microsoft.com/office/drawing/2014/main" id="{924D4486-AE09-2179-5FDA-42BE6887ECD0}"/>
              </a:ext>
            </a:extLst>
          </p:cNvPr>
          <p:cNvSpPr/>
          <p:nvPr/>
        </p:nvSpPr>
        <p:spPr>
          <a:xfrm>
            <a:off x="5636964" y="2631844"/>
            <a:ext cx="5295900" cy="920631"/>
          </a:xfrm>
          <a:prstGeom prst="round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Trebuchet MS" panose="020B0603020202020204" pitchFamily="34" charset="0"/>
              </a:rPr>
              <a:t>Calculate the total opportunities </a:t>
            </a:r>
            <a:r>
              <a:rPr lang="en-US" sz="1400">
                <a:solidFill>
                  <a:schemeClr val="bg1"/>
                </a:solidFill>
                <a:latin typeface="Trebuchet MS" panose="020B0603020202020204" pitchFamily="34" charset="0"/>
              </a:rPr>
              <a:t>(what could go wrong)</a:t>
            </a:r>
            <a:endParaRPr lang="en-US" sz="1400" b="1" noProof="0">
              <a:solidFill>
                <a:schemeClr val="bg1"/>
              </a:solidFill>
              <a:latin typeface="Trebuchet MS" panose="020B0603020202020204" pitchFamily="34" charset="0"/>
            </a:endParaRPr>
          </a:p>
          <a:p>
            <a:pPr algn="ctr"/>
            <a:r>
              <a:rPr lang="en-US" sz="1400" noProof="0">
                <a:solidFill>
                  <a:schemeClr val="bg1"/>
                </a:solidFill>
                <a:latin typeface="Trebuchet MS" panose="020B0603020202020204" pitchFamily="34" charset="0"/>
              </a:rPr>
              <a:t>100 cakes x 3 opportunities </a:t>
            </a:r>
          </a:p>
        </p:txBody>
      </p:sp>
      <p:sp>
        <p:nvSpPr>
          <p:cNvPr id="10" name="Rectangle: Rounded Corners 9">
            <a:extLst>
              <a:ext uri="{FF2B5EF4-FFF2-40B4-BE49-F238E27FC236}">
                <a16:creationId xmlns:a16="http://schemas.microsoft.com/office/drawing/2014/main" id="{47778661-E725-BED7-4F95-752DCF6B0C30}"/>
              </a:ext>
            </a:extLst>
          </p:cNvPr>
          <p:cNvSpPr/>
          <p:nvPr/>
        </p:nvSpPr>
        <p:spPr>
          <a:xfrm>
            <a:off x="5636964" y="3950610"/>
            <a:ext cx="5295900" cy="990600"/>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noProof="0">
                <a:solidFill>
                  <a:schemeClr val="bg1"/>
                </a:solidFill>
                <a:latin typeface="Trebuchet MS" panose="020B0603020202020204" pitchFamily="34" charset="0"/>
              </a:rPr>
              <a:t>Calculate DPU </a:t>
            </a:r>
            <a:r>
              <a:rPr lang="en-US" sz="1400">
                <a:solidFill>
                  <a:schemeClr val="bg1"/>
                </a:solidFill>
                <a:latin typeface="Trebuchet MS" panose="020B0603020202020204" pitchFamily="34" charset="0"/>
              </a:rPr>
              <a:t>(what did go wrong) </a:t>
            </a:r>
          </a:p>
          <a:p>
            <a:pPr algn="ctr"/>
            <a:r>
              <a:rPr lang="en-US" sz="1400" noProof="0">
                <a:solidFill>
                  <a:schemeClr val="bg1"/>
                </a:solidFill>
                <a:latin typeface="Trebuchet MS"/>
              </a:rPr>
              <a:t>3 defects/100 cakes = 0.03 defects per cake </a:t>
            </a:r>
          </a:p>
        </p:txBody>
      </p:sp>
      <p:sp>
        <p:nvSpPr>
          <p:cNvPr id="11" name="Rectangle: Rounded Corners 10">
            <a:extLst>
              <a:ext uri="{FF2B5EF4-FFF2-40B4-BE49-F238E27FC236}">
                <a16:creationId xmlns:a16="http://schemas.microsoft.com/office/drawing/2014/main" id="{22F716E0-520E-5DB4-AFF4-B7CF96D0099D}"/>
              </a:ext>
            </a:extLst>
          </p:cNvPr>
          <p:cNvSpPr/>
          <p:nvPr/>
        </p:nvSpPr>
        <p:spPr>
          <a:xfrm>
            <a:off x="5636964" y="5257800"/>
            <a:ext cx="5295900" cy="1121842"/>
          </a:xfrm>
          <a:prstGeom prst="roundRect">
            <a:avLst/>
          </a:prstGeom>
          <a:solidFill>
            <a:srgbClr val="27AAE1"/>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noProof="0">
              <a:solidFill>
                <a:schemeClr val="bg1"/>
              </a:solidFill>
              <a:latin typeface="Trebuchet MS" panose="020B0603020202020204" pitchFamily="34" charset="0"/>
            </a:endParaRPr>
          </a:p>
          <a:p>
            <a:pPr algn="ctr"/>
            <a:r>
              <a:rPr lang="en-US" sz="1400" b="1" noProof="0">
                <a:solidFill>
                  <a:schemeClr val="bg1"/>
                </a:solidFill>
                <a:latin typeface="Trebuchet MS" panose="020B0603020202020204" pitchFamily="34" charset="0"/>
              </a:rPr>
              <a:t>Apply DPMO </a:t>
            </a:r>
          </a:p>
          <a:p>
            <a:pPr algn="ctr"/>
            <a:r>
              <a:rPr lang="en-US" sz="1400" noProof="0">
                <a:solidFill>
                  <a:schemeClr val="bg1"/>
                </a:solidFill>
                <a:latin typeface="Trebuchet MS" panose="020B0603020202020204" pitchFamily="34" charset="0"/>
              </a:rPr>
              <a:t>DPMO = (DPU ÷ Opportunities) × 1,000,000     </a:t>
            </a:r>
          </a:p>
          <a:p>
            <a:pPr algn="ctr"/>
            <a:r>
              <a:rPr lang="en-US" sz="1400" noProof="0">
                <a:solidFill>
                  <a:schemeClr val="bg1"/>
                </a:solidFill>
                <a:latin typeface="Trebuchet MS" panose="020B0603020202020204" pitchFamily="34" charset="0"/>
              </a:rPr>
              <a:t>= (0.03 ÷ 3) × 1,000,000     </a:t>
            </a:r>
          </a:p>
          <a:p>
            <a:pPr algn="ctr"/>
            <a:r>
              <a:rPr lang="en-US" sz="1400" noProof="0">
                <a:solidFill>
                  <a:schemeClr val="bg1"/>
                </a:solidFill>
                <a:latin typeface="Trebuchet MS" panose="020B0603020202020204" pitchFamily="34" charset="0"/>
              </a:rPr>
              <a:t>= 10,000 cake defects per million opportunities</a:t>
            </a:r>
          </a:p>
          <a:p>
            <a:pPr algn="ctr"/>
            <a:endParaRPr lang="en-US" sz="1400" noProof="0">
              <a:solidFill>
                <a:schemeClr val="bg1"/>
              </a:solidFill>
              <a:latin typeface="Trebuchet MS" panose="020B0603020202020204" pitchFamily="34" charset="0"/>
            </a:endParaRPr>
          </a:p>
        </p:txBody>
      </p:sp>
      <p:sp>
        <p:nvSpPr>
          <p:cNvPr id="12" name="Arrow: Down 11">
            <a:extLst>
              <a:ext uri="{FF2B5EF4-FFF2-40B4-BE49-F238E27FC236}">
                <a16:creationId xmlns:a16="http://schemas.microsoft.com/office/drawing/2014/main" id="{53D1247B-65C6-4FF7-8F12-8A91B3539B04}"/>
              </a:ext>
            </a:extLst>
          </p:cNvPr>
          <p:cNvSpPr/>
          <p:nvPr/>
        </p:nvSpPr>
        <p:spPr>
          <a:xfrm>
            <a:off x="7936577" y="2289235"/>
            <a:ext cx="685800" cy="274261"/>
          </a:xfrm>
          <a:prstGeom prst="downArrow">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latin typeface="Trebuchet MS" panose="020B0603020202020204" pitchFamily="34" charset="0"/>
            </a:endParaRPr>
          </a:p>
        </p:txBody>
      </p:sp>
      <p:sp>
        <p:nvSpPr>
          <p:cNvPr id="13" name="Arrow: Down 12">
            <a:extLst>
              <a:ext uri="{FF2B5EF4-FFF2-40B4-BE49-F238E27FC236}">
                <a16:creationId xmlns:a16="http://schemas.microsoft.com/office/drawing/2014/main" id="{62A235C7-03DE-D7DF-ACAB-2F7D1B0652B3}"/>
              </a:ext>
            </a:extLst>
          </p:cNvPr>
          <p:cNvSpPr/>
          <p:nvPr/>
        </p:nvSpPr>
        <p:spPr>
          <a:xfrm>
            <a:off x="7936577" y="3505200"/>
            <a:ext cx="685800" cy="363865"/>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latin typeface="Trebuchet MS" panose="020B0603020202020204" pitchFamily="34" charset="0"/>
            </a:endParaRPr>
          </a:p>
        </p:txBody>
      </p:sp>
      <p:sp>
        <p:nvSpPr>
          <p:cNvPr id="14" name="Arrow: Down 13">
            <a:extLst>
              <a:ext uri="{FF2B5EF4-FFF2-40B4-BE49-F238E27FC236}">
                <a16:creationId xmlns:a16="http://schemas.microsoft.com/office/drawing/2014/main" id="{430EA0BA-1E99-2370-8BD7-0FCF9B1D8236}"/>
              </a:ext>
            </a:extLst>
          </p:cNvPr>
          <p:cNvSpPr/>
          <p:nvPr/>
        </p:nvSpPr>
        <p:spPr>
          <a:xfrm>
            <a:off x="7938413" y="4939589"/>
            <a:ext cx="685800" cy="274261"/>
          </a:xfrm>
          <a:prstGeom prst="down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latin typeface="Trebuchet MS" panose="020B0603020202020204" pitchFamily="34" charset="0"/>
            </a:endParaRPr>
          </a:p>
        </p:txBody>
      </p:sp>
      <p:pic>
        <p:nvPicPr>
          <p:cNvPr id="15" name="Picture 14">
            <a:extLst>
              <a:ext uri="{FF2B5EF4-FFF2-40B4-BE49-F238E27FC236}">
                <a16:creationId xmlns:a16="http://schemas.microsoft.com/office/drawing/2014/main" id="{8995C2B5-F22F-1FAB-C49D-5C2FEE2BEF91}"/>
              </a:ext>
            </a:extLst>
          </p:cNvPr>
          <p:cNvPicPr>
            <a:picLocks noChangeAspect="1"/>
          </p:cNvPicPr>
          <p:nvPr/>
        </p:nvPicPr>
        <p:blipFill>
          <a:blip r:embed="rId3"/>
          <a:stretch>
            <a:fillRect/>
          </a:stretch>
        </p:blipFill>
        <p:spPr>
          <a:xfrm>
            <a:off x="1893099" y="4329663"/>
            <a:ext cx="1703873" cy="1703873"/>
          </a:xfrm>
          <a:prstGeom prst="rect">
            <a:avLst/>
          </a:prstGeom>
        </p:spPr>
      </p:pic>
    </p:spTree>
    <p:extLst>
      <p:ext uri="{BB962C8B-B14F-4D97-AF65-F5344CB8AC3E}">
        <p14:creationId xmlns:p14="http://schemas.microsoft.com/office/powerpoint/2010/main" val="24929532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ED460-B360-C738-70FB-E7D1BA0B4ECF}"/>
            </a:ext>
          </a:extLst>
        </p:cNvPr>
        <p:cNvGrpSpPr/>
        <p:nvPr/>
      </p:nvGrpSpPr>
      <p:grpSpPr>
        <a:xfrm>
          <a:off x="0" y="0"/>
          <a:ext cx="1" cy="1"/>
          <a:chOff x="0" y="0"/>
          <a:chExt cx="1" cy="1"/>
        </a:xfrm>
      </p:grpSpPr>
      <p:sp>
        <p:nvSpPr>
          <p:cNvPr id="5" name="Text Placeholder 4">
            <a:extLst>
              <a:ext uri="{FF2B5EF4-FFF2-40B4-BE49-F238E27FC236}">
                <a16:creationId xmlns:a16="http://schemas.microsoft.com/office/drawing/2014/main" id="{0D7A9C46-1473-6F91-4006-3D1B81C73817}"/>
              </a:ext>
            </a:extLst>
          </p:cNvPr>
          <p:cNvSpPr>
            <a:spLocks noGrp="1"/>
          </p:cNvSpPr>
          <p:nvPr>
            <p:ph type="body" sz="quarter" idx="10"/>
          </p:nvPr>
        </p:nvSpPr>
        <p:spPr>
          <a:xfrm>
            <a:off x="330739" y="352186"/>
            <a:ext cx="9144000" cy="492443"/>
          </a:xfrm>
        </p:spPr>
        <p:txBody>
          <a:bodyPr/>
          <a:lstStyle/>
          <a:p>
            <a:r>
              <a:rPr lang="en-US" sz="3200" noProof="0">
                <a:latin typeface="Trebuchet MS" panose="020B0603020202020204" pitchFamily="34" charset="0"/>
              </a:rPr>
              <a:t>Real Work Example: Occupational Health</a:t>
            </a:r>
            <a:endParaRPr lang="en-US" sz="3600" noProof="0"/>
          </a:p>
        </p:txBody>
      </p:sp>
      <p:sp>
        <p:nvSpPr>
          <p:cNvPr id="8" name="Rectangle: Rounded Corners 7">
            <a:extLst>
              <a:ext uri="{FF2B5EF4-FFF2-40B4-BE49-F238E27FC236}">
                <a16:creationId xmlns:a16="http://schemas.microsoft.com/office/drawing/2014/main" id="{C7620F26-8831-71C4-FE38-0BFD8AE231B3}"/>
              </a:ext>
            </a:extLst>
          </p:cNvPr>
          <p:cNvSpPr/>
          <p:nvPr/>
        </p:nvSpPr>
        <p:spPr>
          <a:xfrm>
            <a:off x="5506278" y="1752600"/>
            <a:ext cx="5869236" cy="454765"/>
          </a:xfrm>
          <a:prstGeom prst="roundRect">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Trebuchet MS" panose="020B0603020202020204" pitchFamily="34" charset="0"/>
              </a:rPr>
              <a:t>Identify defect opportunities per item</a:t>
            </a:r>
          </a:p>
        </p:txBody>
      </p:sp>
      <p:sp>
        <p:nvSpPr>
          <p:cNvPr id="9" name="Rectangle: Rounded Corners 8">
            <a:extLst>
              <a:ext uri="{FF2B5EF4-FFF2-40B4-BE49-F238E27FC236}">
                <a16:creationId xmlns:a16="http://schemas.microsoft.com/office/drawing/2014/main" id="{92CC6BE3-1B12-DD2C-FBE0-3CBA7929128F}"/>
              </a:ext>
            </a:extLst>
          </p:cNvPr>
          <p:cNvSpPr/>
          <p:nvPr/>
        </p:nvSpPr>
        <p:spPr>
          <a:xfrm>
            <a:off x="5506277" y="2571235"/>
            <a:ext cx="5869236" cy="912152"/>
          </a:xfrm>
          <a:prstGeom prst="round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noProof="0">
              <a:solidFill>
                <a:schemeClr val="bg1"/>
              </a:solidFill>
              <a:latin typeface="Trebuchet MS" panose="020B0603020202020204" pitchFamily="34" charset="0"/>
            </a:endParaRPr>
          </a:p>
          <a:p>
            <a:pPr algn="ctr"/>
            <a:r>
              <a:rPr lang="en-US" sz="1400" b="1" noProof="0">
                <a:solidFill>
                  <a:schemeClr val="bg1"/>
                </a:solidFill>
                <a:latin typeface="Trebuchet MS" panose="020B0603020202020204" pitchFamily="34" charset="0"/>
              </a:rPr>
              <a:t>Calculate the total opportunities </a:t>
            </a:r>
            <a:r>
              <a:rPr lang="en-US" sz="1400">
                <a:solidFill>
                  <a:schemeClr val="bg1"/>
                </a:solidFill>
                <a:latin typeface="Trebuchet MS" panose="020B0603020202020204" pitchFamily="34" charset="0"/>
              </a:rPr>
              <a:t>(what could go wrong)</a:t>
            </a:r>
          </a:p>
          <a:p>
            <a:pPr algn="ctr"/>
            <a:r>
              <a:rPr lang="en-US" sz="1400" noProof="0">
                <a:solidFill>
                  <a:schemeClr val="bg1"/>
                </a:solidFill>
                <a:latin typeface="Trebuchet MS" panose="020B0603020202020204" pitchFamily="34" charset="0"/>
              </a:rPr>
              <a:t>3 defects x 100 referrals = 300 opportunities</a:t>
            </a:r>
          </a:p>
          <a:p>
            <a:pPr algn="ctr"/>
            <a:endParaRPr lang="en-US" sz="1400" noProof="0">
              <a:solidFill>
                <a:schemeClr val="bg1"/>
              </a:solidFill>
              <a:latin typeface="Trebuchet MS" panose="020B0603020202020204" pitchFamily="34" charset="0"/>
            </a:endParaRPr>
          </a:p>
        </p:txBody>
      </p:sp>
      <p:sp>
        <p:nvSpPr>
          <p:cNvPr id="10" name="Rectangle: Rounded Corners 9">
            <a:extLst>
              <a:ext uri="{FF2B5EF4-FFF2-40B4-BE49-F238E27FC236}">
                <a16:creationId xmlns:a16="http://schemas.microsoft.com/office/drawing/2014/main" id="{7AA0878A-0FEA-84D8-9534-EA2BF5FDF3DA}"/>
              </a:ext>
            </a:extLst>
          </p:cNvPr>
          <p:cNvSpPr/>
          <p:nvPr/>
        </p:nvSpPr>
        <p:spPr>
          <a:xfrm>
            <a:off x="5506277" y="3908578"/>
            <a:ext cx="5869236" cy="759000"/>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noProof="0">
                <a:solidFill>
                  <a:schemeClr val="bg1"/>
                </a:solidFill>
                <a:latin typeface="Trebuchet MS" panose="020B0603020202020204" pitchFamily="34" charset="0"/>
              </a:rPr>
              <a:t>Calculate DPU</a:t>
            </a:r>
            <a:br>
              <a:rPr lang="en-US" sz="1400" b="1" noProof="0">
                <a:solidFill>
                  <a:schemeClr val="bg1"/>
                </a:solidFill>
                <a:latin typeface="Trebuchet MS" panose="020B0603020202020204" pitchFamily="34" charset="0"/>
              </a:rPr>
            </a:br>
            <a:r>
              <a:rPr lang="en-US" sz="1400">
                <a:solidFill>
                  <a:schemeClr val="bg1"/>
                </a:solidFill>
                <a:latin typeface="Trebuchet MS" panose="020B0603020202020204" pitchFamily="34" charset="0"/>
              </a:rPr>
              <a:t>(what did go wrong) </a:t>
            </a:r>
            <a:endParaRPr lang="en-US" sz="1400" noProof="0">
              <a:solidFill>
                <a:schemeClr val="bg1"/>
              </a:solidFill>
              <a:latin typeface="Trebuchet MS" panose="020B0603020202020204" pitchFamily="34" charset="0"/>
            </a:endParaRPr>
          </a:p>
          <a:p>
            <a:pPr algn="ctr"/>
            <a:r>
              <a:rPr lang="en-US" sz="1400" noProof="0">
                <a:solidFill>
                  <a:schemeClr val="bg1"/>
                </a:solidFill>
                <a:latin typeface="Trebuchet MS"/>
              </a:rPr>
              <a:t>3defects/100 referrals = 0.03 defects per item</a:t>
            </a:r>
          </a:p>
        </p:txBody>
      </p:sp>
      <p:sp>
        <p:nvSpPr>
          <p:cNvPr id="11" name="Rectangle: Rounded Corners 10">
            <a:extLst>
              <a:ext uri="{FF2B5EF4-FFF2-40B4-BE49-F238E27FC236}">
                <a16:creationId xmlns:a16="http://schemas.microsoft.com/office/drawing/2014/main" id="{9BD4C0E6-A245-35BA-3E40-7559D75C2A5E}"/>
              </a:ext>
            </a:extLst>
          </p:cNvPr>
          <p:cNvSpPr/>
          <p:nvPr/>
        </p:nvSpPr>
        <p:spPr>
          <a:xfrm>
            <a:off x="5506277" y="5105400"/>
            <a:ext cx="5869236" cy="912152"/>
          </a:xfrm>
          <a:prstGeom prst="roundRect">
            <a:avLst/>
          </a:prstGeom>
          <a:solidFill>
            <a:srgbClr val="27AAE1"/>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noProof="0">
              <a:solidFill>
                <a:schemeClr val="bg1"/>
              </a:solidFill>
              <a:latin typeface="Trebuchet MS" panose="020B0603020202020204" pitchFamily="34" charset="0"/>
            </a:endParaRPr>
          </a:p>
          <a:p>
            <a:pPr algn="ctr"/>
            <a:r>
              <a:rPr lang="en-US" sz="1400" b="1" noProof="0">
                <a:solidFill>
                  <a:schemeClr val="bg1"/>
                </a:solidFill>
                <a:latin typeface="Trebuchet MS" panose="020B0603020202020204" pitchFamily="34" charset="0"/>
              </a:rPr>
              <a:t>Apply DPMO </a:t>
            </a:r>
          </a:p>
          <a:p>
            <a:pPr algn="ctr"/>
            <a:r>
              <a:rPr lang="en-US" sz="1400" noProof="0">
                <a:solidFill>
                  <a:schemeClr val="bg1"/>
                </a:solidFill>
                <a:latin typeface="Trebuchet MS" panose="020B0603020202020204" pitchFamily="34" charset="0"/>
              </a:rPr>
              <a:t>DPMO = (DPU ÷ Opportunities) × 1,000,000     </a:t>
            </a:r>
          </a:p>
          <a:p>
            <a:pPr algn="ctr"/>
            <a:r>
              <a:rPr lang="en-US" sz="1400" noProof="0">
                <a:solidFill>
                  <a:schemeClr val="bg1"/>
                </a:solidFill>
                <a:latin typeface="Trebuchet MS" panose="020B0603020202020204" pitchFamily="34" charset="0"/>
              </a:rPr>
              <a:t>= (0.03 ÷ 3 Defects) × 1,000,000     </a:t>
            </a:r>
          </a:p>
          <a:p>
            <a:pPr algn="ctr"/>
            <a:r>
              <a:rPr lang="en-US" sz="1400" noProof="0">
                <a:solidFill>
                  <a:schemeClr val="bg1"/>
                </a:solidFill>
                <a:latin typeface="Trebuchet MS" panose="020B0603020202020204" pitchFamily="34" charset="0"/>
              </a:rPr>
              <a:t>= 10,000 items defects per million opportunities</a:t>
            </a:r>
          </a:p>
          <a:p>
            <a:pPr algn="ctr"/>
            <a:endParaRPr lang="en-US" sz="1400" noProof="0">
              <a:solidFill>
                <a:schemeClr val="bg1"/>
              </a:solidFill>
              <a:latin typeface="Trebuchet MS" panose="020B0603020202020204" pitchFamily="34" charset="0"/>
            </a:endParaRPr>
          </a:p>
        </p:txBody>
      </p:sp>
      <p:sp>
        <p:nvSpPr>
          <p:cNvPr id="12" name="Arrow: Down 11">
            <a:extLst>
              <a:ext uri="{FF2B5EF4-FFF2-40B4-BE49-F238E27FC236}">
                <a16:creationId xmlns:a16="http://schemas.microsoft.com/office/drawing/2014/main" id="{6AAA727D-4428-F153-CB93-9F86BDA90D63}"/>
              </a:ext>
            </a:extLst>
          </p:cNvPr>
          <p:cNvSpPr/>
          <p:nvPr/>
        </p:nvSpPr>
        <p:spPr>
          <a:xfrm>
            <a:off x="8044858" y="2130051"/>
            <a:ext cx="788404" cy="356237"/>
          </a:xfrm>
          <a:prstGeom prst="downArrow">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3" name="Arrow: Down 12">
            <a:extLst>
              <a:ext uri="{FF2B5EF4-FFF2-40B4-BE49-F238E27FC236}">
                <a16:creationId xmlns:a16="http://schemas.microsoft.com/office/drawing/2014/main" id="{38508DC3-F2B1-54FA-9BE7-C76B1B684170}"/>
              </a:ext>
            </a:extLst>
          </p:cNvPr>
          <p:cNvSpPr/>
          <p:nvPr/>
        </p:nvSpPr>
        <p:spPr>
          <a:xfrm>
            <a:off x="8087088" y="3442793"/>
            <a:ext cx="788404" cy="356237"/>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4" name="Arrow: Down 13">
            <a:extLst>
              <a:ext uri="{FF2B5EF4-FFF2-40B4-BE49-F238E27FC236}">
                <a16:creationId xmlns:a16="http://schemas.microsoft.com/office/drawing/2014/main" id="{B6514B26-63F0-729B-E8CF-BA634E2AC0DE}"/>
              </a:ext>
            </a:extLst>
          </p:cNvPr>
          <p:cNvSpPr/>
          <p:nvPr/>
        </p:nvSpPr>
        <p:spPr>
          <a:xfrm>
            <a:off x="8108444" y="4675210"/>
            <a:ext cx="788404" cy="356237"/>
          </a:xfrm>
          <a:prstGeom prst="down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2" name="Rectangle: Rounded Corners 1">
            <a:extLst>
              <a:ext uri="{FF2B5EF4-FFF2-40B4-BE49-F238E27FC236}">
                <a16:creationId xmlns:a16="http://schemas.microsoft.com/office/drawing/2014/main" id="{7A8B410F-CD68-36A5-0B45-36635F7AC145}"/>
              </a:ext>
            </a:extLst>
          </p:cNvPr>
          <p:cNvSpPr/>
          <p:nvPr/>
        </p:nvSpPr>
        <p:spPr>
          <a:xfrm>
            <a:off x="304799" y="1447800"/>
            <a:ext cx="5029201" cy="5111264"/>
          </a:xfrm>
          <a:prstGeom prst="roundRect">
            <a:avLst>
              <a:gd name="adj" fmla="val 1061"/>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noProof="0">
                <a:solidFill>
                  <a:srgbClr val="002060"/>
                </a:solidFill>
                <a:latin typeface="Trebuchet MS" panose="020B0603020202020204" pitchFamily="34" charset="0"/>
              </a:rPr>
              <a:t>Scenario: Occupational Health Referrals</a:t>
            </a:r>
          </a:p>
          <a:p>
            <a:endParaRPr lang="en-US" b="1" noProof="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A team manages 100 occupational health referrals. </a:t>
            </a:r>
          </a:p>
          <a:p>
            <a:endParaRPr lang="en-US" sz="160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Each referral has defect opportunities:</a:t>
            </a:r>
          </a:p>
          <a:p>
            <a:endParaRPr lang="en-US" sz="10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Employee assessment booked correctly</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Medical information recorded correctly</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Return-to-work recommendation communicated correctly</a:t>
            </a:r>
          </a:p>
          <a:p>
            <a:endParaRPr lang="en-US" sz="1600" noProof="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Assume: 3 defects found across the 100 referrals. </a:t>
            </a:r>
          </a:p>
          <a:p>
            <a:endParaRPr lang="en-US" sz="1600" b="1" noProof="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Examples of Defects:</a:t>
            </a:r>
          </a:p>
          <a:p>
            <a:endParaRPr lang="en-US" sz="1000" b="1"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Incorrect appointment scheduling</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Missing medical documentation</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Return-to-work guidance not communicated</a:t>
            </a:r>
          </a:p>
          <a:p>
            <a:endParaRPr lang="en-US" sz="1600" noProof="0">
              <a:solidFill>
                <a:srgbClr val="002060"/>
              </a:solidFill>
              <a:latin typeface="Trebuchet MS" panose="020B0603020202020204" pitchFamily="34" charset="0"/>
            </a:endParaRPr>
          </a:p>
        </p:txBody>
      </p:sp>
    </p:spTree>
    <p:extLst>
      <p:ext uri="{BB962C8B-B14F-4D97-AF65-F5344CB8AC3E}">
        <p14:creationId xmlns:p14="http://schemas.microsoft.com/office/powerpoint/2010/main" val="8488285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929C4-87E4-1745-E4E9-7BB8F457C463}"/>
            </a:ext>
          </a:extLst>
        </p:cNvPr>
        <p:cNvGrpSpPr/>
        <p:nvPr/>
      </p:nvGrpSpPr>
      <p:grpSpPr>
        <a:xfrm>
          <a:off x="0" y="0"/>
          <a:ext cx="1" cy="1"/>
          <a:chOff x="0" y="0"/>
          <a:chExt cx="1" cy="1"/>
        </a:xfrm>
      </p:grpSpPr>
      <p:sp>
        <p:nvSpPr>
          <p:cNvPr id="5" name="Text Placeholder 4">
            <a:extLst>
              <a:ext uri="{FF2B5EF4-FFF2-40B4-BE49-F238E27FC236}">
                <a16:creationId xmlns:a16="http://schemas.microsoft.com/office/drawing/2014/main" id="{0F5D07E6-E69D-DC6B-42C9-93080145DBBD}"/>
              </a:ext>
            </a:extLst>
          </p:cNvPr>
          <p:cNvSpPr>
            <a:spLocks noGrp="1"/>
          </p:cNvSpPr>
          <p:nvPr>
            <p:ph type="body" sz="quarter" idx="10"/>
          </p:nvPr>
        </p:nvSpPr>
        <p:spPr>
          <a:xfrm>
            <a:off x="609600" y="412283"/>
            <a:ext cx="9144000" cy="492443"/>
          </a:xfrm>
        </p:spPr>
        <p:txBody>
          <a:bodyPr/>
          <a:lstStyle/>
          <a:p>
            <a:r>
              <a:rPr lang="en-US" sz="3200" noProof="0">
                <a:latin typeface="Trebuchet MS" panose="020B0603020202020204" pitchFamily="34" charset="0"/>
              </a:rPr>
              <a:t>Real Work Example: Employability Support</a:t>
            </a:r>
            <a:endParaRPr lang="en-US" sz="3600" noProof="0">
              <a:latin typeface="Trebuchet MS" panose="020B0603020202020204" pitchFamily="34" charset="0"/>
            </a:endParaRPr>
          </a:p>
        </p:txBody>
      </p:sp>
      <p:sp>
        <p:nvSpPr>
          <p:cNvPr id="8" name="Rectangle: Rounded Corners 7">
            <a:extLst>
              <a:ext uri="{FF2B5EF4-FFF2-40B4-BE49-F238E27FC236}">
                <a16:creationId xmlns:a16="http://schemas.microsoft.com/office/drawing/2014/main" id="{B2E4A3A5-5EA0-B3B2-9658-C2FAE7230479}"/>
              </a:ext>
            </a:extLst>
          </p:cNvPr>
          <p:cNvSpPr/>
          <p:nvPr/>
        </p:nvSpPr>
        <p:spPr>
          <a:xfrm>
            <a:off x="5512977" y="1754470"/>
            <a:ext cx="5869236" cy="454765"/>
          </a:xfrm>
          <a:prstGeom prst="roundRect">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Trebuchet MS" panose="020B0603020202020204" pitchFamily="34" charset="0"/>
              </a:rPr>
              <a:t>Identify defect opportunities per item</a:t>
            </a:r>
          </a:p>
        </p:txBody>
      </p:sp>
      <p:sp>
        <p:nvSpPr>
          <p:cNvPr id="9" name="Rectangle: Rounded Corners 8">
            <a:extLst>
              <a:ext uri="{FF2B5EF4-FFF2-40B4-BE49-F238E27FC236}">
                <a16:creationId xmlns:a16="http://schemas.microsoft.com/office/drawing/2014/main" id="{F184F744-9576-42AC-A7B8-0BD466906C9B}"/>
              </a:ext>
            </a:extLst>
          </p:cNvPr>
          <p:cNvSpPr/>
          <p:nvPr/>
        </p:nvSpPr>
        <p:spPr>
          <a:xfrm>
            <a:off x="5527633" y="2578867"/>
            <a:ext cx="5869236" cy="759000"/>
          </a:xfrm>
          <a:prstGeom prst="round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noProof="0">
              <a:solidFill>
                <a:schemeClr val="bg1"/>
              </a:solidFill>
              <a:latin typeface="Trebuchet MS" panose="020B0603020202020204" pitchFamily="34" charset="0"/>
            </a:endParaRPr>
          </a:p>
          <a:p>
            <a:pPr algn="ctr"/>
            <a:r>
              <a:rPr lang="en-US" sz="1400" b="1" noProof="0">
                <a:solidFill>
                  <a:schemeClr val="bg1"/>
                </a:solidFill>
                <a:latin typeface="Trebuchet MS" panose="020B0603020202020204" pitchFamily="34" charset="0"/>
              </a:rPr>
              <a:t>Calculate the total opportunities </a:t>
            </a:r>
            <a:r>
              <a:rPr lang="en-US" sz="1400" noProof="0">
                <a:solidFill>
                  <a:schemeClr val="bg1"/>
                </a:solidFill>
                <a:latin typeface="Trebuchet MS" panose="020B0603020202020204" pitchFamily="34" charset="0"/>
              </a:rPr>
              <a:t>(what could go wrong)</a:t>
            </a:r>
          </a:p>
          <a:p>
            <a:pPr algn="ctr"/>
            <a:r>
              <a:rPr lang="en-US" sz="1400" noProof="0">
                <a:solidFill>
                  <a:schemeClr val="bg1"/>
                </a:solidFill>
                <a:latin typeface="Trebuchet MS" panose="020B0603020202020204" pitchFamily="34" charset="0"/>
              </a:rPr>
              <a:t>4 defects x 250 referrals = 1000 opportunities</a:t>
            </a:r>
          </a:p>
          <a:p>
            <a:pPr algn="ctr"/>
            <a:endParaRPr lang="en-US" sz="1400" noProof="0">
              <a:solidFill>
                <a:schemeClr val="bg1"/>
              </a:solidFill>
              <a:latin typeface="Trebuchet MS" panose="020B0603020202020204" pitchFamily="34" charset="0"/>
            </a:endParaRPr>
          </a:p>
        </p:txBody>
      </p:sp>
      <p:sp>
        <p:nvSpPr>
          <p:cNvPr id="10" name="Rectangle: Rounded Corners 9">
            <a:extLst>
              <a:ext uri="{FF2B5EF4-FFF2-40B4-BE49-F238E27FC236}">
                <a16:creationId xmlns:a16="http://schemas.microsoft.com/office/drawing/2014/main" id="{6A5C24E8-FAE1-07CB-CD0F-B9AE5EC2C8B0}"/>
              </a:ext>
            </a:extLst>
          </p:cNvPr>
          <p:cNvSpPr/>
          <p:nvPr/>
        </p:nvSpPr>
        <p:spPr>
          <a:xfrm>
            <a:off x="5506278" y="3810000"/>
            <a:ext cx="5869236" cy="660385"/>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noProof="0">
                <a:solidFill>
                  <a:schemeClr val="bg1"/>
                </a:solidFill>
                <a:latin typeface="Trebuchet MS" panose="020B0603020202020204" pitchFamily="34" charset="0"/>
              </a:rPr>
              <a:t>Calculate DPU </a:t>
            </a:r>
            <a:r>
              <a:rPr lang="en-US" sz="1400" noProof="0">
                <a:solidFill>
                  <a:schemeClr val="bg1"/>
                </a:solidFill>
                <a:latin typeface="Trebuchet MS" panose="020B0603020202020204" pitchFamily="34" charset="0"/>
              </a:rPr>
              <a:t>(what did go wrong) </a:t>
            </a:r>
          </a:p>
          <a:p>
            <a:pPr algn="ctr"/>
            <a:r>
              <a:rPr lang="en-US" sz="1400" noProof="0">
                <a:solidFill>
                  <a:schemeClr val="bg1"/>
                </a:solidFill>
                <a:latin typeface="Trebuchet MS" panose="020B0603020202020204" pitchFamily="34" charset="0"/>
              </a:rPr>
              <a:t>12 defects/250 referrals = 0.048 defects per item</a:t>
            </a:r>
          </a:p>
        </p:txBody>
      </p:sp>
      <p:sp>
        <p:nvSpPr>
          <p:cNvPr id="11" name="Rectangle: Rounded Corners 10">
            <a:extLst>
              <a:ext uri="{FF2B5EF4-FFF2-40B4-BE49-F238E27FC236}">
                <a16:creationId xmlns:a16="http://schemas.microsoft.com/office/drawing/2014/main" id="{78743FDB-B505-C67A-6D7D-E96CA68F3671}"/>
              </a:ext>
            </a:extLst>
          </p:cNvPr>
          <p:cNvSpPr/>
          <p:nvPr/>
        </p:nvSpPr>
        <p:spPr>
          <a:xfrm>
            <a:off x="5506278" y="4826432"/>
            <a:ext cx="5869236" cy="1143000"/>
          </a:xfrm>
          <a:prstGeom prst="roundRect">
            <a:avLst/>
          </a:prstGeom>
          <a:solidFill>
            <a:srgbClr val="27AAE1"/>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noProof="0">
              <a:solidFill>
                <a:schemeClr val="bg1"/>
              </a:solidFill>
              <a:latin typeface="Trebuchet MS" panose="020B0603020202020204" pitchFamily="34" charset="0"/>
            </a:endParaRPr>
          </a:p>
          <a:p>
            <a:pPr algn="ctr"/>
            <a:r>
              <a:rPr lang="en-US" sz="1400" b="1" noProof="0">
                <a:solidFill>
                  <a:schemeClr val="bg1"/>
                </a:solidFill>
                <a:latin typeface="Trebuchet MS" panose="020B0603020202020204" pitchFamily="34" charset="0"/>
              </a:rPr>
              <a:t>Apply DPMO </a:t>
            </a:r>
          </a:p>
          <a:p>
            <a:pPr algn="ctr"/>
            <a:r>
              <a:rPr lang="en-US" sz="1400" noProof="0">
                <a:solidFill>
                  <a:schemeClr val="bg1"/>
                </a:solidFill>
                <a:latin typeface="Trebuchet MS" panose="020B0603020202020204" pitchFamily="34" charset="0"/>
              </a:rPr>
              <a:t>DPMO = (DPU ÷ Opportunities) × 1,000,000     </a:t>
            </a:r>
          </a:p>
          <a:p>
            <a:pPr algn="ctr"/>
            <a:r>
              <a:rPr lang="en-US" sz="1400" noProof="0">
                <a:solidFill>
                  <a:schemeClr val="bg1"/>
                </a:solidFill>
                <a:latin typeface="Trebuchet MS" panose="020B0603020202020204" pitchFamily="34" charset="0"/>
              </a:rPr>
              <a:t>= (0.048 ÷ 4 Defects) × 1,000,000     </a:t>
            </a:r>
          </a:p>
          <a:p>
            <a:pPr algn="ctr"/>
            <a:r>
              <a:rPr lang="en-US" sz="1400" noProof="0">
                <a:solidFill>
                  <a:schemeClr val="bg1"/>
                </a:solidFill>
                <a:latin typeface="Trebuchet MS" panose="020B0603020202020204" pitchFamily="34" charset="0"/>
              </a:rPr>
              <a:t>= 12,000 items defects per million opportunities</a:t>
            </a:r>
          </a:p>
          <a:p>
            <a:pPr algn="ctr"/>
            <a:endParaRPr lang="en-US" sz="1400" noProof="0">
              <a:solidFill>
                <a:schemeClr val="bg1"/>
              </a:solidFill>
              <a:latin typeface="Trebuchet MS" panose="020B0603020202020204" pitchFamily="34" charset="0"/>
            </a:endParaRPr>
          </a:p>
        </p:txBody>
      </p:sp>
      <p:sp>
        <p:nvSpPr>
          <p:cNvPr id="12" name="Arrow: Down 11">
            <a:extLst>
              <a:ext uri="{FF2B5EF4-FFF2-40B4-BE49-F238E27FC236}">
                <a16:creationId xmlns:a16="http://schemas.microsoft.com/office/drawing/2014/main" id="{86D406F9-B085-197B-CB93-89967B62CEC4}"/>
              </a:ext>
            </a:extLst>
          </p:cNvPr>
          <p:cNvSpPr/>
          <p:nvPr/>
        </p:nvSpPr>
        <p:spPr>
          <a:xfrm>
            <a:off x="8051557" y="2131921"/>
            <a:ext cx="788404" cy="356237"/>
          </a:xfrm>
          <a:prstGeom prst="downArrow">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3" name="Arrow: Down 12">
            <a:extLst>
              <a:ext uri="{FF2B5EF4-FFF2-40B4-BE49-F238E27FC236}">
                <a16:creationId xmlns:a16="http://schemas.microsoft.com/office/drawing/2014/main" id="{066DFA2E-7E63-5511-B09E-759B96BC2457}"/>
              </a:ext>
            </a:extLst>
          </p:cNvPr>
          <p:cNvSpPr/>
          <p:nvPr/>
        </p:nvSpPr>
        <p:spPr>
          <a:xfrm>
            <a:off x="8044858" y="3356910"/>
            <a:ext cx="788404" cy="356237"/>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4" name="Arrow: Down 13">
            <a:extLst>
              <a:ext uri="{FF2B5EF4-FFF2-40B4-BE49-F238E27FC236}">
                <a16:creationId xmlns:a16="http://schemas.microsoft.com/office/drawing/2014/main" id="{A99634EA-D2E3-53B0-6434-44CCFB4C4C48}"/>
              </a:ext>
            </a:extLst>
          </p:cNvPr>
          <p:cNvSpPr/>
          <p:nvPr/>
        </p:nvSpPr>
        <p:spPr>
          <a:xfrm>
            <a:off x="8046694" y="4394606"/>
            <a:ext cx="788404" cy="356237"/>
          </a:xfrm>
          <a:prstGeom prst="down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2" name="Rectangle: Rounded Corners 1">
            <a:extLst>
              <a:ext uri="{FF2B5EF4-FFF2-40B4-BE49-F238E27FC236}">
                <a16:creationId xmlns:a16="http://schemas.microsoft.com/office/drawing/2014/main" id="{9FA187E7-5A00-18D3-BC21-713CDCCAF013}"/>
              </a:ext>
            </a:extLst>
          </p:cNvPr>
          <p:cNvSpPr/>
          <p:nvPr/>
        </p:nvSpPr>
        <p:spPr>
          <a:xfrm>
            <a:off x="304800" y="1660455"/>
            <a:ext cx="5176452" cy="4705504"/>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rgbClr val="002060"/>
                </a:solidFill>
                <a:latin typeface="Trebuchet MS" panose="020B0603020202020204" pitchFamily="34" charset="0"/>
              </a:rPr>
              <a:t>Scenario: Employability Support</a:t>
            </a:r>
            <a:endParaRPr lang="en-US" noProof="0">
              <a:solidFill>
                <a:srgbClr val="002060"/>
              </a:solidFill>
              <a:latin typeface="Trebuchet MS" panose="020B0603020202020204" pitchFamily="34" charset="0"/>
            </a:endParaRPr>
          </a:p>
          <a:p>
            <a:endParaRPr lang="en-US" sz="1600" noProof="0">
              <a:solidFill>
                <a:srgbClr val="002060"/>
              </a:solidFill>
              <a:latin typeface="Trebuchet MS" panose="020B0603020202020204" pitchFamily="34" charset="0"/>
            </a:endParaRPr>
          </a:p>
          <a:p>
            <a:r>
              <a:rPr lang="en-US" sz="1600">
                <a:solidFill>
                  <a:srgbClr val="002060"/>
                </a:solidFill>
                <a:latin typeface="Trebuchet MS" panose="020B0603020202020204" pitchFamily="34" charset="0"/>
              </a:rPr>
              <a:t>The </a:t>
            </a:r>
            <a:r>
              <a:rPr lang="en-US" sz="1600" noProof="0">
                <a:solidFill>
                  <a:srgbClr val="002060"/>
                </a:solidFill>
                <a:latin typeface="Trebuchet MS" panose="020B0603020202020204" pitchFamily="34" charset="0"/>
              </a:rPr>
              <a:t>Employability Team supports 250 job seekers each month.</a:t>
            </a:r>
          </a:p>
          <a:p>
            <a:endParaRPr lang="en-US" sz="1600" noProof="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Each job seeker has 4 defect opportunities:</a:t>
            </a:r>
          </a:p>
          <a:p>
            <a:pPr marL="285750" indent="-285750">
              <a:buFont typeface="Arial" panose="020B0604020202020204" pitchFamily="34" charset="0"/>
              <a:buChar char="•"/>
            </a:pPr>
            <a:endParaRPr lang="en-US" sz="10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Initial assessment completed</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Action plan created</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Training assignment completed</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Employer referral submitted</a:t>
            </a:r>
          </a:p>
          <a:p>
            <a:endParaRPr lang="en-US" sz="1600" noProof="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During the month, the team identifies 12 defects:</a:t>
            </a:r>
          </a:p>
          <a:p>
            <a:endParaRPr lang="en-US" sz="10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4 x assessments not completed</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3 x action plans delayed</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2 x incorrect training assignments</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3 x employer referrals missed</a:t>
            </a:r>
          </a:p>
        </p:txBody>
      </p:sp>
    </p:spTree>
    <p:extLst>
      <p:ext uri="{BB962C8B-B14F-4D97-AF65-F5344CB8AC3E}">
        <p14:creationId xmlns:p14="http://schemas.microsoft.com/office/powerpoint/2010/main" val="1986143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11AD4-40A3-48FA-45CF-CD0D96EF340D}"/>
            </a:ext>
          </a:extLst>
        </p:cNvPr>
        <p:cNvGrpSpPr/>
        <p:nvPr/>
      </p:nvGrpSpPr>
      <p:grpSpPr>
        <a:xfrm>
          <a:off x="0" y="0"/>
          <a:ext cx="1" cy="1"/>
          <a:chOff x="0" y="0"/>
          <a:chExt cx="1" cy="1"/>
        </a:xfrm>
      </p:grpSpPr>
      <p:sp>
        <p:nvSpPr>
          <p:cNvPr id="5" name="Text Placeholder 4">
            <a:extLst>
              <a:ext uri="{FF2B5EF4-FFF2-40B4-BE49-F238E27FC236}">
                <a16:creationId xmlns:a16="http://schemas.microsoft.com/office/drawing/2014/main" id="{C9E82690-205D-BA80-332D-6B7BE387C1F9}"/>
              </a:ext>
            </a:extLst>
          </p:cNvPr>
          <p:cNvSpPr>
            <a:spLocks noGrp="1"/>
          </p:cNvSpPr>
          <p:nvPr>
            <p:ph type="body" sz="quarter" idx="10"/>
          </p:nvPr>
        </p:nvSpPr>
        <p:spPr>
          <a:xfrm>
            <a:off x="304800" y="298936"/>
            <a:ext cx="9144000" cy="492443"/>
          </a:xfrm>
        </p:spPr>
        <p:txBody>
          <a:bodyPr/>
          <a:lstStyle/>
          <a:p>
            <a:r>
              <a:rPr lang="en-US" sz="3200" noProof="0">
                <a:latin typeface="Trebuchet MS" panose="020B0603020202020204" pitchFamily="34" charset="0"/>
              </a:rPr>
              <a:t>Real Work Example: People and Culture</a:t>
            </a:r>
            <a:endParaRPr lang="en-US" sz="3600" noProof="0"/>
          </a:p>
        </p:txBody>
      </p:sp>
      <p:sp>
        <p:nvSpPr>
          <p:cNvPr id="8" name="Rectangle: Rounded Corners 7">
            <a:extLst>
              <a:ext uri="{FF2B5EF4-FFF2-40B4-BE49-F238E27FC236}">
                <a16:creationId xmlns:a16="http://schemas.microsoft.com/office/drawing/2014/main" id="{8C353D98-E521-8EDB-5C3D-BCF6772977D0}"/>
              </a:ext>
            </a:extLst>
          </p:cNvPr>
          <p:cNvSpPr/>
          <p:nvPr/>
        </p:nvSpPr>
        <p:spPr>
          <a:xfrm>
            <a:off x="5506278" y="1752600"/>
            <a:ext cx="5869236" cy="454765"/>
          </a:xfrm>
          <a:prstGeom prst="roundRect">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Trebuchet MS" panose="020B0603020202020204" pitchFamily="34" charset="0"/>
              </a:rPr>
              <a:t>Identify defect opportunities per item</a:t>
            </a:r>
          </a:p>
        </p:txBody>
      </p:sp>
      <p:sp>
        <p:nvSpPr>
          <p:cNvPr id="9" name="Rectangle: Rounded Corners 8">
            <a:extLst>
              <a:ext uri="{FF2B5EF4-FFF2-40B4-BE49-F238E27FC236}">
                <a16:creationId xmlns:a16="http://schemas.microsoft.com/office/drawing/2014/main" id="{1F77B654-2B49-5FC0-0384-C8AECA664459}"/>
              </a:ext>
            </a:extLst>
          </p:cNvPr>
          <p:cNvSpPr/>
          <p:nvPr/>
        </p:nvSpPr>
        <p:spPr>
          <a:xfrm>
            <a:off x="5527633" y="2578867"/>
            <a:ext cx="5869236" cy="912152"/>
          </a:xfrm>
          <a:prstGeom prst="round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noProof="0">
              <a:solidFill>
                <a:schemeClr val="bg1"/>
              </a:solidFill>
              <a:latin typeface="Trebuchet MS" panose="020B0603020202020204" pitchFamily="34" charset="0"/>
            </a:endParaRPr>
          </a:p>
          <a:p>
            <a:pPr algn="ctr"/>
            <a:r>
              <a:rPr lang="en-US" sz="1400" b="1" noProof="0">
                <a:solidFill>
                  <a:schemeClr val="bg1"/>
                </a:solidFill>
                <a:latin typeface="Trebuchet MS" panose="020B0603020202020204" pitchFamily="34" charset="0"/>
              </a:rPr>
              <a:t>Calculate the total opportunities </a:t>
            </a:r>
            <a:r>
              <a:rPr lang="en-US" sz="1400" noProof="0">
                <a:solidFill>
                  <a:schemeClr val="bg1"/>
                </a:solidFill>
                <a:latin typeface="Trebuchet MS" panose="020B0603020202020204" pitchFamily="34" charset="0"/>
              </a:rPr>
              <a:t>(what could go wrong)</a:t>
            </a:r>
          </a:p>
          <a:p>
            <a:pPr algn="ctr"/>
            <a:r>
              <a:rPr lang="en-US" sz="1400" noProof="0">
                <a:solidFill>
                  <a:schemeClr val="bg1"/>
                </a:solidFill>
                <a:latin typeface="Trebuchet MS" panose="020B0603020202020204" pitchFamily="34" charset="0"/>
              </a:rPr>
              <a:t>5 defects x 300 new starters = 1500 opportunities</a:t>
            </a:r>
          </a:p>
          <a:p>
            <a:pPr algn="ctr"/>
            <a:endParaRPr lang="en-US" sz="1400" noProof="0">
              <a:solidFill>
                <a:schemeClr val="bg1"/>
              </a:solidFill>
              <a:latin typeface="Trebuchet MS" panose="020B0603020202020204" pitchFamily="34" charset="0"/>
            </a:endParaRPr>
          </a:p>
        </p:txBody>
      </p:sp>
      <p:sp>
        <p:nvSpPr>
          <p:cNvPr id="10" name="Rectangle: Rounded Corners 9">
            <a:extLst>
              <a:ext uri="{FF2B5EF4-FFF2-40B4-BE49-F238E27FC236}">
                <a16:creationId xmlns:a16="http://schemas.microsoft.com/office/drawing/2014/main" id="{B6A23ACF-BC0B-C345-4442-87910807A532}"/>
              </a:ext>
            </a:extLst>
          </p:cNvPr>
          <p:cNvSpPr/>
          <p:nvPr/>
        </p:nvSpPr>
        <p:spPr>
          <a:xfrm>
            <a:off x="5506278" y="3839678"/>
            <a:ext cx="5869236" cy="759000"/>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noProof="0">
                <a:solidFill>
                  <a:schemeClr val="bg1"/>
                </a:solidFill>
                <a:latin typeface="Trebuchet MS" panose="020B0603020202020204" pitchFamily="34" charset="0"/>
              </a:rPr>
              <a:t>Calculate DPU </a:t>
            </a:r>
            <a:r>
              <a:rPr lang="en-US" sz="1400" noProof="0">
                <a:solidFill>
                  <a:schemeClr val="bg1"/>
                </a:solidFill>
                <a:latin typeface="Trebuchet MS" panose="020B0603020202020204" pitchFamily="34" charset="0"/>
              </a:rPr>
              <a:t>(what did go wrong) </a:t>
            </a:r>
          </a:p>
          <a:p>
            <a:pPr algn="ctr"/>
            <a:r>
              <a:rPr lang="en-US" sz="1400" noProof="0">
                <a:solidFill>
                  <a:schemeClr val="bg1"/>
                </a:solidFill>
                <a:latin typeface="Trebuchet MS"/>
              </a:rPr>
              <a:t>20 defects/300 new starters = 0.0667 defects per item</a:t>
            </a:r>
          </a:p>
        </p:txBody>
      </p:sp>
      <p:sp>
        <p:nvSpPr>
          <p:cNvPr id="11" name="Rectangle: Rounded Corners 10">
            <a:extLst>
              <a:ext uri="{FF2B5EF4-FFF2-40B4-BE49-F238E27FC236}">
                <a16:creationId xmlns:a16="http://schemas.microsoft.com/office/drawing/2014/main" id="{63AE6E66-9186-0BA4-5D74-002D7C125DB6}"/>
              </a:ext>
            </a:extLst>
          </p:cNvPr>
          <p:cNvSpPr/>
          <p:nvPr/>
        </p:nvSpPr>
        <p:spPr>
          <a:xfrm>
            <a:off x="5527633" y="4909985"/>
            <a:ext cx="5869236" cy="1109815"/>
          </a:xfrm>
          <a:prstGeom prst="roundRect">
            <a:avLst/>
          </a:prstGeom>
          <a:solidFill>
            <a:srgbClr val="27AAE1"/>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noProof="0">
              <a:solidFill>
                <a:schemeClr val="bg1"/>
              </a:solidFill>
              <a:latin typeface="Trebuchet MS" panose="020B0603020202020204" pitchFamily="34" charset="0"/>
            </a:endParaRPr>
          </a:p>
          <a:p>
            <a:pPr algn="ctr"/>
            <a:r>
              <a:rPr lang="en-US" sz="1400" b="1" noProof="0">
                <a:solidFill>
                  <a:schemeClr val="bg1"/>
                </a:solidFill>
                <a:latin typeface="Trebuchet MS" panose="020B0603020202020204" pitchFamily="34" charset="0"/>
              </a:rPr>
              <a:t>Apply DPMO </a:t>
            </a:r>
          </a:p>
          <a:p>
            <a:pPr algn="ctr"/>
            <a:r>
              <a:rPr lang="en-US" sz="1400" noProof="0">
                <a:solidFill>
                  <a:schemeClr val="bg1"/>
                </a:solidFill>
                <a:latin typeface="Trebuchet MS" panose="020B0603020202020204" pitchFamily="34" charset="0"/>
              </a:rPr>
              <a:t>DPMO = (DPU ÷ Opportunities) × 1,000,000     </a:t>
            </a:r>
          </a:p>
          <a:p>
            <a:pPr algn="ctr"/>
            <a:r>
              <a:rPr lang="en-US" sz="1400" noProof="0">
                <a:solidFill>
                  <a:schemeClr val="bg1"/>
                </a:solidFill>
                <a:latin typeface="Trebuchet MS" panose="020B0603020202020204" pitchFamily="34" charset="0"/>
              </a:rPr>
              <a:t>= (0.0667÷  Defects) × 1,000,000     </a:t>
            </a:r>
          </a:p>
          <a:p>
            <a:pPr algn="ctr"/>
            <a:r>
              <a:rPr lang="en-US" sz="1400" noProof="0">
                <a:solidFill>
                  <a:schemeClr val="bg1"/>
                </a:solidFill>
                <a:latin typeface="Trebuchet MS" panose="020B0603020202020204" pitchFamily="34" charset="0"/>
              </a:rPr>
              <a:t>= 13, 333 items defects per million opportunities</a:t>
            </a:r>
          </a:p>
          <a:p>
            <a:pPr algn="ctr"/>
            <a:endParaRPr lang="en-US" sz="1400" noProof="0">
              <a:solidFill>
                <a:schemeClr val="bg1"/>
              </a:solidFill>
              <a:latin typeface="Trebuchet MS" panose="020B0603020202020204" pitchFamily="34" charset="0"/>
            </a:endParaRPr>
          </a:p>
        </p:txBody>
      </p:sp>
      <p:sp>
        <p:nvSpPr>
          <p:cNvPr id="12" name="Arrow: Down 11">
            <a:extLst>
              <a:ext uri="{FF2B5EF4-FFF2-40B4-BE49-F238E27FC236}">
                <a16:creationId xmlns:a16="http://schemas.microsoft.com/office/drawing/2014/main" id="{371D2B44-659E-8207-97A5-74EF921CA693}"/>
              </a:ext>
            </a:extLst>
          </p:cNvPr>
          <p:cNvSpPr/>
          <p:nvPr/>
        </p:nvSpPr>
        <p:spPr>
          <a:xfrm>
            <a:off x="8105309" y="2178304"/>
            <a:ext cx="788404" cy="356237"/>
          </a:xfrm>
          <a:prstGeom prst="downArrow">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3" name="Arrow: Down 12">
            <a:extLst>
              <a:ext uri="{FF2B5EF4-FFF2-40B4-BE49-F238E27FC236}">
                <a16:creationId xmlns:a16="http://schemas.microsoft.com/office/drawing/2014/main" id="{782B1EC7-44DC-6898-B163-E4C16469638B}"/>
              </a:ext>
            </a:extLst>
          </p:cNvPr>
          <p:cNvSpPr/>
          <p:nvPr/>
        </p:nvSpPr>
        <p:spPr>
          <a:xfrm>
            <a:off x="8108444" y="3450425"/>
            <a:ext cx="788404" cy="356237"/>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4" name="Arrow: Down 13">
            <a:extLst>
              <a:ext uri="{FF2B5EF4-FFF2-40B4-BE49-F238E27FC236}">
                <a16:creationId xmlns:a16="http://schemas.microsoft.com/office/drawing/2014/main" id="{925C04EC-7BDF-79E0-BC97-3C5AFAC6BC51}"/>
              </a:ext>
            </a:extLst>
          </p:cNvPr>
          <p:cNvSpPr/>
          <p:nvPr/>
        </p:nvSpPr>
        <p:spPr>
          <a:xfrm>
            <a:off x="8108444" y="4520562"/>
            <a:ext cx="788404" cy="356237"/>
          </a:xfrm>
          <a:prstGeom prst="down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2" name="Rectangle: Rounded Corners 1">
            <a:extLst>
              <a:ext uri="{FF2B5EF4-FFF2-40B4-BE49-F238E27FC236}">
                <a16:creationId xmlns:a16="http://schemas.microsoft.com/office/drawing/2014/main" id="{8BEBEEF4-A551-3B58-EC7B-15565EBD129E}"/>
              </a:ext>
            </a:extLst>
          </p:cNvPr>
          <p:cNvSpPr/>
          <p:nvPr/>
        </p:nvSpPr>
        <p:spPr>
          <a:xfrm>
            <a:off x="278296" y="1447800"/>
            <a:ext cx="4953000" cy="5257800"/>
          </a:xfrm>
          <a:prstGeom prst="roundRect">
            <a:avLst>
              <a:gd name="adj" fmla="val 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a:solidFill>
                  <a:srgbClr val="002060"/>
                </a:solidFill>
                <a:latin typeface="Trebuchet MS" panose="020B0603020202020204" pitchFamily="34" charset="0"/>
              </a:rPr>
              <a:t>  </a:t>
            </a:r>
            <a:r>
              <a:rPr lang="en-US" b="1">
                <a:solidFill>
                  <a:srgbClr val="002060"/>
                </a:solidFill>
                <a:latin typeface="Trebuchet MS" panose="020B0603020202020204" pitchFamily="34" charset="0"/>
              </a:rPr>
              <a:t>Scenario: </a:t>
            </a:r>
            <a:r>
              <a:rPr lang="en-US" b="1" noProof="0">
                <a:solidFill>
                  <a:srgbClr val="002060"/>
                </a:solidFill>
                <a:latin typeface="Trebuchet MS" panose="020B0603020202020204" pitchFamily="34" charset="0"/>
              </a:rPr>
              <a:t>HR Onboarding</a:t>
            </a:r>
          </a:p>
          <a:p>
            <a:endParaRPr lang="en-US" sz="1600" b="1" noProof="0">
              <a:solidFill>
                <a:srgbClr val="002060"/>
              </a:solidFill>
              <a:latin typeface="Trebuchet MS" panose="020B0603020202020204" pitchFamily="34" charset="0"/>
            </a:endParaRPr>
          </a:p>
          <a:p>
            <a:pPr marL="92075"/>
            <a:r>
              <a:rPr lang="en-US" sz="1600" noProof="0">
                <a:solidFill>
                  <a:srgbClr val="002060"/>
                </a:solidFill>
                <a:latin typeface="Trebuchet MS" panose="020B0603020202020204" pitchFamily="34" charset="0"/>
              </a:rPr>
              <a:t>The People and Culture team onboarded 300 new starters this quarter. </a:t>
            </a:r>
          </a:p>
          <a:p>
            <a:pPr marL="92075"/>
            <a:endParaRPr lang="en-US" sz="1600">
              <a:solidFill>
                <a:srgbClr val="002060"/>
              </a:solidFill>
              <a:latin typeface="Trebuchet MS" panose="020B0603020202020204" pitchFamily="34" charset="0"/>
            </a:endParaRPr>
          </a:p>
          <a:p>
            <a:pPr marL="92075"/>
            <a:r>
              <a:rPr lang="en-US" sz="1600" noProof="0">
                <a:solidFill>
                  <a:srgbClr val="002060"/>
                </a:solidFill>
                <a:latin typeface="Trebuchet MS" panose="020B0603020202020204" pitchFamily="34" charset="0"/>
              </a:rPr>
              <a:t>Each starter has 5 defect opportunities:</a:t>
            </a:r>
          </a:p>
          <a:p>
            <a:pPr marL="357188" indent="-265113"/>
            <a:endParaRPr lang="en-US" sz="1000" noProof="0">
              <a:solidFill>
                <a:srgbClr val="002060"/>
              </a:solidFill>
              <a:latin typeface="Trebuchet MS" panose="020B0603020202020204" pitchFamily="34" charset="0"/>
            </a:endParaRPr>
          </a:p>
          <a:p>
            <a:pPr marL="357188" indent="-265113">
              <a:buFont typeface="Arial" panose="020B0604020202020204" pitchFamily="34" charset="0"/>
              <a:buChar char="•"/>
            </a:pPr>
            <a:r>
              <a:rPr lang="en-US" sz="1600" noProof="0">
                <a:solidFill>
                  <a:srgbClr val="002060"/>
                </a:solidFill>
                <a:latin typeface="Trebuchet MS" panose="020B0603020202020204" pitchFamily="34" charset="0"/>
              </a:rPr>
              <a:t>Right to work verified</a:t>
            </a:r>
          </a:p>
          <a:p>
            <a:pPr marL="357188" indent="-265113">
              <a:buFont typeface="Arial" panose="020B0604020202020204" pitchFamily="34" charset="0"/>
              <a:buChar char="•"/>
            </a:pPr>
            <a:r>
              <a:rPr lang="en-US" sz="1600" noProof="0">
                <a:solidFill>
                  <a:srgbClr val="002060"/>
                </a:solidFill>
                <a:latin typeface="Trebuchet MS" panose="020B0603020202020204" pitchFamily="34" charset="0"/>
              </a:rPr>
              <a:t>Payroll setup completed</a:t>
            </a:r>
          </a:p>
          <a:p>
            <a:pPr marL="357188" indent="-265113">
              <a:buFont typeface="Arial" panose="020B0604020202020204" pitchFamily="34" charset="0"/>
              <a:buChar char="•"/>
            </a:pPr>
            <a:r>
              <a:rPr lang="en-US" sz="1600" noProof="0">
                <a:solidFill>
                  <a:srgbClr val="002060"/>
                </a:solidFill>
                <a:latin typeface="Trebuchet MS" panose="020B0603020202020204" pitchFamily="34" charset="0"/>
              </a:rPr>
              <a:t>System access provisioned</a:t>
            </a:r>
          </a:p>
          <a:p>
            <a:pPr marL="357188" indent="-265113">
              <a:buFont typeface="Arial" panose="020B0604020202020204" pitchFamily="34" charset="0"/>
              <a:buChar char="•"/>
            </a:pPr>
            <a:r>
              <a:rPr lang="en-US" sz="1600" noProof="0">
                <a:solidFill>
                  <a:srgbClr val="002060"/>
                </a:solidFill>
                <a:latin typeface="Trebuchet MS" panose="020B0603020202020204" pitchFamily="34" charset="0"/>
              </a:rPr>
              <a:t>Manager induction completed</a:t>
            </a:r>
          </a:p>
          <a:p>
            <a:pPr marL="357188" indent="-265113">
              <a:buFont typeface="Arial" panose="020B0604020202020204" pitchFamily="34" charset="0"/>
              <a:buChar char="•"/>
            </a:pPr>
            <a:r>
              <a:rPr lang="en-US" sz="1600" noProof="0">
                <a:solidFill>
                  <a:srgbClr val="002060"/>
                </a:solidFill>
                <a:latin typeface="Trebuchet MS" panose="020B0603020202020204" pitchFamily="34" charset="0"/>
              </a:rPr>
              <a:t>Mandatory training assigned</a:t>
            </a:r>
          </a:p>
          <a:p>
            <a:pPr marL="357188" indent="-265113"/>
            <a:endParaRPr lang="en-US" sz="1600" noProof="0">
              <a:solidFill>
                <a:srgbClr val="002060"/>
              </a:solidFill>
              <a:latin typeface="Trebuchet MS" panose="020B0603020202020204" pitchFamily="34" charset="0"/>
            </a:endParaRPr>
          </a:p>
          <a:p>
            <a:pPr marL="357188" indent="-265113"/>
            <a:r>
              <a:rPr lang="en-US" sz="1600" noProof="0">
                <a:solidFill>
                  <a:srgbClr val="002060"/>
                </a:solidFill>
                <a:latin typeface="Trebuchet MS" panose="020B0603020202020204" pitchFamily="34" charset="0"/>
              </a:rPr>
              <a:t>Assume 20 of these defects identified across the</a:t>
            </a:r>
          </a:p>
          <a:p>
            <a:pPr marL="357188" indent="-265113"/>
            <a:r>
              <a:rPr lang="en-US" sz="1600" noProof="0">
                <a:solidFill>
                  <a:srgbClr val="002060"/>
                </a:solidFill>
                <a:latin typeface="Trebuchet MS" panose="020B0603020202020204" pitchFamily="34" charset="0"/>
              </a:rPr>
              <a:t>300 starters.</a:t>
            </a:r>
          </a:p>
          <a:p>
            <a:pPr marL="357188" indent="-265113"/>
            <a:endParaRPr lang="en-US" sz="1000" noProof="0">
              <a:solidFill>
                <a:srgbClr val="002060"/>
              </a:solidFill>
              <a:latin typeface="Trebuchet MS" panose="020B0603020202020204" pitchFamily="34" charset="0"/>
            </a:endParaRPr>
          </a:p>
          <a:p>
            <a:pPr marL="357188" indent="-265113">
              <a:buFont typeface="Arial" panose="020B0604020202020204" pitchFamily="34" charset="0"/>
              <a:buChar char="•"/>
            </a:pPr>
            <a:r>
              <a:rPr lang="en-US" sz="1600" noProof="0">
                <a:solidFill>
                  <a:srgbClr val="002060"/>
                </a:solidFill>
                <a:latin typeface="Trebuchet MS" panose="020B0603020202020204" pitchFamily="34" charset="0"/>
              </a:rPr>
              <a:t>Missing contract</a:t>
            </a:r>
          </a:p>
          <a:p>
            <a:pPr marL="357188" indent="-265113">
              <a:buFont typeface="Arial" panose="020B0604020202020204" pitchFamily="34" charset="0"/>
              <a:buChar char="•"/>
            </a:pPr>
            <a:r>
              <a:rPr lang="en-US" sz="1600" noProof="0">
                <a:solidFill>
                  <a:srgbClr val="002060"/>
                </a:solidFill>
                <a:latin typeface="Trebuchet MS" panose="020B0603020202020204" pitchFamily="34" charset="0"/>
              </a:rPr>
              <a:t>Payroll setup errors</a:t>
            </a:r>
          </a:p>
          <a:p>
            <a:pPr marL="357188" indent="-265113">
              <a:buFont typeface="Arial" panose="020B0604020202020204" pitchFamily="34" charset="0"/>
              <a:buChar char="•"/>
            </a:pPr>
            <a:r>
              <a:rPr lang="en-US" sz="1600" noProof="0">
                <a:solidFill>
                  <a:srgbClr val="002060"/>
                </a:solidFill>
                <a:latin typeface="Trebuchet MS" panose="020B0603020202020204" pitchFamily="34" charset="0"/>
              </a:rPr>
              <a:t>Delayed laptop request</a:t>
            </a:r>
          </a:p>
          <a:p>
            <a:pPr marL="357188" indent="-265113">
              <a:buFont typeface="Arial" panose="020B0604020202020204" pitchFamily="34" charset="0"/>
              <a:buChar char="•"/>
            </a:pPr>
            <a:r>
              <a:rPr lang="en-US" sz="1600" noProof="0">
                <a:solidFill>
                  <a:srgbClr val="002060"/>
                </a:solidFill>
                <a:latin typeface="Trebuchet MS" panose="020B0603020202020204" pitchFamily="34" charset="0"/>
              </a:rPr>
              <a:t>Incorrect manager allocation</a:t>
            </a:r>
          </a:p>
          <a:p>
            <a:pPr marL="357188" indent="-265113">
              <a:buFont typeface="Arial" panose="020B0604020202020204" pitchFamily="34" charset="0"/>
              <a:buChar char="•"/>
            </a:pPr>
            <a:r>
              <a:rPr lang="en-US" sz="1600" noProof="0">
                <a:solidFill>
                  <a:srgbClr val="002060"/>
                </a:solidFill>
                <a:latin typeface="Trebuchet MS" panose="020B0603020202020204" pitchFamily="34" charset="0"/>
              </a:rPr>
              <a:t>Mandatory training not assigned</a:t>
            </a:r>
          </a:p>
        </p:txBody>
      </p:sp>
    </p:spTree>
    <p:extLst>
      <p:ext uri="{BB962C8B-B14F-4D97-AF65-F5344CB8AC3E}">
        <p14:creationId xmlns:p14="http://schemas.microsoft.com/office/powerpoint/2010/main" val="20071165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CBB68-B166-682C-1068-B804CFCF0ACF}"/>
            </a:ext>
          </a:extLst>
        </p:cNvPr>
        <p:cNvGrpSpPr/>
        <p:nvPr/>
      </p:nvGrpSpPr>
      <p:grpSpPr>
        <a:xfrm>
          <a:off x="0" y="0"/>
          <a:ext cx="1" cy="1"/>
          <a:chOff x="0" y="0"/>
          <a:chExt cx="1" cy="1"/>
        </a:xfrm>
      </p:grpSpPr>
      <p:sp>
        <p:nvSpPr>
          <p:cNvPr id="2" name="Text Placeholder 1">
            <a:extLst>
              <a:ext uri="{FF2B5EF4-FFF2-40B4-BE49-F238E27FC236}">
                <a16:creationId xmlns:a16="http://schemas.microsoft.com/office/drawing/2014/main" id="{E8410C06-0C8A-30CC-1D3C-25B06C88AEF8}"/>
              </a:ext>
            </a:extLst>
          </p:cNvPr>
          <p:cNvSpPr>
            <a:spLocks noGrp="1"/>
          </p:cNvSpPr>
          <p:nvPr>
            <p:ph type="body" sz="quarter" idx="10"/>
          </p:nvPr>
        </p:nvSpPr>
        <p:spPr>
          <a:xfrm>
            <a:off x="406940" y="387958"/>
            <a:ext cx="5562600" cy="492443"/>
          </a:xfrm>
        </p:spPr>
        <p:txBody>
          <a:bodyPr/>
          <a:lstStyle/>
          <a:p>
            <a:r>
              <a:rPr lang="en-US" sz="3200" noProof="0">
                <a:latin typeface="Trebuchet MS" panose="020B0603020202020204" pitchFamily="34" charset="0"/>
              </a:rPr>
              <a:t>Activity:</a:t>
            </a:r>
          </a:p>
        </p:txBody>
      </p:sp>
      <p:sp>
        <p:nvSpPr>
          <p:cNvPr id="6" name="TextBox 5">
            <a:extLst>
              <a:ext uri="{FF2B5EF4-FFF2-40B4-BE49-F238E27FC236}">
                <a16:creationId xmlns:a16="http://schemas.microsoft.com/office/drawing/2014/main" id="{037D5062-0ADA-213C-15ED-2D31CDA7615E}"/>
              </a:ext>
            </a:extLst>
          </p:cNvPr>
          <p:cNvSpPr txBox="1"/>
          <p:nvPr/>
        </p:nvSpPr>
        <p:spPr>
          <a:xfrm>
            <a:off x="328411" y="1807120"/>
            <a:ext cx="5334000" cy="4124206"/>
          </a:xfrm>
          <a:prstGeom prst="rect">
            <a:avLst/>
          </a:prstGeom>
          <a:noFill/>
        </p:spPr>
        <p:txBody>
          <a:bodyPr wrap="square">
            <a:spAutoFit/>
          </a:bodyPr>
          <a:lstStyle/>
          <a:p>
            <a:r>
              <a:rPr lang="en-US" b="1" noProof="0">
                <a:solidFill>
                  <a:srgbClr val="002060"/>
                </a:solidFill>
                <a:latin typeface="Trebuchet MS" panose="020B0603020202020204" pitchFamily="34" charset="0"/>
              </a:rPr>
              <a:t>Scenario: Child Care Eligibility</a:t>
            </a:r>
          </a:p>
          <a:p>
            <a:endParaRPr lang="en-US" sz="1600" noProof="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Child Care supported 200 families during the month.</a:t>
            </a:r>
          </a:p>
          <a:p>
            <a:endParaRPr lang="en-US" sz="1600" noProof="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Each family has 4 opportunities for a defect to occur:</a:t>
            </a:r>
          </a:p>
          <a:p>
            <a:endParaRPr lang="en-US" sz="10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Eligibility completed</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Income calculation</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Evidence verification</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Child Care Notice</a:t>
            </a:r>
          </a:p>
          <a:p>
            <a:endParaRPr lang="en-US" sz="1600" noProof="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During the month, the team identified 16 defects:</a:t>
            </a:r>
          </a:p>
          <a:p>
            <a:endParaRPr lang="en-US" sz="10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5 x eligibility not completed</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4 x income calculations incorrect</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3 x incorrect evidence approved</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4 x Child Care notices not issued to provider</a:t>
            </a:r>
          </a:p>
        </p:txBody>
      </p:sp>
      <p:sp>
        <p:nvSpPr>
          <p:cNvPr id="7" name="Rectangle: Rounded Corners 6">
            <a:extLst>
              <a:ext uri="{FF2B5EF4-FFF2-40B4-BE49-F238E27FC236}">
                <a16:creationId xmlns:a16="http://schemas.microsoft.com/office/drawing/2014/main" id="{98704B8B-C0A9-8D73-1907-31665F49D4A3}"/>
              </a:ext>
            </a:extLst>
          </p:cNvPr>
          <p:cNvSpPr/>
          <p:nvPr/>
        </p:nvSpPr>
        <p:spPr>
          <a:xfrm>
            <a:off x="5504442" y="1736882"/>
            <a:ext cx="5869236" cy="454765"/>
          </a:xfrm>
          <a:prstGeom prst="roundRect">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noProof="0">
                <a:solidFill>
                  <a:schemeClr val="bg1"/>
                </a:solidFill>
                <a:latin typeface="Trebuchet MS"/>
              </a:rPr>
              <a:t>Identify </a:t>
            </a:r>
            <a:r>
              <a:rPr lang="en-US" sz="1400" b="1">
                <a:solidFill>
                  <a:schemeClr val="bg1"/>
                </a:solidFill>
                <a:latin typeface="Trebuchet MS"/>
              </a:rPr>
              <a:t>defect opportunities</a:t>
            </a:r>
            <a:r>
              <a:rPr lang="en-US" sz="1400" b="1" noProof="0">
                <a:solidFill>
                  <a:schemeClr val="bg1"/>
                </a:solidFill>
                <a:latin typeface="Trebuchet MS"/>
              </a:rPr>
              <a:t> per item</a:t>
            </a:r>
          </a:p>
        </p:txBody>
      </p:sp>
      <p:sp>
        <p:nvSpPr>
          <p:cNvPr id="8" name="Rectangle: Rounded Corners 7">
            <a:extLst>
              <a:ext uri="{FF2B5EF4-FFF2-40B4-BE49-F238E27FC236}">
                <a16:creationId xmlns:a16="http://schemas.microsoft.com/office/drawing/2014/main" id="{E65973FA-B16B-A7DA-CF1C-33B9F516DFF5}"/>
              </a:ext>
            </a:extLst>
          </p:cNvPr>
          <p:cNvSpPr/>
          <p:nvPr/>
        </p:nvSpPr>
        <p:spPr>
          <a:xfrm>
            <a:off x="5509313" y="2514600"/>
            <a:ext cx="5869236" cy="912152"/>
          </a:xfrm>
          <a:prstGeom prst="round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noProof="0">
              <a:solidFill>
                <a:schemeClr val="bg1"/>
              </a:solidFill>
              <a:latin typeface="Trebuchet MS" panose="020B0603020202020204" pitchFamily="34" charset="0"/>
            </a:endParaRPr>
          </a:p>
          <a:p>
            <a:pPr algn="ctr"/>
            <a:r>
              <a:rPr lang="en-US" sz="1400" b="1" noProof="0">
                <a:solidFill>
                  <a:schemeClr val="bg1"/>
                </a:solidFill>
                <a:latin typeface="Trebuchet MS" panose="020B0603020202020204" pitchFamily="34" charset="0"/>
              </a:rPr>
              <a:t>Calculate the total opportunities </a:t>
            </a:r>
            <a:r>
              <a:rPr lang="en-US" sz="1400" noProof="0">
                <a:solidFill>
                  <a:schemeClr val="bg1"/>
                </a:solidFill>
                <a:latin typeface="Trebuchet MS" panose="020B0603020202020204" pitchFamily="34" charset="0"/>
              </a:rPr>
              <a:t>(what could go wrong)</a:t>
            </a:r>
          </a:p>
          <a:p>
            <a:pPr algn="ctr"/>
            <a:r>
              <a:rPr lang="en-US" sz="1400" noProof="0">
                <a:solidFill>
                  <a:schemeClr val="bg1"/>
                </a:solidFill>
                <a:latin typeface="Trebuchet MS" panose="020B0603020202020204" pitchFamily="34" charset="0"/>
              </a:rPr>
              <a:t># potential defects x # Families =  # opportunities</a:t>
            </a:r>
          </a:p>
          <a:p>
            <a:pPr algn="ctr"/>
            <a:endParaRPr lang="en-US" sz="1400" noProof="0">
              <a:solidFill>
                <a:schemeClr val="bg1"/>
              </a:solidFill>
              <a:latin typeface="Trebuchet MS" panose="020B0603020202020204" pitchFamily="34" charset="0"/>
            </a:endParaRPr>
          </a:p>
        </p:txBody>
      </p:sp>
      <p:sp>
        <p:nvSpPr>
          <p:cNvPr id="9" name="Rectangle: Rounded Corners 8">
            <a:extLst>
              <a:ext uri="{FF2B5EF4-FFF2-40B4-BE49-F238E27FC236}">
                <a16:creationId xmlns:a16="http://schemas.microsoft.com/office/drawing/2014/main" id="{5F33869D-2F9F-8781-5C0C-9D91A9EF1A50}"/>
              </a:ext>
            </a:extLst>
          </p:cNvPr>
          <p:cNvSpPr/>
          <p:nvPr/>
        </p:nvSpPr>
        <p:spPr>
          <a:xfrm>
            <a:off x="5504442" y="3823057"/>
            <a:ext cx="5869236" cy="759000"/>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noProof="0">
                <a:solidFill>
                  <a:schemeClr val="bg1"/>
                </a:solidFill>
                <a:latin typeface="Trebuchet MS" panose="020B0603020202020204" pitchFamily="34" charset="0"/>
              </a:rPr>
              <a:t>Calculate DPU</a:t>
            </a:r>
            <a:r>
              <a:rPr lang="en-US" sz="1400" noProof="0">
                <a:solidFill>
                  <a:schemeClr val="bg1"/>
                </a:solidFill>
                <a:latin typeface="Trebuchet MS" panose="020B0603020202020204" pitchFamily="34" charset="0"/>
              </a:rPr>
              <a:t>(what did go wrong) </a:t>
            </a:r>
          </a:p>
          <a:p>
            <a:pPr algn="ctr"/>
            <a:r>
              <a:rPr lang="en-US" sz="1400" noProof="0">
                <a:solidFill>
                  <a:schemeClr val="bg1"/>
                </a:solidFill>
                <a:latin typeface="Trebuchet MS"/>
              </a:rPr>
              <a:t># defects/# families = # defects per unit (item)</a:t>
            </a:r>
          </a:p>
        </p:txBody>
      </p:sp>
      <p:sp>
        <p:nvSpPr>
          <p:cNvPr id="10" name="Rectangle: Rounded Corners 9">
            <a:extLst>
              <a:ext uri="{FF2B5EF4-FFF2-40B4-BE49-F238E27FC236}">
                <a16:creationId xmlns:a16="http://schemas.microsoft.com/office/drawing/2014/main" id="{B15BFA4C-0EB3-B28F-A361-B5AAA1AB7411}"/>
              </a:ext>
            </a:extLst>
          </p:cNvPr>
          <p:cNvSpPr/>
          <p:nvPr/>
        </p:nvSpPr>
        <p:spPr>
          <a:xfrm>
            <a:off x="5504442" y="4988090"/>
            <a:ext cx="5869236" cy="1295400"/>
          </a:xfrm>
          <a:prstGeom prst="roundRect">
            <a:avLst/>
          </a:prstGeom>
          <a:solidFill>
            <a:srgbClr val="27AAE1"/>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noProof="0">
              <a:solidFill>
                <a:schemeClr val="bg1"/>
              </a:solidFill>
              <a:latin typeface="Trebuchet MS" panose="020B0603020202020204" pitchFamily="34" charset="0"/>
            </a:endParaRPr>
          </a:p>
          <a:p>
            <a:pPr algn="ctr"/>
            <a:r>
              <a:rPr lang="en-US" sz="1400" b="1" noProof="0">
                <a:solidFill>
                  <a:schemeClr val="bg1"/>
                </a:solidFill>
                <a:latin typeface="Trebuchet MS" panose="020B0603020202020204" pitchFamily="34" charset="0"/>
              </a:rPr>
              <a:t>Apply DPMO </a:t>
            </a:r>
          </a:p>
          <a:p>
            <a:pPr algn="ctr"/>
            <a:r>
              <a:rPr lang="en-US" sz="1400" noProof="0">
                <a:solidFill>
                  <a:schemeClr val="bg1"/>
                </a:solidFill>
                <a:latin typeface="Trebuchet MS" panose="020B0603020202020204" pitchFamily="34" charset="0"/>
              </a:rPr>
              <a:t>DPMO = (DPU ÷ Opportunities) × 1,000,000     </a:t>
            </a:r>
          </a:p>
          <a:p>
            <a:pPr algn="ctr"/>
            <a:r>
              <a:rPr lang="en-US" sz="1400" noProof="0">
                <a:solidFill>
                  <a:schemeClr val="bg1"/>
                </a:solidFill>
                <a:latin typeface="Trebuchet MS" panose="020B0603020202020204" pitchFamily="34" charset="0"/>
              </a:rPr>
              <a:t>= (DPU÷ # Defects) × 1,000,000     </a:t>
            </a:r>
          </a:p>
          <a:p>
            <a:pPr algn="ctr"/>
            <a:r>
              <a:rPr lang="en-US" sz="1400" noProof="0">
                <a:solidFill>
                  <a:schemeClr val="bg1"/>
                </a:solidFill>
                <a:latin typeface="Trebuchet MS" panose="020B0603020202020204" pitchFamily="34" charset="0"/>
              </a:rPr>
              <a:t>= # Child Care defects per million opportunities</a:t>
            </a:r>
          </a:p>
          <a:p>
            <a:pPr algn="ctr"/>
            <a:endParaRPr lang="en-US" sz="1400" noProof="0">
              <a:solidFill>
                <a:schemeClr val="bg1"/>
              </a:solidFill>
              <a:latin typeface="Trebuchet MS" panose="020B0603020202020204" pitchFamily="34" charset="0"/>
            </a:endParaRPr>
          </a:p>
        </p:txBody>
      </p:sp>
      <p:sp>
        <p:nvSpPr>
          <p:cNvPr id="11" name="Arrow: Down 10">
            <a:extLst>
              <a:ext uri="{FF2B5EF4-FFF2-40B4-BE49-F238E27FC236}">
                <a16:creationId xmlns:a16="http://schemas.microsoft.com/office/drawing/2014/main" id="{4EE7C419-4A6F-E60F-59F8-BC4E5D7A9804}"/>
              </a:ext>
            </a:extLst>
          </p:cNvPr>
          <p:cNvSpPr/>
          <p:nvPr/>
        </p:nvSpPr>
        <p:spPr>
          <a:xfrm>
            <a:off x="8043022" y="2114333"/>
            <a:ext cx="788404" cy="356237"/>
          </a:xfrm>
          <a:prstGeom prst="downArrow">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2" name="Arrow: Down 11">
            <a:extLst>
              <a:ext uri="{FF2B5EF4-FFF2-40B4-BE49-F238E27FC236}">
                <a16:creationId xmlns:a16="http://schemas.microsoft.com/office/drawing/2014/main" id="{E6BFAA16-FCC5-53F2-A1F5-E09DD6B76A7D}"/>
              </a:ext>
            </a:extLst>
          </p:cNvPr>
          <p:cNvSpPr/>
          <p:nvPr/>
        </p:nvSpPr>
        <p:spPr>
          <a:xfrm>
            <a:off x="8043022" y="3391737"/>
            <a:ext cx="788404" cy="356237"/>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3" name="Arrow: Down 12">
            <a:extLst>
              <a:ext uri="{FF2B5EF4-FFF2-40B4-BE49-F238E27FC236}">
                <a16:creationId xmlns:a16="http://schemas.microsoft.com/office/drawing/2014/main" id="{C2C849C8-1FE3-12FE-0818-929CE66E99C3}"/>
              </a:ext>
            </a:extLst>
          </p:cNvPr>
          <p:cNvSpPr/>
          <p:nvPr/>
        </p:nvSpPr>
        <p:spPr>
          <a:xfrm>
            <a:off x="8043022" y="4562822"/>
            <a:ext cx="788404" cy="356237"/>
          </a:xfrm>
          <a:prstGeom prst="down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Tree>
    <p:extLst>
      <p:ext uri="{BB962C8B-B14F-4D97-AF65-F5344CB8AC3E}">
        <p14:creationId xmlns:p14="http://schemas.microsoft.com/office/powerpoint/2010/main" val="41934665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Placeholder 1">
            <a:extLst>
              <a:ext uri="{FF2B5EF4-FFF2-40B4-BE49-F238E27FC236}">
                <a16:creationId xmlns:a16="http://schemas.microsoft.com/office/drawing/2014/main" id="{9D0838A2-07D3-70DA-770A-E6F5F14AE5FC}"/>
              </a:ext>
            </a:extLst>
          </p:cNvPr>
          <p:cNvSpPr>
            <a:spLocks noGrp="1"/>
          </p:cNvSpPr>
          <p:nvPr>
            <p:ph type="body" sz="quarter" idx="10"/>
          </p:nvPr>
        </p:nvSpPr>
        <p:spPr>
          <a:xfrm>
            <a:off x="439806" y="374007"/>
            <a:ext cx="7696200" cy="492443"/>
          </a:xfrm>
        </p:spPr>
        <p:txBody>
          <a:bodyPr/>
          <a:lstStyle/>
          <a:p>
            <a:r>
              <a:rPr lang="en-US" sz="3200" noProof="0">
                <a:latin typeface="Trebuchet MS" panose="020B0603020202020204" pitchFamily="34" charset="0"/>
              </a:rPr>
              <a:t>Activity: Answer</a:t>
            </a:r>
          </a:p>
        </p:txBody>
      </p:sp>
      <p:sp>
        <p:nvSpPr>
          <p:cNvPr id="6" name="TextBox 5">
            <a:extLst>
              <a:ext uri="{FF2B5EF4-FFF2-40B4-BE49-F238E27FC236}">
                <a16:creationId xmlns:a16="http://schemas.microsoft.com/office/drawing/2014/main" id="{82912596-AE28-AAE1-DF76-A0ECD0672A1B}"/>
              </a:ext>
            </a:extLst>
          </p:cNvPr>
          <p:cNvSpPr txBox="1"/>
          <p:nvPr/>
        </p:nvSpPr>
        <p:spPr>
          <a:xfrm>
            <a:off x="381000" y="1524000"/>
            <a:ext cx="5100251" cy="4124206"/>
          </a:xfrm>
          <a:prstGeom prst="rect">
            <a:avLst/>
          </a:prstGeom>
          <a:noFill/>
        </p:spPr>
        <p:txBody>
          <a:bodyPr wrap="square">
            <a:spAutoFit/>
          </a:bodyPr>
          <a:lstStyle/>
          <a:p>
            <a:r>
              <a:rPr lang="en-US" b="1" noProof="0">
                <a:solidFill>
                  <a:srgbClr val="002060"/>
                </a:solidFill>
                <a:latin typeface="Trebuchet MS" panose="020B0603020202020204" pitchFamily="34" charset="0"/>
              </a:rPr>
              <a:t>Scenario: Child Care Eligibility</a:t>
            </a:r>
          </a:p>
          <a:p>
            <a:endParaRPr lang="en-US" sz="1600" noProof="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Child Care supported 200 families during the month.</a:t>
            </a:r>
          </a:p>
          <a:p>
            <a:endParaRPr lang="en-US" sz="1600" noProof="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Each family has 4 opportunities for a defect to occur:</a:t>
            </a:r>
          </a:p>
          <a:p>
            <a:endParaRPr lang="en-US" sz="10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Eligibility completed</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Income calculation</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Evidence verification</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Child Care Notice</a:t>
            </a:r>
          </a:p>
          <a:p>
            <a:endParaRPr lang="en-US" sz="1600" noProof="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During the month, the team identified 16 defects:</a:t>
            </a:r>
          </a:p>
          <a:p>
            <a:endParaRPr lang="en-US" sz="10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5 x eligibility not completed</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4 x income calculations incorrect</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3 x incorrect evidence approved</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4 x Child Care notices not issued to provider</a:t>
            </a:r>
          </a:p>
        </p:txBody>
      </p:sp>
      <p:sp>
        <p:nvSpPr>
          <p:cNvPr id="7" name="Rectangle: Rounded Corners 6">
            <a:extLst>
              <a:ext uri="{FF2B5EF4-FFF2-40B4-BE49-F238E27FC236}">
                <a16:creationId xmlns:a16="http://schemas.microsoft.com/office/drawing/2014/main" id="{F5666FD7-2721-DA1A-39B0-F9FF6781CD9D}"/>
              </a:ext>
            </a:extLst>
          </p:cNvPr>
          <p:cNvSpPr/>
          <p:nvPr/>
        </p:nvSpPr>
        <p:spPr>
          <a:xfrm>
            <a:off x="5527633" y="1712068"/>
            <a:ext cx="5869236" cy="454765"/>
          </a:xfrm>
          <a:prstGeom prst="roundRect">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noProof="0">
                <a:solidFill>
                  <a:schemeClr val="bg1"/>
                </a:solidFill>
                <a:latin typeface="Trebuchet MS"/>
              </a:rPr>
              <a:t>Identify</a:t>
            </a:r>
            <a:r>
              <a:rPr lang="en-US" sz="1400" b="1">
                <a:solidFill>
                  <a:schemeClr val="bg1"/>
                </a:solidFill>
                <a:latin typeface="Trebuchet MS"/>
              </a:rPr>
              <a:t> defect</a:t>
            </a:r>
            <a:r>
              <a:rPr lang="en-US" sz="1400" b="1" noProof="0">
                <a:solidFill>
                  <a:schemeClr val="bg1"/>
                </a:solidFill>
                <a:latin typeface="Trebuchet MS"/>
              </a:rPr>
              <a:t> opportunities per item</a:t>
            </a:r>
          </a:p>
        </p:txBody>
      </p:sp>
      <p:sp>
        <p:nvSpPr>
          <p:cNvPr id="8" name="Rectangle: Rounded Corners 7">
            <a:extLst>
              <a:ext uri="{FF2B5EF4-FFF2-40B4-BE49-F238E27FC236}">
                <a16:creationId xmlns:a16="http://schemas.microsoft.com/office/drawing/2014/main" id="{2F4092EA-738C-4E36-C37F-6B6EA1624F01}"/>
              </a:ext>
            </a:extLst>
          </p:cNvPr>
          <p:cNvSpPr/>
          <p:nvPr/>
        </p:nvSpPr>
        <p:spPr>
          <a:xfrm>
            <a:off x="5527633" y="2578867"/>
            <a:ext cx="5869236" cy="912152"/>
          </a:xfrm>
          <a:prstGeom prst="round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400" b="1" noProof="0">
              <a:solidFill>
                <a:schemeClr val="bg1"/>
              </a:solidFill>
              <a:latin typeface="Trebuchet MS" panose="020B0603020202020204" pitchFamily="34" charset="0"/>
            </a:endParaRPr>
          </a:p>
          <a:p>
            <a:pPr algn="ctr"/>
            <a:r>
              <a:rPr lang="en-US" sz="1400" b="1" noProof="0">
                <a:solidFill>
                  <a:schemeClr val="bg1"/>
                </a:solidFill>
                <a:latin typeface="Trebuchet MS" panose="020B0603020202020204" pitchFamily="34" charset="0"/>
              </a:rPr>
              <a:t>Calculate the total opportunities </a:t>
            </a:r>
            <a:r>
              <a:rPr lang="en-US" sz="1400" noProof="0">
                <a:solidFill>
                  <a:schemeClr val="bg1"/>
                </a:solidFill>
                <a:latin typeface="Trebuchet MS" panose="020B0603020202020204" pitchFamily="34" charset="0"/>
              </a:rPr>
              <a:t>(what could go wrong)</a:t>
            </a:r>
          </a:p>
          <a:p>
            <a:pPr algn="ctr"/>
            <a:r>
              <a:rPr lang="en-US" sz="1400" noProof="0">
                <a:solidFill>
                  <a:schemeClr val="bg1"/>
                </a:solidFill>
                <a:latin typeface="Trebuchet MS"/>
              </a:rPr>
              <a:t>4 potential defects x 200 new starters = </a:t>
            </a:r>
            <a:r>
              <a:rPr lang="en-US" sz="1400">
                <a:solidFill>
                  <a:schemeClr val="bg1"/>
                </a:solidFill>
                <a:latin typeface="Trebuchet MS"/>
              </a:rPr>
              <a:t>800 opportunities</a:t>
            </a:r>
            <a:endParaRPr lang="en-US" sz="1400" noProof="0">
              <a:solidFill>
                <a:schemeClr val="bg1"/>
              </a:solidFill>
              <a:latin typeface="Trebuchet MS" panose="020B0603020202020204" pitchFamily="34" charset="0"/>
            </a:endParaRPr>
          </a:p>
          <a:p>
            <a:pPr algn="ctr"/>
            <a:endParaRPr lang="en-US" sz="1400" noProof="0">
              <a:solidFill>
                <a:schemeClr val="bg1"/>
              </a:solidFill>
              <a:latin typeface="Trebuchet MS" panose="020B0603020202020204" pitchFamily="34" charset="0"/>
            </a:endParaRPr>
          </a:p>
        </p:txBody>
      </p:sp>
      <p:sp>
        <p:nvSpPr>
          <p:cNvPr id="9" name="Rectangle: Rounded Corners 8">
            <a:extLst>
              <a:ext uri="{FF2B5EF4-FFF2-40B4-BE49-F238E27FC236}">
                <a16:creationId xmlns:a16="http://schemas.microsoft.com/office/drawing/2014/main" id="{F7DBD36E-684B-716A-19E8-D923F52A3908}"/>
              </a:ext>
            </a:extLst>
          </p:cNvPr>
          <p:cNvSpPr/>
          <p:nvPr/>
        </p:nvSpPr>
        <p:spPr>
          <a:xfrm>
            <a:off x="5568028" y="3886200"/>
            <a:ext cx="5869236" cy="759000"/>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noProof="0">
                <a:solidFill>
                  <a:schemeClr val="bg1"/>
                </a:solidFill>
                <a:latin typeface="Trebuchet MS" panose="020B0603020202020204" pitchFamily="34" charset="0"/>
              </a:rPr>
              <a:t>Calculate DPU </a:t>
            </a:r>
            <a:r>
              <a:rPr lang="en-US" sz="1400" noProof="0">
                <a:solidFill>
                  <a:schemeClr val="bg1"/>
                </a:solidFill>
                <a:latin typeface="Trebuchet MS" panose="020B0603020202020204" pitchFamily="34" charset="0"/>
              </a:rPr>
              <a:t>(what did go wrong) </a:t>
            </a:r>
          </a:p>
          <a:p>
            <a:pPr algn="ctr"/>
            <a:r>
              <a:rPr lang="en-US" sz="1400" noProof="0">
                <a:solidFill>
                  <a:schemeClr val="bg1"/>
                </a:solidFill>
                <a:latin typeface="Trebuchet MS" panose="020B0603020202020204" pitchFamily="34" charset="0"/>
              </a:rPr>
              <a:t>16 defects/200 families = 0.08 defects per item</a:t>
            </a:r>
          </a:p>
        </p:txBody>
      </p:sp>
      <p:sp>
        <p:nvSpPr>
          <p:cNvPr id="10" name="Rectangle: Rounded Corners 9">
            <a:extLst>
              <a:ext uri="{FF2B5EF4-FFF2-40B4-BE49-F238E27FC236}">
                <a16:creationId xmlns:a16="http://schemas.microsoft.com/office/drawing/2014/main" id="{D25147B9-01B0-6A41-D93B-C43F3E9AC2AC}"/>
              </a:ext>
            </a:extLst>
          </p:cNvPr>
          <p:cNvSpPr/>
          <p:nvPr/>
        </p:nvSpPr>
        <p:spPr>
          <a:xfrm>
            <a:off x="5568028" y="5029200"/>
            <a:ext cx="5869236" cy="1295400"/>
          </a:xfrm>
          <a:prstGeom prst="roundRect">
            <a:avLst/>
          </a:prstGeom>
          <a:solidFill>
            <a:srgbClr val="27AAE1"/>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noProof="0">
              <a:solidFill>
                <a:schemeClr val="bg1"/>
              </a:solidFill>
              <a:latin typeface="Trebuchet MS" panose="020B0603020202020204" pitchFamily="34" charset="0"/>
            </a:endParaRPr>
          </a:p>
          <a:p>
            <a:pPr algn="ctr"/>
            <a:r>
              <a:rPr lang="en-US" sz="1400" b="1" noProof="0">
                <a:solidFill>
                  <a:schemeClr val="bg1"/>
                </a:solidFill>
                <a:latin typeface="Trebuchet MS" panose="020B0603020202020204" pitchFamily="34" charset="0"/>
              </a:rPr>
              <a:t>Apply DPMO </a:t>
            </a:r>
          </a:p>
          <a:p>
            <a:pPr algn="ctr"/>
            <a:r>
              <a:rPr lang="en-US" sz="1400" noProof="0">
                <a:solidFill>
                  <a:schemeClr val="bg1"/>
                </a:solidFill>
                <a:latin typeface="Trebuchet MS" panose="020B0603020202020204" pitchFamily="34" charset="0"/>
              </a:rPr>
              <a:t>DPMO = (DPU ÷ Opportunities) × 1,000,000     </a:t>
            </a:r>
          </a:p>
          <a:p>
            <a:pPr algn="ctr"/>
            <a:r>
              <a:rPr lang="en-US" sz="1400" noProof="0">
                <a:solidFill>
                  <a:schemeClr val="bg1"/>
                </a:solidFill>
                <a:latin typeface="Trebuchet MS" panose="020B0603020202020204" pitchFamily="34" charset="0"/>
              </a:rPr>
              <a:t>= (0.08÷ 7 Defects) × 1,000,000     </a:t>
            </a:r>
          </a:p>
          <a:p>
            <a:pPr algn="ctr"/>
            <a:r>
              <a:rPr lang="en-US" sz="1400" noProof="0">
                <a:solidFill>
                  <a:schemeClr val="bg1"/>
                </a:solidFill>
                <a:latin typeface="Trebuchet MS" panose="020B0603020202020204" pitchFamily="34" charset="0"/>
              </a:rPr>
              <a:t>= 20,000 Child Care defects per million opportunities</a:t>
            </a:r>
          </a:p>
          <a:p>
            <a:pPr algn="ctr"/>
            <a:endParaRPr lang="en-US" sz="1400" noProof="0">
              <a:solidFill>
                <a:schemeClr val="bg1"/>
              </a:solidFill>
              <a:latin typeface="Trebuchet MS" panose="020B0603020202020204" pitchFamily="34" charset="0"/>
            </a:endParaRPr>
          </a:p>
        </p:txBody>
      </p:sp>
      <p:sp>
        <p:nvSpPr>
          <p:cNvPr id="11" name="Arrow: Down 10">
            <a:extLst>
              <a:ext uri="{FF2B5EF4-FFF2-40B4-BE49-F238E27FC236}">
                <a16:creationId xmlns:a16="http://schemas.microsoft.com/office/drawing/2014/main" id="{B4657A28-A1B7-0D8D-611D-01DE37AE3166}"/>
              </a:ext>
            </a:extLst>
          </p:cNvPr>
          <p:cNvSpPr/>
          <p:nvPr/>
        </p:nvSpPr>
        <p:spPr>
          <a:xfrm>
            <a:off x="8108444" y="2136029"/>
            <a:ext cx="788404" cy="356237"/>
          </a:xfrm>
          <a:prstGeom prst="downArrow">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2" name="Arrow: Down 11">
            <a:extLst>
              <a:ext uri="{FF2B5EF4-FFF2-40B4-BE49-F238E27FC236}">
                <a16:creationId xmlns:a16="http://schemas.microsoft.com/office/drawing/2014/main" id="{A51C3A9F-95CC-7AF6-15B8-26E3FFF2E38F}"/>
              </a:ext>
            </a:extLst>
          </p:cNvPr>
          <p:cNvSpPr/>
          <p:nvPr/>
        </p:nvSpPr>
        <p:spPr>
          <a:xfrm>
            <a:off x="8108444" y="3450425"/>
            <a:ext cx="788404" cy="356237"/>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3" name="Arrow: Down 12">
            <a:extLst>
              <a:ext uri="{FF2B5EF4-FFF2-40B4-BE49-F238E27FC236}">
                <a16:creationId xmlns:a16="http://schemas.microsoft.com/office/drawing/2014/main" id="{E27CAA46-696E-34E6-251B-4CF8BED27E9E}"/>
              </a:ext>
            </a:extLst>
          </p:cNvPr>
          <p:cNvSpPr/>
          <p:nvPr/>
        </p:nvSpPr>
        <p:spPr>
          <a:xfrm>
            <a:off x="8108444" y="4581343"/>
            <a:ext cx="788404" cy="356237"/>
          </a:xfrm>
          <a:prstGeom prst="down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Tree>
    <p:extLst>
      <p:ext uri="{BB962C8B-B14F-4D97-AF65-F5344CB8AC3E}">
        <p14:creationId xmlns:p14="http://schemas.microsoft.com/office/powerpoint/2010/main" val="1971867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3F2C3596-268B-B743-9A90-FAC16A531B56}"/>
              </a:ext>
            </a:extLst>
          </p:cNvPr>
          <p:cNvSpPr>
            <a:spLocks noGrp="1"/>
          </p:cNvSpPr>
          <p:nvPr>
            <p:ph type="body" sz="quarter" idx="10"/>
          </p:nvPr>
        </p:nvSpPr>
        <p:spPr>
          <a:xfrm>
            <a:off x="533400" y="4343400"/>
            <a:ext cx="5562600" cy="492443"/>
          </a:xfrm>
        </p:spPr>
        <p:txBody>
          <a:bodyPr/>
          <a:lstStyle/>
          <a:p>
            <a:r>
              <a:rPr lang="en-US" sz="3200" noProof="0">
                <a:latin typeface="Trebuchet MS" panose="020B0603020202020204" pitchFamily="34" charset="0"/>
              </a:rPr>
              <a:t>Calculating Process Sigma</a:t>
            </a:r>
          </a:p>
        </p:txBody>
      </p:sp>
      <p:sp>
        <p:nvSpPr>
          <p:cNvPr id="7" name="Text Placeholder 6">
            <a:extLst>
              <a:ext uri="{FF2B5EF4-FFF2-40B4-BE49-F238E27FC236}">
                <a16:creationId xmlns:a16="http://schemas.microsoft.com/office/drawing/2014/main" id="{8D3A1520-3560-7247-8EF4-BDA54252B5C8}"/>
              </a:ext>
            </a:extLst>
          </p:cNvPr>
          <p:cNvSpPr>
            <a:spLocks noGrp="1"/>
          </p:cNvSpPr>
          <p:nvPr>
            <p:ph type="body" sz="quarter" idx="12"/>
          </p:nvPr>
        </p:nvSpPr>
        <p:spPr>
          <a:xfrm>
            <a:off x="530280" y="3505200"/>
            <a:ext cx="914400" cy="492443"/>
          </a:xfrm>
        </p:spPr>
        <p:txBody>
          <a:bodyPr/>
          <a:lstStyle/>
          <a:p>
            <a:r>
              <a:rPr lang="en-US" sz="3200" noProof="0"/>
              <a:t>02</a:t>
            </a:r>
          </a:p>
        </p:txBody>
      </p:sp>
      <p:sp>
        <p:nvSpPr>
          <p:cNvPr id="2" name="Text Placeholder 5">
            <a:extLst>
              <a:ext uri="{FF2B5EF4-FFF2-40B4-BE49-F238E27FC236}">
                <a16:creationId xmlns:a16="http://schemas.microsoft.com/office/drawing/2014/main" id="{1F0C50F8-DEFB-09E8-1CB5-7B963AAD0931}"/>
              </a:ext>
            </a:extLst>
          </p:cNvPr>
          <p:cNvSpPr>
            <a:spLocks noGrp="1"/>
          </p:cNvSpPr>
          <p:nvPr>
            <p:ph type="body" sz="quarter" idx="11"/>
          </p:nvPr>
        </p:nvSpPr>
        <p:spPr>
          <a:xfrm>
            <a:off x="533400" y="5971962"/>
            <a:ext cx="2743200" cy="384721"/>
          </a:xfrm>
        </p:spPr>
        <p:txBody>
          <a:bodyPr/>
          <a:lstStyle/>
          <a:p>
            <a:r>
              <a:rPr lang="en-US" noProof="0">
                <a:latin typeface="Trebuchet MS" panose="020B0603020202020204" pitchFamily="34" charset="0"/>
              </a:rPr>
              <a:t>Summarizing Data</a:t>
            </a:r>
          </a:p>
        </p:txBody>
      </p:sp>
    </p:spTree>
    <p:extLst>
      <p:ext uri="{BB962C8B-B14F-4D97-AF65-F5344CB8AC3E}">
        <p14:creationId xmlns:p14="http://schemas.microsoft.com/office/powerpoint/2010/main" val="32364722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79774FA8-5EDC-0AB7-C4E3-EB9388BBDA73}"/>
              </a:ext>
            </a:extLst>
          </p:cNvPr>
          <p:cNvSpPr>
            <a:spLocks noGrp="1"/>
          </p:cNvSpPr>
          <p:nvPr>
            <p:ph type="body" sz="quarter" idx="10"/>
          </p:nvPr>
        </p:nvSpPr>
        <p:spPr>
          <a:xfrm>
            <a:off x="533400" y="381000"/>
            <a:ext cx="9067800" cy="984885"/>
          </a:xfrm>
        </p:spPr>
        <p:txBody>
          <a:bodyPr/>
          <a:lstStyle/>
          <a:p>
            <a:r>
              <a:rPr lang="en-US" sz="3200" noProof="0">
                <a:latin typeface="Trebuchet MS" panose="020B0603020202020204" pitchFamily="34" charset="0"/>
              </a:rPr>
              <a:t>Process Sigma (σ) Definition</a:t>
            </a:r>
          </a:p>
          <a:p>
            <a:endParaRPr lang="en-US" sz="3200" noProof="0">
              <a:latin typeface="Trebuchet MS" panose="020B0603020202020204" pitchFamily="34" charset="0"/>
            </a:endParaRPr>
          </a:p>
        </p:txBody>
      </p:sp>
      <p:sp>
        <p:nvSpPr>
          <p:cNvPr id="9" name="TextBox 8">
            <a:extLst>
              <a:ext uri="{FF2B5EF4-FFF2-40B4-BE49-F238E27FC236}">
                <a16:creationId xmlns:a16="http://schemas.microsoft.com/office/drawing/2014/main" id="{F13D8560-DB3D-7B12-1241-BC3B5580F15E}"/>
              </a:ext>
            </a:extLst>
          </p:cNvPr>
          <p:cNvSpPr txBox="1"/>
          <p:nvPr/>
        </p:nvSpPr>
        <p:spPr>
          <a:xfrm>
            <a:off x="533400" y="1905000"/>
            <a:ext cx="6705600" cy="3693319"/>
          </a:xfrm>
          <a:prstGeom prst="rect">
            <a:avLst/>
          </a:prstGeom>
          <a:noFill/>
        </p:spPr>
        <p:txBody>
          <a:bodyPr wrap="square">
            <a:spAutoFit/>
          </a:bodyPr>
          <a:lstStyle/>
          <a:p>
            <a:r>
              <a:rPr lang="en-US" noProof="0">
                <a:solidFill>
                  <a:srgbClr val="24408D"/>
                </a:solidFill>
                <a:latin typeface="Trebuchet MS" panose="020B0603020202020204" pitchFamily="34" charset="0"/>
              </a:rPr>
              <a:t>Process Sigma is a measure of how well a process performs by assessing the amount of variation and the number of defects produced. </a:t>
            </a:r>
          </a:p>
          <a:p>
            <a:endParaRPr lang="en-US" noProof="0">
              <a:solidFill>
                <a:srgbClr val="24408D"/>
              </a:solidFill>
              <a:latin typeface="Trebuchet MS" panose="020B0603020202020204" pitchFamily="34" charset="0"/>
            </a:endParaRPr>
          </a:p>
          <a:p>
            <a:r>
              <a:rPr lang="en-US" noProof="0">
                <a:solidFill>
                  <a:srgbClr val="24408D"/>
                </a:solidFill>
                <a:latin typeface="Trebuchet MS" panose="020B0603020202020204" pitchFamily="34" charset="0"/>
              </a:rPr>
              <a:t>It indicates how capable a process is of consistently meeting customer requirements.</a:t>
            </a:r>
          </a:p>
          <a:p>
            <a:endParaRPr lang="en-US" noProof="0">
              <a:solidFill>
                <a:srgbClr val="24408D"/>
              </a:solidFill>
              <a:latin typeface="Trebuchet MS" panose="020B0603020202020204" pitchFamily="34" charset="0"/>
            </a:endParaRPr>
          </a:p>
          <a:p>
            <a:r>
              <a:rPr lang="en-US" noProof="0">
                <a:solidFill>
                  <a:srgbClr val="24408D"/>
                </a:solidFill>
                <a:latin typeface="Trebuchet MS" panose="020B0603020202020204" pitchFamily="34" charset="0"/>
              </a:rPr>
              <a:t>A higher Sigma level means:</a:t>
            </a:r>
          </a:p>
          <a:p>
            <a:endParaRPr lang="en-US" noProof="0">
              <a:solidFill>
                <a:srgbClr val="24408D"/>
              </a:solidFill>
              <a:latin typeface="Trebuchet MS" panose="020B0603020202020204" pitchFamily="34" charset="0"/>
            </a:endParaRPr>
          </a:p>
          <a:p>
            <a:pPr marL="342900" indent="-342900">
              <a:buFont typeface="Arial" panose="020B0604020202020204" pitchFamily="34" charset="0"/>
              <a:buChar char="•"/>
            </a:pPr>
            <a:r>
              <a:rPr lang="en-US" noProof="0">
                <a:solidFill>
                  <a:srgbClr val="24408D"/>
                </a:solidFill>
                <a:latin typeface="Trebuchet MS" panose="020B0603020202020204" pitchFamily="34" charset="0"/>
              </a:rPr>
              <a:t>Fewer defects</a:t>
            </a:r>
          </a:p>
          <a:p>
            <a:pPr marL="342900" indent="-342900">
              <a:buFont typeface="Arial" panose="020B0604020202020204" pitchFamily="34" charset="0"/>
              <a:buChar char="•"/>
            </a:pPr>
            <a:r>
              <a:rPr lang="en-US" noProof="0">
                <a:solidFill>
                  <a:srgbClr val="24408D"/>
                </a:solidFill>
                <a:latin typeface="Trebuchet MS" panose="020B0603020202020204" pitchFamily="34" charset="0"/>
              </a:rPr>
              <a:t>Less variation</a:t>
            </a:r>
          </a:p>
          <a:p>
            <a:pPr marL="342900" indent="-342900">
              <a:buFont typeface="Arial" panose="020B0604020202020204" pitchFamily="34" charset="0"/>
              <a:buChar char="•"/>
            </a:pPr>
            <a:r>
              <a:rPr lang="en-US" noProof="0">
                <a:solidFill>
                  <a:srgbClr val="24408D"/>
                </a:solidFill>
                <a:latin typeface="Trebuchet MS" panose="020B0603020202020204" pitchFamily="34" charset="0"/>
              </a:rPr>
              <a:t>More consistent results</a:t>
            </a:r>
          </a:p>
          <a:p>
            <a:pPr marL="342900" indent="-342900">
              <a:buFont typeface="Arial" panose="020B0604020202020204" pitchFamily="34" charset="0"/>
              <a:buChar char="•"/>
            </a:pPr>
            <a:r>
              <a:rPr lang="en-US" noProof="0">
                <a:solidFill>
                  <a:srgbClr val="24408D"/>
                </a:solidFill>
                <a:latin typeface="Trebuchet MS" panose="020B0603020202020204" pitchFamily="34" charset="0"/>
              </a:rPr>
              <a:t>Better process performance</a:t>
            </a:r>
          </a:p>
        </p:txBody>
      </p:sp>
      <p:pic>
        <p:nvPicPr>
          <p:cNvPr id="11" name="Picture 10">
            <a:extLst>
              <a:ext uri="{FF2B5EF4-FFF2-40B4-BE49-F238E27FC236}">
                <a16:creationId xmlns:a16="http://schemas.microsoft.com/office/drawing/2014/main" id="{A1564004-5514-B93D-04EF-7BC9E04DA37D}"/>
              </a:ext>
            </a:extLst>
          </p:cNvPr>
          <p:cNvPicPr>
            <a:picLocks noChangeAspect="1"/>
          </p:cNvPicPr>
          <p:nvPr/>
        </p:nvPicPr>
        <p:blipFill>
          <a:blip r:embed="rId3"/>
          <a:srcRect l="45000" t="17365"/>
          <a:stretch>
            <a:fillRect/>
          </a:stretch>
        </p:blipFill>
        <p:spPr>
          <a:xfrm>
            <a:off x="8077200" y="2456259"/>
            <a:ext cx="2652886" cy="2590800"/>
          </a:xfrm>
          <a:prstGeom prst="rect">
            <a:avLst/>
          </a:prstGeom>
        </p:spPr>
      </p:pic>
    </p:spTree>
    <p:extLst>
      <p:ext uri="{BB962C8B-B14F-4D97-AF65-F5344CB8AC3E}">
        <p14:creationId xmlns:p14="http://schemas.microsoft.com/office/powerpoint/2010/main" val="24450411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ext Placeholder 6">
            <a:extLst>
              <a:ext uri="{FF2B5EF4-FFF2-40B4-BE49-F238E27FC236}">
                <a16:creationId xmlns:a16="http://schemas.microsoft.com/office/drawing/2014/main" id="{B854D7F8-561E-2140-9A6B-F2B28851105D}"/>
              </a:ext>
            </a:extLst>
          </p:cNvPr>
          <p:cNvSpPr>
            <a:spLocks noGrp="1"/>
          </p:cNvSpPr>
          <p:nvPr>
            <p:ph type="body" sz="quarter" idx="12"/>
          </p:nvPr>
        </p:nvSpPr>
        <p:spPr>
          <a:xfrm>
            <a:off x="334618" y="1555612"/>
            <a:ext cx="10820400" cy="246221"/>
          </a:xfrm>
        </p:spPr>
        <p:txBody>
          <a:bodyPr/>
          <a:lstStyle/>
          <a:p>
            <a:r>
              <a:rPr lang="en-US" sz="1600" noProof="0">
                <a:latin typeface="Trebuchet MS" panose="020B0603020202020204" pitchFamily="34" charset="0"/>
              </a:rPr>
              <a:t>Process Sigma focuses on ‘output performance’ and ‘defects’ produced by the process. </a:t>
            </a:r>
          </a:p>
        </p:txBody>
      </p:sp>
      <p:sp>
        <p:nvSpPr>
          <p:cNvPr id="8" name="Text Placeholder 7">
            <a:extLst>
              <a:ext uri="{FF2B5EF4-FFF2-40B4-BE49-F238E27FC236}">
                <a16:creationId xmlns:a16="http://schemas.microsoft.com/office/drawing/2014/main" id="{6B5991D7-DA0E-0341-965F-EEB4346A713C}"/>
              </a:ext>
            </a:extLst>
          </p:cNvPr>
          <p:cNvSpPr>
            <a:spLocks noGrp="1"/>
          </p:cNvSpPr>
          <p:nvPr>
            <p:ph type="body" sz="quarter" idx="13"/>
          </p:nvPr>
        </p:nvSpPr>
        <p:spPr>
          <a:xfrm>
            <a:off x="466976" y="2375715"/>
            <a:ext cx="5376251" cy="3031599"/>
          </a:xfrm>
        </p:spPr>
        <p:txBody>
          <a:bodyPr/>
          <a:lstStyle/>
          <a:p>
            <a:r>
              <a:rPr lang="en-US" sz="1600" noProof="0">
                <a:solidFill>
                  <a:srgbClr val="002060"/>
                </a:solidFill>
                <a:latin typeface="Trebuchet MS" panose="020B0603020202020204" pitchFamily="34" charset="0"/>
              </a:rPr>
              <a:t>Capturing a sigma baseline helps us measure how well a process is performing. It can be represented in graph format.</a:t>
            </a:r>
          </a:p>
          <a:p>
            <a:endParaRPr lang="en-US" sz="1600" noProof="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It helps us understand:</a:t>
            </a:r>
          </a:p>
          <a:p>
            <a:endParaRPr lang="en-US" sz="5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How consistently the process meets customer requirements.</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How much variation exists in the process.</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How many defects are being produced.</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Where improvement opportunities exist.</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Whether changes made to the process are improving performance.</a:t>
            </a:r>
          </a:p>
        </p:txBody>
      </p:sp>
      <p:sp>
        <p:nvSpPr>
          <p:cNvPr id="6" name="Text Placeholder 5">
            <a:extLst>
              <a:ext uri="{FF2B5EF4-FFF2-40B4-BE49-F238E27FC236}">
                <a16:creationId xmlns:a16="http://schemas.microsoft.com/office/drawing/2014/main" id="{CF801EC0-0F2F-D947-87B6-8120222C609A}"/>
              </a:ext>
            </a:extLst>
          </p:cNvPr>
          <p:cNvSpPr>
            <a:spLocks noGrp="1"/>
          </p:cNvSpPr>
          <p:nvPr>
            <p:ph type="body" sz="quarter" idx="10"/>
          </p:nvPr>
        </p:nvSpPr>
        <p:spPr>
          <a:xfrm>
            <a:off x="533400" y="381000"/>
            <a:ext cx="8458200" cy="492443"/>
          </a:xfrm>
        </p:spPr>
        <p:txBody>
          <a:bodyPr/>
          <a:lstStyle/>
          <a:p>
            <a:r>
              <a:rPr lang="en-US" sz="3200" noProof="0">
                <a:solidFill>
                  <a:srgbClr val="FFC000"/>
                </a:solidFill>
                <a:latin typeface="Trebuchet MS" panose="020B0603020202020204" pitchFamily="34" charset="0"/>
              </a:rPr>
              <a:t>Capturing Baselines Using Process Sigma</a:t>
            </a:r>
          </a:p>
        </p:txBody>
      </p:sp>
      <p:sp>
        <p:nvSpPr>
          <p:cNvPr id="2" name="AutoShape 2" descr="Six Sigma – Lean Manufacturing and Six Sigma Definitions">
            <a:extLst>
              <a:ext uri="{FF2B5EF4-FFF2-40B4-BE49-F238E27FC236}">
                <a16:creationId xmlns:a16="http://schemas.microsoft.com/office/drawing/2014/main" id="{DD0EE878-AE93-4779-365C-5C2D0E56D289}"/>
              </a:ext>
            </a:extLst>
          </p:cNvPr>
          <p:cNvSpPr>
            <a:spLocks noChangeAspect="1" noChangeArrowheads="1"/>
          </p:cNvSpPr>
          <p:nvPr/>
        </p:nvSpPr>
        <p:spPr bwMode="auto">
          <a:xfrm>
            <a:off x="6024280" y="324429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a:latin typeface="Trebuchet MS" panose="020B0603020202020204" pitchFamily="34" charset="0"/>
            </a:endParaRPr>
          </a:p>
        </p:txBody>
      </p:sp>
      <p:pic>
        <p:nvPicPr>
          <p:cNvPr id="4" name="Picture 3">
            <a:extLst>
              <a:ext uri="{FF2B5EF4-FFF2-40B4-BE49-F238E27FC236}">
                <a16:creationId xmlns:a16="http://schemas.microsoft.com/office/drawing/2014/main" id="{70579F42-7F70-03C5-08D7-9F27F4C1FD55}"/>
              </a:ext>
            </a:extLst>
          </p:cNvPr>
          <p:cNvPicPr>
            <a:picLocks noChangeAspect="1"/>
          </p:cNvPicPr>
          <p:nvPr/>
        </p:nvPicPr>
        <p:blipFill>
          <a:blip r:embed="rId3"/>
          <a:stretch>
            <a:fillRect/>
          </a:stretch>
        </p:blipFill>
        <p:spPr>
          <a:xfrm>
            <a:off x="5843230" y="2819400"/>
            <a:ext cx="5933008" cy="2705849"/>
          </a:xfrm>
          <a:prstGeom prst="rect">
            <a:avLst/>
          </a:prstGeom>
        </p:spPr>
      </p:pic>
      <p:sp>
        <p:nvSpPr>
          <p:cNvPr id="9" name="Rectangle: Rounded Corners 8">
            <a:extLst>
              <a:ext uri="{FF2B5EF4-FFF2-40B4-BE49-F238E27FC236}">
                <a16:creationId xmlns:a16="http://schemas.microsoft.com/office/drawing/2014/main" id="{45161DE9-F71A-48AF-CE44-CA7F0DF82FBC}"/>
              </a:ext>
            </a:extLst>
          </p:cNvPr>
          <p:cNvSpPr/>
          <p:nvPr/>
        </p:nvSpPr>
        <p:spPr>
          <a:xfrm>
            <a:off x="6642188" y="1999412"/>
            <a:ext cx="4335091" cy="609600"/>
          </a:xfrm>
          <a:prstGeom prst="roundRect">
            <a:avLst/>
          </a:prstGeom>
          <a:solidFill>
            <a:srgbClr val="EC008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0">
                <a:latin typeface="Trebuchet MS" panose="020B0603020202020204" pitchFamily="34" charset="0"/>
              </a:rPr>
              <a:t>How the process performs most of the time.</a:t>
            </a:r>
          </a:p>
        </p:txBody>
      </p:sp>
      <p:cxnSp>
        <p:nvCxnSpPr>
          <p:cNvPr id="11" name="Straight Arrow Connector 10">
            <a:extLst>
              <a:ext uri="{FF2B5EF4-FFF2-40B4-BE49-F238E27FC236}">
                <a16:creationId xmlns:a16="http://schemas.microsoft.com/office/drawing/2014/main" id="{6C2F385B-2CD3-90C0-DC2D-459C401AD34B}"/>
              </a:ext>
            </a:extLst>
          </p:cNvPr>
          <p:cNvCxnSpPr>
            <a:cxnSpLocks/>
            <a:stCxn id="9" idx="2"/>
            <a:endCxn id="4" idx="0"/>
          </p:cNvCxnSpPr>
          <p:nvPr/>
        </p:nvCxnSpPr>
        <p:spPr>
          <a:xfrm>
            <a:off x="8809734" y="2609012"/>
            <a:ext cx="1" cy="210388"/>
          </a:xfrm>
          <a:prstGeom prst="straightConnector1">
            <a:avLst/>
          </a:prstGeom>
          <a:ln>
            <a:solidFill>
              <a:srgbClr val="EC008C"/>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5C148E51-7C86-A5B8-25B5-639287D34252}"/>
              </a:ext>
            </a:extLst>
          </p:cNvPr>
          <p:cNvSpPr/>
          <p:nvPr/>
        </p:nvSpPr>
        <p:spPr>
          <a:xfrm>
            <a:off x="6470728" y="5730594"/>
            <a:ext cx="4678012" cy="690843"/>
          </a:xfrm>
          <a:prstGeom prst="roundRect">
            <a:avLst/>
          </a:prstGeom>
          <a:solidFill>
            <a:srgbClr val="00AF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0">
                <a:latin typeface="Trebuchet MS" panose="020B0603020202020204" pitchFamily="34" charset="0"/>
              </a:rPr>
              <a:t>Sigma measures how much variation exists around the process average.</a:t>
            </a:r>
          </a:p>
        </p:txBody>
      </p:sp>
      <p:cxnSp>
        <p:nvCxnSpPr>
          <p:cNvPr id="19" name="Straight Arrow Connector 18">
            <a:extLst>
              <a:ext uri="{FF2B5EF4-FFF2-40B4-BE49-F238E27FC236}">
                <a16:creationId xmlns:a16="http://schemas.microsoft.com/office/drawing/2014/main" id="{E9532D06-8668-E8E8-CEBF-BFC85D432F75}"/>
              </a:ext>
            </a:extLst>
          </p:cNvPr>
          <p:cNvCxnSpPr>
            <a:cxnSpLocks/>
            <a:stCxn id="17" idx="0"/>
          </p:cNvCxnSpPr>
          <p:nvPr/>
        </p:nvCxnSpPr>
        <p:spPr>
          <a:xfrm flipV="1">
            <a:off x="8809734" y="5449049"/>
            <a:ext cx="1" cy="281545"/>
          </a:xfrm>
          <a:prstGeom prst="straightConnector1">
            <a:avLst/>
          </a:prstGeom>
          <a:ln>
            <a:solidFill>
              <a:srgbClr val="00AF7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02835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8296FD2F-E92F-0A98-0FD6-876707FA3024}"/>
              </a:ext>
            </a:extLst>
          </p:cNvPr>
          <p:cNvSpPr>
            <a:spLocks noGrp="1"/>
          </p:cNvSpPr>
          <p:nvPr>
            <p:ph type="body" sz="quarter" idx="10"/>
          </p:nvPr>
        </p:nvSpPr>
        <p:spPr>
          <a:xfrm>
            <a:off x="533400" y="219670"/>
            <a:ext cx="8610600" cy="492443"/>
          </a:xfrm>
        </p:spPr>
        <p:txBody>
          <a:bodyPr/>
          <a:lstStyle/>
          <a:p>
            <a:r>
              <a:rPr lang="en-US" sz="3200" noProof="0">
                <a:latin typeface="Trebuchet MS" panose="020B0603020202020204" pitchFamily="34" charset="0"/>
              </a:rPr>
              <a:t>Examples of Sigma Impact</a:t>
            </a:r>
          </a:p>
        </p:txBody>
      </p:sp>
      <p:sp>
        <p:nvSpPr>
          <p:cNvPr id="9" name="TextBox 8">
            <a:extLst>
              <a:ext uri="{FF2B5EF4-FFF2-40B4-BE49-F238E27FC236}">
                <a16:creationId xmlns:a16="http://schemas.microsoft.com/office/drawing/2014/main" id="{41C834B0-7D62-0C52-3AB1-9AA8BD9234D3}"/>
              </a:ext>
            </a:extLst>
          </p:cNvPr>
          <p:cNvSpPr txBox="1"/>
          <p:nvPr/>
        </p:nvSpPr>
        <p:spPr>
          <a:xfrm>
            <a:off x="5105400" y="2123143"/>
            <a:ext cx="2133600" cy="3600986"/>
          </a:xfrm>
          <a:prstGeom prst="rect">
            <a:avLst/>
          </a:prstGeom>
          <a:solidFill>
            <a:srgbClr val="7030A0"/>
          </a:solidFill>
        </p:spPr>
        <p:txBody>
          <a:bodyPr wrap="square">
            <a:spAutoFit/>
          </a:bodyPr>
          <a:lstStyle/>
          <a:p>
            <a:pPr algn="ctr" fontAlgn="t"/>
            <a:endParaRPr lang="en-US" sz="1400" b="1" noProof="0">
              <a:solidFill>
                <a:schemeClr val="bg1"/>
              </a:solidFill>
              <a:latin typeface="Trebuchet MS" panose="020B0603020202020204" pitchFamily="34" charset="0"/>
            </a:endParaRPr>
          </a:p>
          <a:p>
            <a:pPr algn="ctr" fontAlgn="t"/>
            <a:r>
              <a:rPr lang="en-US" sz="1600" b="1" noProof="0">
                <a:solidFill>
                  <a:schemeClr val="bg1"/>
                </a:solidFill>
                <a:latin typeface="Trebuchet MS" panose="020B0603020202020204" pitchFamily="34" charset="0"/>
              </a:rPr>
              <a:t>Occupational </a:t>
            </a:r>
          </a:p>
          <a:p>
            <a:pPr algn="ctr" fontAlgn="t"/>
            <a:r>
              <a:rPr lang="en-US" sz="1600" b="1" noProof="0">
                <a:solidFill>
                  <a:schemeClr val="bg1"/>
                </a:solidFill>
                <a:latin typeface="Trebuchet MS" panose="020B0603020202020204" pitchFamily="34" charset="0"/>
              </a:rPr>
              <a:t>Health</a:t>
            </a:r>
          </a:p>
          <a:p>
            <a:pPr fontAlgn="t"/>
            <a:endParaRPr lang="en-US" sz="1400" b="1" noProof="0">
              <a:solidFill>
                <a:schemeClr val="bg1"/>
              </a:solidFill>
              <a:latin typeface="Trebuchet MS" panose="020B0603020202020204" pitchFamily="34" charset="0"/>
            </a:endParaRP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Occupational health appointment scheduled incorrectly.</a:t>
            </a: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Medical information missing or recorded inaccurately.</a:t>
            </a: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Return-to-work recommendations not communicated to the manager.</a:t>
            </a:r>
          </a:p>
          <a:p>
            <a:pPr fontAlgn="t"/>
            <a:endParaRPr lang="en-US" sz="1400" noProof="0">
              <a:solidFill>
                <a:schemeClr val="bg1"/>
              </a:solidFill>
              <a:latin typeface="Trebuchet MS" panose="020B0603020202020204" pitchFamily="34" charset="0"/>
            </a:endParaRPr>
          </a:p>
        </p:txBody>
      </p:sp>
      <p:sp>
        <p:nvSpPr>
          <p:cNvPr id="10" name="TextBox 9">
            <a:extLst>
              <a:ext uri="{FF2B5EF4-FFF2-40B4-BE49-F238E27FC236}">
                <a16:creationId xmlns:a16="http://schemas.microsoft.com/office/drawing/2014/main" id="{C2823055-AB99-23BA-B037-303BB54E5B8E}"/>
              </a:ext>
            </a:extLst>
          </p:cNvPr>
          <p:cNvSpPr txBox="1"/>
          <p:nvPr/>
        </p:nvSpPr>
        <p:spPr>
          <a:xfrm>
            <a:off x="2796216" y="2133600"/>
            <a:ext cx="2133600" cy="3600986"/>
          </a:xfrm>
          <a:prstGeom prst="rect">
            <a:avLst/>
          </a:prstGeom>
          <a:solidFill>
            <a:srgbClr val="24408D"/>
          </a:solidFill>
        </p:spPr>
        <p:txBody>
          <a:bodyPr wrap="square">
            <a:spAutoFit/>
          </a:bodyPr>
          <a:lstStyle/>
          <a:p>
            <a:pPr algn="ctr" fontAlgn="t"/>
            <a:endParaRPr lang="en-US" sz="1400" b="1" noProof="0">
              <a:solidFill>
                <a:schemeClr val="bg1"/>
              </a:solidFill>
              <a:latin typeface="Trebuchet MS" panose="020B0603020202020204" pitchFamily="34" charset="0"/>
            </a:endParaRPr>
          </a:p>
          <a:p>
            <a:pPr algn="ctr" fontAlgn="t"/>
            <a:r>
              <a:rPr lang="en-US" sz="1600" b="1" noProof="0">
                <a:solidFill>
                  <a:schemeClr val="bg1"/>
                </a:solidFill>
                <a:latin typeface="Trebuchet MS" panose="020B0603020202020204" pitchFamily="34" charset="0"/>
              </a:rPr>
              <a:t>Housing </a:t>
            </a:r>
          </a:p>
          <a:p>
            <a:pPr algn="ctr" fontAlgn="t"/>
            <a:r>
              <a:rPr lang="en-US" sz="1600" b="1" noProof="0">
                <a:solidFill>
                  <a:schemeClr val="bg1"/>
                </a:solidFill>
                <a:latin typeface="Trebuchet MS" panose="020B0603020202020204" pitchFamily="34" charset="0"/>
              </a:rPr>
              <a:t>Services</a:t>
            </a:r>
          </a:p>
          <a:p>
            <a:pPr fontAlgn="t"/>
            <a:endParaRPr lang="en-US" sz="1400" b="1" noProof="0">
              <a:solidFill>
                <a:schemeClr val="bg1"/>
              </a:solidFill>
              <a:latin typeface="Trebuchet MS" panose="020B0603020202020204" pitchFamily="34" charset="0"/>
            </a:endParaRP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Supporting evidence missing or incomplete.</a:t>
            </a: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Housing application assessed incorrectly.</a:t>
            </a: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Housing decision not communicated within target timescales.</a:t>
            </a:r>
          </a:p>
          <a:p>
            <a:pPr marL="285750" indent="-285750" fontAlgn="t">
              <a:buFont typeface="Arial" panose="020B0604020202020204" pitchFamily="34" charset="0"/>
              <a:buChar char="•"/>
            </a:pPr>
            <a:endParaRPr lang="en-US" sz="1400" noProof="0">
              <a:solidFill>
                <a:schemeClr val="bg1"/>
              </a:solidFill>
              <a:latin typeface="Trebuchet MS" panose="020B0603020202020204" pitchFamily="34" charset="0"/>
            </a:endParaRPr>
          </a:p>
          <a:p>
            <a:pPr marL="285750" indent="-285750" fontAlgn="t">
              <a:buFont typeface="Arial" panose="020B0604020202020204" pitchFamily="34" charset="0"/>
              <a:buChar char="•"/>
            </a:pPr>
            <a:endParaRPr lang="en-US" sz="1400" noProof="0">
              <a:solidFill>
                <a:schemeClr val="bg1"/>
              </a:solidFill>
              <a:latin typeface="Trebuchet MS" panose="020B0603020202020204" pitchFamily="34" charset="0"/>
            </a:endParaRPr>
          </a:p>
          <a:p>
            <a:pPr marL="285750" indent="-285750" fontAlgn="t">
              <a:buFont typeface="Arial" panose="020B0604020202020204" pitchFamily="34" charset="0"/>
              <a:buChar char="•"/>
            </a:pPr>
            <a:endParaRPr lang="en-US" sz="1400" noProof="0">
              <a:solidFill>
                <a:schemeClr val="bg1"/>
              </a:solidFill>
              <a:latin typeface="Trebuchet MS" panose="020B0603020202020204" pitchFamily="34" charset="0"/>
            </a:endParaRPr>
          </a:p>
        </p:txBody>
      </p:sp>
      <p:sp>
        <p:nvSpPr>
          <p:cNvPr id="11" name="TextBox 10">
            <a:extLst>
              <a:ext uri="{FF2B5EF4-FFF2-40B4-BE49-F238E27FC236}">
                <a16:creationId xmlns:a16="http://schemas.microsoft.com/office/drawing/2014/main" id="{0597708C-07F8-A277-1E88-B72B1F60066F}"/>
              </a:ext>
            </a:extLst>
          </p:cNvPr>
          <p:cNvSpPr txBox="1"/>
          <p:nvPr/>
        </p:nvSpPr>
        <p:spPr>
          <a:xfrm>
            <a:off x="7388106" y="2133600"/>
            <a:ext cx="2232996" cy="3600986"/>
          </a:xfrm>
          <a:prstGeom prst="rect">
            <a:avLst/>
          </a:prstGeom>
          <a:solidFill>
            <a:srgbClr val="00AF74"/>
          </a:solidFill>
        </p:spPr>
        <p:txBody>
          <a:bodyPr wrap="square">
            <a:spAutoFit/>
          </a:bodyPr>
          <a:lstStyle/>
          <a:p>
            <a:pPr algn="ctr" fontAlgn="t"/>
            <a:endParaRPr lang="en-US" sz="1400" b="1" noProof="0">
              <a:solidFill>
                <a:schemeClr val="bg1"/>
              </a:solidFill>
              <a:latin typeface="Trebuchet MS" panose="020B0603020202020204" pitchFamily="34" charset="0"/>
            </a:endParaRPr>
          </a:p>
          <a:p>
            <a:pPr algn="ctr" fontAlgn="t"/>
            <a:r>
              <a:rPr lang="en-US" sz="1600" b="1" noProof="0">
                <a:solidFill>
                  <a:schemeClr val="bg1"/>
                </a:solidFill>
                <a:latin typeface="Trebuchet MS" panose="020B0603020202020204" pitchFamily="34" charset="0"/>
              </a:rPr>
              <a:t>Child Care </a:t>
            </a:r>
          </a:p>
          <a:p>
            <a:pPr algn="ctr" fontAlgn="t"/>
            <a:r>
              <a:rPr lang="en-US" sz="1600" b="1" noProof="0">
                <a:solidFill>
                  <a:schemeClr val="bg1"/>
                </a:solidFill>
                <a:latin typeface="Trebuchet MS" panose="020B0603020202020204" pitchFamily="34" charset="0"/>
              </a:rPr>
              <a:t>Services</a:t>
            </a:r>
          </a:p>
          <a:p>
            <a:pPr fontAlgn="t"/>
            <a:endParaRPr lang="en-US" sz="1400" b="1" noProof="0">
              <a:solidFill>
                <a:schemeClr val="bg1"/>
              </a:solidFill>
              <a:latin typeface="Trebuchet MS" panose="020B0603020202020204" pitchFamily="34" charset="0"/>
            </a:endParaRP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Child placement information recorded incorrectly.</a:t>
            </a: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Required safeguarding documentation missing.</a:t>
            </a: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Care plan review not completed on time.</a:t>
            </a:r>
          </a:p>
          <a:p>
            <a:pPr marL="285750" indent="-285750" fontAlgn="t">
              <a:buFont typeface="Arial" panose="020B0604020202020204" pitchFamily="34" charset="0"/>
              <a:buChar char="•"/>
            </a:pPr>
            <a:endParaRPr lang="en-US" sz="1400" noProof="0">
              <a:solidFill>
                <a:schemeClr val="bg1"/>
              </a:solidFill>
              <a:latin typeface="Trebuchet MS" panose="020B0603020202020204" pitchFamily="34" charset="0"/>
            </a:endParaRPr>
          </a:p>
          <a:p>
            <a:pPr marL="285750" indent="-285750" fontAlgn="t">
              <a:buFont typeface="Arial" panose="020B0604020202020204" pitchFamily="34" charset="0"/>
              <a:buChar char="•"/>
            </a:pPr>
            <a:endParaRPr lang="en-US" sz="1400" noProof="0">
              <a:solidFill>
                <a:schemeClr val="bg1"/>
              </a:solidFill>
              <a:latin typeface="Trebuchet MS" panose="020B0603020202020204" pitchFamily="34" charset="0"/>
            </a:endParaRPr>
          </a:p>
          <a:p>
            <a:pPr marL="285750" indent="-285750" fontAlgn="t">
              <a:buFont typeface="Arial" panose="020B0604020202020204" pitchFamily="34" charset="0"/>
              <a:buChar char="•"/>
            </a:pPr>
            <a:endParaRPr lang="en-US" sz="1400" noProof="0">
              <a:solidFill>
                <a:schemeClr val="bg1"/>
              </a:solidFill>
              <a:latin typeface="Trebuchet MS" panose="020B0603020202020204" pitchFamily="34" charset="0"/>
            </a:endParaRPr>
          </a:p>
        </p:txBody>
      </p:sp>
      <p:sp>
        <p:nvSpPr>
          <p:cNvPr id="12" name="TextBox 11">
            <a:extLst>
              <a:ext uri="{FF2B5EF4-FFF2-40B4-BE49-F238E27FC236}">
                <a16:creationId xmlns:a16="http://schemas.microsoft.com/office/drawing/2014/main" id="{25840A2D-05E7-7033-DCF1-6112436A38EB}"/>
              </a:ext>
            </a:extLst>
          </p:cNvPr>
          <p:cNvSpPr txBox="1"/>
          <p:nvPr/>
        </p:nvSpPr>
        <p:spPr>
          <a:xfrm>
            <a:off x="453918" y="2133600"/>
            <a:ext cx="2133600" cy="3600986"/>
          </a:xfrm>
          <a:prstGeom prst="rect">
            <a:avLst/>
          </a:prstGeom>
          <a:solidFill>
            <a:srgbClr val="27AAE1"/>
          </a:solidFill>
        </p:spPr>
        <p:txBody>
          <a:bodyPr wrap="square">
            <a:spAutoFit/>
          </a:bodyPr>
          <a:lstStyle/>
          <a:p>
            <a:pPr algn="ctr" fontAlgn="t"/>
            <a:endParaRPr lang="en-US" sz="1400" b="1" noProof="0">
              <a:solidFill>
                <a:schemeClr val="bg1"/>
              </a:solidFill>
              <a:latin typeface="Trebuchet MS" panose="020B0603020202020204" pitchFamily="34" charset="0"/>
            </a:endParaRPr>
          </a:p>
          <a:p>
            <a:pPr algn="ctr" fontAlgn="t"/>
            <a:r>
              <a:rPr lang="en-US" sz="1600" b="1" noProof="0">
                <a:solidFill>
                  <a:schemeClr val="bg1"/>
                </a:solidFill>
                <a:latin typeface="Trebuchet MS" panose="020B0603020202020204" pitchFamily="34" charset="0"/>
              </a:rPr>
              <a:t>Employment Services</a:t>
            </a:r>
          </a:p>
          <a:p>
            <a:pPr algn="ctr" fontAlgn="t"/>
            <a:endParaRPr lang="en-US" sz="1400" noProof="0">
              <a:solidFill>
                <a:schemeClr val="bg1"/>
              </a:solidFill>
              <a:latin typeface="Trebuchet MS" panose="020B0603020202020204" pitchFamily="34" charset="0"/>
            </a:endParaRP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Job seeker assessment not completed.</a:t>
            </a: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Incorrect training or support program assigned.</a:t>
            </a: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Employer referral not submitted on time.</a:t>
            </a:r>
          </a:p>
          <a:p>
            <a:pPr marL="285750" indent="-285750" fontAlgn="t">
              <a:buFont typeface="Arial" panose="020B0604020202020204" pitchFamily="34" charset="0"/>
              <a:buChar char="•"/>
            </a:pPr>
            <a:endParaRPr lang="en-US" sz="1400" noProof="0">
              <a:solidFill>
                <a:schemeClr val="bg1"/>
              </a:solidFill>
              <a:latin typeface="Trebuchet MS" panose="020B0603020202020204" pitchFamily="34" charset="0"/>
            </a:endParaRPr>
          </a:p>
          <a:p>
            <a:pPr marL="285750" indent="-285750" fontAlgn="t">
              <a:buFont typeface="Arial" panose="020B0604020202020204" pitchFamily="34" charset="0"/>
              <a:buChar char="•"/>
            </a:pPr>
            <a:endParaRPr lang="en-US" sz="1400" noProof="0">
              <a:solidFill>
                <a:schemeClr val="bg1"/>
              </a:solidFill>
              <a:latin typeface="Trebuchet MS" panose="020B0603020202020204" pitchFamily="34" charset="0"/>
            </a:endParaRPr>
          </a:p>
          <a:p>
            <a:pPr marL="285750" indent="-285750" fontAlgn="t">
              <a:buFont typeface="Arial" panose="020B0604020202020204" pitchFamily="34" charset="0"/>
              <a:buChar char="•"/>
            </a:pPr>
            <a:endParaRPr lang="en-US" sz="1400" noProof="0">
              <a:solidFill>
                <a:schemeClr val="bg1"/>
              </a:solidFill>
              <a:latin typeface="Trebuchet MS" panose="020B0603020202020204" pitchFamily="34" charset="0"/>
            </a:endParaRPr>
          </a:p>
        </p:txBody>
      </p:sp>
      <p:sp>
        <p:nvSpPr>
          <p:cNvPr id="15" name="TextBox 14">
            <a:extLst>
              <a:ext uri="{FF2B5EF4-FFF2-40B4-BE49-F238E27FC236}">
                <a16:creationId xmlns:a16="http://schemas.microsoft.com/office/drawing/2014/main" id="{42B532EA-BA49-19DF-86AB-18F4E93D53D5}"/>
              </a:ext>
            </a:extLst>
          </p:cNvPr>
          <p:cNvSpPr txBox="1"/>
          <p:nvPr/>
        </p:nvSpPr>
        <p:spPr>
          <a:xfrm>
            <a:off x="9753600" y="2133600"/>
            <a:ext cx="2133600" cy="3600986"/>
          </a:xfrm>
          <a:prstGeom prst="rect">
            <a:avLst/>
          </a:prstGeom>
          <a:solidFill>
            <a:srgbClr val="EC008C"/>
          </a:solidFill>
        </p:spPr>
        <p:txBody>
          <a:bodyPr wrap="square">
            <a:spAutoFit/>
          </a:bodyPr>
          <a:lstStyle>
            <a:defPPr>
              <a:defRPr lang="en-US"/>
            </a:defPPr>
            <a:lvl1pPr algn="ctr" fontAlgn="t">
              <a:defRPr sz="1600" b="1">
                <a:solidFill>
                  <a:schemeClr val="bg1"/>
                </a:solidFill>
                <a:latin typeface="Trebuchet MS" panose="020B0603020202020204" pitchFamily="34" charset="0"/>
              </a:defRPr>
            </a:lvl1pPr>
          </a:lstStyle>
          <a:p>
            <a:endParaRPr lang="en-US" sz="1400" noProof="0"/>
          </a:p>
          <a:p>
            <a:r>
              <a:rPr lang="en-US" noProof="0"/>
              <a:t>Shared </a:t>
            </a:r>
          </a:p>
          <a:p>
            <a:r>
              <a:rPr lang="en-US" noProof="0"/>
              <a:t>Services</a:t>
            </a:r>
          </a:p>
          <a:p>
            <a:endParaRPr lang="en-US" sz="1400" noProof="0"/>
          </a:p>
          <a:p>
            <a:pPr marL="285750" indent="-285750" algn="l">
              <a:buFont typeface="Arial" panose="020B0604020202020204" pitchFamily="34" charset="0"/>
              <a:buChar char="•"/>
            </a:pPr>
            <a:r>
              <a:rPr lang="en-US" sz="1400" b="0" noProof="0"/>
              <a:t>Employee case routed to the wrong team.</a:t>
            </a:r>
          </a:p>
          <a:p>
            <a:pPr marL="285750" indent="-285750" algn="l">
              <a:buFont typeface="Arial" panose="020B0604020202020204" pitchFamily="34" charset="0"/>
              <a:buChar char="•"/>
            </a:pPr>
            <a:r>
              <a:rPr lang="en-US" sz="1400" b="0" noProof="0"/>
              <a:t>Employee request not resolved within service level timescale.</a:t>
            </a:r>
          </a:p>
          <a:p>
            <a:pPr marL="285750" indent="-285750" algn="l">
              <a:buFont typeface="Arial" panose="020B0604020202020204" pitchFamily="34" charset="0"/>
              <a:buChar char="•"/>
            </a:pPr>
            <a:r>
              <a:rPr lang="en-US" sz="1400" b="0" noProof="0"/>
              <a:t>Employee record updated incorrectly.</a:t>
            </a:r>
          </a:p>
          <a:p>
            <a:pPr marL="285750" indent="-285750" algn="l">
              <a:buFont typeface="Arial" panose="020B0604020202020204" pitchFamily="34" charset="0"/>
              <a:buChar char="•"/>
            </a:pPr>
            <a:endParaRPr lang="en-US" sz="1400" b="0" noProof="0"/>
          </a:p>
          <a:p>
            <a:pPr marL="285750" indent="-285750" algn="l">
              <a:buFont typeface="Arial" panose="020B0604020202020204" pitchFamily="34" charset="0"/>
              <a:buChar char="•"/>
            </a:pPr>
            <a:endParaRPr lang="en-US" sz="1400" b="0" noProof="0"/>
          </a:p>
          <a:p>
            <a:pPr marL="285750" indent="-285750" algn="l">
              <a:buFont typeface="Arial" panose="020B0604020202020204" pitchFamily="34" charset="0"/>
              <a:buChar char="•"/>
            </a:pPr>
            <a:endParaRPr lang="en-US" sz="1400" b="0" noProof="0"/>
          </a:p>
        </p:txBody>
      </p:sp>
      <p:sp>
        <p:nvSpPr>
          <p:cNvPr id="17" name="TextBox 16">
            <a:extLst>
              <a:ext uri="{FF2B5EF4-FFF2-40B4-BE49-F238E27FC236}">
                <a16:creationId xmlns:a16="http://schemas.microsoft.com/office/drawing/2014/main" id="{AFAEFD4B-0A72-ECE6-A1E9-8CC587D80776}"/>
              </a:ext>
            </a:extLst>
          </p:cNvPr>
          <p:cNvSpPr txBox="1"/>
          <p:nvPr/>
        </p:nvSpPr>
        <p:spPr>
          <a:xfrm>
            <a:off x="365926" y="1457771"/>
            <a:ext cx="10923104" cy="338554"/>
          </a:xfrm>
          <a:prstGeom prst="rect">
            <a:avLst/>
          </a:prstGeom>
          <a:noFill/>
        </p:spPr>
        <p:txBody>
          <a:bodyPr wrap="square">
            <a:spAutoFit/>
          </a:bodyPr>
          <a:lstStyle/>
          <a:p>
            <a:r>
              <a:rPr lang="en-US" sz="1600" noProof="0">
                <a:solidFill>
                  <a:srgbClr val="24408D"/>
                </a:solidFill>
                <a:latin typeface="Trebuchet MS" panose="020B0603020202020204" pitchFamily="34" charset="0"/>
              </a:rPr>
              <a:t>These defects represent examples of customer-impacting errors that Process Sigma can measure. </a:t>
            </a:r>
          </a:p>
        </p:txBody>
      </p:sp>
      <p:sp>
        <p:nvSpPr>
          <p:cNvPr id="18" name="Flowchart: Connector 17">
            <a:extLst>
              <a:ext uri="{FF2B5EF4-FFF2-40B4-BE49-F238E27FC236}">
                <a16:creationId xmlns:a16="http://schemas.microsoft.com/office/drawing/2014/main" id="{F04337A0-60CC-5D73-C3CD-BF926B029D88}"/>
              </a:ext>
            </a:extLst>
          </p:cNvPr>
          <p:cNvSpPr/>
          <p:nvPr/>
        </p:nvSpPr>
        <p:spPr>
          <a:xfrm>
            <a:off x="326201" y="1824459"/>
            <a:ext cx="540000" cy="540000"/>
          </a:xfrm>
          <a:prstGeom prst="flowChartConnector">
            <a:avLst/>
          </a:prstGeom>
          <a:solidFill>
            <a:srgbClr val="27AAE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9" name="Flowchart: Connector 18">
            <a:extLst>
              <a:ext uri="{FF2B5EF4-FFF2-40B4-BE49-F238E27FC236}">
                <a16:creationId xmlns:a16="http://schemas.microsoft.com/office/drawing/2014/main" id="{D5AFB116-3100-714E-62F3-8042C16A66CB}"/>
              </a:ext>
            </a:extLst>
          </p:cNvPr>
          <p:cNvSpPr/>
          <p:nvPr/>
        </p:nvSpPr>
        <p:spPr>
          <a:xfrm>
            <a:off x="2640661" y="1824459"/>
            <a:ext cx="540000" cy="540000"/>
          </a:xfrm>
          <a:prstGeom prst="flowChartConnector">
            <a:avLst/>
          </a:prstGeom>
          <a:solidFill>
            <a:srgbClr val="24408D"/>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0" name="Flowchart: Connector 19">
            <a:extLst>
              <a:ext uri="{FF2B5EF4-FFF2-40B4-BE49-F238E27FC236}">
                <a16:creationId xmlns:a16="http://schemas.microsoft.com/office/drawing/2014/main" id="{1DDC39D2-CE2D-E6F9-B485-5C0C9ECD697B}"/>
              </a:ext>
            </a:extLst>
          </p:cNvPr>
          <p:cNvSpPr/>
          <p:nvPr/>
        </p:nvSpPr>
        <p:spPr>
          <a:xfrm>
            <a:off x="4946400" y="1808060"/>
            <a:ext cx="540000" cy="540000"/>
          </a:xfrm>
          <a:prstGeom prst="flowChartConnector">
            <a:avLst/>
          </a:prstGeom>
          <a:solidFill>
            <a:srgbClr val="7030A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1" name="Flowchart: Connector 20">
            <a:extLst>
              <a:ext uri="{FF2B5EF4-FFF2-40B4-BE49-F238E27FC236}">
                <a16:creationId xmlns:a16="http://schemas.microsoft.com/office/drawing/2014/main" id="{2C5870DC-B86F-9C7B-31AD-C60933A6D3EC}"/>
              </a:ext>
            </a:extLst>
          </p:cNvPr>
          <p:cNvSpPr/>
          <p:nvPr/>
        </p:nvSpPr>
        <p:spPr>
          <a:xfrm>
            <a:off x="7260860" y="1809275"/>
            <a:ext cx="540000" cy="540000"/>
          </a:xfrm>
          <a:prstGeom prst="flowChartConnector">
            <a:avLst/>
          </a:prstGeom>
          <a:solidFill>
            <a:srgbClr val="00AF74"/>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2" name="Flowchart: Connector 21">
            <a:extLst>
              <a:ext uri="{FF2B5EF4-FFF2-40B4-BE49-F238E27FC236}">
                <a16:creationId xmlns:a16="http://schemas.microsoft.com/office/drawing/2014/main" id="{FCFABA9A-6A77-AD9F-4561-4CF28F7F0211}"/>
              </a:ext>
            </a:extLst>
          </p:cNvPr>
          <p:cNvSpPr/>
          <p:nvPr/>
        </p:nvSpPr>
        <p:spPr>
          <a:xfrm>
            <a:off x="9640992" y="1827675"/>
            <a:ext cx="540000" cy="540000"/>
          </a:xfrm>
          <a:prstGeom prst="flowChartConnector">
            <a:avLst/>
          </a:prstGeom>
          <a:solidFill>
            <a:srgbClr val="EC008C"/>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24" name="Graphic 23" descr="Stuffed Toy outline">
            <a:extLst>
              <a:ext uri="{FF2B5EF4-FFF2-40B4-BE49-F238E27FC236}">
                <a16:creationId xmlns:a16="http://schemas.microsoft.com/office/drawing/2014/main" id="{85F9005F-414C-CE7E-041F-6C586554B8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24426" y="1872841"/>
            <a:ext cx="412867" cy="412867"/>
          </a:xfrm>
          <a:prstGeom prst="rect">
            <a:avLst/>
          </a:prstGeom>
        </p:spPr>
      </p:pic>
      <p:pic>
        <p:nvPicPr>
          <p:cNvPr id="26" name="Graphic 25" descr="Stethoscope outline">
            <a:extLst>
              <a:ext uri="{FF2B5EF4-FFF2-40B4-BE49-F238E27FC236}">
                <a16:creationId xmlns:a16="http://schemas.microsoft.com/office/drawing/2014/main" id="{5881BEA8-B215-F8BD-5A3B-4895C20E88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55713" y="1906251"/>
            <a:ext cx="354450" cy="354450"/>
          </a:xfrm>
          <a:prstGeom prst="rect">
            <a:avLst/>
          </a:prstGeom>
        </p:spPr>
      </p:pic>
      <p:pic>
        <p:nvPicPr>
          <p:cNvPr id="28" name="Graphic 27" descr="House outline">
            <a:extLst>
              <a:ext uri="{FF2B5EF4-FFF2-40B4-BE49-F238E27FC236}">
                <a16:creationId xmlns:a16="http://schemas.microsoft.com/office/drawing/2014/main" id="{213621CF-33AF-356E-FF4A-46CE1FAE2AE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83726" y="1832236"/>
            <a:ext cx="449205" cy="449205"/>
          </a:xfrm>
          <a:prstGeom prst="rect">
            <a:avLst/>
          </a:prstGeom>
        </p:spPr>
      </p:pic>
      <p:pic>
        <p:nvPicPr>
          <p:cNvPr id="30" name="Graphic 29" descr="Single gear outline">
            <a:extLst>
              <a:ext uri="{FF2B5EF4-FFF2-40B4-BE49-F238E27FC236}">
                <a16:creationId xmlns:a16="http://schemas.microsoft.com/office/drawing/2014/main" id="{DAA32885-AD52-0E52-CDCB-40CF5AA0DE1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28258" y="1916272"/>
            <a:ext cx="362805" cy="362805"/>
          </a:xfrm>
          <a:prstGeom prst="rect">
            <a:avLst/>
          </a:prstGeom>
        </p:spPr>
      </p:pic>
      <p:pic>
        <p:nvPicPr>
          <p:cNvPr id="32" name="Graphic 31" descr="Work from home desk outline">
            <a:extLst>
              <a:ext uri="{FF2B5EF4-FFF2-40B4-BE49-F238E27FC236}">
                <a16:creationId xmlns:a16="http://schemas.microsoft.com/office/drawing/2014/main" id="{878854EA-6E3F-95AE-784E-6012032120B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5926" y="1870041"/>
            <a:ext cx="448836" cy="448836"/>
          </a:xfrm>
          <a:prstGeom prst="rect">
            <a:avLst/>
          </a:prstGeom>
        </p:spPr>
      </p:pic>
      <p:sp>
        <p:nvSpPr>
          <p:cNvPr id="33" name="TextBox 32">
            <a:extLst>
              <a:ext uri="{FF2B5EF4-FFF2-40B4-BE49-F238E27FC236}">
                <a16:creationId xmlns:a16="http://schemas.microsoft.com/office/drawing/2014/main" id="{4D491D2F-F910-C014-27DD-BFCC29093E19}"/>
              </a:ext>
            </a:extLst>
          </p:cNvPr>
          <p:cNvSpPr txBox="1"/>
          <p:nvPr/>
        </p:nvSpPr>
        <p:spPr>
          <a:xfrm>
            <a:off x="2718414" y="6089695"/>
            <a:ext cx="7348330" cy="369332"/>
          </a:xfrm>
          <a:prstGeom prst="rect">
            <a:avLst/>
          </a:prstGeom>
          <a:solidFill>
            <a:srgbClr val="27AAE1"/>
          </a:solidFill>
        </p:spPr>
        <p:txBody>
          <a:bodyPr wrap="square" rtlCol="0">
            <a:spAutoFit/>
          </a:bodyPr>
          <a:lstStyle/>
          <a:p>
            <a:pPr algn="ctr"/>
            <a:r>
              <a:rPr lang="en-US" b="1" noProof="0">
                <a:solidFill>
                  <a:schemeClr val="bg1"/>
                </a:solidFill>
              </a:rPr>
              <a:t>Each of these defects moves us further away from the perfect process.</a:t>
            </a:r>
          </a:p>
        </p:txBody>
      </p:sp>
    </p:spTree>
    <p:extLst>
      <p:ext uri="{BB962C8B-B14F-4D97-AF65-F5344CB8AC3E}">
        <p14:creationId xmlns:p14="http://schemas.microsoft.com/office/powerpoint/2010/main" val="27387578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ext Placeholder 6">
            <a:extLst>
              <a:ext uri="{FF2B5EF4-FFF2-40B4-BE49-F238E27FC236}">
                <a16:creationId xmlns:a16="http://schemas.microsoft.com/office/drawing/2014/main" id="{B854D7F8-561E-2140-9A6B-F2B28851105D}"/>
              </a:ext>
            </a:extLst>
          </p:cNvPr>
          <p:cNvSpPr>
            <a:spLocks noGrp="1"/>
          </p:cNvSpPr>
          <p:nvPr>
            <p:ph type="body" sz="quarter" idx="12"/>
          </p:nvPr>
        </p:nvSpPr>
        <p:spPr>
          <a:xfrm>
            <a:off x="304800" y="1488829"/>
            <a:ext cx="10820400" cy="276999"/>
          </a:xfrm>
        </p:spPr>
        <p:txBody>
          <a:bodyPr/>
          <a:lstStyle/>
          <a:p>
            <a:r>
              <a:rPr lang="en-US" sz="1800" noProof="0">
                <a:latin typeface="Trebuchet MS" panose="020B0603020202020204" pitchFamily="34" charset="0"/>
              </a:rPr>
              <a:t>The sigma table below is used to convert DPMO data into Sigma Value:</a:t>
            </a:r>
          </a:p>
        </p:txBody>
      </p:sp>
      <p:sp>
        <p:nvSpPr>
          <p:cNvPr id="6" name="Text Placeholder 5">
            <a:extLst>
              <a:ext uri="{FF2B5EF4-FFF2-40B4-BE49-F238E27FC236}">
                <a16:creationId xmlns:a16="http://schemas.microsoft.com/office/drawing/2014/main" id="{CF801EC0-0F2F-D947-87B6-8120222C609A}"/>
              </a:ext>
            </a:extLst>
          </p:cNvPr>
          <p:cNvSpPr>
            <a:spLocks noGrp="1"/>
          </p:cNvSpPr>
          <p:nvPr>
            <p:ph type="body" sz="quarter" idx="10"/>
          </p:nvPr>
        </p:nvSpPr>
        <p:spPr>
          <a:xfrm>
            <a:off x="533400" y="381000"/>
            <a:ext cx="8458200" cy="492443"/>
          </a:xfrm>
        </p:spPr>
        <p:txBody>
          <a:bodyPr/>
          <a:lstStyle/>
          <a:p>
            <a:r>
              <a:rPr lang="en-US" sz="3200" noProof="0">
                <a:solidFill>
                  <a:srgbClr val="FFC000"/>
                </a:solidFill>
                <a:latin typeface="Trebuchet MS" panose="020B0603020202020204" pitchFamily="34" charset="0"/>
              </a:rPr>
              <a:t>Process Sigma Table</a:t>
            </a:r>
          </a:p>
        </p:txBody>
      </p:sp>
      <p:pic>
        <p:nvPicPr>
          <p:cNvPr id="4" name="Picture 3">
            <a:extLst>
              <a:ext uri="{FF2B5EF4-FFF2-40B4-BE49-F238E27FC236}">
                <a16:creationId xmlns:a16="http://schemas.microsoft.com/office/drawing/2014/main" id="{D01E3B10-648F-63FF-8C16-2C245E6A7F66}"/>
              </a:ext>
            </a:extLst>
          </p:cNvPr>
          <p:cNvPicPr>
            <a:picLocks noChangeAspect="1"/>
          </p:cNvPicPr>
          <p:nvPr/>
        </p:nvPicPr>
        <p:blipFill>
          <a:blip r:embed="rId3"/>
          <a:stretch>
            <a:fillRect/>
          </a:stretch>
        </p:blipFill>
        <p:spPr>
          <a:xfrm>
            <a:off x="179397" y="1761046"/>
            <a:ext cx="7986452" cy="4407790"/>
          </a:xfrm>
          <a:prstGeom prst="rect">
            <a:avLst/>
          </a:prstGeom>
        </p:spPr>
      </p:pic>
      <p:sp>
        <p:nvSpPr>
          <p:cNvPr id="11" name="Rectangle 10">
            <a:extLst>
              <a:ext uri="{FF2B5EF4-FFF2-40B4-BE49-F238E27FC236}">
                <a16:creationId xmlns:a16="http://schemas.microsoft.com/office/drawing/2014/main" id="{70E9DC96-F111-7891-EE3E-EAA60F7BB93E}"/>
              </a:ext>
            </a:extLst>
          </p:cNvPr>
          <p:cNvSpPr/>
          <p:nvPr/>
        </p:nvSpPr>
        <p:spPr>
          <a:xfrm>
            <a:off x="8331009" y="1610139"/>
            <a:ext cx="3456432" cy="4876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noProof="0">
                <a:solidFill>
                  <a:schemeClr val="tx2"/>
                </a:solidFill>
                <a:latin typeface="Trebuchet MS" panose="020B0603020202020204" pitchFamily="34" charset="0"/>
                <a:cs typeface="Arial" panose="020B0604020202020204" pitchFamily="34" charset="0"/>
              </a:rPr>
              <a:t>Example Sigma Value conversion:</a:t>
            </a:r>
          </a:p>
          <a:p>
            <a:endParaRPr lang="en-US" noProof="0">
              <a:solidFill>
                <a:schemeClr val="tx2"/>
              </a:solidFill>
              <a:latin typeface="Trebuchet MS" panose="020B0603020202020204" pitchFamily="34" charset="0"/>
              <a:cs typeface="Arial" panose="020B0604020202020204" pitchFamily="34" charset="0"/>
            </a:endParaRPr>
          </a:p>
          <a:p>
            <a:r>
              <a:rPr lang="en-US" noProof="0">
                <a:solidFill>
                  <a:schemeClr val="tx2"/>
                </a:solidFill>
                <a:latin typeface="Trebuchet MS" panose="020B0603020202020204" pitchFamily="34" charset="0"/>
                <a:cs typeface="Arial" panose="020B0604020202020204" pitchFamily="34" charset="0"/>
              </a:rPr>
              <a:t>Number of units: 100</a:t>
            </a:r>
          </a:p>
          <a:p>
            <a:r>
              <a:rPr lang="en-US" noProof="0">
                <a:solidFill>
                  <a:schemeClr val="tx2"/>
                </a:solidFill>
                <a:latin typeface="Trebuchet MS" panose="020B0603020202020204" pitchFamily="34" charset="0"/>
                <a:cs typeface="Arial" panose="020B0604020202020204" pitchFamily="34" charset="0"/>
              </a:rPr>
              <a:t>Opportunities per unit: 5</a:t>
            </a:r>
          </a:p>
          <a:p>
            <a:r>
              <a:rPr lang="en-US" noProof="0">
                <a:solidFill>
                  <a:schemeClr val="tx2"/>
                </a:solidFill>
                <a:latin typeface="Trebuchet MS" panose="020B0603020202020204" pitchFamily="34" charset="0"/>
                <a:cs typeface="Arial" panose="020B0604020202020204" pitchFamily="34" charset="0"/>
              </a:rPr>
              <a:t>Total number of defects: 7</a:t>
            </a:r>
          </a:p>
          <a:p>
            <a:endParaRPr lang="en-US" noProof="0">
              <a:solidFill>
                <a:schemeClr val="tx2"/>
              </a:solidFill>
              <a:latin typeface="Trebuchet MS" panose="020B0603020202020204" pitchFamily="34" charset="0"/>
              <a:cs typeface="Arial" panose="020B0604020202020204" pitchFamily="34" charset="0"/>
            </a:endParaRPr>
          </a:p>
          <a:p>
            <a:r>
              <a:rPr lang="en-US" b="1" noProof="0">
                <a:solidFill>
                  <a:schemeClr val="tx2"/>
                </a:solidFill>
                <a:latin typeface="Trebuchet MS" panose="020B0603020202020204" pitchFamily="34" charset="0"/>
                <a:cs typeface="Arial" panose="020B0604020202020204" pitchFamily="34" charset="0"/>
              </a:rPr>
              <a:t>DPU</a:t>
            </a:r>
            <a:r>
              <a:rPr lang="en-US" noProof="0">
                <a:solidFill>
                  <a:schemeClr val="tx2"/>
                </a:solidFill>
                <a:latin typeface="Trebuchet MS" panose="020B0603020202020204" pitchFamily="34" charset="0"/>
                <a:cs typeface="Arial" panose="020B0604020202020204" pitchFamily="34" charset="0"/>
              </a:rPr>
              <a:t> = 7/100 = 0.07</a:t>
            </a:r>
          </a:p>
          <a:p>
            <a:r>
              <a:rPr lang="en-US" b="1" noProof="0">
                <a:solidFill>
                  <a:schemeClr val="tx2"/>
                </a:solidFill>
                <a:latin typeface="Trebuchet MS" panose="020B0603020202020204" pitchFamily="34" charset="0"/>
                <a:cs typeface="Arial" panose="020B0604020202020204" pitchFamily="34" charset="0"/>
              </a:rPr>
              <a:t>DPMO = </a:t>
            </a:r>
            <a:r>
              <a:rPr lang="en-US" noProof="0">
                <a:solidFill>
                  <a:schemeClr val="tx2"/>
                </a:solidFill>
                <a:latin typeface="Trebuchet MS" panose="020B0603020202020204" pitchFamily="34" charset="0"/>
                <a:cs typeface="Arial" panose="020B0604020202020204" pitchFamily="34" charset="0"/>
              </a:rPr>
              <a:t>0.07/5 X 1,000,000 = 14000</a:t>
            </a:r>
          </a:p>
          <a:p>
            <a:endParaRPr lang="en-US" noProof="0">
              <a:solidFill>
                <a:schemeClr val="tx2"/>
              </a:solidFill>
              <a:latin typeface="Trebuchet MS" panose="020B0603020202020204" pitchFamily="34" charset="0"/>
              <a:cs typeface="Arial" panose="020B0604020202020204" pitchFamily="34" charset="0"/>
            </a:endParaRPr>
          </a:p>
          <a:p>
            <a:r>
              <a:rPr lang="en-US" b="1" noProof="0">
                <a:solidFill>
                  <a:schemeClr val="tx2"/>
                </a:solidFill>
                <a:latin typeface="Trebuchet MS" panose="020B0603020202020204" pitchFamily="34" charset="0"/>
                <a:cs typeface="Arial" panose="020B0604020202020204" pitchFamily="34" charset="0"/>
              </a:rPr>
              <a:t>Process Sigma ≈ 3.7 (from table)</a:t>
            </a:r>
          </a:p>
          <a:p>
            <a:endParaRPr lang="en-US" b="1" noProof="0">
              <a:solidFill>
                <a:schemeClr val="tx2"/>
              </a:solidFill>
              <a:latin typeface="Trebuchet MS" panose="020B0603020202020204" pitchFamily="34" charset="0"/>
              <a:cs typeface="Arial" panose="020B0604020202020204" pitchFamily="34" charset="0"/>
            </a:endParaRPr>
          </a:p>
          <a:p>
            <a:r>
              <a:rPr lang="en-US" b="1" noProof="0">
                <a:solidFill>
                  <a:srgbClr val="FF0000"/>
                </a:solidFill>
                <a:latin typeface="Trebuchet MS" panose="020B0603020202020204" pitchFamily="34" charset="0"/>
                <a:cs typeface="Arial" panose="020B0604020202020204" pitchFamily="34" charset="0"/>
              </a:rPr>
              <a:t>*Always go to the nearest DPMO</a:t>
            </a:r>
          </a:p>
        </p:txBody>
      </p:sp>
      <p:sp>
        <p:nvSpPr>
          <p:cNvPr id="13" name="Rectangle 12">
            <a:extLst>
              <a:ext uri="{FF2B5EF4-FFF2-40B4-BE49-F238E27FC236}">
                <a16:creationId xmlns:a16="http://schemas.microsoft.com/office/drawing/2014/main" id="{3E63BE27-61F5-F8BB-9A0D-CF1A84E78EAB}"/>
              </a:ext>
            </a:extLst>
          </p:cNvPr>
          <p:cNvSpPr/>
          <p:nvPr/>
        </p:nvSpPr>
        <p:spPr>
          <a:xfrm>
            <a:off x="1524000" y="5638800"/>
            <a:ext cx="12954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endParaRPr>
          </a:p>
        </p:txBody>
      </p:sp>
      <p:sp>
        <p:nvSpPr>
          <p:cNvPr id="15" name="Rectangle 14">
            <a:extLst>
              <a:ext uri="{FF2B5EF4-FFF2-40B4-BE49-F238E27FC236}">
                <a16:creationId xmlns:a16="http://schemas.microsoft.com/office/drawing/2014/main" id="{BB985BD2-9AF4-A4A3-DFB4-EAEFBBFD8ECC}"/>
              </a:ext>
            </a:extLst>
          </p:cNvPr>
          <p:cNvSpPr/>
          <p:nvPr/>
        </p:nvSpPr>
        <p:spPr>
          <a:xfrm>
            <a:off x="1905000" y="1934453"/>
            <a:ext cx="914400" cy="228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endParaRPr>
          </a:p>
        </p:txBody>
      </p:sp>
      <p:sp>
        <p:nvSpPr>
          <p:cNvPr id="3" name="TextBox 2">
            <a:extLst>
              <a:ext uri="{FF2B5EF4-FFF2-40B4-BE49-F238E27FC236}">
                <a16:creationId xmlns:a16="http://schemas.microsoft.com/office/drawing/2014/main" id="{DD841B09-665E-8FA3-3559-2662115B3287}"/>
              </a:ext>
            </a:extLst>
          </p:cNvPr>
          <p:cNvSpPr txBox="1"/>
          <p:nvPr/>
        </p:nvSpPr>
        <p:spPr>
          <a:xfrm>
            <a:off x="1828800" y="6292334"/>
            <a:ext cx="6097836" cy="369332"/>
          </a:xfrm>
          <a:prstGeom prst="rect">
            <a:avLst/>
          </a:prstGeom>
          <a:solidFill>
            <a:srgbClr val="27AAE1"/>
          </a:solidFill>
        </p:spPr>
        <p:txBody>
          <a:bodyPr wrap="square">
            <a:spAutoFit/>
          </a:bodyPr>
          <a:lstStyle/>
          <a:p>
            <a:pPr algn="ctr"/>
            <a:r>
              <a:rPr lang="en-US" b="1" noProof="0">
                <a:solidFill>
                  <a:schemeClr val="bg1"/>
                </a:solidFill>
                <a:latin typeface="Trebuchet MS" panose="020B0603020202020204" pitchFamily="34" charset="0"/>
              </a:rPr>
              <a:t>Lower DPMO = Higher Sigma = Better quality</a:t>
            </a:r>
          </a:p>
        </p:txBody>
      </p:sp>
    </p:spTree>
    <p:extLst>
      <p:ext uri="{BB962C8B-B14F-4D97-AF65-F5344CB8AC3E}">
        <p14:creationId xmlns:p14="http://schemas.microsoft.com/office/powerpoint/2010/main" val="3925509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ext Placeholder 6">
            <a:extLst>
              <a:ext uri="{FF2B5EF4-FFF2-40B4-BE49-F238E27FC236}">
                <a16:creationId xmlns:a16="http://schemas.microsoft.com/office/drawing/2014/main" id="{B854D7F8-561E-2140-9A6B-F2B28851105D}"/>
              </a:ext>
            </a:extLst>
          </p:cNvPr>
          <p:cNvSpPr>
            <a:spLocks noGrp="1"/>
          </p:cNvSpPr>
          <p:nvPr>
            <p:ph type="body" sz="quarter" idx="12"/>
          </p:nvPr>
        </p:nvSpPr>
        <p:spPr>
          <a:xfrm>
            <a:off x="435864" y="1588080"/>
            <a:ext cx="10820400" cy="276999"/>
          </a:xfrm>
        </p:spPr>
        <p:txBody>
          <a:bodyPr/>
          <a:lstStyle/>
          <a:p>
            <a:r>
              <a:rPr lang="en-US" sz="1800" noProof="0">
                <a:latin typeface="Trebuchet MS" panose="020B0603020202020204" pitchFamily="34" charset="0"/>
              </a:rPr>
              <a:t>Using the table below and the data provided, calculate the value for the following processes:</a:t>
            </a:r>
          </a:p>
        </p:txBody>
      </p:sp>
      <p:sp>
        <p:nvSpPr>
          <p:cNvPr id="6" name="Text Placeholder 5">
            <a:extLst>
              <a:ext uri="{FF2B5EF4-FFF2-40B4-BE49-F238E27FC236}">
                <a16:creationId xmlns:a16="http://schemas.microsoft.com/office/drawing/2014/main" id="{CF801EC0-0F2F-D947-87B6-8120222C609A}"/>
              </a:ext>
            </a:extLst>
          </p:cNvPr>
          <p:cNvSpPr>
            <a:spLocks noGrp="1"/>
          </p:cNvSpPr>
          <p:nvPr>
            <p:ph type="body" sz="quarter" idx="10"/>
          </p:nvPr>
        </p:nvSpPr>
        <p:spPr>
          <a:xfrm>
            <a:off x="533400" y="381000"/>
            <a:ext cx="8458200" cy="492443"/>
          </a:xfrm>
        </p:spPr>
        <p:txBody>
          <a:bodyPr/>
          <a:lstStyle/>
          <a:p>
            <a:r>
              <a:rPr lang="en-US" sz="3200" noProof="0">
                <a:solidFill>
                  <a:srgbClr val="FFC000"/>
                </a:solidFill>
                <a:latin typeface="Trebuchet MS" panose="020B0603020202020204" pitchFamily="34" charset="0"/>
              </a:rPr>
              <a:t>Activity – calculate Sigma value</a:t>
            </a:r>
          </a:p>
        </p:txBody>
      </p:sp>
      <p:sp>
        <p:nvSpPr>
          <p:cNvPr id="11" name="Rectangle: Rounded Corners 10">
            <a:extLst>
              <a:ext uri="{FF2B5EF4-FFF2-40B4-BE49-F238E27FC236}">
                <a16:creationId xmlns:a16="http://schemas.microsoft.com/office/drawing/2014/main" id="{70E9DC96-F111-7891-EE3E-EAA60F7BB93E}"/>
              </a:ext>
            </a:extLst>
          </p:cNvPr>
          <p:cNvSpPr/>
          <p:nvPr/>
        </p:nvSpPr>
        <p:spPr>
          <a:xfrm>
            <a:off x="364616" y="2565047"/>
            <a:ext cx="3551492" cy="2921353"/>
          </a:xfrm>
          <a:prstGeom prst="roundRect">
            <a:avLst/>
          </a:prstGeom>
          <a:noFill/>
          <a:ln w="57150">
            <a:solidFill>
              <a:srgbClr val="27AA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noProof="0">
                <a:solidFill>
                  <a:schemeClr val="tx2"/>
                </a:solidFill>
                <a:latin typeface="Trebuchet MS" panose="020B0603020202020204" pitchFamily="34" charset="0"/>
                <a:cs typeface="Arial" panose="020B0604020202020204" pitchFamily="34" charset="0"/>
              </a:rPr>
              <a:t>Number of units: 800</a:t>
            </a:r>
          </a:p>
          <a:p>
            <a:r>
              <a:rPr lang="en-US" sz="1800" noProof="0">
                <a:solidFill>
                  <a:schemeClr val="tx2"/>
                </a:solidFill>
                <a:latin typeface="Trebuchet MS" panose="020B0603020202020204" pitchFamily="34" charset="0"/>
                <a:cs typeface="Arial" panose="020B0604020202020204" pitchFamily="34" charset="0"/>
              </a:rPr>
              <a:t>Number of opportunities: 20</a:t>
            </a:r>
          </a:p>
          <a:p>
            <a:r>
              <a:rPr lang="en-US" sz="1800" noProof="0">
                <a:solidFill>
                  <a:schemeClr val="tx2"/>
                </a:solidFill>
                <a:latin typeface="Trebuchet MS" panose="020B0603020202020204" pitchFamily="34" charset="0"/>
                <a:cs typeface="Arial" panose="020B0604020202020204" pitchFamily="34" charset="0"/>
              </a:rPr>
              <a:t>Total number of defects: 12</a:t>
            </a:r>
          </a:p>
          <a:p>
            <a:endParaRPr lang="en-US" sz="1800" noProof="0">
              <a:solidFill>
                <a:schemeClr val="tx2"/>
              </a:solidFill>
              <a:latin typeface="Trebuchet MS" panose="020B0603020202020204" pitchFamily="34" charset="0"/>
              <a:cs typeface="Arial" panose="020B0604020202020204" pitchFamily="34" charset="0"/>
            </a:endParaRPr>
          </a:p>
          <a:p>
            <a:r>
              <a:rPr lang="en-US" sz="1800" b="1" noProof="0">
                <a:solidFill>
                  <a:schemeClr val="tx2"/>
                </a:solidFill>
                <a:latin typeface="Trebuchet MS" panose="020B0603020202020204" pitchFamily="34" charset="0"/>
                <a:cs typeface="Arial" panose="020B0604020202020204" pitchFamily="34" charset="0"/>
              </a:rPr>
              <a:t>DPU:</a:t>
            </a:r>
            <a:r>
              <a:rPr lang="en-US" sz="1800" noProof="0">
                <a:solidFill>
                  <a:schemeClr val="tx2"/>
                </a:solidFill>
                <a:latin typeface="Trebuchet MS" panose="020B0603020202020204" pitchFamily="34" charset="0"/>
                <a:cs typeface="Arial" panose="020B0604020202020204" pitchFamily="34" charset="0"/>
              </a:rPr>
              <a:t> </a:t>
            </a:r>
          </a:p>
          <a:p>
            <a:r>
              <a:rPr lang="en-US" sz="1800" b="1" noProof="0">
                <a:solidFill>
                  <a:schemeClr val="tx2"/>
                </a:solidFill>
                <a:latin typeface="Trebuchet MS" panose="020B0603020202020204" pitchFamily="34" charset="0"/>
                <a:cs typeface="Arial" panose="020B0604020202020204" pitchFamily="34" charset="0"/>
              </a:rPr>
              <a:t>DPMO:</a:t>
            </a:r>
            <a:endParaRPr lang="en-US" sz="1800" noProof="0">
              <a:solidFill>
                <a:schemeClr val="tx2"/>
              </a:solidFill>
              <a:latin typeface="Trebuchet MS" panose="020B0603020202020204" pitchFamily="34" charset="0"/>
              <a:cs typeface="Arial" panose="020B0604020202020204" pitchFamily="34" charset="0"/>
            </a:endParaRPr>
          </a:p>
          <a:p>
            <a:r>
              <a:rPr lang="en-US" sz="1800" b="1" noProof="0">
                <a:solidFill>
                  <a:schemeClr val="tx2"/>
                </a:solidFill>
                <a:latin typeface="Trebuchet MS" panose="020B0603020202020204" pitchFamily="34" charset="0"/>
                <a:cs typeface="Arial" panose="020B0604020202020204" pitchFamily="34" charset="0"/>
              </a:rPr>
              <a:t>Process Sigma:</a:t>
            </a:r>
            <a:endParaRPr lang="en-US" b="1" noProof="0">
              <a:solidFill>
                <a:schemeClr val="tx2"/>
              </a:solidFill>
              <a:latin typeface="Trebuchet MS" panose="020B0603020202020204" pitchFamily="34" charset="0"/>
              <a:cs typeface="Arial" panose="020B0604020202020204" pitchFamily="34" charset="0"/>
            </a:endParaRPr>
          </a:p>
        </p:txBody>
      </p:sp>
      <p:sp>
        <p:nvSpPr>
          <p:cNvPr id="8" name="Rectangle: Rounded Corners 7">
            <a:extLst>
              <a:ext uri="{FF2B5EF4-FFF2-40B4-BE49-F238E27FC236}">
                <a16:creationId xmlns:a16="http://schemas.microsoft.com/office/drawing/2014/main" id="{381DA064-912C-97E7-4FC2-944ED10D6BB8}"/>
              </a:ext>
            </a:extLst>
          </p:cNvPr>
          <p:cNvSpPr/>
          <p:nvPr/>
        </p:nvSpPr>
        <p:spPr>
          <a:xfrm>
            <a:off x="4220908" y="2555903"/>
            <a:ext cx="3551492" cy="2921353"/>
          </a:xfrm>
          <a:prstGeom prst="roundRect">
            <a:avLst/>
          </a:prstGeom>
          <a:noFill/>
          <a:ln w="57150">
            <a:solidFill>
              <a:srgbClr val="27AA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noProof="0">
                <a:solidFill>
                  <a:schemeClr val="tx2"/>
                </a:solidFill>
                <a:latin typeface="Trebuchet MS" panose="020B0603020202020204" pitchFamily="34" charset="0"/>
                <a:cs typeface="Arial" panose="020B0604020202020204" pitchFamily="34" charset="0"/>
              </a:rPr>
              <a:t>Number of units: 150</a:t>
            </a:r>
          </a:p>
          <a:p>
            <a:r>
              <a:rPr lang="en-US" sz="1800" noProof="0">
                <a:solidFill>
                  <a:schemeClr val="tx2"/>
                </a:solidFill>
                <a:latin typeface="Trebuchet MS" panose="020B0603020202020204" pitchFamily="34" charset="0"/>
                <a:cs typeface="Arial" panose="020B0604020202020204" pitchFamily="34" charset="0"/>
              </a:rPr>
              <a:t>Number of opportunities: 7.5</a:t>
            </a:r>
          </a:p>
          <a:p>
            <a:r>
              <a:rPr lang="en-US" sz="1800" noProof="0">
                <a:solidFill>
                  <a:schemeClr val="tx2"/>
                </a:solidFill>
                <a:latin typeface="Trebuchet MS" panose="020B0603020202020204" pitchFamily="34" charset="0"/>
                <a:cs typeface="Arial" panose="020B0604020202020204" pitchFamily="34" charset="0"/>
              </a:rPr>
              <a:t>Total number of defects 10</a:t>
            </a:r>
          </a:p>
          <a:p>
            <a:endParaRPr lang="en-US" sz="1800" noProof="0">
              <a:solidFill>
                <a:schemeClr val="tx2"/>
              </a:solidFill>
              <a:latin typeface="Trebuchet MS" panose="020B0603020202020204" pitchFamily="34" charset="0"/>
              <a:cs typeface="Arial" panose="020B0604020202020204" pitchFamily="34" charset="0"/>
            </a:endParaRPr>
          </a:p>
          <a:p>
            <a:r>
              <a:rPr lang="en-US" sz="1800" b="1" noProof="0">
                <a:solidFill>
                  <a:schemeClr val="tx2"/>
                </a:solidFill>
                <a:latin typeface="Trebuchet MS" panose="020B0603020202020204" pitchFamily="34" charset="0"/>
                <a:cs typeface="Arial" panose="020B0604020202020204" pitchFamily="34" charset="0"/>
              </a:rPr>
              <a:t>DPU:</a:t>
            </a:r>
            <a:r>
              <a:rPr lang="en-US" sz="1800" noProof="0">
                <a:solidFill>
                  <a:schemeClr val="tx2"/>
                </a:solidFill>
                <a:latin typeface="Trebuchet MS" panose="020B0603020202020204" pitchFamily="34" charset="0"/>
                <a:cs typeface="Arial" panose="020B0604020202020204" pitchFamily="34" charset="0"/>
              </a:rPr>
              <a:t> </a:t>
            </a:r>
          </a:p>
          <a:p>
            <a:r>
              <a:rPr lang="en-US" sz="1800" b="1" noProof="0">
                <a:solidFill>
                  <a:schemeClr val="tx2"/>
                </a:solidFill>
                <a:latin typeface="Trebuchet MS" panose="020B0603020202020204" pitchFamily="34" charset="0"/>
                <a:cs typeface="Arial" panose="020B0604020202020204" pitchFamily="34" charset="0"/>
              </a:rPr>
              <a:t>DPMO: </a:t>
            </a:r>
            <a:endParaRPr lang="en-US" sz="1800" noProof="0">
              <a:solidFill>
                <a:schemeClr val="tx2"/>
              </a:solidFill>
              <a:latin typeface="Trebuchet MS" panose="020B0603020202020204" pitchFamily="34" charset="0"/>
              <a:cs typeface="Arial" panose="020B0604020202020204" pitchFamily="34" charset="0"/>
            </a:endParaRPr>
          </a:p>
          <a:p>
            <a:r>
              <a:rPr lang="en-US" sz="1800" b="1" noProof="0">
                <a:solidFill>
                  <a:schemeClr val="tx2"/>
                </a:solidFill>
                <a:latin typeface="Trebuchet MS" panose="020B0603020202020204" pitchFamily="34" charset="0"/>
                <a:cs typeface="Arial" panose="020B0604020202020204" pitchFamily="34" charset="0"/>
              </a:rPr>
              <a:t>Process Sigma</a:t>
            </a:r>
            <a:r>
              <a:rPr lang="en-US" b="1" noProof="0">
                <a:solidFill>
                  <a:schemeClr val="tx2"/>
                </a:solidFill>
                <a:latin typeface="Trebuchet MS" panose="020B0603020202020204" pitchFamily="34" charset="0"/>
                <a:cs typeface="Arial" panose="020B0604020202020204" pitchFamily="34" charset="0"/>
              </a:rPr>
              <a:t>:</a:t>
            </a:r>
            <a:endParaRPr lang="en-US" sz="1800" b="1" noProof="0">
              <a:solidFill>
                <a:schemeClr val="tx2"/>
              </a:solidFill>
              <a:latin typeface="Trebuchet MS" panose="020B0603020202020204" pitchFamily="34" charset="0"/>
              <a:cs typeface="Arial" panose="020B0604020202020204" pitchFamily="34" charset="0"/>
            </a:endParaRPr>
          </a:p>
        </p:txBody>
      </p:sp>
      <p:sp>
        <p:nvSpPr>
          <p:cNvPr id="9" name="Rectangle: Rounded Corners 8">
            <a:extLst>
              <a:ext uri="{FF2B5EF4-FFF2-40B4-BE49-F238E27FC236}">
                <a16:creationId xmlns:a16="http://schemas.microsoft.com/office/drawing/2014/main" id="{2027CC93-0275-3229-BC74-0D03AA20689E}"/>
              </a:ext>
            </a:extLst>
          </p:cNvPr>
          <p:cNvSpPr/>
          <p:nvPr/>
        </p:nvSpPr>
        <p:spPr>
          <a:xfrm>
            <a:off x="7982140" y="2555903"/>
            <a:ext cx="3551492" cy="2921353"/>
          </a:xfrm>
          <a:prstGeom prst="roundRect">
            <a:avLst/>
          </a:prstGeom>
          <a:noFill/>
          <a:ln w="57150">
            <a:solidFill>
              <a:srgbClr val="27AA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800" noProof="0">
              <a:solidFill>
                <a:schemeClr val="tx2"/>
              </a:solidFill>
              <a:latin typeface="Trebuchet MS" panose="020B0603020202020204" pitchFamily="34" charset="0"/>
              <a:cs typeface="Arial" panose="020B0604020202020204" pitchFamily="34" charset="0"/>
            </a:endParaRPr>
          </a:p>
          <a:p>
            <a:r>
              <a:rPr lang="en-US" sz="1800" noProof="0">
                <a:solidFill>
                  <a:schemeClr val="tx2"/>
                </a:solidFill>
                <a:latin typeface="Trebuchet MS" panose="020B0603020202020204" pitchFamily="34" charset="0"/>
                <a:cs typeface="Arial" panose="020B0604020202020204" pitchFamily="34" charset="0"/>
              </a:rPr>
              <a:t>Number of units: 75</a:t>
            </a:r>
          </a:p>
          <a:p>
            <a:r>
              <a:rPr lang="en-US" sz="1800" noProof="0">
                <a:solidFill>
                  <a:schemeClr val="tx2"/>
                </a:solidFill>
                <a:latin typeface="Trebuchet MS" panose="020B0603020202020204" pitchFamily="34" charset="0"/>
                <a:cs typeface="Arial" panose="020B0604020202020204" pitchFamily="34" charset="0"/>
              </a:rPr>
              <a:t>Number of opportunities: 9</a:t>
            </a:r>
          </a:p>
          <a:p>
            <a:r>
              <a:rPr lang="en-US" sz="1800" noProof="0">
                <a:solidFill>
                  <a:schemeClr val="tx2"/>
                </a:solidFill>
                <a:latin typeface="Trebuchet MS" panose="020B0603020202020204" pitchFamily="34" charset="0"/>
                <a:cs typeface="Arial" panose="020B0604020202020204" pitchFamily="34" charset="0"/>
              </a:rPr>
              <a:t>Total number of defects 7</a:t>
            </a:r>
          </a:p>
          <a:p>
            <a:endParaRPr lang="en-US" sz="1800" b="1" noProof="0">
              <a:solidFill>
                <a:schemeClr val="tx2"/>
              </a:solidFill>
              <a:latin typeface="Trebuchet MS" panose="020B0603020202020204" pitchFamily="34" charset="0"/>
              <a:cs typeface="Arial" panose="020B0604020202020204" pitchFamily="34" charset="0"/>
            </a:endParaRPr>
          </a:p>
          <a:p>
            <a:r>
              <a:rPr lang="en-US" sz="1800" b="1" noProof="0">
                <a:solidFill>
                  <a:schemeClr val="tx2"/>
                </a:solidFill>
                <a:latin typeface="Trebuchet MS" panose="020B0603020202020204" pitchFamily="34" charset="0"/>
                <a:cs typeface="Arial" panose="020B0604020202020204" pitchFamily="34" charset="0"/>
              </a:rPr>
              <a:t>DPU:</a:t>
            </a:r>
            <a:endParaRPr lang="en-US" sz="1800" noProof="0">
              <a:solidFill>
                <a:schemeClr val="tx2"/>
              </a:solidFill>
              <a:latin typeface="Trebuchet MS" panose="020B0603020202020204" pitchFamily="34" charset="0"/>
              <a:cs typeface="Arial" panose="020B0604020202020204" pitchFamily="34" charset="0"/>
            </a:endParaRPr>
          </a:p>
          <a:p>
            <a:r>
              <a:rPr lang="en-US" sz="1800" b="1" noProof="0">
                <a:solidFill>
                  <a:schemeClr val="tx2"/>
                </a:solidFill>
                <a:latin typeface="Trebuchet MS" panose="020B0603020202020204" pitchFamily="34" charset="0"/>
                <a:cs typeface="Arial" panose="020B0604020202020204" pitchFamily="34" charset="0"/>
              </a:rPr>
              <a:t>DPMO: </a:t>
            </a:r>
            <a:endParaRPr lang="en-US" sz="1800" noProof="0">
              <a:solidFill>
                <a:schemeClr val="tx2"/>
              </a:solidFill>
              <a:latin typeface="Trebuchet MS" panose="020B0603020202020204" pitchFamily="34" charset="0"/>
              <a:cs typeface="Arial" panose="020B0604020202020204" pitchFamily="34" charset="0"/>
            </a:endParaRPr>
          </a:p>
          <a:p>
            <a:r>
              <a:rPr lang="en-US" sz="1800" b="1" noProof="0">
                <a:solidFill>
                  <a:schemeClr val="tx2"/>
                </a:solidFill>
                <a:latin typeface="Trebuchet MS" panose="020B0603020202020204" pitchFamily="34" charset="0"/>
                <a:cs typeface="Arial" panose="020B0604020202020204" pitchFamily="34" charset="0"/>
              </a:rPr>
              <a:t>Process Sigma</a:t>
            </a:r>
            <a:r>
              <a:rPr lang="en-US" b="1" noProof="0">
                <a:solidFill>
                  <a:schemeClr val="tx2"/>
                </a:solidFill>
                <a:latin typeface="Trebuchet MS" panose="020B0603020202020204" pitchFamily="34" charset="0"/>
                <a:cs typeface="Arial" panose="020B0604020202020204" pitchFamily="34" charset="0"/>
              </a:rPr>
              <a:t>:</a:t>
            </a:r>
          </a:p>
          <a:p>
            <a:endParaRPr lang="en-US" sz="1800" b="1" noProof="0">
              <a:solidFill>
                <a:srgbClr val="FF0000"/>
              </a:solidFill>
              <a:latin typeface="Trebuchet MS" panose="020B0603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BC794D89-C42A-EA9F-BEC3-DD00B9EDBED6}"/>
              </a:ext>
            </a:extLst>
          </p:cNvPr>
          <p:cNvSpPr txBox="1"/>
          <p:nvPr/>
        </p:nvSpPr>
        <p:spPr>
          <a:xfrm>
            <a:off x="533400" y="6184308"/>
            <a:ext cx="4340924" cy="338554"/>
          </a:xfrm>
          <a:prstGeom prst="rect">
            <a:avLst/>
          </a:prstGeom>
          <a:solidFill>
            <a:srgbClr val="27AAE1"/>
          </a:solidFill>
        </p:spPr>
        <p:txBody>
          <a:bodyPr wrap="square">
            <a:spAutoFit/>
          </a:bodyPr>
          <a:lstStyle>
            <a:defPPr>
              <a:defRPr lang="en-US"/>
            </a:defPPr>
            <a:lvl1pPr>
              <a:defRPr sz="1600" b="1">
                <a:solidFill>
                  <a:schemeClr val="bg1"/>
                </a:solidFill>
                <a:latin typeface="Arial" panose="020B0604020202020204" pitchFamily="34" charset="0"/>
                <a:cs typeface="Arial" panose="020B0604020202020204" pitchFamily="34" charset="0"/>
              </a:defRPr>
            </a:lvl1pPr>
          </a:lstStyle>
          <a:p>
            <a:r>
              <a:rPr lang="en-US" noProof="0">
                <a:latin typeface="Trebuchet MS" panose="020B0603020202020204" pitchFamily="34" charset="0"/>
              </a:rPr>
              <a:t>Reminder: </a:t>
            </a:r>
            <a:r>
              <a:rPr lang="en-US" b="0" noProof="0">
                <a:latin typeface="Trebuchet MS" panose="020B0603020202020204" pitchFamily="34" charset="0"/>
              </a:rPr>
              <a:t>Always go to the nearest DPMO.</a:t>
            </a:r>
          </a:p>
        </p:txBody>
      </p:sp>
    </p:spTree>
    <p:extLst>
      <p:ext uri="{BB962C8B-B14F-4D97-AF65-F5344CB8AC3E}">
        <p14:creationId xmlns:p14="http://schemas.microsoft.com/office/powerpoint/2010/main" val="26475090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CF801EC0-0F2F-D947-87B6-8120222C609A}"/>
              </a:ext>
            </a:extLst>
          </p:cNvPr>
          <p:cNvSpPr>
            <a:spLocks noGrp="1"/>
          </p:cNvSpPr>
          <p:nvPr>
            <p:ph type="body" sz="quarter" idx="10"/>
          </p:nvPr>
        </p:nvSpPr>
        <p:spPr>
          <a:xfrm>
            <a:off x="533400" y="381000"/>
            <a:ext cx="8458200" cy="492443"/>
          </a:xfrm>
        </p:spPr>
        <p:txBody>
          <a:bodyPr/>
          <a:lstStyle/>
          <a:p>
            <a:r>
              <a:rPr lang="en-US" sz="3200" noProof="0">
                <a:solidFill>
                  <a:srgbClr val="FFC000"/>
                </a:solidFill>
                <a:latin typeface="Trebuchet MS" panose="020B0603020202020204" pitchFamily="34" charset="0"/>
              </a:rPr>
              <a:t>Activity – solutions</a:t>
            </a:r>
          </a:p>
        </p:txBody>
      </p:sp>
      <p:sp>
        <p:nvSpPr>
          <p:cNvPr id="11" name="Rectangle: Rounded Corners 10">
            <a:extLst>
              <a:ext uri="{FF2B5EF4-FFF2-40B4-BE49-F238E27FC236}">
                <a16:creationId xmlns:a16="http://schemas.microsoft.com/office/drawing/2014/main" id="{70E9DC96-F111-7891-EE3E-EAA60F7BB93E}"/>
              </a:ext>
            </a:extLst>
          </p:cNvPr>
          <p:cNvSpPr/>
          <p:nvPr/>
        </p:nvSpPr>
        <p:spPr>
          <a:xfrm>
            <a:off x="277368" y="2095203"/>
            <a:ext cx="3685032" cy="3238797"/>
          </a:xfrm>
          <a:prstGeom prst="roundRect">
            <a:avLst/>
          </a:prstGeom>
          <a:noFill/>
          <a:ln w="38100">
            <a:solidFill>
              <a:srgbClr val="27AA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noProof="0">
                <a:solidFill>
                  <a:schemeClr val="tx2"/>
                </a:solidFill>
                <a:latin typeface="Trebuchet MS" panose="020B0603020202020204" pitchFamily="34" charset="0"/>
                <a:cs typeface="Arial" panose="020B0604020202020204" pitchFamily="34" charset="0"/>
              </a:rPr>
              <a:t>Number of units: 800</a:t>
            </a:r>
          </a:p>
          <a:p>
            <a:r>
              <a:rPr lang="en-US" sz="1800" noProof="0">
                <a:solidFill>
                  <a:schemeClr val="tx2"/>
                </a:solidFill>
                <a:latin typeface="Trebuchet MS" panose="020B0603020202020204" pitchFamily="34" charset="0"/>
                <a:cs typeface="Arial" panose="020B0604020202020204" pitchFamily="34" charset="0"/>
              </a:rPr>
              <a:t>Number of opportunities: 20</a:t>
            </a:r>
          </a:p>
          <a:p>
            <a:r>
              <a:rPr lang="en-US" sz="1800" noProof="0">
                <a:solidFill>
                  <a:schemeClr val="tx2"/>
                </a:solidFill>
                <a:latin typeface="Trebuchet MS" panose="020B0603020202020204" pitchFamily="34" charset="0"/>
                <a:cs typeface="Arial" panose="020B0604020202020204" pitchFamily="34" charset="0"/>
              </a:rPr>
              <a:t>Total number of defects:12</a:t>
            </a:r>
          </a:p>
          <a:p>
            <a:endParaRPr lang="en-US" sz="1800" noProof="0">
              <a:solidFill>
                <a:schemeClr val="tx2"/>
              </a:solidFill>
              <a:latin typeface="Trebuchet MS" panose="020B0603020202020204" pitchFamily="34" charset="0"/>
              <a:cs typeface="Arial" panose="020B0604020202020204" pitchFamily="34" charset="0"/>
            </a:endParaRPr>
          </a:p>
          <a:p>
            <a:r>
              <a:rPr lang="en-US" sz="1800" b="1" noProof="0">
                <a:solidFill>
                  <a:schemeClr val="tx2"/>
                </a:solidFill>
                <a:latin typeface="Trebuchet MS" panose="020B0603020202020204" pitchFamily="34" charset="0"/>
                <a:cs typeface="Arial" panose="020B0604020202020204" pitchFamily="34" charset="0"/>
              </a:rPr>
              <a:t>DPU</a:t>
            </a:r>
            <a:r>
              <a:rPr lang="en-US" b="1" noProof="0">
                <a:solidFill>
                  <a:schemeClr val="tx2"/>
                </a:solidFill>
                <a:latin typeface="Trebuchet MS" panose="020B0603020202020204" pitchFamily="34" charset="0"/>
                <a:cs typeface="Arial" panose="020B0604020202020204" pitchFamily="34" charset="0"/>
              </a:rPr>
              <a:t>: </a:t>
            </a:r>
            <a:r>
              <a:rPr lang="en-US" sz="1800" noProof="0">
                <a:solidFill>
                  <a:schemeClr val="tx2"/>
                </a:solidFill>
                <a:latin typeface="Trebuchet MS" panose="020B0603020202020204" pitchFamily="34" charset="0"/>
                <a:cs typeface="Arial" panose="020B0604020202020204" pitchFamily="34" charset="0"/>
              </a:rPr>
              <a:t>12/800 = </a:t>
            </a:r>
            <a:r>
              <a:rPr lang="en-US" sz="1800" b="1" noProof="0">
                <a:solidFill>
                  <a:schemeClr val="tx2"/>
                </a:solidFill>
                <a:latin typeface="Trebuchet MS" panose="020B0603020202020204" pitchFamily="34" charset="0"/>
                <a:cs typeface="Arial" panose="020B0604020202020204" pitchFamily="34" charset="0"/>
              </a:rPr>
              <a:t>0.015</a:t>
            </a:r>
          </a:p>
          <a:p>
            <a:r>
              <a:rPr lang="en-US" sz="1800" b="1" noProof="0">
                <a:solidFill>
                  <a:schemeClr val="tx2"/>
                </a:solidFill>
                <a:latin typeface="Trebuchet MS" panose="020B0603020202020204" pitchFamily="34" charset="0"/>
                <a:cs typeface="Arial" panose="020B0604020202020204" pitchFamily="34" charset="0"/>
              </a:rPr>
              <a:t>DPMO:</a:t>
            </a:r>
            <a:r>
              <a:rPr lang="en-US" sz="1800" noProof="0">
                <a:solidFill>
                  <a:schemeClr val="tx2"/>
                </a:solidFill>
                <a:latin typeface="Trebuchet MS" panose="020B0603020202020204" pitchFamily="34" charset="0"/>
                <a:cs typeface="Arial" panose="020B0604020202020204" pitchFamily="34" charset="0"/>
              </a:rPr>
              <a:t> 0.015/20 x 1,000,000 = </a:t>
            </a:r>
            <a:r>
              <a:rPr lang="en-US" sz="1800" b="1" noProof="0">
                <a:solidFill>
                  <a:schemeClr val="tx2"/>
                </a:solidFill>
                <a:latin typeface="Trebuchet MS" panose="020B0603020202020204" pitchFamily="34" charset="0"/>
                <a:cs typeface="Arial" panose="020B0604020202020204" pitchFamily="34" charset="0"/>
              </a:rPr>
              <a:t>750</a:t>
            </a:r>
          </a:p>
          <a:p>
            <a:r>
              <a:rPr lang="en-US" sz="1800" b="1" noProof="0">
                <a:solidFill>
                  <a:schemeClr val="tx2"/>
                </a:solidFill>
                <a:latin typeface="Trebuchet MS" panose="020B0603020202020204" pitchFamily="34" charset="0"/>
                <a:cs typeface="Arial" panose="020B0604020202020204" pitchFamily="34" charset="0"/>
              </a:rPr>
              <a:t>Process Sigma: </a:t>
            </a:r>
            <a:r>
              <a:rPr lang="en-US" sz="1800" b="1" noProof="0">
                <a:solidFill>
                  <a:srgbClr val="27AAE1"/>
                </a:solidFill>
                <a:latin typeface="Trebuchet MS" panose="020B0603020202020204" pitchFamily="34" charset="0"/>
                <a:cs typeface="Arial" panose="020B0604020202020204" pitchFamily="34" charset="0"/>
              </a:rPr>
              <a:t>4.7</a:t>
            </a:r>
            <a:endParaRPr lang="en-US" b="1" noProof="0">
              <a:solidFill>
                <a:srgbClr val="27AAE1"/>
              </a:solidFill>
              <a:latin typeface="Trebuchet MS" panose="020B0603020202020204" pitchFamily="34" charset="0"/>
              <a:cs typeface="Arial" panose="020B0604020202020204" pitchFamily="34" charset="0"/>
            </a:endParaRPr>
          </a:p>
          <a:p>
            <a:endParaRPr lang="en-US" sz="1800" b="1" noProof="0">
              <a:solidFill>
                <a:srgbClr val="FF0000"/>
              </a:solidFill>
              <a:latin typeface="Trebuchet MS" panose="020B0603020202020204" pitchFamily="34" charset="0"/>
              <a:cs typeface="Arial" panose="020B0604020202020204" pitchFamily="34" charset="0"/>
            </a:endParaRPr>
          </a:p>
        </p:txBody>
      </p:sp>
      <p:sp>
        <p:nvSpPr>
          <p:cNvPr id="8" name="Rectangle: Rounded Corners 7">
            <a:extLst>
              <a:ext uri="{FF2B5EF4-FFF2-40B4-BE49-F238E27FC236}">
                <a16:creationId xmlns:a16="http://schemas.microsoft.com/office/drawing/2014/main" id="{381DA064-912C-97E7-4FC2-944ED10D6BB8}"/>
              </a:ext>
            </a:extLst>
          </p:cNvPr>
          <p:cNvSpPr/>
          <p:nvPr/>
        </p:nvSpPr>
        <p:spPr>
          <a:xfrm>
            <a:off x="4110036" y="2086059"/>
            <a:ext cx="3586163" cy="3238797"/>
          </a:xfrm>
          <a:prstGeom prst="roundRect">
            <a:avLst/>
          </a:prstGeom>
          <a:noFill/>
          <a:ln w="38100">
            <a:solidFill>
              <a:srgbClr val="27AA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noProof="0">
                <a:solidFill>
                  <a:schemeClr val="tx2"/>
                </a:solidFill>
                <a:latin typeface="Trebuchet MS" panose="020B0603020202020204" pitchFamily="34" charset="0"/>
                <a:cs typeface="Arial" panose="020B0604020202020204" pitchFamily="34" charset="0"/>
              </a:rPr>
              <a:t>Number of units: 150</a:t>
            </a:r>
          </a:p>
          <a:p>
            <a:r>
              <a:rPr lang="en-US" sz="1800" noProof="0">
                <a:solidFill>
                  <a:schemeClr val="tx2"/>
                </a:solidFill>
                <a:latin typeface="Trebuchet MS" panose="020B0603020202020204" pitchFamily="34" charset="0"/>
                <a:cs typeface="Arial" panose="020B0604020202020204" pitchFamily="34" charset="0"/>
              </a:rPr>
              <a:t>Number of opportunities: 7</a:t>
            </a:r>
          </a:p>
          <a:p>
            <a:r>
              <a:rPr lang="en-US" sz="1800" noProof="0">
                <a:solidFill>
                  <a:schemeClr val="tx2"/>
                </a:solidFill>
                <a:latin typeface="Trebuchet MS" panose="020B0603020202020204" pitchFamily="34" charset="0"/>
                <a:cs typeface="Arial" panose="020B0604020202020204" pitchFamily="34" charset="0"/>
              </a:rPr>
              <a:t>Total number of defects: 10</a:t>
            </a:r>
          </a:p>
          <a:p>
            <a:endParaRPr lang="en-US" sz="1800" noProof="0">
              <a:solidFill>
                <a:schemeClr val="tx2"/>
              </a:solidFill>
              <a:latin typeface="Trebuchet MS" panose="020B0603020202020204" pitchFamily="34" charset="0"/>
              <a:cs typeface="Arial" panose="020B0604020202020204" pitchFamily="34" charset="0"/>
            </a:endParaRPr>
          </a:p>
          <a:p>
            <a:r>
              <a:rPr lang="en-US" sz="1800" b="1" noProof="0">
                <a:solidFill>
                  <a:schemeClr val="tx2"/>
                </a:solidFill>
                <a:latin typeface="Trebuchet MS" panose="020B0603020202020204" pitchFamily="34" charset="0"/>
                <a:cs typeface="Arial" panose="020B0604020202020204" pitchFamily="34" charset="0"/>
              </a:rPr>
              <a:t>DPU:</a:t>
            </a:r>
            <a:r>
              <a:rPr lang="en-US" sz="1800" noProof="0">
                <a:solidFill>
                  <a:schemeClr val="tx2"/>
                </a:solidFill>
                <a:latin typeface="Trebuchet MS" panose="020B0603020202020204" pitchFamily="34" charset="0"/>
                <a:cs typeface="Arial" panose="020B0604020202020204" pitchFamily="34" charset="0"/>
              </a:rPr>
              <a:t> 10/150 – 0.066</a:t>
            </a:r>
          </a:p>
          <a:p>
            <a:r>
              <a:rPr lang="en-US" sz="1800" b="1" noProof="0">
                <a:solidFill>
                  <a:schemeClr val="tx2"/>
                </a:solidFill>
                <a:latin typeface="Trebuchet MS" panose="020B0603020202020204" pitchFamily="34" charset="0"/>
                <a:cs typeface="Arial" panose="020B0604020202020204" pitchFamily="34" charset="0"/>
              </a:rPr>
              <a:t>DPMO: </a:t>
            </a:r>
            <a:r>
              <a:rPr lang="en-US" sz="1800" noProof="0">
                <a:solidFill>
                  <a:schemeClr val="tx2"/>
                </a:solidFill>
                <a:latin typeface="Trebuchet MS" panose="020B0603020202020204" pitchFamily="34" charset="0"/>
                <a:cs typeface="Arial" panose="020B0604020202020204" pitchFamily="34" charset="0"/>
              </a:rPr>
              <a:t>0.066/7 x 1,000,000 = </a:t>
            </a:r>
            <a:r>
              <a:rPr lang="en-US" sz="1800" b="1" noProof="0">
                <a:solidFill>
                  <a:schemeClr val="tx2"/>
                </a:solidFill>
                <a:latin typeface="Trebuchet MS" panose="020B0603020202020204" pitchFamily="34" charset="0"/>
                <a:cs typeface="Arial" panose="020B0604020202020204" pitchFamily="34" charset="0"/>
              </a:rPr>
              <a:t>9,428</a:t>
            </a:r>
            <a:endParaRPr lang="en-US" sz="1800" noProof="0">
              <a:solidFill>
                <a:schemeClr val="tx2"/>
              </a:solidFill>
              <a:latin typeface="Trebuchet MS" panose="020B0603020202020204" pitchFamily="34" charset="0"/>
              <a:cs typeface="Arial" panose="020B0604020202020204" pitchFamily="34" charset="0"/>
            </a:endParaRPr>
          </a:p>
          <a:p>
            <a:r>
              <a:rPr lang="en-US" sz="1800" b="1" noProof="0">
                <a:solidFill>
                  <a:schemeClr val="tx2"/>
                </a:solidFill>
                <a:latin typeface="Trebuchet MS" panose="020B0603020202020204" pitchFamily="34" charset="0"/>
                <a:cs typeface="Arial" panose="020B0604020202020204" pitchFamily="34" charset="0"/>
              </a:rPr>
              <a:t>Process Sigma: </a:t>
            </a:r>
            <a:r>
              <a:rPr lang="en-US" sz="1800" b="1" noProof="0">
                <a:solidFill>
                  <a:srgbClr val="27AAE1"/>
                </a:solidFill>
                <a:latin typeface="Trebuchet MS" panose="020B0603020202020204" pitchFamily="34" charset="0"/>
                <a:cs typeface="Arial" panose="020B0604020202020204" pitchFamily="34" charset="0"/>
              </a:rPr>
              <a:t>4.0</a:t>
            </a:r>
          </a:p>
          <a:p>
            <a:endParaRPr lang="en-US" b="1" noProof="0">
              <a:solidFill>
                <a:schemeClr val="tx2"/>
              </a:solidFill>
              <a:latin typeface="Trebuchet MS" panose="020B0603020202020204" pitchFamily="34" charset="0"/>
              <a:cs typeface="Arial" panose="020B0604020202020204" pitchFamily="34" charset="0"/>
            </a:endParaRPr>
          </a:p>
        </p:txBody>
      </p:sp>
      <p:sp>
        <p:nvSpPr>
          <p:cNvPr id="9" name="Rectangle: Rounded Corners 8">
            <a:extLst>
              <a:ext uri="{FF2B5EF4-FFF2-40B4-BE49-F238E27FC236}">
                <a16:creationId xmlns:a16="http://schemas.microsoft.com/office/drawing/2014/main" id="{2027CC93-0275-3229-BC74-0D03AA20689E}"/>
              </a:ext>
            </a:extLst>
          </p:cNvPr>
          <p:cNvSpPr/>
          <p:nvPr/>
        </p:nvSpPr>
        <p:spPr>
          <a:xfrm>
            <a:off x="7799832" y="2086059"/>
            <a:ext cx="3586163" cy="3238797"/>
          </a:xfrm>
          <a:prstGeom prst="roundRect">
            <a:avLst/>
          </a:prstGeom>
          <a:noFill/>
          <a:ln w="38100">
            <a:solidFill>
              <a:srgbClr val="27AA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800" noProof="0">
              <a:solidFill>
                <a:schemeClr val="tx2"/>
              </a:solidFill>
              <a:latin typeface="Trebuchet MS" panose="020B0603020202020204" pitchFamily="34" charset="0"/>
              <a:cs typeface="Arial" panose="020B0604020202020204" pitchFamily="34" charset="0"/>
            </a:endParaRPr>
          </a:p>
          <a:p>
            <a:endParaRPr lang="en-US" noProof="0">
              <a:solidFill>
                <a:schemeClr val="tx2"/>
              </a:solidFill>
              <a:latin typeface="Trebuchet MS" panose="020B0603020202020204" pitchFamily="34" charset="0"/>
              <a:cs typeface="Arial" panose="020B0604020202020204" pitchFamily="34" charset="0"/>
            </a:endParaRPr>
          </a:p>
          <a:p>
            <a:r>
              <a:rPr lang="en-US" sz="1800" noProof="0">
                <a:solidFill>
                  <a:schemeClr val="tx2"/>
                </a:solidFill>
                <a:latin typeface="Trebuchet MS" panose="020B0603020202020204" pitchFamily="34" charset="0"/>
                <a:cs typeface="Arial" panose="020B0604020202020204" pitchFamily="34" charset="0"/>
              </a:rPr>
              <a:t>Number of units: 75</a:t>
            </a:r>
          </a:p>
          <a:p>
            <a:r>
              <a:rPr lang="en-US" sz="1800" noProof="0">
                <a:solidFill>
                  <a:schemeClr val="tx2"/>
                </a:solidFill>
                <a:latin typeface="Trebuchet MS" panose="020B0603020202020204" pitchFamily="34" charset="0"/>
                <a:cs typeface="Arial" panose="020B0604020202020204" pitchFamily="34" charset="0"/>
              </a:rPr>
              <a:t>Number of opportunities: 9</a:t>
            </a:r>
          </a:p>
          <a:p>
            <a:r>
              <a:rPr lang="en-US" sz="1800" noProof="0">
                <a:solidFill>
                  <a:schemeClr val="tx2"/>
                </a:solidFill>
                <a:latin typeface="Trebuchet MS" panose="020B0603020202020204" pitchFamily="34" charset="0"/>
                <a:cs typeface="Arial" panose="020B0604020202020204" pitchFamily="34" charset="0"/>
              </a:rPr>
              <a:t>Total number of defects: 7</a:t>
            </a:r>
          </a:p>
          <a:p>
            <a:endParaRPr lang="en-US" sz="1800" b="1" noProof="0">
              <a:solidFill>
                <a:schemeClr val="tx2"/>
              </a:solidFill>
              <a:latin typeface="Trebuchet MS" panose="020B0603020202020204" pitchFamily="34" charset="0"/>
              <a:cs typeface="Arial" panose="020B0604020202020204" pitchFamily="34" charset="0"/>
            </a:endParaRPr>
          </a:p>
          <a:p>
            <a:r>
              <a:rPr lang="en-US" sz="1800" b="1" noProof="0">
                <a:solidFill>
                  <a:schemeClr val="tx2"/>
                </a:solidFill>
                <a:latin typeface="Trebuchet MS" panose="020B0603020202020204" pitchFamily="34" charset="0"/>
                <a:cs typeface="Arial" panose="020B0604020202020204" pitchFamily="34" charset="0"/>
              </a:rPr>
              <a:t>DPU:</a:t>
            </a:r>
            <a:r>
              <a:rPr lang="en-US" sz="1800" noProof="0">
                <a:solidFill>
                  <a:schemeClr val="tx2"/>
                </a:solidFill>
                <a:latin typeface="Trebuchet MS" panose="020B0603020202020204" pitchFamily="34" charset="0"/>
                <a:cs typeface="Arial" panose="020B0604020202020204" pitchFamily="34" charset="0"/>
              </a:rPr>
              <a:t> 7/75 = 0.093</a:t>
            </a:r>
          </a:p>
          <a:p>
            <a:r>
              <a:rPr lang="en-US" sz="1800" b="1" noProof="0">
                <a:solidFill>
                  <a:schemeClr val="tx2"/>
                </a:solidFill>
                <a:latin typeface="Trebuchet MS" panose="020B0603020202020204" pitchFamily="34" charset="0"/>
                <a:cs typeface="Arial" panose="020B0604020202020204" pitchFamily="34" charset="0"/>
              </a:rPr>
              <a:t>DPMO: </a:t>
            </a:r>
            <a:r>
              <a:rPr lang="en-US" sz="1800" noProof="0">
                <a:solidFill>
                  <a:schemeClr val="tx2"/>
                </a:solidFill>
                <a:latin typeface="Trebuchet MS" panose="020B0603020202020204" pitchFamily="34" charset="0"/>
                <a:cs typeface="Arial" panose="020B0604020202020204" pitchFamily="34" charset="0"/>
              </a:rPr>
              <a:t>0.093/9 x 1,000,000 = </a:t>
            </a:r>
          </a:p>
          <a:p>
            <a:r>
              <a:rPr lang="en-US" sz="1800" b="1" noProof="0">
                <a:solidFill>
                  <a:schemeClr val="tx2"/>
                </a:solidFill>
                <a:latin typeface="Trebuchet MS" panose="020B0603020202020204" pitchFamily="34" charset="0"/>
                <a:cs typeface="Arial" panose="020B0604020202020204" pitchFamily="34" charset="0"/>
              </a:rPr>
              <a:t>10,370</a:t>
            </a:r>
            <a:endParaRPr lang="en-US" sz="1800" noProof="0">
              <a:solidFill>
                <a:schemeClr val="tx2"/>
              </a:solidFill>
              <a:latin typeface="Trebuchet MS" panose="020B0603020202020204" pitchFamily="34" charset="0"/>
              <a:cs typeface="Arial" panose="020B0604020202020204" pitchFamily="34" charset="0"/>
            </a:endParaRPr>
          </a:p>
          <a:p>
            <a:r>
              <a:rPr lang="en-US" sz="1800" b="1" noProof="0">
                <a:solidFill>
                  <a:schemeClr val="tx2"/>
                </a:solidFill>
                <a:latin typeface="Trebuchet MS" panose="020B0603020202020204" pitchFamily="34" charset="0"/>
                <a:cs typeface="Arial" panose="020B0604020202020204" pitchFamily="34" charset="0"/>
              </a:rPr>
              <a:t>Process Sigma: </a:t>
            </a:r>
            <a:r>
              <a:rPr lang="en-US" sz="1800" b="1" noProof="0">
                <a:solidFill>
                  <a:srgbClr val="27AAE1"/>
                </a:solidFill>
                <a:latin typeface="Trebuchet MS" panose="020B0603020202020204" pitchFamily="34" charset="0"/>
                <a:cs typeface="Arial" panose="020B0604020202020204" pitchFamily="34" charset="0"/>
              </a:rPr>
              <a:t>3.8</a:t>
            </a:r>
          </a:p>
          <a:p>
            <a:endParaRPr lang="en-US" sz="1800" noProof="0">
              <a:solidFill>
                <a:schemeClr val="tx2"/>
              </a:solidFill>
              <a:latin typeface="Trebuchet MS" panose="020B0603020202020204" pitchFamily="34" charset="0"/>
              <a:cs typeface="Arial" panose="020B0604020202020204" pitchFamily="34" charset="0"/>
            </a:endParaRPr>
          </a:p>
          <a:p>
            <a:endParaRPr lang="en-US" b="1" noProof="0">
              <a:solidFill>
                <a:schemeClr val="tx2"/>
              </a:solidFill>
              <a:latin typeface="Trebuchet MS" panose="020B0603020202020204" pitchFamily="34" charset="0"/>
              <a:cs typeface="Arial" panose="020B0604020202020204" pitchFamily="34" charset="0"/>
            </a:endParaRPr>
          </a:p>
          <a:p>
            <a:endParaRPr lang="en-US" sz="1800" b="1" noProof="0">
              <a:solidFill>
                <a:srgbClr val="FF0000"/>
              </a:solidFill>
              <a:latin typeface="Trebuchet MS" panose="020B0603020202020204" pitchFamily="34" charset="0"/>
              <a:cs typeface="Arial" panose="020B0604020202020204" pitchFamily="34" charset="0"/>
            </a:endParaRPr>
          </a:p>
        </p:txBody>
      </p:sp>
    </p:spTree>
    <p:extLst>
      <p:ext uri="{BB962C8B-B14F-4D97-AF65-F5344CB8AC3E}">
        <p14:creationId xmlns:p14="http://schemas.microsoft.com/office/powerpoint/2010/main" val="432638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8"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3F2C3596-268B-B743-9A90-FAC16A531B56}"/>
              </a:ext>
            </a:extLst>
          </p:cNvPr>
          <p:cNvSpPr>
            <a:spLocks noGrp="1"/>
          </p:cNvSpPr>
          <p:nvPr>
            <p:ph type="body" sz="quarter" idx="10"/>
          </p:nvPr>
        </p:nvSpPr>
        <p:spPr>
          <a:xfrm>
            <a:off x="533400" y="4343400"/>
            <a:ext cx="5562600" cy="984885"/>
          </a:xfrm>
        </p:spPr>
        <p:txBody>
          <a:bodyPr/>
          <a:lstStyle/>
          <a:p>
            <a:r>
              <a:rPr lang="en-US" sz="3200" noProof="0"/>
              <a:t>Exploring Opportunities for Improvement</a:t>
            </a:r>
          </a:p>
        </p:txBody>
      </p:sp>
      <p:sp>
        <p:nvSpPr>
          <p:cNvPr id="7" name="Text Placeholder 6">
            <a:extLst>
              <a:ext uri="{FF2B5EF4-FFF2-40B4-BE49-F238E27FC236}">
                <a16:creationId xmlns:a16="http://schemas.microsoft.com/office/drawing/2014/main" id="{8D3A1520-3560-7247-8EF4-BDA54252B5C8}"/>
              </a:ext>
            </a:extLst>
          </p:cNvPr>
          <p:cNvSpPr>
            <a:spLocks noGrp="1"/>
          </p:cNvSpPr>
          <p:nvPr>
            <p:ph type="body" sz="quarter" idx="12"/>
          </p:nvPr>
        </p:nvSpPr>
        <p:spPr>
          <a:xfrm>
            <a:off x="530280" y="3505200"/>
            <a:ext cx="914400" cy="492443"/>
          </a:xfrm>
        </p:spPr>
        <p:txBody>
          <a:bodyPr/>
          <a:lstStyle/>
          <a:p>
            <a:r>
              <a:rPr lang="en-US" sz="3200" noProof="0"/>
              <a:t>3</a:t>
            </a:r>
          </a:p>
        </p:txBody>
      </p:sp>
      <p:sp>
        <p:nvSpPr>
          <p:cNvPr id="2" name="Text Placeholder 5">
            <a:extLst>
              <a:ext uri="{FF2B5EF4-FFF2-40B4-BE49-F238E27FC236}">
                <a16:creationId xmlns:a16="http://schemas.microsoft.com/office/drawing/2014/main" id="{B78AE2FA-45C2-C348-0751-5F56ED7908E9}"/>
              </a:ext>
            </a:extLst>
          </p:cNvPr>
          <p:cNvSpPr>
            <a:spLocks noGrp="1"/>
          </p:cNvSpPr>
          <p:nvPr>
            <p:ph type="body" sz="quarter" idx="11"/>
          </p:nvPr>
        </p:nvSpPr>
        <p:spPr>
          <a:xfrm>
            <a:off x="533400" y="5971962"/>
            <a:ext cx="2743200" cy="384721"/>
          </a:xfrm>
        </p:spPr>
        <p:txBody>
          <a:bodyPr/>
          <a:lstStyle/>
          <a:p>
            <a:r>
              <a:rPr lang="en-US" noProof="0"/>
              <a:t>Summarizing Data</a:t>
            </a:r>
          </a:p>
        </p:txBody>
      </p:sp>
    </p:spTree>
    <p:extLst>
      <p:ext uri="{BB962C8B-B14F-4D97-AF65-F5344CB8AC3E}">
        <p14:creationId xmlns:p14="http://schemas.microsoft.com/office/powerpoint/2010/main" val="2606706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2"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65B93B2F-2908-50C2-F779-0B1BCB8CAD01}"/>
              </a:ext>
            </a:extLst>
          </p:cNvPr>
          <p:cNvSpPr>
            <a:spLocks noGrp="1"/>
          </p:cNvSpPr>
          <p:nvPr>
            <p:ph type="body" sz="quarter" idx="10"/>
          </p:nvPr>
        </p:nvSpPr>
        <p:spPr>
          <a:xfrm>
            <a:off x="406952" y="380112"/>
            <a:ext cx="8686800" cy="492443"/>
          </a:xfrm>
        </p:spPr>
        <p:txBody>
          <a:bodyPr/>
          <a:lstStyle/>
          <a:p>
            <a:r>
              <a:rPr lang="en-US" sz="3200" noProof="0">
                <a:latin typeface="Trebuchet MS" panose="020B0603020202020204" pitchFamily="34" charset="0"/>
              </a:rPr>
              <a:t>Activity - Opportunity for Improvement</a:t>
            </a:r>
          </a:p>
        </p:txBody>
      </p:sp>
      <p:sp>
        <p:nvSpPr>
          <p:cNvPr id="12" name="Rectangle: Rounded Corners 11">
            <a:extLst>
              <a:ext uri="{FF2B5EF4-FFF2-40B4-BE49-F238E27FC236}">
                <a16:creationId xmlns:a16="http://schemas.microsoft.com/office/drawing/2014/main" id="{869C4A9D-F73F-74B5-F31C-77F250C86D0C}"/>
              </a:ext>
            </a:extLst>
          </p:cNvPr>
          <p:cNvSpPr/>
          <p:nvPr/>
        </p:nvSpPr>
        <p:spPr>
          <a:xfrm>
            <a:off x="7543800" y="2681431"/>
            <a:ext cx="3886198" cy="2158257"/>
          </a:xfrm>
          <a:prstGeom prst="roundRect">
            <a:avLst/>
          </a:prstGeom>
          <a:solidFill>
            <a:srgbClr val="27AAE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latin typeface="Trebuchet MS" panose="020B0603020202020204" pitchFamily="34" charset="0"/>
                <a:cs typeface="Arial" panose="020B0604020202020204" pitchFamily="34" charset="0"/>
              </a:rPr>
              <a:t>Opportunities</a:t>
            </a:r>
          </a:p>
          <a:p>
            <a:pPr algn="ctr"/>
            <a:endParaRPr lang="en-US"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Each information pack has:</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cs typeface="Arial" panose="020B0604020202020204" pitchFamily="34" charset="0"/>
              </a:rPr>
              <a:t>20 Pages</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cs typeface="Arial" panose="020B0604020202020204" pitchFamily="34" charset="0"/>
              </a:rPr>
              <a:t>15 high resolution images</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cs typeface="Arial" panose="020B0604020202020204" pitchFamily="34" charset="0"/>
              </a:rPr>
              <a:t>5 printing &amp; finishing process steps</a:t>
            </a:r>
          </a:p>
          <a:p>
            <a:r>
              <a:rPr lang="en-US" sz="1400" noProof="0">
                <a:solidFill>
                  <a:schemeClr val="bg1"/>
                </a:solidFill>
                <a:latin typeface="Trebuchet MS" panose="020B0603020202020204" pitchFamily="34" charset="0"/>
                <a:cs typeface="Arial" panose="020B0604020202020204" pitchFamily="34" charset="0"/>
              </a:rPr>
              <a:t>= 40 opportunities for defect</a:t>
            </a:r>
          </a:p>
        </p:txBody>
      </p:sp>
      <p:sp>
        <p:nvSpPr>
          <p:cNvPr id="9" name="Rectangle: Rounded Corners 8">
            <a:extLst>
              <a:ext uri="{FF2B5EF4-FFF2-40B4-BE49-F238E27FC236}">
                <a16:creationId xmlns:a16="http://schemas.microsoft.com/office/drawing/2014/main" id="{436AD0DB-5005-2597-0E02-109C163FEF73}"/>
              </a:ext>
            </a:extLst>
          </p:cNvPr>
          <p:cNvSpPr/>
          <p:nvPr/>
        </p:nvSpPr>
        <p:spPr>
          <a:xfrm>
            <a:off x="444163" y="2286000"/>
            <a:ext cx="5906450" cy="3129933"/>
          </a:xfrm>
          <a:prstGeom prst="roundRect">
            <a:avLst/>
          </a:prstGeom>
          <a:solidFill>
            <a:srgbClr val="24408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Our Communications Team sampled 100 updated information packs and found 5 defects.</a:t>
            </a:r>
          </a:p>
          <a:p>
            <a:endParaRPr lang="en-US" sz="1400"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These included:</a:t>
            </a:r>
          </a:p>
          <a:p>
            <a:endParaRPr lang="en-US" sz="1400" noProof="0">
              <a:solidFill>
                <a:schemeClr val="bg1"/>
              </a:solidFill>
              <a:latin typeface="Trebuchet MS" panose="020B0603020202020204" pitchFamily="34" charset="0"/>
              <a:cs typeface="Arial" panose="020B0604020202020204" pitchFamily="34" charset="0"/>
            </a:endParaRP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Spelling errors</a:t>
            </a: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Incorrect color palette</a:t>
            </a: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Missing content</a:t>
            </a: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Image distortion</a:t>
            </a: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Missing staples</a:t>
            </a:r>
          </a:p>
          <a:p>
            <a:endParaRPr lang="en-US" sz="1400"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DPU: Defects per unit (DPU) was 0.05 (5/100)</a:t>
            </a:r>
          </a:p>
          <a:p>
            <a:r>
              <a:rPr lang="en-US" sz="1400" noProof="0">
                <a:solidFill>
                  <a:schemeClr val="bg1"/>
                </a:solidFill>
                <a:latin typeface="Trebuchet MS" panose="020B0603020202020204" pitchFamily="34" charset="0"/>
                <a:cs typeface="Arial" panose="020B0604020202020204" pitchFamily="34" charset="0"/>
              </a:rPr>
              <a:t>DPMO: DPU/Opportunities x by 1,000,000 = 1,250 </a:t>
            </a:r>
          </a:p>
          <a:p>
            <a:endParaRPr lang="en-US" sz="1400"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p:txBody>
      </p:sp>
      <p:sp>
        <p:nvSpPr>
          <p:cNvPr id="13" name="Rectangle: Rounded Corners 12">
            <a:extLst>
              <a:ext uri="{FF2B5EF4-FFF2-40B4-BE49-F238E27FC236}">
                <a16:creationId xmlns:a16="http://schemas.microsoft.com/office/drawing/2014/main" id="{65E38915-155C-D01E-0EB3-2F7925DCE2F8}"/>
              </a:ext>
            </a:extLst>
          </p:cNvPr>
          <p:cNvSpPr/>
          <p:nvPr/>
        </p:nvSpPr>
        <p:spPr>
          <a:xfrm>
            <a:off x="1327456" y="5554576"/>
            <a:ext cx="3886200"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noProof="0">
                <a:solidFill>
                  <a:schemeClr val="tx2">
                    <a:lumMod val="50000"/>
                  </a:schemeClr>
                </a:solidFill>
                <a:latin typeface="Trebuchet MS" panose="020B0603020202020204" pitchFamily="34" charset="0"/>
                <a:cs typeface="Arial" panose="020B0604020202020204" pitchFamily="34" charset="0"/>
              </a:rPr>
              <a:t>Using the table - what is the Sigma?</a:t>
            </a:r>
          </a:p>
        </p:txBody>
      </p:sp>
      <p:sp>
        <p:nvSpPr>
          <p:cNvPr id="14" name="Rectangle: Rounded Corners 13">
            <a:extLst>
              <a:ext uri="{FF2B5EF4-FFF2-40B4-BE49-F238E27FC236}">
                <a16:creationId xmlns:a16="http://schemas.microsoft.com/office/drawing/2014/main" id="{7918BAE7-964F-2442-7C5B-54EDA4CA26D0}"/>
              </a:ext>
            </a:extLst>
          </p:cNvPr>
          <p:cNvSpPr/>
          <p:nvPr/>
        </p:nvSpPr>
        <p:spPr>
          <a:xfrm>
            <a:off x="7962899" y="5050351"/>
            <a:ext cx="3048000"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noProof="0">
                <a:solidFill>
                  <a:schemeClr val="tx2">
                    <a:lumMod val="50000"/>
                  </a:schemeClr>
                </a:solidFill>
                <a:latin typeface="Trebuchet MS" panose="020B0603020202020204" pitchFamily="34" charset="0"/>
                <a:cs typeface="Arial" panose="020B0604020202020204" pitchFamily="34" charset="0"/>
              </a:rPr>
              <a:t>Using the table - what is the Sigma now?</a:t>
            </a:r>
          </a:p>
        </p:txBody>
      </p:sp>
      <p:sp>
        <p:nvSpPr>
          <p:cNvPr id="2" name="Arrow: Right 1">
            <a:extLst>
              <a:ext uri="{FF2B5EF4-FFF2-40B4-BE49-F238E27FC236}">
                <a16:creationId xmlns:a16="http://schemas.microsoft.com/office/drawing/2014/main" id="{023784DA-04E2-345A-97FF-EEFE917DD535}"/>
              </a:ext>
            </a:extLst>
          </p:cNvPr>
          <p:cNvSpPr/>
          <p:nvPr/>
        </p:nvSpPr>
        <p:spPr>
          <a:xfrm>
            <a:off x="6528074" y="3362887"/>
            <a:ext cx="838264" cy="795344"/>
          </a:xfrm>
          <a:prstGeom prst="rightArrow">
            <a:avLst/>
          </a:prstGeom>
          <a:solidFill>
            <a:srgbClr val="FDBA13"/>
          </a:solidFill>
          <a:ln>
            <a:solidFill>
              <a:srgbClr val="FDBA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endParaRPr>
          </a:p>
        </p:txBody>
      </p:sp>
      <p:sp>
        <p:nvSpPr>
          <p:cNvPr id="3" name="Rectangle: Rounded Corners 2">
            <a:extLst>
              <a:ext uri="{FF2B5EF4-FFF2-40B4-BE49-F238E27FC236}">
                <a16:creationId xmlns:a16="http://schemas.microsoft.com/office/drawing/2014/main" id="{5A551FA2-6C1D-7E5B-601E-EEB678EE396F}"/>
              </a:ext>
            </a:extLst>
          </p:cNvPr>
          <p:cNvSpPr/>
          <p:nvPr/>
        </p:nvSpPr>
        <p:spPr>
          <a:xfrm flipH="1">
            <a:off x="355875" y="1461556"/>
            <a:ext cx="11480249" cy="685801"/>
          </a:xfrm>
          <a:prstGeom prst="roundRect">
            <a:avLst/>
          </a:prstGeom>
          <a:noFill/>
          <a:ln>
            <a:solidFill>
              <a:srgbClr val="27AAE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noProof="0">
                <a:solidFill>
                  <a:srgbClr val="002060"/>
                </a:solidFill>
                <a:latin typeface="Trebuchet MS" panose="020B0603020202020204" pitchFamily="34" charset="0"/>
                <a:cs typeface="Arial"/>
              </a:rPr>
              <a:t>The business has recently launched an employee information pack and has arranged for printing with its new supplier.</a:t>
            </a:r>
            <a:endParaRPr lang="en-US" sz="1600" b="1" noProof="0">
              <a:solidFill>
                <a:srgbClr val="002060"/>
              </a:solidFill>
              <a:latin typeface="Trebuchet MS" panose="020B0603020202020204" pitchFamily="34" charset="0"/>
              <a:cs typeface="Arial" panose="020B0604020202020204" pitchFamily="34" charset="0"/>
            </a:endParaRPr>
          </a:p>
        </p:txBody>
      </p:sp>
    </p:spTree>
    <p:extLst>
      <p:ext uri="{BB962C8B-B14F-4D97-AF65-F5344CB8AC3E}">
        <p14:creationId xmlns:p14="http://schemas.microsoft.com/office/powerpoint/2010/main" val="909381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9" grpId="0" animBg="1"/>
      <p:bldP spid="13" grpId="0" animBg="1"/>
      <p:bldP spid="14" grpId="0" animBg="1"/>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A3017-599B-11B3-8682-A5C260737241}"/>
            </a:ext>
          </a:extLst>
        </p:cNvPr>
        <p:cNvGrpSpPr/>
        <p:nvPr/>
      </p:nvGrpSpPr>
      <p:grpSpPr>
        <a:xfrm>
          <a:off x="0" y="0"/>
          <a:ext cx="1" cy="1"/>
          <a:chOff x="0" y="0"/>
          <a:chExt cx="1" cy="1"/>
        </a:xfrm>
      </p:grpSpPr>
      <p:sp>
        <p:nvSpPr>
          <p:cNvPr id="5" name="Text Placeholder 4">
            <a:extLst>
              <a:ext uri="{FF2B5EF4-FFF2-40B4-BE49-F238E27FC236}">
                <a16:creationId xmlns:a16="http://schemas.microsoft.com/office/drawing/2014/main" id="{BCF45E42-AE76-5268-95E7-290F0C55AEF8}"/>
              </a:ext>
            </a:extLst>
          </p:cNvPr>
          <p:cNvSpPr>
            <a:spLocks noGrp="1"/>
          </p:cNvSpPr>
          <p:nvPr>
            <p:ph type="body" sz="quarter" idx="10"/>
          </p:nvPr>
        </p:nvSpPr>
        <p:spPr>
          <a:xfrm>
            <a:off x="406952" y="380112"/>
            <a:ext cx="8686800" cy="492443"/>
          </a:xfrm>
        </p:spPr>
        <p:txBody>
          <a:bodyPr/>
          <a:lstStyle/>
          <a:p>
            <a:r>
              <a:rPr lang="en-US" sz="3200" noProof="0">
                <a:latin typeface="Trebuchet MS" panose="020B0603020202020204" pitchFamily="34" charset="0"/>
              </a:rPr>
              <a:t>Activity - Opportunity for Improvement</a:t>
            </a:r>
          </a:p>
        </p:txBody>
      </p:sp>
      <p:sp>
        <p:nvSpPr>
          <p:cNvPr id="12" name="Rectangle: Rounded Corners 11">
            <a:extLst>
              <a:ext uri="{FF2B5EF4-FFF2-40B4-BE49-F238E27FC236}">
                <a16:creationId xmlns:a16="http://schemas.microsoft.com/office/drawing/2014/main" id="{D1F000F1-5C43-BB43-10CE-37360EFC368C}"/>
              </a:ext>
            </a:extLst>
          </p:cNvPr>
          <p:cNvSpPr/>
          <p:nvPr/>
        </p:nvSpPr>
        <p:spPr>
          <a:xfrm>
            <a:off x="7543800" y="2681431"/>
            <a:ext cx="3886198" cy="2158257"/>
          </a:xfrm>
          <a:prstGeom prst="roundRect">
            <a:avLst/>
          </a:prstGeom>
          <a:solidFill>
            <a:srgbClr val="27AAE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latin typeface="Trebuchet MS" panose="020B0603020202020204" pitchFamily="34" charset="0"/>
                <a:cs typeface="Arial" panose="020B0604020202020204" pitchFamily="34" charset="0"/>
              </a:rPr>
              <a:t>Opportunities</a:t>
            </a:r>
          </a:p>
          <a:p>
            <a:pPr algn="ctr"/>
            <a:endParaRPr lang="en-US"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Each information pack has:</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cs typeface="Arial" panose="020B0604020202020204" pitchFamily="34" charset="0"/>
              </a:rPr>
              <a:t>20 pages</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cs typeface="Arial" panose="020B0604020202020204" pitchFamily="34" charset="0"/>
              </a:rPr>
              <a:t>15 high resolution images</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cs typeface="Arial" panose="020B0604020202020204" pitchFamily="34" charset="0"/>
              </a:rPr>
              <a:t>5 printing &amp; finishing process steps</a:t>
            </a:r>
          </a:p>
          <a:p>
            <a:r>
              <a:rPr lang="en-US" sz="1400" noProof="0">
                <a:solidFill>
                  <a:schemeClr val="bg1"/>
                </a:solidFill>
                <a:latin typeface="Trebuchet MS" panose="020B0603020202020204" pitchFamily="34" charset="0"/>
                <a:cs typeface="Arial" panose="020B0604020202020204" pitchFamily="34" charset="0"/>
              </a:rPr>
              <a:t>= 40 opportunities for defect</a:t>
            </a:r>
          </a:p>
        </p:txBody>
      </p:sp>
      <p:sp>
        <p:nvSpPr>
          <p:cNvPr id="10" name="Rectangle: Rounded Corners 9">
            <a:extLst>
              <a:ext uri="{FF2B5EF4-FFF2-40B4-BE49-F238E27FC236}">
                <a16:creationId xmlns:a16="http://schemas.microsoft.com/office/drawing/2014/main" id="{8E471116-629B-625C-7046-8299256BF3FC}"/>
              </a:ext>
            </a:extLst>
          </p:cNvPr>
          <p:cNvSpPr/>
          <p:nvPr/>
        </p:nvSpPr>
        <p:spPr>
          <a:xfrm flipH="1">
            <a:off x="406949" y="1442067"/>
            <a:ext cx="11480249" cy="685801"/>
          </a:xfrm>
          <a:prstGeom prst="roundRect">
            <a:avLst/>
          </a:prstGeom>
          <a:noFill/>
          <a:ln>
            <a:solidFill>
              <a:srgbClr val="27AAE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noProof="0">
                <a:solidFill>
                  <a:srgbClr val="002060"/>
                </a:solidFill>
                <a:latin typeface="Trebuchet MS" panose="020B0603020202020204" pitchFamily="34" charset="0"/>
                <a:cs typeface="Arial"/>
              </a:rPr>
              <a:t>The business has recently launched an employee information pack and has arranged for printing with its new supplier.</a:t>
            </a:r>
            <a:endParaRPr lang="en-US" sz="1600" b="1" noProof="0">
              <a:solidFill>
                <a:srgbClr val="002060"/>
              </a:solidFill>
              <a:latin typeface="Trebuchet MS" panose="020B0603020202020204" pitchFamily="34" charset="0"/>
              <a:cs typeface="Arial" panose="020B0604020202020204" pitchFamily="34" charset="0"/>
            </a:endParaRPr>
          </a:p>
        </p:txBody>
      </p:sp>
      <p:sp>
        <p:nvSpPr>
          <p:cNvPr id="2" name="Arrow: Right 1">
            <a:extLst>
              <a:ext uri="{FF2B5EF4-FFF2-40B4-BE49-F238E27FC236}">
                <a16:creationId xmlns:a16="http://schemas.microsoft.com/office/drawing/2014/main" id="{CB463BEF-D612-965A-676D-04FB9BDFCA42}"/>
              </a:ext>
            </a:extLst>
          </p:cNvPr>
          <p:cNvSpPr/>
          <p:nvPr/>
        </p:nvSpPr>
        <p:spPr>
          <a:xfrm>
            <a:off x="6528074" y="3362887"/>
            <a:ext cx="838264" cy="795344"/>
          </a:xfrm>
          <a:prstGeom prst="rightArrow">
            <a:avLst/>
          </a:prstGeom>
          <a:solidFill>
            <a:srgbClr val="FDBA13"/>
          </a:solidFill>
          <a:ln>
            <a:solidFill>
              <a:srgbClr val="FDBA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endParaRPr>
          </a:p>
        </p:txBody>
      </p:sp>
      <p:sp>
        <p:nvSpPr>
          <p:cNvPr id="3" name="Rectangle: Rounded Corners 2">
            <a:extLst>
              <a:ext uri="{FF2B5EF4-FFF2-40B4-BE49-F238E27FC236}">
                <a16:creationId xmlns:a16="http://schemas.microsoft.com/office/drawing/2014/main" id="{E6EEE501-3CB0-1CEC-0195-18AE21159FDD}"/>
              </a:ext>
            </a:extLst>
          </p:cNvPr>
          <p:cNvSpPr/>
          <p:nvPr/>
        </p:nvSpPr>
        <p:spPr>
          <a:xfrm>
            <a:off x="8001000" y="5589899"/>
            <a:ext cx="3200147"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noProof="0">
                <a:solidFill>
                  <a:srgbClr val="24408D"/>
                </a:solidFill>
                <a:latin typeface="Trebuchet MS" panose="020B0603020202020204" pitchFamily="34" charset="0"/>
                <a:cs typeface="Arial" panose="020B0604020202020204" pitchFamily="34" charset="0"/>
              </a:rPr>
              <a:t>Sigma based on DPMO = 4.5-4.6</a:t>
            </a:r>
          </a:p>
        </p:txBody>
      </p:sp>
      <p:sp>
        <p:nvSpPr>
          <p:cNvPr id="4" name="Rectangle: Rounded Corners 3">
            <a:extLst>
              <a:ext uri="{FF2B5EF4-FFF2-40B4-BE49-F238E27FC236}">
                <a16:creationId xmlns:a16="http://schemas.microsoft.com/office/drawing/2014/main" id="{5B5BD27A-907D-8EC4-E951-B88B851BA9FC}"/>
              </a:ext>
            </a:extLst>
          </p:cNvPr>
          <p:cNvSpPr/>
          <p:nvPr/>
        </p:nvSpPr>
        <p:spPr>
          <a:xfrm>
            <a:off x="990853" y="5589899"/>
            <a:ext cx="4569628"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noProof="0">
                <a:solidFill>
                  <a:srgbClr val="24408D"/>
                </a:solidFill>
                <a:latin typeface="Trebuchet MS" panose="020B0603020202020204" pitchFamily="34" charset="0"/>
                <a:cs typeface="Arial" panose="020B0604020202020204" pitchFamily="34" charset="0"/>
              </a:rPr>
              <a:t>Sigma based on DPU and no opportunities = </a:t>
            </a:r>
            <a:r>
              <a:rPr lang="en-US" sz="1600" noProof="0">
                <a:solidFill>
                  <a:srgbClr val="24408D"/>
                </a:solidFill>
                <a:latin typeface="Trebuchet MS" panose="020B0603020202020204" pitchFamily="34" charset="0"/>
              </a:rPr>
              <a:t>3.0–3.1</a:t>
            </a:r>
          </a:p>
        </p:txBody>
      </p:sp>
      <p:sp>
        <p:nvSpPr>
          <p:cNvPr id="6" name="Rectangle: Rounded Corners 5">
            <a:extLst>
              <a:ext uri="{FF2B5EF4-FFF2-40B4-BE49-F238E27FC236}">
                <a16:creationId xmlns:a16="http://schemas.microsoft.com/office/drawing/2014/main" id="{394EE6F5-D5BB-A564-9C18-406A9D09A525}"/>
              </a:ext>
            </a:extLst>
          </p:cNvPr>
          <p:cNvSpPr/>
          <p:nvPr/>
        </p:nvSpPr>
        <p:spPr>
          <a:xfrm>
            <a:off x="444163" y="2286000"/>
            <a:ext cx="5906450" cy="3129933"/>
          </a:xfrm>
          <a:prstGeom prst="roundRect">
            <a:avLst/>
          </a:prstGeom>
          <a:solidFill>
            <a:srgbClr val="24408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Our Communications Team sampled 100 updated information packs and found 5 defects.</a:t>
            </a:r>
          </a:p>
          <a:p>
            <a:endParaRPr lang="en-US" sz="1400"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These included:</a:t>
            </a:r>
          </a:p>
          <a:p>
            <a:endParaRPr lang="en-US" sz="1400" noProof="0">
              <a:solidFill>
                <a:schemeClr val="bg1"/>
              </a:solidFill>
              <a:latin typeface="Trebuchet MS" panose="020B0603020202020204" pitchFamily="34" charset="0"/>
              <a:cs typeface="Arial" panose="020B0604020202020204" pitchFamily="34" charset="0"/>
            </a:endParaRP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Spelling errors</a:t>
            </a: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Incorrect color palette</a:t>
            </a: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Missing content</a:t>
            </a: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Image distortion</a:t>
            </a: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Missing staples</a:t>
            </a:r>
          </a:p>
          <a:p>
            <a:endParaRPr lang="en-US" sz="1400"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DPU: Defects per unit (DPU) was 0.05 (5/100)</a:t>
            </a:r>
          </a:p>
          <a:p>
            <a:r>
              <a:rPr lang="en-US" sz="1400" noProof="0">
                <a:solidFill>
                  <a:schemeClr val="bg1"/>
                </a:solidFill>
                <a:latin typeface="Trebuchet MS" panose="020B0603020202020204" pitchFamily="34" charset="0"/>
                <a:cs typeface="Arial" panose="020B0604020202020204" pitchFamily="34" charset="0"/>
              </a:rPr>
              <a:t>DPMO: DPU/Opportunities x by 1,000,000 = 1,250 </a:t>
            </a:r>
          </a:p>
          <a:p>
            <a:endParaRPr lang="en-US" sz="1400"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p:txBody>
      </p:sp>
    </p:spTree>
    <p:extLst>
      <p:ext uri="{BB962C8B-B14F-4D97-AF65-F5344CB8AC3E}">
        <p14:creationId xmlns:p14="http://schemas.microsoft.com/office/powerpoint/2010/main" val="3341986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 grpId="0" animBg="1"/>
      <p:bldP spid="3" grpId="0" animBg="1"/>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68F39605-5937-C30E-1953-26D6DFACF61B}"/>
              </a:ext>
            </a:extLst>
          </p:cNvPr>
          <p:cNvSpPr>
            <a:spLocks noGrp="1"/>
          </p:cNvSpPr>
          <p:nvPr>
            <p:ph type="body" sz="quarter" idx="10"/>
          </p:nvPr>
        </p:nvSpPr>
        <p:spPr>
          <a:xfrm>
            <a:off x="533400" y="407692"/>
            <a:ext cx="8915400" cy="492443"/>
          </a:xfrm>
        </p:spPr>
        <p:txBody>
          <a:bodyPr/>
          <a:lstStyle/>
          <a:p>
            <a:r>
              <a:rPr lang="en-US" sz="3200" noProof="0"/>
              <a:t>Let’s check the table</a:t>
            </a:r>
          </a:p>
        </p:txBody>
      </p:sp>
      <p:pic>
        <p:nvPicPr>
          <p:cNvPr id="6" name="Picture 5">
            <a:extLst>
              <a:ext uri="{FF2B5EF4-FFF2-40B4-BE49-F238E27FC236}">
                <a16:creationId xmlns:a16="http://schemas.microsoft.com/office/drawing/2014/main" id="{8FEB04A3-A8FF-DF6C-F7C1-10C2154D87EF}"/>
              </a:ext>
            </a:extLst>
          </p:cNvPr>
          <p:cNvPicPr>
            <a:picLocks noChangeAspect="1"/>
          </p:cNvPicPr>
          <p:nvPr/>
        </p:nvPicPr>
        <p:blipFill>
          <a:blip r:embed="rId3"/>
          <a:stretch>
            <a:fillRect/>
          </a:stretch>
        </p:blipFill>
        <p:spPr>
          <a:xfrm>
            <a:off x="1965849" y="1676399"/>
            <a:ext cx="7986452" cy="4407790"/>
          </a:xfrm>
          <a:prstGeom prst="rect">
            <a:avLst/>
          </a:prstGeom>
          <a:ln>
            <a:solidFill>
              <a:srgbClr val="27AAE1"/>
            </a:solidFill>
          </a:ln>
        </p:spPr>
      </p:pic>
      <p:sp>
        <p:nvSpPr>
          <p:cNvPr id="7" name="Rectangle 6">
            <a:extLst>
              <a:ext uri="{FF2B5EF4-FFF2-40B4-BE49-F238E27FC236}">
                <a16:creationId xmlns:a16="http://schemas.microsoft.com/office/drawing/2014/main" id="{88B75F0B-77DF-9571-0BC7-8B40A335A32E}"/>
              </a:ext>
            </a:extLst>
          </p:cNvPr>
          <p:cNvSpPr/>
          <p:nvPr/>
        </p:nvSpPr>
        <p:spPr>
          <a:xfrm>
            <a:off x="6076507" y="2514600"/>
            <a:ext cx="3724940" cy="381000"/>
          </a:xfrm>
          <a:prstGeom prst="rect">
            <a:avLst/>
          </a:prstGeom>
          <a:noFill/>
          <a:ln>
            <a:solidFill>
              <a:srgbClr val="24408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TextBox 7">
            <a:extLst>
              <a:ext uri="{FF2B5EF4-FFF2-40B4-BE49-F238E27FC236}">
                <a16:creationId xmlns:a16="http://schemas.microsoft.com/office/drawing/2014/main" id="{3813434A-65F5-B327-D9D1-FCAD3E0AE260}"/>
              </a:ext>
            </a:extLst>
          </p:cNvPr>
          <p:cNvSpPr txBox="1"/>
          <p:nvPr/>
        </p:nvSpPr>
        <p:spPr>
          <a:xfrm>
            <a:off x="10142801" y="1871364"/>
            <a:ext cx="1855525" cy="2246769"/>
          </a:xfrm>
          <a:prstGeom prst="rect">
            <a:avLst/>
          </a:prstGeom>
          <a:solidFill>
            <a:srgbClr val="24408D"/>
          </a:solidFill>
        </p:spPr>
        <p:txBody>
          <a:bodyPr wrap="square" rtlCol="0">
            <a:spAutoFit/>
          </a:bodyPr>
          <a:lstStyle/>
          <a:p>
            <a:endParaRPr lang="en-US" sz="1400" noProof="0">
              <a:solidFill>
                <a:schemeClr val="bg1"/>
              </a:solidFill>
              <a:latin typeface="Trebuchet MS" panose="020B0603020202020204" pitchFamily="34" charset="0"/>
            </a:endParaRPr>
          </a:p>
          <a:p>
            <a:r>
              <a:rPr lang="en-US" sz="1400" noProof="0">
                <a:solidFill>
                  <a:schemeClr val="bg1"/>
                </a:solidFill>
                <a:latin typeface="Trebuchet MS" panose="020B0603020202020204" pitchFamily="34" charset="0"/>
              </a:rPr>
              <a:t>Based on just defects per 100. You can see there were 5 defects. Giving the process a:</a:t>
            </a:r>
          </a:p>
          <a:p>
            <a:endParaRPr lang="en-US" sz="1400" noProof="0">
              <a:solidFill>
                <a:schemeClr val="bg1"/>
              </a:solidFill>
              <a:latin typeface="Trebuchet MS" panose="020B0603020202020204" pitchFamily="34" charset="0"/>
            </a:endParaRP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95% yield</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Sigma of 3.1 – 3.2</a:t>
            </a:r>
          </a:p>
        </p:txBody>
      </p:sp>
      <p:sp>
        <p:nvSpPr>
          <p:cNvPr id="9" name="Flowchart: Connector 8">
            <a:extLst>
              <a:ext uri="{FF2B5EF4-FFF2-40B4-BE49-F238E27FC236}">
                <a16:creationId xmlns:a16="http://schemas.microsoft.com/office/drawing/2014/main" id="{E8300D09-132F-FCAF-F4B8-2D6E3DAC4DB1}"/>
              </a:ext>
            </a:extLst>
          </p:cNvPr>
          <p:cNvSpPr/>
          <p:nvPr/>
        </p:nvSpPr>
        <p:spPr>
          <a:xfrm>
            <a:off x="9952301" y="1676399"/>
            <a:ext cx="381000" cy="389929"/>
          </a:xfrm>
          <a:prstGeom prst="flowChartConnector">
            <a:avLst/>
          </a:prstGeom>
          <a:solidFill>
            <a:srgbClr val="24408D"/>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0">
                <a:latin typeface="Trebuchet MS" panose="020B0603020202020204" pitchFamily="34" charset="0"/>
              </a:rPr>
              <a:t>1</a:t>
            </a:r>
          </a:p>
        </p:txBody>
      </p:sp>
      <p:sp>
        <p:nvSpPr>
          <p:cNvPr id="10" name="TextBox 9">
            <a:extLst>
              <a:ext uri="{FF2B5EF4-FFF2-40B4-BE49-F238E27FC236}">
                <a16:creationId xmlns:a16="http://schemas.microsoft.com/office/drawing/2014/main" id="{364DEE18-9CD8-D31D-C9BD-63AC93410B06}"/>
              </a:ext>
            </a:extLst>
          </p:cNvPr>
          <p:cNvSpPr txBox="1"/>
          <p:nvPr/>
        </p:nvSpPr>
        <p:spPr>
          <a:xfrm>
            <a:off x="193674" y="3276600"/>
            <a:ext cx="1855525" cy="2031325"/>
          </a:xfrm>
          <a:prstGeom prst="rect">
            <a:avLst/>
          </a:prstGeom>
          <a:solidFill>
            <a:srgbClr val="27AAE1"/>
          </a:solidFill>
        </p:spPr>
        <p:txBody>
          <a:bodyPr wrap="square" rtlCol="0">
            <a:spAutoFit/>
          </a:bodyPr>
          <a:lstStyle/>
          <a:p>
            <a:endParaRPr lang="en-US" sz="1400" noProof="0">
              <a:solidFill>
                <a:schemeClr val="bg1"/>
              </a:solidFill>
              <a:latin typeface="Trebuchet MS" panose="020B0603020202020204" pitchFamily="34" charset="0"/>
            </a:endParaRPr>
          </a:p>
          <a:p>
            <a:r>
              <a:rPr lang="en-US" sz="1400" noProof="0">
                <a:solidFill>
                  <a:schemeClr val="bg1"/>
                </a:solidFill>
                <a:latin typeface="Trebuchet MS" panose="020B0603020202020204" pitchFamily="34" charset="0"/>
              </a:rPr>
              <a:t>Including opportunities for defects per million (DPMO)</a:t>
            </a:r>
          </a:p>
          <a:p>
            <a:endParaRPr lang="en-US" sz="1400" noProof="0">
              <a:solidFill>
                <a:schemeClr val="bg1"/>
              </a:solidFill>
              <a:latin typeface="Trebuchet MS" panose="020B0603020202020204" pitchFamily="34" charset="0"/>
            </a:endParaRPr>
          </a:p>
          <a:p>
            <a:r>
              <a:rPr lang="en-US" sz="1400" noProof="0">
                <a:solidFill>
                  <a:schemeClr val="bg1"/>
                </a:solidFill>
                <a:latin typeface="Trebuchet MS" panose="020B0603020202020204" pitchFamily="34" charset="0"/>
              </a:rPr>
              <a:t>DPMO sits between 4.5 – 4.6</a:t>
            </a:r>
          </a:p>
          <a:p>
            <a:endParaRPr lang="en-US" sz="1400" noProof="0">
              <a:solidFill>
                <a:schemeClr val="bg1"/>
              </a:solidFill>
              <a:latin typeface="Trebuchet MS" panose="020B0603020202020204" pitchFamily="34" charset="0"/>
            </a:endParaRPr>
          </a:p>
        </p:txBody>
      </p:sp>
      <p:sp>
        <p:nvSpPr>
          <p:cNvPr id="11" name="Rectangle 10">
            <a:extLst>
              <a:ext uri="{FF2B5EF4-FFF2-40B4-BE49-F238E27FC236}">
                <a16:creationId xmlns:a16="http://schemas.microsoft.com/office/drawing/2014/main" id="{2796AC00-3066-1207-C08A-99DFD0A8943F}"/>
              </a:ext>
            </a:extLst>
          </p:cNvPr>
          <p:cNvSpPr/>
          <p:nvPr/>
        </p:nvSpPr>
        <p:spPr>
          <a:xfrm>
            <a:off x="2205782" y="4255786"/>
            <a:ext cx="3585418" cy="316214"/>
          </a:xfrm>
          <a:prstGeom prst="rect">
            <a:avLst/>
          </a:prstGeom>
          <a:no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Flowchart: Connector 11">
            <a:extLst>
              <a:ext uri="{FF2B5EF4-FFF2-40B4-BE49-F238E27FC236}">
                <a16:creationId xmlns:a16="http://schemas.microsoft.com/office/drawing/2014/main" id="{C2A58D86-853D-3D5E-05B7-FBE143A2810C}"/>
              </a:ext>
            </a:extLst>
          </p:cNvPr>
          <p:cNvSpPr/>
          <p:nvPr/>
        </p:nvSpPr>
        <p:spPr>
          <a:xfrm>
            <a:off x="1775349" y="3081635"/>
            <a:ext cx="381000" cy="389929"/>
          </a:xfrm>
          <a:prstGeom prst="flowChartConnector">
            <a:avLst/>
          </a:prstGeom>
          <a:solidFill>
            <a:srgbClr val="27AAE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0">
                <a:latin typeface="Trebuchet MS" panose="020B0603020202020204" pitchFamily="34" charset="0"/>
              </a:rPr>
              <a:t>2</a:t>
            </a:r>
          </a:p>
        </p:txBody>
      </p:sp>
    </p:spTree>
    <p:extLst>
      <p:ext uri="{BB962C8B-B14F-4D97-AF65-F5344CB8AC3E}">
        <p14:creationId xmlns:p14="http://schemas.microsoft.com/office/powerpoint/2010/main" val="2068945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6D50B-73C0-1563-4D3F-CFA8EDAFC82F}"/>
            </a:ext>
          </a:extLst>
        </p:cNvPr>
        <p:cNvGrpSpPr/>
        <p:nvPr/>
      </p:nvGrpSpPr>
      <p:grpSpPr>
        <a:xfrm>
          <a:off x="0" y="0"/>
          <a:ext cx="1" cy="1"/>
          <a:chOff x="0" y="0"/>
          <a:chExt cx="1" cy="1"/>
        </a:xfrm>
      </p:grpSpPr>
      <p:sp>
        <p:nvSpPr>
          <p:cNvPr id="5" name="Text Placeholder 4">
            <a:extLst>
              <a:ext uri="{FF2B5EF4-FFF2-40B4-BE49-F238E27FC236}">
                <a16:creationId xmlns:a16="http://schemas.microsoft.com/office/drawing/2014/main" id="{B51100CE-3C58-BFA3-F284-B6EA2A501BE4}"/>
              </a:ext>
            </a:extLst>
          </p:cNvPr>
          <p:cNvSpPr>
            <a:spLocks noGrp="1"/>
          </p:cNvSpPr>
          <p:nvPr>
            <p:ph type="body" sz="quarter" idx="10"/>
          </p:nvPr>
        </p:nvSpPr>
        <p:spPr>
          <a:xfrm>
            <a:off x="535858" y="330559"/>
            <a:ext cx="8686800" cy="492443"/>
          </a:xfrm>
        </p:spPr>
        <p:txBody>
          <a:bodyPr/>
          <a:lstStyle/>
          <a:p>
            <a:r>
              <a:rPr lang="en-US" sz="3200" noProof="0">
                <a:latin typeface="Trebuchet MS" panose="020B0603020202020204" pitchFamily="34" charset="0"/>
              </a:rPr>
              <a:t>Activity - opportunities for improvement</a:t>
            </a:r>
          </a:p>
        </p:txBody>
      </p:sp>
      <p:sp>
        <p:nvSpPr>
          <p:cNvPr id="3" name="Rectangle: Rounded Corners 2">
            <a:extLst>
              <a:ext uri="{FF2B5EF4-FFF2-40B4-BE49-F238E27FC236}">
                <a16:creationId xmlns:a16="http://schemas.microsoft.com/office/drawing/2014/main" id="{115A6256-C3F8-8B94-55E4-8A06051C1693}"/>
              </a:ext>
            </a:extLst>
          </p:cNvPr>
          <p:cNvSpPr/>
          <p:nvPr/>
        </p:nvSpPr>
        <p:spPr>
          <a:xfrm>
            <a:off x="7576142" y="2623655"/>
            <a:ext cx="3707218" cy="2367933"/>
          </a:xfrm>
          <a:prstGeom prst="roundRect">
            <a:avLst/>
          </a:prstGeom>
          <a:solidFill>
            <a:srgbClr val="27AAE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latin typeface="Trebuchet MS" panose="020B0603020202020204" pitchFamily="34" charset="0"/>
                <a:cs typeface="Arial" panose="020B0604020202020204" pitchFamily="34" charset="0"/>
              </a:rPr>
              <a:t>Opportunities</a:t>
            </a:r>
          </a:p>
          <a:p>
            <a:pPr algn="ctr"/>
            <a:endParaRPr lang="en-US"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Each information pack has:</a:t>
            </a:r>
          </a:p>
          <a:p>
            <a:endParaRPr lang="en-US" sz="1400" noProof="0">
              <a:solidFill>
                <a:schemeClr val="bg1"/>
              </a:solidFill>
              <a:latin typeface="Trebuchet MS" panose="020B0603020202020204" pitchFamily="34" charset="0"/>
              <a:cs typeface="Arial" panose="020B0604020202020204" pitchFamily="34" charset="0"/>
            </a:endParaRPr>
          </a:p>
          <a:p>
            <a:pPr marL="285750" indent="-285750">
              <a:buFont typeface="Arial" panose="020B0604020202020204" pitchFamily="34" charset="0"/>
              <a:buChar char="•"/>
            </a:pPr>
            <a:r>
              <a:rPr lang="en-US" sz="1400" noProof="0">
                <a:solidFill>
                  <a:schemeClr val="bg1"/>
                </a:solidFill>
                <a:latin typeface="Trebuchet MS" panose="020B0603020202020204" pitchFamily="34" charset="0"/>
                <a:cs typeface="Arial" panose="020B0604020202020204" pitchFamily="34" charset="0"/>
              </a:rPr>
              <a:t>45 pages</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cs typeface="Arial" panose="020B0604020202020204" pitchFamily="34" charset="0"/>
              </a:rPr>
              <a:t>25 high resolution images</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cs typeface="Arial" panose="020B0604020202020204" pitchFamily="34" charset="0"/>
              </a:rPr>
              <a:t>8 printing and finishing process steps</a:t>
            </a:r>
          </a:p>
          <a:p>
            <a:endParaRPr lang="en-US" sz="1400"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78 = opportunities for defect</a:t>
            </a:r>
          </a:p>
        </p:txBody>
      </p:sp>
      <p:sp>
        <p:nvSpPr>
          <p:cNvPr id="6" name="Rectangle: Rounded Corners 5">
            <a:extLst>
              <a:ext uri="{FF2B5EF4-FFF2-40B4-BE49-F238E27FC236}">
                <a16:creationId xmlns:a16="http://schemas.microsoft.com/office/drawing/2014/main" id="{D0C8946B-9F1C-1677-35F2-294836A59B42}"/>
              </a:ext>
            </a:extLst>
          </p:cNvPr>
          <p:cNvSpPr/>
          <p:nvPr/>
        </p:nvSpPr>
        <p:spPr>
          <a:xfrm flipH="1">
            <a:off x="406949" y="1442067"/>
            <a:ext cx="11480249" cy="685801"/>
          </a:xfrm>
          <a:prstGeom prst="roundRect">
            <a:avLst/>
          </a:prstGeom>
          <a:noFill/>
          <a:ln>
            <a:solidFill>
              <a:srgbClr val="27AAE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noProof="0">
                <a:solidFill>
                  <a:srgbClr val="002060"/>
                </a:solidFill>
                <a:latin typeface="Trebuchet MS" panose="020B0603020202020204" pitchFamily="34" charset="0"/>
                <a:cs typeface="Arial"/>
              </a:rPr>
              <a:t>Our communications team have decided to redesign the existing pack and design a second version before releasing it to the teams. </a:t>
            </a:r>
          </a:p>
        </p:txBody>
      </p:sp>
      <p:sp>
        <p:nvSpPr>
          <p:cNvPr id="8" name="Rectangle: Rounded Corners 7">
            <a:extLst>
              <a:ext uri="{FF2B5EF4-FFF2-40B4-BE49-F238E27FC236}">
                <a16:creationId xmlns:a16="http://schemas.microsoft.com/office/drawing/2014/main" id="{BD8FF184-D682-24C5-0257-440A7C1B4395}"/>
              </a:ext>
            </a:extLst>
          </p:cNvPr>
          <p:cNvSpPr/>
          <p:nvPr/>
        </p:nvSpPr>
        <p:spPr>
          <a:xfrm>
            <a:off x="7670800" y="5513934"/>
            <a:ext cx="3510960"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noProof="0">
                <a:solidFill>
                  <a:schemeClr val="tx2">
                    <a:lumMod val="50000"/>
                  </a:schemeClr>
                </a:solidFill>
                <a:latin typeface="Trebuchet MS"/>
                <a:cs typeface="Arial"/>
              </a:rPr>
              <a:t>Using the table, what is the new sigma score?</a:t>
            </a:r>
          </a:p>
        </p:txBody>
      </p:sp>
      <p:sp>
        <p:nvSpPr>
          <p:cNvPr id="16" name="Arrow: Right 15">
            <a:extLst>
              <a:ext uri="{FF2B5EF4-FFF2-40B4-BE49-F238E27FC236}">
                <a16:creationId xmlns:a16="http://schemas.microsoft.com/office/drawing/2014/main" id="{9AD0A86B-7A88-6D79-EEDE-DE85F990B086}"/>
              </a:ext>
            </a:extLst>
          </p:cNvPr>
          <p:cNvSpPr/>
          <p:nvPr/>
        </p:nvSpPr>
        <p:spPr>
          <a:xfrm>
            <a:off x="6248400" y="3409949"/>
            <a:ext cx="1193251" cy="795344"/>
          </a:xfrm>
          <a:prstGeom prst="rightArrow">
            <a:avLst/>
          </a:prstGeom>
          <a:solidFill>
            <a:srgbClr val="FDBA13"/>
          </a:solidFill>
          <a:ln>
            <a:solidFill>
              <a:srgbClr val="FDBA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endParaRPr>
          </a:p>
        </p:txBody>
      </p:sp>
      <p:sp>
        <p:nvSpPr>
          <p:cNvPr id="2" name="Rectangle: Rounded Corners 1">
            <a:extLst>
              <a:ext uri="{FF2B5EF4-FFF2-40B4-BE49-F238E27FC236}">
                <a16:creationId xmlns:a16="http://schemas.microsoft.com/office/drawing/2014/main" id="{08D54A12-CA4F-D733-2709-3CEE785FDFF4}"/>
              </a:ext>
            </a:extLst>
          </p:cNvPr>
          <p:cNvSpPr/>
          <p:nvPr/>
        </p:nvSpPr>
        <p:spPr>
          <a:xfrm>
            <a:off x="347013" y="2289544"/>
            <a:ext cx="5520387" cy="3129933"/>
          </a:xfrm>
          <a:prstGeom prst="roundRect">
            <a:avLst/>
          </a:prstGeom>
          <a:solidFill>
            <a:srgbClr val="24408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US" sz="1200" b="1"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Our Communications Team sampled 100 updated information packs and found 3 defects.</a:t>
            </a:r>
          </a:p>
          <a:p>
            <a:endParaRPr lang="en-US" sz="1400"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These included:</a:t>
            </a:r>
          </a:p>
          <a:p>
            <a:endParaRPr lang="en-US" sz="1400" noProof="0">
              <a:solidFill>
                <a:schemeClr val="bg1"/>
              </a:solidFill>
              <a:latin typeface="Trebuchet MS" panose="020B0603020202020204" pitchFamily="34" charset="0"/>
              <a:cs typeface="Arial" panose="020B0604020202020204" pitchFamily="34" charset="0"/>
            </a:endParaRPr>
          </a:p>
          <a:p>
            <a:pPr marL="228600" indent="-228600">
              <a:buFont typeface="+mj-lt"/>
              <a:buAutoNum type="arabicPeriod"/>
            </a:pPr>
            <a:r>
              <a:rPr lang="en-US" sz="1400" noProof="0">
                <a:solidFill>
                  <a:schemeClr val="bg1"/>
                </a:solidFill>
                <a:latin typeface="Trebuchet MS"/>
                <a:cs typeface="Arial"/>
              </a:rPr>
              <a:t>Spelling errors</a:t>
            </a:r>
            <a:endParaRPr lang="en-US" sz="1400" noProof="0">
              <a:solidFill>
                <a:schemeClr val="bg1"/>
              </a:solidFill>
              <a:latin typeface="Trebuchet MS" panose="020B0603020202020204" pitchFamily="34" charset="0"/>
              <a:cs typeface="Arial" panose="020B0604020202020204" pitchFamily="34" charset="0"/>
            </a:endParaRP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Missing content</a:t>
            </a: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Incorrect numbering</a:t>
            </a:r>
          </a:p>
          <a:p>
            <a:endParaRPr lang="en-US" sz="1400"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DPU: Defects per unit (DPU) was 0.03 (3/100)</a:t>
            </a:r>
          </a:p>
          <a:p>
            <a:r>
              <a:rPr lang="en-US" sz="1400" noProof="0">
                <a:solidFill>
                  <a:schemeClr val="bg1"/>
                </a:solidFill>
                <a:latin typeface="Trebuchet MS" panose="020B0603020202020204" pitchFamily="34" charset="0"/>
                <a:cs typeface="Arial" panose="020B0604020202020204" pitchFamily="34" charset="0"/>
              </a:rPr>
              <a:t>DPMO: DPU/Opportunities x 1,000,000 = 0.03/78 x 1,000,000 = 384.6 (385)</a:t>
            </a:r>
          </a:p>
          <a:p>
            <a:endParaRPr lang="en-US" sz="1200" b="1"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p:txBody>
      </p:sp>
      <p:sp>
        <p:nvSpPr>
          <p:cNvPr id="9" name="Rectangle: Rounded Corners 8">
            <a:extLst>
              <a:ext uri="{FF2B5EF4-FFF2-40B4-BE49-F238E27FC236}">
                <a16:creationId xmlns:a16="http://schemas.microsoft.com/office/drawing/2014/main" id="{ED6A7455-EAE4-2AD5-31F5-8E8E6F0B05F4}"/>
              </a:ext>
            </a:extLst>
          </p:cNvPr>
          <p:cNvSpPr/>
          <p:nvPr/>
        </p:nvSpPr>
        <p:spPr>
          <a:xfrm>
            <a:off x="384787" y="5515429"/>
            <a:ext cx="5406414" cy="67854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US" sz="1600" b="1" noProof="0">
              <a:solidFill>
                <a:schemeClr val="tx2">
                  <a:lumMod val="50000"/>
                </a:schemeClr>
              </a:solidFill>
              <a:latin typeface="Trebuchet MS"/>
              <a:cs typeface="Arial"/>
            </a:endParaRPr>
          </a:p>
          <a:p>
            <a:r>
              <a:rPr lang="en-US" sz="1600" b="1" noProof="0">
                <a:solidFill>
                  <a:schemeClr val="tx2">
                    <a:lumMod val="50000"/>
                  </a:schemeClr>
                </a:solidFill>
                <a:latin typeface="Trebuchet MS"/>
                <a:cs typeface="Arial"/>
              </a:rPr>
              <a:t>Process sigma based on DPU and no opportunities </a:t>
            </a:r>
            <a:endParaRPr lang="en-US" noProof="0">
              <a:solidFill>
                <a:schemeClr val="tx2">
                  <a:lumMod val="50000"/>
                </a:schemeClr>
              </a:solidFill>
              <a:ea typeface="Calibri"/>
              <a:cs typeface="Calibri"/>
            </a:endParaRPr>
          </a:p>
          <a:p>
            <a:r>
              <a:rPr lang="en-US" sz="1600" b="1" noProof="0">
                <a:solidFill>
                  <a:schemeClr val="tx2">
                    <a:lumMod val="50000"/>
                  </a:schemeClr>
                </a:solidFill>
                <a:latin typeface="Trebuchet MS"/>
                <a:cs typeface="Arial"/>
              </a:rPr>
              <a:t>= 3.3–3.4</a:t>
            </a:r>
            <a:endParaRPr lang="en-US" noProof="0">
              <a:solidFill>
                <a:schemeClr val="tx2">
                  <a:lumMod val="50000"/>
                </a:schemeClr>
              </a:solidFill>
            </a:endParaRPr>
          </a:p>
          <a:p>
            <a:endParaRPr lang="en-US" sz="1600" b="1" noProof="0">
              <a:solidFill>
                <a:schemeClr val="tx2">
                  <a:lumMod val="50000"/>
                </a:schemeClr>
              </a:solidFill>
              <a:latin typeface="Trebuchet MS" panose="020B0603020202020204" pitchFamily="34" charset="0"/>
              <a:cs typeface="Arial" panose="020B0604020202020204" pitchFamily="34" charset="0"/>
            </a:endParaRPr>
          </a:p>
        </p:txBody>
      </p:sp>
    </p:spTree>
    <p:extLst>
      <p:ext uri="{BB962C8B-B14F-4D97-AF65-F5344CB8AC3E}">
        <p14:creationId xmlns:p14="http://schemas.microsoft.com/office/powerpoint/2010/main" val="1754417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1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65B93B2F-2908-50C2-F779-0B1BCB8CAD01}"/>
              </a:ext>
            </a:extLst>
          </p:cNvPr>
          <p:cNvSpPr>
            <a:spLocks noGrp="1"/>
          </p:cNvSpPr>
          <p:nvPr>
            <p:ph type="body" sz="quarter" idx="10"/>
          </p:nvPr>
        </p:nvSpPr>
        <p:spPr>
          <a:xfrm>
            <a:off x="533400" y="350473"/>
            <a:ext cx="8686800" cy="492443"/>
          </a:xfrm>
        </p:spPr>
        <p:txBody>
          <a:bodyPr/>
          <a:lstStyle/>
          <a:p>
            <a:r>
              <a:rPr lang="en-US" sz="3200" noProof="0">
                <a:latin typeface="Trebuchet MS" panose="020B0603020202020204" pitchFamily="34" charset="0"/>
              </a:rPr>
              <a:t>Activity- Answer</a:t>
            </a:r>
          </a:p>
        </p:txBody>
      </p:sp>
      <p:sp>
        <p:nvSpPr>
          <p:cNvPr id="6" name="Rectangle: Rounded Corners 5">
            <a:extLst>
              <a:ext uri="{FF2B5EF4-FFF2-40B4-BE49-F238E27FC236}">
                <a16:creationId xmlns:a16="http://schemas.microsoft.com/office/drawing/2014/main" id="{F0ABEC0D-A505-9873-18D0-C68EDA606A39}"/>
              </a:ext>
            </a:extLst>
          </p:cNvPr>
          <p:cNvSpPr/>
          <p:nvPr/>
        </p:nvSpPr>
        <p:spPr>
          <a:xfrm>
            <a:off x="7620000" y="5041504"/>
            <a:ext cx="3576416"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noProof="0">
                <a:solidFill>
                  <a:schemeClr val="tx2">
                    <a:lumMod val="50000"/>
                  </a:schemeClr>
                </a:solidFill>
                <a:latin typeface="Trebuchet MS" panose="020B0603020202020204" pitchFamily="34" charset="0"/>
                <a:cs typeface="Arial" panose="020B0604020202020204" pitchFamily="34" charset="0"/>
              </a:rPr>
              <a:t>Sigma with opportunities 4.8 - 4.9</a:t>
            </a:r>
          </a:p>
        </p:txBody>
      </p:sp>
      <p:sp>
        <p:nvSpPr>
          <p:cNvPr id="9" name="Arrow: Right 8">
            <a:extLst>
              <a:ext uri="{FF2B5EF4-FFF2-40B4-BE49-F238E27FC236}">
                <a16:creationId xmlns:a16="http://schemas.microsoft.com/office/drawing/2014/main" id="{8EAFBB9D-855B-41D2-B81C-79F8061EDD1A}"/>
              </a:ext>
            </a:extLst>
          </p:cNvPr>
          <p:cNvSpPr/>
          <p:nvPr/>
        </p:nvSpPr>
        <p:spPr>
          <a:xfrm>
            <a:off x="6400800" y="2633656"/>
            <a:ext cx="804863" cy="795344"/>
          </a:xfrm>
          <a:prstGeom prst="rightArrow">
            <a:avLst/>
          </a:prstGeom>
          <a:solidFill>
            <a:srgbClr val="FDBA13"/>
          </a:solidFill>
          <a:ln>
            <a:solidFill>
              <a:srgbClr val="FDBA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endParaRPr>
          </a:p>
        </p:txBody>
      </p:sp>
      <p:sp>
        <p:nvSpPr>
          <p:cNvPr id="10" name="Rectangle: Rounded Corners 9">
            <a:extLst>
              <a:ext uri="{FF2B5EF4-FFF2-40B4-BE49-F238E27FC236}">
                <a16:creationId xmlns:a16="http://schemas.microsoft.com/office/drawing/2014/main" id="{52E067FC-E5F1-A526-D5F3-E8B8363C773D}"/>
              </a:ext>
            </a:extLst>
          </p:cNvPr>
          <p:cNvSpPr/>
          <p:nvPr/>
        </p:nvSpPr>
        <p:spPr>
          <a:xfrm>
            <a:off x="460601" y="5041504"/>
            <a:ext cx="5522128"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noProof="0">
                <a:solidFill>
                  <a:schemeClr val="tx2">
                    <a:lumMod val="50000"/>
                  </a:schemeClr>
                </a:solidFill>
                <a:latin typeface="Trebuchet MS" panose="020B0603020202020204" pitchFamily="34" charset="0"/>
                <a:cs typeface="Arial" panose="020B0604020202020204" pitchFamily="34" charset="0"/>
              </a:rPr>
              <a:t>Sigma based on DPU and no opportunities = 3.3–3.4</a:t>
            </a:r>
          </a:p>
        </p:txBody>
      </p:sp>
      <p:sp>
        <p:nvSpPr>
          <p:cNvPr id="11" name="Rectangle: Rounded Corners 10">
            <a:extLst>
              <a:ext uri="{FF2B5EF4-FFF2-40B4-BE49-F238E27FC236}">
                <a16:creationId xmlns:a16="http://schemas.microsoft.com/office/drawing/2014/main" id="{3DE7A20C-60B7-EE96-7F85-C9C336A33168}"/>
              </a:ext>
            </a:extLst>
          </p:cNvPr>
          <p:cNvSpPr/>
          <p:nvPr/>
        </p:nvSpPr>
        <p:spPr>
          <a:xfrm>
            <a:off x="7489198" y="1981200"/>
            <a:ext cx="3707218" cy="2367933"/>
          </a:xfrm>
          <a:prstGeom prst="roundRect">
            <a:avLst/>
          </a:prstGeom>
          <a:solidFill>
            <a:srgbClr val="27AAE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latin typeface="Trebuchet MS" panose="020B0603020202020204" pitchFamily="34" charset="0"/>
                <a:cs typeface="Arial" panose="020B0604020202020204" pitchFamily="34" charset="0"/>
              </a:rPr>
              <a:t>Opportunities</a:t>
            </a:r>
          </a:p>
          <a:p>
            <a:pPr algn="ctr"/>
            <a:endParaRPr lang="en-US"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Each information pack has:</a:t>
            </a:r>
          </a:p>
          <a:p>
            <a:endParaRPr lang="en-US" sz="1400" noProof="0">
              <a:solidFill>
                <a:schemeClr val="bg1"/>
              </a:solidFill>
              <a:latin typeface="Trebuchet MS" panose="020B0603020202020204" pitchFamily="34" charset="0"/>
              <a:cs typeface="Arial" panose="020B0604020202020204" pitchFamily="34" charset="0"/>
            </a:endParaRP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45 Pages</a:t>
            </a: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25 high resolution images</a:t>
            </a: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8 printing and finishing process steps</a:t>
            </a:r>
          </a:p>
          <a:p>
            <a:endParaRPr lang="en-US" sz="1400"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78 = opportunities for defect</a:t>
            </a:r>
          </a:p>
        </p:txBody>
      </p:sp>
      <p:sp>
        <p:nvSpPr>
          <p:cNvPr id="12" name="Rectangle: Rounded Corners 11">
            <a:extLst>
              <a:ext uri="{FF2B5EF4-FFF2-40B4-BE49-F238E27FC236}">
                <a16:creationId xmlns:a16="http://schemas.microsoft.com/office/drawing/2014/main" id="{0259D103-5233-5901-F407-94CB984AC8F3}"/>
              </a:ext>
            </a:extLst>
          </p:cNvPr>
          <p:cNvSpPr/>
          <p:nvPr/>
        </p:nvSpPr>
        <p:spPr>
          <a:xfrm>
            <a:off x="326065" y="1676400"/>
            <a:ext cx="5791200" cy="3129933"/>
          </a:xfrm>
          <a:prstGeom prst="roundRect">
            <a:avLst/>
          </a:prstGeom>
          <a:solidFill>
            <a:srgbClr val="24408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Our Communications Team sampled 100 updated information packs and found 3 defects.</a:t>
            </a:r>
          </a:p>
          <a:p>
            <a:endParaRPr lang="en-US" sz="1400"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These included:</a:t>
            </a:r>
          </a:p>
          <a:p>
            <a:endParaRPr lang="en-US" sz="1400" noProof="0">
              <a:solidFill>
                <a:schemeClr val="bg1"/>
              </a:solidFill>
              <a:latin typeface="Trebuchet MS" panose="020B0603020202020204" pitchFamily="34" charset="0"/>
              <a:cs typeface="Arial" panose="020B0604020202020204" pitchFamily="34" charset="0"/>
            </a:endParaRP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Spelling errors</a:t>
            </a: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Missing content</a:t>
            </a: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Incorrect numbering</a:t>
            </a:r>
          </a:p>
          <a:p>
            <a:endParaRPr lang="en-US" sz="1400"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DPU: Defects per unit (DPU) was 0.03 (3/100)</a:t>
            </a:r>
          </a:p>
          <a:p>
            <a:r>
              <a:rPr lang="en-US" sz="1400" noProof="0">
                <a:solidFill>
                  <a:schemeClr val="bg1"/>
                </a:solidFill>
                <a:latin typeface="Trebuchet MS" panose="020B0603020202020204" pitchFamily="34" charset="0"/>
                <a:cs typeface="Arial" panose="020B0604020202020204" pitchFamily="34" charset="0"/>
              </a:rPr>
              <a:t>DPMO: DPU/Opportunities x 1,000,000 = 0.03/78 x 1,000,000 = 384.6 (385)</a:t>
            </a:r>
          </a:p>
          <a:p>
            <a:endParaRPr lang="en-US" sz="1200" b="1"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p:txBody>
      </p:sp>
    </p:spTree>
    <p:extLst>
      <p:ext uri="{BB962C8B-B14F-4D97-AF65-F5344CB8AC3E}">
        <p14:creationId xmlns:p14="http://schemas.microsoft.com/office/powerpoint/2010/main" val="1251121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1712D-FBEA-E99A-F9D7-F036513EDE04}"/>
            </a:ext>
          </a:extLst>
        </p:cNvPr>
        <p:cNvGrpSpPr/>
        <p:nvPr/>
      </p:nvGrpSpPr>
      <p:grpSpPr>
        <a:xfrm>
          <a:off x="0" y="0"/>
          <a:ext cx="1" cy="1"/>
          <a:chOff x="0" y="0"/>
          <a:chExt cx="1" cy="1"/>
        </a:xfrm>
      </p:grpSpPr>
      <p:sp>
        <p:nvSpPr>
          <p:cNvPr id="5" name="Text Placeholder 4">
            <a:extLst>
              <a:ext uri="{FF2B5EF4-FFF2-40B4-BE49-F238E27FC236}">
                <a16:creationId xmlns:a16="http://schemas.microsoft.com/office/drawing/2014/main" id="{411A252C-A172-34AA-6149-04CA8A44F8AE}"/>
              </a:ext>
            </a:extLst>
          </p:cNvPr>
          <p:cNvSpPr>
            <a:spLocks noGrp="1"/>
          </p:cNvSpPr>
          <p:nvPr>
            <p:ph type="body" sz="quarter" idx="10"/>
          </p:nvPr>
        </p:nvSpPr>
        <p:spPr>
          <a:xfrm>
            <a:off x="533400" y="383944"/>
            <a:ext cx="8915400" cy="492443"/>
          </a:xfrm>
        </p:spPr>
        <p:txBody>
          <a:bodyPr/>
          <a:lstStyle/>
          <a:p>
            <a:r>
              <a:rPr lang="en-US" sz="3200" noProof="0">
                <a:latin typeface="Trebuchet MS" panose="020B0603020202020204" pitchFamily="34" charset="0"/>
              </a:rPr>
              <a:t>Let’s check the table</a:t>
            </a:r>
          </a:p>
        </p:txBody>
      </p:sp>
      <p:pic>
        <p:nvPicPr>
          <p:cNvPr id="6" name="Picture 5">
            <a:extLst>
              <a:ext uri="{FF2B5EF4-FFF2-40B4-BE49-F238E27FC236}">
                <a16:creationId xmlns:a16="http://schemas.microsoft.com/office/drawing/2014/main" id="{407BCCD2-8B1F-5618-EB75-E7652EB9EAE9}"/>
              </a:ext>
            </a:extLst>
          </p:cNvPr>
          <p:cNvPicPr>
            <a:picLocks noChangeAspect="1"/>
          </p:cNvPicPr>
          <p:nvPr/>
        </p:nvPicPr>
        <p:blipFill>
          <a:blip r:embed="rId3"/>
          <a:stretch>
            <a:fillRect/>
          </a:stretch>
        </p:blipFill>
        <p:spPr>
          <a:xfrm>
            <a:off x="1965849" y="1846554"/>
            <a:ext cx="7986452" cy="4407790"/>
          </a:xfrm>
          <a:prstGeom prst="rect">
            <a:avLst/>
          </a:prstGeom>
        </p:spPr>
      </p:pic>
      <p:sp>
        <p:nvSpPr>
          <p:cNvPr id="7" name="Rectangle 6">
            <a:extLst>
              <a:ext uri="{FF2B5EF4-FFF2-40B4-BE49-F238E27FC236}">
                <a16:creationId xmlns:a16="http://schemas.microsoft.com/office/drawing/2014/main" id="{6938661D-9CC4-9D1C-947D-A02923C91780}"/>
              </a:ext>
            </a:extLst>
          </p:cNvPr>
          <p:cNvSpPr/>
          <p:nvPr/>
        </p:nvSpPr>
        <p:spPr>
          <a:xfrm>
            <a:off x="6096000" y="2387026"/>
            <a:ext cx="3724940" cy="381000"/>
          </a:xfrm>
          <a:prstGeom prst="rect">
            <a:avLst/>
          </a:prstGeom>
          <a:noFill/>
          <a:ln>
            <a:solidFill>
              <a:srgbClr val="24408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TextBox 7">
            <a:extLst>
              <a:ext uri="{FF2B5EF4-FFF2-40B4-BE49-F238E27FC236}">
                <a16:creationId xmlns:a16="http://schemas.microsoft.com/office/drawing/2014/main" id="{B30A25BB-AFF7-23BF-73A6-8395B0174D74}"/>
              </a:ext>
            </a:extLst>
          </p:cNvPr>
          <p:cNvSpPr txBox="1"/>
          <p:nvPr/>
        </p:nvSpPr>
        <p:spPr>
          <a:xfrm>
            <a:off x="10142801" y="1871364"/>
            <a:ext cx="1855525" cy="2031325"/>
          </a:xfrm>
          <a:prstGeom prst="rect">
            <a:avLst/>
          </a:prstGeom>
          <a:solidFill>
            <a:srgbClr val="24408D"/>
          </a:solidFill>
        </p:spPr>
        <p:txBody>
          <a:bodyPr wrap="square" rtlCol="0">
            <a:spAutoFit/>
          </a:bodyPr>
          <a:lstStyle/>
          <a:p>
            <a:endParaRPr lang="en-US" sz="1400" noProof="0">
              <a:solidFill>
                <a:schemeClr val="bg1"/>
              </a:solidFill>
              <a:latin typeface="Trebuchet MS" panose="020B0603020202020204" pitchFamily="34" charset="0"/>
            </a:endParaRPr>
          </a:p>
          <a:p>
            <a:r>
              <a:rPr lang="en-US" sz="1400" noProof="0">
                <a:solidFill>
                  <a:schemeClr val="bg1"/>
                </a:solidFill>
                <a:latin typeface="Trebuchet MS" panose="020B0603020202020204" pitchFamily="34" charset="0"/>
              </a:rPr>
              <a:t>Based on defects per 100. You can see there were 5 defects. </a:t>
            </a:r>
          </a:p>
          <a:p>
            <a:endParaRPr lang="en-US" sz="1400" noProof="0">
              <a:solidFill>
                <a:schemeClr val="bg1"/>
              </a:solidFill>
              <a:latin typeface="Trebuchet MS" panose="020B0603020202020204" pitchFamily="34" charset="0"/>
            </a:endParaRPr>
          </a:p>
          <a:p>
            <a:r>
              <a:rPr lang="en-US" sz="1400" noProof="0">
                <a:solidFill>
                  <a:schemeClr val="bg1"/>
                </a:solidFill>
                <a:latin typeface="Trebuchet MS" panose="020B0603020202020204" pitchFamily="34" charset="0"/>
              </a:rPr>
              <a:t>Giving the process a:</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97% yield</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Sigma of 3.3–3.4</a:t>
            </a:r>
          </a:p>
        </p:txBody>
      </p:sp>
      <p:sp>
        <p:nvSpPr>
          <p:cNvPr id="9" name="Flowchart: Connector 8">
            <a:extLst>
              <a:ext uri="{FF2B5EF4-FFF2-40B4-BE49-F238E27FC236}">
                <a16:creationId xmlns:a16="http://schemas.microsoft.com/office/drawing/2014/main" id="{08EEE88E-BA65-BACC-9AC1-32671C84B10B}"/>
              </a:ext>
            </a:extLst>
          </p:cNvPr>
          <p:cNvSpPr/>
          <p:nvPr/>
        </p:nvSpPr>
        <p:spPr>
          <a:xfrm>
            <a:off x="9952301" y="1676399"/>
            <a:ext cx="381000" cy="389929"/>
          </a:xfrm>
          <a:prstGeom prst="flowChartConnector">
            <a:avLst/>
          </a:prstGeom>
          <a:solidFill>
            <a:srgbClr val="24408D"/>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0">
                <a:latin typeface="Trebuchet MS" panose="020B0603020202020204" pitchFamily="34" charset="0"/>
              </a:rPr>
              <a:t>1</a:t>
            </a:r>
          </a:p>
        </p:txBody>
      </p:sp>
      <p:sp>
        <p:nvSpPr>
          <p:cNvPr id="10" name="TextBox 9">
            <a:extLst>
              <a:ext uri="{FF2B5EF4-FFF2-40B4-BE49-F238E27FC236}">
                <a16:creationId xmlns:a16="http://schemas.microsoft.com/office/drawing/2014/main" id="{8D51A0A2-B19A-1A01-6D9A-70BB3775B840}"/>
              </a:ext>
            </a:extLst>
          </p:cNvPr>
          <p:cNvSpPr txBox="1"/>
          <p:nvPr/>
        </p:nvSpPr>
        <p:spPr>
          <a:xfrm>
            <a:off x="193674" y="3276600"/>
            <a:ext cx="1855525" cy="2031325"/>
          </a:xfrm>
          <a:prstGeom prst="rect">
            <a:avLst/>
          </a:prstGeom>
          <a:solidFill>
            <a:srgbClr val="27AAE1"/>
          </a:solidFill>
        </p:spPr>
        <p:txBody>
          <a:bodyPr wrap="square" rtlCol="0">
            <a:spAutoFit/>
          </a:bodyPr>
          <a:lstStyle/>
          <a:p>
            <a:endParaRPr lang="en-US" sz="1400" noProof="0">
              <a:solidFill>
                <a:schemeClr val="bg1"/>
              </a:solidFill>
              <a:latin typeface="Trebuchet MS" panose="020B0603020202020204" pitchFamily="34" charset="0"/>
            </a:endParaRPr>
          </a:p>
          <a:p>
            <a:r>
              <a:rPr lang="en-US" sz="1400" noProof="0">
                <a:solidFill>
                  <a:schemeClr val="bg1"/>
                </a:solidFill>
                <a:latin typeface="Trebuchet MS" panose="020B0603020202020204" pitchFamily="34" charset="0"/>
              </a:rPr>
              <a:t>Including opportunities for defects per million (DPMO).</a:t>
            </a:r>
          </a:p>
          <a:p>
            <a:endParaRPr lang="en-US" sz="1400" noProof="0">
              <a:solidFill>
                <a:schemeClr val="bg1"/>
              </a:solidFill>
              <a:latin typeface="Trebuchet MS" panose="020B0603020202020204" pitchFamily="34" charset="0"/>
            </a:endParaRPr>
          </a:p>
          <a:p>
            <a:r>
              <a:rPr lang="en-US" sz="1400" noProof="0">
                <a:solidFill>
                  <a:schemeClr val="bg1"/>
                </a:solidFill>
                <a:latin typeface="Trebuchet MS" panose="020B0603020202020204" pitchFamily="34" charset="0"/>
              </a:rPr>
              <a:t>DPMO of 1250 sits between 4.8-4.9</a:t>
            </a:r>
          </a:p>
          <a:p>
            <a:endParaRPr lang="en-US" sz="1400" noProof="0">
              <a:solidFill>
                <a:schemeClr val="bg1"/>
              </a:solidFill>
              <a:latin typeface="Trebuchet MS" panose="020B0603020202020204" pitchFamily="34" charset="0"/>
            </a:endParaRPr>
          </a:p>
        </p:txBody>
      </p:sp>
      <p:sp>
        <p:nvSpPr>
          <p:cNvPr id="11" name="Rectangle 10">
            <a:extLst>
              <a:ext uri="{FF2B5EF4-FFF2-40B4-BE49-F238E27FC236}">
                <a16:creationId xmlns:a16="http://schemas.microsoft.com/office/drawing/2014/main" id="{4AD53A11-DD76-A941-A122-A77C36678A0B}"/>
              </a:ext>
            </a:extLst>
          </p:cNvPr>
          <p:cNvSpPr/>
          <p:nvPr/>
        </p:nvSpPr>
        <p:spPr>
          <a:xfrm>
            <a:off x="2156349" y="3968178"/>
            <a:ext cx="3585418" cy="316214"/>
          </a:xfrm>
          <a:prstGeom prst="rect">
            <a:avLst/>
          </a:prstGeom>
          <a:no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Flowchart: Connector 11">
            <a:extLst>
              <a:ext uri="{FF2B5EF4-FFF2-40B4-BE49-F238E27FC236}">
                <a16:creationId xmlns:a16="http://schemas.microsoft.com/office/drawing/2014/main" id="{564C3D6F-7832-4D48-D6FA-E1BBC4DE82C6}"/>
              </a:ext>
            </a:extLst>
          </p:cNvPr>
          <p:cNvSpPr/>
          <p:nvPr/>
        </p:nvSpPr>
        <p:spPr>
          <a:xfrm>
            <a:off x="17779" y="3078600"/>
            <a:ext cx="396000" cy="396000"/>
          </a:xfrm>
          <a:prstGeom prst="flowChartConnector">
            <a:avLst/>
          </a:prstGeom>
          <a:solidFill>
            <a:srgbClr val="27AAE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0">
                <a:latin typeface="Trebuchet MS" panose="020B0603020202020204" pitchFamily="34" charset="0"/>
              </a:rPr>
              <a:t>2</a:t>
            </a:r>
          </a:p>
        </p:txBody>
      </p:sp>
    </p:spTree>
    <p:extLst>
      <p:ext uri="{BB962C8B-B14F-4D97-AF65-F5344CB8AC3E}">
        <p14:creationId xmlns:p14="http://schemas.microsoft.com/office/powerpoint/2010/main" val="4050052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65B93B2F-2908-50C2-F779-0B1BCB8CAD01}"/>
              </a:ext>
            </a:extLst>
          </p:cNvPr>
          <p:cNvSpPr>
            <a:spLocks noGrp="1"/>
          </p:cNvSpPr>
          <p:nvPr>
            <p:ph type="body" sz="quarter" idx="10"/>
          </p:nvPr>
        </p:nvSpPr>
        <p:spPr>
          <a:xfrm>
            <a:off x="487856" y="335299"/>
            <a:ext cx="8686800" cy="492443"/>
          </a:xfrm>
        </p:spPr>
        <p:txBody>
          <a:bodyPr/>
          <a:lstStyle/>
          <a:p>
            <a:r>
              <a:rPr lang="en-US" sz="3200" noProof="0">
                <a:latin typeface="Trebuchet MS" panose="020B0603020202020204" pitchFamily="34" charset="0"/>
              </a:rPr>
              <a:t>Which Information Pack format is better?</a:t>
            </a:r>
          </a:p>
        </p:txBody>
      </p:sp>
      <p:sp>
        <p:nvSpPr>
          <p:cNvPr id="14" name="Rectangle: Rounded Corners 13">
            <a:extLst>
              <a:ext uri="{FF2B5EF4-FFF2-40B4-BE49-F238E27FC236}">
                <a16:creationId xmlns:a16="http://schemas.microsoft.com/office/drawing/2014/main" id="{7918BAE7-964F-2442-7C5B-54EDA4CA26D0}"/>
              </a:ext>
            </a:extLst>
          </p:cNvPr>
          <p:cNvSpPr/>
          <p:nvPr/>
        </p:nvSpPr>
        <p:spPr>
          <a:xfrm>
            <a:off x="8153400" y="5116475"/>
            <a:ext cx="2598243"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tx2">
                    <a:lumMod val="50000"/>
                  </a:schemeClr>
                </a:solidFill>
                <a:latin typeface="Trebuchet MS" panose="020B0603020202020204" pitchFamily="34" charset="0"/>
              </a:rPr>
              <a:t>385 = 4.8 - 4.9 Sigma</a:t>
            </a:r>
          </a:p>
        </p:txBody>
      </p:sp>
      <p:sp>
        <p:nvSpPr>
          <p:cNvPr id="2" name="Rectangle: Rounded Corners 1">
            <a:extLst>
              <a:ext uri="{FF2B5EF4-FFF2-40B4-BE49-F238E27FC236}">
                <a16:creationId xmlns:a16="http://schemas.microsoft.com/office/drawing/2014/main" id="{1160C03D-2345-8199-5B75-4917E7A8E105}"/>
              </a:ext>
            </a:extLst>
          </p:cNvPr>
          <p:cNvSpPr/>
          <p:nvPr/>
        </p:nvSpPr>
        <p:spPr>
          <a:xfrm>
            <a:off x="7292126" y="1532942"/>
            <a:ext cx="3765057" cy="656106"/>
          </a:xfrm>
          <a:prstGeom prst="roundRect">
            <a:avLst>
              <a:gd name="adj" fmla="val 16667"/>
            </a:avLst>
          </a:prstGeom>
          <a:solidFill>
            <a:srgbClr val="FDBA13"/>
          </a:solidFill>
          <a:ln>
            <a:solidFill>
              <a:srgbClr val="FDBA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latin typeface="Trebuchet MS" panose="020B0603020202020204" pitchFamily="34" charset="0"/>
                <a:cs typeface="Arial" panose="020B0604020202020204" pitchFamily="34" charset="0"/>
              </a:rPr>
              <a:t>Info Pack Version 2</a:t>
            </a:r>
          </a:p>
        </p:txBody>
      </p:sp>
      <p:sp>
        <p:nvSpPr>
          <p:cNvPr id="16" name="Rectangle: Rounded Corners 15">
            <a:extLst>
              <a:ext uri="{FF2B5EF4-FFF2-40B4-BE49-F238E27FC236}">
                <a16:creationId xmlns:a16="http://schemas.microsoft.com/office/drawing/2014/main" id="{58B9575B-DB02-991B-93E9-D90FB7B4300D}"/>
              </a:ext>
            </a:extLst>
          </p:cNvPr>
          <p:cNvSpPr/>
          <p:nvPr/>
        </p:nvSpPr>
        <p:spPr>
          <a:xfrm>
            <a:off x="1271589" y="1525798"/>
            <a:ext cx="3765051" cy="670393"/>
          </a:xfrm>
          <a:prstGeom prst="roundRect">
            <a:avLst/>
          </a:prstGeom>
          <a:solidFill>
            <a:srgbClr val="FDBA13"/>
          </a:solidFill>
          <a:ln>
            <a:solidFill>
              <a:srgbClr val="FDBA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latin typeface="Trebuchet MS" panose="020B0603020202020204" pitchFamily="34" charset="0"/>
                <a:cs typeface="Arial" panose="020B0604020202020204" pitchFamily="34" charset="0"/>
              </a:rPr>
              <a:t>Info pack Version 1</a:t>
            </a:r>
          </a:p>
        </p:txBody>
      </p:sp>
      <p:sp>
        <p:nvSpPr>
          <p:cNvPr id="22" name="Rectangle: Rounded Corners 21">
            <a:extLst>
              <a:ext uri="{FF2B5EF4-FFF2-40B4-BE49-F238E27FC236}">
                <a16:creationId xmlns:a16="http://schemas.microsoft.com/office/drawing/2014/main" id="{6A994EFB-86AB-206B-4B26-2786BBF95997}"/>
              </a:ext>
            </a:extLst>
          </p:cNvPr>
          <p:cNvSpPr/>
          <p:nvPr/>
        </p:nvSpPr>
        <p:spPr>
          <a:xfrm>
            <a:off x="1795462" y="5076762"/>
            <a:ext cx="3005137" cy="72551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tx2">
                    <a:lumMod val="50000"/>
                  </a:schemeClr>
                </a:solidFill>
                <a:latin typeface="Trebuchet MS" panose="020B0603020202020204" pitchFamily="34" charset="0"/>
              </a:rPr>
              <a:t>1250 = 4.5 - 4.6 Sigma </a:t>
            </a:r>
          </a:p>
        </p:txBody>
      </p:sp>
      <p:cxnSp>
        <p:nvCxnSpPr>
          <p:cNvPr id="4" name="Straight Connector 3">
            <a:extLst>
              <a:ext uri="{FF2B5EF4-FFF2-40B4-BE49-F238E27FC236}">
                <a16:creationId xmlns:a16="http://schemas.microsoft.com/office/drawing/2014/main" id="{63B8DC2D-C790-A6E9-812C-59CDFD6A4A1E}"/>
              </a:ext>
            </a:extLst>
          </p:cNvPr>
          <p:cNvCxnSpPr>
            <a:cxnSpLocks/>
          </p:cNvCxnSpPr>
          <p:nvPr/>
        </p:nvCxnSpPr>
        <p:spPr>
          <a:xfrm>
            <a:off x="6096000" y="1391440"/>
            <a:ext cx="1" cy="462836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C7AA8E0-8648-A507-67EE-6BA20A5361BF}"/>
              </a:ext>
            </a:extLst>
          </p:cNvPr>
          <p:cNvSpPr txBox="1"/>
          <p:nvPr/>
        </p:nvSpPr>
        <p:spPr>
          <a:xfrm>
            <a:off x="351690" y="6366954"/>
            <a:ext cx="11488620" cy="369332"/>
          </a:xfrm>
          <a:prstGeom prst="rect">
            <a:avLst/>
          </a:prstGeom>
          <a:solidFill>
            <a:srgbClr val="27AAE1"/>
          </a:solidFill>
          <a:ln>
            <a:solidFill>
              <a:srgbClr val="27AAE1"/>
            </a:solidFill>
          </a:ln>
        </p:spPr>
        <p:txBody>
          <a:bodyPr wrap="square">
            <a:spAutoFit/>
          </a:bodyPr>
          <a:lstStyle/>
          <a:p>
            <a:r>
              <a:rPr lang="en-US" sz="1800" i="0" u="none" strike="noStrike" noProof="0">
                <a:solidFill>
                  <a:schemeClr val="bg1"/>
                </a:solidFill>
                <a:effectLst/>
                <a:latin typeface="Trebuchet MS" panose="020B0603020202020204" pitchFamily="34" charset="0"/>
              </a:rPr>
              <a:t>The higher the sigma level the better the quality of the product or service and the fewer the defects. </a:t>
            </a:r>
            <a:r>
              <a:rPr lang="en-US" sz="1800" i="0" noProof="0">
                <a:solidFill>
                  <a:schemeClr val="bg1"/>
                </a:solidFill>
                <a:effectLst/>
                <a:latin typeface="Trebuchet MS" panose="020B0603020202020204" pitchFamily="34" charset="0"/>
              </a:rPr>
              <a:t>​</a:t>
            </a:r>
            <a:endParaRPr lang="en-US" noProof="0">
              <a:solidFill>
                <a:schemeClr val="bg1"/>
              </a:solidFill>
              <a:latin typeface="Trebuchet MS" panose="020B0603020202020204" pitchFamily="34" charset="0"/>
            </a:endParaRPr>
          </a:p>
        </p:txBody>
      </p:sp>
      <p:pic>
        <p:nvPicPr>
          <p:cNvPr id="6" name="Graphic 5" descr="Open book outline">
            <a:extLst>
              <a:ext uri="{FF2B5EF4-FFF2-40B4-BE49-F238E27FC236}">
                <a16:creationId xmlns:a16="http://schemas.microsoft.com/office/drawing/2014/main" id="{BD26EAE9-9C64-DA3A-589F-3CA639A265B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24713" y="1466365"/>
            <a:ext cx="832470" cy="832470"/>
          </a:xfrm>
          <a:prstGeom prst="rect">
            <a:avLst/>
          </a:prstGeom>
        </p:spPr>
      </p:pic>
      <p:pic>
        <p:nvPicPr>
          <p:cNvPr id="17" name="Graphic 16" descr="Open book outline">
            <a:extLst>
              <a:ext uri="{FF2B5EF4-FFF2-40B4-BE49-F238E27FC236}">
                <a16:creationId xmlns:a16="http://schemas.microsoft.com/office/drawing/2014/main" id="{9F9D05B1-4B40-366D-AE4D-7D7DA9A6E5A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33640" y="1500283"/>
            <a:ext cx="777847" cy="777847"/>
          </a:xfrm>
          <a:prstGeom prst="rect">
            <a:avLst/>
          </a:prstGeom>
        </p:spPr>
      </p:pic>
      <p:sp>
        <p:nvSpPr>
          <p:cNvPr id="28" name="TextBox 27">
            <a:extLst>
              <a:ext uri="{FF2B5EF4-FFF2-40B4-BE49-F238E27FC236}">
                <a16:creationId xmlns:a16="http://schemas.microsoft.com/office/drawing/2014/main" id="{BF216C01-AB61-C7BE-3E02-D4838E1C7BEF}"/>
              </a:ext>
            </a:extLst>
          </p:cNvPr>
          <p:cNvSpPr txBox="1"/>
          <p:nvPr/>
        </p:nvSpPr>
        <p:spPr>
          <a:xfrm>
            <a:off x="6888416" y="2552754"/>
            <a:ext cx="1918568" cy="646331"/>
          </a:xfrm>
          <a:prstGeom prst="rect">
            <a:avLst/>
          </a:prstGeom>
          <a:noFill/>
        </p:spPr>
        <p:txBody>
          <a:bodyPr wrap="square">
            <a:spAutoFit/>
          </a:bodyPr>
          <a:lstStyle/>
          <a:p>
            <a:r>
              <a:rPr lang="en-US" sz="1200" b="1" noProof="0">
                <a:solidFill>
                  <a:schemeClr val="bg1"/>
                </a:solidFill>
                <a:latin typeface="Trebuchet MS" panose="020B0603020202020204" pitchFamily="34" charset="0"/>
                <a:cs typeface="Arial" panose="020B0604020202020204" pitchFamily="34" charset="0"/>
              </a:rPr>
              <a:t>Our Marcoms teams sampled 100 packs and found :</a:t>
            </a:r>
          </a:p>
        </p:txBody>
      </p:sp>
      <p:pic>
        <p:nvPicPr>
          <p:cNvPr id="7" name="Picture 6">
            <a:extLst>
              <a:ext uri="{FF2B5EF4-FFF2-40B4-BE49-F238E27FC236}">
                <a16:creationId xmlns:a16="http://schemas.microsoft.com/office/drawing/2014/main" id="{7514867F-2045-4241-3613-E22270F39F2B}"/>
              </a:ext>
            </a:extLst>
          </p:cNvPr>
          <p:cNvPicPr>
            <a:picLocks noChangeAspect="1"/>
          </p:cNvPicPr>
          <p:nvPr/>
        </p:nvPicPr>
        <p:blipFill>
          <a:blip r:embed="rId4"/>
          <a:stretch>
            <a:fillRect/>
          </a:stretch>
        </p:blipFill>
        <p:spPr>
          <a:xfrm>
            <a:off x="6281703" y="2935463"/>
            <a:ext cx="5702217" cy="1691516"/>
          </a:xfrm>
          <a:prstGeom prst="rect">
            <a:avLst/>
          </a:prstGeom>
        </p:spPr>
      </p:pic>
      <p:pic>
        <p:nvPicPr>
          <p:cNvPr id="9" name="Picture 8">
            <a:extLst>
              <a:ext uri="{FF2B5EF4-FFF2-40B4-BE49-F238E27FC236}">
                <a16:creationId xmlns:a16="http://schemas.microsoft.com/office/drawing/2014/main" id="{012AE3B4-EE68-CCE3-94C9-0B05B4CC17F7}"/>
              </a:ext>
            </a:extLst>
          </p:cNvPr>
          <p:cNvPicPr>
            <a:picLocks noChangeAspect="1"/>
          </p:cNvPicPr>
          <p:nvPr/>
        </p:nvPicPr>
        <p:blipFill>
          <a:blip r:embed="rId5"/>
          <a:stretch>
            <a:fillRect/>
          </a:stretch>
        </p:blipFill>
        <p:spPr>
          <a:xfrm>
            <a:off x="158861" y="2976186"/>
            <a:ext cx="5891811" cy="1650793"/>
          </a:xfrm>
          <a:prstGeom prst="rect">
            <a:avLst/>
          </a:prstGeom>
        </p:spPr>
      </p:pic>
    </p:spTree>
    <p:extLst>
      <p:ext uri="{BB962C8B-B14F-4D97-AF65-F5344CB8AC3E}">
        <p14:creationId xmlns:p14="http://schemas.microsoft.com/office/powerpoint/2010/main" val="39926907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3E2DE-91A6-ACA3-3FE4-4425BFF1720F}"/>
            </a:ext>
          </a:extLst>
        </p:cNvPr>
        <p:cNvGrpSpPr/>
        <p:nvPr/>
      </p:nvGrpSpPr>
      <p:grpSpPr>
        <a:xfrm>
          <a:off x="0" y="0"/>
          <a:ext cx="1" cy="1"/>
          <a:chOff x="0" y="0"/>
          <a:chExt cx="1" cy="1"/>
        </a:xfrm>
      </p:grpSpPr>
      <p:sp>
        <p:nvSpPr>
          <p:cNvPr id="2" name="Text Placeholder 1">
            <a:extLst>
              <a:ext uri="{FF2B5EF4-FFF2-40B4-BE49-F238E27FC236}">
                <a16:creationId xmlns:a16="http://schemas.microsoft.com/office/drawing/2014/main" id="{2076E882-7483-23BC-7AF5-AF4770B29507}"/>
              </a:ext>
            </a:extLst>
          </p:cNvPr>
          <p:cNvSpPr>
            <a:spLocks noGrp="1"/>
          </p:cNvSpPr>
          <p:nvPr>
            <p:ph type="body" sz="quarter" idx="10"/>
          </p:nvPr>
        </p:nvSpPr>
        <p:spPr>
          <a:xfrm>
            <a:off x="333983" y="497940"/>
            <a:ext cx="8763000" cy="492443"/>
          </a:xfrm>
        </p:spPr>
        <p:txBody>
          <a:bodyPr/>
          <a:lstStyle/>
          <a:p>
            <a:r>
              <a:rPr lang="en-US" sz="3200" noProof="0">
                <a:latin typeface="Trebuchet MS" panose="020B0603020202020204" pitchFamily="34" charset="0"/>
              </a:rPr>
              <a:t>Activity: Process Sigma</a:t>
            </a:r>
          </a:p>
        </p:txBody>
      </p:sp>
      <p:sp>
        <p:nvSpPr>
          <p:cNvPr id="6" name="TextBox 5">
            <a:extLst>
              <a:ext uri="{FF2B5EF4-FFF2-40B4-BE49-F238E27FC236}">
                <a16:creationId xmlns:a16="http://schemas.microsoft.com/office/drawing/2014/main" id="{EAE4410E-CDFF-614C-EF4E-FA02F050136C}"/>
              </a:ext>
            </a:extLst>
          </p:cNvPr>
          <p:cNvSpPr txBox="1"/>
          <p:nvPr/>
        </p:nvSpPr>
        <p:spPr>
          <a:xfrm>
            <a:off x="304800" y="1524000"/>
            <a:ext cx="487680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2060"/>
                </a:solidFill>
                <a:effectLst/>
                <a:uLnTx/>
                <a:uFillTx/>
                <a:latin typeface="Trebuchet MS" panose="020B0603020202020204" pitchFamily="34" charset="0"/>
              </a:rPr>
              <a:t>Based on the DPMO we previously created, what is the Sigma for this process?</a:t>
            </a:r>
          </a:p>
        </p:txBody>
      </p:sp>
      <p:sp>
        <p:nvSpPr>
          <p:cNvPr id="7" name="Rectangle: Rounded Corners 6">
            <a:extLst>
              <a:ext uri="{FF2B5EF4-FFF2-40B4-BE49-F238E27FC236}">
                <a16:creationId xmlns:a16="http://schemas.microsoft.com/office/drawing/2014/main" id="{5A176980-3488-F2C4-E3B0-1C681517701A}"/>
              </a:ext>
            </a:extLst>
          </p:cNvPr>
          <p:cNvSpPr/>
          <p:nvPr/>
        </p:nvSpPr>
        <p:spPr>
          <a:xfrm>
            <a:off x="5956214" y="1676400"/>
            <a:ext cx="5869236" cy="454765"/>
          </a:xfrm>
          <a:prstGeom prst="roundRect">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Trebuchet MS" panose="020B0603020202020204" pitchFamily="34" charset="0"/>
                <a:ea typeface="+mn-ea"/>
                <a:cs typeface="+mn-cs"/>
              </a:rPr>
              <a:t>Identify Opportunities per item</a:t>
            </a:r>
          </a:p>
        </p:txBody>
      </p:sp>
      <p:sp>
        <p:nvSpPr>
          <p:cNvPr id="8" name="Rectangle: Rounded Corners 7">
            <a:extLst>
              <a:ext uri="{FF2B5EF4-FFF2-40B4-BE49-F238E27FC236}">
                <a16:creationId xmlns:a16="http://schemas.microsoft.com/office/drawing/2014/main" id="{AAD30017-CB68-A987-FED5-AD3B76A07E3C}"/>
              </a:ext>
            </a:extLst>
          </p:cNvPr>
          <p:cNvSpPr/>
          <p:nvPr/>
        </p:nvSpPr>
        <p:spPr>
          <a:xfrm>
            <a:off x="5977569" y="2401707"/>
            <a:ext cx="5869236" cy="912152"/>
          </a:xfrm>
          <a:prstGeom prst="round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Trebuchet MS" panose="020B0603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Trebuchet MS" panose="020B0603020202020204" pitchFamily="34" charset="0"/>
                <a:ea typeface="+mn-ea"/>
                <a:cs typeface="+mn-cs"/>
              </a:rPr>
              <a:t>Calculate the total opportunities </a:t>
            </a:r>
            <a:r>
              <a:rPr kumimoji="0" lang="en-US" sz="1400" b="0" i="0" u="none" strike="noStrike" kern="1200" cap="none" spc="0" normalizeH="0" baseline="0" noProof="0">
                <a:ln>
                  <a:noFill/>
                </a:ln>
                <a:solidFill>
                  <a:prstClr val="white"/>
                </a:solidFill>
                <a:effectLst/>
                <a:uLnTx/>
                <a:uFillTx/>
                <a:latin typeface="Trebuchet MS" panose="020B0603020202020204" pitchFamily="34" charset="0"/>
                <a:ea typeface="+mn-ea"/>
                <a:cs typeface="+mn-cs"/>
              </a:rPr>
              <a:t>(what could go wrong)</a:t>
            </a:r>
          </a:p>
          <a:p>
            <a:pPr algn="ctr">
              <a:defRPr/>
            </a:pPr>
            <a:r>
              <a:rPr kumimoji="0" lang="en-US" sz="1400" b="0" i="0" u="none" strike="noStrike" kern="1200" cap="none" spc="0" normalizeH="0" baseline="0" noProof="0">
                <a:ln>
                  <a:noFill/>
                </a:ln>
                <a:solidFill>
                  <a:prstClr val="white"/>
                </a:solidFill>
                <a:effectLst/>
                <a:uLnTx/>
                <a:uFillTx/>
                <a:latin typeface="Trebuchet MS"/>
              </a:rPr>
              <a:t>4 potential defects x 200 new starters = </a:t>
            </a:r>
            <a:r>
              <a:rPr lang="en-US" sz="1400">
                <a:solidFill>
                  <a:prstClr val="white"/>
                </a:solidFill>
                <a:latin typeface="Trebuchet MS"/>
              </a:rPr>
              <a:t>800 opportunities</a:t>
            </a:r>
            <a:endParaRPr lang="en-US" sz="1400" b="0" i="0" u="none" strike="noStrike" kern="1200" cap="none" spc="0" normalizeH="0" baseline="0" noProof="0">
              <a:ln>
                <a:noFill/>
              </a:ln>
              <a:solidFill>
                <a:prstClr val="white"/>
              </a:solidFill>
              <a:effectLst/>
              <a:uLnTx/>
              <a:uFillTx/>
              <a:latin typeface="Trebuchet MS" panose="020B0603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Trebuchet MS" panose="020B0603020202020204" pitchFamily="34" charset="0"/>
              <a:ea typeface="+mn-ea"/>
              <a:cs typeface="+mn-cs"/>
            </a:endParaRPr>
          </a:p>
        </p:txBody>
      </p:sp>
      <p:sp>
        <p:nvSpPr>
          <p:cNvPr id="9" name="Rectangle: Rounded Corners 8">
            <a:extLst>
              <a:ext uri="{FF2B5EF4-FFF2-40B4-BE49-F238E27FC236}">
                <a16:creationId xmlns:a16="http://schemas.microsoft.com/office/drawing/2014/main" id="{1B2ECF89-CD03-66BD-D8B9-0BFC51D6C864}"/>
              </a:ext>
            </a:extLst>
          </p:cNvPr>
          <p:cNvSpPr/>
          <p:nvPr/>
        </p:nvSpPr>
        <p:spPr>
          <a:xfrm>
            <a:off x="5956214" y="3671522"/>
            <a:ext cx="5869236" cy="759000"/>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Trebuchet MS" panose="020B0603020202020204" pitchFamily="34" charset="0"/>
                <a:ea typeface="+mn-ea"/>
                <a:cs typeface="+mn-cs"/>
              </a:rPr>
              <a:t>Calculate DPU </a:t>
            </a:r>
            <a:r>
              <a:rPr kumimoji="0" lang="en-US" sz="1400" b="0" i="0" u="none" strike="noStrike" kern="1200" cap="none" spc="0" normalizeH="0" baseline="0" noProof="0">
                <a:ln>
                  <a:noFill/>
                </a:ln>
                <a:solidFill>
                  <a:prstClr val="white"/>
                </a:solidFill>
                <a:effectLst/>
                <a:uLnTx/>
                <a:uFillTx/>
                <a:latin typeface="Trebuchet MS" panose="020B0603020202020204" pitchFamily="34" charset="0"/>
                <a:ea typeface="+mn-ea"/>
                <a:cs typeface="+mn-cs"/>
              </a:rPr>
              <a:t>(what did go wrong)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Trebuchet MS"/>
                <a:ea typeface="+mn-ea"/>
                <a:cs typeface="+mn-cs"/>
              </a:rPr>
              <a:t>16 defects/200 families = 0.08 defects per item</a:t>
            </a:r>
          </a:p>
        </p:txBody>
      </p:sp>
      <p:sp>
        <p:nvSpPr>
          <p:cNvPr id="10" name="Rectangle: Rounded Corners 9">
            <a:extLst>
              <a:ext uri="{FF2B5EF4-FFF2-40B4-BE49-F238E27FC236}">
                <a16:creationId xmlns:a16="http://schemas.microsoft.com/office/drawing/2014/main" id="{D405222D-6C0A-29AF-6861-8BB095DD0630}"/>
              </a:ext>
            </a:extLst>
          </p:cNvPr>
          <p:cNvSpPr/>
          <p:nvPr/>
        </p:nvSpPr>
        <p:spPr>
          <a:xfrm>
            <a:off x="5982433" y="4702881"/>
            <a:ext cx="5869236" cy="1295400"/>
          </a:xfrm>
          <a:prstGeom prst="roundRect">
            <a:avLst/>
          </a:prstGeom>
          <a:solidFill>
            <a:srgbClr val="27AAE1"/>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Trebuchet MS" panose="020B0603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Trebuchet MS" panose="020B0603020202020204" pitchFamily="34" charset="0"/>
                <a:ea typeface="+mn-ea"/>
                <a:cs typeface="+mn-cs"/>
              </a:rPr>
              <a:t>Apply DPMO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Trebuchet MS" panose="020B0603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Trebuchet MS" panose="020B0603020202020204" pitchFamily="34" charset="0"/>
                <a:ea typeface="+mn-ea"/>
                <a:cs typeface="+mn-cs"/>
              </a:rPr>
              <a:t>DPMO = (DPU ÷ Opportunities) × 1,000,000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Trebuchet MS" panose="020B0603020202020204" pitchFamily="34" charset="0"/>
                <a:ea typeface="+mn-ea"/>
                <a:cs typeface="+mn-cs"/>
              </a:rPr>
              <a:t>= (0.08÷ 7 Defects) × 1,000,000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Trebuchet MS" panose="020B0603020202020204" pitchFamily="34" charset="0"/>
                <a:ea typeface="+mn-ea"/>
                <a:cs typeface="+mn-cs"/>
              </a:rPr>
              <a:t>= 20,000 Child Care defects per million opportunities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Trebuchet MS" panose="020B0603020202020204" pitchFamily="34" charset="0"/>
              <a:ea typeface="+mn-ea"/>
              <a:cs typeface="+mn-cs"/>
            </a:endParaRPr>
          </a:p>
        </p:txBody>
      </p:sp>
      <p:sp>
        <p:nvSpPr>
          <p:cNvPr id="11" name="Arrow: Down 10">
            <a:extLst>
              <a:ext uri="{FF2B5EF4-FFF2-40B4-BE49-F238E27FC236}">
                <a16:creationId xmlns:a16="http://schemas.microsoft.com/office/drawing/2014/main" id="{5CC2A0A9-07E9-231E-8D75-AFB68C47E67E}"/>
              </a:ext>
            </a:extLst>
          </p:cNvPr>
          <p:cNvSpPr/>
          <p:nvPr/>
        </p:nvSpPr>
        <p:spPr>
          <a:xfrm>
            <a:off x="8494794" y="2053851"/>
            <a:ext cx="788404" cy="356237"/>
          </a:xfrm>
          <a:prstGeom prst="downArrow">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Trebuchet MS" panose="020B0603020202020204" pitchFamily="34" charset="0"/>
              <a:ea typeface="+mn-ea"/>
              <a:cs typeface="+mn-cs"/>
            </a:endParaRPr>
          </a:p>
        </p:txBody>
      </p:sp>
      <p:sp>
        <p:nvSpPr>
          <p:cNvPr id="12" name="Arrow: Down 11">
            <a:extLst>
              <a:ext uri="{FF2B5EF4-FFF2-40B4-BE49-F238E27FC236}">
                <a16:creationId xmlns:a16="http://schemas.microsoft.com/office/drawing/2014/main" id="{1E1EA0A6-C244-5868-2360-0699248DA08E}"/>
              </a:ext>
            </a:extLst>
          </p:cNvPr>
          <p:cNvSpPr/>
          <p:nvPr/>
        </p:nvSpPr>
        <p:spPr>
          <a:xfrm>
            <a:off x="8558380" y="3273265"/>
            <a:ext cx="788404" cy="356237"/>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Trebuchet MS" panose="020B0603020202020204" pitchFamily="34" charset="0"/>
              <a:ea typeface="+mn-ea"/>
              <a:cs typeface="+mn-cs"/>
            </a:endParaRPr>
          </a:p>
        </p:txBody>
      </p:sp>
      <p:sp>
        <p:nvSpPr>
          <p:cNvPr id="13" name="Arrow: Down 12">
            <a:extLst>
              <a:ext uri="{FF2B5EF4-FFF2-40B4-BE49-F238E27FC236}">
                <a16:creationId xmlns:a16="http://schemas.microsoft.com/office/drawing/2014/main" id="{152B0242-8397-157B-FD22-30A1813FD882}"/>
              </a:ext>
            </a:extLst>
          </p:cNvPr>
          <p:cNvSpPr/>
          <p:nvPr/>
        </p:nvSpPr>
        <p:spPr>
          <a:xfrm>
            <a:off x="8558380" y="4343402"/>
            <a:ext cx="788404" cy="356237"/>
          </a:xfrm>
          <a:prstGeom prst="down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Trebuchet MS" panose="020B0603020202020204" pitchFamily="34" charset="0"/>
              <a:ea typeface="+mn-ea"/>
              <a:cs typeface="+mn-cs"/>
            </a:endParaRPr>
          </a:p>
        </p:txBody>
      </p:sp>
      <p:pic>
        <p:nvPicPr>
          <p:cNvPr id="3" name="Picture 2">
            <a:extLst>
              <a:ext uri="{FF2B5EF4-FFF2-40B4-BE49-F238E27FC236}">
                <a16:creationId xmlns:a16="http://schemas.microsoft.com/office/drawing/2014/main" id="{D448E0A4-E8C4-B5E3-CB92-F7609F5791E4}"/>
              </a:ext>
            </a:extLst>
          </p:cNvPr>
          <p:cNvPicPr>
            <a:picLocks noChangeAspect="1"/>
          </p:cNvPicPr>
          <p:nvPr/>
        </p:nvPicPr>
        <p:blipFill>
          <a:blip r:embed="rId3"/>
          <a:stretch>
            <a:fillRect/>
          </a:stretch>
        </p:blipFill>
        <p:spPr>
          <a:xfrm>
            <a:off x="228600" y="2339994"/>
            <a:ext cx="5700958" cy="3146406"/>
          </a:xfrm>
          <a:prstGeom prst="rect">
            <a:avLst/>
          </a:prstGeom>
        </p:spPr>
      </p:pic>
    </p:spTree>
    <p:extLst>
      <p:ext uri="{BB962C8B-B14F-4D97-AF65-F5344CB8AC3E}">
        <p14:creationId xmlns:p14="http://schemas.microsoft.com/office/powerpoint/2010/main" val="5197454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3F2C3596-268B-B743-9A90-FAC16A531B56}"/>
              </a:ext>
            </a:extLst>
          </p:cNvPr>
          <p:cNvSpPr>
            <a:spLocks noGrp="1"/>
          </p:cNvSpPr>
          <p:nvPr>
            <p:ph type="body" sz="quarter" idx="10"/>
          </p:nvPr>
        </p:nvSpPr>
        <p:spPr>
          <a:xfrm>
            <a:off x="533400" y="4343400"/>
            <a:ext cx="5562600" cy="492443"/>
          </a:xfrm>
        </p:spPr>
        <p:txBody>
          <a:bodyPr/>
          <a:lstStyle/>
          <a:p>
            <a:r>
              <a:rPr lang="en-US" sz="3200" noProof="0">
                <a:latin typeface="Trebuchet MS" panose="020B0603020202020204" pitchFamily="34" charset="0"/>
              </a:rPr>
              <a:t>Rolled Throughput Yield</a:t>
            </a:r>
          </a:p>
        </p:txBody>
      </p:sp>
      <p:sp>
        <p:nvSpPr>
          <p:cNvPr id="7" name="Text Placeholder 6">
            <a:extLst>
              <a:ext uri="{FF2B5EF4-FFF2-40B4-BE49-F238E27FC236}">
                <a16:creationId xmlns:a16="http://schemas.microsoft.com/office/drawing/2014/main" id="{8D3A1520-3560-7247-8EF4-BDA54252B5C8}"/>
              </a:ext>
            </a:extLst>
          </p:cNvPr>
          <p:cNvSpPr>
            <a:spLocks noGrp="1"/>
          </p:cNvSpPr>
          <p:nvPr>
            <p:ph type="body" sz="quarter" idx="12"/>
          </p:nvPr>
        </p:nvSpPr>
        <p:spPr>
          <a:xfrm>
            <a:off x="530280" y="3505200"/>
            <a:ext cx="914400" cy="492443"/>
          </a:xfrm>
        </p:spPr>
        <p:txBody>
          <a:bodyPr/>
          <a:lstStyle/>
          <a:p>
            <a:r>
              <a:rPr lang="en-US" sz="3200" noProof="0"/>
              <a:t>4</a:t>
            </a:r>
          </a:p>
        </p:txBody>
      </p:sp>
      <p:sp>
        <p:nvSpPr>
          <p:cNvPr id="2" name="Text Placeholder 5">
            <a:extLst>
              <a:ext uri="{FF2B5EF4-FFF2-40B4-BE49-F238E27FC236}">
                <a16:creationId xmlns:a16="http://schemas.microsoft.com/office/drawing/2014/main" id="{B0296B77-53C2-2FE4-4A7D-1C8310293B54}"/>
              </a:ext>
            </a:extLst>
          </p:cNvPr>
          <p:cNvSpPr txBox="1">
            <a:spLocks/>
          </p:cNvSpPr>
          <p:nvPr/>
        </p:nvSpPr>
        <p:spPr>
          <a:xfrm>
            <a:off x="530280" y="6019800"/>
            <a:ext cx="2743200" cy="384721"/>
          </a:xfrm>
          <a:prstGeom prst="rect">
            <a:avLst/>
          </a:prstGeom>
        </p:spPr>
        <p:txBody>
          <a:bodyPr wrap="square" lIns="0" tIns="0" rIns="0" bIns="0">
            <a:spAutoFit/>
          </a:bodyPr>
          <a:lstStyle>
            <a:lvl1pPr marL="0">
              <a:defRPr sz="2500" b="0" i="0">
                <a:solidFill>
                  <a:schemeClr val="bg1"/>
                </a:solidFill>
                <a:latin typeface="Arial" panose="020B0604020202020204" pitchFamily="34" charset="0"/>
                <a:ea typeface="+mn-ea"/>
                <a:cs typeface="Arial" panose="020B0604020202020204" pitchFamily="34" charset="0"/>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kern="0" noProof="0">
                <a:latin typeface="Trebuchet MS" panose="020B0603020202020204" pitchFamily="34" charset="0"/>
              </a:rPr>
              <a:t>Summarizing Data</a:t>
            </a:r>
          </a:p>
        </p:txBody>
      </p:sp>
    </p:spTree>
    <p:extLst>
      <p:ext uri="{BB962C8B-B14F-4D97-AF65-F5344CB8AC3E}">
        <p14:creationId xmlns:p14="http://schemas.microsoft.com/office/powerpoint/2010/main" val="483135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65B93B2F-2908-50C2-F779-0B1BCB8CAD01}"/>
              </a:ext>
            </a:extLst>
          </p:cNvPr>
          <p:cNvSpPr>
            <a:spLocks noGrp="1"/>
          </p:cNvSpPr>
          <p:nvPr>
            <p:ph type="body" sz="quarter" idx="10"/>
          </p:nvPr>
        </p:nvSpPr>
        <p:spPr>
          <a:xfrm>
            <a:off x="598004" y="381000"/>
            <a:ext cx="8686800" cy="492443"/>
          </a:xfrm>
        </p:spPr>
        <p:txBody>
          <a:bodyPr/>
          <a:lstStyle/>
          <a:p>
            <a:r>
              <a:rPr lang="en-US" sz="3200" noProof="0">
                <a:latin typeface="Trebuchet MS" panose="020B0603020202020204" pitchFamily="34" charset="0"/>
              </a:rPr>
              <a:t>What is Rolled Throughput Yield (RTY)?</a:t>
            </a:r>
          </a:p>
        </p:txBody>
      </p:sp>
      <p:sp>
        <p:nvSpPr>
          <p:cNvPr id="3" name="TextBox 2">
            <a:extLst>
              <a:ext uri="{FF2B5EF4-FFF2-40B4-BE49-F238E27FC236}">
                <a16:creationId xmlns:a16="http://schemas.microsoft.com/office/drawing/2014/main" id="{0263DE7B-32C7-DF5C-C910-81BFBBCEDD72}"/>
              </a:ext>
            </a:extLst>
          </p:cNvPr>
          <p:cNvSpPr txBox="1"/>
          <p:nvPr/>
        </p:nvSpPr>
        <p:spPr>
          <a:xfrm>
            <a:off x="339127" y="6155200"/>
            <a:ext cx="7569743" cy="307777"/>
          </a:xfrm>
          <a:prstGeom prst="rect">
            <a:avLst/>
          </a:prstGeom>
          <a:solidFill>
            <a:srgbClr val="24408D"/>
          </a:solidFill>
        </p:spPr>
        <p:txBody>
          <a:bodyPr wrap="square">
            <a:spAutoFit/>
          </a:bodyPr>
          <a:lstStyle/>
          <a:p>
            <a:r>
              <a:rPr lang="en-US" sz="1400" b="1" noProof="0">
                <a:solidFill>
                  <a:schemeClr val="bg1"/>
                </a:solidFill>
                <a:latin typeface="Trebuchet MS" panose="020B0603020202020204" pitchFamily="34" charset="0"/>
              </a:rPr>
              <a:t>Key Takeaway: </a:t>
            </a:r>
            <a:r>
              <a:rPr lang="en-US" sz="1400" noProof="0">
                <a:solidFill>
                  <a:schemeClr val="bg1"/>
                </a:solidFill>
                <a:latin typeface="Trebuchet MS" panose="020B0603020202020204" pitchFamily="34" charset="0"/>
              </a:rPr>
              <a:t>Final Yield can be misleading because it hides rework and inefficiencies.</a:t>
            </a:r>
          </a:p>
        </p:txBody>
      </p:sp>
      <p:sp>
        <p:nvSpPr>
          <p:cNvPr id="4" name="TextBox 3">
            <a:extLst>
              <a:ext uri="{FF2B5EF4-FFF2-40B4-BE49-F238E27FC236}">
                <a16:creationId xmlns:a16="http://schemas.microsoft.com/office/drawing/2014/main" id="{350D34F9-DFE7-8723-AD65-00C052A655E8}"/>
              </a:ext>
            </a:extLst>
          </p:cNvPr>
          <p:cNvSpPr txBox="1"/>
          <p:nvPr/>
        </p:nvSpPr>
        <p:spPr>
          <a:xfrm>
            <a:off x="7108591" y="2989714"/>
            <a:ext cx="1752600" cy="2800767"/>
          </a:xfrm>
          <a:prstGeom prst="rect">
            <a:avLst/>
          </a:prstGeom>
          <a:solidFill>
            <a:schemeClr val="bg1"/>
          </a:solidFill>
          <a:ln w="38100">
            <a:solidFill>
              <a:srgbClr val="00AF74"/>
            </a:solidFill>
          </a:ln>
        </p:spPr>
        <p:txBody>
          <a:bodyPr wrap="square">
            <a:spAutoFit/>
          </a:bodyPr>
          <a:lstStyle/>
          <a:p>
            <a:r>
              <a:rPr lang="en-US" sz="1600" b="1" noProof="0">
                <a:solidFill>
                  <a:srgbClr val="00AF74"/>
                </a:solidFill>
                <a:latin typeface="Trebuchet MS" panose="020B0603020202020204" pitchFamily="34" charset="0"/>
              </a:rPr>
              <a:t>Final Yield</a:t>
            </a:r>
          </a:p>
          <a:p>
            <a:endParaRPr lang="en-US" sz="1600" noProof="0">
              <a:solidFill>
                <a:srgbClr val="00AF74"/>
              </a:solidFill>
              <a:latin typeface="Trebuchet MS" panose="020B0603020202020204" pitchFamily="34" charset="0"/>
            </a:endParaRPr>
          </a:p>
          <a:p>
            <a:pPr marL="285750" indent="-285750">
              <a:buFont typeface="Arial" panose="020B0604020202020204" pitchFamily="34" charset="0"/>
              <a:buChar char="•"/>
            </a:pPr>
            <a:r>
              <a:rPr lang="en-US" sz="1600" b="0" i="0" noProof="0">
                <a:solidFill>
                  <a:srgbClr val="00AF74"/>
                </a:solidFill>
                <a:effectLst/>
                <a:latin typeface="Trebuchet MS" panose="020B0603020202020204" pitchFamily="34" charset="0"/>
              </a:rPr>
              <a:t>Shows the final output only.</a:t>
            </a:r>
          </a:p>
          <a:p>
            <a:pPr marL="285750" indent="-285750">
              <a:buFont typeface="Arial" panose="020B0604020202020204" pitchFamily="34" charset="0"/>
              <a:buChar char="•"/>
            </a:pPr>
            <a:endParaRPr lang="en-US" sz="1600" b="0" i="0" noProof="0">
              <a:solidFill>
                <a:srgbClr val="00AF74"/>
              </a:solidFill>
              <a:effectLst/>
              <a:latin typeface="Trebuchet MS" panose="020B0603020202020204" pitchFamily="34" charset="0"/>
            </a:endParaRPr>
          </a:p>
          <a:p>
            <a:pPr marL="285750" indent="-285750">
              <a:buFont typeface="Arial" panose="020B0604020202020204" pitchFamily="34" charset="0"/>
              <a:buChar char="•"/>
            </a:pPr>
            <a:r>
              <a:rPr lang="en-US" sz="1600" noProof="0">
                <a:solidFill>
                  <a:srgbClr val="00AF74"/>
                </a:solidFill>
                <a:latin typeface="Trebuchet MS" panose="020B0603020202020204" pitchFamily="34" charset="0"/>
              </a:rPr>
              <a:t>Shows what reaches the customer.</a:t>
            </a:r>
          </a:p>
          <a:p>
            <a:pPr algn="ctr"/>
            <a:endParaRPr lang="en-US" sz="1600" noProof="0">
              <a:solidFill>
                <a:srgbClr val="27AAE1"/>
              </a:solidFill>
              <a:latin typeface="Trebuchet MS" panose="020B0603020202020204" pitchFamily="34" charset="0"/>
            </a:endParaRPr>
          </a:p>
          <a:p>
            <a:pPr algn="ctr"/>
            <a:r>
              <a:rPr lang="en-US" sz="1600" noProof="0">
                <a:solidFill>
                  <a:srgbClr val="00AF74"/>
                </a:solidFill>
                <a:latin typeface="Trebuchet MS" panose="020B0603020202020204" pitchFamily="34" charset="0"/>
              </a:rPr>
              <a:t>Final = 77/100</a:t>
            </a:r>
          </a:p>
        </p:txBody>
      </p:sp>
      <p:sp>
        <p:nvSpPr>
          <p:cNvPr id="8" name="Rectangle: Rounded Corners 7">
            <a:extLst>
              <a:ext uri="{FF2B5EF4-FFF2-40B4-BE49-F238E27FC236}">
                <a16:creationId xmlns:a16="http://schemas.microsoft.com/office/drawing/2014/main" id="{66947840-983F-E878-AEFE-6F0C99C24070}"/>
              </a:ext>
            </a:extLst>
          </p:cNvPr>
          <p:cNvSpPr/>
          <p:nvPr/>
        </p:nvSpPr>
        <p:spPr>
          <a:xfrm>
            <a:off x="7092681" y="2039925"/>
            <a:ext cx="1752600" cy="762000"/>
          </a:xfrm>
          <a:prstGeom prst="roundRect">
            <a:avLst/>
          </a:prstGeom>
          <a:solidFill>
            <a:srgbClr val="00AF74"/>
          </a:solidFill>
          <a:ln w="38100">
            <a:solidFill>
              <a:srgbClr val="00AF74"/>
            </a:solidFill>
          </a:ln>
          <a:effectLst/>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600" b="1" noProof="0">
                <a:solidFill>
                  <a:srgbClr val="FFFFFF"/>
                </a:solidFill>
                <a:latin typeface="Arial" panose="020B0604020202020204" pitchFamily="34" charset="0"/>
                <a:cs typeface="Arial" panose="020B0604020202020204" pitchFamily="34" charset="0"/>
              </a:rPr>
              <a:t>Output </a:t>
            </a:r>
          </a:p>
          <a:p>
            <a:pPr algn="ctr"/>
            <a:r>
              <a:rPr lang="en-US" sz="1600" b="1" noProof="0">
                <a:solidFill>
                  <a:srgbClr val="FFFFFF"/>
                </a:solidFill>
                <a:latin typeface="Arial" panose="020B0604020202020204" pitchFamily="34" charset="0"/>
                <a:cs typeface="Arial" panose="020B0604020202020204" pitchFamily="34" charset="0"/>
              </a:rPr>
              <a:t> 76.7%</a:t>
            </a:r>
          </a:p>
        </p:txBody>
      </p:sp>
      <p:grpSp>
        <p:nvGrpSpPr>
          <p:cNvPr id="12" name="Group 11">
            <a:extLst>
              <a:ext uri="{FF2B5EF4-FFF2-40B4-BE49-F238E27FC236}">
                <a16:creationId xmlns:a16="http://schemas.microsoft.com/office/drawing/2014/main" id="{757A50B8-60D9-371A-3395-EC82B57213F8}"/>
              </a:ext>
            </a:extLst>
          </p:cNvPr>
          <p:cNvGrpSpPr/>
          <p:nvPr/>
        </p:nvGrpSpPr>
        <p:grpSpPr>
          <a:xfrm>
            <a:off x="339127" y="1981200"/>
            <a:ext cx="6671273" cy="3810560"/>
            <a:chOff x="1206887" y="1679544"/>
            <a:chExt cx="6671273" cy="3427040"/>
          </a:xfrm>
          <a:effectLst/>
        </p:grpSpPr>
        <p:sp>
          <p:nvSpPr>
            <p:cNvPr id="15" name="TextBox 14">
              <a:extLst>
                <a:ext uri="{FF2B5EF4-FFF2-40B4-BE49-F238E27FC236}">
                  <a16:creationId xmlns:a16="http://schemas.microsoft.com/office/drawing/2014/main" id="{4E9A168D-8F74-FFDF-569A-DF077AFFB730}"/>
                </a:ext>
              </a:extLst>
            </p:cNvPr>
            <p:cNvSpPr txBox="1"/>
            <p:nvPr/>
          </p:nvSpPr>
          <p:spPr>
            <a:xfrm>
              <a:off x="1223284" y="2587705"/>
              <a:ext cx="6231776" cy="2518879"/>
            </a:xfrm>
            <a:prstGeom prst="rect">
              <a:avLst/>
            </a:prstGeom>
            <a:solidFill>
              <a:schemeClr val="bg1"/>
            </a:solidFill>
            <a:ln w="38100">
              <a:solidFill>
                <a:srgbClr val="27AAE1"/>
              </a:solidFill>
            </a:ln>
          </p:spPr>
          <p:txBody>
            <a:bodyPr wrap="square">
              <a:spAutoFit/>
            </a:bodyPr>
            <a:lstStyle/>
            <a:p>
              <a:pPr algn="ctr"/>
              <a:r>
                <a:rPr lang="en-US" sz="1600" b="1" noProof="0">
                  <a:solidFill>
                    <a:srgbClr val="002060"/>
                  </a:solidFill>
                  <a:latin typeface="Trebuchet MS" panose="020B0603020202020204" pitchFamily="34" charset="0"/>
                </a:rPr>
                <a:t>Rolled Throughput Yield</a:t>
              </a:r>
            </a:p>
            <a:p>
              <a:endParaRPr lang="en-US" sz="16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600" b="0" i="0" noProof="0">
                  <a:solidFill>
                    <a:srgbClr val="002060"/>
                  </a:solidFill>
                  <a:effectLst/>
                  <a:latin typeface="Trebuchet MS" panose="020B0603020202020204" pitchFamily="34" charset="0"/>
                </a:rPr>
                <a:t>Measures </a:t>
              </a:r>
              <a:r>
                <a:rPr lang="en-US" sz="1600" noProof="0">
                  <a:solidFill>
                    <a:srgbClr val="002060"/>
                  </a:solidFill>
                  <a:latin typeface="Trebuchet MS" panose="020B0603020202020204" pitchFamily="34" charset="0"/>
                </a:rPr>
                <a:t>probability of passing each step defect-free.</a:t>
              </a:r>
            </a:p>
            <a:p>
              <a:pPr marL="285750" indent="-285750">
                <a:buFont typeface="Arial" panose="020B0604020202020204" pitchFamily="34" charset="0"/>
                <a:buChar char="•"/>
              </a:pPr>
              <a:r>
                <a:rPr lang="en-US" sz="1600" b="0" i="0" noProof="0">
                  <a:solidFill>
                    <a:srgbClr val="002060"/>
                  </a:solidFill>
                  <a:effectLst/>
                  <a:latin typeface="Trebuchet MS" panose="020B0603020202020204" pitchFamily="34" charset="0"/>
                </a:rPr>
                <a:t>Shows the true performance of the whole process.</a:t>
              </a:r>
            </a:p>
            <a:p>
              <a:endParaRPr lang="en-US" sz="1600" noProof="0">
                <a:solidFill>
                  <a:srgbClr val="002060"/>
                </a:solidFill>
                <a:latin typeface="Trebuchet MS" panose="020B0603020202020204" pitchFamily="34" charset="0"/>
              </a:endParaRPr>
            </a:p>
            <a:p>
              <a:r>
                <a:rPr lang="en-US" sz="1600" b="0" i="0" noProof="0">
                  <a:solidFill>
                    <a:srgbClr val="002060"/>
                  </a:solidFill>
                  <a:effectLst/>
                  <a:latin typeface="Trebuchet MS" panose="020B0603020202020204" pitchFamily="34" charset="0"/>
                </a:rPr>
                <a:t> </a:t>
              </a:r>
              <a:r>
                <a:rPr lang="en-US" sz="1600" b="1" i="0" noProof="0">
                  <a:solidFill>
                    <a:srgbClr val="002060"/>
                  </a:solidFill>
                  <a:effectLst/>
                  <a:latin typeface="Trebuchet MS" panose="020B0603020202020204" pitchFamily="34" charset="0"/>
                </a:rPr>
                <a:t>It shows:</a:t>
              </a:r>
            </a:p>
            <a:p>
              <a:pPr marL="285750" indent="-285750">
                <a:buFont typeface="Arial" panose="020B0604020202020204" pitchFamily="34" charset="0"/>
                <a:buChar char="•"/>
              </a:pPr>
              <a:r>
                <a:rPr lang="en-US" sz="1600" b="0" i="0" noProof="0">
                  <a:solidFill>
                    <a:srgbClr val="002060"/>
                  </a:solidFill>
                  <a:effectLst/>
                  <a:latin typeface="Trebuchet MS" panose="020B0603020202020204" pitchFamily="34" charset="0"/>
                </a:rPr>
                <a:t>The cumulative impact of defects across all steps.</a:t>
              </a:r>
            </a:p>
            <a:p>
              <a:pPr marL="285750" indent="-285750">
                <a:buFont typeface="Arial" panose="020B0604020202020204" pitchFamily="34" charset="0"/>
                <a:buChar char="•"/>
              </a:pPr>
              <a:r>
                <a:rPr lang="en-US" sz="1600" b="0" i="0" noProof="0">
                  <a:solidFill>
                    <a:srgbClr val="002060"/>
                  </a:solidFill>
                  <a:effectLst/>
                  <a:latin typeface="Trebuchet MS" panose="020B0603020202020204" pitchFamily="34" charset="0"/>
                </a:rPr>
                <a:t>Where quality is lost within the process.</a:t>
              </a:r>
            </a:p>
            <a:p>
              <a:pPr marL="285750" indent="-285750">
                <a:buFont typeface="Arial" panose="020B0604020202020204" pitchFamily="34" charset="0"/>
                <a:buChar char="•"/>
              </a:pPr>
              <a:endParaRPr lang="en-US" sz="1600" noProof="0">
                <a:solidFill>
                  <a:srgbClr val="002060"/>
                </a:solidFill>
                <a:latin typeface="Trebuchet MS" panose="020B0603020202020204" pitchFamily="34" charset="0"/>
              </a:endParaRPr>
            </a:p>
            <a:p>
              <a:pPr algn="ctr"/>
              <a:r>
                <a:rPr lang="en-US" sz="1600" b="0" i="0" noProof="0">
                  <a:solidFill>
                    <a:srgbClr val="002060"/>
                  </a:solidFill>
                  <a:effectLst/>
                  <a:latin typeface="Trebuchet MS" panose="020B0603020202020204" pitchFamily="34" charset="0"/>
                </a:rPr>
                <a:t>RTY (All steps) = 0.95 x 0.95 x 0.85 x100 = 77%</a:t>
              </a:r>
            </a:p>
            <a:p>
              <a:pPr algn="ctr"/>
              <a:endParaRPr lang="en-US" sz="1600" b="0" i="0" noProof="0">
                <a:solidFill>
                  <a:srgbClr val="002060"/>
                </a:solidFill>
                <a:effectLst/>
                <a:latin typeface="Trebuchet MS" panose="020B0603020202020204" pitchFamily="34" charset="0"/>
              </a:endParaRPr>
            </a:p>
          </p:txBody>
        </p:sp>
        <p:sp>
          <p:nvSpPr>
            <p:cNvPr id="9" name="Arrow: Right 8">
              <a:extLst>
                <a:ext uri="{FF2B5EF4-FFF2-40B4-BE49-F238E27FC236}">
                  <a16:creationId xmlns:a16="http://schemas.microsoft.com/office/drawing/2014/main" id="{03DCF2E7-8A27-A05A-B521-106CAE2CECE8}"/>
                </a:ext>
              </a:extLst>
            </p:cNvPr>
            <p:cNvSpPr/>
            <p:nvPr/>
          </p:nvSpPr>
          <p:spPr>
            <a:xfrm>
              <a:off x="2942848" y="1864085"/>
              <a:ext cx="457200" cy="381000"/>
            </a:xfrm>
            <a:prstGeom prst="rightArrow">
              <a:avLst/>
            </a:prstGeom>
            <a:solidFill>
              <a:srgbClr val="24408D"/>
            </a:solidFill>
            <a:ln>
              <a:solidFill>
                <a:srgbClr val="24408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0" name="Arrow: Right 9">
              <a:extLst>
                <a:ext uri="{FF2B5EF4-FFF2-40B4-BE49-F238E27FC236}">
                  <a16:creationId xmlns:a16="http://schemas.microsoft.com/office/drawing/2014/main" id="{29352A34-88E2-A579-8319-C93C6FA0BBE3}"/>
                </a:ext>
              </a:extLst>
            </p:cNvPr>
            <p:cNvSpPr/>
            <p:nvPr/>
          </p:nvSpPr>
          <p:spPr>
            <a:xfrm>
              <a:off x="5192106" y="1864085"/>
              <a:ext cx="457200" cy="381000"/>
            </a:xfrm>
            <a:prstGeom prst="rightArrow">
              <a:avLst/>
            </a:prstGeom>
            <a:solidFill>
              <a:srgbClr val="24408D"/>
            </a:solidFill>
            <a:ln>
              <a:solidFill>
                <a:srgbClr val="24408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1" name="Arrow: Right 10">
              <a:extLst>
                <a:ext uri="{FF2B5EF4-FFF2-40B4-BE49-F238E27FC236}">
                  <a16:creationId xmlns:a16="http://schemas.microsoft.com/office/drawing/2014/main" id="{285E495C-3343-E9A2-0083-DA80BAAFB5BE}"/>
                </a:ext>
              </a:extLst>
            </p:cNvPr>
            <p:cNvSpPr/>
            <p:nvPr/>
          </p:nvSpPr>
          <p:spPr>
            <a:xfrm>
              <a:off x="7420960" y="1885136"/>
              <a:ext cx="457200" cy="381000"/>
            </a:xfrm>
            <a:prstGeom prst="rightArrow">
              <a:avLst/>
            </a:prstGeom>
            <a:solidFill>
              <a:srgbClr val="24408D"/>
            </a:solidFill>
            <a:ln>
              <a:solidFill>
                <a:srgbClr val="24408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2" name="Rectangle: Rounded Corners 1">
              <a:extLst>
                <a:ext uri="{FF2B5EF4-FFF2-40B4-BE49-F238E27FC236}">
                  <a16:creationId xmlns:a16="http://schemas.microsoft.com/office/drawing/2014/main" id="{D554D742-0985-E452-B3BA-26AF6E13C13B}"/>
                </a:ext>
              </a:extLst>
            </p:cNvPr>
            <p:cNvSpPr/>
            <p:nvPr/>
          </p:nvSpPr>
          <p:spPr>
            <a:xfrm>
              <a:off x="1206887" y="1679544"/>
              <a:ext cx="1752600" cy="762000"/>
            </a:xfrm>
            <a:prstGeom prst="roundRect">
              <a:avLst/>
            </a:prstGeom>
            <a:solidFill>
              <a:srgbClr val="27AAE1"/>
            </a:solidFill>
            <a:ln w="38100">
              <a:noFill/>
            </a:ln>
            <a:effectLst/>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400" b="1" noProof="0">
                  <a:solidFill>
                    <a:srgbClr val="FFFFFF"/>
                  </a:solidFill>
                  <a:latin typeface="Trebuchet MS" panose="020B0603020202020204" pitchFamily="34" charset="0"/>
                  <a:cs typeface="Arial" panose="020B0604020202020204" pitchFamily="34" charset="0"/>
                </a:rPr>
                <a:t>Step 1</a:t>
              </a:r>
            </a:p>
            <a:p>
              <a:pPr algn="ctr"/>
              <a:endParaRPr lang="en-US" sz="1400" b="1" noProof="0">
                <a:solidFill>
                  <a:srgbClr val="FFFFFF"/>
                </a:solidFill>
                <a:latin typeface="Trebuchet MS" panose="020B0603020202020204" pitchFamily="34" charset="0"/>
                <a:cs typeface="Arial" panose="020B0604020202020204" pitchFamily="34" charset="0"/>
              </a:endParaRPr>
            </a:p>
            <a:p>
              <a:pPr algn="ctr"/>
              <a:r>
                <a:rPr lang="en-US" sz="1400" b="1" noProof="0">
                  <a:solidFill>
                    <a:srgbClr val="FFFFFF"/>
                  </a:solidFill>
                  <a:latin typeface="Trebuchet MS" panose="020B0603020202020204" pitchFamily="34" charset="0"/>
                  <a:cs typeface="Arial" panose="020B0604020202020204" pitchFamily="34" charset="0"/>
                </a:rPr>
                <a:t>95% Yield</a:t>
              </a:r>
            </a:p>
          </p:txBody>
        </p:sp>
        <p:sp>
          <p:nvSpPr>
            <p:cNvPr id="6" name="Rectangle: Rounded Corners 5">
              <a:extLst>
                <a:ext uri="{FF2B5EF4-FFF2-40B4-BE49-F238E27FC236}">
                  <a16:creationId xmlns:a16="http://schemas.microsoft.com/office/drawing/2014/main" id="{8117D458-5739-112E-8B0B-EED2739694C0}"/>
                </a:ext>
              </a:extLst>
            </p:cNvPr>
            <p:cNvSpPr/>
            <p:nvPr/>
          </p:nvSpPr>
          <p:spPr>
            <a:xfrm>
              <a:off x="3429979" y="1679544"/>
              <a:ext cx="1752600" cy="762000"/>
            </a:xfrm>
            <a:prstGeom prst="roundRect">
              <a:avLst/>
            </a:prstGeom>
            <a:solidFill>
              <a:srgbClr val="27AAE1"/>
            </a:solidFill>
            <a:ln w="38100">
              <a:noFill/>
            </a:ln>
            <a:effectLst/>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400" b="1" noProof="0">
                  <a:solidFill>
                    <a:srgbClr val="FFFFFF"/>
                  </a:solidFill>
                  <a:latin typeface="Trebuchet MS" panose="020B0603020202020204" pitchFamily="34" charset="0"/>
                  <a:cs typeface="Arial" panose="020B0604020202020204" pitchFamily="34" charset="0"/>
                </a:rPr>
                <a:t>Step 2</a:t>
              </a:r>
            </a:p>
            <a:p>
              <a:pPr algn="ctr"/>
              <a:endParaRPr lang="en-US" sz="1400" b="1" noProof="0">
                <a:solidFill>
                  <a:srgbClr val="FFFFFF"/>
                </a:solidFill>
                <a:latin typeface="Trebuchet MS" panose="020B0603020202020204" pitchFamily="34" charset="0"/>
                <a:cs typeface="Arial" panose="020B0604020202020204" pitchFamily="34" charset="0"/>
              </a:endParaRPr>
            </a:p>
            <a:p>
              <a:pPr algn="ctr"/>
              <a:r>
                <a:rPr lang="en-US" sz="1400" b="1" noProof="0">
                  <a:solidFill>
                    <a:srgbClr val="FFFFFF"/>
                  </a:solidFill>
                  <a:latin typeface="Trebuchet MS" panose="020B0603020202020204" pitchFamily="34" charset="0"/>
                  <a:cs typeface="Arial" panose="020B0604020202020204" pitchFamily="34" charset="0"/>
                </a:rPr>
                <a:t>95% Yield</a:t>
              </a:r>
            </a:p>
          </p:txBody>
        </p:sp>
        <p:sp>
          <p:nvSpPr>
            <p:cNvPr id="7" name="Rectangle: Rounded Corners 6">
              <a:extLst>
                <a:ext uri="{FF2B5EF4-FFF2-40B4-BE49-F238E27FC236}">
                  <a16:creationId xmlns:a16="http://schemas.microsoft.com/office/drawing/2014/main" id="{EB397BC8-8F8D-11DD-27D2-9221997CAA55}"/>
                </a:ext>
              </a:extLst>
            </p:cNvPr>
            <p:cNvSpPr/>
            <p:nvPr/>
          </p:nvSpPr>
          <p:spPr>
            <a:xfrm>
              <a:off x="5668360" y="1679544"/>
              <a:ext cx="1752600" cy="762000"/>
            </a:xfrm>
            <a:prstGeom prst="roundRect">
              <a:avLst/>
            </a:prstGeom>
            <a:solidFill>
              <a:srgbClr val="27AAE1"/>
            </a:solidFill>
            <a:ln w="38100">
              <a:noFill/>
            </a:ln>
            <a:effectLst/>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400" b="1" noProof="0">
                  <a:solidFill>
                    <a:srgbClr val="FFFFFF"/>
                  </a:solidFill>
                  <a:latin typeface="Trebuchet MS" panose="020B0603020202020204" pitchFamily="34" charset="0"/>
                  <a:cs typeface="Arial" panose="020B0604020202020204" pitchFamily="34" charset="0"/>
                </a:rPr>
                <a:t>Step 3</a:t>
              </a:r>
            </a:p>
            <a:p>
              <a:pPr algn="ctr"/>
              <a:endParaRPr lang="en-US" sz="1400" b="1" noProof="0">
                <a:solidFill>
                  <a:srgbClr val="FFFFFF"/>
                </a:solidFill>
                <a:latin typeface="Trebuchet MS" panose="020B0603020202020204" pitchFamily="34" charset="0"/>
                <a:cs typeface="Arial" panose="020B0604020202020204" pitchFamily="34" charset="0"/>
              </a:endParaRPr>
            </a:p>
            <a:p>
              <a:pPr algn="ctr"/>
              <a:r>
                <a:rPr lang="en-US" sz="1400" b="1" noProof="0">
                  <a:solidFill>
                    <a:srgbClr val="FFFFFF"/>
                  </a:solidFill>
                  <a:latin typeface="Trebuchet MS" panose="020B0603020202020204" pitchFamily="34" charset="0"/>
                  <a:cs typeface="Arial" panose="020B0604020202020204" pitchFamily="34" charset="0"/>
                </a:rPr>
                <a:t>85% Yield</a:t>
              </a:r>
            </a:p>
          </p:txBody>
        </p:sp>
      </p:grpSp>
      <p:sp>
        <p:nvSpPr>
          <p:cNvPr id="13" name="TextBox 12">
            <a:extLst>
              <a:ext uri="{FF2B5EF4-FFF2-40B4-BE49-F238E27FC236}">
                <a16:creationId xmlns:a16="http://schemas.microsoft.com/office/drawing/2014/main" id="{15AC0A64-C8EC-C9EF-AB95-52BF2D72BFC6}"/>
              </a:ext>
            </a:extLst>
          </p:cNvPr>
          <p:cNvSpPr txBox="1"/>
          <p:nvPr/>
        </p:nvSpPr>
        <p:spPr>
          <a:xfrm>
            <a:off x="9152794" y="2989714"/>
            <a:ext cx="2810605" cy="2800767"/>
          </a:xfrm>
          <a:prstGeom prst="rect">
            <a:avLst/>
          </a:prstGeom>
          <a:noFill/>
          <a:ln w="38100">
            <a:solidFill>
              <a:srgbClr val="24408D"/>
            </a:solidFill>
          </a:ln>
        </p:spPr>
        <p:txBody>
          <a:bodyPr wrap="square" rtlCol="0">
            <a:spAutoFit/>
          </a:bodyPr>
          <a:lstStyle/>
          <a:p>
            <a:r>
              <a:rPr lang="en-US" sz="1600" b="1" noProof="0">
                <a:solidFill>
                  <a:srgbClr val="002060"/>
                </a:solidFill>
                <a:latin typeface="Trebuchet MS" panose="020B0603020202020204" pitchFamily="34" charset="0"/>
              </a:rPr>
              <a:t>What this shows:</a:t>
            </a:r>
          </a:p>
          <a:p>
            <a:endParaRPr lang="en-US" noProof="0">
              <a:solidFill>
                <a:srgbClr val="002060"/>
              </a:solidFill>
              <a:latin typeface="Trebuchet MS" panose="020B0603020202020204" pitchFamily="34" charset="0"/>
            </a:endParaRPr>
          </a:p>
          <a:p>
            <a:r>
              <a:rPr lang="en-US" sz="1400" noProof="0">
                <a:solidFill>
                  <a:srgbClr val="002060"/>
                </a:solidFill>
                <a:latin typeface="Trebuchet MS" panose="020B0603020202020204" pitchFamily="34" charset="0"/>
              </a:rPr>
              <a:t>77% of units passed through all steps without any defects (RTY).</a:t>
            </a:r>
          </a:p>
          <a:p>
            <a:endParaRPr lang="en-US" sz="1400" noProof="0">
              <a:solidFill>
                <a:srgbClr val="002060"/>
              </a:solidFill>
              <a:latin typeface="Trebuchet MS" panose="020B0603020202020204" pitchFamily="34" charset="0"/>
            </a:endParaRPr>
          </a:p>
          <a:p>
            <a:r>
              <a:rPr lang="en-US" sz="1400" noProof="0">
                <a:solidFill>
                  <a:srgbClr val="002060"/>
                </a:solidFill>
                <a:latin typeface="Trebuchet MS" panose="020B0603020202020204" pitchFamily="34" charset="0"/>
              </a:rPr>
              <a:t>77% were delivered to the customer (Final Yield).</a:t>
            </a:r>
          </a:p>
          <a:p>
            <a:endParaRPr lang="en-US" sz="1400" noProof="0">
              <a:solidFill>
                <a:srgbClr val="002060"/>
              </a:solidFill>
              <a:latin typeface="Trebuchet MS" panose="020B0603020202020204" pitchFamily="34" charset="0"/>
            </a:endParaRPr>
          </a:p>
          <a:p>
            <a:r>
              <a:rPr lang="en-US" sz="1400" noProof="0">
                <a:solidFill>
                  <a:srgbClr val="002060"/>
                </a:solidFill>
                <a:latin typeface="Trebuchet MS" panose="020B0603020202020204" pitchFamily="34" charset="0"/>
              </a:rPr>
              <a:t>It means the process is performing cleanly, with no hidden rework or inefficiency.</a:t>
            </a:r>
          </a:p>
          <a:p>
            <a:endParaRPr lang="en-US" sz="1400" noProof="0">
              <a:solidFill>
                <a:srgbClr val="002060"/>
              </a:solidFill>
              <a:latin typeface="Trebuchet MS" panose="020B0603020202020204" pitchFamily="34" charset="0"/>
            </a:endParaRPr>
          </a:p>
        </p:txBody>
      </p:sp>
      <p:sp>
        <p:nvSpPr>
          <p:cNvPr id="19" name="TextBox 18">
            <a:extLst>
              <a:ext uri="{FF2B5EF4-FFF2-40B4-BE49-F238E27FC236}">
                <a16:creationId xmlns:a16="http://schemas.microsoft.com/office/drawing/2014/main" id="{DFAB8725-AB19-465A-C2B0-039B70EDC63A}"/>
              </a:ext>
            </a:extLst>
          </p:cNvPr>
          <p:cNvSpPr txBox="1"/>
          <p:nvPr/>
        </p:nvSpPr>
        <p:spPr>
          <a:xfrm>
            <a:off x="343609" y="1447800"/>
            <a:ext cx="11522116" cy="298159"/>
          </a:xfrm>
          <a:prstGeom prst="rect">
            <a:avLst/>
          </a:prstGeom>
          <a:noFill/>
        </p:spPr>
        <p:txBody>
          <a:bodyPr wrap="square">
            <a:spAutoFit/>
          </a:bodyPr>
          <a:lstStyle/>
          <a:p>
            <a:pPr fontAlgn="t">
              <a:lnSpc>
                <a:spcPts val="1500"/>
              </a:lnSpc>
              <a:buNone/>
            </a:pPr>
            <a:r>
              <a:rPr lang="en-US" sz="1600" noProof="0">
                <a:solidFill>
                  <a:srgbClr val="002060"/>
                </a:solidFill>
                <a:latin typeface="Trebuchet MS" panose="020B0603020202020204" pitchFamily="34" charset="0"/>
              </a:rPr>
              <a:t>Each step has a probability of defects, and these yields represent first-time pass performance.</a:t>
            </a:r>
          </a:p>
        </p:txBody>
      </p:sp>
    </p:spTree>
    <p:extLst>
      <p:ext uri="{BB962C8B-B14F-4D97-AF65-F5344CB8AC3E}">
        <p14:creationId xmlns:p14="http://schemas.microsoft.com/office/powerpoint/2010/main" val="5286230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97C32-568E-0DA5-FB29-93C3E44F98EE}"/>
            </a:ext>
          </a:extLst>
        </p:cNvPr>
        <p:cNvGrpSpPr/>
        <p:nvPr/>
      </p:nvGrpSpPr>
      <p:grpSpPr>
        <a:xfrm>
          <a:off x="0" y="0"/>
          <a:ext cx="1" cy="1"/>
          <a:chOff x="0" y="0"/>
          <a:chExt cx="1" cy="1"/>
        </a:xfrm>
      </p:grpSpPr>
      <p:sp>
        <p:nvSpPr>
          <p:cNvPr id="5" name="Text Placeholder 4">
            <a:extLst>
              <a:ext uri="{FF2B5EF4-FFF2-40B4-BE49-F238E27FC236}">
                <a16:creationId xmlns:a16="http://schemas.microsoft.com/office/drawing/2014/main" id="{BB88B6AD-E84A-4CCB-070C-51F8392881CE}"/>
              </a:ext>
            </a:extLst>
          </p:cNvPr>
          <p:cNvSpPr>
            <a:spLocks noGrp="1"/>
          </p:cNvSpPr>
          <p:nvPr>
            <p:ph type="body" sz="quarter" idx="10"/>
          </p:nvPr>
        </p:nvSpPr>
        <p:spPr>
          <a:xfrm>
            <a:off x="598004" y="381000"/>
            <a:ext cx="8686800" cy="492443"/>
          </a:xfrm>
        </p:spPr>
        <p:txBody>
          <a:bodyPr/>
          <a:lstStyle/>
          <a:p>
            <a:r>
              <a:rPr lang="en-US" sz="3200" noProof="0">
                <a:latin typeface="Trebuchet MS" panose="020B0603020202020204" pitchFamily="34" charset="0"/>
              </a:rPr>
              <a:t> Example: RTY - IT Service Desk Requests</a:t>
            </a:r>
          </a:p>
        </p:txBody>
      </p:sp>
      <p:sp>
        <p:nvSpPr>
          <p:cNvPr id="3" name="TextBox 2">
            <a:extLst>
              <a:ext uri="{FF2B5EF4-FFF2-40B4-BE49-F238E27FC236}">
                <a16:creationId xmlns:a16="http://schemas.microsoft.com/office/drawing/2014/main" id="{8CAF1439-FB18-3D06-DD1C-59277076725A}"/>
              </a:ext>
            </a:extLst>
          </p:cNvPr>
          <p:cNvSpPr txBox="1"/>
          <p:nvPr/>
        </p:nvSpPr>
        <p:spPr>
          <a:xfrm>
            <a:off x="292260" y="6399934"/>
            <a:ext cx="8518694" cy="338554"/>
          </a:xfrm>
          <a:prstGeom prst="rect">
            <a:avLst/>
          </a:prstGeom>
          <a:solidFill>
            <a:srgbClr val="24408D"/>
          </a:solidFill>
        </p:spPr>
        <p:txBody>
          <a:bodyPr wrap="square">
            <a:spAutoFit/>
          </a:bodyPr>
          <a:lstStyle/>
          <a:p>
            <a:r>
              <a:rPr lang="en-US" sz="1600" b="1" noProof="0">
                <a:solidFill>
                  <a:schemeClr val="bg1"/>
                </a:solidFill>
                <a:latin typeface="Trebuchet MS" panose="020B0603020202020204" pitchFamily="34" charset="0"/>
              </a:rPr>
              <a:t>Key Takeaway: </a:t>
            </a:r>
            <a:r>
              <a:rPr lang="en-US" sz="1600" noProof="0">
                <a:solidFill>
                  <a:schemeClr val="bg1"/>
                </a:solidFill>
                <a:latin typeface="Trebuchet MS" panose="020B0603020202020204" pitchFamily="34" charset="0"/>
              </a:rPr>
              <a:t>Final Yield can be misleading because it hides rework and inefficiencies.</a:t>
            </a:r>
          </a:p>
        </p:txBody>
      </p:sp>
      <p:sp>
        <p:nvSpPr>
          <p:cNvPr id="4" name="TextBox 3">
            <a:extLst>
              <a:ext uri="{FF2B5EF4-FFF2-40B4-BE49-F238E27FC236}">
                <a16:creationId xmlns:a16="http://schemas.microsoft.com/office/drawing/2014/main" id="{E1551DA6-6318-C162-409E-D5D556FE146B}"/>
              </a:ext>
            </a:extLst>
          </p:cNvPr>
          <p:cNvSpPr txBox="1"/>
          <p:nvPr/>
        </p:nvSpPr>
        <p:spPr>
          <a:xfrm>
            <a:off x="7119465" y="3083698"/>
            <a:ext cx="1638508" cy="3139321"/>
          </a:xfrm>
          <a:prstGeom prst="rect">
            <a:avLst/>
          </a:prstGeom>
          <a:solidFill>
            <a:schemeClr val="bg1"/>
          </a:solidFill>
          <a:ln w="38100">
            <a:solidFill>
              <a:srgbClr val="00AF74"/>
            </a:solidFill>
          </a:ln>
        </p:spPr>
        <p:txBody>
          <a:bodyPr wrap="square">
            <a:spAutoFit/>
          </a:bodyPr>
          <a:lstStyle/>
          <a:p>
            <a:r>
              <a:rPr lang="en-US" sz="1600" b="1" noProof="0">
                <a:solidFill>
                  <a:srgbClr val="00AF74"/>
                </a:solidFill>
                <a:latin typeface="Trebuchet MS" panose="020B0603020202020204" pitchFamily="34" charset="0"/>
              </a:rPr>
              <a:t>Final Yield</a:t>
            </a:r>
          </a:p>
          <a:p>
            <a:endParaRPr lang="en-US" sz="1400" noProof="0">
              <a:solidFill>
                <a:srgbClr val="00AF74"/>
              </a:solidFill>
              <a:latin typeface="Trebuchet MS" panose="020B0603020202020204" pitchFamily="34" charset="0"/>
            </a:endParaRPr>
          </a:p>
          <a:p>
            <a:pPr marL="285750" indent="-285750">
              <a:buFont typeface="Arial" panose="020B0604020202020204" pitchFamily="34" charset="0"/>
              <a:buChar char="•"/>
            </a:pPr>
            <a:r>
              <a:rPr lang="en-US" sz="1400" b="0" i="0" noProof="0">
                <a:solidFill>
                  <a:srgbClr val="00AF74"/>
                </a:solidFill>
                <a:effectLst/>
                <a:latin typeface="Trebuchet MS" panose="020B0603020202020204" pitchFamily="34" charset="0"/>
              </a:rPr>
              <a:t>Shows the final output only.</a:t>
            </a:r>
          </a:p>
          <a:p>
            <a:pPr marL="285750" indent="-285750">
              <a:buFont typeface="Arial" panose="020B0604020202020204" pitchFamily="34" charset="0"/>
              <a:buChar char="•"/>
            </a:pPr>
            <a:endParaRPr lang="en-US" sz="1400" b="0" i="0" noProof="0">
              <a:solidFill>
                <a:srgbClr val="00AF74"/>
              </a:solidFill>
              <a:effectLst/>
              <a:latin typeface="Trebuchet MS" panose="020B0603020202020204" pitchFamily="34" charset="0"/>
            </a:endParaRPr>
          </a:p>
          <a:p>
            <a:pPr marL="285750" indent="-285750">
              <a:buFont typeface="Arial" panose="020B0604020202020204" pitchFamily="34" charset="0"/>
              <a:buChar char="•"/>
            </a:pPr>
            <a:r>
              <a:rPr lang="en-US" sz="1400" noProof="0">
                <a:solidFill>
                  <a:srgbClr val="00AF74"/>
                </a:solidFill>
                <a:latin typeface="Trebuchet MS" panose="020B0603020202020204" pitchFamily="34" charset="0"/>
              </a:rPr>
              <a:t>Shows what reaches the customer.</a:t>
            </a:r>
          </a:p>
          <a:p>
            <a:endParaRPr lang="en-US" sz="1400" b="0" i="0" noProof="0">
              <a:solidFill>
                <a:srgbClr val="27AAE1"/>
              </a:solidFill>
              <a:effectLst/>
              <a:latin typeface="Trebuchet MS" panose="020B0603020202020204" pitchFamily="34" charset="0"/>
            </a:endParaRPr>
          </a:p>
          <a:p>
            <a:pPr algn="ctr"/>
            <a:r>
              <a:rPr lang="en-US" sz="1400" noProof="0">
                <a:solidFill>
                  <a:srgbClr val="00AF74"/>
                </a:solidFill>
                <a:latin typeface="Trebuchet MS" panose="020B0603020202020204" pitchFamily="34" charset="0"/>
              </a:rPr>
              <a:t>Final = 95/100</a:t>
            </a:r>
          </a:p>
          <a:p>
            <a:pPr algn="ctr"/>
            <a:endParaRPr lang="en-US" sz="1400" noProof="0">
              <a:solidFill>
                <a:srgbClr val="00AF74"/>
              </a:solidFill>
              <a:latin typeface="Trebuchet MS" panose="020B0603020202020204" pitchFamily="34" charset="0"/>
            </a:endParaRPr>
          </a:p>
          <a:p>
            <a:pPr algn="ctr"/>
            <a:endParaRPr lang="en-US" sz="1400" noProof="0">
              <a:solidFill>
                <a:srgbClr val="00AF74"/>
              </a:solidFill>
              <a:latin typeface="Trebuchet MS" panose="020B0603020202020204" pitchFamily="34" charset="0"/>
            </a:endParaRPr>
          </a:p>
          <a:p>
            <a:pPr algn="ctr"/>
            <a:endParaRPr lang="en-US" sz="1400" noProof="0">
              <a:solidFill>
                <a:srgbClr val="00AF74"/>
              </a:solidFill>
              <a:latin typeface="Trebuchet MS" panose="020B0603020202020204" pitchFamily="34" charset="0"/>
            </a:endParaRPr>
          </a:p>
        </p:txBody>
      </p:sp>
      <p:sp>
        <p:nvSpPr>
          <p:cNvPr id="8" name="Rectangle: Rounded Corners 7">
            <a:extLst>
              <a:ext uri="{FF2B5EF4-FFF2-40B4-BE49-F238E27FC236}">
                <a16:creationId xmlns:a16="http://schemas.microsoft.com/office/drawing/2014/main" id="{53DD7EF3-83B9-B1F5-003E-00D3A36415FF}"/>
              </a:ext>
            </a:extLst>
          </p:cNvPr>
          <p:cNvSpPr/>
          <p:nvPr/>
        </p:nvSpPr>
        <p:spPr>
          <a:xfrm>
            <a:off x="7048708" y="2106962"/>
            <a:ext cx="1752600" cy="762000"/>
          </a:xfrm>
          <a:prstGeom prst="roundRect">
            <a:avLst/>
          </a:prstGeom>
          <a:solidFill>
            <a:srgbClr val="00AF74"/>
          </a:solidFill>
          <a:ln w="38100">
            <a:solidFill>
              <a:srgbClr val="00AF74"/>
            </a:solidFill>
          </a:ln>
          <a:effectLst/>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600" b="1" noProof="0">
                <a:solidFill>
                  <a:srgbClr val="FFFFFF"/>
                </a:solidFill>
                <a:latin typeface="Arial" panose="020B0604020202020204" pitchFamily="34" charset="0"/>
                <a:cs typeface="Arial" panose="020B0604020202020204" pitchFamily="34" charset="0"/>
              </a:rPr>
              <a:t>Output </a:t>
            </a:r>
          </a:p>
          <a:p>
            <a:pPr algn="ctr"/>
            <a:r>
              <a:rPr lang="en-US" sz="1600" b="1" noProof="0">
                <a:solidFill>
                  <a:srgbClr val="FFFFFF"/>
                </a:solidFill>
                <a:latin typeface="Arial" panose="020B0604020202020204" pitchFamily="34" charset="0"/>
                <a:cs typeface="Arial" panose="020B0604020202020204" pitchFamily="34" charset="0"/>
              </a:rPr>
              <a:t> 95%</a:t>
            </a:r>
          </a:p>
        </p:txBody>
      </p:sp>
      <p:grpSp>
        <p:nvGrpSpPr>
          <p:cNvPr id="12" name="Group 11">
            <a:extLst>
              <a:ext uri="{FF2B5EF4-FFF2-40B4-BE49-F238E27FC236}">
                <a16:creationId xmlns:a16="http://schemas.microsoft.com/office/drawing/2014/main" id="{7E1DB71F-6A69-9284-77F4-E95B53755A65}"/>
              </a:ext>
            </a:extLst>
          </p:cNvPr>
          <p:cNvGrpSpPr/>
          <p:nvPr/>
        </p:nvGrpSpPr>
        <p:grpSpPr>
          <a:xfrm>
            <a:off x="278528" y="2050944"/>
            <a:ext cx="6731645" cy="4172076"/>
            <a:chOff x="1180615" y="1673830"/>
            <a:chExt cx="6731645" cy="3691829"/>
          </a:xfrm>
        </p:grpSpPr>
        <p:sp>
          <p:nvSpPr>
            <p:cNvPr id="15" name="TextBox 14">
              <a:extLst>
                <a:ext uri="{FF2B5EF4-FFF2-40B4-BE49-F238E27FC236}">
                  <a16:creationId xmlns:a16="http://schemas.microsoft.com/office/drawing/2014/main" id="{4F327C68-21AE-F01B-E494-6AC6CC56BC07}"/>
                </a:ext>
              </a:extLst>
            </p:cNvPr>
            <p:cNvSpPr txBox="1"/>
            <p:nvPr/>
          </p:nvSpPr>
          <p:spPr>
            <a:xfrm>
              <a:off x="1223284" y="2587705"/>
              <a:ext cx="6231776" cy="2777954"/>
            </a:xfrm>
            <a:prstGeom prst="rect">
              <a:avLst/>
            </a:prstGeom>
            <a:solidFill>
              <a:schemeClr val="bg1"/>
            </a:solidFill>
            <a:ln w="38100">
              <a:solidFill>
                <a:srgbClr val="27AAE1"/>
              </a:solidFill>
            </a:ln>
          </p:spPr>
          <p:txBody>
            <a:bodyPr wrap="square">
              <a:spAutoFit/>
            </a:bodyPr>
            <a:lstStyle/>
            <a:p>
              <a:pPr algn="ctr"/>
              <a:r>
                <a:rPr lang="en-US" sz="1600" b="1" noProof="0">
                  <a:solidFill>
                    <a:srgbClr val="002060"/>
                  </a:solidFill>
                  <a:latin typeface="Trebuchet MS" panose="020B0603020202020204" pitchFamily="34" charset="0"/>
                </a:rPr>
                <a:t>Rolled Throughput Yield</a:t>
              </a:r>
            </a:p>
            <a:p>
              <a:endParaRPr lang="en-US" sz="14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400" b="0" i="0" noProof="0">
                  <a:solidFill>
                    <a:srgbClr val="002060"/>
                  </a:solidFill>
                  <a:effectLst/>
                  <a:latin typeface="Trebuchet MS" panose="020B0603020202020204" pitchFamily="34" charset="0"/>
                </a:rPr>
                <a:t>Measures </a:t>
              </a:r>
              <a:r>
                <a:rPr lang="en-US" sz="1400" noProof="0">
                  <a:solidFill>
                    <a:srgbClr val="002060"/>
                  </a:solidFill>
                  <a:latin typeface="Trebuchet MS" panose="020B0603020202020204" pitchFamily="34" charset="0"/>
                </a:rPr>
                <a:t>probability of passing each step defect-free.</a:t>
              </a:r>
            </a:p>
            <a:p>
              <a:pPr marL="285750" indent="-285750">
                <a:buFont typeface="Arial" panose="020B0604020202020204" pitchFamily="34" charset="0"/>
                <a:buChar char="•"/>
              </a:pPr>
              <a:r>
                <a:rPr lang="en-US" sz="1400" b="0" i="0" noProof="0">
                  <a:solidFill>
                    <a:srgbClr val="002060"/>
                  </a:solidFill>
                  <a:effectLst/>
                  <a:latin typeface="Trebuchet MS" panose="020B0603020202020204" pitchFamily="34" charset="0"/>
                </a:rPr>
                <a:t>Shows the true performance of the whole process.</a:t>
              </a:r>
            </a:p>
            <a:p>
              <a:endParaRPr lang="en-US" sz="1400" noProof="0">
                <a:solidFill>
                  <a:srgbClr val="002060"/>
                </a:solidFill>
                <a:latin typeface="Trebuchet MS" panose="020B0603020202020204" pitchFamily="34" charset="0"/>
              </a:endParaRPr>
            </a:p>
            <a:p>
              <a:r>
                <a:rPr lang="en-US" sz="1400" b="0" i="0" noProof="0">
                  <a:solidFill>
                    <a:srgbClr val="002060"/>
                  </a:solidFill>
                  <a:effectLst/>
                  <a:latin typeface="Trebuchet MS" panose="020B0603020202020204" pitchFamily="34" charset="0"/>
                </a:rPr>
                <a:t> </a:t>
              </a:r>
              <a:r>
                <a:rPr lang="en-US" sz="1400" b="1" i="0" noProof="0">
                  <a:solidFill>
                    <a:srgbClr val="002060"/>
                  </a:solidFill>
                  <a:effectLst/>
                  <a:latin typeface="Trebuchet MS" panose="020B0603020202020204" pitchFamily="34" charset="0"/>
                </a:rPr>
                <a:t>It shows:</a:t>
              </a:r>
            </a:p>
            <a:p>
              <a:endParaRPr lang="en-US" sz="14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400" b="0" i="0" noProof="0">
                  <a:solidFill>
                    <a:srgbClr val="002060"/>
                  </a:solidFill>
                  <a:effectLst/>
                  <a:latin typeface="Trebuchet MS" panose="020B0603020202020204" pitchFamily="34" charset="0"/>
                </a:rPr>
                <a:t>The cumulative impact of defects across all steps.</a:t>
              </a:r>
            </a:p>
            <a:p>
              <a:pPr marL="285750" indent="-285750">
                <a:buFont typeface="Arial" panose="020B0604020202020204" pitchFamily="34" charset="0"/>
                <a:buChar char="•"/>
              </a:pPr>
              <a:r>
                <a:rPr lang="en-US" sz="1400" b="0" i="0" noProof="0">
                  <a:solidFill>
                    <a:srgbClr val="002060"/>
                  </a:solidFill>
                  <a:effectLst/>
                  <a:latin typeface="Trebuchet MS" panose="020B0603020202020204" pitchFamily="34" charset="0"/>
                </a:rPr>
                <a:t>Where quality is lost within the process.</a:t>
              </a:r>
            </a:p>
            <a:p>
              <a:pPr marL="285750" indent="-285750">
                <a:buFont typeface="Arial" panose="020B0604020202020204" pitchFamily="34" charset="0"/>
                <a:buChar char="•"/>
              </a:pPr>
              <a:endParaRPr lang="en-US" sz="1400" noProof="0">
                <a:solidFill>
                  <a:srgbClr val="002060"/>
                </a:solidFill>
                <a:latin typeface="Trebuchet MS" panose="020B0603020202020204" pitchFamily="34" charset="0"/>
              </a:endParaRPr>
            </a:p>
            <a:p>
              <a:r>
                <a:rPr lang="en-US" sz="1400" b="0" i="0" noProof="0">
                  <a:solidFill>
                    <a:srgbClr val="002060"/>
                  </a:solidFill>
                  <a:effectLst/>
                  <a:latin typeface="Trebuchet MS" panose="020B0603020202020204" pitchFamily="34" charset="0"/>
                </a:rPr>
                <a:t>RTY (All steps</a:t>
              </a:r>
              <a:r>
                <a:rPr lang="en-US" sz="1400" noProof="0">
                  <a:solidFill>
                    <a:srgbClr val="002060"/>
                  </a:solidFill>
                  <a:latin typeface="Trebuchet MS" panose="020B0603020202020204" pitchFamily="34" charset="0"/>
                </a:rPr>
                <a:t>) 0.90 × 0.80 × 0.95 = 0.684 x 100  = 68.4%</a:t>
              </a:r>
            </a:p>
            <a:p>
              <a:endParaRPr lang="en-US" sz="1400" noProof="0">
                <a:solidFill>
                  <a:srgbClr val="002060"/>
                </a:solidFill>
                <a:latin typeface="Trebuchet MS" panose="020B0603020202020204" pitchFamily="34" charset="0"/>
              </a:endParaRPr>
            </a:p>
            <a:p>
              <a:endParaRPr lang="en-US" sz="1400" noProof="0">
                <a:solidFill>
                  <a:srgbClr val="002060"/>
                </a:solidFill>
                <a:latin typeface="Trebuchet MS" panose="020B0603020202020204" pitchFamily="34" charset="0"/>
              </a:endParaRPr>
            </a:p>
            <a:p>
              <a:endParaRPr lang="en-US" sz="1400" noProof="0">
                <a:solidFill>
                  <a:srgbClr val="002060"/>
                </a:solidFill>
                <a:latin typeface="Trebuchet MS" panose="020B0603020202020204" pitchFamily="34" charset="0"/>
              </a:endParaRPr>
            </a:p>
          </p:txBody>
        </p:sp>
        <p:sp>
          <p:nvSpPr>
            <p:cNvPr id="9" name="Arrow: Right 8">
              <a:extLst>
                <a:ext uri="{FF2B5EF4-FFF2-40B4-BE49-F238E27FC236}">
                  <a16:creationId xmlns:a16="http://schemas.microsoft.com/office/drawing/2014/main" id="{C1B84FA4-1274-384E-18EF-8EFA08D52E31}"/>
                </a:ext>
              </a:extLst>
            </p:cNvPr>
            <p:cNvSpPr/>
            <p:nvPr/>
          </p:nvSpPr>
          <p:spPr>
            <a:xfrm>
              <a:off x="2942372" y="1870044"/>
              <a:ext cx="457200" cy="381000"/>
            </a:xfrm>
            <a:prstGeom prst="rightArrow">
              <a:avLst/>
            </a:prstGeom>
            <a:solidFill>
              <a:srgbClr val="24408D"/>
            </a:solidFill>
            <a:ln>
              <a:solidFill>
                <a:srgbClr val="24408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sp>
          <p:nvSpPr>
            <p:cNvPr id="10" name="Arrow: Right 9">
              <a:extLst>
                <a:ext uri="{FF2B5EF4-FFF2-40B4-BE49-F238E27FC236}">
                  <a16:creationId xmlns:a16="http://schemas.microsoft.com/office/drawing/2014/main" id="{6DEEA8D4-F2FF-B1B0-B58F-188F0C6CE33A}"/>
                </a:ext>
              </a:extLst>
            </p:cNvPr>
            <p:cNvSpPr/>
            <p:nvPr/>
          </p:nvSpPr>
          <p:spPr>
            <a:xfrm>
              <a:off x="5207179" y="1864330"/>
              <a:ext cx="457200" cy="381000"/>
            </a:xfrm>
            <a:prstGeom prst="rightArrow">
              <a:avLst/>
            </a:prstGeom>
            <a:solidFill>
              <a:srgbClr val="24408D"/>
            </a:solidFill>
            <a:ln>
              <a:solidFill>
                <a:srgbClr val="24408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sp>
          <p:nvSpPr>
            <p:cNvPr id="11" name="Arrow: Right 10">
              <a:extLst>
                <a:ext uri="{FF2B5EF4-FFF2-40B4-BE49-F238E27FC236}">
                  <a16:creationId xmlns:a16="http://schemas.microsoft.com/office/drawing/2014/main" id="{5EC9D960-880D-2D82-C749-CE8B91AE51C5}"/>
                </a:ext>
              </a:extLst>
            </p:cNvPr>
            <p:cNvSpPr/>
            <p:nvPr/>
          </p:nvSpPr>
          <p:spPr>
            <a:xfrm>
              <a:off x="7455060" y="1864330"/>
              <a:ext cx="457200" cy="381000"/>
            </a:xfrm>
            <a:prstGeom prst="rightArrow">
              <a:avLst/>
            </a:prstGeom>
            <a:solidFill>
              <a:srgbClr val="24408D"/>
            </a:solidFill>
            <a:ln>
              <a:solidFill>
                <a:srgbClr val="24408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sp>
          <p:nvSpPr>
            <p:cNvPr id="2" name="Rectangle: Rounded Corners 1">
              <a:extLst>
                <a:ext uri="{FF2B5EF4-FFF2-40B4-BE49-F238E27FC236}">
                  <a16:creationId xmlns:a16="http://schemas.microsoft.com/office/drawing/2014/main" id="{9E576B2C-8C22-DACF-3399-CB4137A22495}"/>
                </a:ext>
              </a:extLst>
            </p:cNvPr>
            <p:cNvSpPr/>
            <p:nvPr/>
          </p:nvSpPr>
          <p:spPr>
            <a:xfrm>
              <a:off x="1180615" y="1679544"/>
              <a:ext cx="1752600" cy="762000"/>
            </a:xfrm>
            <a:prstGeom prst="roundRect">
              <a:avLst/>
            </a:prstGeom>
            <a:solidFill>
              <a:srgbClr val="27AAE1"/>
            </a:solidFill>
            <a:ln w="38100">
              <a:noFill/>
            </a:ln>
            <a:effectLst/>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400" b="1" noProof="0">
                  <a:solidFill>
                    <a:srgbClr val="FFFFFF"/>
                  </a:solidFill>
                  <a:latin typeface="Arial" panose="020B0604020202020204" pitchFamily="34" charset="0"/>
                  <a:cs typeface="Arial" panose="020B0604020202020204" pitchFamily="34" charset="0"/>
                </a:rPr>
                <a:t>Step 1</a:t>
              </a:r>
            </a:p>
            <a:p>
              <a:pPr algn="ctr"/>
              <a:endParaRPr lang="en-US" sz="1400" b="1" noProof="0">
                <a:solidFill>
                  <a:srgbClr val="FFFFFF"/>
                </a:solidFill>
                <a:latin typeface="Arial" panose="020B0604020202020204" pitchFamily="34" charset="0"/>
                <a:cs typeface="Arial" panose="020B0604020202020204" pitchFamily="34" charset="0"/>
              </a:endParaRPr>
            </a:p>
            <a:p>
              <a:pPr algn="ctr"/>
              <a:r>
                <a:rPr lang="en-US" sz="1400" b="1" noProof="0">
                  <a:solidFill>
                    <a:srgbClr val="FFFFFF"/>
                  </a:solidFill>
                  <a:latin typeface="Arial" panose="020B0604020202020204" pitchFamily="34" charset="0"/>
                  <a:cs typeface="Arial" panose="020B0604020202020204" pitchFamily="34" charset="0"/>
                </a:rPr>
                <a:t>90% Yield</a:t>
              </a:r>
            </a:p>
          </p:txBody>
        </p:sp>
        <p:sp>
          <p:nvSpPr>
            <p:cNvPr id="6" name="Rectangle: Rounded Corners 5">
              <a:extLst>
                <a:ext uri="{FF2B5EF4-FFF2-40B4-BE49-F238E27FC236}">
                  <a16:creationId xmlns:a16="http://schemas.microsoft.com/office/drawing/2014/main" id="{158385BD-4835-988B-0CA0-A01A09377723}"/>
                </a:ext>
              </a:extLst>
            </p:cNvPr>
            <p:cNvSpPr/>
            <p:nvPr/>
          </p:nvSpPr>
          <p:spPr>
            <a:xfrm>
              <a:off x="3446601" y="1679544"/>
              <a:ext cx="1752600" cy="762000"/>
            </a:xfrm>
            <a:prstGeom prst="roundRect">
              <a:avLst/>
            </a:prstGeom>
            <a:solidFill>
              <a:srgbClr val="27AAE1"/>
            </a:solidFill>
            <a:ln w="38100">
              <a:noFill/>
            </a:ln>
            <a:effectLst/>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400" b="1" noProof="0">
                  <a:solidFill>
                    <a:srgbClr val="FFFFFF"/>
                  </a:solidFill>
                  <a:latin typeface="Arial" panose="020B0604020202020204" pitchFamily="34" charset="0"/>
                  <a:cs typeface="Arial" panose="020B0604020202020204" pitchFamily="34" charset="0"/>
                </a:rPr>
                <a:t>Step 2</a:t>
              </a:r>
            </a:p>
            <a:p>
              <a:pPr algn="ctr"/>
              <a:endParaRPr lang="en-US" sz="1400" b="1" noProof="0">
                <a:solidFill>
                  <a:srgbClr val="FFFFFF"/>
                </a:solidFill>
                <a:latin typeface="Arial" panose="020B0604020202020204" pitchFamily="34" charset="0"/>
                <a:cs typeface="Arial" panose="020B0604020202020204" pitchFamily="34" charset="0"/>
              </a:endParaRPr>
            </a:p>
            <a:p>
              <a:pPr algn="ctr"/>
              <a:r>
                <a:rPr lang="en-US" sz="1400" b="1" noProof="0">
                  <a:solidFill>
                    <a:srgbClr val="FFFFFF"/>
                  </a:solidFill>
                  <a:latin typeface="Arial" panose="020B0604020202020204" pitchFamily="34" charset="0"/>
                  <a:cs typeface="Arial" panose="020B0604020202020204" pitchFamily="34" charset="0"/>
                </a:rPr>
                <a:t>80% Yield</a:t>
              </a:r>
            </a:p>
          </p:txBody>
        </p:sp>
        <p:sp>
          <p:nvSpPr>
            <p:cNvPr id="7" name="Rectangle: Rounded Corners 6">
              <a:extLst>
                <a:ext uri="{FF2B5EF4-FFF2-40B4-BE49-F238E27FC236}">
                  <a16:creationId xmlns:a16="http://schemas.microsoft.com/office/drawing/2014/main" id="{C21208A1-776F-94B3-A920-33DB1BD086DC}"/>
                </a:ext>
              </a:extLst>
            </p:cNvPr>
            <p:cNvSpPr/>
            <p:nvPr/>
          </p:nvSpPr>
          <p:spPr>
            <a:xfrm>
              <a:off x="5702687" y="1673830"/>
              <a:ext cx="1752600" cy="762000"/>
            </a:xfrm>
            <a:prstGeom prst="roundRect">
              <a:avLst/>
            </a:prstGeom>
            <a:solidFill>
              <a:srgbClr val="27AAE1"/>
            </a:solidFill>
            <a:ln w="38100">
              <a:noFill/>
            </a:ln>
            <a:effectLst/>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400" b="1" noProof="0">
                  <a:solidFill>
                    <a:srgbClr val="FFFFFF"/>
                  </a:solidFill>
                  <a:latin typeface="Arial" panose="020B0604020202020204" pitchFamily="34" charset="0"/>
                  <a:cs typeface="Arial" panose="020B0604020202020204" pitchFamily="34" charset="0"/>
                </a:rPr>
                <a:t>Step 3</a:t>
              </a:r>
            </a:p>
            <a:p>
              <a:pPr algn="ctr"/>
              <a:endParaRPr lang="en-US" sz="1400" b="1" noProof="0">
                <a:solidFill>
                  <a:srgbClr val="FFFFFF"/>
                </a:solidFill>
                <a:latin typeface="Arial" panose="020B0604020202020204" pitchFamily="34" charset="0"/>
                <a:cs typeface="Arial" panose="020B0604020202020204" pitchFamily="34" charset="0"/>
              </a:endParaRPr>
            </a:p>
            <a:p>
              <a:pPr algn="ctr"/>
              <a:r>
                <a:rPr lang="en-US" sz="1400" b="1" noProof="0">
                  <a:solidFill>
                    <a:srgbClr val="FFFFFF"/>
                  </a:solidFill>
                  <a:latin typeface="Arial" panose="020B0604020202020204" pitchFamily="34" charset="0"/>
                  <a:cs typeface="Arial" panose="020B0604020202020204" pitchFamily="34" charset="0"/>
                </a:rPr>
                <a:t>95% Yield</a:t>
              </a:r>
            </a:p>
          </p:txBody>
        </p:sp>
      </p:grpSp>
      <p:sp>
        <p:nvSpPr>
          <p:cNvPr id="13" name="TextBox 12">
            <a:extLst>
              <a:ext uri="{FF2B5EF4-FFF2-40B4-BE49-F238E27FC236}">
                <a16:creationId xmlns:a16="http://schemas.microsoft.com/office/drawing/2014/main" id="{679EEB55-A205-5C3B-E1A9-D8305E606308}"/>
              </a:ext>
            </a:extLst>
          </p:cNvPr>
          <p:cNvSpPr txBox="1"/>
          <p:nvPr/>
        </p:nvSpPr>
        <p:spPr>
          <a:xfrm>
            <a:off x="8991600" y="3083698"/>
            <a:ext cx="2971800" cy="3139321"/>
          </a:xfrm>
          <a:prstGeom prst="rect">
            <a:avLst/>
          </a:prstGeom>
          <a:noFill/>
          <a:ln w="38100">
            <a:solidFill>
              <a:srgbClr val="002060"/>
            </a:solidFill>
          </a:ln>
        </p:spPr>
        <p:txBody>
          <a:bodyPr wrap="square" lIns="91440" tIns="45720" rIns="91440" bIns="45720" rtlCol="0" anchor="t">
            <a:spAutoFit/>
          </a:bodyPr>
          <a:lstStyle/>
          <a:p>
            <a:r>
              <a:rPr lang="en-US" sz="1600" b="1" noProof="0">
                <a:solidFill>
                  <a:srgbClr val="002060"/>
                </a:solidFill>
                <a:latin typeface="Trebuchet MS" panose="020B0603020202020204" pitchFamily="34" charset="0"/>
              </a:rPr>
              <a:t>What this shows:</a:t>
            </a:r>
          </a:p>
          <a:p>
            <a:endParaRPr lang="en-US" sz="1400" noProof="0">
              <a:solidFill>
                <a:srgbClr val="002060"/>
              </a:solidFill>
              <a:latin typeface="Trebuchet MS" panose="020B0603020202020204" pitchFamily="34" charset="0"/>
            </a:endParaRPr>
          </a:p>
          <a:p>
            <a:r>
              <a:rPr lang="en-US" sz="1400" noProof="0">
                <a:solidFill>
                  <a:srgbClr val="002060"/>
                </a:solidFill>
                <a:latin typeface="Trebuchet MS"/>
              </a:rPr>
              <a:t>Although 95% of requests</a:t>
            </a:r>
            <a:r>
              <a:rPr lang="en-US" sz="1400">
                <a:solidFill>
                  <a:srgbClr val="002060"/>
                </a:solidFill>
                <a:latin typeface="Trebuchet MS"/>
              </a:rPr>
              <a:t> or outcomes</a:t>
            </a:r>
            <a:r>
              <a:rPr lang="en-US" sz="1400" noProof="0">
                <a:solidFill>
                  <a:srgbClr val="002060"/>
                </a:solidFill>
                <a:latin typeface="Trebuchet MS"/>
              </a:rPr>
              <a:t> reach the customer correctly completed, only 68.4% made it through the process without any problems.</a:t>
            </a:r>
          </a:p>
          <a:p>
            <a:endParaRPr lang="en-US" sz="1400" noProof="0">
              <a:solidFill>
                <a:srgbClr val="002060"/>
              </a:solidFill>
              <a:latin typeface="Trebuchet MS" panose="020B0603020202020204" pitchFamily="34" charset="0"/>
            </a:endParaRPr>
          </a:p>
          <a:p>
            <a:r>
              <a:rPr lang="en-US" sz="1400" noProof="0">
                <a:solidFill>
                  <a:srgbClr val="002060"/>
                </a:solidFill>
                <a:latin typeface="Trebuchet MS" panose="020B0603020202020204" pitchFamily="34" charset="0"/>
              </a:rPr>
              <a:t>Means: Lots of fixing, reprocessing, or rework happening. This shows the process is inefficient.</a:t>
            </a:r>
          </a:p>
          <a:p>
            <a:endParaRPr lang="en-US" sz="1400" noProof="0">
              <a:solidFill>
                <a:srgbClr val="002060"/>
              </a:solidFill>
              <a:latin typeface="Trebuchet MS" panose="020B0603020202020204" pitchFamily="34" charset="0"/>
            </a:endParaRPr>
          </a:p>
          <a:p>
            <a:r>
              <a:rPr lang="en-US" sz="1400" b="1" noProof="0">
                <a:solidFill>
                  <a:srgbClr val="002060"/>
                </a:solidFill>
                <a:latin typeface="Trebuchet MS" panose="020B0603020202020204" pitchFamily="34" charset="0"/>
              </a:rPr>
              <a:t>Step 2 is the weak point.</a:t>
            </a:r>
          </a:p>
        </p:txBody>
      </p:sp>
      <p:sp>
        <p:nvSpPr>
          <p:cNvPr id="19" name="TextBox 18">
            <a:extLst>
              <a:ext uri="{FF2B5EF4-FFF2-40B4-BE49-F238E27FC236}">
                <a16:creationId xmlns:a16="http://schemas.microsoft.com/office/drawing/2014/main" id="{591B90A3-B61D-8720-71FA-5E75AA0B3C63}"/>
              </a:ext>
            </a:extLst>
          </p:cNvPr>
          <p:cNvSpPr txBox="1"/>
          <p:nvPr/>
        </p:nvSpPr>
        <p:spPr>
          <a:xfrm>
            <a:off x="292260" y="1358982"/>
            <a:ext cx="11899740" cy="646331"/>
          </a:xfrm>
          <a:prstGeom prst="rect">
            <a:avLst/>
          </a:prstGeom>
          <a:noFill/>
        </p:spPr>
        <p:txBody>
          <a:bodyPr wrap="square">
            <a:spAutoFit/>
          </a:bodyPr>
          <a:lstStyle/>
          <a:p>
            <a:r>
              <a:rPr lang="en-US" noProof="0">
                <a:solidFill>
                  <a:srgbClr val="002060"/>
                </a:solidFill>
              </a:rPr>
              <a:t>An IT service desk is handling requests through three steps, but issues along the way mean many requests require rework before being completed.</a:t>
            </a:r>
          </a:p>
        </p:txBody>
      </p:sp>
    </p:spTree>
    <p:extLst>
      <p:ext uri="{BB962C8B-B14F-4D97-AF65-F5344CB8AC3E}">
        <p14:creationId xmlns:p14="http://schemas.microsoft.com/office/powerpoint/2010/main" val="30794228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65B93B2F-2908-50C2-F779-0B1BCB8CAD01}"/>
              </a:ext>
            </a:extLst>
          </p:cNvPr>
          <p:cNvSpPr>
            <a:spLocks noGrp="1"/>
          </p:cNvSpPr>
          <p:nvPr>
            <p:ph type="body" sz="quarter" idx="10"/>
          </p:nvPr>
        </p:nvSpPr>
        <p:spPr>
          <a:xfrm>
            <a:off x="228601" y="292271"/>
            <a:ext cx="9144000" cy="492443"/>
          </a:xfrm>
        </p:spPr>
        <p:txBody>
          <a:bodyPr/>
          <a:lstStyle/>
          <a:p>
            <a:r>
              <a:rPr lang="en-US" sz="3200" noProof="0">
                <a:latin typeface="Trebuchet MS" panose="020B0603020202020204" pitchFamily="34" charset="0"/>
              </a:rPr>
              <a:t>The Hidden Factory: The Cost of Poor Quality </a:t>
            </a:r>
          </a:p>
        </p:txBody>
      </p:sp>
      <p:sp>
        <p:nvSpPr>
          <p:cNvPr id="3" name="Callout: Down Arrow 2">
            <a:extLst>
              <a:ext uri="{FF2B5EF4-FFF2-40B4-BE49-F238E27FC236}">
                <a16:creationId xmlns:a16="http://schemas.microsoft.com/office/drawing/2014/main" id="{EE415F4E-DE1D-D24F-D2EB-C1E411A828D0}"/>
              </a:ext>
            </a:extLst>
          </p:cNvPr>
          <p:cNvSpPr/>
          <p:nvPr/>
        </p:nvSpPr>
        <p:spPr>
          <a:xfrm>
            <a:off x="2109164" y="3057286"/>
            <a:ext cx="3600633" cy="1845129"/>
          </a:xfrm>
          <a:prstGeom prst="downArrowCallout">
            <a:avLst/>
          </a:prstGeom>
          <a:solidFill>
            <a:srgbClr val="27AAE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noProof="0">
                <a:solidFill>
                  <a:schemeClr val="bg1"/>
                </a:solidFill>
                <a:latin typeface="Trebuchet MS" panose="020B0603020202020204" pitchFamily="34" charset="0"/>
                <a:cs typeface="Arial" panose="020B0604020202020204" pitchFamily="34" charset="0"/>
              </a:rPr>
              <a:t>5 requests failed/cancelled/escalated.</a:t>
            </a:r>
          </a:p>
        </p:txBody>
      </p:sp>
      <p:sp>
        <p:nvSpPr>
          <p:cNvPr id="7" name="Callout: Down Arrow 6">
            <a:extLst>
              <a:ext uri="{FF2B5EF4-FFF2-40B4-BE49-F238E27FC236}">
                <a16:creationId xmlns:a16="http://schemas.microsoft.com/office/drawing/2014/main" id="{5FB73860-E552-0DC1-1A0C-29AD19D0D2DA}"/>
              </a:ext>
            </a:extLst>
          </p:cNvPr>
          <p:cNvSpPr/>
          <p:nvPr/>
        </p:nvSpPr>
        <p:spPr>
          <a:xfrm>
            <a:off x="5987727" y="3057286"/>
            <a:ext cx="3435852" cy="1866901"/>
          </a:xfrm>
          <a:prstGeom prst="downArrowCallout">
            <a:avLst/>
          </a:prstGeom>
          <a:solidFill>
            <a:srgbClr val="7030A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noProof="0">
                <a:solidFill>
                  <a:schemeClr val="bg1"/>
                </a:solidFill>
                <a:latin typeface="Trebuchet MS" panose="020B0603020202020204" pitchFamily="34" charset="0"/>
                <a:cs typeface="Arial" panose="020B0604020202020204" pitchFamily="34" charset="0"/>
              </a:rPr>
              <a:t>26.6 requests require time and resource</a:t>
            </a:r>
          </a:p>
          <a:p>
            <a:pPr algn="ctr"/>
            <a:r>
              <a:rPr lang="en-US" sz="1600" b="1" noProof="0">
                <a:solidFill>
                  <a:schemeClr val="bg1"/>
                </a:solidFill>
                <a:latin typeface="Trebuchet MS" panose="020B0603020202020204" pitchFamily="34" charset="0"/>
                <a:cs typeface="Arial" panose="020B0604020202020204" pitchFamily="34" charset="0"/>
              </a:rPr>
              <a:t>(Hidden effort).</a:t>
            </a:r>
          </a:p>
        </p:txBody>
      </p:sp>
      <p:sp>
        <p:nvSpPr>
          <p:cNvPr id="8" name="Rectangle: Rounded Corners 7">
            <a:extLst>
              <a:ext uri="{FF2B5EF4-FFF2-40B4-BE49-F238E27FC236}">
                <a16:creationId xmlns:a16="http://schemas.microsoft.com/office/drawing/2014/main" id="{C46C21B9-577B-E652-9A6C-A1604C80FA8D}"/>
              </a:ext>
            </a:extLst>
          </p:cNvPr>
          <p:cNvSpPr/>
          <p:nvPr/>
        </p:nvSpPr>
        <p:spPr>
          <a:xfrm>
            <a:off x="1805426" y="5178313"/>
            <a:ext cx="7846423" cy="1011199"/>
          </a:xfrm>
          <a:prstGeom prst="roundRect">
            <a:avLst/>
          </a:prstGeom>
          <a:solidFill>
            <a:srgbClr val="24408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noProof="0">
                <a:solidFill>
                  <a:schemeClr val="bg1"/>
                </a:solidFill>
                <a:latin typeface="Trebuchet MS" panose="020B0603020202020204" pitchFamily="34" charset="0"/>
                <a:cs typeface="Arial" panose="020B0604020202020204" pitchFamily="34" charset="0"/>
              </a:rPr>
              <a:t>‘</a:t>
            </a:r>
            <a:r>
              <a:rPr lang="en-US" sz="2400" noProof="0">
                <a:solidFill>
                  <a:schemeClr val="bg1"/>
                </a:solidFill>
                <a:latin typeface="Trebuchet MS" panose="020B0603020202020204" pitchFamily="34" charset="0"/>
                <a:cs typeface="Arial" panose="020B0604020202020204" pitchFamily="34" charset="0"/>
              </a:rPr>
              <a:t>THE HIDDEN FACTORY’</a:t>
            </a:r>
          </a:p>
          <a:p>
            <a:pPr algn="ctr"/>
            <a:r>
              <a:rPr lang="en-US" sz="1600" noProof="0">
                <a:solidFill>
                  <a:schemeClr val="bg1"/>
                </a:solidFill>
                <a:latin typeface="Trebuchet MS" panose="020B0603020202020204" pitchFamily="34" charset="0"/>
                <a:cs typeface="Arial" panose="020B0604020202020204" pitchFamily="34" charset="0"/>
              </a:rPr>
              <a:t>Work the customer does not see - fixing, redoing, and correcting errors.</a:t>
            </a:r>
          </a:p>
        </p:txBody>
      </p:sp>
      <p:pic>
        <p:nvPicPr>
          <p:cNvPr id="10" name="Graphic 9" descr="Garbage with solid fill">
            <a:extLst>
              <a:ext uri="{FF2B5EF4-FFF2-40B4-BE49-F238E27FC236}">
                <a16:creationId xmlns:a16="http://schemas.microsoft.com/office/drawing/2014/main" id="{31004C60-D025-5011-3030-7876A6AFA2C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83388" y="5283432"/>
            <a:ext cx="480059" cy="480059"/>
          </a:xfrm>
          <a:prstGeom prst="rect">
            <a:avLst/>
          </a:prstGeom>
        </p:spPr>
      </p:pic>
      <p:sp>
        <p:nvSpPr>
          <p:cNvPr id="20" name="Rectangle: Rounded Corners 19">
            <a:extLst>
              <a:ext uri="{FF2B5EF4-FFF2-40B4-BE49-F238E27FC236}">
                <a16:creationId xmlns:a16="http://schemas.microsoft.com/office/drawing/2014/main" id="{B57175F5-6082-C4A2-2E3F-71D3E7D104A5}"/>
              </a:ext>
            </a:extLst>
          </p:cNvPr>
          <p:cNvSpPr/>
          <p:nvPr/>
        </p:nvSpPr>
        <p:spPr>
          <a:xfrm>
            <a:off x="10006804" y="2194462"/>
            <a:ext cx="1675311" cy="858960"/>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fontAlgn="t">
              <a:lnSpc>
                <a:spcPts val="1500"/>
              </a:lnSpc>
              <a:buNone/>
            </a:pPr>
            <a:r>
              <a:rPr lang="en-US" sz="1600" b="1" noProof="0">
                <a:solidFill>
                  <a:srgbClr val="002060"/>
                </a:solidFill>
                <a:latin typeface="Segoe UI" panose="020B0502040204020203" pitchFamily="34" charset="0"/>
              </a:rPr>
              <a:t>10</a:t>
            </a:r>
            <a:r>
              <a:rPr lang="en-US" sz="1600" b="1" i="0" noProof="0">
                <a:solidFill>
                  <a:srgbClr val="002060"/>
                </a:solidFill>
                <a:effectLst/>
                <a:latin typeface="Segoe UI" panose="020B0502040204020203" pitchFamily="34" charset="0"/>
              </a:rPr>
              <a:t> </a:t>
            </a:r>
            <a:r>
              <a:rPr lang="en-US" sz="1600" b="1" noProof="0">
                <a:solidFill>
                  <a:srgbClr val="002060"/>
                </a:solidFill>
                <a:latin typeface="Segoe UI" panose="020B0502040204020203" pitchFamily="34" charset="0"/>
              </a:rPr>
              <a:t>missing information</a:t>
            </a:r>
            <a:endParaRPr lang="en-US" sz="1600" b="1" i="0" noProof="0">
              <a:solidFill>
                <a:srgbClr val="002060"/>
              </a:solidFill>
              <a:effectLst/>
              <a:latin typeface="Segoe UI" panose="020B0502040204020203" pitchFamily="34" charset="0"/>
            </a:endParaRPr>
          </a:p>
        </p:txBody>
      </p:sp>
      <p:sp>
        <p:nvSpPr>
          <p:cNvPr id="21" name="Rectangle: Rounded Corners 20">
            <a:extLst>
              <a:ext uri="{FF2B5EF4-FFF2-40B4-BE49-F238E27FC236}">
                <a16:creationId xmlns:a16="http://schemas.microsoft.com/office/drawing/2014/main" id="{3F6B8AD4-32E3-58A1-9B05-3159276309A0}"/>
              </a:ext>
            </a:extLst>
          </p:cNvPr>
          <p:cNvSpPr/>
          <p:nvPr/>
        </p:nvSpPr>
        <p:spPr>
          <a:xfrm>
            <a:off x="10045000" y="3234334"/>
            <a:ext cx="1637757" cy="858960"/>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fontAlgn="t">
              <a:lnSpc>
                <a:spcPts val="1500"/>
              </a:lnSpc>
            </a:pPr>
            <a:r>
              <a:rPr lang="en-US" sz="1600" b="1" noProof="0">
                <a:solidFill>
                  <a:srgbClr val="002060"/>
                </a:solidFill>
                <a:latin typeface="Segoe UI" panose="020B0502040204020203" pitchFamily="34" charset="0"/>
              </a:rPr>
              <a:t>18 wrong routing</a:t>
            </a:r>
          </a:p>
        </p:txBody>
      </p:sp>
      <p:sp>
        <p:nvSpPr>
          <p:cNvPr id="22" name="Rectangle: Rounded Corners 21">
            <a:extLst>
              <a:ext uri="{FF2B5EF4-FFF2-40B4-BE49-F238E27FC236}">
                <a16:creationId xmlns:a16="http://schemas.microsoft.com/office/drawing/2014/main" id="{1F64937A-FC6C-EF6D-E2FC-419EBA7A7D32}"/>
              </a:ext>
            </a:extLst>
          </p:cNvPr>
          <p:cNvSpPr/>
          <p:nvPr/>
        </p:nvSpPr>
        <p:spPr>
          <a:xfrm>
            <a:off x="10045000" y="4191844"/>
            <a:ext cx="1637757" cy="1047932"/>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fontAlgn="t">
              <a:lnSpc>
                <a:spcPts val="1500"/>
              </a:lnSpc>
            </a:pPr>
            <a:r>
              <a:rPr lang="en-US" sz="1600" b="1" noProof="0">
                <a:solidFill>
                  <a:srgbClr val="002060"/>
                </a:solidFill>
                <a:latin typeface="Segoe UI" panose="020B0502040204020203" pitchFamily="34" charset="0"/>
              </a:rPr>
              <a:t>3.6 incorrect resolution - reopened</a:t>
            </a:r>
          </a:p>
        </p:txBody>
      </p:sp>
      <p:cxnSp>
        <p:nvCxnSpPr>
          <p:cNvPr id="24" name="Straight Arrow Connector 23">
            <a:extLst>
              <a:ext uri="{FF2B5EF4-FFF2-40B4-BE49-F238E27FC236}">
                <a16:creationId xmlns:a16="http://schemas.microsoft.com/office/drawing/2014/main" id="{E1333421-589E-E392-B8D7-4D69414126E7}"/>
              </a:ext>
            </a:extLst>
          </p:cNvPr>
          <p:cNvCxnSpPr>
            <a:cxnSpLocks/>
            <a:stCxn id="20" idx="1"/>
          </p:cNvCxnSpPr>
          <p:nvPr/>
        </p:nvCxnSpPr>
        <p:spPr>
          <a:xfrm flipH="1">
            <a:off x="9461775" y="2623942"/>
            <a:ext cx="545029" cy="881170"/>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6A6F085-8DFA-945D-F2A6-9285449E905C}"/>
              </a:ext>
            </a:extLst>
          </p:cNvPr>
          <p:cNvCxnSpPr>
            <a:cxnSpLocks/>
            <a:stCxn id="21" idx="1"/>
            <a:endCxn id="7" idx="3"/>
          </p:cNvCxnSpPr>
          <p:nvPr/>
        </p:nvCxnSpPr>
        <p:spPr>
          <a:xfrm flipH="1">
            <a:off x="9423579" y="3663814"/>
            <a:ext cx="621421" cy="1"/>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A3AC6BD-6A4E-6261-4232-C3AC7342A189}"/>
              </a:ext>
            </a:extLst>
          </p:cNvPr>
          <p:cNvCxnSpPr>
            <a:cxnSpLocks/>
          </p:cNvCxnSpPr>
          <p:nvPr/>
        </p:nvCxnSpPr>
        <p:spPr>
          <a:xfrm flipH="1" flipV="1">
            <a:off x="9461775" y="3822517"/>
            <a:ext cx="569530" cy="848248"/>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6BCD569-4409-F7D3-3F04-350F61B1BCD7}"/>
              </a:ext>
            </a:extLst>
          </p:cNvPr>
          <p:cNvSpPr txBox="1"/>
          <p:nvPr/>
        </p:nvSpPr>
        <p:spPr>
          <a:xfrm>
            <a:off x="381000" y="1560923"/>
            <a:ext cx="11430000" cy="369332"/>
          </a:xfrm>
          <a:prstGeom prst="rect">
            <a:avLst/>
          </a:prstGeom>
          <a:noFill/>
        </p:spPr>
        <p:txBody>
          <a:bodyPr wrap="square">
            <a:spAutoFit/>
          </a:bodyPr>
          <a:lstStyle/>
          <a:p>
            <a:r>
              <a:rPr lang="en-US" b="1" noProof="0">
                <a:solidFill>
                  <a:srgbClr val="002060"/>
                </a:solidFill>
              </a:rPr>
              <a:t>Using the previous example, let’s now look at the extra effort that goes into the process. </a:t>
            </a:r>
          </a:p>
        </p:txBody>
      </p:sp>
      <p:sp>
        <p:nvSpPr>
          <p:cNvPr id="13" name="Rectangle 12">
            <a:extLst>
              <a:ext uri="{FF2B5EF4-FFF2-40B4-BE49-F238E27FC236}">
                <a16:creationId xmlns:a16="http://schemas.microsoft.com/office/drawing/2014/main" id="{904FAEF2-E86B-D81C-9B33-E2092519D248}"/>
              </a:ext>
            </a:extLst>
          </p:cNvPr>
          <p:cNvSpPr/>
          <p:nvPr/>
        </p:nvSpPr>
        <p:spPr>
          <a:xfrm>
            <a:off x="2123418" y="2063751"/>
            <a:ext cx="7210441" cy="591182"/>
          </a:xfrm>
          <a:prstGeom prst="rect">
            <a:avLst/>
          </a:prstGeom>
          <a:solidFill>
            <a:schemeClr val="bg1">
              <a:lumMod val="9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noProof="0">
                <a:solidFill>
                  <a:srgbClr val="002060"/>
                </a:solidFill>
              </a:rPr>
              <a:t>31.6% of work (31.6 out of 100 requests) is waste or rework. That means more than third </a:t>
            </a:r>
            <a:r>
              <a:rPr lang="en-US" b="1">
                <a:solidFill>
                  <a:srgbClr val="002060"/>
                </a:solidFill>
              </a:rPr>
              <a:t>of the</a:t>
            </a:r>
            <a:r>
              <a:rPr lang="en-US" b="1" noProof="0">
                <a:solidFill>
                  <a:srgbClr val="002060"/>
                </a:solidFill>
              </a:rPr>
              <a:t> effort creates no value for the customer.</a:t>
            </a:r>
          </a:p>
        </p:txBody>
      </p:sp>
    </p:spTree>
    <p:extLst>
      <p:ext uri="{BB962C8B-B14F-4D97-AF65-F5344CB8AC3E}">
        <p14:creationId xmlns:p14="http://schemas.microsoft.com/office/powerpoint/2010/main" val="41560323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65B93B2F-2908-50C2-F779-0B1BCB8CAD01}"/>
              </a:ext>
            </a:extLst>
          </p:cNvPr>
          <p:cNvSpPr>
            <a:spLocks noGrp="1"/>
          </p:cNvSpPr>
          <p:nvPr>
            <p:ph type="body" sz="quarter" idx="10"/>
          </p:nvPr>
        </p:nvSpPr>
        <p:spPr>
          <a:xfrm>
            <a:off x="569529" y="327689"/>
            <a:ext cx="8686800" cy="492443"/>
          </a:xfrm>
        </p:spPr>
        <p:txBody>
          <a:bodyPr/>
          <a:lstStyle/>
          <a:p>
            <a:r>
              <a:rPr lang="en-US" sz="3200" noProof="0">
                <a:latin typeface="Trebuchet MS" panose="020B0603020202020204" pitchFamily="34" charset="0"/>
              </a:rPr>
              <a:t>Overview of Rolled Throughput Yield</a:t>
            </a:r>
          </a:p>
        </p:txBody>
      </p:sp>
      <p:sp>
        <p:nvSpPr>
          <p:cNvPr id="4" name="Rectangle: Rounded Corners 3">
            <a:extLst>
              <a:ext uri="{FF2B5EF4-FFF2-40B4-BE49-F238E27FC236}">
                <a16:creationId xmlns:a16="http://schemas.microsoft.com/office/drawing/2014/main" id="{C75223C6-48B5-AA52-4435-BB460206E699}"/>
              </a:ext>
            </a:extLst>
          </p:cNvPr>
          <p:cNvSpPr/>
          <p:nvPr/>
        </p:nvSpPr>
        <p:spPr>
          <a:xfrm>
            <a:off x="173960" y="3016510"/>
            <a:ext cx="1419225" cy="1673787"/>
          </a:xfrm>
          <a:prstGeom prst="roundRect">
            <a:avLst/>
          </a:prstGeom>
          <a:solidFill>
            <a:srgbClr val="27AAE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noProof="0">
                <a:solidFill>
                  <a:schemeClr val="bg1"/>
                </a:solidFill>
                <a:latin typeface="Trebuchet MS" panose="020B0603020202020204" pitchFamily="34" charset="0"/>
                <a:cs typeface="Arial" panose="020B0604020202020204" pitchFamily="34" charset="0"/>
              </a:rPr>
              <a:t>100 IT requests scheduled</a:t>
            </a:r>
          </a:p>
        </p:txBody>
      </p:sp>
      <p:sp>
        <p:nvSpPr>
          <p:cNvPr id="3" name="Arrow: Right 2">
            <a:extLst>
              <a:ext uri="{FF2B5EF4-FFF2-40B4-BE49-F238E27FC236}">
                <a16:creationId xmlns:a16="http://schemas.microsoft.com/office/drawing/2014/main" id="{5C0A49C0-5AAA-793B-7092-3C0996839AE7}"/>
              </a:ext>
            </a:extLst>
          </p:cNvPr>
          <p:cNvSpPr/>
          <p:nvPr/>
        </p:nvSpPr>
        <p:spPr>
          <a:xfrm>
            <a:off x="1828318" y="2163087"/>
            <a:ext cx="2260513" cy="3380634"/>
          </a:xfrm>
          <a:prstGeom prst="rightArrow">
            <a:avLst/>
          </a:prstGeom>
          <a:solidFill>
            <a:srgbClr val="7030A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noProof="0">
                <a:solidFill>
                  <a:schemeClr val="bg1"/>
                </a:solidFill>
                <a:latin typeface="Trebuchet MS" panose="020B0603020202020204" pitchFamily="34" charset="0"/>
                <a:cs typeface="Arial" panose="020B0604020202020204" pitchFamily="34" charset="0"/>
              </a:rPr>
              <a:t>Process - Step 1</a:t>
            </a:r>
          </a:p>
          <a:p>
            <a:pPr algn="ctr"/>
            <a:r>
              <a:rPr lang="en-US" sz="1600" noProof="0">
                <a:solidFill>
                  <a:schemeClr val="bg1"/>
                </a:solidFill>
                <a:latin typeface="Trebuchet MS" panose="020B0603020202020204" pitchFamily="34" charset="0"/>
                <a:cs typeface="Arial" panose="020B0604020202020204" pitchFamily="34" charset="0"/>
              </a:rPr>
              <a:t>(missing info)</a:t>
            </a:r>
            <a:endParaRPr lang="en-US" sz="1600" noProof="0">
              <a:solidFill>
                <a:schemeClr val="bg1"/>
              </a:solidFill>
              <a:latin typeface="Trebuchet MS" panose="020B0603020202020204" pitchFamily="34" charset="0"/>
              <a:ea typeface="Calibri"/>
              <a:cs typeface="Arial" panose="020B0604020202020204" pitchFamily="34" charset="0"/>
            </a:endParaRPr>
          </a:p>
          <a:p>
            <a:pPr algn="ctr"/>
            <a:r>
              <a:rPr lang="en-US" sz="1600" b="1" noProof="0">
                <a:solidFill>
                  <a:schemeClr val="bg1"/>
                </a:solidFill>
                <a:latin typeface="Trebuchet MS" panose="020B0603020202020204" pitchFamily="34" charset="0"/>
                <a:cs typeface="Arial" panose="020B0604020202020204" pitchFamily="34" charset="0"/>
              </a:rPr>
              <a:t>90/100 = 0.90</a:t>
            </a:r>
          </a:p>
          <a:p>
            <a:pPr algn="ctr"/>
            <a:r>
              <a:rPr lang="en-US" sz="1600" b="1" noProof="0">
                <a:solidFill>
                  <a:schemeClr val="bg1"/>
                </a:solidFill>
                <a:latin typeface="Trebuchet MS" panose="020B0603020202020204" pitchFamily="34" charset="0"/>
                <a:ea typeface="Calibri"/>
                <a:cs typeface="Arial" panose="020B0604020202020204" pitchFamily="34" charset="0"/>
              </a:rPr>
              <a:t>90% Yield</a:t>
            </a:r>
          </a:p>
        </p:txBody>
      </p:sp>
      <p:sp>
        <p:nvSpPr>
          <p:cNvPr id="9" name="Arrow: Right 8">
            <a:extLst>
              <a:ext uri="{FF2B5EF4-FFF2-40B4-BE49-F238E27FC236}">
                <a16:creationId xmlns:a16="http://schemas.microsoft.com/office/drawing/2014/main" id="{C15BDDED-EFDD-469D-9B37-4DE4B1D4ACEC}"/>
              </a:ext>
            </a:extLst>
          </p:cNvPr>
          <p:cNvSpPr/>
          <p:nvPr/>
        </p:nvSpPr>
        <p:spPr>
          <a:xfrm>
            <a:off x="4164549" y="2163087"/>
            <a:ext cx="2845851" cy="3380634"/>
          </a:xfrm>
          <a:prstGeom prst="rightArrow">
            <a:avLst/>
          </a:prstGeom>
          <a:solidFill>
            <a:srgbClr val="7030A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600" noProof="0">
              <a:solidFill>
                <a:schemeClr val="bg1"/>
              </a:solidFill>
              <a:latin typeface="Trebuchet MS" panose="020B0603020202020204" pitchFamily="34" charset="0"/>
              <a:cs typeface="Arial" panose="020B0604020202020204" pitchFamily="34" charset="0"/>
            </a:endParaRPr>
          </a:p>
          <a:p>
            <a:pPr algn="ctr"/>
            <a:r>
              <a:rPr lang="en-US" sz="1600" noProof="0">
                <a:solidFill>
                  <a:schemeClr val="bg1"/>
                </a:solidFill>
                <a:latin typeface="Trebuchet MS" panose="020B0603020202020204" pitchFamily="34" charset="0"/>
                <a:cs typeface="Arial" panose="020B0604020202020204" pitchFamily="34" charset="0"/>
              </a:rPr>
              <a:t>Process Step 2</a:t>
            </a:r>
          </a:p>
          <a:p>
            <a:pPr algn="ctr"/>
            <a:r>
              <a:rPr lang="en-US" sz="1600" noProof="0">
                <a:solidFill>
                  <a:schemeClr val="bg1"/>
                </a:solidFill>
                <a:latin typeface="Trebuchet MS" panose="020B0603020202020204" pitchFamily="34" charset="0"/>
                <a:cs typeface="Arial" panose="020B0604020202020204" pitchFamily="34" charset="0"/>
              </a:rPr>
              <a:t>(Routing) 72/90</a:t>
            </a:r>
            <a:r>
              <a:rPr lang="en-US" sz="1600" b="1" noProof="0">
                <a:solidFill>
                  <a:schemeClr val="bg1"/>
                </a:solidFill>
                <a:latin typeface="Trebuchet MS" panose="020B0603020202020204" pitchFamily="34" charset="0"/>
                <a:cs typeface="Arial" panose="020B0604020202020204" pitchFamily="34" charset="0"/>
              </a:rPr>
              <a:t>=0.80</a:t>
            </a:r>
          </a:p>
          <a:p>
            <a:pPr algn="ctr"/>
            <a:r>
              <a:rPr lang="en-US" sz="1600" b="1" noProof="0">
                <a:solidFill>
                  <a:schemeClr val="bg1"/>
                </a:solidFill>
                <a:latin typeface="Trebuchet MS" panose="020B0603020202020204" pitchFamily="34" charset="0"/>
                <a:cs typeface="Arial" panose="020B0604020202020204" pitchFamily="34" charset="0"/>
              </a:rPr>
              <a:t>80% yield</a:t>
            </a:r>
            <a:endParaRPr lang="en-US" sz="1600" b="1" noProof="0">
              <a:solidFill>
                <a:schemeClr val="bg1"/>
              </a:solidFill>
              <a:latin typeface="Trebuchet MS" panose="020B0603020202020204" pitchFamily="34" charset="0"/>
              <a:ea typeface="Calibri"/>
              <a:cs typeface="Arial" panose="020B0604020202020204" pitchFamily="34" charset="0"/>
            </a:endParaRPr>
          </a:p>
          <a:p>
            <a:pPr algn="ctr"/>
            <a:endParaRPr lang="en-US" sz="1600" noProof="0">
              <a:solidFill>
                <a:schemeClr val="bg1"/>
              </a:solidFill>
              <a:latin typeface="Trebuchet MS" panose="020B0603020202020204" pitchFamily="34" charset="0"/>
              <a:cs typeface="Arial" panose="020B0604020202020204" pitchFamily="34" charset="0"/>
            </a:endParaRPr>
          </a:p>
        </p:txBody>
      </p:sp>
      <p:sp>
        <p:nvSpPr>
          <p:cNvPr id="10" name="Arrow: Right 9">
            <a:extLst>
              <a:ext uri="{FF2B5EF4-FFF2-40B4-BE49-F238E27FC236}">
                <a16:creationId xmlns:a16="http://schemas.microsoft.com/office/drawing/2014/main" id="{9B6BC703-A35F-964F-A364-D58A94647F18}"/>
              </a:ext>
            </a:extLst>
          </p:cNvPr>
          <p:cNvSpPr/>
          <p:nvPr/>
        </p:nvSpPr>
        <p:spPr>
          <a:xfrm>
            <a:off x="7073874" y="2163087"/>
            <a:ext cx="2451303" cy="3380634"/>
          </a:xfrm>
          <a:prstGeom prst="rightArrow">
            <a:avLst/>
          </a:prstGeom>
          <a:solidFill>
            <a:srgbClr val="7030A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noProof="0">
                <a:solidFill>
                  <a:schemeClr val="bg1"/>
                </a:solidFill>
                <a:latin typeface="Trebuchet MS" panose="020B0603020202020204" pitchFamily="34" charset="0"/>
                <a:cs typeface="Arial" panose="020B0604020202020204" pitchFamily="34" charset="0"/>
              </a:rPr>
              <a:t>Step 3 </a:t>
            </a:r>
          </a:p>
          <a:p>
            <a:pPr algn="ctr"/>
            <a:r>
              <a:rPr lang="en-US" sz="1600" noProof="0">
                <a:solidFill>
                  <a:schemeClr val="bg1"/>
                </a:solidFill>
                <a:latin typeface="Trebuchet MS" panose="020B0603020202020204" pitchFamily="34" charset="0"/>
                <a:cs typeface="Arial" panose="020B0604020202020204" pitchFamily="34" charset="0"/>
              </a:rPr>
              <a:t>(Resolution)</a:t>
            </a:r>
          </a:p>
          <a:p>
            <a:pPr algn="ctr"/>
            <a:r>
              <a:rPr lang="en-US" sz="1600" b="1" noProof="0">
                <a:solidFill>
                  <a:schemeClr val="bg1"/>
                </a:solidFill>
                <a:latin typeface="Trebuchet MS" panose="020B0603020202020204" pitchFamily="34" charset="0"/>
                <a:cs typeface="Arial" panose="020B0604020202020204" pitchFamily="34" charset="0"/>
              </a:rPr>
              <a:t>68.4/72 =0.95</a:t>
            </a:r>
          </a:p>
          <a:p>
            <a:pPr algn="ctr"/>
            <a:r>
              <a:rPr lang="en-US" sz="1600" b="1" noProof="0">
                <a:solidFill>
                  <a:schemeClr val="bg1"/>
                </a:solidFill>
                <a:latin typeface="Trebuchet MS" panose="020B0603020202020204" pitchFamily="34" charset="0"/>
                <a:cs typeface="Arial" panose="020B0604020202020204" pitchFamily="34" charset="0"/>
              </a:rPr>
              <a:t>95% yield</a:t>
            </a:r>
          </a:p>
        </p:txBody>
      </p:sp>
      <p:sp>
        <p:nvSpPr>
          <p:cNvPr id="11" name="Rectangle: Rounded Corners 10">
            <a:extLst>
              <a:ext uri="{FF2B5EF4-FFF2-40B4-BE49-F238E27FC236}">
                <a16:creationId xmlns:a16="http://schemas.microsoft.com/office/drawing/2014/main" id="{34FA3B60-C937-DFBC-D80B-DDB714292307}"/>
              </a:ext>
            </a:extLst>
          </p:cNvPr>
          <p:cNvSpPr/>
          <p:nvPr/>
        </p:nvSpPr>
        <p:spPr>
          <a:xfrm>
            <a:off x="9609987" y="2780739"/>
            <a:ext cx="2188240" cy="1789931"/>
          </a:xfrm>
          <a:prstGeom prst="roundRect">
            <a:avLst/>
          </a:prstGeom>
          <a:solidFill>
            <a:srgbClr val="00AF7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noProof="0">
                <a:solidFill>
                  <a:schemeClr val="bg1"/>
                </a:solidFill>
                <a:latin typeface="Trebuchet MS" panose="020B0603020202020204" pitchFamily="34" charset="0"/>
                <a:cs typeface="Arial" panose="020B0604020202020204" pitchFamily="34" charset="0"/>
              </a:rPr>
              <a:t>RTY = </a:t>
            </a:r>
          </a:p>
          <a:p>
            <a:pPr algn="ctr"/>
            <a:endParaRPr lang="en-US" sz="1600" b="1" noProof="0">
              <a:solidFill>
                <a:schemeClr val="bg1"/>
              </a:solidFill>
              <a:latin typeface="Trebuchet MS" panose="020B0603020202020204" pitchFamily="34" charset="0"/>
              <a:cs typeface="Arial" panose="020B0604020202020204" pitchFamily="34" charset="0"/>
            </a:endParaRPr>
          </a:p>
          <a:p>
            <a:pPr algn="ctr"/>
            <a:r>
              <a:rPr lang="en-US" sz="1600" b="1" noProof="0">
                <a:solidFill>
                  <a:schemeClr val="bg1"/>
                </a:solidFill>
                <a:latin typeface="Trebuchet MS" panose="020B0603020202020204" pitchFamily="34" charset="0"/>
                <a:cs typeface="Arial" panose="020B0604020202020204" pitchFamily="34" charset="0"/>
              </a:rPr>
              <a:t>0.90 × 0.80 × 0.95</a:t>
            </a:r>
          </a:p>
          <a:p>
            <a:pPr algn="ctr"/>
            <a:r>
              <a:rPr lang="en-US" sz="1600" b="1" noProof="0">
                <a:solidFill>
                  <a:schemeClr val="bg1"/>
                </a:solidFill>
                <a:latin typeface="Trebuchet MS" panose="020B0603020202020204" pitchFamily="34" charset="0"/>
                <a:cs typeface="Arial" panose="020B0604020202020204" pitchFamily="34" charset="0"/>
              </a:rPr>
              <a:t>=0.684</a:t>
            </a:r>
          </a:p>
          <a:p>
            <a:pPr algn="ctr"/>
            <a:r>
              <a:rPr lang="en-US" sz="1600" b="1" noProof="0">
                <a:solidFill>
                  <a:schemeClr val="bg1"/>
                </a:solidFill>
                <a:latin typeface="Trebuchet MS" panose="020B0603020202020204" pitchFamily="34" charset="0"/>
                <a:cs typeface="Arial" panose="020B0604020202020204" pitchFamily="34" charset="0"/>
              </a:rPr>
              <a:t>=68.4%</a:t>
            </a:r>
          </a:p>
        </p:txBody>
      </p:sp>
      <p:sp>
        <p:nvSpPr>
          <p:cNvPr id="16" name="Left Brace 15">
            <a:extLst>
              <a:ext uri="{FF2B5EF4-FFF2-40B4-BE49-F238E27FC236}">
                <a16:creationId xmlns:a16="http://schemas.microsoft.com/office/drawing/2014/main" id="{6B55FB47-DEF3-3038-6319-B8D74F7CCE52}"/>
              </a:ext>
            </a:extLst>
          </p:cNvPr>
          <p:cNvSpPr/>
          <p:nvPr/>
        </p:nvSpPr>
        <p:spPr>
          <a:xfrm rot="5400000">
            <a:off x="5244574" y="-1669299"/>
            <a:ext cx="685800" cy="7607336"/>
          </a:xfrm>
          <a:prstGeom prst="leftBrace">
            <a:avLst>
              <a:gd name="adj1" fmla="val 10416"/>
              <a:gd name="adj2" fmla="val 50000"/>
            </a:avLst>
          </a:prstGeom>
          <a:ln w="28575"/>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latin typeface="Trebuchet MS" panose="020B0603020202020204" pitchFamily="34" charset="0"/>
            </a:endParaRPr>
          </a:p>
        </p:txBody>
      </p:sp>
      <p:sp>
        <p:nvSpPr>
          <p:cNvPr id="17" name="Rectangle: Rounded Corners 16">
            <a:extLst>
              <a:ext uri="{FF2B5EF4-FFF2-40B4-BE49-F238E27FC236}">
                <a16:creationId xmlns:a16="http://schemas.microsoft.com/office/drawing/2014/main" id="{C5DC9542-B582-2D49-A18B-F4FA6F39F9EA}"/>
              </a:ext>
            </a:extLst>
          </p:cNvPr>
          <p:cNvSpPr/>
          <p:nvPr/>
        </p:nvSpPr>
        <p:spPr>
          <a:xfrm>
            <a:off x="4242428" y="1406816"/>
            <a:ext cx="3200400" cy="354661"/>
          </a:xfrm>
          <a:prstGeom prst="roundRect">
            <a:avLst/>
          </a:prstGeom>
          <a:noFill/>
          <a:ln>
            <a:solidFill>
              <a:srgbClr val="27AAE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noProof="0">
                <a:solidFill>
                  <a:srgbClr val="002060"/>
                </a:solidFill>
                <a:latin typeface="Trebuchet MS" panose="020B0603020202020204" pitchFamily="34" charset="0"/>
                <a:cs typeface="Arial" panose="020B0604020202020204" pitchFamily="34" charset="0"/>
              </a:rPr>
              <a:t>31.6 reworked IT Requests</a:t>
            </a:r>
          </a:p>
        </p:txBody>
      </p:sp>
      <p:sp>
        <p:nvSpPr>
          <p:cNvPr id="12" name="Rectangle: Rounded Corners 11">
            <a:extLst>
              <a:ext uri="{FF2B5EF4-FFF2-40B4-BE49-F238E27FC236}">
                <a16:creationId xmlns:a16="http://schemas.microsoft.com/office/drawing/2014/main" id="{49B29FD4-1468-03FA-D3CF-DD68DFD1A2C5}"/>
              </a:ext>
            </a:extLst>
          </p:cNvPr>
          <p:cNvSpPr/>
          <p:nvPr/>
        </p:nvSpPr>
        <p:spPr>
          <a:xfrm>
            <a:off x="1793572" y="5603704"/>
            <a:ext cx="2225767" cy="858960"/>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fontAlgn="t">
              <a:lnSpc>
                <a:spcPts val="1500"/>
              </a:lnSpc>
              <a:buNone/>
            </a:pPr>
            <a:r>
              <a:rPr lang="en-US" sz="1600" b="1" noProof="0">
                <a:solidFill>
                  <a:srgbClr val="002060"/>
                </a:solidFill>
                <a:latin typeface="Segoe UI" panose="020B0502040204020203" pitchFamily="34" charset="0"/>
              </a:rPr>
              <a:t>10</a:t>
            </a:r>
            <a:r>
              <a:rPr lang="en-US" sz="1600" b="1" i="0" noProof="0">
                <a:solidFill>
                  <a:srgbClr val="002060"/>
                </a:solidFill>
                <a:effectLst/>
                <a:latin typeface="Segoe UI" panose="020B0502040204020203" pitchFamily="34" charset="0"/>
              </a:rPr>
              <a:t> </a:t>
            </a:r>
            <a:r>
              <a:rPr lang="en-US" sz="1600" b="1" noProof="0">
                <a:solidFill>
                  <a:srgbClr val="002060"/>
                </a:solidFill>
                <a:latin typeface="Segoe UI" panose="020B0502040204020203" pitchFamily="34" charset="0"/>
              </a:rPr>
              <a:t>missing information</a:t>
            </a:r>
            <a:endParaRPr lang="en-US" sz="1600" b="1" i="0" noProof="0">
              <a:solidFill>
                <a:srgbClr val="002060"/>
              </a:solidFill>
              <a:effectLst/>
              <a:latin typeface="Segoe UI" panose="020B0502040204020203" pitchFamily="34" charset="0"/>
            </a:endParaRPr>
          </a:p>
        </p:txBody>
      </p:sp>
      <p:sp>
        <p:nvSpPr>
          <p:cNvPr id="13" name="Rectangle: Rounded Corners 12">
            <a:extLst>
              <a:ext uri="{FF2B5EF4-FFF2-40B4-BE49-F238E27FC236}">
                <a16:creationId xmlns:a16="http://schemas.microsoft.com/office/drawing/2014/main" id="{2242070A-0233-2DA3-34AB-F7306AF1638B}"/>
              </a:ext>
            </a:extLst>
          </p:cNvPr>
          <p:cNvSpPr/>
          <p:nvPr/>
        </p:nvSpPr>
        <p:spPr>
          <a:xfrm>
            <a:off x="4242428" y="5603704"/>
            <a:ext cx="2589819" cy="858960"/>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fontAlgn="t">
              <a:lnSpc>
                <a:spcPts val="1500"/>
              </a:lnSpc>
            </a:pPr>
            <a:r>
              <a:rPr lang="en-US" sz="1600" b="1" noProof="0">
                <a:solidFill>
                  <a:srgbClr val="002060"/>
                </a:solidFill>
                <a:latin typeface="Segoe UI" panose="020B0502040204020203" pitchFamily="34" charset="0"/>
              </a:rPr>
              <a:t>18 wrong routing</a:t>
            </a:r>
          </a:p>
        </p:txBody>
      </p:sp>
      <p:sp>
        <p:nvSpPr>
          <p:cNvPr id="14" name="Rectangle: Rounded Corners 13">
            <a:extLst>
              <a:ext uri="{FF2B5EF4-FFF2-40B4-BE49-F238E27FC236}">
                <a16:creationId xmlns:a16="http://schemas.microsoft.com/office/drawing/2014/main" id="{BB1CE91F-43BE-2F1D-36FE-6045A2A40738}"/>
              </a:ext>
            </a:extLst>
          </p:cNvPr>
          <p:cNvSpPr/>
          <p:nvPr/>
        </p:nvSpPr>
        <p:spPr>
          <a:xfrm>
            <a:off x="7015783" y="5603704"/>
            <a:ext cx="2451303" cy="858960"/>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fontAlgn="t">
              <a:lnSpc>
                <a:spcPts val="1500"/>
              </a:lnSpc>
            </a:pPr>
            <a:r>
              <a:rPr lang="en-US" sz="1600" b="1" noProof="0">
                <a:solidFill>
                  <a:srgbClr val="002060"/>
                </a:solidFill>
                <a:latin typeface="Segoe UI" panose="020B0502040204020203" pitchFamily="34" charset="0"/>
              </a:rPr>
              <a:t>3.6 incorrect resolution. Reopened.</a:t>
            </a:r>
          </a:p>
        </p:txBody>
      </p:sp>
    </p:spTree>
    <p:extLst>
      <p:ext uri="{BB962C8B-B14F-4D97-AF65-F5344CB8AC3E}">
        <p14:creationId xmlns:p14="http://schemas.microsoft.com/office/powerpoint/2010/main" val="23977425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A48BBE82-CB77-8193-445D-F746042D4350}"/>
              </a:ext>
            </a:extLst>
          </p:cNvPr>
          <p:cNvSpPr>
            <a:spLocks noGrp="1"/>
          </p:cNvSpPr>
          <p:nvPr>
            <p:ph type="body" sz="quarter" idx="10"/>
          </p:nvPr>
        </p:nvSpPr>
        <p:spPr>
          <a:xfrm>
            <a:off x="533400" y="445493"/>
            <a:ext cx="5562600" cy="492443"/>
          </a:xfrm>
        </p:spPr>
        <p:txBody>
          <a:bodyPr/>
          <a:lstStyle/>
          <a:p>
            <a:r>
              <a:rPr lang="en-US" sz="3200" noProof="0">
                <a:latin typeface="Trebuchet MS" panose="020B0603020202020204" pitchFamily="34" charset="0"/>
              </a:rPr>
              <a:t>Summary</a:t>
            </a:r>
          </a:p>
        </p:txBody>
      </p:sp>
      <p:sp>
        <p:nvSpPr>
          <p:cNvPr id="7" name="TextBox 6">
            <a:extLst>
              <a:ext uri="{FF2B5EF4-FFF2-40B4-BE49-F238E27FC236}">
                <a16:creationId xmlns:a16="http://schemas.microsoft.com/office/drawing/2014/main" id="{BA8B0892-082E-7A60-5A8B-AB52A801A244}"/>
              </a:ext>
            </a:extLst>
          </p:cNvPr>
          <p:cNvSpPr txBox="1"/>
          <p:nvPr/>
        </p:nvSpPr>
        <p:spPr>
          <a:xfrm>
            <a:off x="529590" y="1600200"/>
            <a:ext cx="8233410" cy="3216265"/>
          </a:xfrm>
          <a:prstGeom prst="rect">
            <a:avLst/>
          </a:prstGeom>
          <a:noFill/>
        </p:spPr>
        <p:txBody>
          <a:bodyPr wrap="square">
            <a:spAutoFit/>
          </a:bodyPr>
          <a:lstStyle/>
          <a:p>
            <a:r>
              <a:rPr lang="en-US" b="1" noProof="0">
                <a:solidFill>
                  <a:srgbClr val="002060"/>
                </a:solidFill>
                <a:latin typeface="Trebuchet MS" panose="020B0603020202020204" pitchFamily="34" charset="0"/>
              </a:rPr>
              <a:t>What Have We Learned?</a:t>
            </a:r>
          </a:p>
          <a:p>
            <a:endParaRPr lang="en-US" b="1" noProof="0">
              <a:solidFill>
                <a:srgbClr val="002060"/>
              </a:solidFill>
              <a:latin typeface="Trebuchet MS" panose="020B0603020202020204" pitchFamily="34" charset="0"/>
            </a:endParaRPr>
          </a:p>
          <a:p>
            <a:r>
              <a:rPr lang="en-US" b="1" noProof="0">
                <a:solidFill>
                  <a:srgbClr val="002060"/>
                </a:solidFill>
                <a:latin typeface="Trebuchet MS" panose="020B0603020202020204" pitchFamily="34" charset="0"/>
              </a:rPr>
              <a:t>In this module we have learned:</a:t>
            </a:r>
          </a:p>
          <a:p>
            <a:endParaRPr lang="en-US" sz="5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noProof="0">
                <a:solidFill>
                  <a:srgbClr val="002060"/>
                </a:solidFill>
                <a:latin typeface="Trebuchet MS" panose="020B0603020202020204" pitchFamily="34" charset="0"/>
              </a:rPr>
              <a:t>Defects are outputs that do not meet customer requirements.</a:t>
            </a:r>
          </a:p>
          <a:p>
            <a:pPr marL="285750" indent="-285750">
              <a:buFont typeface="Arial" panose="020B0604020202020204" pitchFamily="34" charset="0"/>
              <a:buChar char="•"/>
            </a:pPr>
            <a:r>
              <a:rPr lang="en-US" noProof="0">
                <a:solidFill>
                  <a:srgbClr val="002060"/>
                </a:solidFill>
                <a:latin typeface="Trebuchet MS" panose="020B0603020202020204" pitchFamily="34" charset="0"/>
              </a:rPr>
              <a:t>Yield measures how often we get things right first time.</a:t>
            </a:r>
          </a:p>
          <a:p>
            <a:pPr marL="285750" indent="-285750">
              <a:buFont typeface="Arial" panose="020B0604020202020204" pitchFamily="34" charset="0"/>
              <a:buChar char="•"/>
            </a:pPr>
            <a:r>
              <a:rPr lang="en-US" noProof="0">
                <a:solidFill>
                  <a:srgbClr val="002060"/>
                </a:solidFill>
                <a:latin typeface="Trebuchet MS" panose="020B0603020202020204" pitchFamily="34" charset="0"/>
              </a:rPr>
              <a:t>DPU measures how many defects exist within each unit.</a:t>
            </a:r>
          </a:p>
          <a:p>
            <a:pPr marL="285750" indent="-285750">
              <a:buFont typeface="Arial" panose="020B0604020202020204" pitchFamily="34" charset="0"/>
              <a:buChar char="•"/>
            </a:pPr>
            <a:r>
              <a:rPr lang="en-US" noProof="0">
                <a:solidFill>
                  <a:srgbClr val="002060"/>
                </a:solidFill>
                <a:latin typeface="Trebuchet MS" panose="020B0603020202020204" pitchFamily="34" charset="0"/>
              </a:rPr>
              <a:t>Opportunities are points where defects could occur.</a:t>
            </a:r>
          </a:p>
          <a:p>
            <a:pPr marL="285750" indent="-285750">
              <a:buFont typeface="Arial" panose="020B0604020202020204" pitchFamily="34" charset="0"/>
              <a:buChar char="•"/>
            </a:pPr>
            <a:r>
              <a:rPr lang="en-US" noProof="0">
                <a:solidFill>
                  <a:srgbClr val="002060"/>
                </a:solidFill>
                <a:latin typeface="Trebuchet MS" panose="020B0603020202020204" pitchFamily="34" charset="0"/>
              </a:rPr>
              <a:t>DPMO standardizes defect rates so processes can be compared.</a:t>
            </a:r>
          </a:p>
          <a:p>
            <a:pPr marL="285750" indent="-285750">
              <a:buFont typeface="Arial" panose="020B0604020202020204" pitchFamily="34" charset="0"/>
              <a:buChar char="•"/>
            </a:pPr>
            <a:r>
              <a:rPr lang="en-US" noProof="0">
                <a:solidFill>
                  <a:srgbClr val="002060"/>
                </a:solidFill>
                <a:latin typeface="Trebuchet MS" panose="020B0603020202020204" pitchFamily="34" charset="0"/>
              </a:rPr>
              <a:t>Process Sigma converts DPMO into a measure of process capability.</a:t>
            </a:r>
          </a:p>
          <a:p>
            <a:pPr marL="285750" indent="-285750">
              <a:buFont typeface="Arial" panose="020B0604020202020204" pitchFamily="34" charset="0"/>
              <a:buChar char="•"/>
            </a:pPr>
            <a:r>
              <a:rPr lang="en-US" noProof="0">
                <a:solidFill>
                  <a:srgbClr val="002060"/>
                </a:solidFill>
                <a:latin typeface="Trebuchet MS" panose="020B0603020202020204" pitchFamily="34" charset="0"/>
              </a:rPr>
              <a:t>RTY shows the true performance of a process across multiple steps.</a:t>
            </a:r>
          </a:p>
          <a:p>
            <a:pPr marL="285750" indent="-285750">
              <a:buFont typeface="Arial" panose="020B0604020202020204" pitchFamily="34" charset="0"/>
              <a:buChar char="•"/>
            </a:pPr>
            <a:r>
              <a:rPr lang="en-US" noProof="0">
                <a:solidFill>
                  <a:srgbClr val="002060"/>
                </a:solidFill>
                <a:latin typeface="Trebuchet MS" panose="020B0603020202020204" pitchFamily="34" charset="0"/>
              </a:rPr>
              <a:t>Hidden Factory reveals the cost of rework, delays and corrections.</a:t>
            </a:r>
          </a:p>
        </p:txBody>
      </p:sp>
      <p:sp>
        <p:nvSpPr>
          <p:cNvPr id="9" name="TextBox 8">
            <a:extLst>
              <a:ext uri="{FF2B5EF4-FFF2-40B4-BE49-F238E27FC236}">
                <a16:creationId xmlns:a16="http://schemas.microsoft.com/office/drawing/2014/main" id="{BABAFEBA-F515-1264-F29A-C55DE6783FED}"/>
              </a:ext>
            </a:extLst>
          </p:cNvPr>
          <p:cNvSpPr txBox="1"/>
          <p:nvPr/>
        </p:nvSpPr>
        <p:spPr>
          <a:xfrm>
            <a:off x="529590" y="6016505"/>
            <a:ext cx="11433810" cy="369332"/>
          </a:xfrm>
          <a:prstGeom prst="rect">
            <a:avLst/>
          </a:prstGeom>
          <a:solidFill>
            <a:srgbClr val="24408D"/>
          </a:solidFill>
        </p:spPr>
        <p:txBody>
          <a:bodyPr wrap="square">
            <a:spAutoFit/>
          </a:bodyPr>
          <a:lstStyle/>
          <a:p>
            <a:r>
              <a:rPr lang="en-US" b="1" noProof="0">
                <a:solidFill>
                  <a:schemeClr val="bg1"/>
                </a:solidFill>
                <a:latin typeface="Trebuchet MS" panose="020B0603020202020204" pitchFamily="34" charset="0"/>
              </a:rPr>
              <a:t>Key Takeaway: </a:t>
            </a:r>
            <a:r>
              <a:rPr lang="en-US" noProof="0">
                <a:solidFill>
                  <a:schemeClr val="bg1"/>
                </a:solidFill>
                <a:latin typeface="Trebuchet MS" panose="020B0603020202020204" pitchFamily="34" charset="0"/>
              </a:rPr>
              <a:t>Better processes create fewer defects, less rework and better outcomes for customers.</a:t>
            </a:r>
          </a:p>
        </p:txBody>
      </p:sp>
    </p:spTree>
    <p:extLst>
      <p:ext uri="{BB962C8B-B14F-4D97-AF65-F5344CB8AC3E}">
        <p14:creationId xmlns:p14="http://schemas.microsoft.com/office/powerpoint/2010/main" val="21359815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8" name="Text Placeholder 3">
            <a:extLst>
              <a:ext uri="{FF2B5EF4-FFF2-40B4-BE49-F238E27FC236}">
                <a16:creationId xmlns:a16="http://schemas.microsoft.com/office/drawing/2014/main" id="{5929FFDE-4C44-0072-37D5-58A8811E8E39}"/>
              </a:ext>
            </a:extLst>
          </p:cNvPr>
          <p:cNvSpPr>
            <a:spLocks noGrp="1"/>
          </p:cNvSpPr>
          <p:nvPr>
            <p:ph type="body" sz="quarter" idx="10"/>
          </p:nvPr>
        </p:nvSpPr>
        <p:spPr>
          <a:xfrm>
            <a:off x="533400" y="1534622"/>
            <a:ext cx="5562600" cy="4216539"/>
          </a:xfrm>
        </p:spPr>
        <p:txBody>
          <a:bodyPr/>
          <a:lstStyle/>
          <a:p>
            <a:r>
              <a:rPr lang="en-US" noProof="0"/>
              <a:t>Thank you</a:t>
            </a:r>
          </a:p>
          <a:p>
            <a:endParaRPr lang="en-US" sz="2400" b="0" noProof="0"/>
          </a:p>
          <a:p>
            <a:r>
              <a:rPr lang="en-US" sz="2400" b="0" noProof="0"/>
              <a:t>Thank you for your participation. You have now completed the learning for this module. </a:t>
            </a:r>
          </a:p>
          <a:p>
            <a:endParaRPr lang="en-US" sz="2400" b="0" noProof="0"/>
          </a:p>
          <a:p>
            <a:r>
              <a:rPr lang="en-US" sz="2400" b="0" noProof="0"/>
              <a:t>Once your attendance has been captured, your module end test will be available. Slides for this session will also be available for review. </a:t>
            </a:r>
          </a:p>
        </p:txBody>
      </p:sp>
      <p:sp>
        <p:nvSpPr>
          <p:cNvPr id="9" name="Rectangle 8">
            <a:extLst>
              <a:ext uri="{FF2B5EF4-FFF2-40B4-BE49-F238E27FC236}">
                <a16:creationId xmlns:a16="http://schemas.microsoft.com/office/drawing/2014/main" id="{72EB1EB9-1A66-238B-FD32-6769E73F0A07}"/>
              </a:ext>
            </a:extLst>
          </p:cNvPr>
          <p:cNvSpPr/>
          <p:nvPr/>
        </p:nvSpPr>
        <p:spPr>
          <a:xfrm>
            <a:off x="213756" y="5652655"/>
            <a:ext cx="2458192" cy="926275"/>
          </a:xfrm>
          <a:prstGeom prst="rect">
            <a:avLst/>
          </a:prstGeom>
          <a:solidFill>
            <a:srgbClr val="244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5205098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ngeus Generic">
  <a:themeElements>
    <a:clrScheme name="Custom 5">
      <a:dk1>
        <a:srgbClr val="6B635B"/>
      </a:dk1>
      <a:lt1>
        <a:srgbClr val="FFFFFF"/>
      </a:lt1>
      <a:dk2>
        <a:srgbClr val="F58233"/>
      </a:dk2>
      <a:lt2>
        <a:srgbClr val="FBBA00"/>
      </a:lt2>
      <a:accent1>
        <a:srgbClr val="EC008C"/>
      </a:accent1>
      <a:accent2>
        <a:srgbClr val="8DC63F"/>
      </a:accent2>
      <a:accent3>
        <a:srgbClr val="00AF74"/>
      </a:accent3>
      <a:accent4>
        <a:srgbClr val="27AAE1"/>
      </a:accent4>
      <a:accent5>
        <a:srgbClr val="2B3990"/>
      </a:accent5>
      <a:accent6>
        <a:srgbClr val="9FA1A2"/>
      </a:accent6>
      <a:hlink>
        <a:srgbClr val="6B635B"/>
      </a:hlink>
      <a:folHlink>
        <a:srgbClr val="6B635B"/>
      </a:folHlink>
    </a:clrScheme>
    <a:fontScheme name="Custom 7">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D28FA20BD2FE48BF0090F2482EA240" ma:contentTypeVersion="12" ma:contentTypeDescription="Create a new document." ma:contentTypeScope="" ma:versionID="2fa18cf9dfb3640b544f21b035a49950">
  <xsd:schema xmlns:xsd="http://www.w3.org/2001/XMLSchema" xmlns:xs="http://www.w3.org/2001/XMLSchema" xmlns:p="http://schemas.microsoft.com/office/2006/metadata/properties" xmlns:ns2="c8982c3a-aa8a-40f4-beae-7464567f5c95" xmlns:ns3="5f2719aa-8549-4aa0-9718-54854450c270" targetNamespace="http://schemas.microsoft.com/office/2006/metadata/properties" ma:root="true" ma:fieldsID="1514f7be33d9c2f3fc87f8d7868ccd8c" ns2:_="" ns3:_="">
    <xsd:import namespace="c8982c3a-aa8a-40f4-beae-7464567f5c95"/>
    <xsd:import namespace="5f2719aa-8549-4aa0-9718-54854450c27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982c3a-aa8a-40f4-beae-7464567f5c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e537eb2-d2b7-44a8-833a-5538858146a5"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f2719aa-8549-4aa0-9718-54854450c27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53a8935-bef3-42e8-a216-44c478a2c40c}" ma:internalName="TaxCatchAll" ma:showField="CatchAllData" ma:web="5f2719aa-8549-4aa0-9718-54854450c2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8982c3a-aa8a-40f4-beae-7464567f5c95">
      <Terms xmlns="http://schemas.microsoft.com/office/infopath/2007/PartnerControls"/>
    </lcf76f155ced4ddcb4097134ff3c332f>
    <TaxCatchAll xmlns="5f2719aa-8549-4aa0-9718-54854450c270" xsi:nil="true"/>
  </documentManagement>
</p:properties>
</file>

<file path=customXml/itemProps1.xml><?xml version="1.0" encoding="utf-8"?>
<ds:datastoreItem xmlns:ds="http://schemas.openxmlformats.org/officeDocument/2006/customXml" ds:itemID="{83EBF431-62CD-4636-B4D4-9D6572B03F3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982c3a-aa8a-40f4-beae-7464567f5c95"/>
    <ds:schemaRef ds:uri="5f2719aa-8549-4aa0-9718-54854450c2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B7FBBA7-3BC0-42DF-B211-108479B1D335}">
  <ds:schemaRefs>
    <ds:schemaRef ds:uri="http://schemas.microsoft.com/sharepoint/v3/contenttype/forms"/>
  </ds:schemaRefs>
</ds:datastoreItem>
</file>

<file path=customXml/itemProps3.xml><?xml version="1.0" encoding="utf-8"?>
<ds:datastoreItem xmlns:ds="http://schemas.openxmlformats.org/officeDocument/2006/customXml" ds:itemID="{C76C3FCD-FE07-4824-ACB5-2E96F2C7E097}">
  <ds:schemaRefs>
    <ds:schemaRef ds:uri="4867e260-efc0-4c04-89a7-fe69bd504a7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c8982c3a-aa8a-40f4-beae-7464567f5c95"/>
    <ds:schemaRef ds:uri="5f2719aa-8549-4aa0-9718-54854450c270"/>
  </ds:schemaRefs>
</ds:datastoreItem>
</file>

<file path=docProps/app.xml><?xml version="1.0" encoding="utf-8"?>
<Properties xmlns="http://schemas.openxmlformats.org/officeDocument/2006/extended-properties" xmlns:vt="http://schemas.openxmlformats.org/officeDocument/2006/docPropsVTypes">
  <Template/>
  <TotalTime>24</TotalTime>
  <Words>8465</Words>
  <Application>Microsoft Office PowerPoint</Application>
  <PresentationFormat>Widescreen</PresentationFormat>
  <Paragraphs>1094</Paragraphs>
  <Slides>47</Slides>
  <Notes>47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47</vt:i4>
      </vt:variant>
    </vt:vector>
  </HeadingPairs>
  <TitlesOfParts>
    <vt:vector size="55" baseType="lpstr">
      <vt:lpstr>Arial</vt:lpstr>
      <vt:lpstr>Calibri</vt:lpstr>
      <vt:lpstr>Courier New</vt:lpstr>
      <vt:lpstr>Segoe UI</vt:lpstr>
      <vt:lpstr>Trebuchet MS</vt:lpstr>
      <vt:lpstr>Wingdings</vt:lpstr>
      <vt:lpstr>Office Theme</vt:lpstr>
      <vt:lpstr>Ingeus Generic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Steven Foster</dc:creator>
  <cp:lastModifiedBy>Steven Foster</cp:lastModifiedBy>
  <cp:revision>2</cp:revision>
  <dcterms:created xsi:type="dcterms:W3CDTF">2026-09-08T11:36:45Z</dcterms:created>
  <dcterms:modified xsi:type="dcterms:W3CDTF">2026-09-08T11:37:42Z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2022-03-24T00:00:00Z</vt:filetime>
  </property>
  <property fmtid="{D5CDD505-2E9C-101B-9397-08002B2CF9AE}" pid="3" name="Creator">
    <vt:lpwstr>Adobe InDesign 17.0 (Macintosh)</vt:lpwstr>
  </property>
  <property fmtid="{D5CDD505-2E9C-101B-9397-08002B2CF9AE}" pid="4" name="LastSaved">
    <vt:filetime>2022-03-24T00:00:00Z</vt:filetime>
  </property>
  <property fmtid="{D5CDD505-2E9C-101B-9397-08002B2CF9AE}" pid="5" name="ContentTypeId">
    <vt:lpwstr>0x01010035D28FA20BD2FE48BF0090F2482EA240</vt:lpwstr>
  </property>
  <property fmtid="{D5CDD505-2E9C-101B-9397-08002B2CF9AE}" pid="6" name="MSIP_Label_38690661-9364-435b-84bb-8b996a311eb8_Enabled">
    <vt:lpwstr>true</vt:lpwstr>
  </property>
  <property fmtid="{D5CDD505-2E9C-101B-9397-08002B2CF9AE}" pid="7" name="MSIP_Label_38690661-9364-435b-84bb-8b996a311eb8_SetDate">
    <vt:lpwstr>2022-04-16T06:02:40Z</vt:lpwstr>
  </property>
  <property fmtid="{D5CDD505-2E9C-101B-9397-08002B2CF9AE}" pid="8" name="MSIP_Label_38690661-9364-435b-84bb-8b996a311eb8_Method">
    <vt:lpwstr>Privileged</vt:lpwstr>
  </property>
  <property fmtid="{D5CDD505-2E9C-101B-9397-08002B2CF9AE}" pid="9" name="MSIP_Label_38690661-9364-435b-84bb-8b996a311eb8_Name">
    <vt:lpwstr>Confidential</vt:lpwstr>
  </property>
  <property fmtid="{D5CDD505-2E9C-101B-9397-08002B2CF9AE}" pid="10" name="MSIP_Label_38690661-9364-435b-84bb-8b996a311eb8_SiteId">
    <vt:lpwstr>5090ac83-b577-4b0b-9a7d-be03f24a6c0c</vt:lpwstr>
  </property>
  <property fmtid="{D5CDD505-2E9C-101B-9397-08002B2CF9AE}" pid="11" name="MSIP_Label_38690661-9364-435b-84bb-8b996a311eb8_ActionId">
    <vt:lpwstr>a18cf829-39ac-45dc-a456-4eb81b230210</vt:lpwstr>
  </property>
  <property fmtid="{D5CDD505-2E9C-101B-9397-08002B2CF9AE}" pid="12" name="MSIP_Label_38690661-9364-435b-84bb-8b996a311eb8_ContentBits">
    <vt:lpwstr>0</vt:lpwstr>
  </property>
  <property fmtid="{D5CDD505-2E9C-101B-9397-08002B2CF9AE}" pid="13" name="MediaServiceImageTags">
    <vt:lpwstr/>
  </property>
</Properties>
</file>