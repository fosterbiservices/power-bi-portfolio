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2.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71" r:id="rId5"/>
  </p:sldMasterIdLst>
  <p:notesMasterIdLst>
    <p:notesMasterId r:id="rId53"/>
  </p:notesMasterIdLst>
  <p:sldIdLst>
    <p:sldId id="256" r:id="rId6"/>
    <p:sldId id="331" r:id="rId7"/>
    <p:sldId id="332" r:id="rId8"/>
    <p:sldId id="333" r:id="rId9"/>
    <p:sldId id="1882" r:id="rId10"/>
    <p:sldId id="270" r:id="rId11"/>
    <p:sldId id="335" r:id="rId12"/>
    <p:sldId id="263" r:id="rId13"/>
    <p:sldId id="336" r:id="rId14"/>
    <p:sldId id="337" r:id="rId15"/>
    <p:sldId id="1883" r:id="rId16"/>
    <p:sldId id="338" r:id="rId17"/>
    <p:sldId id="339" r:id="rId18"/>
    <p:sldId id="1884" r:id="rId19"/>
    <p:sldId id="342" r:id="rId20"/>
    <p:sldId id="313" r:id="rId21"/>
    <p:sldId id="318" r:id="rId22"/>
    <p:sldId id="319" r:id="rId23"/>
    <p:sldId id="344" r:id="rId24"/>
    <p:sldId id="1886" r:id="rId25"/>
    <p:sldId id="1887" r:id="rId26"/>
    <p:sldId id="1888" r:id="rId27"/>
    <p:sldId id="1891" r:id="rId28"/>
    <p:sldId id="1890" r:id="rId29"/>
    <p:sldId id="309" r:id="rId30"/>
    <p:sldId id="345" r:id="rId31"/>
    <p:sldId id="310" r:id="rId32"/>
    <p:sldId id="1889" r:id="rId33"/>
    <p:sldId id="314" r:id="rId34"/>
    <p:sldId id="315" r:id="rId35"/>
    <p:sldId id="316" r:id="rId36"/>
    <p:sldId id="317" r:id="rId37"/>
    <p:sldId id="320" r:id="rId38"/>
    <p:sldId id="346" r:id="rId39"/>
    <p:sldId id="348" r:id="rId40"/>
    <p:sldId id="347" r:id="rId41"/>
    <p:sldId id="323" r:id="rId42"/>
    <p:sldId id="349" r:id="rId43"/>
    <p:sldId id="324" r:id="rId44"/>
    <p:sldId id="1892" r:id="rId45"/>
    <p:sldId id="326" r:id="rId46"/>
    <p:sldId id="325" r:id="rId47"/>
    <p:sldId id="1881" r:id="rId48"/>
    <p:sldId id="329" r:id="rId49"/>
    <p:sldId id="328" r:id="rId50"/>
    <p:sldId id="1885" r:id="rId51"/>
    <p:sldId id="269" r:id="rId52"/>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2CA6D92-8D97-4C1E-A707-7CD1C044906A}">
          <p14:sldIdLst>
            <p14:sldId id="256"/>
            <p14:sldId id="331"/>
            <p14:sldId id="332"/>
            <p14:sldId id="333"/>
            <p14:sldId id="1882"/>
            <p14:sldId id="270"/>
            <p14:sldId id="335"/>
            <p14:sldId id="263"/>
            <p14:sldId id="336"/>
            <p14:sldId id="337"/>
            <p14:sldId id="1883"/>
            <p14:sldId id="338"/>
            <p14:sldId id="339"/>
            <p14:sldId id="1884"/>
            <p14:sldId id="342"/>
            <p14:sldId id="313"/>
            <p14:sldId id="318"/>
            <p14:sldId id="319"/>
            <p14:sldId id="344"/>
            <p14:sldId id="1886"/>
            <p14:sldId id="1887"/>
            <p14:sldId id="1888"/>
            <p14:sldId id="1891"/>
            <p14:sldId id="1890"/>
            <p14:sldId id="309"/>
            <p14:sldId id="345"/>
            <p14:sldId id="310"/>
            <p14:sldId id="1889"/>
            <p14:sldId id="314"/>
            <p14:sldId id="315"/>
            <p14:sldId id="316"/>
            <p14:sldId id="317"/>
            <p14:sldId id="320"/>
            <p14:sldId id="346"/>
            <p14:sldId id="348"/>
            <p14:sldId id="347"/>
            <p14:sldId id="323"/>
            <p14:sldId id="349"/>
            <p14:sldId id="324"/>
            <p14:sldId id="1892"/>
            <p14:sldId id="326"/>
            <p14:sldId id="325"/>
            <p14:sldId id="1881"/>
            <p14:sldId id="329"/>
            <p14:sldId id="328"/>
            <p14:sldId id="1885"/>
            <p14:sldId id="269"/>
          </p14:sldIdLst>
        </p14:section>
        <p14:section name="ARCHIVE" id="{90558020-A6E4-4DEB-8D8B-EC76235D6FB4}">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222813-7724-1D42-4B2C-3379BCCE06FA}" name="Collette Westerman" initials="CW" userId="S::collette.westerman@apmnet.us::70971be8-b4f5-4d64-968f-f4ff17e2e5d7" providerId="AD"/>
  <p188:author id="{AC282253-4FD2-1AE3-E96E-B1DC47324813}" name="Collette Westerman" initials="CW" userId="S::CWesterman@ingeus.co.uk::a207cbfe-ed5d-43cc-8115-c956b16f173a" providerId="AD"/>
  <p188:author id="{09F2ECA0-26A8-7578-492D-90B644F47049}" name="Kathryn Hunter" initials="KH" userId="S::kathryn.hunter@apmnet.us::839972a9-d21b-428c-87ba-d117b348d05a" providerId="AD"/>
  <p188:author id="{D383E5A5-2255-06AB-3F51-F83E85683658}" name="Lisa Jasper" initials="LJ" userId="S::lisa.jasper@apmnet.us::8c711746-4ef3-45f3-ae7d-7f9636196758" providerId="AD"/>
  <p188:author id="{7AA3CCF1-E87F-3F46-B17E-34944D2B5A29}" name="Collette Westerman" initials="CW" userId="S::cwesterman_ingeus.co.uk#ext#@apmus.onmicrosoft.com::1ef6c9bd-e098-4ef7-9b85-2b445f24a84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AAE1"/>
    <a:srgbClr val="00AF74"/>
    <a:srgbClr val="24408D"/>
    <a:srgbClr val="EC008C"/>
    <a:srgbClr val="FDBA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ED62B8-2FE5-44E6-B002-89CA3FD1149B}" v="24" dt="2026-07-21T15:12:12.93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269" autoAdjust="0"/>
  </p:normalViewPr>
  <p:slideViewPr>
    <p:cSldViewPr snapToGrid="0">
      <p:cViewPr>
        <p:scale>
          <a:sx n="100" d="100"/>
          <a:sy n="100" d="100"/>
        </p:scale>
        <p:origin x="954" y="-54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notesMaster" Target="notesMasters/notesMaster1.xml"/><Relationship Id="rId58"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D369AA-59C0-49E1-B55E-B70432456B9A}" type="doc">
      <dgm:prSet loTypeId="urn:microsoft.com/office/officeart/2005/8/layout/cycle8" loCatId="cycle" qsTypeId="urn:microsoft.com/office/officeart/2005/8/quickstyle/simple1" qsCatId="simple" csTypeId="urn:microsoft.com/office/officeart/2005/8/colors/accent1_2" csCatId="accent1" phldr="1"/>
      <dgm:spPr/>
      <dgm:t>
        <a:bodyPr/>
        <a:lstStyle/>
        <a:p>
          <a:endParaRPr lang="en-GB"/>
        </a:p>
      </dgm:t>
    </dgm:pt>
    <dgm:pt modelId="{D6618069-B0EC-4200-9E36-A2D5FA553F52}">
      <dgm:prSet phldrT="[Text]"/>
      <dgm:spPr>
        <a:xfrm>
          <a:off x="1062917" y="134435"/>
          <a:ext cx="1824320" cy="1824320"/>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Arial" panose="020B0604020202020204" pitchFamily="34" charset="0"/>
              <a:ea typeface="+mn-ea"/>
              <a:cs typeface="Arial" panose="020B0604020202020204" pitchFamily="34" charset="0"/>
            </a:rPr>
            <a:t>Define</a:t>
          </a:r>
        </a:p>
      </dgm:t>
    </dgm:pt>
    <dgm:pt modelId="{893EE6D8-CE80-42FD-B96D-4B0C4CCFFA5F}" type="parTrans" cxnId="{804081B6-634C-48F7-BE19-0675DFCD041F}">
      <dgm:prSet/>
      <dgm:spPr/>
      <dgm:t>
        <a:bodyPr/>
        <a:lstStyle/>
        <a:p>
          <a:endParaRPr lang="en-GB"/>
        </a:p>
      </dgm:t>
    </dgm:pt>
    <dgm:pt modelId="{E2E703FF-F63F-4A79-96BF-A0500BFFB256}" type="sibTrans" cxnId="{804081B6-634C-48F7-BE19-0675DFCD041F}">
      <dgm:prSet/>
      <dgm:spPr/>
      <dgm:t>
        <a:bodyPr/>
        <a:lstStyle/>
        <a:p>
          <a:endParaRPr lang="en-GB"/>
        </a:p>
      </dgm:t>
    </dgm:pt>
    <dgm:pt modelId="{43434F5F-A1D0-4D7B-93B7-E3D3DB8C0F0B}">
      <dgm:prSet phldrT="[Text]"/>
      <dgm:spPr>
        <a:xfrm>
          <a:off x="1078554" y="183083"/>
          <a:ext cx="1824320" cy="1824320"/>
        </a:xfrm>
        <a:prstGeom prst="pie">
          <a:avLst>
            <a:gd name="adj1" fmla="val 20520000"/>
            <a:gd name="adj2" fmla="val 3240000"/>
          </a:avLst>
        </a:prstGeom>
        <a:solidFill>
          <a:srgbClr val="27AAE1"/>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Measure</a:t>
          </a:r>
        </a:p>
      </dgm:t>
    </dgm:pt>
    <dgm:pt modelId="{CC653188-7757-47F5-980D-2F580D5D046C}" type="parTrans" cxnId="{65D8C6C9-1A10-491C-9E4D-E64E01660637}">
      <dgm:prSet/>
      <dgm:spPr/>
      <dgm:t>
        <a:bodyPr/>
        <a:lstStyle/>
        <a:p>
          <a:endParaRPr lang="en-GB"/>
        </a:p>
      </dgm:t>
    </dgm:pt>
    <dgm:pt modelId="{BAD65EFA-967E-4883-AE14-C7953EF71C1F}" type="sibTrans" cxnId="{65D8C6C9-1A10-491C-9E4D-E64E01660637}">
      <dgm:prSet/>
      <dgm:spPr/>
      <dgm:t>
        <a:bodyPr/>
        <a:lstStyle/>
        <a:p>
          <a:endParaRPr lang="en-GB"/>
        </a:p>
      </dgm:t>
    </dgm:pt>
    <dgm:pt modelId="{27BF821D-2F3E-49CD-9B37-04D0FA768287}">
      <dgm:prSet phldrT="[Text]"/>
      <dgm:spPr>
        <a:xfrm>
          <a:off x="1037289" y="213054"/>
          <a:ext cx="1824320" cy="1824320"/>
        </a:xfrm>
        <a:prstGeom prst="pie">
          <a:avLst>
            <a:gd name="adj1" fmla="val 3240000"/>
            <a:gd name="adj2" fmla="val 7560000"/>
          </a:avLst>
        </a:prstGeom>
        <a:solidFill>
          <a:srgbClr val="EC008C"/>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Analyze</a:t>
          </a:r>
        </a:p>
        <a:p>
          <a:pPr>
            <a:buNone/>
          </a:pPr>
          <a:endParaRPr lang="en-US" noProof="0">
            <a:solidFill>
              <a:srgbClr val="FFFFFF"/>
            </a:solidFill>
            <a:latin typeface="Trebuchet MS"/>
            <a:ea typeface="+mn-ea"/>
            <a:cs typeface="+mn-cs"/>
          </a:endParaRPr>
        </a:p>
      </dgm:t>
    </dgm:pt>
    <dgm:pt modelId="{D1698C79-E725-47CC-941A-190C96E6E135}" type="parTrans" cxnId="{F2C731B1-6208-471C-8AA5-21AEAFEA8436}">
      <dgm:prSet/>
      <dgm:spPr/>
      <dgm:t>
        <a:bodyPr/>
        <a:lstStyle/>
        <a:p>
          <a:endParaRPr lang="en-GB"/>
        </a:p>
      </dgm:t>
    </dgm:pt>
    <dgm:pt modelId="{66444982-89CC-4ADF-9DDF-851D4855A8D8}" type="sibTrans" cxnId="{F2C731B1-6208-471C-8AA5-21AEAFEA8436}">
      <dgm:prSet/>
      <dgm:spPr/>
      <dgm:t>
        <a:bodyPr/>
        <a:lstStyle/>
        <a:p>
          <a:endParaRPr lang="en-GB"/>
        </a:p>
      </dgm:t>
    </dgm:pt>
    <dgm:pt modelId="{17623FF4-83D1-409E-B2C9-D3BD0C35F949}">
      <dgm:prSet/>
      <dgm:spPr>
        <a:xfrm>
          <a:off x="1062917" y="134435"/>
          <a:ext cx="1824320" cy="1824320"/>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gm:spPr>
      <dgm:t>
        <a:bodyPr/>
        <a:lstStyle/>
        <a:p>
          <a:pPr>
            <a:buChar char="•"/>
          </a:pPr>
          <a:endParaRPr lang="en-US" noProof="0">
            <a:solidFill>
              <a:srgbClr val="FFFFFF"/>
            </a:solidFill>
            <a:latin typeface="Trebuchet MS"/>
            <a:ea typeface="+mn-ea"/>
            <a:cs typeface="+mn-cs"/>
          </a:endParaRPr>
        </a:p>
      </dgm:t>
    </dgm:pt>
    <dgm:pt modelId="{C5298539-7CF6-43EF-ACF5-4ED8AC1B4A67}" type="parTrans" cxnId="{E02ACA6B-C3D3-4D90-B61C-6E8277B25FF2}">
      <dgm:prSet/>
      <dgm:spPr/>
      <dgm:t>
        <a:bodyPr/>
        <a:lstStyle/>
        <a:p>
          <a:endParaRPr lang="en-GB"/>
        </a:p>
      </dgm:t>
    </dgm:pt>
    <dgm:pt modelId="{A170FA3D-9235-415D-8D21-809B23642B3F}" type="sibTrans" cxnId="{E02ACA6B-C3D3-4D90-B61C-6E8277B25FF2}">
      <dgm:prSet/>
      <dgm:spPr/>
      <dgm:t>
        <a:bodyPr/>
        <a:lstStyle/>
        <a:p>
          <a:endParaRPr lang="en-GB"/>
        </a:p>
      </dgm:t>
    </dgm:pt>
    <dgm:pt modelId="{61F0A2E3-1D9E-4CEC-86A0-B0FE6E70E7B1}">
      <dgm:prSet/>
      <dgm:spPr>
        <a:xfrm>
          <a:off x="996025" y="183083"/>
          <a:ext cx="1824320" cy="1824320"/>
        </a:xfrm>
        <a:prstGeom prst="pie">
          <a:avLst>
            <a:gd name="adj1" fmla="val 7560000"/>
            <a:gd name="adj2" fmla="val 11880000"/>
          </a:avLst>
        </a:prstGeom>
        <a:solidFill>
          <a:srgbClr val="FBBA00"/>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Improve</a:t>
          </a:r>
        </a:p>
      </dgm:t>
    </dgm:pt>
    <dgm:pt modelId="{13F9578B-8F2E-4E59-AA8C-9F45715DF7BE}" type="parTrans" cxnId="{49807935-D82D-4A28-9444-CF41A811697A}">
      <dgm:prSet/>
      <dgm:spPr/>
      <dgm:t>
        <a:bodyPr/>
        <a:lstStyle/>
        <a:p>
          <a:endParaRPr lang="en-GB"/>
        </a:p>
      </dgm:t>
    </dgm:pt>
    <dgm:pt modelId="{5B0F3261-B8F3-4EF6-8025-08F245E8EF09}" type="sibTrans" cxnId="{49807935-D82D-4A28-9444-CF41A811697A}">
      <dgm:prSet/>
      <dgm:spPr/>
      <dgm:t>
        <a:bodyPr/>
        <a:lstStyle/>
        <a:p>
          <a:endParaRPr lang="en-GB"/>
        </a:p>
      </dgm:t>
    </dgm:pt>
    <dgm:pt modelId="{3607FCD8-6657-4836-95A4-7A279A1F256B}">
      <dgm:prSet/>
      <dgm:spPr>
        <a:xfrm>
          <a:off x="1011662" y="134435"/>
          <a:ext cx="1824320" cy="1824320"/>
        </a:xfrm>
        <a:prstGeom prst="pie">
          <a:avLst>
            <a:gd name="adj1" fmla="val 11880000"/>
            <a:gd name="adj2" fmla="val 16200000"/>
          </a:avLst>
        </a:prstGeom>
        <a:solidFill>
          <a:srgbClr val="7030A0"/>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Control</a:t>
          </a:r>
        </a:p>
        <a:p>
          <a:pPr>
            <a:buNone/>
          </a:pPr>
          <a:endParaRPr lang="en-US" noProof="0">
            <a:solidFill>
              <a:srgbClr val="FFFFFF"/>
            </a:solidFill>
            <a:latin typeface="Trebuchet MS"/>
            <a:ea typeface="+mn-ea"/>
            <a:cs typeface="+mn-cs"/>
          </a:endParaRPr>
        </a:p>
      </dgm:t>
    </dgm:pt>
    <dgm:pt modelId="{E598C32C-35DB-47E0-A1F6-E475AD071A4B}" type="parTrans" cxnId="{956A859B-4D0E-406D-A476-6E0872DFC719}">
      <dgm:prSet/>
      <dgm:spPr/>
      <dgm:t>
        <a:bodyPr/>
        <a:lstStyle/>
        <a:p>
          <a:endParaRPr lang="en-GB"/>
        </a:p>
      </dgm:t>
    </dgm:pt>
    <dgm:pt modelId="{69B2B37B-26AE-4264-84DC-19FA2B13C444}" type="sibTrans" cxnId="{956A859B-4D0E-406D-A476-6E0872DFC719}">
      <dgm:prSet/>
      <dgm:spPr/>
      <dgm:t>
        <a:bodyPr/>
        <a:lstStyle/>
        <a:p>
          <a:endParaRPr lang="en-GB"/>
        </a:p>
      </dgm:t>
    </dgm:pt>
    <dgm:pt modelId="{50B73C20-8720-412A-ABE2-B41B774F189B}" type="pres">
      <dgm:prSet presAssocID="{52D369AA-59C0-49E1-B55E-B70432456B9A}" presName="compositeShape" presStyleCnt="0">
        <dgm:presLayoutVars>
          <dgm:chMax val="7"/>
          <dgm:dir/>
          <dgm:resizeHandles val="exact"/>
        </dgm:presLayoutVars>
      </dgm:prSet>
      <dgm:spPr/>
    </dgm:pt>
    <dgm:pt modelId="{8C235FE3-3F71-44C2-A46B-539B833DE24C}" type="pres">
      <dgm:prSet presAssocID="{52D369AA-59C0-49E1-B55E-B70432456B9A}" presName="wedge1" presStyleLbl="node1" presStyleIdx="0" presStyleCnt="5"/>
      <dgm:spPr/>
    </dgm:pt>
    <dgm:pt modelId="{90038AF1-24CC-43B0-9B1B-D923A7B56C3C}" type="pres">
      <dgm:prSet presAssocID="{52D369AA-59C0-49E1-B55E-B70432456B9A}" presName="dummy1a" presStyleCnt="0"/>
      <dgm:spPr/>
    </dgm:pt>
    <dgm:pt modelId="{71E81969-F2BB-4CC9-867D-9E0708DF02FF}" type="pres">
      <dgm:prSet presAssocID="{52D369AA-59C0-49E1-B55E-B70432456B9A}" presName="dummy1b" presStyleCnt="0"/>
      <dgm:spPr/>
    </dgm:pt>
    <dgm:pt modelId="{DCE22BBA-999E-458F-ADE2-6AD635E0B027}" type="pres">
      <dgm:prSet presAssocID="{52D369AA-59C0-49E1-B55E-B70432456B9A}" presName="wedge1Tx" presStyleLbl="node1" presStyleIdx="0" presStyleCnt="5">
        <dgm:presLayoutVars>
          <dgm:chMax val="0"/>
          <dgm:chPref val="0"/>
          <dgm:bulletEnabled val="1"/>
        </dgm:presLayoutVars>
      </dgm:prSet>
      <dgm:spPr/>
    </dgm:pt>
    <dgm:pt modelId="{EDCE5F9B-1D88-4D8D-9083-55DD36D07A64}" type="pres">
      <dgm:prSet presAssocID="{52D369AA-59C0-49E1-B55E-B70432456B9A}" presName="wedge2" presStyleLbl="node1" presStyleIdx="1" presStyleCnt="5"/>
      <dgm:spPr/>
    </dgm:pt>
    <dgm:pt modelId="{CF151D6C-DD1F-432A-9488-CEF8ED585BC2}" type="pres">
      <dgm:prSet presAssocID="{52D369AA-59C0-49E1-B55E-B70432456B9A}" presName="dummy2a" presStyleCnt="0"/>
      <dgm:spPr/>
    </dgm:pt>
    <dgm:pt modelId="{94572E03-695E-4870-97D9-5D3958380E35}" type="pres">
      <dgm:prSet presAssocID="{52D369AA-59C0-49E1-B55E-B70432456B9A}" presName="dummy2b" presStyleCnt="0"/>
      <dgm:spPr/>
    </dgm:pt>
    <dgm:pt modelId="{9A004783-E531-48C1-8181-A872C2478DAA}" type="pres">
      <dgm:prSet presAssocID="{52D369AA-59C0-49E1-B55E-B70432456B9A}" presName="wedge2Tx" presStyleLbl="node1" presStyleIdx="1" presStyleCnt="5">
        <dgm:presLayoutVars>
          <dgm:chMax val="0"/>
          <dgm:chPref val="0"/>
          <dgm:bulletEnabled val="1"/>
        </dgm:presLayoutVars>
      </dgm:prSet>
      <dgm:spPr/>
    </dgm:pt>
    <dgm:pt modelId="{A5E52B60-80D4-45E8-AB32-72C8832C4F04}" type="pres">
      <dgm:prSet presAssocID="{52D369AA-59C0-49E1-B55E-B70432456B9A}" presName="wedge3" presStyleLbl="node1" presStyleIdx="2" presStyleCnt="5"/>
      <dgm:spPr/>
    </dgm:pt>
    <dgm:pt modelId="{5206D377-FF06-4A93-85A7-58B4AD85BDAC}" type="pres">
      <dgm:prSet presAssocID="{52D369AA-59C0-49E1-B55E-B70432456B9A}" presName="dummy3a" presStyleCnt="0"/>
      <dgm:spPr/>
    </dgm:pt>
    <dgm:pt modelId="{F113BEB2-4F0E-4611-BCBE-814660A4A7D5}" type="pres">
      <dgm:prSet presAssocID="{52D369AA-59C0-49E1-B55E-B70432456B9A}" presName="dummy3b" presStyleCnt="0"/>
      <dgm:spPr/>
    </dgm:pt>
    <dgm:pt modelId="{54C2283A-AC5E-45E9-B06B-8E6497C8CC06}" type="pres">
      <dgm:prSet presAssocID="{52D369AA-59C0-49E1-B55E-B70432456B9A}" presName="wedge3Tx" presStyleLbl="node1" presStyleIdx="2" presStyleCnt="5">
        <dgm:presLayoutVars>
          <dgm:chMax val="0"/>
          <dgm:chPref val="0"/>
          <dgm:bulletEnabled val="1"/>
        </dgm:presLayoutVars>
      </dgm:prSet>
      <dgm:spPr/>
    </dgm:pt>
    <dgm:pt modelId="{45CD1A6F-7DD7-4DE4-B175-D658CA85DBBD}" type="pres">
      <dgm:prSet presAssocID="{52D369AA-59C0-49E1-B55E-B70432456B9A}" presName="wedge4" presStyleLbl="node1" presStyleIdx="3" presStyleCnt="5"/>
      <dgm:spPr/>
    </dgm:pt>
    <dgm:pt modelId="{BADB538E-E5E0-42D9-8D41-A1BA0A54E760}" type="pres">
      <dgm:prSet presAssocID="{52D369AA-59C0-49E1-B55E-B70432456B9A}" presName="dummy4a" presStyleCnt="0"/>
      <dgm:spPr/>
    </dgm:pt>
    <dgm:pt modelId="{91C2630D-E657-4FDB-80ED-2B152AB0CF09}" type="pres">
      <dgm:prSet presAssocID="{52D369AA-59C0-49E1-B55E-B70432456B9A}" presName="dummy4b" presStyleCnt="0"/>
      <dgm:spPr/>
    </dgm:pt>
    <dgm:pt modelId="{49429826-AA5F-47CA-B11A-ABD6DE54C821}" type="pres">
      <dgm:prSet presAssocID="{52D369AA-59C0-49E1-B55E-B70432456B9A}" presName="wedge4Tx" presStyleLbl="node1" presStyleIdx="3" presStyleCnt="5">
        <dgm:presLayoutVars>
          <dgm:chMax val="0"/>
          <dgm:chPref val="0"/>
          <dgm:bulletEnabled val="1"/>
        </dgm:presLayoutVars>
      </dgm:prSet>
      <dgm:spPr/>
    </dgm:pt>
    <dgm:pt modelId="{3B487735-59B4-41E9-BDAB-5D244BF18F68}" type="pres">
      <dgm:prSet presAssocID="{52D369AA-59C0-49E1-B55E-B70432456B9A}" presName="wedge5" presStyleLbl="node1" presStyleIdx="4" presStyleCnt="5"/>
      <dgm:spPr/>
    </dgm:pt>
    <dgm:pt modelId="{939A2975-E45D-4D75-835C-838DA7CA4783}" type="pres">
      <dgm:prSet presAssocID="{52D369AA-59C0-49E1-B55E-B70432456B9A}" presName="dummy5a" presStyleCnt="0"/>
      <dgm:spPr/>
    </dgm:pt>
    <dgm:pt modelId="{76229039-77BD-4536-8D9F-CEC0D2D14777}" type="pres">
      <dgm:prSet presAssocID="{52D369AA-59C0-49E1-B55E-B70432456B9A}" presName="dummy5b" presStyleCnt="0"/>
      <dgm:spPr/>
    </dgm:pt>
    <dgm:pt modelId="{85604DE5-89B7-4180-B562-F4BF7B9539D2}" type="pres">
      <dgm:prSet presAssocID="{52D369AA-59C0-49E1-B55E-B70432456B9A}" presName="wedge5Tx" presStyleLbl="node1" presStyleIdx="4" presStyleCnt="5">
        <dgm:presLayoutVars>
          <dgm:chMax val="0"/>
          <dgm:chPref val="0"/>
          <dgm:bulletEnabled val="1"/>
        </dgm:presLayoutVars>
      </dgm:prSet>
      <dgm:spPr/>
    </dgm:pt>
    <dgm:pt modelId="{1B3C0182-CF0B-417D-8862-5551CF080ABD}" type="pres">
      <dgm:prSet presAssocID="{E2E703FF-F63F-4A79-96BF-A0500BFFB256}" presName="arrowWedge1" presStyleLbl="fgSibTrans2D1" presStyleIdx="0" presStyleCnt="5"/>
      <dgm:spPr>
        <a:xfrm>
          <a:off x="949897" y="21500"/>
          <a:ext cx="2050188" cy="2050188"/>
        </a:xfrm>
        <a:prstGeom prst="circularArrow">
          <a:avLst>
            <a:gd name="adj1" fmla="val 5085"/>
            <a:gd name="adj2" fmla="val 327528"/>
            <a:gd name="adj3" fmla="val 20192361"/>
            <a:gd name="adj4" fmla="val 16200324"/>
            <a:gd name="adj5" fmla="val 5932"/>
          </a:avLst>
        </a:prstGeom>
        <a:solidFill>
          <a:srgbClr val="6B635B"/>
        </a:solidFill>
        <a:ln>
          <a:noFill/>
        </a:ln>
        <a:effectLst/>
      </dgm:spPr>
    </dgm:pt>
    <dgm:pt modelId="{943B39FA-B7B3-4946-B395-D611843A2FD5}" type="pres">
      <dgm:prSet presAssocID="{BAD65EFA-967E-4883-AE14-C7953EF71C1F}" presName="arrowWedge2" presStyleLbl="fgSibTrans2D1" presStyleIdx="1" presStyleCnt="5"/>
      <dgm:spPr>
        <a:xfrm>
          <a:off x="965746" y="70133"/>
          <a:ext cx="2050188" cy="2050188"/>
        </a:xfrm>
        <a:prstGeom prst="circularArrow">
          <a:avLst>
            <a:gd name="adj1" fmla="val 5085"/>
            <a:gd name="adj2" fmla="val 327528"/>
            <a:gd name="adj3" fmla="val 2912753"/>
            <a:gd name="adj4" fmla="val 20519953"/>
            <a:gd name="adj5" fmla="val 5932"/>
          </a:avLst>
        </a:prstGeom>
        <a:solidFill>
          <a:srgbClr val="6B635B"/>
        </a:solidFill>
        <a:ln>
          <a:noFill/>
        </a:ln>
        <a:effectLst/>
      </dgm:spPr>
    </dgm:pt>
    <dgm:pt modelId="{F382579C-1F35-4CBE-B203-942B20126A0F}" type="pres">
      <dgm:prSet presAssocID="{66444982-89CC-4ADF-9DDF-851D4855A8D8}" presName="arrowWedge3" presStyleLbl="fgSibTrans2D1" presStyleIdx="2" presStyleCnt="5"/>
      <dgm:spPr>
        <a:xfrm>
          <a:off x="924355" y="100196"/>
          <a:ext cx="2050188" cy="2050188"/>
        </a:xfrm>
        <a:prstGeom prst="circularArrow">
          <a:avLst>
            <a:gd name="adj1" fmla="val 5085"/>
            <a:gd name="adj2" fmla="val 327528"/>
            <a:gd name="adj3" fmla="val 7232777"/>
            <a:gd name="adj4" fmla="val 3239695"/>
            <a:gd name="adj5" fmla="val 5932"/>
          </a:avLst>
        </a:prstGeom>
        <a:solidFill>
          <a:srgbClr val="6B635B"/>
        </a:solidFill>
        <a:ln>
          <a:noFill/>
        </a:ln>
        <a:effectLst/>
      </dgm:spPr>
    </dgm:pt>
    <dgm:pt modelId="{CDF1F5E0-2273-4303-AC97-73925993329B}" type="pres">
      <dgm:prSet presAssocID="{5B0F3261-B8F3-4EF6-8025-08F245E8EF09}" presName="arrowWedge4" presStyleLbl="fgSibTrans2D1" presStyleIdx="3" presStyleCnt="5"/>
      <dgm:spPr>
        <a:xfrm>
          <a:off x="882965" y="70133"/>
          <a:ext cx="2050188" cy="2050188"/>
        </a:xfrm>
        <a:prstGeom prst="circularArrow">
          <a:avLst>
            <a:gd name="adj1" fmla="val 5085"/>
            <a:gd name="adj2" fmla="val 327528"/>
            <a:gd name="adj3" fmla="val 11552519"/>
            <a:gd name="adj4" fmla="val 7559718"/>
            <a:gd name="adj5" fmla="val 5932"/>
          </a:avLst>
        </a:prstGeom>
        <a:solidFill>
          <a:srgbClr val="6B635B"/>
        </a:solidFill>
        <a:ln>
          <a:noFill/>
        </a:ln>
        <a:effectLst/>
      </dgm:spPr>
    </dgm:pt>
    <dgm:pt modelId="{578C926A-45BB-4DF8-A8E0-D69C701E431E}" type="pres">
      <dgm:prSet presAssocID="{69B2B37B-26AE-4264-84DC-19FA2B13C444}" presName="arrowWedge5" presStyleLbl="fgSibTrans2D1" presStyleIdx="4" presStyleCnt="5"/>
      <dgm:spPr>
        <a:xfrm>
          <a:off x="898814" y="21500"/>
          <a:ext cx="2050188" cy="2050188"/>
        </a:xfrm>
        <a:prstGeom prst="circularArrow">
          <a:avLst>
            <a:gd name="adj1" fmla="val 5085"/>
            <a:gd name="adj2" fmla="val 327528"/>
            <a:gd name="adj3" fmla="val 15872148"/>
            <a:gd name="adj4" fmla="val 11880111"/>
            <a:gd name="adj5" fmla="val 5932"/>
          </a:avLst>
        </a:prstGeom>
        <a:solidFill>
          <a:srgbClr val="6B635B"/>
        </a:solidFill>
        <a:ln>
          <a:noFill/>
        </a:ln>
        <a:effectLst/>
      </dgm:spPr>
    </dgm:pt>
  </dgm:ptLst>
  <dgm:cxnLst>
    <dgm:cxn modelId="{80E0BF16-C569-4180-B274-29A4561BD76A}" type="presOf" srcId="{27BF821D-2F3E-49CD-9B37-04D0FA768287}" destId="{54C2283A-AC5E-45E9-B06B-8E6497C8CC06}" srcOrd="1" destOrd="0" presId="urn:microsoft.com/office/officeart/2005/8/layout/cycle8"/>
    <dgm:cxn modelId="{31770029-1BAD-49B4-A767-7516DFF61D5B}" type="presOf" srcId="{17623FF4-83D1-409E-B2C9-D3BD0C35F949}" destId="{8C235FE3-3F71-44C2-A46B-539B833DE24C}" srcOrd="0" destOrd="1" presId="urn:microsoft.com/office/officeart/2005/8/layout/cycle8"/>
    <dgm:cxn modelId="{49807935-D82D-4A28-9444-CF41A811697A}" srcId="{52D369AA-59C0-49E1-B55E-B70432456B9A}" destId="{61F0A2E3-1D9E-4CEC-86A0-B0FE6E70E7B1}" srcOrd="3" destOrd="0" parTransId="{13F9578B-8F2E-4E59-AA8C-9F45715DF7BE}" sibTransId="{5B0F3261-B8F3-4EF6-8025-08F245E8EF09}"/>
    <dgm:cxn modelId="{77886068-65C1-4DE8-90B9-36CAC78D28B5}" type="presOf" srcId="{17623FF4-83D1-409E-B2C9-D3BD0C35F949}" destId="{DCE22BBA-999E-458F-ADE2-6AD635E0B027}" srcOrd="1" destOrd="1" presId="urn:microsoft.com/office/officeart/2005/8/layout/cycle8"/>
    <dgm:cxn modelId="{E02ACA6B-C3D3-4D90-B61C-6E8277B25FF2}" srcId="{D6618069-B0EC-4200-9E36-A2D5FA553F52}" destId="{17623FF4-83D1-409E-B2C9-D3BD0C35F949}" srcOrd="0" destOrd="0" parTransId="{C5298539-7CF6-43EF-ACF5-4ED8AC1B4A67}" sibTransId="{A170FA3D-9235-415D-8D21-809B23642B3F}"/>
    <dgm:cxn modelId="{CD5B734D-355E-4F53-BDB3-B027EB54C335}" type="presOf" srcId="{61F0A2E3-1D9E-4CEC-86A0-B0FE6E70E7B1}" destId="{49429826-AA5F-47CA-B11A-ABD6DE54C821}" srcOrd="1" destOrd="0" presId="urn:microsoft.com/office/officeart/2005/8/layout/cycle8"/>
    <dgm:cxn modelId="{3321FE52-A8B8-4A6C-AC9C-6F68280E5C1A}" type="presOf" srcId="{43434F5F-A1D0-4D7B-93B7-E3D3DB8C0F0B}" destId="{9A004783-E531-48C1-8181-A872C2478DAA}" srcOrd="1" destOrd="0" presId="urn:microsoft.com/office/officeart/2005/8/layout/cycle8"/>
    <dgm:cxn modelId="{80EA788F-BC8B-445D-9DE6-5E1576DBBAB1}" type="presOf" srcId="{3607FCD8-6657-4836-95A4-7A279A1F256B}" destId="{3B487735-59B4-41E9-BDAB-5D244BF18F68}" srcOrd="0" destOrd="0" presId="urn:microsoft.com/office/officeart/2005/8/layout/cycle8"/>
    <dgm:cxn modelId="{956A859B-4D0E-406D-A476-6E0872DFC719}" srcId="{52D369AA-59C0-49E1-B55E-B70432456B9A}" destId="{3607FCD8-6657-4836-95A4-7A279A1F256B}" srcOrd="4" destOrd="0" parTransId="{E598C32C-35DB-47E0-A1F6-E475AD071A4B}" sibTransId="{69B2B37B-26AE-4264-84DC-19FA2B13C444}"/>
    <dgm:cxn modelId="{851BA8A4-9B3D-48C7-9A10-E466CFA74B4A}" type="presOf" srcId="{D6618069-B0EC-4200-9E36-A2D5FA553F52}" destId="{8C235FE3-3F71-44C2-A46B-539B833DE24C}" srcOrd="0" destOrd="0" presId="urn:microsoft.com/office/officeart/2005/8/layout/cycle8"/>
    <dgm:cxn modelId="{40525CA9-711A-4555-8430-04F5EC60DCDF}" type="presOf" srcId="{3607FCD8-6657-4836-95A4-7A279A1F256B}" destId="{85604DE5-89B7-4180-B562-F4BF7B9539D2}" srcOrd="1" destOrd="0" presId="urn:microsoft.com/office/officeart/2005/8/layout/cycle8"/>
    <dgm:cxn modelId="{F2C731B1-6208-471C-8AA5-21AEAFEA8436}" srcId="{52D369AA-59C0-49E1-B55E-B70432456B9A}" destId="{27BF821D-2F3E-49CD-9B37-04D0FA768287}" srcOrd="2" destOrd="0" parTransId="{D1698C79-E725-47CC-941A-190C96E6E135}" sibTransId="{66444982-89CC-4ADF-9DDF-851D4855A8D8}"/>
    <dgm:cxn modelId="{804081B6-634C-48F7-BE19-0675DFCD041F}" srcId="{52D369AA-59C0-49E1-B55E-B70432456B9A}" destId="{D6618069-B0EC-4200-9E36-A2D5FA553F52}" srcOrd="0" destOrd="0" parTransId="{893EE6D8-CE80-42FD-B96D-4B0C4CCFFA5F}" sibTransId="{E2E703FF-F63F-4A79-96BF-A0500BFFB256}"/>
    <dgm:cxn modelId="{0A828DC2-5466-4E4B-8B06-DC2AF9159DE7}" type="presOf" srcId="{61F0A2E3-1D9E-4CEC-86A0-B0FE6E70E7B1}" destId="{45CD1A6F-7DD7-4DE4-B175-D658CA85DBBD}" srcOrd="0" destOrd="0" presId="urn:microsoft.com/office/officeart/2005/8/layout/cycle8"/>
    <dgm:cxn modelId="{78276EC5-638E-4FB2-ACB7-01621011D25E}" type="presOf" srcId="{27BF821D-2F3E-49CD-9B37-04D0FA768287}" destId="{A5E52B60-80D4-45E8-AB32-72C8832C4F04}" srcOrd="0" destOrd="0" presId="urn:microsoft.com/office/officeart/2005/8/layout/cycle8"/>
    <dgm:cxn modelId="{65D8C6C9-1A10-491C-9E4D-E64E01660637}" srcId="{52D369AA-59C0-49E1-B55E-B70432456B9A}" destId="{43434F5F-A1D0-4D7B-93B7-E3D3DB8C0F0B}" srcOrd="1" destOrd="0" parTransId="{CC653188-7757-47F5-980D-2F580D5D046C}" sibTransId="{BAD65EFA-967E-4883-AE14-C7953EF71C1F}"/>
    <dgm:cxn modelId="{10D097CA-E7CD-4428-8B11-E9F7EA003D0A}" type="presOf" srcId="{D6618069-B0EC-4200-9E36-A2D5FA553F52}" destId="{DCE22BBA-999E-458F-ADE2-6AD635E0B027}" srcOrd="1" destOrd="0" presId="urn:microsoft.com/office/officeart/2005/8/layout/cycle8"/>
    <dgm:cxn modelId="{952FC0D1-ACC3-489B-9B7D-E2B9EC3D23F4}" type="presOf" srcId="{52D369AA-59C0-49E1-B55E-B70432456B9A}" destId="{50B73C20-8720-412A-ABE2-B41B774F189B}" srcOrd="0" destOrd="0" presId="urn:microsoft.com/office/officeart/2005/8/layout/cycle8"/>
    <dgm:cxn modelId="{6A173FDB-54F1-4B5C-AC26-42035B875450}" type="presOf" srcId="{43434F5F-A1D0-4D7B-93B7-E3D3DB8C0F0B}" destId="{EDCE5F9B-1D88-4D8D-9083-55DD36D07A64}" srcOrd="0" destOrd="0" presId="urn:microsoft.com/office/officeart/2005/8/layout/cycle8"/>
    <dgm:cxn modelId="{F0697471-CBB1-4158-933D-B4B3F75E0604}" type="presParOf" srcId="{50B73C20-8720-412A-ABE2-B41B774F189B}" destId="{8C235FE3-3F71-44C2-A46B-539B833DE24C}" srcOrd="0" destOrd="0" presId="urn:microsoft.com/office/officeart/2005/8/layout/cycle8"/>
    <dgm:cxn modelId="{168EB40C-5A6D-4F3F-BF2C-FCF94CCE2D39}" type="presParOf" srcId="{50B73C20-8720-412A-ABE2-B41B774F189B}" destId="{90038AF1-24CC-43B0-9B1B-D923A7B56C3C}" srcOrd="1" destOrd="0" presId="urn:microsoft.com/office/officeart/2005/8/layout/cycle8"/>
    <dgm:cxn modelId="{569908DA-43D7-45B1-8009-0FA68FF133C5}" type="presParOf" srcId="{50B73C20-8720-412A-ABE2-B41B774F189B}" destId="{71E81969-F2BB-4CC9-867D-9E0708DF02FF}" srcOrd="2" destOrd="0" presId="urn:microsoft.com/office/officeart/2005/8/layout/cycle8"/>
    <dgm:cxn modelId="{120B6D63-67B5-4651-89B8-2F4AFC748633}" type="presParOf" srcId="{50B73C20-8720-412A-ABE2-B41B774F189B}" destId="{DCE22BBA-999E-458F-ADE2-6AD635E0B027}" srcOrd="3" destOrd="0" presId="urn:microsoft.com/office/officeart/2005/8/layout/cycle8"/>
    <dgm:cxn modelId="{84303F93-7770-4778-B60E-02E295CCDB18}" type="presParOf" srcId="{50B73C20-8720-412A-ABE2-B41B774F189B}" destId="{EDCE5F9B-1D88-4D8D-9083-55DD36D07A64}" srcOrd="4" destOrd="0" presId="urn:microsoft.com/office/officeart/2005/8/layout/cycle8"/>
    <dgm:cxn modelId="{10C0342C-209A-4EE1-BB67-4E82BD92DDB7}" type="presParOf" srcId="{50B73C20-8720-412A-ABE2-B41B774F189B}" destId="{CF151D6C-DD1F-432A-9488-CEF8ED585BC2}" srcOrd="5" destOrd="0" presId="urn:microsoft.com/office/officeart/2005/8/layout/cycle8"/>
    <dgm:cxn modelId="{D088F9FD-84AC-4D71-B185-0A3300C456C8}" type="presParOf" srcId="{50B73C20-8720-412A-ABE2-B41B774F189B}" destId="{94572E03-695E-4870-97D9-5D3958380E35}" srcOrd="6" destOrd="0" presId="urn:microsoft.com/office/officeart/2005/8/layout/cycle8"/>
    <dgm:cxn modelId="{876BFD5D-E2AD-4F6B-9D62-8D6CA971713B}" type="presParOf" srcId="{50B73C20-8720-412A-ABE2-B41B774F189B}" destId="{9A004783-E531-48C1-8181-A872C2478DAA}" srcOrd="7" destOrd="0" presId="urn:microsoft.com/office/officeart/2005/8/layout/cycle8"/>
    <dgm:cxn modelId="{B9611131-DF8C-44CB-96EC-2C6187ABC38E}" type="presParOf" srcId="{50B73C20-8720-412A-ABE2-B41B774F189B}" destId="{A5E52B60-80D4-45E8-AB32-72C8832C4F04}" srcOrd="8" destOrd="0" presId="urn:microsoft.com/office/officeart/2005/8/layout/cycle8"/>
    <dgm:cxn modelId="{490646F5-EF01-44D1-947D-C692A4CDBA66}" type="presParOf" srcId="{50B73C20-8720-412A-ABE2-B41B774F189B}" destId="{5206D377-FF06-4A93-85A7-58B4AD85BDAC}" srcOrd="9" destOrd="0" presId="urn:microsoft.com/office/officeart/2005/8/layout/cycle8"/>
    <dgm:cxn modelId="{ECCF5117-1E10-477D-9559-5C5ECCAC164D}" type="presParOf" srcId="{50B73C20-8720-412A-ABE2-B41B774F189B}" destId="{F113BEB2-4F0E-4611-BCBE-814660A4A7D5}" srcOrd="10" destOrd="0" presId="urn:microsoft.com/office/officeart/2005/8/layout/cycle8"/>
    <dgm:cxn modelId="{15C2D79C-91A3-47CD-8374-199DEC331890}" type="presParOf" srcId="{50B73C20-8720-412A-ABE2-B41B774F189B}" destId="{54C2283A-AC5E-45E9-B06B-8E6497C8CC06}" srcOrd="11" destOrd="0" presId="urn:microsoft.com/office/officeart/2005/8/layout/cycle8"/>
    <dgm:cxn modelId="{D6E4223E-9B2A-4E44-AEAB-45457981423F}" type="presParOf" srcId="{50B73C20-8720-412A-ABE2-B41B774F189B}" destId="{45CD1A6F-7DD7-4DE4-B175-D658CA85DBBD}" srcOrd="12" destOrd="0" presId="urn:microsoft.com/office/officeart/2005/8/layout/cycle8"/>
    <dgm:cxn modelId="{816B34C5-1FCC-4A31-9A69-5F5054EF6618}" type="presParOf" srcId="{50B73C20-8720-412A-ABE2-B41B774F189B}" destId="{BADB538E-E5E0-42D9-8D41-A1BA0A54E760}" srcOrd="13" destOrd="0" presId="urn:microsoft.com/office/officeart/2005/8/layout/cycle8"/>
    <dgm:cxn modelId="{E58EBEFA-592C-400E-B377-C856EA82807F}" type="presParOf" srcId="{50B73C20-8720-412A-ABE2-B41B774F189B}" destId="{91C2630D-E657-4FDB-80ED-2B152AB0CF09}" srcOrd="14" destOrd="0" presId="urn:microsoft.com/office/officeart/2005/8/layout/cycle8"/>
    <dgm:cxn modelId="{CCD18F65-0485-48C6-909E-7BCBB943D79E}" type="presParOf" srcId="{50B73C20-8720-412A-ABE2-B41B774F189B}" destId="{49429826-AA5F-47CA-B11A-ABD6DE54C821}" srcOrd="15" destOrd="0" presId="urn:microsoft.com/office/officeart/2005/8/layout/cycle8"/>
    <dgm:cxn modelId="{63846FA1-5D85-42C9-933E-037704582F50}" type="presParOf" srcId="{50B73C20-8720-412A-ABE2-B41B774F189B}" destId="{3B487735-59B4-41E9-BDAB-5D244BF18F68}" srcOrd="16" destOrd="0" presId="urn:microsoft.com/office/officeart/2005/8/layout/cycle8"/>
    <dgm:cxn modelId="{D4A25B8E-ECDA-4E18-8745-075786C360BE}" type="presParOf" srcId="{50B73C20-8720-412A-ABE2-B41B774F189B}" destId="{939A2975-E45D-4D75-835C-838DA7CA4783}" srcOrd="17" destOrd="0" presId="urn:microsoft.com/office/officeart/2005/8/layout/cycle8"/>
    <dgm:cxn modelId="{D9F9CDC3-0A72-4389-BC90-F9E89F90FB55}" type="presParOf" srcId="{50B73C20-8720-412A-ABE2-B41B774F189B}" destId="{76229039-77BD-4536-8D9F-CEC0D2D14777}" srcOrd="18" destOrd="0" presId="urn:microsoft.com/office/officeart/2005/8/layout/cycle8"/>
    <dgm:cxn modelId="{B6377646-4E5F-4A6C-8830-F8F204A6839B}" type="presParOf" srcId="{50B73C20-8720-412A-ABE2-B41B774F189B}" destId="{85604DE5-89B7-4180-B562-F4BF7B9539D2}" srcOrd="19" destOrd="0" presId="urn:microsoft.com/office/officeart/2005/8/layout/cycle8"/>
    <dgm:cxn modelId="{6F3AA099-86CA-4C4C-A96A-80F24A60A4FF}" type="presParOf" srcId="{50B73C20-8720-412A-ABE2-B41B774F189B}" destId="{1B3C0182-CF0B-417D-8862-5551CF080ABD}" srcOrd="20" destOrd="0" presId="urn:microsoft.com/office/officeart/2005/8/layout/cycle8"/>
    <dgm:cxn modelId="{5A889218-F07E-4117-9BF5-4D3C479D9E0F}" type="presParOf" srcId="{50B73C20-8720-412A-ABE2-B41B774F189B}" destId="{943B39FA-B7B3-4946-B395-D611843A2FD5}" srcOrd="21" destOrd="0" presId="urn:microsoft.com/office/officeart/2005/8/layout/cycle8"/>
    <dgm:cxn modelId="{DF53E29A-B27D-4573-A778-472B14395646}" type="presParOf" srcId="{50B73C20-8720-412A-ABE2-B41B774F189B}" destId="{F382579C-1F35-4CBE-B203-942B20126A0F}" srcOrd="22" destOrd="0" presId="urn:microsoft.com/office/officeart/2005/8/layout/cycle8"/>
    <dgm:cxn modelId="{5AC306C3-10BC-426E-8737-A1813C15BCD0}" type="presParOf" srcId="{50B73C20-8720-412A-ABE2-B41B774F189B}" destId="{CDF1F5E0-2273-4303-AC97-73925993329B}" srcOrd="23" destOrd="0" presId="urn:microsoft.com/office/officeart/2005/8/layout/cycle8"/>
    <dgm:cxn modelId="{F6E7CDAB-577A-4E47-87DF-7F49B00FF327}" type="presParOf" srcId="{50B73C20-8720-412A-ABE2-B41B774F189B}" destId="{578C926A-45BB-4DF8-A8E0-D69C701E431E}" srcOrd="24" destOrd="0" presId="urn:microsoft.com/office/officeart/2005/8/layout/cycle8"/>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D369AA-59C0-49E1-B55E-B70432456B9A}" type="doc">
      <dgm:prSet loTypeId="urn:microsoft.com/office/officeart/2005/8/layout/cycle8" loCatId="cycle" qsTypeId="urn:microsoft.com/office/officeart/2005/8/quickstyle/simple1" qsCatId="simple" csTypeId="urn:microsoft.com/office/officeart/2005/8/colors/accent0_2" csCatId="mainScheme" phldr="1"/>
      <dgm:spPr/>
      <dgm:t>
        <a:bodyPr/>
        <a:lstStyle/>
        <a:p>
          <a:endParaRPr lang="en-GB"/>
        </a:p>
      </dgm:t>
    </dgm:pt>
    <dgm:pt modelId="{D6618069-B0EC-4200-9E36-A2D5FA553F52}">
      <dgm:prSet phldrT="[Text]"/>
      <dgm:spPr>
        <a:xfrm>
          <a:off x="1062917" y="134435"/>
          <a:ext cx="1824320" cy="1824320"/>
        </a:xfrm>
        <a:prstGeom prst="pie">
          <a:avLst>
            <a:gd name="adj1" fmla="val 16200000"/>
            <a:gd name="adj2" fmla="val 20520000"/>
          </a:avLst>
        </a:prstGeom>
        <a:solidFill>
          <a:schemeClr val="bg1"/>
        </a:solidFill>
      </dgm:spPr>
      <dgm:t>
        <a:bodyPr/>
        <a:lstStyle/>
        <a:p>
          <a:pPr>
            <a:buNone/>
          </a:pPr>
          <a:r>
            <a:rPr lang="en-US" noProof="0">
              <a:solidFill>
                <a:schemeClr val="tx2"/>
              </a:solidFill>
              <a:latin typeface="Trebuchet MS" panose="020B0603020202020204" pitchFamily="34" charset="0"/>
              <a:ea typeface="+mn-ea"/>
              <a:cs typeface="Arial" panose="020B0604020202020204" pitchFamily="34" charset="0"/>
            </a:rPr>
            <a:t>Define</a:t>
          </a:r>
        </a:p>
      </dgm:t>
    </dgm:pt>
    <dgm:pt modelId="{893EE6D8-CE80-42FD-B96D-4B0C4CCFFA5F}" type="parTrans" cxnId="{804081B6-634C-48F7-BE19-0675DFCD041F}">
      <dgm:prSet/>
      <dgm:spPr/>
      <dgm:t>
        <a:bodyPr/>
        <a:lstStyle/>
        <a:p>
          <a:endParaRPr lang="en-GB">
            <a:latin typeface="Trebuchet MS" panose="020B0603020202020204" pitchFamily="34" charset="0"/>
          </a:endParaRPr>
        </a:p>
      </dgm:t>
    </dgm:pt>
    <dgm:pt modelId="{E2E703FF-F63F-4A79-96BF-A0500BFFB256}" type="sibTrans" cxnId="{804081B6-634C-48F7-BE19-0675DFCD041F}">
      <dgm:prSet/>
      <dgm:spPr/>
      <dgm:t>
        <a:bodyPr/>
        <a:lstStyle/>
        <a:p>
          <a:endParaRPr lang="en-GB">
            <a:latin typeface="Trebuchet MS" panose="020B0603020202020204" pitchFamily="34" charset="0"/>
          </a:endParaRPr>
        </a:p>
      </dgm:t>
    </dgm:pt>
    <dgm:pt modelId="{43434F5F-A1D0-4D7B-93B7-E3D3DB8C0F0B}">
      <dgm:prSet phldrT="[Text]"/>
      <dgm:spPr>
        <a:xfrm>
          <a:off x="1078554" y="183083"/>
          <a:ext cx="1824320" cy="1824320"/>
        </a:xfrm>
        <a:prstGeom prst="pie">
          <a:avLst>
            <a:gd name="adj1" fmla="val 20520000"/>
            <a:gd name="adj2" fmla="val 3240000"/>
          </a:avLst>
        </a:prstGeom>
        <a:solidFill>
          <a:srgbClr val="00B0F0"/>
        </a:solidFill>
        <a:ln>
          <a:solidFill>
            <a:srgbClr val="00B0F0"/>
          </a:solidFill>
        </a:ln>
      </dgm:spPr>
      <dgm:t>
        <a:bodyPr/>
        <a:lstStyle/>
        <a:p>
          <a:pPr>
            <a:buNone/>
          </a:pPr>
          <a:r>
            <a:rPr lang="en-US" b="1" noProof="0">
              <a:solidFill>
                <a:schemeClr val="bg1"/>
              </a:solidFill>
              <a:latin typeface="Trebuchet MS" panose="020B0603020202020204" pitchFamily="34" charset="0"/>
              <a:ea typeface="+mn-ea"/>
              <a:cs typeface="+mn-cs"/>
            </a:rPr>
            <a:t>Measure</a:t>
          </a:r>
        </a:p>
      </dgm:t>
    </dgm:pt>
    <dgm:pt modelId="{CC653188-7757-47F5-980D-2F580D5D046C}" type="parTrans" cxnId="{65D8C6C9-1A10-491C-9E4D-E64E01660637}">
      <dgm:prSet/>
      <dgm:spPr/>
      <dgm:t>
        <a:bodyPr/>
        <a:lstStyle/>
        <a:p>
          <a:endParaRPr lang="en-GB">
            <a:latin typeface="Trebuchet MS" panose="020B0603020202020204" pitchFamily="34" charset="0"/>
          </a:endParaRPr>
        </a:p>
      </dgm:t>
    </dgm:pt>
    <dgm:pt modelId="{BAD65EFA-967E-4883-AE14-C7953EF71C1F}" type="sibTrans" cxnId="{65D8C6C9-1A10-491C-9E4D-E64E01660637}">
      <dgm:prSet/>
      <dgm:spPr/>
      <dgm:t>
        <a:bodyPr/>
        <a:lstStyle/>
        <a:p>
          <a:endParaRPr lang="en-GB">
            <a:latin typeface="Trebuchet MS" panose="020B0603020202020204" pitchFamily="34" charset="0"/>
          </a:endParaRPr>
        </a:p>
      </dgm:t>
    </dgm:pt>
    <dgm:pt modelId="{27BF821D-2F3E-49CD-9B37-04D0FA768287}">
      <dgm:prSet phldrT="[Text]"/>
      <dgm:spPr>
        <a:xfrm>
          <a:off x="1037289" y="213054"/>
          <a:ext cx="1824320" cy="1824320"/>
        </a:xfrm>
        <a:prstGeom prst="pie">
          <a:avLst>
            <a:gd name="adj1" fmla="val 3240000"/>
            <a:gd name="adj2" fmla="val 7560000"/>
          </a:avLst>
        </a:prstGeom>
      </dgm:spPr>
      <dgm:t>
        <a:bodyPr/>
        <a:lstStyle/>
        <a:p>
          <a:pPr>
            <a:buNone/>
          </a:pPr>
          <a:r>
            <a:rPr lang="en-US" noProof="0">
              <a:latin typeface="Trebuchet MS" panose="020B0603020202020204" pitchFamily="34" charset="0"/>
              <a:ea typeface="+mn-ea"/>
              <a:cs typeface="+mn-cs"/>
            </a:rPr>
            <a:t>Analyze</a:t>
          </a:r>
        </a:p>
        <a:p>
          <a:pPr>
            <a:buNone/>
          </a:pPr>
          <a:endParaRPr lang="en-US" noProof="0">
            <a:latin typeface="Trebuchet MS" panose="020B0603020202020204" pitchFamily="34" charset="0"/>
            <a:ea typeface="+mn-ea"/>
            <a:cs typeface="+mn-cs"/>
          </a:endParaRPr>
        </a:p>
      </dgm:t>
    </dgm:pt>
    <dgm:pt modelId="{D1698C79-E725-47CC-941A-190C96E6E135}" type="parTrans" cxnId="{F2C731B1-6208-471C-8AA5-21AEAFEA8436}">
      <dgm:prSet/>
      <dgm:spPr/>
      <dgm:t>
        <a:bodyPr/>
        <a:lstStyle/>
        <a:p>
          <a:endParaRPr lang="en-GB">
            <a:latin typeface="Trebuchet MS" panose="020B0603020202020204" pitchFamily="34" charset="0"/>
          </a:endParaRPr>
        </a:p>
      </dgm:t>
    </dgm:pt>
    <dgm:pt modelId="{66444982-89CC-4ADF-9DDF-851D4855A8D8}" type="sibTrans" cxnId="{F2C731B1-6208-471C-8AA5-21AEAFEA8436}">
      <dgm:prSet/>
      <dgm:spPr/>
      <dgm:t>
        <a:bodyPr/>
        <a:lstStyle/>
        <a:p>
          <a:endParaRPr lang="en-GB">
            <a:latin typeface="Trebuchet MS" panose="020B0603020202020204" pitchFamily="34" charset="0"/>
          </a:endParaRPr>
        </a:p>
      </dgm:t>
    </dgm:pt>
    <dgm:pt modelId="{17623FF4-83D1-409E-B2C9-D3BD0C35F949}">
      <dgm:prSet/>
      <dgm:spPr>
        <a:xfrm>
          <a:off x="1062917" y="134435"/>
          <a:ext cx="1824320" cy="1824320"/>
        </a:xfrm>
        <a:prstGeom prst="pie">
          <a:avLst>
            <a:gd name="adj1" fmla="val 16200000"/>
            <a:gd name="adj2" fmla="val 20520000"/>
          </a:avLst>
        </a:prstGeom>
        <a:solidFill>
          <a:schemeClr val="bg1"/>
        </a:solidFill>
      </dgm:spPr>
      <dgm:t>
        <a:bodyPr/>
        <a:lstStyle/>
        <a:p>
          <a:pPr>
            <a:buChar char="•"/>
          </a:pPr>
          <a:endParaRPr lang="en-US" noProof="0">
            <a:solidFill>
              <a:srgbClr val="FFFFFF"/>
            </a:solidFill>
            <a:latin typeface="Trebuchet MS" panose="020B0603020202020204" pitchFamily="34" charset="0"/>
            <a:ea typeface="+mn-ea"/>
            <a:cs typeface="Arial" panose="020B0604020202020204" pitchFamily="34" charset="0"/>
          </a:endParaRPr>
        </a:p>
      </dgm:t>
    </dgm:pt>
    <dgm:pt modelId="{C5298539-7CF6-43EF-ACF5-4ED8AC1B4A67}" type="parTrans" cxnId="{E02ACA6B-C3D3-4D90-B61C-6E8277B25FF2}">
      <dgm:prSet/>
      <dgm:spPr/>
      <dgm:t>
        <a:bodyPr/>
        <a:lstStyle/>
        <a:p>
          <a:endParaRPr lang="en-GB">
            <a:latin typeface="Trebuchet MS" panose="020B0603020202020204" pitchFamily="34" charset="0"/>
          </a:endParaRPr>
        </a:p>
      </dgm:t>
    </dgm:pt>
    <dgm:pt modelId="{A170FA3D-9235-415D-8D21-809B23642B3F}" type="sibTrans" cxnId="{E02ACA6B-C3D3-4D90-B61C-6E8277B25FF2}">
      <dgm:prSet/>
      <dgm:spPr/>
      <dgm:t>
        <a:bodyPr/>
        <a:lstStyle/>
        <a:p>
          <a:endParaRPr lang="en-GB">
            <a:latin typeface="Trebuchet MS" panose="020B0603020202020204" pitchFamily="34" charset="0"/>
          </a:endParaRPr>
        </a:p>
      </dgm:t>
    </dgm:pt>
    <dgm:pt modelId="{61F0A2E3-1D9E-4CEC-86A0-B0FE6E70E7B1}">
      <dgm:prSet/>
      <dgm:spPr>
        <a:xfrm>
          <a:off x="996025" y="183083"/>
          <a:ext cx="1824320" cy="1824320"/>
        </a:xfrm>
        <a:prstGeom prst="pie">
          <a:avLst>
            <a:gd name="adj1" fmla="val 7560000"/>
            <a:gd name="adj2" fmla="val 11880000"/>
          </a:avLst>
        </a:prstGeom>
      </dgm:spPr>
      <dgm:t>
        <a:bodyPr/>
        <a:lstStyle/>
        <a:p>
          <a:pPr>
            <a:buNone/>
          </a:pPr>
          <a:r>
            <a:rPr lang="en-US" noProof="0">
              <a:latin typeface="Trebuchet MS" panose="020B0603020202020204" pitchFamily="34" charset="0"/>
              <a:ea typeface="+mn-ea"/>
              <a:cs typeface="+mn-cs"/>
            </a:rPr>
            <a:t>Improve</a:t>
          </a:r>
        </a:p>
      </dgm:t>
    </dgm:pt>
    <dgm:pt modelId="{13F9578B-8F2E-4E59-AA8C-9F45715DF7BE}" type="parTrans" cxnId="{49807935-D82D-4A28-9444-CF41A811697A}">
      <dgm:prSet/>
      <dgm:spPr/>
      <dgm:t>
        <a:bodyPr/>
        <a:lstStyle/>
        <a:p>
          <a:endParaRPr lang="en-GB">
            <a:latin typeface="Trebuchet MS" panose="020B0603020202020204" pitchFamily="34" charset="0"/>
          </a:endParaRPr>
        </a:p>
      </dgm:t>
    </dgm:pt>
    <dgm:pt modelId="{5B0F3261-B8F3-4EF6-8025-08F245E8EF09}" type="sibTrans" cxnId="{49807935-D82D-4A28-9444-CF41A811697A}">
      <dgm:prSet/>
      <dgm:spPr/>
      <dgm:t>
        <a:bodyPr/>
        <a:lstStyle/>
        <a:p>
          <a:endParaRPr lang="en-GB">
            <a:latin typeface="Trebuchet MS" panose="020B0603020202020204" pitchFamily="34" charset="0"/>
          </a:endParaRPr>
        </a:p>
      </dgm:t>
    </dgm:pt>
    <dgm:pt modelId="{3607FCD8-6657-4836-95A4-7A279A1F256B}">
      <dgm:prSet/>
      <dgm:spPr>
        <a:xfrm>
          <a:off x="1011662" y="134435"/>
          <a:ext cx="1824320" cy="1824320"/>
        </a:xfrm>
        <a:prstGeom prst="pie">
          <a:avLst>
            <a:gd name="adj1" fmla="val 11880000"/>
            <a:gd name="adj2" fmla="val 16200000"/>
          </a:avLst>
        </a:prstGeom>
      </dgm:spPr>
      <dgm:t>
        <a:bodyPr/>
        <a:lstStyle/>
        <a:p>
          <a:pPr>
            <a:buNone/>
          </a:pPr>
          <a:r>
            <a:rPr lang="en-US" noProof="0">
              <a:latin typeface="Trebuchet MS" panose="020B0603020202020204" pitchFamily="34" charset="0"/>
              <a:ea typeface="+mn-ea"/>
              <a:cs typeface="+mn-cs"/>
            </a:rPr>
            <a:t>Control</a:t>
          </a:r>
        </a:p>
        <a:p>
          <a:pPr>
            <a:buNone/>
          </a:pPr>
          <a:endParaRPr lang="en-US" noProof="0">
            <a:latin typeface="Trebuchet MS" panose="020B0603020202020204" pitchFamily="34" charset="0"/>
            <a:ea typeface="+mn-ea"/>
            <a:cs typeface="+mn-cs"/>
          </a:endParaRPr>
        </a:p>
      </dgm:t>
    </dgm:pt>
    <dgm:pt modelId="{E598C32C-35DB-47E0-A1F6-E475AD071A4B}" type="parTrans" cxnId="{956A859B-4D0E-406D-A476-6E0872DFC719}">
      <dgm:prSet/>
      <dgm:spPr/>
      <dgm:t>
        <a:bodyPr/>
        <a:lstStyle/>
        <a:p>
          <a:endParaRPr lang="en-GB">
            <a:latin typeface="Trebuchet MS" panose="020B0603020202020204" pitchFamily="34" charset="0"/>
          </a:endParaRPr>
        </a:p>
      </dgm:t>
    </dgm:pt>
    <dgm:pt modelId="{69B2B37B-26AE-4264-84DC-19FA2B13C444}" type="sibTrans" cxnId="{956A859B-4D0E-406D-A476-6E0872DFC719}">
      <dgm:prSet/>
      <dgm:spPr/>
      <dgm:t>
        <a:bodyPr/>
        <a:lstStyle/>
        <a:p>
          <a:endParaRPr lang="en-GB">
            <a:latin typeface="Trebuchet MS" panose="020B0603020202020204" pitchFamily="34" charset="0"/>
          </a:endParaRPr>
        </a:p>
      </dgm:t>
    </dgm:pt>
    <dgm:pt modelId="{50B73C20-8720-412A-ABE2-B41B774F189B}" type="pres">
      <dgm:prSet presAssocID="{52D369AA-59C0-49E1-B55E-B70432456B9A}" presName="compositeShape" presStyleCnt="0">
        <dgm:presLayoutVars>
          <dgm:chMax val="7"/>
          <dgm:dir/>
          <dgm:resizeHandles val="exact"/>
        </dgm:presLayoutVars>
      </dgm:prSet>
      <dgm:spPr/>
    </dgm:pt>
    <dgm:pt modelId="{8C235FE3-3F71-44C2-A46B-539B833DE24C}" type="pres">
      <dgm:prSet presAssocID="{52D369AA-59C0-49E1-B55E-B70432456B9A}" presName="wedge1" presStyleLbl="node1" presStyleIdx="0" presStyleCnt="5" custLinFactNeighborX="128" custLinFactNeighborY="-6"/>
      <dgm:spPr/>
    </dgm:pt>
    <dgm:pt modelId="{90038AF1-24CC-43B0-9B1B-D923A7B56C3C}" type="pres">
      <dgm:prSet presAssocID="{52D369AA-59C0-49E1-B55E-B70432456B9A}" presName="dummy1a" presStyleCnt="0"/>
      <dgm:spPr/>
    </dgm:pt>
    <dgm:pt modelId="{71E81969-F2BB-4CC9-867D-9E0708DF02FF}" type="pres">
      <dgm:prSet presAssocID="{52D369AA-59C0-49E1-B55E-B70432456B9A}" presName="dummy1b" presStyleCnt="0"/>
      <dgm:spPr/>
    </dgm:pt>
    <dgm:pt modelId="{DCE22BBA-999E-458F-ADE2-6AD635E0B027}" type="pres">
      <dgm:prSet presAssocID="{52D369AA-59C0-49E1-B55E-B70432456B9A}" presName="wedge1Tx" presStyleLbl="node1" presStyleIdx="0" presStyleCnt="5">
        <dgm:presLayoutVars>
          <dgm:chMax val="0"/>
          <dgm:chPref val="0"/>
          <dgm:bulletEnabled val="1"/>
        </dgm:presLayoutVars>
      </dgm:prSet>
      <dgm:spPr/>
    </dgm:pt>
    <dgm:pt modelId="{EDCE5F9B-1D88-4D8D-9083-55DD36D07A64}" type="pres">
      <dgm:prSet presAssocID="{52D369AA-59C0-49E1-B55E-B70432456B9A}" presName="wedge2" presStyleLbl="node1" presStyleIdx="1" presStyleCnt="5" custLinFactNeighborX="9626" custLinFactNeighborY="4157"/>
      <dgm:spPr/>
    </dgm:pt>
    <dgm:pt modelId="{CF151D6C-DD1F-432A-9488-CEF8ED585BC2}" type="pres">
      <dgm:prSet presAssocID="{52D369AA-59C0-49E1-B55E-B70432456B9A}" presName="dummy2a" presStyleCnt="0"/>
      <dgm:spPr/>
    </dgm:pt>
    <dgm:pt modelId="{94572E03-695E-4870-97D9-5D3958380E35}" type="pres">
      <dgm:prSet presAssocID="{52D369AA-59C0-49E1-B55E-B70432456B9A}" presName="dummy2b" presStyleCnt="0"/>
      <dgm:spPr/>
    </dgm:pt>
    <dgm:pt modelId="{9A004783-E531-48C1-8181-A872C2478DAA}" type="pres">
      <dgm:prSet presAssocID="{52D369AA-59C0-49E1-B55E-B70432456B9A}" presName="wedge2Tx" presStyleLbl="node1" presStyleIdx="1" presStyleCnt="5">
        <dgm:presLayoutVars>
          <dgm:chMax val="0"/>
          <dgm:chPref val="0"/>
          <dgm:bulletEnabled val="1"/>
        </dgm:presLayoutVars>
      </dgm:prSet>
      <dgm:spPr/>
    </dgm:pt>
    <dgm:pt modelId="{A5E52B60-80D4-45E8-AB32-72C8832C4F04}" type="pres">
      <dgm:prSet presAssocID="{52D369AA-59C0-49E1-B55E-B70432456B9A}" presName="wedge3" presStyleLbl="node1" presStyleIdx="2" presStyleCnt="5"/>
      <dgm:spPr/>
    </dgm:pt>
    <dgm:pt modelId="{5206D377-FF06-4A93-85A7-58B4AD85BDAC}" type="pres">
      <dgm:prSet presAssocID="{52D369AA-59C0-49E1-B55E-B70432456B9A}" presName="dummy3a" presStyleCnt="0"/>
      <dgm:spPr/>
    </dgm:pt>
    <dgm:pt modelId="{F113BEB2-4F0E-4611-BCBE-814660A4A7D5}" type="pres">
      <dgm:prSet presAssocID="{52D369AA-59C0-49E1-B55E-B70432456B9A}" presName="dummy3b" presStyleCnt="0"/>
      <dgm:spPr/>
    </dgm:pt>
    <dgm:pt modelId="{54C2283A-AC5E-45E9-B06B-8E6497C8CC06}" type="pres">
      <dgm:prSet presAssocID="{52D369AA-59C0-49E1-B55E-B70432456B9A}" presName="wedge3Tx" presStyleLbl="node1" presStyleIdx="2" presStyleCnt="5">
        <dgm:presLayoutVars>
          <dgm:chMax val="0"/>
          <dgm:chPref val="0"/>
          <dgm:bulletEnabled val="1"/>
        </dgm:presLayoutVars>
      </dgm:prSet>
      <dgm:spPr/>
    </dgm:pt>
    <dgm:pt modelId="{45CD1A6F-7DD7-4DE4-B175-D658CA85DBBD}" type="pres">
      <dgm:prSet presAssocID="{52D369AA-59C0-49E1-B55E-B70432456B9A}" presName="wedge4" presStyleLbl="node1" presStyleIdx="3" presStyleCnt="5"/>
      <dgm:spPr/>
    </dgm:pt>
    <dgm:pt modelId="{BADB538E-E5E0-42D9-8D41-A1BA0A54E760}" type="pres">
      <dgm:prSet presAssocID="{52D369AA-59C0-49E1-B55E-B70432456B9A}" presName="dummy4a" presStyleCnt="0"/>
      <dgm:spPr/>
    </dgm:pt>
    <dgm:pt modelId="{91C2630D-E657-4FDB-80ED-2B152AB0CF09}" type="pres">
      <dgm:prSet presAssocID="{52D369AA-59C0-49E1-B55E-B70432456B9A}" presName="dummy4b" presStyleCnt="0"/>
      <dgm:spPr/>
    </dgm:pt>
    <dgm:pt modelId="{49429826-AA5F-47CA-B11A-ABD6DE54C821}" type="pres">
      <dgm:prSet presAssocID="{52D369AA-59C0-49E1-B55E-B70432456B9A}" presName="wedge4Tx" presStyleLbl="node1" presStyleIdx="3" presStyleCnt="5">
        <dgm:presLayoutVars>
          <dgm:chMax val="0"/>
          <dgm:chPref val="0"/>
          <dgm:bulletEnabled val="1"/>
        </dgm:presLayoutVars>
      </dgm:prSet>
      <dgm:spPr/>
    </dgm:pt>
    <dgm:pt modelId="{3B487735-59B4-41E9-BDAB-5D244BF18F68}" type="pres">
      <dgm:prSet presAssocID="{52D369AA-59C0-49E1-B55E-B70432456B9A}" presName="wedge5" presStyleLbl="node1" presStyleIdx="4" presStyleCnt="5"/>
      <dgm:spPr/>
    </dgm:pt>
    <dgm:pt modelId="{939A2975-E45D-4D75-835C-838DA7CA4783}" type="pres">
      <dgm:prSet presAssocID="{52D369AA-59C0-49E1-B55E-B70432456B9A}" presName="dummy5a" presStyleCnt="0"/>
      <dgm:spPr/>
    </dgm:pt>
    <dgm:pt modelId="{76229039-77BD-4536-8D9F-CEC0D2D14777}" type="pres">
      <dgm:prSet presAssocID="{52D369AA-59C0-49E1-B55E-B70432456B9A}" presName="dummy5b" presStyleCnt="0"/>
      <dgm:spPr/>
    </dgm:pt>
    <dgm:pt modelId="{85604DE5-89B7-4180-B562-F4BF7B9539D2}" type="pres">
      <dgm:prSet presAssocID="{52D369AA-59C0-49E1-B55E-B70432456B9A}" presName="wedge5Tx" presStyleLbl="node1" presStyleIdx="4" presStyleCnt="5">
        <dgm:presLayoutVars>
          <dgm:chMax val="0"/>
          <dgm:chPref val="0"/>
          <dgm:bulletEnabled val="1"/>
        </dgm:presLayoutVars>
      </dgm:prSet>
      <dgm:spPr/>
    </dgm:pt>
    <dgm:pt modelId="{1B3C0182-CF0B-417D-8862-5551CF080ABD}" type="pres">
      <dgm:prSet presAssocID="{E2E703FF-F63F-4A79-96BF-A0500BFFB256}" presName="arrowWedge1" presStyleLbl="fgSibTrans2D1" presStyleIdx="0" presStyleCnt="5"/>
      <dgm:spPr>
        <a:xfrm>
          <a:off x="949897" y="21500"/>
          <a:ext cx="2050188" cy="2050188"/>
        </a:xfrm>
        <a:prstGeom prst="circularArrow">
          <a:avLst>
            <a:gd name="adj1" fmla="val 5085"/>
            <a:gd name="adj2" fmla="val 327528"/>
            <a:gd name="adj3" fmla="val 20192361"/>
            <a:gd name="adj4" fmla="val 16200324"/>
            <a:gd name="adj5" fmla="val 5932"/>
          </a:avLst>
        </a:prstGeom>
      </dgm:spPr>
    </dgm:pt>
    <dgm:pt modelId="{943B39FA-B7B3-4946-B395-D611843A2FD5}" type="pres">
      <dgm:prSet presAssocID="{BAD65EFA-967E-4883-AE14-C7953EF71C1F}" presName="arrowWedge2" presStyleLbl="fgSibTrans2D1" presStyleIdx="1" presStyleCnt="5"/>
      <dgm:spPr>
        <a:xfrm>
          <a:off x="965746" y="70133"/>
          <a:ext cx="2050188" cy="2050188"/>
        </a:xfrm>
        <a:prstGeom prst="circularArrow">
          <a:avLst>
            <a:gd name="adj1" fmla="val 5085"/>
            <a:gd name="adj2" fmla="val 327528"/>
            <a:gd name="adj3" fmla="val 2912753"/>
            <a:gd name="adj4" fmla="val 20519953"/>
            <a:gd name="adj5" fmla="val 5932"/>
          </a:avLst>
        </a:prstGeom>
      </dgm:spPr>
    </dgm:pt>
    <dgm:pt modelId="{F382579C-1F35-4CBE-B203-942B20126A0F}" type="pres">
      <dgm:prSet presAssocID="{66444982-89CC-4ADF-9DDF-851D4855A8D8}" presName="arrowWedge3" presStyleLbl="fgSibTrans2D1" presStyleIdx="2" presStyleCnt="5"/>
      <dgm:spPr>
        <a:xfrm>
          <a:off x="924355" y="100196"/>
          <a:ext cx="2050188" cy="2050188"/>
        </a:xfrm>
        <a:prstGeom prst="circularArrow">
          <a:avLst>
            <a:gd name="adj1" fmla="val 5085"/>
            <a:gd name="adj2" fmla="val 327528"/>
            <a:gd name="adj3" fmla="val 7232777"/>
            <a:gd name="adj4" fmla="val 3239695"/>
            <a:gd name="adj5" fmla="val 5932"/>
          </a:avLst>
        </a:prstGeom>
      </dgm:spPr>
    </dgm:pt>
    <dgm:pt modelId="{CDF1F5E0-2273-4303-AC97-73925993329B}" type="pres">
      <dgm:prSet presAssocID="{5B0F3261-B8F3-4EF6-8025-08F245E8EF09}" presName="arrowWedge4" presStyleLbl="fgSibTrans2D1" presStyleIdx="3" presStyleCnt="5"/>
      <dgm:spPr>
        <a:xfrm>
          <a:off x="882965" y="70133"/>
          <a:ext cx="2050188" cy="2050188"/>
        </a:xfrm>
        <a:prstGeom prst="circularArrow">
          <a:avLst>
            <a:gd name="adj1" fmla="val 5085"/>
            <a:gd name="adj2" fmla="val 327528"/>
            <a:gd name="adj3" fmla="val 11552519"/>
            <a:gd name="adj4" fmla="val 7559718"/>
            <a:gd name="adj5" fmla="val 5932"/>
          </a:avLst>
        </a:prstGeom>
      </dgm:spPr>
    </dgm:pt>
    <dgm:pt modelId="{578C926A-45BB-4DF8-A8E0-D69C701E431E}" type="pres">
      <dgm:prSet presAssocID="{69B2B37B-26AE-4264-84DC-19FA2B13C444}" presName="arrowWedge5" presStyleLbl="fgSibTrans2D1" presStyleIdx="4" presStyleCnt="5"/>
      <dgm:spPr>
        <a:xfrm>
          <a:off x="898814" y="21500"/>
          <a:ext cx="2050188" cy="2050188"/>
        </a:xfrm>
        <a:prstGeom prst="circularArrow">
          <a:avLst>
            <a:gd name="adj1" fmla="val 5085"/>
            <a:gd name="adj2" fmla="val 327528"/>
            <a:gd name="adj3" fmla="val 15872148"/>
            <a:gd name="adj4" fmla="val 11880111"/>
            <a:gd name="adj5" fmla="val 5932"/>
          </a:avLst>
        </a:prstGeom>
      </dgm:spPr>
    </dgm:pt>
  </dgm:ptLst>
  <dgm:cxnLst>
    <dgm:cxn modelId="{80E0BF16-C569-4180-B274-29A4561BD76A}" type="presOf" srcId="{27BF821D-2F3E-49CD-9B37-04D0FA768287}" destId="{54C2283A-AC5E-45E9-B06B-8E6497C8CC06}" srcOrd="1" destOrd="0" presId="urn:microsoft.com/office/officeart/2005/8/layout/cycle8"/>
    <dgm:cxn modelId="{31770029-1BAD-49B4-A767-7516DFF61D5B}" type="presOf" srcId="{17623FF4-83D1-409E-B2C9-D3BD0C35F949}" destId="{8C235FE3-3F71-44C2-A46B-539B833DE24C}" srcOrd="0" destOrd="1" presId="urn:microsoft.com/office/officeart/2005/8/layout/cycle8"/>
    <dgm:cxn modelId="{49807935-D82D-4A28-9444-CF41A811697A}" srcId="{52D369AA-59C0-49E1-B55E-B70432456B9A}" destId="{61F0A2E3-1D9E-4CEC-86A0-B0FE6E70E7B1}" srcOrd="3" destOrd="0" parTransId="{13F9578B-8F2E-4E59-AA8C-9F45715DF7BE}" sibTransId="{5B0F3261-B8F3-4EF6-8025-08F245E8EF09}"/>
    <dgm:cxn modelId="{77886068-65C1-4DE8-90B9-36CAC78D28B5}" type="presOf" srcId="{17623FF4-83D1-409E-B2C9-D3BD0C35F949}" destId="{DCE22BBA-999E-458F-ADE2-6AD635E0B027}" srcOrd="1" destOrd="1" presId="urn:microsoft.com/office/officeart/2005/8/layout/cycle8"/>
    <dgm:cxn modelId="{E02ACA6B-C3D3-4D90-B61C-6E8277B25FF2}" srcId="{D6618069-B0EC-4200-9E36-A2D5FA553F52}" destId="{17623FF4-83D1-409E-B2C9-D3BD0C35F949}" srcOrd="0" destOrd="0" parTransId="{C5298539-7CF6-43EF-ACF5-4ED8AC1B4A67}" sibTransId="{A170FA3D-9235-415D-8D21-809B23642B3F}"/>
    <dgm:cxn modelId="{CD5B734D-355E-4F53-BDB3-B027EB54C335}" type="presOf" srcId="{61F0A2E3-1D9E-4CEC-86A0-B0FE6E70E7B1}" destId="{49429826-AA5F-47CA-B11A-ABD6DE54C821}" srcOrd="1" destOrd="0" presId="urn:microsoft.com/office/officeart/2005/8/layout/cycle8"/>
    <dgm:cxn modelId="{3321FE52-A8B8-4A6C-AC9C-6F68280E5C1A}" type="presOf" srcId="{43434F5F-A1D0-4D7B-93B7-E3D3DB8C0F0B}" destId="{9A004783-E531-48C1-8181-A872C2478DAA}" srcOrd="1" destOrd="0" presId="urn:microsoft.com/office/officeart/2005/8/layout/cycle8"/>
    <dgm:cxn modelId="{80EA788F-BC8B-445D-9DE6-5E1576DBBAB1}" type="presOf" srcId="{3607FCD8-6657-4836-95A4-7A279A1F256B}" destId="{3B487735-59B4-41E9-BDAB-5D244BF18F68}" srcOrd="0" destOrd="0" presId="urn:microsoft.com/office/officeart/2005/8/layout/cycle8"/>
    <dgm:cxn modelId="{956A859B-4D0E-406D-A476-6E0872DFC719}" srcId="{52D369AA-59C0-49E1-B55E-B70432456B9A}" destId="{3607FCD8-6657-4836-95A4-7A279A1F256B}" srcOrd="4" destOrd="0" parTransId="{E598C32C-35DB-47E0-A1F6-E475AD071A4B}" sibTransId="{69B2B37B-26AE-4264-84DC-19FA2B13C444}"/>
    <dgm:cxn modelId="{851BA8A4-9B3D-48C7-9A10-E466CFA74B4A}" type="presOf" srcId="{D6618069-B0EC-4200-9E36-A2D5FA553F52}" destId="{8C235FE3-3F71-44C2-A46B-539B833DE24C}" srcOrd="0" destOrd="0" presId="urn:microsoft.com/office/officeart/2005/8/layout/cycle8"/>
    <dgm:cxn modelId="{40525CA9-711A-4555-8430-04F5EC60DCDF}" type="presOf" srcId="{3607FCD8-6657-4836-95A4-7A279A1F256B}" destId="{85604DE5-89B7-4180-B562-F4BF7B9539D2}" srcOrd="1" destOrd="0" presId="urn:microsoft.com/office/officeart/2005/8/layout/cycle8"/>
    <dgm:cxn modelId="{F2C731B1-6208-471C-8AA5-21AEAFEA8436}" srcId="{52D369AA-59C0-49E1-B55E-B70432456B9A}" destId="{27BF821D-2F3E-49CD-9B37-04D0FA768287}" srcOrd="2" destOrd="0" parTransId="{D1698C79-E725-47CC-941A-190C96E6E135}" sibTransId="{66444982-89CC-4ADF-9DDF-851D4855A8D8}"/>
    <dgm:cxn modelId="{804081B6-634C-48F7-BE19-0675DFCD041F}" srcId="{52D369AA-59C0-49E1-B55E-B70432456B9A}" destId="{D6618069-B0EC-4200-9E36-A2D5FA553F52}" srcOrd="0" destOrd="0" parTransId="{893EE6D8-CE80-42FD-B96D-4B0C4CCFFA5F}" sibTransId="{E2E703FF-F63F-4A79-96BF-A0500BFFB256}"/>
    <dgm:cxn modelId="{0A828DC2-5466-4E4B-8B06-DC2AF9159DE7}" type="presOf" srcId="{61F0A2E3-1D9E-4CEC-86A0-B0FE6E70E7B1}" destId="{45CD1A6F-7DD7-4DE4-B175-D658CA85DBBD}" srcOrd="0" destOrd="0" presId="urn:microsoft.com/office/officeart/2005/8/layout/cycle8"/>
    <dgm:cxn modelId="{78276EC5-638E-4FB2-ACB7-01621011D25E}" type="presOf" srcId="{27BF821D-2F3E-49CD-9B37-04D0FA768287}" destId="{A5E52B60-80D4-45E8-AB32-72C8832C4F04}" srcOrd="0" destOrd="0" presId="urn:microsoft.com/office/officeart/2005/8/layout/cycle8"/>
    <dgm:cxn modelId="{65D8C6C9-1A10-491C-9E4D-E64E01660637}" srcId="{52D369AA-59C0-49E1-B55E-B70432456B9A}" destId="{43434F5F-A1D0-4D7B-93B7-E3D3DB8C0F0B}" srcOrd="1" destOrd="0" parTransId="{CC653188-7757-47F5-980D-2F580D5D046C}" sibTransId="{BAD65EFA-967E-4883-AE14-C7953EF71C1F}"/>
    <dgm:cxn modelId="{10D097CA-E7CD-4428-8B11-E9F7EA003D0A}" type="presOf" srcId="{D6618069-B0EC-4200-9E36-A2D5FA553F52}" destId="{DCE22BBA-999E-458F-ADE2-6AD635E0B027}" srcOrd="1" destOrd="0" presId="urn:microsoft.com/office/officeart/2005/8/layout/cycle8"/>
    <dgm:cxn modelId="{952FC0D1-ACC3-489B-9B7D-E2B9EC3D23F4}" type="presOf" srcId="{52D369AA-59C0-49E1-B55E-B70432456B9A}" destId="{50B73C20-8720-412A-ABE2-B41B774F189B}" srcOrd="0" destOrd="0" presId="urn:microsoft.com/office/officeart/2005/8/layout/cycle8"/>
    <dgm:cxn modelId="{6A173FDB-54F1-4B5C-AC26-42035B875450}" type="presOf" srcId="{43434F5F-A1D0-4D7B-93B7-E3D3DB8C0F0B}" destId="{EDCE5F9B-1D88-4D8D-9083-55DD36D07A64}" srcOrd="0" destOrd="0" presId="urn:microsoft.com/office/officeart/2005/8/layout/cycle8"/>
    <dgm:cxn modelId="{F0697471-CBB1-4158-933D-B4B3F75E0604}" type="presParOf" srcId="{50B73C20-8720-412A-ABE2-B41B774F189B}" destId="{8C235FE3-3F71-44C2-A46B-539B833DE24C}" srcOrd="0" destOrd="0" presId="urn:microsoft.com/office/officeart/2005/8/layout/cycle8"/>
    <dgm:cxn modelId="{168EB40C-5A6D-4F3F-BF2C-FCF94CCE2D39}" type="presParOf" srcId="{50B73C20-8720-412A-ABE2-B41B774F189B}" destId="{90038AF1-24CC-43B0-9B1B-D923A7B56C3C}" srcOrd="1" destOrd="0" presId="urn:microsoft.com/office/officeart/2005/8/layout/cycle8"/>
    <dgm:cxn modelId="{569908DA-43D7-45B1-8009-0FA68FF133C5}" type="presParOf" srcId="{50B73C20-8720-412A-ABE2-B41B774F189B}" destId="{71E81969-F2BB-4CC9-867D-9E0708DF02FF}" srcOrd="2" destOrd="0" presId="urn:microsoft.com/office/officeart/2005/8/layout/cycle8"/>
    <dgm:cxn modelId="{120B6D63-67B5-4651-89B8-2F4AFC748633}" type="presParOf" srcId="{50B73C20-8720-412A-ABE2-B41B774F189B}" destId="{DCE22BBA-999E-458F-ADE2-6AD635E0B027}" srcOrd="3" destOrd="0" presId="urn:microsoft.com/office/officeart/2005/8/layout/cycle8"/>
    <dgm:cxn modelId="{84303F93-7770-4778-B60E-02E295CCDB18}" type="presParOf" srcId="{50B73C20-8720-412A-ABE2-B41B774F189B}" destId="{EDCE5F9B-1D88-4D8D-9083-55DD36D07A64}" srcOrd="4" destOrd="0" presId="urn:microsoft.com/office/officeart/2005/8/layout/cycle8"/>
    <dgm:cxn modelId="{10C0342C-209A-4EE1-BB67-4E82BD92DDB7}" type="presParOf" srcId="{50B73C20-8720-412A-ABE2-B41B774F189B}" destId="{CF151D6C-DD1F-432A-9488-CEF8ED585BC2}" srcOrd="5" destOrd="0" presId="urn:microsoft.com/office/officeart/2005/8/layout/cycle8"/>
    <dgm:cxn modelId="{D088F9FD-84AC-4D71-B185-0A3300C456C8}" type="presParOf" srcId="{50B73C20-8720-412A-ABE2-B41B774F189B}" destId="{94572E03-695E-4870-97D9-5D3958380E35}" srcOrd="6" destOrd="0" presId="urn:microsoft.com/office/officeart/2005/8/layout/cycle8"/>
    <dgm:cxn modelId="{876BFD5D-E2AD-4F6B-9D62-8D6CA971713B}" type="presParOf" srcId="{50B73C20-8720-412A-ABE2-B41B774F189B}" destId="{9A004783-E531-48C1-8181-A872C2478DAA}" srcOrd="7" destOrd="0" presId="urn:microsoft.com/office/officeart/2005/8/layout/cycle8"/>
    <dgm:cxn modelId="{B9611131-DF8C-44CB-96EC-2C6187ABC38E}" type="presParOf" srcId="{50B73C20-8720-412A-ABE2-B41B774F189B}" destId="{A5E52B60-80D4-45E8-AB32-72C8832C4F04}" srcOrd="8" destOrd="0" presId="urn:microsoft.com/office/officeart/2005/8/layout/cycle8"/>
    <dgm:cxn modelId="{490646F5-EF01-44D1-947D-C692A4CDBA66}" type="presParOf" srcId="{50B73C20-8720-412A-ABE2-B41B774F189B}" destId="{5206D377-FF06-4A93-85A7-58B4AD85BDAC}" srcOrd="9" destOrd="0" presId="urn:microsoft.com/office/officeart/2005/8/layout/cycle8"/>
    <dgm:cxn modelId="{ECCF5117-1E10-477D-9559-5C5ECCAC164D}" type="presParOf" srcId="{50B73C20-8720-412A-ABE2-B41B774F189B}" destId="{F113BEB2-4F0E-4611-BCBE-814660A4A7D5}" srcOrd="10" destOrd="0" presId="urn:microsoft.com/office/officeart/2005/8/layout/cycle8"/>
    <dgm:cxn modelId="{15C2D79C-91A3-47CD-8374-199DEC331890}" type="presParOf" srcId="{50B73C20-8720-412A-ABE2-B41B774F189B}" destId="{54C2283A-AC5E-45E9-B06B-8E6497C8CC06}" srcOrd="11" destOrd="0" presId="urn:microsoft.com/office/officeart/2005/8/layout/cycle8"/>
    <dgm:cxn modelId="{D6E4223E-9B2A-4E44-AEAB-45457981423F}" type="presParOf" srcId="{50B73C20-8720-412A-ABE2-B41B774F189B}" destId="{45CD1A6F-7DD7-4DE4-B175-D658CA85DBBD}" srcOrd="12" destOrd="0" presId="urn:microsoft.com/office/officeart/2005/8/layout/cycle8"/>
    <dgm:cxn modelId="{816B34C5-1FCC-4A31-9A69-5F5054EF6618}" type="presParOf" srcId="{50B73C20-8720-412A-ABE2-B41B774F189B}" destId="{BADB538E-E5E0-42D9-8D41-A1BA0A54E760}" srcOrd="13" destOrd="0" presId="urn:microsoft.com/office/officeart/2005/8/layout/cycle8"/>
    <dgm:cxn modelId="{E58EBEFA-592C-400E-B377-C856EA82807F}" type="presParOf" srcId="{50B73C20-8720-412A-ABE2-B41B774F189B}" destId="{91C2630D-E657-4FDB-80ED-2B152AB0CF09}" srcOrd="14" destOrd="0" presId="urn:microsoft.com/office/officeart/2005/8/layout/cycle8"/>
    <dgm:cxn modelId="{CCD18F65-0485-48C6-909E-7BCBB943D79E}" type="presParOf" srcId="{50B73C20-8720-412A-ABE2-B41B774F189B}" destId="{49429826-AA5F-47CA-B11A-ABD6DE54C821}" srcOrd="15" destOrd="0" presId="urn:microsoft.com/office/officeart/2005/8/layout/cycle8"/>
    <dgm:cxn modelId="{63846FA1-5D85-42C9-933E-037704582F50}" type="presParOf" srcId="{50B73C20-8720-412A-ABE2-B41B774F189B}" destId="{3B487735-59B4-41E9-BDAB-5D244BF18F68}" srcOrd="16" destOrd="0" presId="urn:microsoft.com/office/officeart/2005/8/layout/cycle8"/>
    <dgm:cxn modelId="{D4A25B8E-ECDA-4E18-8745-075786C360BE}" type="presParOf" srcId="{50B73C20-8720-412A-ABE2-B41B774F189B}" destId="{939A2975-E45D-4D75-835C-838DA7CA4783}" srcOrd="17" destOrd="0" presId="urn:microsoft.com/office/officeart/2005/8/layout/cycle8"/>
    <dgm:cxn modelId="{D9F9CDC3-0A72-4389-BC90-F9E89F90FB55}" type="presParOf" srcId="{50B73C20-8720-412A-ABE2-B41B774F189B}" destId="{76229039-77BD-4536-8D9F-CEC0D2D14777}" srcOrd="18" destOrd="0" presId="urn:microsoft.com/office/officeart/2005/8/layout/cycle8"/>
    <dgm:cxn modelId="{B6377646-4E5F-4A6C-8830-F8F204A6839B}" type="presParOf" srcId="{50B73C20-8720-412A-ABE2-B41B774F189B}" destId="{85604DE5-89B7-4180-B562-F4BF7B9539D2}" srcOrd="19" destOrd="0" presId="urn:microsoft.com/office/officeart/2005/8/layout/cycle8"/>
    <dgm:cxn modelId="{6F3AA099-86CA-4C4C-A96A-80F24A60A4FF}" type="presParOf" srcId="{50B73C20-8720-412A-ABE2-B41B774F189B}" destId="{1B3C0182-CF0B-417D-8862-5551CF080ABD}" srcOrd="20" destOrd="0" presId="urn:microsoft.com/office/officeart/2005/8/layout/cycle8"/>
    <dgm:cxn modelId="{5A889218-F07E-4117-9BF5-4D3C479D9E0F}" type="presParOf" srcId="{50B73C20-8720-412A-ABE2-B41B774F189B}" destId="{943B39FA-B7B3-4946-B395-D611843A2FD5}" srcOrd="21" destOrd="0" presId="urn:microsoft.com/office/officeart/2005/8/layout/cycle8"/>
    <dgm:cxn modelId="{DF53E29A-B27D-4573-A778-472B14395646}" type="presParOf" srcId="{50B73C20-8720-412A-ABE2-B41B774F189B}" destId="{F382579C-1F35-4CBE-B203-942B20126A0F}" srcOrd="22" destOrd="0" presId="urn:microsoft.com/office/officeart/2005/8/layout/cycle8"/>
    <dgm:cxn modelId="{5AC306C3-10BC-426E-8737-A1813C15BCD0}" type="presParOf" srcId="{50B73C20-8720-412A-ABE2-B41B774F189B}" destId="{CDF1F5E0-2273-4303-AC97-73925993329B}" srcOrd="23" destOrd="0" presId="urn:microsoft.com/office/officeart/2005/8/layout/cycle8"/>
    <dgm:cxn modelId="{F6E7CDAB-577A-4E47-87DF-7F49B00FF327}" type="presParOf" srcId="{50B73C20-8720-412A-ABE2-B41B774F189B}" destId="{578C926A-45BB-4DF8-A8E0-D69C701E431E}" srcOrd="2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2C900F-4DD0-4117-8F92-0AAA316E3167}"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01B1AC05-85FE-4B02-8A01-4E9DBED75A3E}">
      <dgm:prSet phldrT="[Text]" phldr="0" custT="1"/>
      <dgm:spPr>
        <a:solidFill>
          <a:srgbClr val="00AF74"/>
        </a:solidFill>
      </dgm:spPr>
      <dgm:t>
        <a:bodyPr/>
        <a:lstStyle/>
        <a:p>
          <a:pPr marL="0" lvl="0" indent="0" algn="ctr" defTabSz="666750">
            <a:lnSpc>
              <a:spcPct val="90000"/>
            </a:lnSpc>
            <a:spcBef>
              <a:spcPct val="0"/>
            </a:spcBef>
            <a:spcAft>
              <a:spcPct val="35000"/>
            </a:spcAft>
            <a:buNone/>
          </a:pPr>
          <a:r>
            <a:rPr lang="en-US" sz="1500" b="1" kern="1200" noProof="0">
              <a:solidFill>
                <a:prstClr val="white"/>
              </a:solidFill>
              <a:latin typeface="Trebuchet MS" panose="020B0603020202020204" pitchFamily="34" charset="0"/>
              <a:ea typeface="+mn-ea"/>
              <a:cs typeface="+mn-cs"/>
            </a:rPr>
            <a:t>0: highly capable</a:t>
          </a:r>
        </a:p>
      </dgm:t>
    </dgm:pt>
    <dgm:pt modelId="{30119C80-5093-442C-9299-4994CAD92AB7}" type="parTrans" cxnId="{BD17F76D-DB05-4AD3-935F-F96F0375E7D3}">
      <dgm:prSet/>
      <dgm:spPr/>
      <dgm:t>
        <a:bodyPr/>
        <a:lstStyle/>
        <a:p>
          <a:endParaRPr lang="en-US" b="1">
            <a:latin typeface="Trebuchet MS" panose="020B0603020202020204" pitchFamily="34" charset="0"/>
          </a:endParaRPr>
        </a:p>
      </dgm:t>
    </dgm:pt>
    <dgm:pt modelId="{D87897B2-7C2C-469B-8904-74B2C1E9C34A}" type="sibTrans" cxnId="{BD17F76D-DB05-4AD3-935F-F96F0375E7D3}">
      <dgm:prSet/>
      <dgm:spPr/>
      <dgm:t>
        <a:bodyPr/>
        <a:lstStyle/>
        <a:p>
          <a:endParaRPr lang="en-US" b="1">
            <a:latin typeface="Trebuchet MS" panose="020B0603020202020204" pitchFamily="34" charset="0"/>
          </a:endParaRPr>
        </a:p>
      </dgm:t>
    </dgm:pt>
    <dgm:pt modelId="{300EEF89-401C-4638-915A-8E86C18B8440}">
      <dgm:prSet phldrT="[Text]" phldr="0"/>
      <dgm:spPr>
        <a:solidFill>
          <a:srgbClr val="92D050"/>
        </a:solidFill>
      </dgm:spPr>
      <dgm:t>
        <a:bodyPr/>
        <a:lstStyle/>
        <a:p>
          <a:r>
            <a:rPr lang="en-US" b="1" noProof="0">
              <a:latin typeface="Trebuchet MS" panose="020B0603020202020204" pitchFamily="34" charset="0"/>
            </a:rPr>
            <a:t>0.02 – 0.05: Minor rework</a:t>
          </a:r>
        </a:p>
      </dgm:t>
    </dgm:pt>
    <dgm:pt modelId="{B968449F-FB43-4869-9AB5-2F796F0CABF4}" type="parTrans" cxnId="{A3512A13-9717-498C-A42D-C082019DE671}">
      <dgm:prSet/>
      <dgm:spPr/>
      <dgm:t>
        <a:bodyPr/>
        <a:lstStyle/>
        <a:p>
          <a:endParaRPr lang="en-US" b="1">
            <a:latin typeface="Trebuchet MS" panose="020B0603020202020204" pitchFamily="34" charset="0"/>
          </a:endParaRPr>
        </a:p>
      </dgm:t>
    </dgm:pt>
    <dgm:pt modelId="{95B6189E-2035-4C92-9164-941CB10E1C8B}" type="sibTrans" cxnId="{A3512A13-9717-498C-A42D-C082019DE671}">
      <dgm:prSet/>
      <dgm:spPr/>
      <dgm:t>
        <a:bodyPr/>
        <a:lstStyle/>
        <a:p>
          <a:endParaRPr lang="en-US" b="1">
            <a:latin typeface="Trebuchet MS" panose="020B0603020202020204" pitchFamily="34" charset="0"/>
          </a:endParaRPr>
        </a:p>
      </dgm:t>
    </dgm:pt>
    <dgm:pt modelId="{BD597474-9DBD-43F0-83A9-FF9BC4C7542A}">
      <dgm:prSet phldrT="[Text]" phldr="0"/>
      <dgm:spPr>
        <a:solidFill>
          <a:schemeClr val="accent6"/>
        </a:solidFill>
      </dgm:spPr>
      <dgm:t>
        <a:bodyPr/>
        <a:lstStyle/>
        <a:p>
          <a:r>
            <a:rPr lang="en-US" b="1" noProof="0">
              <a:latin typeface="Trebuchet MS" panose="020B0603020202020204" pitchFamily="34" charset="0"/>
            </a:rPr>
            <a:t>0.10 – 0.25: Rework burden</a:t>
          </a:r>
        </a:p>
      </dgm:t>
    </dgm:pt>
    <dgm:pt modelId="{C2B6715E-8B6B-4CEA-AB91-50E755C4DFAD}" type="parTrans" cxnId="{44899AEF-CA5D-42EF-9F87-5B0F33EBFA75}">
      <dgm:prSet/>
      <dgm:spPr/>
      <dgm:t>
        <a:bodyPr/>
        <a:lstStyle/>
        <a:p>
          <a:endParaRPr lang="en-US" b="1">
            <a:latin typeface="Trebuchet MS" panose="020B0603020202020204" pitchFamily="34" charset="0"/>
          </a:endParaRPr>
        </a:p>
      </dgm:t>
    </dgm:pt>
    <dgm:pt modelId="{A1E594A3-6C5A-466B-BC61-611B423344D1}" type="sibTrans" cxnId="{44899AEF-CA5D-42EF-9F87-5B0F33EBFA75}">
      <dgm:prSet/>
      <dgm:spPr/>
      <dgm:t>
        <a:bodyPr/>
        <a:lstStyle/>
        <a:p>
          <a:endParaRPr lang="en-US" b="1">
            <a:latin typeface="Trebuchet MS" panose="020B0603020202020204" pitchFamily="34" charset="0"/>
          </a:endParaRPr>
        </a:p>
      </dgm:t>
    </dgm:pt>
    <dgm:pt modelId="{6CF3701E-D8F4-4280-9444-4B764517919E}">
      <dgm:prSet phldrT="[Text]" phldr="0"/>
      <dgm:spPr>
        <a:solidFill>
          <a:schemeClr val="accent3"/>
        </a:solidFill>
      </dgm:spPr>
      <dgm:t>
        <a:bodyPr/>
        <a:lstStyle/>
        <a:p>
          <a:r>
            <a:rPr lang="en-US" b="1" noProof="0">
              <a:latin typeface="Trebuchet MS" panose="020B0603020202020204" pitchFamily="34" charset="0"/>
            </a:rPr>
            <a:t>0.05 – 0.10: Recurring</a:t>
          </a:r>
        </a:p>
        <a:p>
          <a:endParaRPr lang="en-US" b="1" noProof="0">
            <a:latin typeface="Trebuchet MS" panose="020B0603020202020204" pitchFamily="34" charset="0"/>
          </a:endParaRPr>
        </a:p>
      </dgm:t>
    </dgm:pt>
    <dgm:pt modelId="{C1247F8B-89FF-4E9B-A2F0-4FC20CC6A061}" type="parTrans" cxnId="{CE6217E5-406C-4A4C-81A3-E9FCC78C551F}">
      <dgm:prSet/>
      <dgm:spPr/>
      <dgm:t>
        <a:bodyPr/>
        <a:lstStyle/>
        <a:p>
          <a:endParaRPr lang="en-US"/>
        </a:p>
      </dgm:t>
    </dgm:pt>
    <dgm:pt modelId="{48566E39-791F-4648-B035-2107AF3BE162}" type="sibTrans" cxnId="{CE6217E5-406C-4A4C-81A3-E9FCC78C551F}">
      <dgm:prSet/>
      <dgm:spPr/>
      <dgm:t>
        <a:bodyPr/>
        <a:lstStyle/>
        <a:p>
          <a:endParaRPr lang="en-US"/>
        </a:p>
      </dgm:t>
    </dgm:pt>
    <dgm:pt modelId="{551FB3E7-02DE-4F67-9DC4-86243389451D}">
      <dgm:prSet phldrT="[Text]" phldr="0"/>
      <dgm:spPr>
        <a:solidFill>
          <a:schemeClr val="accent6">
            <a:lumMod val="75000"/>
          </a:schemeClr>
        </a:solidFill>
      </dgm:spPr>
      <dgm:t>
        <a:bodyPr/>
        <a:lstStyle/>
        <a:p>
          <a:r>
            <a:rPr lang="en-US" b="1" noProof="0">
              <a:latin typeface="Trebuchet MS" panose="020B0603020202020204" pitchFamily="34" charset="0"/>
            </a:rPr>
            <a:t>0.25 – 0.50: Significant issues</a:t>
          </a:r>
        </a:p>
      </dgm:t>
    </dgm:pt>
    <dgm:pt modelId="{70EB7B71-3FDD-4625-85A6-8E8ACC43847C}" type="parTrans" cxnId="{D8054F78-3819-4BEA-B062-79D195CC39F5}">
      <dgm:prSet/>
      <dgm:spPr/>
      <dgm:t>
        <a:bodyPr/>
        <a:lstStyle/>
        <a:p>
          <a:endParaRPr lang="en-US"/>
        </a:p>
      </dgm:t>
    </dgm:pt>
    <dgm:pt modelId="{534DF319-0F40-40F8-8C9B-E0A570F3DCF6}" type="sibTrans" cxnId="{D8054F78-3819-4BEA-B062-79D195CC39F5}">
      <dgm:prSet/>
      <dgm:spPr/>
      <dgm:t>
        <a:bodyPr/>
        <a:lstStyle/>
        <a:p>
          <a:endParaRPr lang="en-US"/>
        </a:p>
      </dgm:t>
    </dgm:pt>
    <dgm:pt modelId="{310A44A4-6326-4EB2-A28D-8A4B7343BF87}">
      <dgm:prSet phldrT="[Text]" phldr="0"/>
      <dgm:spPr>
        <a:solidFill>
          <a:srgbClr val="FF0000"/>
        </a:solidFill>
      </dgm:spPr>
      <dgm:t>
        <a:bodyPr/>
        <a:lstStyle/>
        <a:p>
          <a:r>
            <a:rPr lang="en-US" b="1" noProof="0">
              <a:latin typeface="Trebuchet MS" panose="020B0603020202020204" pitchFamily="34" charset="0"/>
            </a:rPr>
            <a:t>&gt;50: Systemic Issues</a:t>
          </a:r>
        </a:p>
      </dgm:t>
    </dgm:pt>
    <dgm:pt modelId="{BF964B40-E722-4A29-B587-9F9C0AA78DA3}" type="parTrans" cxnId="{C1D0B0BC-E71C-4A01-940B-7568FC1D76B9}">
      <dgm:prSet/>
      <dgm:spPr/>
      <dgm:t>
        <a:bodyPr/>
        <a:lstStyle/>
        <a:p>
          <a:endParaRPr lang="en-US"/>
        </a:p>
      </dgm:t>
    </dgm:pt>
    <dgm:pt modelId="{98D87754-BA40-4003-ADC2-4C195D3FCA6B}" type="sibTrans" cxnId="{C1D0B0BC-E71C-4A01-940B-7568FC1D76B9}">
      <dgm:prSet/>
      <dgm:spPr/>
      <dgm:t>
        <a:bodyPr/>
        <a:lstStyle/>
        <a:p>
          <a:endParaRPr lang="en-US"/>
        </a:p>
      </dgm:t>
    </dgm:pt>
    <dgm:pt modelId="{A99F3D39-4327-4B46-9B46-519BD46B0B97}" type="pres">
      <dgm:prSet presAssocID="{D92C900F-4DD0-4117-8F92-0AAA316E3167}" presName="Name0" presStyleCnt="0">
        <dgm:presLayoutVars>
          <dgm:dir/>
          <dgm:animLvl val="lvl"/>
          <dgm:resizeHandles val="exact"/>
        </dgm:presLayoutVars>
      </dgm:prSet>
      <dgm:spPr/>
    </dgm:pt>
    <dgm:pt modelId="{C758E833-EDFE-4AC3-9E16-BD50D7461B61}" type="pres">
      <dgm:prSet presAssocID="{01B1AC05-85FE-4B02-8A01-4E9DBED75A3E}" presName="parTxOnly" presStyleLbl="node1" presStyleIdx="0" presStyleCnt="6">
        <dgm:presLayoutVars>
          <dgm:chMax val="0"/>
          <dgm:chPref val="0"/>
          <dgm:bulletEnabled val="1"/>
        </dgm:presLayoutVars>
      </dgm:prSet>
      <dgm:spPr/>
    </dgm:pt>
    <dgm:pt modelId="{E7D7C02A-D526-4BC2-8958-BEB02ADEE07C}" type="pres">
      <dgm:prSet presAssocID="{D87897B2-7C2C-469B-8904-74B2C1E9C34A}" presName="parTxOnlySpace" presStyleCnt="0"/>
      <dgm:spPr/>
    </dgm:pt>
    <dgm:pt modelId="{BE485AA9-5376-42C4-88BB-2F292A57EC4A}" type="pres">
      <dgm:prSet presAssocID="{300EEF89-401C-4638-915A-8E86C18B8440}" presName="parTxOnly" presStyleLbl="node1" presStyleIdx="1" presStyleCnt="6">
        <dgm:presLayoutVars>
          <dgm:chMax val="0"/>
          <dgm:chPref val="0"/>
          <dgm:bulletEnabled val="1"/>
        </dgm:presLayoutVars>
      </dgm:prSet>
      <dgm:spPr/>
    </dgm:pt>
    <dgm:pt modelId="{74549782-C3E2-4E27-B153-B5EED6019111}" type="pres">
      <dgm:prSet presAssocID="{95B6189E-2035-4C92-9164-941CB10E1C8B}" presName="parTxOnlySpace" presStyleCnt="0"/>
      <dgm:spPr/>
    </dgm:pt>
    <dgm:pt modelId="{42A44A51-791D-4713-AB88-47E6E267075F}" type="pres">
      <dgm:prSet presAssocID="{6CF3701E-D8F4-4280-9444-4B764517919E}" presName="parTxOnly" presStyleLbl="node1" presStyleIdx="2" presStyleCnt="6">
        <dgm:presLayoutVars>
          <dgm:chMax val="0"/>
          <dgm:chPref val="0"/>
          <dgm:bulletEnabled val="1"/>
        </dgm:presLayoutVars>
      </dgm:prSet>
      <dgm:spPr/>
    </dgm:pt>
    <dgm:pt modelId="{E27275C2-A8FF-40DE-BEF5-AE2AA5711B91}" type="pres">
      <dgm:prSet presAssocID="{48566E39-791F-4648-B035-2107AF3BE162}" presName="parTxOnlySpace" presStyleCnt="0"/>
      <dgm:spPr/>
    </dgm:pt>
    <dgm:pt modelId="{B6B9EF45-189A-4071-AD6E-30C13AF3B271}" type="pres">
      <dgm:prSet presAssocID="{BD597474-9DBD-43F0-83A9-FF9BC4C7542A}" presName="parTxOnly" presStyleLbl="node1" presStyleIdx="3" presStyleCnt="6">
        <dgm:presLayoutVars>
          <dgm:chMax val="0"/>
          <dgm:chPref val="0"/>
          <dgm:bulletEnabled val="1"/>
        </dgm:presLayoutVars>
      </dgm:prSet>
      <dgm:spPr/>
    </dgm:pt>
    <dgm:pt modelId="{ECE28E09-D278-4853-A597-A7C52AF278E6}" type="pres">
      <dgm:prSet presAssocID="{A1E594A3-6C5A-466B-BC61-611B423344D1}" presName="parTxOnlySpace" presStyleCnt="0"/>
      <dgm:spPr/>
    </dgm:pt>
    <dgm:pt modelId="{FE9AAA99-0B51-4003-96C6-041661FD8DF2}" type="pres">
      <dgm:prSet presAssocID="{551FB3E7-02DE-4F67-9DC4-86243389451D}" presName="parTxOnly" presStyleLbl="node1" presStyleIdx="4" presStyleCnt="6">
        <dgm:presLayoutVars>
          <dgm:chMax val="0"/>
          <dgm:chPref val="0"/>
          <dgm:bulletEnabled val="1"/>
        </dgm:presLayoutVars>
      </dgm:prSet>
      <dgm:spPr/>
    </dgm:pt>
    <dgm:pt modelId="{AF8A5A95-9F18-4284-95D0-41BAD9AE24F1}" type="pres">
      <dgm:prSet presAssocID="{534DF319-0F40-40F8-8C9B-E0A570F3DCF6}" presName="parTxOnlySpace" presStyleCnt="0"/>
      <dgm:spPr/>
    </dgm:pt>
    <dgm:pt modelId="{921492DF-6C1E-4CD9-AF18-CBE1ADC23641}" type="pres">
      <dgm:prSet presAssocID="{310A44A4-6326-4EB2-A28D-8A4B7343BF87}" presName="parTxOnly" presStyleLbl="node1" presStyleIdx="5" presStyleCnt="6">
        <dgm:presLayoutVars>
          <dgm:chMax val="0"/>
          <dgm:chPref val="0"/>
          <dgm:bulletEnabled val="1"/>
        </dgm:presLayoutVars>
      </dgm:prSet>
      <dgm:spPr/>
    </dgm:pt>
  </dgm:ptLst>
  <dgm:cxnLst>
    <dgm:cxn modelId="{A1033E05-A4F4-4323-AA37-E9A402B34CE8}" type="presOf" srcId="{D92C900F-4DD0-4117-8F92-0AAA316E3167}" destId="{A99F3D39-4327-4B46-9B46-519BD46B0B97}" srcOrd="0" destOrd="0" presId="urn:microsoft.com/office/officeart/2005/8/layout/chevron1"/>
    <dgm:cxn modelId="{A3512A13-9717-498C-A42D-C082019DE671}" srcId="{D92C900F-4DD0-4117-8F92-0AAA316E3167}" destId="{300EEF89-401C-4638-915A-8E86C18B8440}" srcOrd="1" destOrd="0" parTransId="{B968449F-FB43-4869-9AB5-2F796F0CABF4}" sibTransId="{95B6189E-2035-4C92-9164-941CB10E1C8B}"/>
    <dgm:cxn modelId="{7BEA111B-D8B4-4EC0-BC9E-3F32C736EF82}" type="presOf" srcId="{01B1AC05-85FE-4B02-8A01-4E9DBED75A3E}" destId="{C758E833-EDFE-4AC3-9E16-BD50D7461B61}" srcOrd="0" destOrd="0" presId="urn:microsoft.com/office/officeart/2005/8/layout/chevron1"/>
    <dgm:cxn modelId="{E9B95067-1D46-4DEC-A91C-CD4E7AEACBCD}" type="presOf" srcId="{300EEF89-401C-4638-915A-8E86C18B8440}" destId="{BE485AA9-5376-42C4-88BB-2F292A57EC4A}" srcOrd="0" destOrd="0" presId="urn:microsoft.com/office/officeart/2005/8/layout/chevron1"/>
    <dgm:cxn modelId="{BD17F76D-DB05-4AD3-935F-F96F0375E7D3}" srcId="{D92C900F-4DD0-4117-8F92-0AAA316E3167}" destId="{01B1AC05-85FE-4B02-8A01-4E9DBED75A3E}" srcOrd="0" destOrd="0" parTransId="{30119C80-5093-442C-9299-4994CAD92AB7}" sibTransId="{D87897B2-7C2C-469B-8904-74B2C1E9C34A}"/>
    <dgm:cxn modelId="{C1CF0954-4655-4FB5-ADCC-4637AA9ED086}" type="presOf" srcId="{310A44A4-6326-4EB2-A28D-8A4B7343BF87}" destId="{921492DF-6C1E-4CD9-AF18-CBE1ADC23641}" srcOrd="0" destOrd="0" presId="urn:microsoft.com/office/officeart/2005/8/layout/chevron1"/>
    <dgm:cxn modelId="{D8054F78-3819-4BEA-B062-79D195CC39F5}" srcId="{D92C900F-4DD0-4117-8F92-0AAA316E3167}" destId="{551FB3E7-02DE-4F67-9DC4-86243389451D}" srcOrd="4" destOrd="0" parTransId="{70EB7B71-3FDD-4625-85A6-8E8ACC43847C}" sibTransId="{534DF319-0F40-40F8-8C9B-E0A570F3DCF6}"/>
    <dgm:cxn modelId="{97140F95-1C9F-4299-AEA8-B809B801679C}" type="presOf" srcId="{551FB3E7-02DE-4F67-9DC4-86243389451D}" destId="{FE9AAA99-0B51-4003-96C6-041661FD8DF2}" srcOrd="0" destOrd="0" presId="urn:microsoft.com/office/officeart/2005/8/layout/chevron1"/>
    <dgm:cxn modelId="{B7180C96-FB66-41FE-8658-DFBFF5FCD51F}" type="presOf" srcId="{BD597474-9DBD-43F0-83A9-FF9BC4C7542A}" destId="{B6B9EF45-189A-4071-AD6E-30C13AF3B271}" srcOrd="0" destOrd="0" presId="urn:microsoft.com/office/officeart/2005/8/layout/chevron1"/>
    <dgm:cxn modelId="{C1D0B0BC-E71C-4A01-940B-7568FC1D76B9}" srcId="{D92C900F-4DD0-4117-8F92-0AAA316E3167}" destId="{310A44A4-6326-4EB2-A28D-8A4B7343BF87}" srcOrd="5" destOrd="0" parTransId="{BF964B40-E722-4A29-B587-9F9C0AA78DA3}" sibTransId="{98D87754-BA40-4003-ADC2-4C195D3FCA6B}"/>
    <dgm:cxn modelId="{D0BB82C6-9A21-4D05-B446-3BD2ECA3BB6F}" type="presOf" srcId="{6CF3701E-D8F4-4280-9444-4B764517919E}" destId="{42A44A51-791D-4713-AB88-47E6E267075F}" srcOrd="0" destOrd="0" presId="urn:microsoft.com/office/officeart/2005/8/layout/chevron1"/>
    <dgm:cxn modelId="{CE6217E5-406C-4A4C-81A3-E9FCC78C551F}" srcId="{D92C900F-4DD0-4117-8F92-0AAA316E3167}" destId="{6CF3701E-D8F4-4280-9444-4B764517919E}" srcOrd="2" destOrd="0" parTransId="{C1247F8B-89FF-4E9B-A2F0-4FC20CC6A061}" sibTransId="{48566E39-791F-4648-B035-2107AF3BE162}"/>
    <dgm:cxn modelId="{44899AEF-CA5D-42EF-9F87-5B0F33EBFA75}" srcId="{D92C900F-4DD0-4117-8F92-0AAA316E3167}" destId="{BD597474-9DBD-43F0-83A9-FF9BC4C7542A}" srcOrd="3" destOrd="0" parTransId="{C2B6715E-8B6B-4CEA-AB91-50E755C4DFAD}" sibTransId="{A1E594A3-6C5A-466B-BC61-611B423344D1}"/>
    <dgm:cxn modelId="{18E7AF55-6FC3-400B-95A7-F23C649E8B66}" type="presParOf" srcId="{A99F3D39-4327-4B46-9B46-519BD46B0B97}" destId="{C758E833-EDFE-4AC3-9E16-BD50D7461B61}" srcOrd="0" destOrd="0" presId="urn:microsoft.com/office/officeart/2005/8/layout/chevron1"/>
    <dgm:cxn modelId="{B612BD27-97BA-48E9-A936-FD792551DA2F}" type="presParOf" srcId="{A99F3D39-4327-4B46-9B46-519BD46B0B97}" destId="{E7D7C02A-D526-4BC2-8958-BEB02ADEE07C}" srcOrd="1" destOrd="0" presId="urn:microsoft.com/office/officeart/2005/8/layout/chevron1"/>
    <dgm:cxn modelId="{5EC5914F-3556-4528-A331-534F0B647A63}" type="presParOf" srcId="{A99F3D39-4327-4B46-9B46-519BD46B0B97}" destId="{BE485AA9-5376-42C4-88BB-2F292A57EC4A}" srcOrd="2" destOrd="0" presId="urn:microsoft.com/office/officeart/2005/8/layout/chevron1"/>
    <dgm:cxn modelId="{907B0FAC-A7D4-4EA4-9DC4-AE12EB52843F}" type="presParOf" srcId="{A99F3D39-4327-4B46-9B46-519BD46B0B97}" destId="{74549782-C3E2-4E27-B153-B5EED6019111}" srcOrd="3" destOrd="0" presId="urn:microsoft.com/office/officeart/2005/8/layout/chevron1"/>
    <dgm:cxn modelId="{53438DA2-E19E-49A9-BB8F-CC211C1464A8}" type="presParOf" srcId="{A99F3D39-4327-4B46-9B46-519BD46B0B97}" destId="{42A44A51-791D-4713-AB88-47E6E267075F}" srcOrd="4" destOrd="0" presId="urn:microsoft.com/office/officeart/2005/8/layout/chevron1"/>
    <dgm:cxn modelId="{55AE81F7-8AF9-4396-B5A5-B96D6221719F}" type="presParOf" srcId="{A99F3D39-4327-4B46-9B46-519BD46B0B97}" destId="{E27275C2-A8FF-40DE-BEF5-AE2AA5711B91}" srcOrd="5" destOrd="0" presId="urn:microsoft.com/office/officeart/2005/8/layout/chevron1"/>
    <dgm:cxn modelId="{FBB5E576-28FE-4C5A-99DB-01EF25F9BA9C}" type="presParOf" srcId="{A99F3D39-4327-4B46-9B46-519BD46B0B97}" destId="{B6B9EF45-189A-4071-AD6E-30C13AF3B271}" srcOrd="6" destOrd="0" presId="urn:microsoft.com/office/officeart/2005/8/layout/chevron1"/>
    <dgm:cxn modelId="{9658EA01-B2F9-4B9B-A8B4-FA49CAA1301F}" type="presParOf" srcId="{A99F3D39-4327-4B46-9B46-519BD46B0B97}" destId="{ECE28E09-D278-4853-A597-A7C52AF278E6}" srcOrd="7" destOrd="0" presId="urn:microsoft.com/office/officeart/2005/8/layout/chevron1"/>
    <dgm:cxn modelId="{A0E7C4FB-F264-42C7-BBCD-87FBB6B0004E}" type="presParOf" srcId="{A99F3D39-4327-4B46-9B46-519BD46B0B97}" destId="{FE9AAA99-0B51-4003-96C6-041661FD8DF2}" srcOrd="8" destOrd="0" presId="urn:microsoft.com/office/officeart/2005/8/layout/chevron1"/>
    <dgm:cxn modelId="{9D36A022-4F82-4F0E-8847-437635B34E33}" type="presParOf" srcId="{A99F3D39-4327-4B46-9B46-519BD46B0B97}" destId="{AF8A5A95-9F18-4284-95D0-41BAD9AE24F1}" srcOrd="9" destOrd="0" presId="urn:microsoft.com/office/officeart/2005/8/layout/chevron1"/>
    <dgm:cxn modelId="{F45A7B37-B8C0-4932-B01E-41EC6D876FA1}" type="presParOf" srcId="{A99F3D39-4327-4B46-9B46-519BD46B0B97}" destId="{921492DF-6C1E-4CD9-AF18-CBE1ADC23641}"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35FE3-3F71-44C2-A46B-539B833DE24C}">
      <dsp:nvSpPr>
        <dsp:cNvPr id="0" name=""/>
        <dsp:cNvSpPr/>
      </dsp:nvSpPr>
      <dsp:spPr>
        <a:xfrm>
          <a:off x="307888" y="153664"/>
          <a:ext cx="2085273" cy="2085273"/>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t" anchorCtr="0">
          <a:noAutofit/>
        </a:bodyPr>
        <a:lstStyle/>
        <a:p>
          <a:pPr marL="0" lvl="0" indent="0" algn="l" defTabSz="355600">
            <a:lnSpc>
              <a:spcPct val="90000"/>
            </a:lnSpc>
            <a:spcBef>
              <a:spcPct val="0"/>
            </a:spcBef>
            <a:spcAft>
              <a:spcPct val="35000"/>
            </a:spcAft>
            <a:buNone/>
          </a:pPr>
          <a:r>
            <a:rPr lang="en-US" sz="800" kern="1200" noProof="0">
              <a:solidFill>
                <a:srgbClr val="FFFFFF"/>
              </a:solidFill>
              <a:latin typeface="Arial" panose="020B0604020202020204" pitchFamily="34" charset="0"/>
              <a:ea typeface="+mn-ea"/>
              <a:cs typeface="Arial" panose="020B0604020202020204" pitchFamily="34" charset="0"/>
            </a:rPr>
            <a:t>Define</a:t>
          </a:r>
        </a:p>
        <a:p>
          <a:pPr marL="57150" lvl="1" indent="-57150" algn="l" defTabSz="266700">
            <a:lnSpc>
              <a:spcPct val="90000"/>
            </a:lnSpc>
            <a:spcBef>
              <a:spcPct val="0"/>
            </a:spcBef>
            <a:spcAft>
              <a:spcPct val="15000"/>
            </a:spcAft>
            <a:buChar char="•"/>
          </a:pPr>
          <a:endParaRPr lang="en-US" sz="600" kern="1200" noProof="0">
            <a:solidFill>
              <a:srgbClr val="FFFFFF"/>
            </a:solidFill>
            <a:latin typeface="Trebuchet MS"/>
            <a:ea typeface="+mn-ea"/>
            <a:cs typeface="+mn-cs"/>
          </a:endParaRPr>
        </a:p>
      </dsp:txBody>
      <dsp:txXfrm>
        <a:off x="1493864" y="569628"/>
        <a:ext cx="473950" cy="315966"/>
      </dsp:txXfrm>
    </dsp:sp>
    <dsp:sp modelId="{EDCE5F9B-1D88-4D8D-9083-55DD36D07A64}">
      <dsp:nvSpPr>
        <dsp:cNvPr id="0" name=""/>
        <dsp:cNvSpPr/>
      </dsp:nvSpPr>
      <dsp:spPr>
        <a:xfrm>
          <a:off x="325762" y="209272"/>
          <a:ext cx="2085273" cy="2085273"/>
        </a:xfrm>
        <a:prstGeom prst="pie">
          <a:avLst>
            <a:gd name="adj1" fmla="val 20520000"/>
            <a:gd name="adj2" fmla="val 3240000"/>
          </a:avLst>
        </a:prstGeom>
        <a:solidFill>
          <a:srgbClr val="27AAE1"/>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Measure</a:t>
          </a:r>
        </a:p>
      </dsp:txBody>
      <dsp:txXfrm>
        <a:off x="1759664" y="1234753"/>
        <a:ext cx="438843" cy="351073"/>
      </dsp:txXfrm>
    </dsp:sp>
    <dsp:sp modelId="{A5E52B60-80D4-45E8-AB32-72C8832C4F04}">
      <dsp:nvSpPr>
        <dsp:cNvPr id="0" name=""/>
        <dsp:cNvSpPr/>
      </dsp:nvSpPr>
      <dsp:spPr>
        <a:xfrm>
          <a:off x="278595" y="243530"/>
          <a:ext cx="2085273" cy="2085273"/>
        </a:xfrm>
        <a:prstGeom prst="pie">
          <a:avLst>
            <a:gd name="adj1" fmla="val 3240000"/>
            <a:gd name="adj2" fmla="val 7560000"/>
          </a:avLst>
        </a:prstGeom>
        <a:solidFill>
          <a:srgbClr val="EC008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Analyze</a:t>
          </a:r>
        </a:p>
        <a:p>
          <a:pPr marL="0" lvl="0" indent="0" algn="ctr" defTabSz="355600">
            <a:lnSpc>
              <a:spcPct val="90000"/>
            </a:lnSpc>
            <a:spcBef>
              <a:spcPct val="0"/>
            </a:spcBef>
            <a:spcAft>
              <a:spcPct val="35000"/>
            </a:spcAft>
            <a:buNone/>
          </a:pPr>
          <a:endParaRPr lang="en-US" sz="800" kern="1200" noProof="0">
            <a:solidFill>
              <a:srgbClr val="FFFFFF"/>
            </a:solidFill>
            <a:latin typeface="Trebuchet MS"/>
            <a:ea typeface="+mn-ea"/>
            <a:cs typeface="+mn-cs"/>
          </a:endParaRPr>
        </a:p>
      </dsp:txBody>
      <dsp:txXfrm>
        <a:off x="1110587" y="1788167"/>
        <a:ext cx="421288" cy="386180"/>
      </dsp:txXfrm>
    </dsp:sp>
    <dsp:sp modelId="{45CD1A6F-7DD7-4DE4-B175-D658CA85DBBD}">
      <dsp:nvSpPr>
        <dsp:cNvPr id="0" name=""/>
        <dsp:cNvSpPr/>
      </dsp:nvSpPr>
      <dsp:spPr>
        <a:xfrm>
          <a:off x="231428" y="209272"/>
          <a:ext cx="2085273" cy="2085273"/>
        </a:xfrm>
        <a:prstGeom prst="pie">
          <a:avLst>
            <a:gd name="adj1" fmla="val 7560000"/>
            <a:gd name="adj2" fmla="val 11880000"/>
          </a:avLst>
        </a:prstGeom>
        <a:solidFill>
          <a:srgbClr val="FBBA00"/>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Improve</a:t>
          </a:r>
        </a:p>
      </dsp:txBody>
      <dsp:txXfrm>
        <a:off x="443956" y="1234753"/>
        <a:ext cx="438843" cy="351073"/>
      </dsp:txXfrm>
    </dsp:sp>
    <dsp:sp modelId="{3B487735-59B4-41E9-BDAB-5D244BF18F68}">
      <dsp:nvSpPr>
        <dsp:cNvPr id="0" name=""/>
        <dsp:cNvSpPr/>
      </dsp:nvSpPr>
      <dsp:spPr>
        <a:xfrm>
          <a:off x="249302" y="153664"/>
          <a:ext cx="2085273" cy="2085273"/>
        </a:xfrm>
        <a:prstGeom prst="pie">
          <a:avLst>
            <a:gd name="adj1" fmla="val 11880000"/>
            <a:gd name="adj2" fmla="val 16200000"/>
          </a:avLst>
        </a:prstGeom>
        <a:solidFill>
          <a:srgbClr val="7030A0"/>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Control</a:t>
          </a:r>
        </a:p>
        <a:p>
          <a:pPr marL="0" lvl="0" indent="0" algn="ctr" defTabSz="355600">
            <a:lnSpc>
              <a:spcPct val="90000"/>
            </a:lnSpc>
            <a:spcBef>
              <a:spcPct val="0"/>
            </a:spcBef>
            <a:spcAft>
              <a:spcPct val="35000"/>
            </a:spcAft>
            <a:buNone/>
          </a:pPr>
          <a:endParaRPr lang="en-US" sz="800" kern="1200" noProof="0">
            <a:solidFill>
              <a:srgbClr val="FFFFFF"/>
            </a:solidFill>
            <a:latin typeface="Trebuchet MS"/>
            <a:ea typeface="+mn-ea"/>
            <a:cs typeface="+mn-cs"/>
          </a:endParaRPr>
        </a:p>
      </dsp:txBody>
      <dsp:txXfrm>
        <a:off x="674649" y="569628"/>
        <a:ext cx="473950" cy="315966"/>
      </dsp:txXfrm>
    </dsp:sp>
    <dsp:sp modelId="{1B3C0182-CF0B-417D-8862-5551CF080ABD}">
      <dsp:nvSpPr>
        <dsp:cNvPr id="0" name=""/>
        <dsp:cNvSpPr/>
      </dsp:nvSpPr>
      <dsp:spPr>
        <a:xfrm>
          <a:off x="178702" y="24576"/>
          <a:ext cx="2343449" cy="2343449"/>
        </a:xfrm>
        <a:prstGeom prst="circularArrow">
          <a:avLst>
            <a:gd name="adj1" fmla="val 5085"/>
            <a:gd name="adj2" fmla="val 327528"/>
            <a:gd name="adj3" fmla="val 20192361"/>
            <a:gd name="adj4" fmla="val 16200324"/>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943B39FA-B7B3-4946-B395-D611843A2FD5}">
      <dsp:nvSpPr>
        <dsp:cNvPr id="0" name=""/>
        <dsp:cNvSpPr/>
      </dsp:nvSpPr>
      <dsp:spPr>
        <a:xfrm>
          <a:off x="196818" y="80165"/>
          <a:ext cx="2343449" cy="2343449"/>
        </a:xfrm>
        <a:prstGeom prst="circularArrow">
          <a:avLst>
            <a:gd name="adj1" fmla="val 5085"/>
            <a:gd name="adj2" fmla="val 327528"/>
            <a:gd name="adj3" fmla="val 2912753"/>
            <a:gd name="adj4" fmla="val 20519953"/>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F382579C-1F35-4CBE-B203-942B20126A0F}">
      <dsp:nvSpPr>
        <dsp:cNvPr id="0" name=""/>
        <dsp:cNvSpPr/>
      </dsp:nvSpPr>
      <dsp:spPr>
        <a:xfrm>
          <a:off x="149507" y="114528"/>
          <a:ext cx="2343449" cy="2343449"/>
        </a:xfrm>
        <a:prstGeom prst="circularArrow">
          <a:avLst>
            <a:gd name="adj1" fmla="val 5085"/>
            <a:gd name="adj2" fmla="val 327528"/>
            <a:gd name="adj3" fmla="val 7232777"/>
            <a:gd name="adj4" fmla="val 3239695"/>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CDF1F5E0-2273-4303-AC97-73925993329B}">
      <dsp:nvSpPr>
        <dsp:cNvPr id="0" name=""/>
        <dsp:cNvSpPr/>
      </dsp:nvSpPr>
      <dsp:spPr>
        <a:xfrm>
          <a:off x="102196" y="80165"/>
          <a:ext cx="2343449" cy="2343449"/>
        </a:xfrm>
        <a:prstGeom prst="circularArrow">
          <a:avLst>
            <a:gd name="adj1" fmla="val 5085"/>
            <a:gd name="adj2" fmla="val 327528"/>
            <a:gd name="adj3" fmla="val 11552519"/>
            <a:gd name="adj4" fmla="val 7559718"/>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578C926A-45BB-4DF8-A8E0-D69C701E431E}">
      <dsp:nvSpPr>
        <dsp:cNvPr id="0" name=""/>
        <dsp:cNvSpPr/>
      </dsp:nvSpPr>
      <dsp:spPr>
        <a:xfrm>
          <a:off x="120312" y="24576"/>
          <a:ext cx="2343449" cy="2343449"/>
        </a:xfrm>
        <a:prstGeom prst="circularArrow">
          <a:avLst>
            <a:gd name="adj1" fmla="val 5085"/>
            <a:gd name="adj2" fmla="val 327528"/>
            <a:gd name="adj3" fmla="val 15872148"/>
            <a:gd name="adj4" fmla="val 11880111"/>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35FE3-3F71-44C2-A46B-539B833DE24C}">
      <dsp:nvSpPr>
        <dsp:cNvPr id="0" name=""/>
        <dsp:cNvSpPr/>
      </dsp:nvSpPr>
      <dsp:spPr>
        <a:xfrm>
          <a:off x="977794" y="279773"/>
          <a:ext cx="3799690" cy="3799690"/>
        </a:xfrm>
        <a:prstGeom prst="pie">
          <a:avLst>
            <a:gd name="adj1" fmla="val 16200000"/>
            <a:gd name="adj2" fmla="val 20520000"/>
          </a:avLst>
        </a:prstGeom>
        <a:solidFill>
          <a:schemeClr val="bg1"/>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t" anchorCtr="0">
          <a:noAutofit/>
        </a:bodyPr>
        <a:lstStyle/>
        <a:p>
          <a:pPr marL="0" lvl="0" indent="0" algn="l" defTabSz="666750">
            <a:lnSpc>
              <a:spcPct val="90000"/>
            </a:lnSpc>
            <a:spcBef>
              <a:spcPct val="0"/>
            </a:spcBef>
            <a:spcAft>
              <a:spcPct val="35000"/>
            </a:spcAft>
            <a:buNone/>
          </a:pPr>
          <a:r>
            <a:rPr lang="en-US" sz="1500" kern="1200" noProof="0">
              <a:solidFill>
                <a:schemeClr val="tx2"/>
              </a:solidFill>
              <a:latin typeface="Trebuchet MS" panose="020B0603020202020204" pitchFamily="34" charset="0"/>
              <a:ea typeface="+mn-ea"/>
              <a:cs typeface="Arial" panose="020B0604020202020204" pitchFamily="34" charset="0"/>
            </a:rPr>
            <a:t>Define</a:t>
          </a:r>
        </a:p>
        <a:p>
          <a:pPr marL="114300" lvl="1" indent="-114300" algn="l" defTabSz="533400">
            <a:lnSpc>
              <a:spcPct val="90000"/>
            </a:lnSpc>
            <a:spcBef>
              <a:spcPct val="0"/>
            </a:spcBef>
            <a:spcAft>
              <a:spcPct val="15000"/>
            </a:spcAft>
            <a:buChar char="•"/>
          </a:pPr>
          <a:endParaRPr lang="en-US" sz="1200" kern="1200" noProof="0">
            <a:solidFill>
              <a:srgbClr val="FFFFFF"/>
            </a:solidFill>
            <a:latin typeface="Trebuchet MS" panose="020B0603020202020204" pitchFamily="34" charset="0"/>
            <a:ea typeface="+mn-ea"/>
            <a:cs typeface="Arial" panose="020B0604020202020204" pitchFamily="34" charset="0"/>
          </a:endParaRPr>
        </a:p>
      </dsp:txBody>
      <dsp:txXfrm>
        <a:off x="3138825" y="1037722"/>
        <a:ext cx="863611" cy="575739"/>
      </dsp:txXfrm>
    </dsp:sp>
    <dsp:sp modelId="{EDCE5F9B-1D88-4D8D-9083-55DD36D07A64}">
      <dsp:nvSpPr>
        <dsp:cNvPr id="0" name=""/>
        <dsp:cNvSpPr/>
      </dsp:nvSpPr>
      <dsp:spPr>
        <a:xfrm>
          <a:off x="1371258" y="539279"/>
          <a:ext cx="3799690" cy="3799690"/>
        </a:xfrm>
        <a:prstGeom prst="pie">
          <a:avLst>
            <a:gd name="adj1" fmla="val 20520000"/>
            <a:gd name="adj2" fmla="val 3240000"/>
          </a:avLst>
        </a:prstGeom>
        <a:solidFill>
          <a:srgbClr val="00B0F0"/>
        </a:solidFill>
        <a:ln w="25400" cap="flat" cmpd="sng" algn="ctr">
          <a:solidFill>
            <a:srgbClr val="00B0F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noProof="0">
              <a:solidFill>
                <a:schemeClr val="bg1"/>
              </a:solidFill>
              <a:latin typeface="Trebuchet MS" panose="020B0603020202020204" pitchFamily="34" charset="0"/>
              <a:ea typeface="+mn-ea"/>
              <a:cs typeface="+mn-cs"/>
            </a:rPr>
            <a:t>Measure</a:t>
          </a:r>
        </a:p>
      </dsp:txBody>
      <dsp:txXfrm>
        <a:off x="3984050" y="2407863"/>
        <a:ext cx="799638" cy="639712"/>
      </dsp:txXfrm>
    </dsp:sp>
    <dsp:sp modelId="{A5E52B60-80D4-45E8-AB32-72C8832C4F04}">
      <dsp:nvSpPr>
        <dsp:cNvPr id="0" name=""/>
        <dsp:cNvSpPr/>
      </dsp:nvSpPr>
      <dsp:spPr>
        <a:xfrm>
          <a:off x="919554" y="443749"/>
          <a:ext cx="3799690" cy="3799690"/>
        </a:xfrm>
        <a:prstGeom prst="pie">
          <a:avLst>
            <a:gd name="adj1" fmla="val 3240000"/>
            <a:gd name="adj2" fmla="val 756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noProof="0">
              <a:latin typeface="Trebuchet MS" panose="020B0603020202020204" pitchFamily="34" charset="0"/>
              <a:ea typeface="+mn-ea"/>
              <a:cs typeface="+mn-cs"/>
            </a:rPr>
            <a:t>Analyze</a:t>
          </a:r>
        </a:p>
        <a:p>
          <a:pPr marL="0" lvl="0" indent="0" algn="ctr" defTabSz="666750">
            <a:lnSpc>
              <a:spcPct val="90000"/>
            </a:lnSpc>
            <a:spcBef>
              <a:spcPct val="0"/>
            </a:spcBef>
            <a:spcAft>
              <a:spcPct val="35000"/>
            </a:spcAft>
            <a:buNone/>
          </a:pPr>
          <a:endParaRPr lang="en-US" sz="1500" kern="1200" noProof="0">
            <a:latin typeface="Trebuchet MS" panose="020B0603020202020204" pitchFamily="34" charset="0"/>
            <a:ea typeface="+mn-ea"/>
            <a:cs typeface="+mn-cs"/>
          </a:endParaRPr>
        </a:p>
      </dsp:txBody>
      <dsp:txXfrm>
        <a:off x="2435573" y="3258316"/>
        <a:ext cx="767653" cy="703683"/>
      </dsp:txXfrm>
    </dsp:sp>
    <dsp:sp modelId="{45CD1A6F-7DD7-4DE4-B175-D658CA85DBBD}">
      <dsp:nvSpPr>
        <dsp:cNvPr id="0" name=""/>
        <dsp:cNvSpPr/>
      </dsp:nvSpPr>
      <dsp:spPr>
        <a:xfrm>
          <a:off x="833609" y="381326"/>
          <a:ext cx="3799690" cy="3799690"/>
        </a:xfrm>
        <a:prstGeom prst="pie">
          <a:avLst>
            <a:gd name="adj1" fmla="val 7560000"/>
            <a:gd name="adj2" fmla="val 1188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noProof="0">
              <a:latin typeface="Trebuchet MS" panose="020B0603020202020204" pitchFamily="34" charset="0"/>
              <a:ea typeface="+mn-ea"/>
              <a:cs typeface="+mn-cs"/>
            </a:rPr>
            <a:t>Improve</a:t>
          </a:r>
        </a:p>
      </dsp:txBody>
      <dsp:txXfrm>
        <a:off x="1220869" y="2249910"/>
        <a:ext cx="799638" cy="639712"/>
      </dsp:txXfrm>
    </dsp:sp>
    <dsp:sp modelId="{3B487735-59B4-41E9-BDAB-5D244BF18F68}">
      <dsp:nvSpPr>
        <dsp:cNvPr id="0" name=""/>
        <dsp:cNvSpPr/>
      </dsp:nvSpPr>
      <dsp:spPr>
        <a:xfrm>
          <a:off x="866178" y="280000"/>
          <a:ext cx="3799690" cy="3799690"/>
        </a:xfrm>
        <a:prstGeom prst="pie">
          <a:avLst>
            <a:gd name="adj1" fmla="val 11880000"/>
            <a:gd name="adj2" fmla="val 1620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noProof="0">
              <a:latin typeface="Trebuchet MS" panose="020B0603020202020204" pitchFamily="34" charset="0"/>
              <a:ea typeface="+mn-ea"/>
              <a:cs typeface="+mn-cs"/>
            </a:rPr>
            <a:t>Control</a:t>
          </a:r>
        </a:p>
        <a:p>
          <a:pPr marL="0" lvl="0" indent="0" algn="ctr" defTabSz="666750">
            <a:lnSpc>
              <a:spcPct val="90000"/>
            </a:lnSpc>
            <a:spcBef>
              <a:spcPct val="0"/>
            </a:spcBef>
            <a:spcAft>
              <a:spcPct val="35000"/>
            </a:spcAft>
            <a:buNone/>
          </a:pPr>
          <a:endParaRPr lang="en-US" sz="1500" kern="1200" noProof="0">
            <a:latin typeface="Trebuchet MS" panose="020B0603020202020204" pitchFamily="34" charset="0"/>
            <a:ea typeface="+mn-ea"/>
            <a:cs typeface="+mn-cs"/>
          </a:endParaRPr>
        </a:p>
      </dsp:txBody>
      <dsp:txXfrm>
        <a:off x="1641226" y="1037950"/>
        <a:ext cx="863611" cy="575739"/>
      </dsp:txXfrm>
    </dsp:sp>
    <dsp:sp modelId="{1B3C0182-CF0B-417D-8862-5551CF080ABD}">
      <dsp:nvSpPr>
        <dsp:cNvPr id="0" name=""/>
        <dsp:cNvSpPr/>
      </dsp:nvSpPr>
      <dsp:spPr>
        <a:xfrm>
          <a:off x="742397" y="44554"/>
          <a:ext cx="4270128" cy="4270128"/>
        </a:xfrm>
        <a:prstGeom prst="circularArrow">
          <a:avLst>
            <a:gd name="adj1" fmla="val 5085"/>
            <a:gd name="adj2" fmla="val 327528"/>
            <a:gd name="adj3" fmla="val 20192361"/>
            <a:gd name="adj4" fmla="val 16200324"/>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43B39FA-B7B3-4946-B395-D611843A2FD5}">
      <dsp:nvSpPr>
        <dsp:cNvPr id="0" name=""/>
        <dsp:cNvSpPr/>
      </dsp:nvSpPr>
      <dsp:spPr>
        <a:xfrm>
          <a:off x="1136302" y="304026"/>
          <a:ext cx="4270128" cy="4270128"/>
        </a:xfrm>
        <a:prstGeom prst="circularArrow">
          <a:avLst>
            <a:gd name="adj1" fmla="val 5085"/>
            <a:gd name="adj2" fmla="val 327528"/>
            <a:gd name="adj3" fmla="val 2912753"/>
            <a:gd name="adj4" fmla="val 20519953"/>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82579C-1F35-4CBE-B203-942B20126A0F}">
      <dsp:nvSpPr>
        <dsp:cNvPr id="0" name=""/>
        <dsp:cNvSpPr/>
      </dsp:nvSpPr>
      <dsp:spPr>
        <a:xfrm>
          <a:off x="684335" y="208688"/>
          <a:ext cx="4270128" cy="4270128"/>
        </a:xfrm>
        <a:prstGeom prst="circularArrow">
          <a:avLst>
            <a:gd name="adj1" fmla="val 5085"/>
            <a:gd name="adj2" fmla="val 327528"/>
            <a:gd name="adj3" fmla="val 7232777"/>
            <a:gd name="adj4" fmla="val 3239695"/>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DF1F5E0-2273-4303-AC97-73925993329B}">
      <dsp:nvSpPr>
        <dsp:cNvPr id="0" name=""/>
        <dsp:cNvSpPr/>
      </dsp:nvSpPr>
      <dsp:spPr>
        <a:xfrm>
          <a:off x="598127" y="146073"/>
          <a:ext cx="4270128" cy="4270128"/>
        </a:xfrm>
        <a:prstGeom prst="circularArrow">
          <a:avLst>
            <a:gd name="adj1" fmla="val 5085"/>
            <a:gd name="adj2" fmla="val 327528"/>
            <a:gd name="adj3" fmla="val 11552519"/>
            <a:gd name="adj4" fmla="val 7559718"/>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78C926A-45BB-4DF8-A8E0-D69C701E431E}">
      <dsp:nvSpPr>
        <dsp:cNvPr id="0" name=""/>
        <dsp:cNvSpPr/>
      </dsp:nvSpPr>
      <dsp:spPr>
        <a:xfrm>
          <a:off x="631138" y="44782"/>
          <a:ext cx="4270128" cy="4270128"/>
        </a:xfrm>
        <a:prstGeom prst="circularArrow">
          <a:avLst>
            <a:gd name="adj1" fmla="val 5085"/>
            <a:gd name="adj2" fmla="val 327528"/>
            <a:gd name="adj3" fmla="val 15872148"/>
            <a:gd name="adj4" fmla="val 11880111"/>
            <a:gd name="adj5" fmla="val 5932"/>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58E833-EDFE-4AC3-9E16-BD50D7461B61}">
      <dsp:nvSpPr>
        <dsp:cNvPr id="0" name=""/>
        <dsp:cNvSpPr/>
      </dsp:nvSpPr>
      <dsp:spPr>
        <a:xfrm>
          <a:off x="5435" y="1348211"/>
          <a:ext cx="2021941" cy="808776"/>
        </a:xfrm>
        <a:prstGeom prst="chevron">
          <a:avLst/>
        </a:prstGeom>
        <a:solidFill>
          <a:srgbClr val="00AF7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noProof="0">
              <a:solidFill>
                <a:prstClr val="white"/>
              </a:solidFill>
              <a:latin typeface="Trebuchet MS" panose="020B0603020202020204" pitchFamily="34" charset="0"/>
              <a:ea typeface="+mn-ea"/>
              <a:cs typeface="+mn-cs"/>
            </a:rPr>
            <a:t>0: highly capable</a:t>
          </a:r>
        </a:p>
      </dsp:txBody>
      <dsp:txXfrm>
        <a:off x="409823" y="1348211"/>
        <a:ext cx="1213165" cy="808776"/>
      </dsp:txXfrm>
    </dsp:sp>
    <dsp:sp modelId="{BE485AA9-5376-42C4-88BB-2F292A57EC4A}">
      <dsp:nvSpPr>
        <dsp:cNvPr id="0" name=""/>
        <dsp:cNvSpPr/>
      </dsp:nvSpPr>
      <dsp:spPr>
        <a:xfrm>
          <a:off x="1825182" y="1348211"/>
          <a:ext cx="2021941" cy="808776"/>
        </a:xfrm>
        <a:prstGeom prst="chevron">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noProof="0">
              <a:latin typeface="Trebuchet MS" panose="020B0603020202020204" pitchFamily="34" charset="0"/>
            </a:rPr>
            <a:t>0.02 – 0.05: Minor rework</a:t>
          </a:r>
        </a:p>
      </dsp:txBody>
      <dsp:txXfrm>
        <a:off x="2229570" y="1348211"/>
        <a:ext cx="1213165" cy="808776"/>
      </dsp:txXfrm>
    </dsp:sp>
    <dsp:sp modelId="{42A44A51-791D-4713-AB88-47E6E267075F}">
      <dsp:nvSpPr>
        <dsp:cNvPr id="0" name=""/>
        <dsp:cNvSpPr/>
      </dsp:nvSpPr>
      <dsp:spPr>
        <a:xfrm>
          <a:off x="3644930" y="1348211"/>
          <a:ext cx="2021941" cy="808776"/>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noProof="0">
              <a:latin typeface="Trebuchet MS" panose="020B0603020202020204" pitchFamily="34" charset="0"/>
            </a:rPr>
            <a:t>0.05 – 0.10: Recurring</a:t>
          </a:r>
        </a:p>
        <a:p>
          <a:pPr marL="0" lvl="0" indent="0" algn="ctr" defTabSz="666750">
            <a:lnSpc>
              <a:spcPct val="90000"/>
            </a:lnSpc>
            <a:spcBef>
              <a:spcPct val="0"/>
            </a:spcBef>
            <a:spcAft>
              <a:spcPct val="35000"/>
            </a:spcAft>
            <a:buNone/>
          </a:pPr>
          <a:endParaRPr lang="en-US" sz="1500" b="1" kern="1200" noProof="0">
            <a:latin typeface="Trebuchet MS" panose="020B0603020202020204" pitchFamily="34" charset="0"/>
          </a:endParaRPr>
        </a:p>
      </dsp:txBody>
      <dsp:txXfrm>
        <a:off x="4049318" y="1348211"/>
        <a:ext cx="1213165" cy="808776"/>
      </dsp:txXfrm>
    </dsp:sp>
    <dsp:sp modelId="{B6B9EF45-189A-4071-AD6E-30C13AF3B271}">
      <dsp:nvSpPr>
        <dsp:cNvPr id="0" name=""/>
        <dsp:cNvSpPr/>
      </dsp:nvSpPr>
      <dsp:spPr>
        <a:xfrm>
          <a:off x="5464677" y="1348211"/>
          <a:ext cx="2021941" cy="808776"/>
        </a:xfrm>
        <a:prstGeom prst="chevron">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noProof="0">
              <a:latin typeface="Trebuchet MS" panose="020B0603020202020204" pitchFamily="34" charset="0"/>
            </a:rPr>
            <a:t>0.10 – 0.25: Rework burden</a:t>
          </a:r>
        </a:p>
      </dsp:txBody>
      <dsp:txXfrm>
        <a:off x="5869065" y="1348211"/>
        <a:ext cx="1213165" cy="808776"/>
      </dsp:txXfrm>
    </dsp:sp>
    <dsp:sp modelId="{FE9AAA99-0B51-4003-96C6-041661FD8DF2}">
      <dsp:nvSpPr>
        <dsp:cNvPr id="0" name=""/>
        <dsp:cNvSpPr/>
      </dsp:nvSpPr>
      <dsp:spPr>
        <a:xfrm>
          <a:off x="7284425" y="1348211"/>
          <a:ext cx="2021941" cy="808776"/>
        </a:xfrm>
        <a:prstGeom prst="chevron">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noProof="0">
              <a:latin typeface="Trebuchet MS" panose="020B0603020202020204" pitchFamily="34" charset="0"/>
            </a:rPr>
            <a:t>0.25 – 0.50: Significant issues</a:t>
          </a:r>
        </a:p>
      </dsp:txBody>
      <dsp:txXfrm>
        <a:off x="7688813" y="1348211"/>
        <a:ext cx="1213165" cy="808776"/>
      </dsp:txXfrm>
    </dsp:sp>
    <dsp:sp modelId="{921492DF-6C1E-4CD9-AF18-CBE1ADC23641}">
      <dsp:nvSpPr>
        <dsp:cNvPr id="0" name=""/>
        <dsp:cNvSpPr/>
      </dsp:nvSpPr>
      <dsp:spPr>
        <a:xfrm>
          <a:off x="9104172" y="1348211"/>
          <a:ext cx="2021941" cy="808776"/>
        </a:xfrm>
        <a:prstGeom prst="chevron">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noProof="0">
              <a:latin typeface="Trebuchet MS" panose="020B0603020202020204" pitchFamily="34" charset="0"/>
            </a:rPr>
            <a:t>&gt;50: Systemic Issues</a:t>
          </a:r>
        </a:p>
      </dsp:txBody>
      <dsp:txXfrm>
        <a:off x="9508560" y="1348211"/>
        <a:ext cx="1213165" cy="808776"/>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F63FBE7-B565-3341-8ACC-0307F112EBCD}" type="datetimeFigureOut">
              <a:rPr lang="en-US" smtClean="0"/>
              <a:t>10/5/2026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36F8861-7D18-944D-B836-A484A82765AD}" type="slidenum">
              <a:rPr lang="en-US" smtClean="0"/>
              <a:t>‹#›</a:t>
            </a:fld>
            <a:endParaRPr lang="en-US"/>
          </a:p>
        </p:txBody>
      </p:sp>
    </p:spTree>
    <p:extLst>
      <p:ext uri="{BB962C8B-B14F-4D97-AF65-F5344CB8AC3E}">
        <p14:creationId xmlns:p14="http://schemas.microsoft.com/office/powerpoint/2010/main" val="3511324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1.5 MINUTES</a:t>
            </a:r>
          </a:p>
          <a:p>
            <a:pPr>
              <a:spcAft>
                <a:spcPts val="600"/>
              </a:spcAft>
            </a:pPr>
            <a:r>
              <a:rPr sz="1200" b="1" i="0"/>
              <a:t>SPEAKER SCRIPT</a:t>
            </a:r>
          </a:p>
          <a:p>
            <a:pPr>
              <a:spcAft>
                <a:spcPts val="600"/>
              </a:spcAft>
            </a:pPr>
            <a:r>
              <a:rPr sz="1200" b="0" i="0"/>
              <a:t>Good morning, everyone, and welcome to Summarizing Data.</a:t>
            </a:r>
          </a:p>
          <a:p>
            <a:pPr>
              <a:spcAft>
                <a:spcPts val="600"/>
              </a:spcAft>
            </a:pPr>
            <a:r>
              <a:rPr sz="1200" b="0" i="0"/>
              <a:t>Today we'll take information about mistakes, which we call defects, and turn it into a few simple numbers that tell us how well a process is really working.</a:t>
            </a:r>
          </a:p>
          <a:p>
            <a:pPr>
              <a:spcAft>
                <a:spcPts val="600"/>
              </a:spcAft>
            </a:pPr>
            <a:r>
              <a:rPr sz="1200" b="0" i="0"/>
              <a:t>I promise this isn't math for the sake of math. Every number we cover today answers a practical question, like: how often do we get it right the first time? Where are the mistakes coming from? And how much hidden rework is eating up our time?</a:t>
            </a:r>
          </a:p>
          <a:p>
            <a:pPr>
              <a:spcAft>
                <a:spcPts val="600"/>
              </a:spcAft>
            </a:pPr>
            <a:r>
              <a:rPr sz="1200" b="0" i="0"/>
              <a:t>We'll use examples from the kind of work we do at the company: customer service, employment programs, and our support teams.</a:t>
            </a:r>
          </a:p>
        </p:txBody>
      </p:sp>
      <p:sp>
        <p:nvSpPr>
          <p:cNvPr id="4" name="Slide Number Placeholder 3"/>
          <p:cNvSpPr>
            <a:spLocks noGrp="1"/>
          </p:cNvSpPr>
          <p:nvPr>
            <p:ph type="sldNum" sz="quarter" idx="5"/>
          </p:nvPr>
        </p:nvSpPr>
        <p:spPr/>
        <p:txBody>
          <a:bodyPr/>
          <a:lstStyle/>
          <a:p>
            <a:fld id="{336F8861-7D18-944D-B836-A484A82765AD}" type="slidenum">
              <a:rPr lang="en-US" smtClean="0"/>
              <a:t>1</a:t>
            </a:fld>
            <a:endParaRPr lang="en-US"/>
          </a:p>
        </p:txBody>
      </p:sp>
    </p:spTree>
    <p:extLst>
      <p:ext uri="{BB962C8B-B14F-4D97-AF65-F5344CB8AC3E}">
        <p14:creationId xmlns:p14="http://schemas.microsoft.com/office/powerpoint/2010/main" val="337220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A few quick ground rules. We've got 90 minutes. Please stay on mute when you're not talking, and use the chat anytime.</a:t>
            </a:r>
          </a:p>
          <a:p>
            <a:pPr>
              <a:spcAft>
                <a:spcPts val="600"/>
              </a:spcAft>
            </a:pPr>
            <a:r>
              <a:rPr sz="1200" b="0" i="0"/>
              <a:t>We'll mix short explanations, worked examples, and some hands-on activities. A calculator, or the one on your phone, will come in handy. But don't stress about the math. What matters most is understanding what each number tells you and what you'd do about it.</a:t>
            </a:r>
          </a:p>
          <a:p>
            <a:pPr>
              <a:spcAft>
                <a:spcPts val="600"/>
              </a:spcAft>
            </a:pPr>
            <a:r>
              <a:rPr sz="1200" b="1">
                <a:solidFill>
                  <a:srgbClr val="0070C0"/>
                </a:solidFill>
              </a:rPr>
              <a:t>[CHAT]</a:t>
            </a:r>
            <a:r>
              <a:rPr sz="1200" b="0" i="0"/>
              <a:t> Quick check: type "ready" in the chat if you've got a calculator handy. </a:t>
            </a:r>
            <a:r>
              <a:rPr sz="1200" b="1">
                <a:solidFill>
                  <a:srgbClr val="0070C0"/>
                </a:solidFill>
              </a:rPr>
              <a:t>[Pause.]</a:t>
            </a:r>
          </a:p>
        </p:txBody>
      </p:sp>
      <p:sp>
        <p:nvSpPr>
          <p:cNvPr id="4" name="Slide Number Placeholder 3"/>
          <p:cNvSpPr>
            <a:spLocks noGrp="1"/>
          </p:cNvSpPr>
          <p:nvPr>
            <p:ph type="sldNum" sz="quarter" idx="5"/>
          </p:nvPr>
        </p:nvSpPr>
        <p:spPr/>
        <p:txBody>
          <a:bodyPr/>
          <a:lstStyle/>
          <a:p>
            <a:fld id="{336F8861-7D18-944D-B836-A484A82765AD}" type="slidenum">
              <a:rPr lang="en-US" smtClean="0"/>
              <a:t>2</a:t>
            </a:fld>
            <a:endParaRPr lang="en-US"/>
          </a:p>
        </p:txBody>
      </p:sp>
    </p:spTree>
    <p:extLst>
      <p:ext uri="{BB962C8B-B14F-4D97-AF65-F5344CB8AC3E}">
        <p14:creationId xmlns:p14="http://schemas.microsoft.com/office/powerpoint/2010/main" val="903863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1.5 MINUTES</a:t>
            </a:r>
          </a:p>
          <a:p>
            <a:pPr>
              <a:spcAft>
                <a:spcPts val="600"/>
              </a:spcAft>
            </a:pPr>
            <a:r>
              <a:rPr sz="1200" b="1" i="0"/>
              <a:t>SPEAKER SCRIPT</a:t>
            </a:r>
          </a:p>
          <a:p>
            <a:pPr>
              <a:spcAft>
                <a:spcPts val="600"/>
              </a:spcAft>
            </a:pPr>
            <a:r>
              <a:rPr sz="1200" b="0" i="0"/>
              <a:t>This is the last module in the Measure stage. The earlier modules covered how to define, check, and understand your data. Today we pull it all together.</a:t>
            </a:r>
          </a:p>
          <a:p>
            <a:pPr>
              <a:spcAft>
                <a:spcPts val="600"/>
              </a:spcAft>
            </a:pPr>
            <a:r>
              <a:rPr sz="1200" b="0" i="0"/>
              <a:t>We'll cover a handful of measures: defects, yield, defects per unit, opportunities, defects per million opportunities, process sigma, and rolled throughput yield. I know that's a mouthful. Don't worry. We'll take them one at a time, and each one just gives us a slightly different view of the same process.</a:t>
            </a:r>
          </a:p>
        </p:txBody>
      </p:sp>
      <p:sp>
        <p:nvSpPr>
          <p:cNvPr id="4" name="Slide Number Placeholder 3"/>
          <p:cNvSpPr>
            <a:spLocks noGrp="1"/>
          </p:cNvSpPr>
          <p:nvPr>
            <p:ph type="sldNum" sz="quarter" idx="5"/>
          </p:nvPr>
        </p:nvSpPr>
        <p:spPr/>
        <p:txBody>
          <a:bodyPr/>
          <a:lstStyle/>
          <a:p>
            <a:fld id="{336F8861-7D18-944D-B836-A484A82765AD}" type="slidenum">
              <a:rPr lang="en-US" smtClean="0"/>
              <a:t>3</a:t>
            </a:fld>
            <a:endParaRPr lang="en-US"/>
          </a:p>
        </p:txBody>
      </p:sp>
    </p:spTree>
    <p:extLst>
      <p:ext uri="{BB962C8B-B14F-4D97-AF65-F5344CB8AC3E}">
        <p14:creationId xmlns:p14="http://schemas.microsoft.com/office/powerpoint/2010/main" val="13902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By the end of today, you'll be able to explain defects and yield, describe a baseline and what "sigma" means, calculate defects and opportunities, and use two types of yield.</a:t>
            </a:r>
          </a:p>
          <a:p>
            <a:pPr>
              <a:spcAft>
                <a:spcPts val="600"/>
              </a:spcAft>
            </a:pPr>
            <a:r>
              <a:rPr sz="1200" b="1">
                <a:solidFill>
                  <a:srgbClr val="0070C0"/>
                </a:solidFill>
              </a:rPr>
              <a:t>[CHAT]</a:t>
            </a:r>
            <a:r>
              <a:rPr sz="1200" b="0" i="0"/>
              <a:t> As we go, keep one real process in mind. Type it in the chat now. It could be participant intake, handling referrals, booking appointments, working with employers, or a support request. </a:t>
            </a:r>
            <a:r>
              <a:rPr sz="1200" b="1">
                <a:solidFill>
                  <a:srgbClr val="0070C0"/>
                </a:solidFill>
              </a:rPr>
              <a:t>[Pause and read a few.]</a:t>
            </a:r>
          </a:p>
          <a:p>
            <a:pPr>
              <a:spcAft>
                <a:spcPts val="600"/>
              </a:spcAft>
            </a:pPr>
            <a:r>
              <a:rPr sz="1200" b="0" i="0"/>
              <a:t>Using your own process makes the math a lot easier to connect to real decisions.</a:t>
            </a:r>
          </a:p>
        </p:txBody>
      </p:sp>
      <p:sp>
        <p:nvSpPr>
          <p:cNvPr id="4" name="Slide Number Placeholder 3"/>
          <p:cNvSpPr>
            <a:spLocks noGrp="1"/>
          </p:cNvSpPr>
          <p:nvPr>
            <p:ph type="sldNum" sz="quarter" idx="5"/>
          </p:nvPr>
        </p:nvSpPr>
        <p:spPr/>
        <p:txBody>
          <a:bodyPr/>
          <a:lstStyle/>
          <a:p>
            <a:fld id="{336F8861-7D18-944D-B836-A484A82765AD}" type="slidenum">
              <a:rPr lang="en-US" smtClean="0"/>
              <a:t>4</a:t>
            </a:fld>
            <a:endParaRPr lang="en-US"/>
          </a:p>
        </p:txBody>
      </p:sp>
    </p:spTree>
    <p:extLst>
      <p:ext uri="{BB962C8B-B14F-4D97-AF65-F5344CB8AC3E}">
        <p14:creationId xmlns:p14="http://schemas.microsoft.com/office/powerpoint/2010/main" val="2698159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CB024-DE98-C17B-EA80-86847F4A02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C069B-7238-54F2-6E62-8D91BE7D20C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EB08C4-757B-533F-E1C5-4DFD5B518C4A}"/>
              </a:ext>
            </a:extLst>
          </p:cNvPr>
          <p:cNvSpPr>
            <a:spLocks noGrp="1"/>
          </p:cNvSpPr>
          <p:nvPr>
            <p:ph type="body" idx="1"/>
          </p:nvPr>
        </p:nvSpPr>
        <p:spPr/>
        <p:txBody>
          <a:bodyPr/>
          <a:lstStyle/>
          <a:p>
            <a:pPr>
              <a:spcAft>
                <a:spcPts val="600"/>
              </a:spcAft>
            </a:pPr>
            <a:r>
              <a:rPr sz="1200" b="1" i="0"/>
              <a:t>TIMING: 0.5 MINUTES</a:t>
            </a:r>
          </a:p>
          <a:p>
            <a:pPr>
              <a:spcAft>
                <a:spcPts val="600"/>
              </a:spcAft>
            </a:pPr>
            <a:r>
              <a:rPr sz="1200" b="1" i="0"/>
              <a:t>SPEAKER SCRIPT</a:t>
            </a:r>
          </a:p>
          <a:p>
            <a:pPr>
              <a:spcAft>
                <a:spcPts val="600"/>
              </a:spcAft>
            </a:pPr>
            <a:r>
              <a:rPr sz="1200" b="0" i="0"/>
              <a:t>Let's start with defects and yield. This section answers two simple questions: what counts as a mistake, and how often do we get it right the first time?</a:t>
            </a:r>
          </a:p>
          <a:p>
            <a:pPr>
              <a:spcAft>
                <a:spcPts val="600"/>
              </a:spcAft>
            </a:pPr>
            <a:r>
              <a:rPr sz="1200" b="1">
                <a:solidFill>
                  <a:srgbClr val="0070C0"/>
                </a:solidFill>
              </a:rPr>
              <a:t>[ASK]</a:t>
            </a:r>
            <a:r>
              <a:rPr sz="1200" b="0" i="0"/>
              <a:t> Quick one: think of the last time you had to redo something at work because something was missing or wrong. Got it? Hold onto that. That's a defect.</a:t>
            </a:r>
          </a:p>
        </p:txBody>
      </p:sp>
      <p:sp>
        <p:nvSpPr>
          <p:cNvPr id="4" name="Slide Number Placeholder 3">
            <a:extLst>
              <a:ext uri="{FF2B5EF4-FFF2-40B4-BE49-F238E27FC236}">
                <a16:creationId xmlns:a16="http://schemas.microsoft.com/office/drawing/2014/main" id="{619209AE-D55D-F254-2B63-FFAC42AF88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6F8861-7D18-944D-B836-A484A82765A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0767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2.5 MINUTES</a:t>
            </a:r>
          </a:p>
          <a:p>
            <a:pPr>
              <a:spcAft>
                <a:spcPts val="600"/>
              </a:spcAft>
            </a:pPr>
            <a:r>
              <a:rPr sz="1200" b="1" i="0"/>
              <a:t>SPEAKER SCRIPT</a:t>
            </a:r>
          </a:p>
          <a:p>
            <a:pPr>
              <a:spcAft>
                <a:spcPts val="600"/>
              </a:spcAft>
            </a:pPr>
            <a:r>
              <a:rPr sz="1200" b="1">
                <a:solidFill>
                  <a:srgbClr val="C00000"/>
                </a:solidFill>
              </a:rPr>
              <a:t>[CLICKS ON THIS SLIDE: 5]</a:t>
            </a:r>
          </a:p>
          <a:p>
            <a:pPr>
              <a:spcAft>
                <a:spcPts val="600"/>
              </a:spcAft>
            </a:pPr>
            <a:r>
              <a:rPr sz="1200" b="0" i="0"/>
              <a:t>So what's a defect? It's anything that doesn't meet what was expected, or what the customer needed. That might be a mistake, missing information, a delay, rework, or a service we had to fix.</a:t>
            </a:r>
          </a:p>
          <a:p>
            <a:pPr>
              <a:spcAft>
                <a:spcPts val="600"/>
              </a:spcAft>
            </a:pPr>
            <a:r>
              <a:rPr sz="1200" b="0" i="0"/>
              <a:t>At the company, a defect could be a participant assessment that wasn't finished, an employer referral sent late, or wrong information that makes a customer call us back.</a:t>
            </a:r>
          </a:p>
          <a:p>
            <a:pPr>
              <a:spcAft>
                <a:spcPts val="600"/>
              </a:spcAft>
            </a:pPr>
            <a:r>
              <a:rPr sz="1200" b="0" i="0"/>
              <a:t>Now, there's a tool that helps us think ahead about defects, before they happen. It's called FMEA.</a:t>
            </a:r>
          </a:p>
          <a:p>
            <a:pPr>
              <a:spcAft>
                <a:spcPts val="600"/>
              </a:spcAft>
            </a:pPr>
            <a:r>
              <a:rPr sz="1200" b="1">
                <a:solidFill>
                  <a:srgbClr val="C00000"/>
                </a:solidFill>
              </a:rPr>
              <a:t>[CLICK → FMEA letters appear]</a:t>
            </a:r>
          </a:p>
          <a:p>
            <a:pPr>
              <a:spcAft>
                <a:spcPts val="600"/>
              </a:spcAft>
            </a:pPr>
            <a:r>
              <a:rPr sz="1200" b="0" i="0"/>
              <a:t>FMEA stands for Failure Mode and Effect Analysis. Let's break it down.</a:t>
            </a:r>
          </a:p>
          <a:p>
            <a:pPr>
              <a:spcAft>
                <a:spcPts val="600"/>
              </a:spcAft>
            </a:pPr>
            <a:r>
              <a:rPr sz="1200" b="1">
                <a:solidFill>
                  <a:srgbClr val="C00000"/>
                </a:solidFill>
              </a:rPr>
              <a:t>[CLICK → Failure]</a:t>
            </a:r>
          </a:p>
          <a:p>
            <a:pPr>
              <a:spcAft>
                <a:spcPts val="600"/>
              </a:spcAft>
            </a:pPr>
            <a:r>
              <a:rPr sz="1200" b="0" i="0"/>
              <a:t>Failure: what could go wrong?</a:t>
            </a:r>
          </a:p>
          <a:p>
            <a:pPr>
              <a:spcAft>
                <a:spcPts val="600"/>
              </a:spcAft>
            </a:pPr>
            <a:r>
              <a:rPr sz="1200" b="1">
                <a:solidFill>
                  <a:srgbClr val="C00000"/>
                </a:solidFill>
              </a:rPr>
              <a:t>[CLICK → Mode]</a:t>
            </a:r>
          </a:p>
          <a:p>
            <a:pPr>
              <a:spcAft>
                <a:spcPts val="600"/>
              </a:spcAft>
            </a:pPr>
            <a:r>
              <a:rPr sz="1200" b="0" i="0"/>
              <a:t>Mode: how could it go wrong?</a:t>
            </a:r>
          </a:p>
          <a:p>
            <a:pPr>
              <a:spcAft>
                <a:spcPts val="600"/>
              </a:spcAft>
            </a:pPr>
            <a:r>
              <a:rPr sz="1200" b="1">
                <a:solidFill>
                  <a:srgbClr val="C00000"/>
                </a:solidFill>
              </a:rPr>
              <a:t>[CLICK → Effect]</a:t>
            </a:r>
          </a:p>
          <a:p>
            <a:pPr>
              <a:spcAft>
                <a:spcPts val="600"/>
              </a:spcAft>
            </a:pPr>
            <a:r>
              <a:rPr sz="1200" b="0" i="0"/>
              <a:t>Effect: what would it do to the customer or the process?</a:t>
            </a:r>
          </a:p>
          <a:p>
            <a:pPr>
              <a:spcAft>
                <a:spcPts val="600"/>
              </a:spcAft>
            </a:pPr>
            <a:r>
              <a:rPr sz="1200" b="1">
                <a:solidFill>
                  <a:srgbClr val="C00000"/>
                </a:solidFill>
              </a:rPr>
              <a:t>[CLICK → Analysis]</a:t>
            </a:r>
          </a:p>
          <a:p>
            <a:pPr>
              <a:spcAft>
                <a:spcPts val="600"/>
              </a:spcAft>
            </a:pPr>
            <a:r>
              <a:rPr sz="1200" b="0" i="0"/>
              <a:t>Analysis: what can we do to prevent it or lower the risk?</a:t>
            </a:r>
          </a:p>
          <a:p>
            <a:pPr>
              <a:spcAft>
                <a:spcPts val="600"/>
              </a:spcAft>
            </a:pPr>
            <a:r>
              <a:rPr sz="1200" b="0" i="0"/>
              <a:t>The key point: a defect is a missed expectation. And defining it clearly is the first step to preventing it.</a:t>
            </a:r>
          </a:p>
        </p:txBody>
      </p:sp>
      <p:sp>
        <p:nvSpPr>
          <p:cNvPr id="4" name="Slide Number Placeholder 3"/>
          <p:cNvSpPr>
            <a:spLocks noGrp="1"/>
          </p:cNvSpPr>
          <p:nvPr>
            <p:ph type="sldNum" sz="quarter" idx="5"/>
          </p:nvPr>
        </p:nvSpPr>
        <p:spPr/>
        <p:txBody>
          <a:bodyPr/>
          <a:lstStyle/>
          <a:p>
            <a:fld id="{336F8861-7D18-944D-B836-A484A82765AD}" type="slidenum">
              <a:rPr lang="en-US" smtClean="0"/>
              <a:t>6</a:t>
            </a:fld>
            <a:endParaRPr lang="en-US"/>
          </a:p>
        </p:txBody>
      </p:sp>
    </p:spTree>
    <p:extLst>
      <p:ext uri="{BB962C8B-B14F-4D97-AF65-F5344CB8AC3E}">
        <p14:creationId xmlns:p14="http://schemas.microsoft.com/office/powerpoint/2010/main" val="2034694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7BFCB-CF87-10A5-93C3-F8C8DF6E5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0C948-429A-3E84-AE31-79723208E6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59CF64-0179-287F-7CFD-4A82371D4131}"/>
              </a:ext>
            </a:extLst>
          </p:cNvPr>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1">
                <a:solidFill>
                  <a:srgbClr val="C00000"/>
                </a:solidFill>
              </a:rPr>
              <a:t>[CLICKS ON THIS SLIDE: 5]</a:t>
            </a:r>
          </a:p>
          <a:p>
            <a:pPr>
              <a:spcAft>
                <a:spcPts val="600"/>
              </a:spcAft>
            </a:pPr>
            <a:r>
              <a:rPr sz="1200" b="0" i="0"/>
              <a:t>Defects come in a few common types.</a:t>
            </a:r>
          </a:p>
          <a:p>
            <a:pPr>
              <a:spcAft>
                <a:spcPts val="600"/>
              </a:spcAft>
            </a:pPr>
            <a:r>
              <a:rPr sz="1200" b="1">
                <a:solidFill>
                  <a:srgbClr val="0070C0"/>
                </a:solidFill>
              </a:rPr>
              <a:t>[POLL]</a:t>
            </a:r>
            <a:r>
              <a:rPr sz="1200" b="0" i="0"/>
              <a:t> As I reveal each one, give a thumbs-up reaction if you've seen it happen on your team this month.</a:t>
            </a:r>
          </a:p>
          <a:p>
            <a:pPr>
              <a:spcAft>
                <a:spcPts val="600"/>
              </a:spcAft>
            </a:pPr>
            <a:r>
              <a:rPr sz="1200" b="1">
                <a:solidFill>
                  <a:srgbClr val="C00000"/>
                </a:solidFill>
              </a:rPr>
              <a:t>[CLICK → Missing Data]</a:t>
            </a:r>
          </a:p>
          <a:p>
            <a:pPr>
              <a:spcAft>
                <a:spcPts val="600"/>
              </a:spcAft>
            </a:pPr>
            <a:r>
              <a:rPr sz="1200" b="0" i="0"/>
              <a:t>Missing data: information we needed but didn't capture, like a participant record with no phone number.</a:t>
            </a:r>
          </a:p>
          <a:p>
            <a:pPr>
              <a:spcAft>
                <a:spcPts val="600"/>
              </a:spcAft>
            </a:pPr>
            <a:r>
              <a:rPr sz="1200" b="1">
                <a:solidFill>
                  <a:srgbClr val="C00000"/>
                </a:solidFill>
              </a:rPr>
              <a:t>[CLICK → Incorrect Input]</a:t>
            </a:r>
          </a:p>
          <a:p>
            <a:pPr>
              <a:spcAft>
                <a:spcPts val="600"/>
              </a:spcAft>
            </a:pPr>
            <a:r>
              <a:rPr sz="1200" b="0" i="0"/>
              <a:t>Wrong input: the info is there, but it's wrong or in the wrong format, like a mistake in an eligibility entry.</a:t>
            </a:r>
          </a:p>
          <a:p>
            <a:pPr>
              <a:spcAft>
                <a:spcPts val="600"/>
              </a:spcAft>
            </a:pPr>
            <a:r>
              <a:rPr sz="1200" b="1">
                <a:solidFill>
                  <a:srgbClr val="C00000"/>
                </a:solidFill>
              </a:rPr>
              <a:t>[CLICK → Process Delays]</a:t>
            </a:r>
          </a:p>
          <a:p>
            <a:pPr>
              <a:spcAft>
                <a:spcPts val="600"/>
              </a:spcAft>
            </a:pPr>
            <a:r>
              <a:rPr sz="1200" b="0" i="0"/>
              <a:t>Delays: if the customer needs it by a certain time, being late is a defect, like an appointment not booked within the target time.</a:t>
            </a:r>
          </a:p>
          <a:p>
            <a:pPr>
              <a:spcAft>
                <a:spcPts val="600"/>
              </a:spcAft>
            </a:pPr>
            <a:r>
              <a:rPr sz="1200" b="1">
                <a:solidFill>
                  <a:srgbClr val="C00000"/>
                </a:solidFill>
              </a:rPr>
              <a:t>[CLICK → Quality Errors]</a:t>
            </a:r>
          </a:p>
          <a:p>
            <a:pPr>
              <a:spcAft>
                <a:spcPts val="600"/>
              </a:spcAft>
            </a:pPr>
            <a:r>
              <a:rPr sz="1200" b="0" i="0"/>
              <a:t>Quality errors: work that doesn't meet the standard, like giving a job seeker the wrong guidance.</a:t>
            </a:r>
          </a:p>
          <a:p>
            <a:pPr>
              <a:spcAft>
                <a:spcPts val="600"/>
              </a:spcAft>
            </a:pPr>
            <a:r>
              <a:rPr sz="1200" b="1">
                <a:solidFill>
                  <a:srgbClr val="C00000"/>
                </a:solidFill>
              </a:rPr>
              <a:t>[CLICK → Incomplete]</a:t>
            </a:r>
          </a:p>
          <a:p>
            <a:pPr>
              <a:spcAft>
                <a:spcPts val="600"/>
              </a:spcAft>
            </a:pPr>
            <a:r>
              <a:rPr sz="1200" b="0" i="0"/>
              <a:t>Incomplete: a required step was skipped, like documents that never got uploaded.</a:t>
            </a:r>
          </a:p>
          <a:p>
            <a:pPr>
              <a:spcAft>
                <a:spcPts val="600"/>
              </a:spcAft>
            </a:pPr>
            <a:r>
              <a:rPr sz="1200" b="1">
                <a:solidFill>
                  <a:srgbClr val="0070C0"/>
                </a:solidFill>
              </a:rPr>
              <a:t>[Pause and comment on the thumbs-up reactions.]</a:t>
            </a:r>
            <a:r>
              <a:rPr sz="1200" b="0" i="0"/>
              <a:t> The clearer we define each type, the more consistently different teams can spot and count them.</a:t>
            </a:r>
          </a:p>
        </p:txBody>
      </p:sp>
      <p:sp>
        <p:nvSpPr>
          <p:cNvPr id="4" name="Slide Number Placeholder 3">
            <a:extLst>
              <a:ext uri="{FF2B5EF4-FFF2-40B4-BE49-F238E27FC236}">
                <a16:creationId xmlns:a16="http://schemas.microsoft.com/office/drawing/2014/main" id="{8011535A-4E74-AC17-D36F-1C0C2D913794}"/>
              </a:ext>
            </a:extLst>
          </p:cNvPr>
          <p:cNvSpPr>
            <a:spLocks noGrp="1"/>
          </p:cNvSpPr>
          <p:nvPr>
            <p:ph type="sldNum" sz="quarter" idx="5"/>
          </p:nvPr>
        </p:nvSpPr>
        <p:spPr/>
        <p:txBody>
          <a:bodyPr/>
          <a:lstStyle/>
          <a:p>
            <a:fld id="{336F8861-7D18-944D-B836-A484A82765AD}" type="slidenum">
              <a:rPr lang="en-US" smtClean="0"/>
              <a:t>7</a:t>
            </a:fld>
            <a:endParaRPr lang="en-US"/>
          </a:p>
        </p:txBody>
      </p:sp>
    </p:spTree>
    <p:extLst>
      <p:ext uri="{BB962C8B-B14F-4D97-AF65-F5344CB8AC3E}">
        <p14:creationId xmlns:p14="http://schemas.microsoft.com/office/powerpoint/2010/main" val="2867759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1">
                <a:solidFill>
                  <a:srgbClr val="C00000"/>
                </a:solidFill>
              </a:rPr>
              <a:t>[CLICKS ON THIS SLIDE: 1]</a:t>
            </a:r>
          </a:p>
          <a:p>
            <a:pPr>
              <a:spcAft>
                <a:spcPts val="600"/>
              </a:spcAft>
            </a:pPr>
            <a:r>
              <a:rPr sz="1200" b="0" i="0"/>
              <a:t>Our first measure is Final Yield. It tells us how often work is done right the first time.</a:t>
            </a:r>
          </a:p>
          <a:p>
            <a:pPr>
              <a:spcAft>
                <a:spcPts val="600"/>
              </a:spcAft>
            </a:pPr>
            <a:r>
              <a:rPr sz="1200" b="0" i="0"/>
              <a:t>The math is simple: take the number done correctly, divide by the total. If 85 out of 100 are right the first time, your Final Yield is 85 percent.</a:t>
            </a:r>
          </a:p>
          <a:p>
            <a:pPr>
              <a:spcAft>
                <a:spcPts val="600"/>
              </a:spcAft>
            </a:pPr>
            <a:r>
              <a:rPr sz="1200" b="0" i="0"/>
              <a:t>At the company, that might be the percentage of participant records finished without any corrections, appointments booked correctly the first time, or employer referrals sent with all the required information.</a:t>
            </a:r>
          </a:p>
          <a:p>
            <a:pPr>
              <a:spcAft>
                <a:spcPts val="600"/>
              </a:spcAft>
            </a:pPr>
            <a:r>
              <a:rPr sz="1200" b="0" i="0"/>
              <a:t>A high yield means less rework and a smoother experience for the customer.</a:t>
            </a:r>
          </a:p>
          <a:p>
            <a:pPr>
              <a:spcAft>
                <a:spcPts val="600"/>
              </a:spcAft>
            </a:pPr>
            <a:r>
              <a:rPr sz="1200" b="1">
                <a:solidFill>
                  <a:srgbClr val="C00000"/>
                </a:solidFill>
              </a:rPr>
              <a:t>[CLICK → Key takeaway]</a:t>
            </a:r>
          </a:p>
          <a:p>
            <a:pPr>
              <a:spcAft>
                <a:spcPts val="600"/>
              </a:spcAft>
            </a:pPr>
            <a:r>
              <a:rPr sz="1200" b="0" i="0"/>
              <a:t>So if defects tell us what's going wrong, Final Yield tells us how often we're getting it right.</a:t>
            </a:r>
          </a:p>
        </p:txBody>
      </p:sp>
      <p:sp>
        <p:nvSpPr>
          <p:cNvPr id="4" name="Slide Number Placeholder 3"/>
          <p:cNvSpPr>
            <a:spLocks noGrp="1"/>
          </p:cNvSpPr>
          <p:nvPr>
            <p:ph type="sldNum" sz="quarter" idx="5"/>
          </p:nvPr>
        </p:nvSpPr>
        <p:spPr/>
        <p:txBody>
          <a:bodyPr/>
          <a:lstStyle/>
          <a:p>
            <a:fld id="{336F8861-7D18-944D-B836-A484A82765AD}" type="slidenum">
              <a:rPr lang="en-US" smtClean="0"/>
              <a:t>8</a:t>
            </a:fld>
            <a:endParaRPr lang="en-US"/>
          </a:p>
        </p:txBody>
      </p:sp>
    </p:spTree>
    <p:extLst>
      <p:ext uri="{BB962C8B-B14F-4D97-AF65-F5344CB8AC3E}">
        <p14:creationId xmlns:p14="http://schemas.microsoft.com/office/powerpoint/2010/main" val="630941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1">
                <a:solidFill>
                  <a:srgbClr val="C00000"/>
                </a:solidFill>
              </a:rPr>
              <a:t>[CLICKS ON THIS SLIDE: 1]</a:t>
            </a:r>
          </a:p>
          <a:p>
            <a:pPr>
              <a:spcAft>
                <a:spcPts val="600"/>
              </a:spcAft>
            </a:pPr>
            <a:r>
              <a:rPr sz="1200" b="0" i="0"/>
              <a:t>Let's try the formula with cakes.</a:t>
            </a:r>
          </a:p>
          <a:p>
            <a:pPr>
              <a:spcAft>
                <a:spcPts val="600"/>
              </a:spcAft>
            </a:pPr>
            <a:r>
              <a:rPr sz="1200" b="0" i="0"/>
              <a:t>A bakery makes 100 cakes, and 85 come out perfect the first time. Eighty-five divided by 100 is 0.85, or 85 percent.</a:t>
            </a:r>
          </a:p>
          <a:p>
            <a:pPr>
              <a:spcAft>
                <a:spcPts val="600"/>
              </a:spcAft>
            </a:pPr>
            <a:r>
              <a:rPr sz="1200" b="1">
                <a:solidFill>
                  <a:srgbClr val="C00000"/>
                </a:solidFill>
              </a:rPr>
              <a:t>[CLICK → Final answer]</a:t>
            </a:r>
          </a:p>
          <a:p>
            <a:pPr>
              <a:spcAft>
                <a:spcPts val="600"/>
              </a:spcAft>
            </a:pPr>
            <a:r>
              <a:rPr sz="1200" b="0" i="0"/>
              <a:t>So the Final Yield is 85 percent.</a:t>
            </a:r>
          </a:p>
          <a:p>
            <a:pPr>
              <a:spcAft>
                <a:spcPts val="600"/>
              </a:spcAft>
            </a:pPr>
            <a:r>
              <a:rPr sz="1200" b="0" i="0"/>
              <a:t>The same math works for our work. If 85 out of 100 participant assessments are done right with no fixes needed, the Final Yield is also 85 percent.</a:t>
            </a:r>
          </a:p>
          <a:p>
            <a:pPr>
              <a:spcAft>
                <a:spcPts val="600"/>
              </a:spcAft>
            </a:pPr>
            <a:r>
              <a:rPr sz="1200" b="0" i="0"/>
              <a:t>The important part is agreeing up front on what "right the first time" means. That's the operational definition from our last module.</a:t>
            </a:r>
          </a:p>
        </p:txBody>
      </p:sp>
      <p:sp>
        <p:nvSpPr>
          <p:cNvPr id="4" name="Slide Number Placeholder 3"/>
          <p:cNvSpPr>
            <a:spLocks noGrp="1"/>
          </p:cNvSpPr>
          <p:nvPr>
            <p:ph type="sldNum" sz="quarter" idx="5"/>
          </p:nvPr>
        </p:nvSpPr>
        <p:spPr/>
        <p:txBody>
          <a:bodyPr/>
          <a:lstStyle/>
          <a:p>
            <a:fld id="{336F8861-7D18-944D-B836-A484A82765AD}" type="slidenum">
              <a:rPr lang="en-US" smtClean="0"/>
              <a:t>9</a:t>
            </a:fld>
            <a:endParaRPr lang="en-US"/>
          </a:p>
        </p:txBody>
      </p:sp>
    </p:spTree>
    <p:extLst>
      <p:ext uri="{BB962C8B-B14F-4D97-AF65-F5344CB8AC3E}">
        <p14:creationId xmlns:p14="http://schemas.microsoft.com/office/powerpoint/2010/main" val="337220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1">
                <a:solidFill>
                  <a:srgbClr val="C00000"/>
                </a:solidFill>
              </a:rPr>
              <a:t>[CLICKS ON THIS SLIDE: 1]</a:t>
            </a:r>
          </a:p>
          <a:p>
            <a:pPr>
              <a:spcAft>
                <a:spcPts val="600"/>
              </a:spcAft>
            </a:pPr>
            <a:r>
              <a:rPr sz="1200" b="0" i="0"/>
              <a:t>Final Yield gives us a quick headline, but it has a blind spot. It treats every bad item the same.</a:t>
            </a:r>
          </a:p>
          <a:p>
            <a:pPr>
              <a:spcAft>
                <a:spcPts val="600"/>
              </a:spcAft>
            </a:pPr>
            <a:r>
              <a:rPr sz="1200" b="0" i="0"/>
              <a:t>Look at the two cakes. Cake A has one problem. Cake B has four. But Final Yield just says "both are bad."</a:t>
            </a:r>
          </a:p>
          <a:p>
            <a:pPr>
              <a:spcAft>
                <a:spcPts val="600"/>
              </a:spcAft>
            </a:pPr>
            <a:r>
              <a:rPr sz="1200" b="1">
                <a:solidFill>
                  <a:srgbClr val="0070C0"/>
                </a:solidFill>
              </a:rPr>
              <a:t>[ASK]</a:t>
            </a:r>
            <a:r>
              <a:rPr sz="1200" b="0" i="0"/>
              <a:t> Does that seem fair? Is a cake with one issue really the same as a cake with four? </a:t>
            </a:r>
            <a:r>
              <a:rPr sz="1200" b="1">
                <a:solidFill>
                  <a:srgbClr val="0070C0"/>
                </a:solidFill>
              </a:rPr>
              <a:t>[Pause for a couple of responses.]</a:t>
            </a:r>
          </a:p>
          <a:p>
            <a:pPr>
              <a:spcAft>
                <a:spcPts val="600"/>
              </a:spcAft>
            </a:pPr>
            <a:r>
              <a:rPr sz="1200" b="0" i="0"/>
              <a:t>Same thing happens with our work. One participant record might be missing one field. Another might be missing documents, have the wrong service code, and an overdue follow-up. Final Yield counts them both as one bad record and doesn't show the difference.</a:t>
            </a:r>
          </a:p>
          <a:p>
            <a:pPr>
              <a:spcAft>
                <a:spcPts val="600"/>
              </a:spcAft>
            </a:pPr>
            <a:r>
              <a:rPr sz="1200" b="1">
                <a:solidFill>
                  <a:srgbClr val="C00000"/>
                </a:solidFill>
              </a:rPr>
              <a:t>[CLICK → Key takeaway]</a:t>
            </a:r>
          </a:p>
          <a:p>
            <a:pPr>
              <a:spcAft>
                <a:spcPts val="600"/>
              </a:spcAft>
            </a:pPr>
            <a:r>
              <a:rPr sz="1200" b="0" i="0"/>
              <a:t>So Final Yield is great for a quick look, but to really understand what's going on, we need to dig deeper. That's where defects per unit comes in.</a:t>
            </a:r>
          </a:p>
        </p:txBody>
      </p:sp>
      <p:sp>
        <p:nvSpPr>
          <p:cNvPr id="4" name="Slide Number Placeholder 3"/>
          <p:cNvSpPr>
            <a:spLocks noGrp="1"/>
          </p:cNvSpPr>
          <p:nvPr>
            <p:ph type="sldNum" sz="quarter" idx="5"/>
          </p:nvPr>
        </p:nvSpPr>
        <p:spPr/>
        <p:txBody>
          <a:bodyPr/>
          <a:lstStyle/>
          <a:p>
            <a:fld id="{336F8861-7D18-944D-B836-A484A82765AD}" type="slidenum">
              <a:rPr lang="en-US" smtClean="0"/>
              <a:t>10</a:t>
            </a:fld>
            <a:endParaRPr lang="en-US"/>
          </a:p>
        </p:txBody>
      </p:sp>
    </p:spTree>
    <p:extLst>
      <p:ext uri="{BB962C8B-B14F-4D97-AF65-F5344CB8AC3E}">
        <p14:creationId xmlns:p14="http://schemas.microsoft.com/office/powerpoint/2010/main" val="33907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37272-4696-BF54-5B22-CE01900FB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D67D5D-B175-3BDC-45DD-1CD426318F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5A6F19-C6DD-0AD0-6F0A-089CCBF2E814}"/>
              </a:ext>
            </a:extLst>
          </p:cNvPr>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This flow shows how the two measures fit together.</a:t>
            </a:r>
          </a:p>
          <a:p>
            <a:pPr>
              <a:spcAft>
                <a:spcPts val="600"/>
              </a:spcAft>
            </a:pPr>
            <a:r>
              <a:rPr sz="1200" b="0" i="0"/>
              <a:t>First, count everything that was completed. Then ask: is it mistake-free? If yes, it counts toward Final Yield. If no, count how many mistakes it has. That count gives us defects per unit, or DPU.</a:t>
            </a:r>
          </a:p>
          <a:p>
            <a:pPr>
              <a:spcAft>
                <a:spcPts val="600"/>
              </a:spcAft>
            </a:pPr>
            <a:r>
              <a:rPr sz="1200" b="0" i="0"/>
              <a:t>In plain terms: Final Yield asks, "Did we get it right the first time?" DPU asks, "When we didn't, how many things went wrong?"</a:t>
            </a:r>
          </a:p>
          <a:p>
            <a:pPr>
              <a:spcAft>
                <a:spcPts val="600"/>
              </a:spcAft>
            </a:pPr>
            <a:r>
              <a:rPr sz="1200" b="0" i="0"/>
              <a:t>Using both gives us a fuller picture of quality, and how much rework is hiding in the process.</a:t>
            </a:r>
          </a:p>
        </p:txBody>
      </p:sp>
      <p:sp>
        <p:nvSpPr>
          <p:cNvPr id="4" name="Slide Number Placeholder 3">
            <a:extLst>
              <a:ext uri="{FF2B5EF4-FFF2-40B4-BE49-F238E27FC236}">
                <a16:creationId xmlns:a16="http://schemas.microsoft.com/office/drawing/2014/main" id="{4791B407-FC1C-E1DB-6017-17B982155D37}"/>
              </a:ext>
            </a:extLst>
          </p:cNvPr>
          <p:cNvSpPr>
            <a:spLocks noGrp="1"/>
          </p:cNvSpPr>
          <p:nvPr>
            <p:ph type="sldNum" sz="quarter" idx="5"/>
          </p:nvPr>
        </p:nvSpPr>
        <p:spPr/>
        <p:txBody>
          <a:bodyPr/>
          <a:lstStyle/>
          <a:p>
            <a:fld id="{336F8861-7D18-944D-B836-A484A82765AD}" type="slidenum">
              <a:rPr lang="en-US" smtClean="0"/>
              <a:t>11</a:t>
            </a:fld>
            <a:endParaRPr lang="en-US"/>
          </a:p>
        </p:txBody>
      </p:sp>
    </p:spTree>
    <p:extLst>
      <p:ext uri="{BB962C8B-B14F-4D97-AF65-F5344CB8AC3E}">
        <p14:creationId xmlns:p14="http://schemas.microsoft.com/office/powerpoint/2010/main" val="126169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1">
                <a:solidFill>
                  <a:srgbClr val="C00000"/>
                </a:solidFill>
              </a:rPr>
              <a:t>[CLICKS ON THIS SLIDE: 4]</a:t>
            </a:r>
          </a:p>
          <a:p>
            <a:pPr>
              <a:spcAft>
                <a:spcPts val="600"/>
              </a:spcAft>
            </a:pPr>
            <a:r>
              <a:rPr sz="1200" b="1">
                <a:solidFill>
                  <a:srgbClr val="C00000"/>
                </a:solidFill>
              </a:rPr>
              <a:t>[CLICK → DPU explanation]</a:t>
            </a:r>
          </a:p>
          <a:p>
            <a:pPr>
              <a:spcAft>
                <a:spcPts val="600"/>
              </a:spcAft>
            </a:pPr>
            <a:r>
              <a:rPr sz="1200" b="0" i="0"/>
              <a:t>DPU goes beyond "good or bad." It counts every single mistake and tells us the average number of mistakes per item.</a:t>
            </a:r>
          </a:p>
          <a:p>
            <a:pPr>
              <a:spcAft>
                <a:spcPts val="600"/>
              </a:spcAft>
            </a:pPr>
            <a:r>
              <a:rPr sz="1200" b="1">
                <a:solidFill>
                  <a:srgbClr val="C00000"/>
                </a:solidFill>
              </a:rPr>
              <a:t>[CLICK → table]</a:t>
            </a:r>
          </a:p>
          <a:p>
            <a:pPr>
              <a:spcAft>
                <a:spcPts val="600"/>
              </a:spcAft>
            </a:pPr>
            <a:r>
              <a:rPr sz="1200" b="0" i="0"/>
              <a:t>Here's how that looks laid out.</a:t>
            </a:r>
          </a:p>
          <a:p>
            <a:pPr>
              <a:spcAft>
                <a:spcPts val="600"/>
              </a:spcAft>
            </a:pPr>
            <a:r>
              <a:rPr sz="1200" b="1">
                <a:solidFill>
                  <a:srgbClr val="C00000"/>
                </a:solidFill>
              </a:rPr>
              <a:t>[CLICK → Yield vs. DPU]</a:t>
            </a:r>
          </a:p>
          <a:p>
            <a:pPr>
              <a:spcAft>
                <a:spcPts val="600"/>
              </a:spcAft>
            </a:pPr>
            <a:r>
              <a:rPr sz="1200" b="0" i="0"/>
              <a:t>Yield tells us how often we get it right. DPU tells us how big the problem is when we don't.</a:t>
            </a:r>
          </a:p>
          <a:p>
            <a:pPr>
              <a:spcAft>
                <a:spcPts val="600"/>
              </a:spcAft>
            </a:pPr>
            <a:r>
              <a:rPr sz="1200" b="1">
                <a:solidFill>
                  <a:srgbClr val="C00000"/>
                </a:solidFill>
              </a:rPr>
              <a:t>[CLICK → "A single unit can have multiple defects"]</a:t>
            </a:r>
          </a:p>
          <a:p>
            <a:pPr>
              <a:spcAft>
                <a:spcPts val="600"/>
              </a:spcAft>
            </a:pPr>
            <a:r>
              <a:rPr sz="1200" b="0" i="0"/>
              <a:t>And remember, one item can have several mistakes. One participant file can have three problems. One support request can need four fixes.</a:t>
            </a:r>
          </a:p>
        </p:txBody>
      </p:sp>
      <p:sp>
        <p:nvSpPr>
          <p:cNvPr id="4" name="Slide Number Placeholder 3"/>
          <p:cNvSpPr>
            <a:spLocks noGrp="1"/>
          </p:cNvSpPr>
          <p:nvPr>
            <p:ph type="sldNum" sz="quarter" idx="5"/>
          </p:nvPr>
        </p:nvSpPr>
        <p:spPr/>
        <p:txBody>
          <a:bodyPr/>
          <a:lstStyle/>
          <a:p>
            <a:fld id="{336F8861-7D18-944D-B836-A484A82765AD}" type="slidenum">
              <a:rPr lang="en-US" smtClean="0"/>
              <a:t>12</a:t>
            </a:fld>
            <a:endParaRPr lang="en-US"/>
          </a:p>
        </p:txBody>
      </p:sp>
    </p:spTree>
    <p:extLst>
      <p:ext uri="{BB962C8B-B14F-4D97-AF65-F5344CB8AC3E}">
        <p14:creationId xmlns:p14="http://schemas.microsoft.com/office/powerpoint/2010/main" val="31097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The DPU formula is simple: total mistakes divided by total items.</a:t>
            </a:r>
          </a:p>
          <a:p>
            <a:pPr>
              <a:spcAft>
                <a:spcPts val="600"/>
              </a:spcAft>
            </a:pPr>
            <a:r>
              <a:rPr sz="1200" b="0" i="0"/>
              <a:t>Here, 75 mistakes divided by 1,000 cakes equals 0.075 defects per unit.</a:t>
            </a:r>
          </a:p>
          <a:p>
            <a:pPr>
              <a:spcAft>
                <a:spcPts val="600"/>
              </a:spcAft>
            </a:pPr>
            <a:r>
              <a:rPr sz="1200" b="1">
                <a:solidFill>
                  <a:srgbClr val="0070C0"/>
                </a:solidFill>
              </a:rPr>
              <a:t>[ASK]</a:t>
            </a:r>
            <a:r>
              <a:rPr sz="1200" b="0" i="0"/>
              <a:t> Quick gut check: does that mean every cake has a tiny piece of a mistake? </a:t>
            </a:r>
            <a:r>
              <a:rPr sz="1200" b="1">
                <a:solidFill>
                  <a:srgbClr val="0070C0"/>
                </a:solidFill>
              </a:rPr>
              <a:t>[Pause.]</a:t>
            </a:r>
            <a:r>
              <a:rPr sz="1200" b="0" i="0"/>
              <a:t> No. It's just an average across the whole batch.</a:t>
            </a:r>
          </a:p>
          <a:p>
            <a:pPr>
              <a:spcAft>
                <a:spcPts val="600"/>
              </a:spcAft>
            </a:pPr>
            <a:r>
              <a:rPr sz="1200" b="0" i="0"/>
              <a:t>Once we know our DPU, we can watch whether mistakes are going up or down over time, and spot where we need to dig in.</a:t>
            </a:r>
          </a:p>
        </p:txBody>
      </p:sp>
      <p:sp>
        <p:nvSpPr>
          <p:cNvPr id="4" name="Slide Number Placeholder 3"/>
          <p:cNvSpPr>
            <a:spLocks noGrp="1"/>
          </p:cNvSpPr>
          <p:nvPr>
            <p:ph type="sldNum" sz="quarter" idx="5"/>
          </p:nvPr>
        </p:nvSpPr>
        <p:spPr/>
        <p:txBody>
          <a:bodyPr/>
          <a:lstStyle/>
          <a:p>
            <a:fld id="{336F8861-7D18-944D-B836-A484A82765AD}" type="slidenum">
              <a:rPr lang="en-US" smtClean="0"/>
              <a:t>13</a:t>
            </a:fld>
            <a:endParaRPr lang="en-US"/>
          </a:p>
        </p:txBody>
      </p:sp>
    </p:spTree>
    <p:extLst>
      <p:ext uri="{BB962C8B-B14F-4D97-AF65-F5344CB8AC3E}">
        <p14:creationId xmlns:p14="http://schemas.microsoft.com/office/powerpoint/2010/main" val="581807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A DPU number by itself doesn't mean much without context. What's acceptable depends on the process, what the customer needs, and how risky a mistake would be.</a:t>
            </a:r>
          </a:p>
          <a:p>
            <a:pPr>
              <a:spcAft>
                <a:spcPts val="600"/>
              </a:spcAft>
            </a:pPr>
            <a:r>
              <a:rPr sz="1200" b="0" i="0"/>
              <a:t>This scale turns the number into categories that are easier to talk about. Our example of 0.075 lands in the "recurring" range.</a:t>
            </a:r>
          </a:p>
          <a:p>
            <a:pPr>
              <a:spcAft>
                <a:spcPts val="600"/>
              </a:spcAft>
            </a:pPr>
            <a:r>
              <a:rPr sz="1200" b="0" i="0"/>
              <a:t>But use some common sense. A small admin typo and a mistake that affects someone's eligibility shouldn't be treated the same. The scale helps you decide. It doesn't replace your judgment.</a:t>
            </a:r>
          </a:p>
        </p:txBody>
      </p:sp>
      <p:sp>
        <p:nvSpPr>
          <p:cNvPr id="4" name="Slide Number Placeholder 3"/>
          <p:cNvSpPr>
            <a:spLocks noGrp="1"/>
          </p:cNvSpPr>
          <p:nvPr>
            <p:ph type="sldNum" sz="quarter" idx="5"/>
          </p:nvPr>
        </p:nvSpPr>
        <p:spPr/>
        <p:txBody>
          <a:bodyPr/>
          <a:lstStyle/>
          <a:p>
            <a:fld id="{336F8861-7D18-944D-B836-A484A82765AD}" type="slidenum">
              <a:rPr lang="en-US" smtClean="0"/>
              <a:t>14</a:t>
            </a:fld>
            <a:endParaRPr lang="en-US"/>
          </a:p>
        </p:txBody>
      </p:sp>
    </p:spTree>
    <p:extLst>
      <p:ext uri="{BB962C8B-B14F-4D97-AF65-F5344CB8AC3E}">
        <p14:creationId xmlns:p14="http://schemas.microsoft.com/office/powerpoint/2010/main" val="2163591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dirty="0"/>
              <a:t>TIMING: 2 MINUTES</a:t>
            </a:r>
          </a:p>
          <a:p>
            <a:pPr>
              <a:spcAft>
                <a:spcPts val="600"/>
              </a:spcAft>
            </a:pPr>
            <a:r>
              <a:rPr sz="1200" b="1" i="0" dirty="0"/>
              <a:t>SPEAKER SCRIPT</a:t>
            </a:r>
          </a:p>
          <a:p>
            <a:pPr>
              <a:spcAft>
                <a:spcPts val="600"/>
              </a:spcAft>
            </a:pPr>
            <a:r>
              <a:rPr sz="1200" b="1" dirty="0">
                <a:solidFill>
                  <a:srgbClr val="C00000"/>
                </a:solidFill>
              </a:rPr>
              <a:t>[CLICKS ON THIS SLIDE: 1]</a:t>
            </a:r>
          </a:p>
          <a:p>
            <a:pPr>
              <a:spcAft>
                <a:spcPts val="600"/>
              </a:spcAft>
            </a:pPr>
            <a:r>
              <a:rPr sz="1200" b="0" i="0" dirty="0"/>
              <a:t>So what should we do about a DPU of 0.075? </a:t>
            </a:r>
            <a:endParaRPr sz="1200" b="1" i="1" dirty="0">
              <a:solidFill>
                <a:srgbClr val="C55A11"/>
              </a:solidFill>
            </a:endParaRPr>
          </a:p>
          <a:p>
            <a:pPr>
              <a:spcAft>
                <a:spcPts val="600"/>
              </a:spcAft>
            </a:pPr>
            <a:r>
              <a:rPr sz="1200" b="0" i="0" dirty="0"/>
              <a:t>At this level, mistakes keep coming back. They're not one-offs. So fixing individual cases won't solve it. We need to find where mistakes enter the process, figure out why, simplify things, and stop them from happening again.</a:t>
            </a:r>
          </a:p>
          <a:p>
            <a:pPr>
              <a:spcAft>
                <a:spcPts val="600"/>
              </a:spcAft>
            </a:pPr>
            <a:r>
              <a:rPr sz="1200" b="0" i="0" dirty="0"/>
              <a:t>At the company, that might mean fixing a standard template, clearing up a definition, adding a required field in the system, or bringing in our national experts to fix a pattern showing up across several projects.</a:t>
            </a:r>
          </a:p>
          <a:p>
            <a:pPr>
              <a:spcAft>
                <a:spcPts val="600"/>
              </a:spcAft>
            </a:pPr>
            <a:r>
              <a:rPr sz="1200" b="1" dirty="0">
                <a:solidFill>
                  <a:srgbClr val="C00000"/>
                </a:solidFill>
              </a:rPr>
              <a:t>[CLICK → Key takeaway]</a:t>
            </a:r>
          </a:p>
          <a:p>
            <a:pPr>
              <a:spcAft>
                <a:spcPts val="600"/>
              </a:spcAft>
            </a:pPr>
            <a:r>
              <a:rPr sz="1200" b="0" i="0" dirty="0"/>
              <a:t>At this level, the goal isn't to fix individual mistakes. It's to fix the process.</a:t>
            </a:r>
          </a:p>
        </p:txBody>
      </p:sp>
      <p:sp>
        <p:nvSpPr>
          <p:cNvPr id="4" name="Slide Number Placeholder 3"/>
          <p:cNvSpPr>
            <a:spLocks noGrp="1"/>
          </p:cNvSpPr>
          <p:nvPr>
            <p:ph type="sldNum" sz="quarter" idx="5"/>
          </p:nvPr>
        </p:nvSpPr>
        <p:spPr/>
        <p:txBody>
          <a:bodyPr/>
          <a:lstStyle/>
          <a:p>
            <a:fld id="{336F8861-7D18-944D-B836-A484A82765AD}" type="slidenum">
              <a:rPr lang="en-US" smtClean="0"/>
              <a:t>15</a:t>
            </a:fld>
            <a:endParaRPr lang="en-US"/>
          </a:p>
        </p:txBody>
      </p:sp>
    </p:spTree>
    <p:extLst>
      <p:ext uri="{BB962C8B-B14F-4D97-AF65-F5344CB8AC3E}">
        <p14:creationId xmlns:p14="http://schemas.microsoft.com/office/powerpoint/2010/main" val="35682692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Before we calculate DPMO, we need three terms.</a:t>
            </a:r>
          </a:p>
          <a:p>
            <a:pPr>
              <a:spcAft>
                <a:spcPts val="600"/>
              </a:spcAft>
            </a:pPr>
            <a:r>
              <a:rPr sz="1200" b="0" i="0"/>
              <a:t>DPU is defects per unit, which you know now. Opportunities are the number of chances for a mistake in one item. And DPMO, or defects per million opportunities, puts everything on the same scale so we can compare.</a:t>
            </a:r>
          </a:p>
          <a:p>
            <a:pPr>
              <a:spcAft>
                <a:spcPts val="600"/>
              </a:spcAft>
            </a:pPr>
            <a:r>
              <a:rPr sz="1200" b="0" i="0"/>
              <a:t>And here's the good news. You don't need a million cases. A million is just the standard yardstick, kind of like saying "miles per hour" when you're only driving for ten minutes.</a:t>
            </a:r>
          </a:p>
          <a:p>
            <a:pPr>
              <a:spcAft>
                <a:spcPts val="600"/>
              </a:spcAft>
            </a:pPr>
            <a:r>
              <a:rPr sz="1200" b="0" i="0"/>
              <a:t>The formula: DPU divided by opportunities per item, times one million. This lets us compare a simple process with a complicated one fairly.</a:t>
            </a:r>
          </a:p>
        </p:txBody>
      </p:sp>
      <p:sp>
        <p:nvSpPr>
          <p:cNvPr id="4" name="Slide Number Placeholder 3"/>
          <p:cNvSpPr>
            <a:spLocks noGrp="1"/>
          </p:cNvSpPr>
          <p:nvPr>
            <p:ph type="sldNum" sz="quarter" idx="5"/>
          </p:nvPr>
        </p:nvSpPr>
        <p:spPr/>
        <p:txBody>
          <a:bodyPr/>
          <a:lstStyle/>
          <a:p>
            <a:fld id="{336F8861-7D18-944D-B836-A484A82765AD}" type="slidenum">
              <a:rPr lang="en-US" smtClean="0"/>
              <a:t>16</a:t>
            </a:fld>
            <a:endParaRPr lang="en-US"/>
          </a:p>
        </p:txBody>
      </p:sp>
    </p:spTree>
    <p:extLst>
      <p:ext uri="{BB962C8B-B14F-4D97-AF65-F5344CB8AC3E}">
        <p14:creationId xmlns:p14="http://schemas.microsoft.com/office/powerpoint/2010/main" val="6380730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dirty="0"/>
              <a:t>TIMING: 2 MINUTES</a:t>
            </a:r>
          </a:p>
          <a:p>
            <a:pPr>
              <a:spcAft>
                <a:spcPts val="600"/>
              </a:spcAft>
            </a:pPr>
            <a:r>
              <a:rPr sz="1200" b="1" i="0" dirty="0"/>
              <a:t>SPEAKER SCRIPT</a:t>
            </a:r>
          </a:p>
          <a:p>
            <a:pPr>
              <a:spcAft>
                <a:spcPts val="600"/>
              </a:spcAft>
            </a:pPr>
            <a:r>
              <a:rPr sz="1200" b="1" dirty="0">
                <a:solidFill>
                  <a:srgbClr val="C00000"/>
                </a:solidFill>
              </a:rPr>
              <a:t>[CLICKS ON THIS SLIDE: 2]</a:t>
            </a:r>
          </a:p>
          <a:p>
            <a:pPr>
              <a:spcAft>
                <a:spcPts val="600"/>
              </a:spcAft>
            </a:pPr>
            <a:r>
              <a:rPr sz="1200" b="0" i="0" dirty="0"/>
              <a:t>An opportunity is any point in the process where a mistake could happen. The more steps a process has, the more chances there are for something to go wrong.</a:t>
            </a:r>
          </a:p>
          <a:p>
            <a:pPr>
              <a:spcAft>
                <a:spcPts val="600"/>
              </a:spcAft>
            </a:pPr>
            <a:r>
              <a:rPr sz="1200" b="1" dirty="0">
                <a:solidFill>
                  <a:srgbClr val="C00000"/>
                </a:solidFill>
              </a:rPr>
              <a:t>[CLICK → Occupational health example]</a:t>
            </a:r>
          </a:p>
          <a:p>
            <a:pPr>
              <a:spcAft>
                <a:spcPts val="600"/>
              </a:spcAft>
            </a:pPr>
            <a:r>
              <a:rPr sz="1200" b="0" i="0" dirty="0"/>
              <a:t>In this referral example, the referral info could be incomplete, the appointment could be booked wrong, records could be missing, or the return-to-work advice might not get shared. That's four opportunities.</a:t>
            </a:r>
          </a:p>
          <a:p>
            <a:pPr>
              <a:spcAft>
                <a:spcPts val="600"/>
              </a:spcAft>
            </a:pPr>
            <a:r>
              <a:rPr sz="1200" b="0" i="0" dirty="0"/>
              <a:t>Look at the two processes on the slide. The simpler one removed an unnecessary approval and combined the review with booking. Fewer steps means fewer chances for mistakes.</a:t>
            </a:r>
          </a:p>
          <a:p>
            <a:pPr>
              <a:spcAft>
                <a:spcPts val="600"/>
              </a:spcAft>
            </a:pPr>
            <a:r>
              <a:rPr sz="1200" b="0" i="0" dirty="0"/>
              <a:t>At the company, our systems can help too, with required fields, automatic routing, and standard templates.</a:t>
            </a:r>
          </a:p>
          <a:p>
            <a:pPr>
              <a:spcAft>
                <a:spcPts val="600"/>
              </a:spcAft>
            </a:pPr>
            <a:r>
              <a:rPr sz="1200" b="1" dirty="0">
                <a:solidFill>
                  <a:srgbClr val="C00000"/>
                </a:solidFill>
              </a:rPr>
              <a:t>[CLICK → Key takeaway]</a:t>
            </a:r>
          </a:p>
          <a:p>
            <a:pPr>
              <a:spcAft>
                <a:spcPts val="600"/>
              </a:spcAft>
            </a:pPr>
            <a:r>
              <a:rPr sz="1200" b="0" i="0" dirty="0"/>
              <a:t>The goal isn't to cut steps that help the customer. It's to cut the extra complexity that creates chances for mistakes.</a:t>
            </a:r>
          </a:p>
        </p:txBody>
      </p:sp>
      <p:sp>
        <p:nvSpPr>
          <p:cNvPr id="4" name="Slide Number Placeholder 3"/>
          <p:cNvSpPr>
            <a:spLocks noGrp="1"/>
          </p:cNvSpPr>
          <p:nvPr>
            <p:ph type="sldNum" sz="quarter" idx="5"/>
          </p:nvPr>
        </p:nvSpPr>
        <p:spPr/>
        <p:txBody>
          <a:bodyPr/>
          <a:lstStyle/>
          <a:p>
            <a:fld id="{336F8861-7D18-944D-B836-A484A82765AD}" type="slidenum">
              <a:rPr lang="en-US" smtClean="0"/>
              <a:t>17</a:t>
            </a:fld>
            <a:endParaRPr lang="en-US"/>
          </a:p>
        </p:txBody>
      </p:sp>
    </p:spTree>
    <p:extLst>
      <p:ext uri="{BB962C8B-B14F-4D97-AF65-F5344CB8AC3E}">
        <p14:creationId xmlns:p14="http://schemas.microsoft.com/office/powerpoint/2010/main" val="22550747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dirty="0"/>
              <a:t>TIMING: 2.5 MINUTES</a:t>
            </a:r>
          </a:p>
          <a:p>
            <a:pPr>
              <a:spcAft>
                <a:spcPts val="600"/>
              </a:spcAft>
            </a:pPr>
            <a:r>
              <a:rPr sz="1200" b="1" i="0" dirty="0"/>
              <a:t>SPEAKER SCRIPT</a:t>
            </a:r>
          </a:p>
          <a:p>
            <a:pPr>
              <a:spcAft>
                <a:spcPts val="600"/>
              </a:spcAft>
            </a:pPr>
            <a:r>
              <a:rPr sz="1200" b="0" i="0" dirty="0"/>
              <a:t>When you count opportunities, be consistent.</a:t>
            </a:r>
          </a:p>
          <a:p>
            <a:pPr>
              <a:spcAft>
                <a:spcPts val="600"/>
              </a:spcAft>
            </a:pPr>
            <a:r>
              <a:rPr sz="1200" b="0" i="0" dirty="0"/>
              <a:t>Start with the common mistakes that matter to the customer or the process. Group similar ones together, match them to where they can happen, and double-check your list against your standards.</a:t>
            </a:r>
          </a:p>
          <a:p>
            <a:pPr>
              <a:spcAft>
                <a:spcPts val="600"/>
              </a:spcAft>
            </a:pPr>
            <a:r>
              <a:rPr sz="1200" b="0" i="0" dirty="0"/>
              <a:t>Don't try to list every possible thing that could ever go wrong. Keep it practical.</a:t>
            </a:r>
          </a:p>
          <a:p>
            <a:pPr>
              <a:spcAft>
                <a:spcPts val="600"/>
              </a:spcAft>
            </a:pPr>
            <a:r>
              <a:rPr sz="1200" b="0" i="0" dirty="0"/>
              <a:t>And once you start measuring, don't change the definition without writing it down. Otherwise you can't compare this month to last month, or one project to another.</a:t>
            </a:r>
          </a:p>
          <a:p>
            <a:pPr>
              <a:spcAft>
                <a:spcPts val="600"/>
              </a:spcAft>
            </a:pPr>
            <a:r>
              <a:rPr sz="1200" b="1" dirty="0">
                <a:solidFill>
                  <a:srgbClr val="0070C0"/>
                </a:solidFill>
              </a:rPr>
              <a:t>[ASK]</a:t>
            </a:r>
            <a:r>
              <a:rPr sz="1200" b="0" i="0" dirty="0"/>
              <a:t> Why do you think someone might be tempted to add more opportunities? </a:t>
            </a:r>
            <a:r>
              <a:rPr sz="1200" b="1" dirty="0">
                <a:solidFill>
                  <a:srgbClr val="0070C0"/>
                </a:solidFill>
              </a:rPr>
              <a:t>[Pause.]</a:t>
            </a:r>
            <a:r>
              <a:rPr sz="1200" b="0" i="0" dirty="0"/>
              <a:t> Right: more opportunities makes the score look better. We'll see that in an example shortly.</a:t>
            </a:r>
          </a:p>
        </p:txBody>
      </p:sp>
      <p:sp>
        <p:nvSpPr>
          <p:cNvPr id="4" name="Slide Number Placeholder 3"/>
          <p:cNvSpPr>
            <a:spLocks noGrp="1"/>
          </p:cNvSpPr>
          <p:nvPr>
            <p:ph type="sldNum" sz="quarter" idx="5"/>
          </p:nvPr>
        </p:nvSpPr>
        <p:spPr/>
        <p:txBody>
          <a:bodyPr/>
          <a:lstStyle/>
          <a:p>
            <a:fld id="{336F8861-7D18-944D-B836-A484A82765AD}" type="slidenum">
              <a:rPr lang="en-US" smtClean="0"/>
              <a:t>18</a:t>
            </a:fld>
            <a:endParaRPr lang="en-US"/>
          </a:p>
        </p:txBody>
      </p:sp>
    </p:spTree>
    <p:extLst>
      <p:ext uri="{BB962C8B-B14F-4D97-AF65-F5344CB8AC3E}">
        <p14:creationId xmlns:p14="http://schemas.microsoft.com/office/powerpoint/2010/main" val="1458205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dirty="0"/>
              <a:t>TIMING: 2.5 MINUTES</a:t>
            </a:r>
          </a:p>
          <a:p>
            <a:pPr>
              <a:spcAft>
                <a:spcPts val="600"/>
              </a:spcAft>
            </a:pPr>
            <a:r>
              <a:rPr sz="1200" b="1" i="0" dirty="0"/>
              <a:t>SPEAKER SCRIPT</a:t>
            </a:r>
          </a:p>
          <a:p>
            <a:pPr>
              <a:spcAft>
                <a:spcPts val="600"/>
              </a:spcAft>
            </a:pPr>
            <a:r>
              <a:rPr sz="1200" b="0" i="0" dirty="0"/>
              <a:t>Let's put it all together with our cakes.</a:t>
            </a:r>
          </a:p>
          <a:p>
            <a:pPr>
              <a:spcAft>
                <a:spcPts val="600"/>
              </a:spcAft>
            </a:pPr>
            <a:r>
              <a:rPr sz="1200" b="0" i="0" dirty="0"/>
              <a:t>One hundred cakes, each with three chances for a mistake: the sponge, the icing, and the decoration. That's 300 total opportunities.</a:t>
            </a:r>
          </a:p>
          <a:p>
            <a:pPr>
              <a:spcAft>
                <a:spcPts val="600"/>
              </a:spcAft>
            </a:pPr>
            <a:r>
              <a:rPr sz="1200" b="0" i="0" dirty="0"/>
              <a:t>We found 3 mistakes across 100 cakes. That's a DPU of 0.03.</a:t>
            </a:r>
          </a:p>
          <a:p>
            <a:pPr>
              <a:spcAft>
                <a:spcPts val="600"/>
              </a:spcAft>
            </a:pPr>
            <a:r>
              <a:rPr sz="1200" b="0" i="0" dirty="0"/>
              <a:t>Now divide 0.03 by 3 opportunities and multiply by one million. That gives us 10,000 DPMO.</a:t>
            </a:r>
          </a:p>
          <a:p>
            <a:pPr>
              <a:spcAft>
                <a:spcPts val="600"/>
              </a:spcAft>
            </a:pPr>
            <a:r>
              <a:rPr sz="1200" b="0" i="0" dirty="0"/>
              <a:t>Here's a simple way to remember it: opportunities are what could go wrong. DPU is what did go wrong. DPMO puts it on a common scale.</a:t>
            </a:r>
          </a:p>
        </p:txBody>
      </p:sp>
      <p:sp>
        <p:nvSpPr>
          <p:cNvPr id="4" name="Slide Number Placeholder 3"/>
          <p:cNvSpPr>
            <a:spLocks noGrp="1"/>
          </p:cNvSpPr>
          <p:nvPr>
            <p:ph type="sldNum" sz="quarter" idx="5"/>
          </p:nvPr>
        </p:nvSpPr>
        <p:spPr/>
        <p:txBody>
          <a:bodyPr/>
          <a:lstStyle/>
          <a:p>
            <a:fld id="{336F8861-7D18-944D-B836-A484A82765AD}" type="slidenum">
              <a:rPr lang="en-US" smtClean="0"/>
              <a:t>19</a:t>
            </a:fld>
            <a:endParaRPr lang="en-US"/>
          </a:p>
        </p:txBody>
      </p:sp>
    </p:spTree>
    <p:extLst>
      <p:ext uri="{BB962C8B-B14F-4D97-AF65-F5344CB8AC3E}">
        <p14:creationId xmlns:p14="http://schemas.microsoft.com/office/powerpoint/2010/main" val="6703615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6C980-25DB-6E08-9C52-CC36659A4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2AC0D-5CF4-24B3-56AC-36E173070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0F09D-7A50-5D7F-C547-27F64767EAFF}"/>
              </a:ext>
            </a:extLst>
          </p:cNvPr>
          <p:cNvSpPr>
            <a:spLocks noGrp="1"/>
          </p:cNvSpPr>
          <p:nvPr>
            <p:ph type="body" idx="1"/>
          </p:nvPr>
        </p:nvSpPr>
        <p:spPr/>
        <p:txBody>
          <a:bodyPr/>
          <a:lstStyle/>
          <a:p>
            <a:pPr>
              <a:spcAft>
                <a:spcPts val="600"/>
              </a:spcAft>
            </a:pPr>
            <a:r>
              <a:rPr sz="1200" b="1" i="0" dirty="0"/>
              <a:t>TIMING: 1.5 MINUTES</a:t>
            </a:r>
          </a:p>
          <a:p>
            <a:pPr>
              <a:spcAft>
                <a:spcPts val="600"/>
              </a:spcAft>
            </a:pPr>
            <a:r>
              <a:rPr sz="1200" b="1" i="0" dirty="0"/>
              <a:t>SPEAKER SCRIPT</a:t>
            </a:r>
          </a:p>
          <a:p>
            <a:pPr>
              <a:spcAft>
                <a:spcPts val="600"/>
              </a:spcAft>
            </a:pPr>
            <a:r>
              <a:rPr sz="1200" b="0" i="0" dirty="0"/>
              <a:t>Now the same math with occupational health referrals.</a:t>
            </a:r>
          </a:p>
          <a:p>
            <a:pPr>
              <a:spcAft>
                <a:spcPts val="600"/>
              </a:spcAft>
            </a:pPr>
            <a:r>
              <a:rPr sz="1200" b="0" i="0" dirty="0"/>
              <a:t>One hundred referrals, each with three opportunities, gives 300 total opportunities</a:t>
            </a:r>
            <a:r>
              <a:rPr lang="en-US" sz="1200" b="0" i="0" dirty="0"/>
              <a:t>.</a:t>
            </a:r>
          </a:p>
          <a:p>
            <a:pPr>
              <a:spcAft>
                <a:spcPts val="600"/>
              </a:spcAft>
            </a:pPr>
            <a:r>
              <a:rPr sz="1200" b="0" i="0" dirty="0"/>
              <a:t>Three mistakes divided by 100 referrals is a DPU of 0.03. Divide by 3 and multiply by a million, and we get 10,000 DPMO.</a:t>
            </a:r>
          </a:p>
          <a:p>
            <a:pPr>
              <a:spcAft>
                <a:spcPts val="600"/>
              </a:spcAft>
            </a:pPr>
            <a:r>
              <a:rPr sz="1200" b="0" i="0" dirty="0"/>
              <a:t>Same math as the cakes. But a mistake </a:t>
            </a:r>
            <a:r>
              <a:rPr lang="en-US" sz="1200" b="0" i="0" dirty="0"/>
              <a:t>within a project often</a:t>
            </a:r>
            <a:r>
              <a:rPr sz="1200" b="0" i="0" dirty="0"/>
              <a:t> affects a real person getting back to work, so how we define and prioritize mistakes has to fit the service.</a:t>
            </a:r>
          </a:p>
        </p:txBody>
      </p:sp>
      <p:sp>
        <p:nvSpPr>
          <p:cNvPr id="4" name="Slide Number Placeholder 3">
            <a:extLst>
              <a:ext uri="{FF2B5EF4-FFF2-40B4-BE49-F238E27FC236}">
                <a16:creationId xmlns:a16="http://schemas.microsoft.com/office/drawing/2014/main" id="{30449080-523A-E781-1612-E1B1BE42A361}"/>
              </a:ext>
            </a:extLst>
          </p:cNvPr>
          <p:cNvSpPr>
            <a:spLocks noGrp="1"/>
          </p:cNvSpPr>
          <p:nvPr>
            <p:ph type="sldNum" sz="quarter" idx="5"/>
          </p:nvPr>
        </p:nvSpPr>
        <p:spPr/>
        <p:txBody>
          <a:bodyPr/>
          <a:lstStyle/>
          <a:p>
            <a:fld id="{336F8861-7D18-944D-B836-A484A82765AD}" type="slidenum">
              <a:rPr lang="en-US" smtClean="0"/>
              <a:t>20</a:t>
            </a:fld>
            <a:endParaRPr lang="en-US"/>
          </a:p>
        </p:txBody>
      </p:sp>
    </p:spTree>
    <p:extLst>
      <p:ext uri="{BB962C8B-B14F-4D97-AF65-F5344CB8AC3E}">
        <p14:creationId xmlns:p14="http://schemas.microsoft.com/office/powerpoint/2010/main" val="35521114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BE6E4-FBEC-1125-9488-9E95CF364E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73D2A-BDD1-F9F6-73E8-E5FBB5C56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978EFD-4614-90AD-513C-337853B254E1}"/>
              </a:ext>
            </a:extLst>
          </p:cNvPr>
          <p:cNvSpPr>
            <a:spLocks noGrp="1"/>
          </p:cNvSpPr>
          <p:nvPr>
            <p:ph type="body" idx="1"/>
          </p:nvPr>
        </p:nvSpPr>
        <p:spPr/>
        <p:txBody>
          <a:bodyPr/>
          <a:lstStyle/>
          <a:p>
            <a:pPr>
              <a:spcAft>
                <a:spcPts val="600"/>
              </a:spcAft>
            </a:pPr>
            <a:r>
              <a:rPr sz="1200" b="1" i="0"/>
              <a:t>TIMING: 1.5 MINUTES</a:t>
            </a:r>
          </a:p>
          <a:p>
            <a:pPr>
              <a:spcAft>
                <a:spcPts val="600"/>
              </a:spcAft>
            </a:pPr>
            <a:r>
              <a:rPr sz="1200" b="1" i="0"/>
              <a:t>SPEAKER SCRIPT</a:t>
            </a:r>
          </a:p>
          <a:p>
            <a:pPr>
              <a:spcAft>
                <a:spcPts val="600"/>
              </a:spcAft>
            </a:pPr>
            <a:r>
              <a:rPr sz="1200" b="0" i="0"/>
              <a:t>This one's very close to home for us: employment support.</a:t>
            </a:r>
          </a:p>
          <a:p>
            <a:pPr>
              <a:spcAft>
                <a:spcPts val="600"/>
              </a:spcAft>
            </a:pPr>
            <a:r>
              <a:rPr sz="1200" b="0" i="0"/>
              <a:t>Two hundred fifty job seekers, each with four opportunities, gives 1,000 total opportunities. Twelve mistakes divided by 250 is a DPU of 0.048. Divide by 4 and multiply by a million: 12,000 DPMO.</a:t>
            </a:r>
          </a:p>
          <a:p>
            <a:pPr>
              <a:spcAft>
                <a:spcPts val="600"/>
              </a:spcAft>
            </a:pPr>
            <a:r>
              <a:rPr sz="1200" b="1">
                <a:solidFill>
                  <a:srgbClr val="0070C0"/>
                </a:solidFill>
              </a:rPr>
              <a:t>[ASK]</a:t>
            </a:r>
            <a:r>
              <a:rPr sz="1200" b="0" i="0"/>
              <a:t> Looking at the list of mistakes on the slide, which one would you go after first? </a:t>
            </a:r>
            <a:r>
              <a:rPr sz="1200" b="1">
                <a:solidFill>
                  <a:srgbClr val="0070C0"/>
                </a:solidFill>
              </a:rPr>
              <a:t>[Take one or two answers.]</a:t>
            </a:r>
          </a:p>
          <a:p>
            <a:pPr>
              <a:spcAft>
                <a:spcPts val="600"/>
              </a:spcAft>
            </a:pPr>
            <a:r>
              <a:rPr sz="1200" b="0" i="0"/>
              <a:t>That's the real value here. The mistake types tell us where to look: assessments, action plans, training assignments, or employer referrals. The number becomes something we can act on.</a:t>
            </a:r>
          </a:p>
        </p:txBody>
      </p:sp>
      <p:sp>
        <p:nvSpPr>
          <p:cNvPr id="4" name="Slide Number Placeholder 3">
            <a:extLst>
              <a:ext uri="{FF2B5EF4-FFF2-40B4-BE49-F238E27FC236}">
                <a16:creationId xmlns:a16="http://schemas.microsoft.com/office/drawing/2014/main" id="{ACD1D4CC-2F05-70A6-F87C-23951F367D9C}"/>
              </a:ext>
            </a:extLst>
          </p:cNvPr>
          <p:cNvSpPr>
            <a:spLocks noGrp="1"/>
          </p:cNvSpPr>
          <p:nvPr>
            <p:ph type="sldNum" sz="quarter" idx="5"/>
          </p:nvPr>
        </p:nvSpPr>
        <p:spPr/>
        <p:txBody>
          <a:bodyPr/>
          <a:lstStyle/>
          <a:p>
            <a:fld id="{336F8861-7D18-944D-B836-A484A82765AD}" type="slidenum">
              <a:rPr lang="en-US" smtClean="0"/>
              <a:t>21</a:t>
            </a:fld>
            <a:endParaRPr lang="en-US"/>
          </a:p>
        </p:txBody>
      </p:sp>
    </p:spTree>
    <p:extLst>
      <p:ext uri="{BB962C8B-B14F-4D97-AF65-F5344CB8AC3E}">
        <p14:creationId xmlns:p14="http://schemas.microsoft.com/office/powerpoint/2010/main" val="41756467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FB09E-B9BD-E82A-51C3-2AB01D797F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1802B-38D8-8B09-E8DB-C76E908407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E1F71-0D99-F829-A366-3E6D4056AA1D}"/>
              </a:ext>
            </a:extLst>
          </p:cNvPr>
          <p:cNvSpPr>
            <a:spLocks noGrp="1"/>
          </p:cNvSpPr>
          <p:nvPr>
            <p:ph type="body" idx="1"/>
          </p:nvPr>
        </p:nvSpPr>
        <p:spPr/>
        <p:txBody>
          <a:bodyPr/>
          <a:lstStyle/>
          <a:p>
            <a:pPr>
              <a:spcAft>
                <a:spcPts val="600"/>
              </a:spcAft>
            </a:pPr>
            <a:r>
              <a:rPr sz="1200" b="1" i="0" dirty="0"/>
              <a:t>TIMING: 1.5 MINUTES</a:t>
            </a:r>
          </a:p>
          <a:p>
            <a:pPr>
              <a:spcAft>
                <a:spcPts val="600"/>
              </a:spcAft>
            </a:pPr>
            <a:r>
              <a:rPr sz="1200" b="1" i="0" dirty="0"/>
              <a:t>SPEAKER SCRIPT</a:t>
            </a:r>
          </a:p>
          <a:p>
            <a:pPr>
              <a:spcAft>
                <a:spcPts val="600"/>
              </a:spcAft>
            </a:pPr>
            <a:r>
              <a:rPr sz="1200" b="0" i="0" dirty="0"/>
              <a:t>One more: onboarding new employees.</a:t>
            </a:r>
          </a:p>
          <a:p>
            <a:pPr>
              <a:spcAft>
                <a:spcPts val="600"/>
              </a:spcAft>
            </a:pPr>
            <a:r>
              <a:rPr sz="1200" b="0" i="0" dirty="0"/>
              <a:t>Three hundred new starters, each with five opportunities, gives 1,500 total opportunities. Twenty mistakes divided by 300 is about 0.0667. Divide by 5 and multiply by a million: about 13,333 DPMO. </a:t>
            </a:r>
            <a:endParaRPr sz="1200" b="1" i="1" dirty="0">
              <a:solidFill>
                <a:srgbClr val="C55A11"/>
              </a:solidFill>
            </a:endParaRPr>
          </a:p>
          <a:p>
            <a:pPr>
              <a:spcAft>
                <a:spcPts val="600"/>
              </a:spcAft>
            </a:pPr>
            <a:r>
              <a:rPr sz="1200" b="0" i="0" dirty="0"/>
              <a:t>This lets us compare over time. But we still need to look at the types of mistakes. A payroll error, a late laptop, and missing training each need a different fix.</a:t>
            </a:r>
          </a:p>
        </p:txBody>
      </p:sp>
      <p:sp>
        <p:nvSpPr>
          <p:cNvPr id="4" name="Slide Number Placeholder 3">
            <a:extLst>
              <a:ext uri="{FF2B5EF4-FFF2-40B4-BE49-F238E27FC236}">
                <a16:creationId xmlns:a16="http://schemas.microsoft.com/office/drawing/2014/main" id="{C5A79F94-2382-2E00-193E-D6777D0CE2C0}"/>
              </a:ext>
            </a:extLst>
          </p:cNvPr>
          <p:cNvSpPr>
            <a:spLocks noGrp="1"/>
          </p:cNvSpPr>
          <p:nvPr>
            <p:ph type="sldNum" sz="quarter" idx="5"/>
          </p:nvPr>
        </p:nvSpPr>
        <p:spPr/>
        <p:txBody>
          <a:bodyPr/>
          <a:lstStyle/>
          <a:p>
            <a:fld id="{336F8861-7D18-944D-B836-A484A82765AD}" type="slidenum">
              <a:rPr lang="en-US" smtClean="0"/>
              <a:t>22</a:t>
            </a:fld>
            <a:endParaRPr lang="en-US"/>
          </a:p>
        </p:txBody>
      </p:sp>
    </p:spTree>
    <p:extLst>
      <p:ext uri="{BB962C8B-B14F-4D97-AF65-F5344CB8AC3E}">
        <p14:creationId xmlns:p14="http://schemas.microsoft.com/office/powerpoint/2010/main" val="4021630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dirty="0"/>
              <a:t>TIMING: 2.5 MINUTES</a:t>
            </a:r>
          </a:p>
          <a:p>
            <a:pPr>
              <a:spcAft>
                <a:spcPts val="600"/>
              </a:spcAft>
            </a:pPr>
            <a:r>
              <a:rPr sz="1200" b="1" i="0" dirty="0"/>
              <a:t>SPEAKER SCRIPT</a:t>
            </a:r>
          </a:p>
          <a:p>
            <a:pPr>
              <a:spcAft>
                <a:spcPts val="600"/>
              </a:spcAft>
            </a:pPr>
            <a:r>
              <a:rPr sz="1200" b="0" i="0" dirty="0"/>
              <a:t>Now it's your turn!</a:t>
            </a:r>
          </a:p>
          <a:p>
            <a:pPr>
              <a:spcAft>
                <a:spcPts val="600"/>
              </a:spcAft>
            </a:pPr>
            <a:r>
              <a:rPr sz="1200" b="0" i="0" dirty="0"/>
              <a:t>Our child care team supported 200 families. Each family has 4 chances for a mistake, and the team found 16 mistakes.</a:t>
            </a:r>
          </a:p>
          <a:p>
            <a:pPr>
              <a:spcAft>
                <a:spcPts val="600"/>
              </a:spcAft>
            </a:pPr>
            <a:r>
              <a:rPr sz="1200" b="0" i="0" dirty="0"/>
              <a:t>Work through three steps: total opportunities, then DPU, then DPMO. Use the formula on the slide.</a:t>
            </a:r>
          </a:p>
          <a:p>
            <a:pPr>
              <a:spcAft>
                <a:spcPts val="600"/>
              </a:spcAft>
            </a:pPr>
            <a:r>
              <a:rPr sz="1200" b="1" dirty="0">
                <a:solidFill>
                  <a:srgbClr val="0070C0"/>
                </a:solidFill>
              </a:rPr>
              <a:t>[CHAT – waterfall]</a:t>
            </a:r>
            <a:r>
              <a:rPr sz="1200" b="0" i="0" dirty="0"/>
              <a:t> Type your DPMO answer in the chat, but don't hit enter until I say go. I'll give you about two minutes. </a:t>
            </a:r>
            <a:r>
              <a:rPr sz="1200" b="1" dirty="0">
                <a:solidFill>
                  <a:srgbClr val="0070C0"/>
                </a:solidFill>
              </a:rPr>
              <a:t>[Pause for the activity, then say "Go!" and look at the spread of answers.]</a:t>
            </a:r>
          </a:p>
        </p:txBody>
      </p:sp>
      <p:sp>
        <p:nvSpPr>
          <p:cNvPr id="4" name="Slide Number Placeholder 3"/>
          <p:cNvSpPr>
            <a:spLocks noGrp="1"/>
          </p:cNvSpPr>
          <p:nvPr>
            <p:ph type="sldNum" sz="quarter" idx="5"/>
          </p:nvPr>
        </p:nvSpPr>
        <p:spPr/>
        <p:txBody>
          <a:bodyPr/>
          <a:lstStyle/>
          <a:p>
            <a:fld id="{336F8861-7D18-944D-B836-A484A82765AD}" type="slidenum">
              <a:rPr lang="en-US" smtClean="0"/>
              <a:t>23</a:t>
            </a:fld>
            <a:endParaRPr lang="en-US"/>
          </a:p>
        </p:txBody>
      </p:sp>
    </p:spTree>
    <p:extLst>
      <p:ext uri="{BB962C8B-B14F-4D97-AF65-F5344CB8AC3E}">
        <p14:creationId xmlns:p14="http://schemas.microsoft.com/office/powerpoint/2010/main" val="3372205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dirty="0"/>
              <a:t>TIMING: 1.5 MINUTES</a:t>
            </a:r>
          </a:p>
          <a:p>
            <a:pPr>
              <a:spcAft>
                <a:spcPts val="600"/>
              </a:spcAft>
            </a:pPr>
            <a:r>
              <a:rPr sz="1200" b="1" i="0" dirty="0"/>
              <a:t>SPEAKER SCRIPT</a:t>
            </a:r>
          </a:p>
          <a:p>
            <a:pPr>
              <a:spcAft>
                <a:spcPts val="600"/>
              </a:spcAft>
            </a:pPr>
            <a:r>
              <a:rPr sz="1200" b="0" i="0" dirty="0"/>
              <a:t>Let's check.</a:t>
            </a:r>
          </a:p>
          <a:p>
            <a:pPr>
              <a:spcAft>
                <a:spcPts val="600"/>
              </a:spcAft>
            </a:pPr>
            <a:r>
              <a:rPr sz="1200" b="0" i="0" dirty="0"/>
              <a:t>Four opportunities times 200 families gives 800 total opportunities. Sixteen mistakes divided by 200 families gives a DPU of 0.08. Then divide 0.08 by 4 opportunities and multiply by one million. The answer is 20,000 DPMO.</a:t>
            </a:r>
            <a:endParaRPr sz="1200" b="1" i="1" dirty="0">
              <a:solidFill>
                <a:srgbClr val="C55A11"/>
              </a:solidFill>
            </a:endParaRPr>
          </a:p>
          <a:p>
            <a:pPr>
              <a:spcAft>
                <a:spcPts val="600"/>
              </a:spcAft>
            </a:pPr>
            <a:r>
              <a:rPr sz="1200" b="1" dirty="0">
                <a:solidFill>
                  <a:srgbClr val="0070C0"/>
                </a:solidFill>
              </a:rPr>
              <a:t>[ASK]</a:t>
            </a:r>
            <a:r>
              <a:rPr sz="1200" b="0" i="0" dirty="0"/>
              <a:t> Who got 20,000? Give me a thumbs-up! </a:t>
            </a:r>
            <a:r>
              <a:rPr sz="1200" b="1" dirty="0">
                <a:solidFill>
                  <a:srgbClr val="0070C0"/>
                </a:solidFill>
              </a:rPr>
              <a:t>[Pause.]</a:t>
            </a:r>
          </a:p>
          <a:p>
            <a:pPr>
              <a:spcAft>
                <a:spcPts val="600"/>
              </a:spcAft>
            </a:pPr>
            <a:r>
              <a:rPr sz="1200" b="0" i="0" dirty="0"/>
              <a:t>One tip: in the DPMO step, divide by the opportunities per family, which is 4, not the total of 800. DPU already accounts for the number of families.</a:t>
            </a:r>
          </a:p>
        </p:txBody>
      </p:sp>
      <p:sp>
        <p:nvSpPr>
          <p:cNvPr id="4" name="Slide Number Placeholder 3"/>
          <p:cNvSpPr>
            <a:spLocks noGrp="1"/>
          </p:cNvSpPr>
          <p:nvPr>
            <p:ph type="sldNum" sz="quarter" idx="5"/>
          </p:nvPr>
        </p:nvSpPr>
        <p:spPr/>
        <p:txBody>
          <a:bodyPr/>
          <a:lstStyle/>
          <a:p>
            <a:fld id="{336F8861-7D18-944D-B836-A484A82765AD}" type="slidenum">
              <a:rPr lang="en-US" smtClean="0"/>
              <a:t>24</a:t>
            </a:fld>
            <a:endParaRPr lang="en-US"/>
          </a:p>
        </p:txBody>
      </p:sp>
    </p:spTree>
    <p:extLst>
      <p:ext uri="{BB962C8B-B14F-4D97-AF65-F5344CB8AC3E}">
        <p14:creationId xmlns:p14="http://schemas.microsoft.com/office/powerpoint/2010/main" val="3372205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0.5 MINUTES</a:t>
            </a:r>
          </a:p>
          <a:p>
            <a:pPr>
              <a:spcAft>
                <a:spcPts val="600"/>
              </a:spcAft>
            </a:pPr>
            <a:r>
              <a:rPr sz="1200" b="1" i="0"/>
              <a:t>SPEAKER SCRIPT</a:t>
            </a:r>
          </a:p>
          <a:p>
            <a:pPr>
              <a:spcAft>
                <a:spcPts val="600"/>
              </a:spcAft>
            </a:pPr>
            <a:r>
              <a:rPr sz="1200" b="0" i="0"/>
              <a:t>We've worked out how many mistakes a process makes. Next, we'll turn that into one score called Process Sigma. It's another way to describe how good a process is.</a:t>
            </a:r>
          </a:p>
        </p:txBody>
      </p:sp>
      <p:sp>
        <p:nvSpPr>
          <p:cNvPr id="4" name="Slide Number Placeholder 3"/>
          <p:cNvSpPr>
            <a:spLocks noGrp="1"/>
          </p:cNvSpPr>
          <p:nvPr>
            <p:ph type="sldNum" sz="quarter" idx="5"/>
          </p:nvPr>
        </p:nvSpPr>
        <p:spPr/>
        <p:txBody>
          <a:bodyPr/>
          <a:lstStyle/>
          <a:p>
            <a:fld id="{336F8861-7D18-944D-B836-A484A82765AD}" type="slidenum">
              <a:rPr lang="en-US" smtClean="0"/>
              <a:t>25</a:t>
            </a:fld>
            <a:endParaRPr lang="en-US"/>
          </a:p>
        </p:txBody>
      </p:sp>
    </p:spTree>
    <p:extLst>
      <p:ext uri="{BB962C8B-B14F-4D97-AF65-F5344CB8AC3E}">
        <p14:creationId xmlns:p14="http://schemas.microsoft.com/office/powerpoint/2010/main" val="25453346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Process Sigma is a score for how well a process performs, based on its mistakes and how much it varies.</a:t>
            </a:r>
          </a:p>
          <a:p>
            <a:pPr>
              <a:spcAft>
                <a:spcPts val="600"/>
              </a:spcAft>
            </a:pPr>
            <a:r>
              <a:rPr sz="1200" b="0" i="0"/>
              <a:t>The higher the sigma, the better: fewer mistakes, less variation, more consistent results.</a:t>
            </a:r>
          </a:p>
          <a:p>
            <a:pPr>
              <a:spcAft>
                <a:spcPts val="600"/>
              </a:spcAft>
            </a:pPr>
            <a:r>
              <a:rPr sz="1200" b="0" i="0"/>
              <a:t>For the company, sigma gives everyone a shared way to talk about whether a process consistently meets customer needs.</a:t>
            </a:r>
          </a:p>
          <a:p>
            <a:pPr>
              <a:spcAft>
                <a:spcPts val="600"/>
              </a:spcAft>
            </a:pPr>
            <a:r>
              <a:rPr sz="1200" b="0" i="0"/>
              <a:t>Just remember, sigma isn't the improvement itself. It's a scorecard. It helps us set a starting point, compare results, and see whether our changes are working.</a:t>
            </a:r>
          </a:p>
        </p:txBody>
      </p:sp>
      <p:sp>
        <p:nvSpPr>
          <p:cNvPr id="4" name="Slide Number Placeholder 3"/>
          <p:cNvSpPr>
            <a:spLocks noGrp="1"/>
          </p:cNvSpPr>
          <p:nvPr>
            <p:ph type="sldNum" sz="quarter" idx="5"/>
          </p:nvPr>
        </p:nvSpPr>
        <p:spPr/>
        <p:txBody>
          <a:bodyPr/>
          <a:lstStyle/>
          <a:p>
            <a:fld id="{336F8861-7D18-944D-B836-A484A82765AD}" type="slidenum">
              <a:rPr lang="en-US" smtClean="0"/>
              <a:t>26</a:t>
            </a:fld>
            <a:endParaRPr lang="en-US"/>
          </a:p>
        </p:txBody>
      </p:sp>
    </p:spTree>
    <p:extLst>
      <p:ext uri="{BB962C8B-B14F-4D97-AF65-F5344CB8AC3E}">
        <p14:creationId xmlns:p14="http://schemas.microsoft.com/office/powerpoint/2010/main" val="14913102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A sigma baseline is a snapshot of how a process is performing today. It shows what normal looks like, how much things vary, how many mistakes we make, and where we could improve.</a:t>
            </a:r>
          </a:p>
          <a:p>
            <a:pPr>
              <a:spcAft>
                <a:spcPts val="600"/>
              </a:spcAft>
            </a:pPr>
            <a:r>
              <a:rPr sz="1200" b="0" i="0"/>
              <a:t>Look at the chart. Two processes can have the same average but very different amounts of variation. One is steady. The other is all over the place.</a:t>
            </a:r>
          </a:p>
          <a:p>
            <a:pPr>
              <a:spcAft>
                <a:spcPts val="600"/>
              </a:spcAft>
            </a:pPr>
            <a:r>
              <a:rPr sz="1200" b="0" i="0"/>
              <a:t>After you make a change, you compare to this baseline. That tells you if things really got better, instead of just having one lucky week.</a:t>
            </a:r>
          </a:p>
        </p:txBody>
      </p:sp>
      <p:sp>
        <p:nvSpPr>
          <p:cNvPr id="4" name="Slide Number Placeholder 3"/>
          <p:cNvSpPr>
            <a:spLocks noGrp="1"/>
          </p:cNvSpPr>
          <p:nvPr>
            <p:ph type="sldNum" sz="quarter" idx="5"/>
          </p:nvPr>
        </p:nvSpPr>
        <p:spPr/>
        <p:txBody>
          <a:bodyPr/>
          <a:lstStyle/>
          <a:p>
            <a:fld id="{336F8861-7D18-944D-B836-A484A82765AD}" type="slidenum">
              <a:rPr lang="en-US" smtClean="0"/>
              <a:t>27</a:t>
            </a:fld>
            <a:endParaRPr lang="en-US"/>
          </a:p>
        </p:txBody>
      </p:sp>
    </p:spTree>
    <p:extLst>
      <p:ext uri="{BB962C8B-B14F-4D97-AF65-F5344CB8AC3E}">
        <p14:creationId xmlns:p14="http://schemas.microsoft.com/office/powerpoint/2010/main" val="40769873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Here are examples of mistakes that affect customers across different services.</a:t>
            </a:r>
          </a:p>
          <a:p>
            <a:pPr>
              <a:spcAft>
                <a:spcPts val="600"/>
              </a:spcAft>
            </a:pPr>
            <a:r>
              <a:rPr sz="1200" b="0" i="0"/>
              <a:t>In employment services, an unfinished assessment, the wrong training assignment, or a late employer referral can slow down a job seeker's progress. In shared services, sending a request to the wrong team or updating a record incorrectly creates rework for local teams.</a:t>
            </a:r>
          </a:p>
          <a:p>
            <a:pPr>
              <a:spcAft>
                <a:spcPts val="600"/>
              </a:spcAft>
            </a:pPr>
            <a:r>
              <a:rPr sz="1200" b="1">
                <a:solidFill>
                  <a:srgbClr val="0070C0"/>
                </a:solidFill>
              </a:rPr>
              <a:t>[CHAT]</a:t>
            </a:r>
            <a:r>
              <a:rPr sz="1200" b="0" i="0"/>
              <a:t> Which of these sounds most familiar to you? Type the service name. </a:t>
            </a:r>
            <a:r>
              <a:rPr sz="1200" b="1">
                <a:solidFill>
                  <a:srgbClr val="0070C0"/>
                </a:solidFill>
              </a:rPr>
              <a:t>[Pause and react.]</a:t>
            </a:r>
          </a:p>
          <a:p>
            <a:pPr>
              <a:spcAft>
                <a:spcPts val="600"/>
              </a:spcAft>
            </a:pPr>
            <a:r>
              <a:rPr sz="1200" b="0" i="0"/>
              <a:t>Tracking these gives us a baseline and helps point improvement support to the right place. Just be careful not to compare very different services head to head. Use the same method within each process and watch whether quality improves.</a:t>
            </a:r>
          </a:p>
        </p:txBody>
      </p:sp>
      <p:sp>
        <p:nvSpPr>
          <p:cNvPr id="4" name="Slide Number Placeholder 3"/>
          <p:cNvSpPr>
            <a:spLocks noGrp="1"/>
          </p:cNvSpPr>
          <p:nvPr>
            <p:ph type="sldNum" sz="quarter" idx="5"/>
          </p:nvPr>
        </p:nvSpPr>
        <p:spPr/>
        <p:txBody>
          <a:bodyPr/>
          <a:lstStyle/>
          <a:p>
            <a:fld id="{336F8861-7D18-944D-B836-A484A82765AD}" type="slidenum">
              <a:rPr lang="en-US" smtClean="0"/>
              <a:t>28</a:t>
            </a:fld>
            <a:endParaRPr lang="en-US"/>
          </a:p>
        </p:txBody>
      </p:sp>
    </p:spTree>
    <p:extLst>
      <p:ext uri="{BB962C8B-B14F-4D97-AF65-F5344CB8AC3E}">
        <p14:creationId xmlns:p14="http://schemas.microsoft.com/office/powerpoint/2010/main" val="7230418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2.5 MINUTES</a:t>
            </a:r>
          </a:p>
          <a:p>
            <a:pPr>
              <a:spcAft>
                <a:spcPts val="600"/>
              </a:spcAft>
            </a:pPr>
            <a:r>
              <a:rPr sz="1200" b="1" i="0"/>
              <a:t>SPEAKER SCRIPT</a:t>
            </a:r>
          </a:p>
          <a:p>
            <a:pPr>
              <a:spcAft>
                <a:spcPts val="600"/>
              </a:spcAft>
            </a:pPr>
            <a:r>
              <a:rPr sz="1200" b="0" i="0"/>
              <a:t>To turn DPMO into a sigma score, find the closest DPMO number in the table and read across to the sigma level.</a:t>
            </a:r>
          </a:p>
          <a:p>
            <a:pPr>
              <a:spcAft>
                <a:spcPts val="600"/>
              </a:spcAft>
            </a:pPr>
            <a:r>
              <a:rPr sz="1200" b="0" i="0"/>
              <a:t>In this example: 7 mistakes across 100 items gives a DPU of 0.07. Divide by 5 opportunities and multiply by a million: 14,000 DPMO. The closest match in the table is about 3.7 sigma.</a:t>
            </a:r>
          </a:p>
          <a:p>
            <a:pPr>
              <a:spcAft>
                <a:spcPts val="600"/>
              </a:spcAft>
            </a:pPr>
            <a:r>
              <a:rPr sz="1200" b="0" i="0"/>
              <a:t>Remember which way it goes: lower DPMO means higher sigma, and higher sigma means better quality. Kind of like golf. The lower your mistake count, the better you're doing.</a:t>
            </a:r>
          </a:p>
        </p:txBody>
      </p:sp>
      <p:sp>
        <p:nvSpPr>
          <p:cNvPr id="4" name="Slide Number Placeholder 3"/>
          <p:cNvSpPr>
            <a:spLocks noGrp="1"/>
          </p:cNvSpPr>
          <p:nvPr>
            <p:ph type="sldNum" sz="quarter" idx="5"/>
          </p:nvPr>
        </p:nvSpPr>
        <p:spPr/>
        <p:txBody>
          <a:bodyPr/>
          <a:lstStyle/>
          <a:p>
            <a:fld id="{336F8861-7D18-944D-B836-A484A82765AD}" type="slidenum">
              <a:rPr lang="en-US" smtClean="0"/>
              <a:t>29</a:t>
            </a:fld>
            <a:endParaRPr lang="en-US"/>
          </a:p>
        </p:txBody>
      </p:sp>
    </p:spTree>
    <p:extLst>
      <p:ext uri="{BB962C8B-B14F-4D97-AF65-F5344CB8AC3E}">
        <p14:creationId xmlns:p14="http://schemas.microsoft.com/office/powerpoint/2010/main" val="40716803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dirty="0"/>
              <a:t>TIMING: 3 MINUTES</a:t>
            </a:r>
          </a:p>
          <a:p>
            <a:pPr>
              <a:spcAft>
                <a:spcPts val="600"/>
              </a:spcAft>
            </a:pPr>
            <a:r>
              <a:rPr sz="1200" b="1" i="0" dirty="0"/>
              <a:t>SPEAKER SCRIPT</a:t>
            </a:r>
          </a:p>
          <a:p>
            <a:pPr>
              <a:spcAft>
                <a:spcPts val="600"/>
              </a:spcAft>
            </a:pPr>
            <a:r>
              <a:rPr sz="1200" b="0" i="0" dirty="0"/>
              <a:t>Your turn again. Work through these three on your own or with a partner.</a:t>
            </a:r>
          </a:p>
          <a:p>
            <a:pPr>
              <a:spcAft>
                <a:spcPts val="600"/>
              </a:spcAft>
            </a:pPr>
            <a:r>
              <a:rPr sz="1200" b="0" i="0" dirty="0"/>
              <a:t>For each one: first get the DPU, then divide by the opportunities and multiply by a million to get DPMO, then find the closest sigma in the table.</a:t>
            </a:r>
          </a:p>
          <a:p>
            <a:pPr>
              <a:spcAft>
                <a:spcPts val="600"/>
              </a:spcAft>
            </a:pPr>
            <a:r>
              <a:rPr sz="1200" b="1" dirty="0">
                <a:solidFill>
                  <a:srgbClr val="0070C0"/>
                </a:solidFill>
              </a:rPr>
              <a:t>[CHAT]</a:t>
            </a:r>
            <a:r>
              <a:rPr sz="1200" b="0" i="0" dirty="0"/>
              <a:t> Post your three sigma answers in the chat when you're done. I'll give you a few minutes. </a:t>
            </a:r>
            <a:r>
              <a:rPr sz="1200" b="1" dirty="0">
                <a:solidFill>
                  <a:srgbClr val="0070C0"/>
                </a:solidFill>
              </a:rPr>
              <a:t>[Pause for the activity and check answers as they come in.]</a:t>
            </a:r>
          </a:p>
        </p:txBody>
      </p:sp>
      <p:sp>
        <p:nvSpPr>
          <p:cNvPr id="4" name="Slide Number Placeholder 3"/>
          <p:cNvSpPr>
            <a:spLocks noGrp="1"/>
          </p:cNvSpPr>
          <p:nvPr>
            <p:ph type="sldNum" sz="quarter" idx="5"/>
          </p:nvPr>
        </p:nvSpPr>
        <p:spPr/>
        <p:txBody>
          <a:bodyPr/>
          <a:lstStyle/>
          <a:p>
            <a:fld id="{336F8861-7D18-944D-B836-A484A82765AD}" type="slidenum">
              <a:rPr lang="en-US" smtClean="0"/>
              <a:t>30</a:t>
            </a:fld>
            <a:endParaRPr lang="en-US"/>
          </a:p>
        </p:txBody>
      </p:sp>
    </p:spTree>
    <p:extLst>
      <p:ext uri="{BB962C8B-B14F-4D97-AF65-F5344CB8AC3E}">
        <p14:creationId xmlns:p14="http://schemas.microsoft.com/office/powerpoint/2010/main" val="15771969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dirty="0"/>
              <a:t>TIMING: 2 MINUTES</a:t>
            </a:r>
          </a:p>
          <a:p>
            <a:pPr>
              <a:spcAft>
                <a:spcPts val="600"/>
              </a:spcAft>
            </a:pPr>
            <a:r>
              <a:rPr sz="1200" b="1" i="0" dirty="0"/>
              <a:t>SPEAKER SCRIPT</a:t>
            </a:r>
          </a:p>
          <a:p>
            <a:pPr>
              <a:spcAft>
                <a:spcPts val="600"/>
              </a:spcAft>
            </a:pPr>
            <a:r>
              <a:rPr sz="1200" b="1" dirty="0">
                <a:solidFill>
                  <a:srgbClr val="C00000"/>
                </a:solidFill>
              </a:rPr>
              <a:t>[CLICKS ON THIS SLIDE: 3]</a:t>
            </a:r>
          </a:p>
          <a:p>
            <a:pPr>
              <a:spcAft>
                <a:spcPts val="600"/>
              </a:spcAft>
            </a:pPr>
            <a:r>
              <a:rPr sz="1200" b="0" i="0" dirty="0"/>
              <a:t>Let's check your answers.</a:t>
            </a:r>
          </a:p>
          <a:p>
            <a:pPr>
              <a:spcAft>
                <a:spcPts val="600"/>
              </a:spcAft>
            </a:pPr>
            <a:r>
              <a:rPr sz="1200" b="1" dirty="0">
                <a:solidFill>
                  <a:srgbClr val="C00000"/>
                </a:solidFill>
              </a:rPr>
              <a:t>[CLICK → first answer]</a:t>
            </a:r>
          </a:p>
          <a:p>
            <a:pPr>
              <a:spcAft>
                <a:spcPts val="600"/>
              </a:spcAft>
            </a:pPr>
            <a:r>
              <a:rPr sz="1200" b="0" i="0" dirty="0"/>
              <a:t>First process: 12 divided by 800 is a DPU of 0.015. Divide by 20 and multiply by a million: 750 DPMO. That's about 4.7 sigma.</a:t>
            </a:r>
          </a:p>
          <a:p>
            <a:pPr>
              <a:spcAft>
                <a:spcPts val="600"/>
              </a:spcAft>
            </a:pPr>
            <a:r>
              <a:rPr sz="1200" b="1" dirty="0">
                <a:solidFill>
                  <a:srgbClr val="C00000"/>
                </a:solidFill>
              </a:rPr>
              <a:t>[CLICK → second answer]</a:t>
            </a:r>
          </a:p>
          <a:p>
            <a:pPr>
              <a:spcAft>
                <a:spcPts val="600"/>
              </a:spcAft>
            </a:pPr>
            <a:r>
              <a:rPr sz="1200" b="0" i="0" dirty="0"/>
              <a:t>Second process: 10 divided by 150 is about 0.0667. Divide by 7 and multiply by a million: about 9,524 DPMO. That's about 3.8 to 3.9 sigma. </a:t>
            </a:r>
            <a:endParaRPr lang="en-US" sz="1200" b="0" i="0" dirty="0"/>
          </a:p>
          <a:p>
            <a:pPr>
              <a:spcAft>
                <a:spcPts val="600"/>
              </a:spcAft>
            </a:pPr>
            <a:r>
              <a:rPr sz="1200" b="1" i="1" dirty="0">
                <a:solidFill>
                  <a:srgbClr val="C55A11"/>
                </a:solidFill>
              </a:rPr>
              <a:t>[Note: </a:t>
            </a:r>
            <a:r>
              <a:rPr lang="en-US" sz="1200" b="1" i="1" dirty="0">
                <a:solidFill>
                  <a:srgbClr val="C55A11"/>
                </a:solidFill>
              </a:rPr>
              <a:t>You may have </a:t>
            </a:r>
            <a:r>
              <a:rPr sz="1200" b="1" i="1" dirty="0">
                <a:solidFill>
                  <a:srgbClr val="C55A11"/>
                </a:solidFill>
              </a:rPr>
              <a:t>9,428 and 4.0 because of rounding too early. The more accurate answer is about 9,524 DPMO and about 3.8 to 3.9 sigma.]</a:t>
            </a:r>
          </a:p>
          <a:p>
            <a:pPr>
              <a:spcAft>
                <a:spcPts val="600"/>
              </a:spcAft>
            </a:pPr>
            <a:r>
              <a:rPr sz="1200" b="1" dirty="0">
                <a:solidFill>
                  <a:srgbClr val="C00000"/>
                </a:solidFill>
              </a:rPr>
              <a:t>[CLICK → third answer]</a:t>
            </a:r>
          </a:p>
          <a:p>
            <a:pPr>
              <a:spcAft>
                <a:spcPts val="600"/>
              </a:spcAft>
            </a:pPr>
            <a:r>
              <a:rPr sz="1200" b="0" i="0" dirty="0"/>
              <a:t>Third process: 7 divided by 75 is about 0.0933. Divide by 9 and multiply by a million: about 10,370 DPMO. That's about 3.8 sigma.</a:t>
            </a:r>
          </a:p>
          <a:p>
            <a:pPr>
              <a:spcAft>
                <a:spcPts val="600"/>
              </a:spcAft>
            </a:pPr>
            <a:r>
              <a:rPr sz="1200" b="0" i="0" dirty="0"/>
              <a:t>A quick tip: small differences usually come from rounding too early. Keep the extra decimals until the very end.</a:t>
            </a:r>
          </a:p>
        </p:txBody>
      </p:sp>
      <p:sp>
        <p:nvSpPr>
          <p:cNvPr id="4" name="Slide Number Placeholder 3"/>
          <p:cNvSpPr>
            <a:spLocks noGrp="1"/>
          </p:cNvSpPr>
          <p:nvPr>
            <p:ph type="sldNum" sz="quarter" idx="5"/>
          </p:nvPr>
        </p:nvSpPr>
        <p:spPr/>
        <p:txBody>
          <a:bodyPr/>
          <a:lstStyle/>
          <a:p>
            <a:fld id="{336F8861-7D18-944D-B836-A484A82765AD}" type="slidenum">
              <a:rPr lang="en-US" smtClean="0"/>
              <a:t>31</a:t>
            </a:fld>
            <a:endParaRPr lang="en-US"/>
          </a:p>
        </p:txBody>
      </p:sp>
    </p:spTree>
    <p:extLst>
      <p:ext uri="{BB962C8B-B14F-4D97-AF65-F5344CB8AC3E}">
        <p14:creationId xmlns:p14="http://schemas.microsoft.com/office/powerpoint/2010/main" val="35933751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0.5 MINUTES</a:t>
            </a:r>
          </a:p>
          <a:p>
            <a:pPr>
              <a:spcAft>
                <a:spcPts val="600"/>
              </a:spcAft>
            </a:pPr>
            <a:r>
              <a:rPr sz="1200" b="1" i="0"/>
              <a:t>SPEAKER SCRIPT</a:t>
            </a:r>
          </a:p>
          <a:p>
            <a:pPr>
              <a:spcAft>
                <a:spcPts val="600"/>
              </a:spcAft>
            </a:pPr>
            <a:r>
              <a:rPr sz="1200" b="1">
                <a:solidFill>
                  <a:srgbClr val="C00000"/>
                </a:solidFill>
              </a:rPr>
              <a:t>[CLICKS ON THIS SLIDE: 1]</a:t>
            </a:r>
          </a:p>
          <a:p>
            <a:pPr>
              <a:spcAft>
                <a:spcPts val="600"/>
              </a:spcAft>
            </a:pPr>
            <a:r>
              <a:rPr sz="1200" b="1">
                <a:solidFill>
                  <a:srgbClr val="C00000"/>
                </a:solidFill>
              </a:rPr>
              <a:t>[CLICK → section title appears]</a:t>
            </a:r>
          </a:p>
          <a:p>
            <a:pPr>
              <a:spcAft>
                <a:spcPts val="600"/>
              </a:spcAft>
            </a:pPr>
            <a:r>
              <a:rPr sz="1200" b="0" i="0"/>
              <a:t>Now let's use these measures to find ways to improve. The question changes from "What's our score?" to "What is the score telling us to look into?"</a:t>
            </a:r>
          </a:p>
        </p:txBody>
      </p:sp>
      <p:sp>
        <p:nvSpPr>
          <p:cNvPr id="4" name="Slide Number Placeholder 3"/>
          <p:cNvSpPr>
            <a:spLocks noGrp="1"/>
          </p:cNvSpPr>
          <p:nvPr>
            <p:ph type="sldNum" sz="quarter" idx="5"/>
          </p:nvPr>
        </p:nvSpPr>
        <p:spPr/>
        <p:txBody>
          <a:bodyPr/>
          <a:lstStyle/>
          <a:p>
            <a:fld id="{336F8861-7D18-944D-B836-A484A82765AD}" type="slidenum">
              <a:rPr lang="en-US" smtClean="0"/>
              <a:t>32</a:t>
            </a:fld>
            <a:endParaRPr lang="en-US"/>
          </a:p>
        </p:txBody>
      </p:sp>
    </p:spTree>
    <p:extLst>
      <p:ext uri="{BB962C8B-B14F-4D97-AF65-F5344CB8AC3E}">
        <p14:creationId xmlns:p14="http://schemas.microsoft.com/office/powerpoint/2010/main" val="13626629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dirty="0"/>
              <a:t>TIMING: 2 MINUTES</a:t>
            </a:r>
          </a:p>
          <a:p>
            <a:pPr>
              <a:spcAft>
                <a:spcPts val="600"/>
              </a:spcAft>
            </a:pPr>
            <a:r>
              <a:rPr sz="1200" b="1" i="0" dirty="0"/>
              <a:t>SPEAKER SCRIPT</a:t>
            </a:r>
          </a:p>
          <a:p>
            <a:pPr>
              <a:spcAft>
                <a:spcPts val="600"/>
              </a:spcAft>
            </a:pPr>
            <a:r>
              <a:rPr sz="1200" b="1" dirty="0">
                <a:solidFill>
                  <a:srgbClr val="C00000"/>
                </a:solidFill>
              </a:rPr>
              <a:t>[CLICKS ON THIS SLIDE: 4]</a:t>
            </a:r>
          </a:p>
          <a:p>
            <a:pPr>
              <a:spcAft>
                <a:spcPts val="600"/>
              </a:spcAft>
            </a:pPr>
            <a:r>
              <a:rPr sz="1200" b="0" i="0" dirty="0"/>
              <a:t>Here's the scenario. The company just launched an employee information pack and is printing it with a new supplier.</a:t>
            </a:r>
          </a:p>
          <a:p>
            <a:pPr>
              <a:spcAft>
                <a:spcPts val="600"/>
              </a:spcAft>
            </a:pPr>
            <a:r>
              <a:rPr sz="1200" b="1" dirty="0">
                <a:solidFill>
                  <a:srgbClr val="C00000"/>
                </a:solidFill>
              </a:rPr>
              <a:t>[CLICK → sample results]</a:t>
            </a:r>
          </a:p>
          <a:p>
            <a:pPr>
              <a:spcAft>
                <a:spcPts val="600"/>
              </a:spcAft>
            </a:pPr>
            <a:r>
              <a:rPr sz="1200" b="0" i="0" dirty="0"/>
              <a:t>Our Communications team checked 100 packs and found 5 mistakes, like spelling errors, wrong colors, missing content, blurry images, and missing staples. That's a DPU of 0.05.</a:t>
            </a:r>
          </a:p>
          <a:p>
            <a:pPr>
              <a:spcAft>
                <a:spcPts val="600"/>
              </a:spcAft>
            </a:pPr>
            <a:r>
              <a:rPr sz="1200" b="1" dirty="0">
                <a:solidFill>
                  <a:srgbClr val="C00000"/>
                </a:solidFill>
              </a:rPr>
              <a:t>[CLICK → "Using the table, what is the sigma?"]</a:t>
            </a:r>
          </a:p>
          <a:p>
            <a:pPr>
              <a:spcAft>
                <a:spcPts val="600"/>
              </a:spcAft>
            </a:pPr>
            <a:r>
              <a:rPr sz="1200" b="0" i="0" dirty="0"/>
              <a:t>First, using the table, what's the sigma if we only look at the mistakes per pack, without opportunities? </a:t>
            </a:r>
            <a:r>
              <a:rPr sz="1200" b="1" dirty="0">
                <a:solidFill>
                  <a:srgbClr val="0070C0"/>
                </a:solidFill>
              </a:rPr>
              <a:t>[Pause for answers.]</a:t>
            </a:r>
          </a:p>
          <a:p>
            <a:pPr>
              <a:spcAft>
                <a:spcPts val="600"/>
              </a:spcAft>
            </a:pPr>
            <a:r>
              <a:rPr sz="1200" b="1" dirty="0">
                <a:solidFill>
                  <a:srgbClr val="C00000"/>
                </a:solidFill>
              </a:rPr>
              <a:t>[CLICK → Opportunities]</a:t>
            </a:r>
          </a:p>
          <a:p>
            <a:pPr>
              <a:spcAft>
                <a:spcPts val="600"/>
              </a:spcAft>
            </a:pPr>
            <a:r>
              <a:rPr sz="1200" b="0" i="0" dirty="0"/>
              <a:t>Now, each pack has 40 chances for a mistake: 20 pages, 15 images, and 5 printing steps. So DPU of 0.05, divided by 40, times a million gives 1,250 DPMO.</a:t>
            </a:r>
          </a:p>
          <a:p>
            <a:pPr>
              <a:spcAft>
                <a:spcPts val="600"/>
              </a:spcAft>
            </a:pPr>
            <a:r>
              <a:rPr sz="1200" b="1" dirty="0">
                <a:solidFill>
                  <a:srgbClr val="C00000"/>
                </a:solidFill>
              </a:rPr>
              <a:t>[CLICK → "What is the sigma now?"]</a:t>
            </a:r>
          </a:p>
          <a:p>
            <a:pPr>
              <a:spcAft>
                <a:spcPts val="600"/>
              </a:spcAft>
            </a:pPr>
            <a:r>
              <a:rPr sz="1200" b="0" i="0" dirty="0"/>
              <a:t>Using the table, what's the sigma now? </a:t>
            </a:r>
            <a:r>
              <a:rPr sz="1200" b="1" dirty="0">
                <a:solidFill>
                  <a:srgbClr val="0070C0"/>
                </a:solidFill>
              </a:rPr>
              <a:t>[Pause for calculation and chat answers.]</a:t>
            </a:r>
          </a:p>
        </p:txBody>
      </p:sp>
      <p:sp>
        <p:nvSpPr>
          <p:cNvPr id="4" name="Slide Number Placeholder 3"/>
          <p:cNvSpPr>
            <a:spLocks noGrp="1"/>
          </p:cNvSpPr>
          <p:nvPr>
            <p:ph type="sldNum" sz="quarter" idx="5"/>
          </p:nvPr>
        </p:nvSpPr>
        <p:spPr/>
        <p:txBody>
          <a:bodyPr/>
          <a:lstStyle/>
          <a:p>
            <a:fld id="{336F8861-7D18-944D-B836-A484A82765AD}" type="slidenum">
              <a:rPr lang="en-US" smtClean="0"/>
              <a:t>33</a:t>
            </a:fld>
            <a:endParaRPr lang="en-US"/>
          </a:p>
        </p:txBody>
      </p:sp>
    </p:spTree>
    <p:extLst>
      <p:ext uri="{BB962C8B-B14F-4D97-AF65-F5344CB8AC3E}">
        <p14:creationId xmlns:p14="http://schemas.microsoft.com/office/powerpoint/2010/main" val="37443820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A125B-534C-0004-8F3A-BA2F1CA7C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4CA58-7F66-6506-F741-988C1FA1C50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A6986A6-F1F4-6B06-64D8-A24D83653417}"/>
              </a:ext>
            </a:extLst>
          </p:cNvPr>
          <p:cNvSpPr>
            <a:spLocks noGrp="1"/>
          </p:cNvSpPr>
          <p:nvPr>
            <p:ph type="body" idx="1"/>
          </p:nvPr>
        </p:nvSpPr>
        <p:spPr/>
        <p:txBody>
          <a:bodyPr/>
          <a:lstStyle/>
          <a:p>
            <a:pPr>
              <a:spcAft>
                <a:spcPts val="600"/>
              </a:spcAft>
            </a:pPr>
            <a:r>
              <a:rPr sz="1200" b="1" i="0" dirty="0"/>
              <a:t>TIMING: 2 MINUTES</a:t>
            </a:r>
          </a:p>
          <a:p>
            <a:pPr>
              <a:spcAft>
                <a:spcPts val="600"/>
              </a:spcAft>
            </a:pPr>
            <a:r>
              <a:rPr sz="1200" b="1" i="0" dirty="0"/>
              <a:t>SPEAKER SCRIPT</a:t>
            </a:r>
          </a:p>
          <a:p>
            <a:pPr>
              <a:spcAft>
                <a:spcPts val="600"/>
              </a:spcAft>
            </a:pPr>
            <a:r>
              <a:rPr sz="1200" b="1" dirty="0">
                <a:solidFill>
                  <a:srgbClr val="C00000"/>
                </a:solidFill>
              </a:rPr>
              <a:t>[CLICKS ON THIS SLIDE: 2]</a:t>
            </a:r>
          </a:p>
          <a:p>
            <a:pPr>
              <a:spcAft>
                <a:spcPts val="600"/>
              </a:spcAft>
            </a:pPr>
            <a:r>
              <a:rPr sz="1200" b="0" i="0" dirty="0"/>
              <a:t>Let's look at the answers.</a:t>
            </a:r>
          </a:p>
          <a:p>
            <a:pPr>
              <a:spcAft>
                <a:spcPts val="600"/>
              </a:spcAft>
            </a:pPr>
            <a:r>
              <a:rPr sz="1200" b="0" i="0" dirty="0"/>
              <a:t>If we only look at mistakes per pack, without opportunities, the sigma is about 3.1. </a:t>
            </a:r>
            <a:endParaRPr sz="1200" b="1" i="1" dirty="0">
              <a:solidFill>
                <a:srgbClr val="C55A11"/>
              </a:solidFill>
            </a:endParaRPr>
          </a:p>
          <a:p>
            <a:pPr>
              <a:spcAft>
                <a:spcPts val="600"/>
              </a:spcAft>
            </a:pPr>
            <a:r>
              <a:rPr sz="1200" b="1" dirty="0">
                <a:solidFill>
                  <a:srgbClr val="C00000"/>
                </a:solidFill>
              </a:rPr>
              <a:t>[CLICK → Sigma based on DPMO]</a:t>
            </a:r>
          </a:p>
          <a:p>
            <a:pPr>
              <a:spcAft>
                <a:spcPts val="600"/>
              </a:spcAft>
            </a:pPr>
            <a:r>
              <a:rPr sz="1200" b="0" i="0" dirty="0"/>
              <a:t>When we include the 40 opportunities, the DPMO of 1,250 gives a sigma of about 4.5 to 4.6.</a:t>
            </a:r>
          </a:p>
          <a:p>
            <a:pPr>
              <a:spcAft>
                <a:spcPts val="600"/>
              </a:spcAft>
            </a:pPr>
            <a:r>
              <a:rPr sz="1200" b="1" dirty="0">
                <a:solidFill>
                  <a:srgbClr val="C00000"/>
                </a:solidFill>
              </a:rPr>
              <a:t>[CLICK → sample details]</a:t>
            </a:r>
          </a:p>
          <a:p>
            <a:pPr>
              <a:spcAft>
                <a:spcPts val="600"/>
              </a:spcAft>
            </a:pPr>
            <a:r>
              <a:rPr sz="1200" b="0" i="0" dirty="0"/>
              <a:t>Why the big jump? Because opportunities account for how complicated the product is. A 20-page pack with lots of images has way more chances for mistakes than a one-page flyer.</a:t>
            </a:r>
          </a:p>
          <a:p>
            <a:pPr>
              <a:spcAft>
                <a:spcPts val="600"/>
              </a:spcAft>
            </a:pPr>
            <a:r>
              <a:rPr sz="1200" b="0" i="0" dirty="0"/>
              <a:t>But here's the catch. Opportunities have to be defined the same way every time. You can't just add more to make your score look better.</a:t>
            </a:r>
          </a:p>
        </p:txBody>
      </p:sp>
      <p:sp>
        <p:nvSpPr>
          <p:cNvPr id="4" name="Slide Number Placeholder 3">
            <a:extLst>
              <a:ext uri="{FF2B5EF4-FFF2-40B4-BE49-F238E27FC236}">
                <a16:creationId xmlns:a16="http://schemas.microsoft.com/office/drawing/2014/main" id="{538EF692-E01C-1E85-3636-B6A99E0A72A9}"/>
              </a:ext>
            </a:extLst>
          </p:cNvPr>
          <p:cNvSpPr>
            <a:spLocks noGrp="1"/>
          </p:cNvSpPr>
          <p:nvPr>
            <p:ph type="sldNum" sz="quarter" idx="5"/>
          </p:nvPr>
        </p:nvSpPr>
        <p:spPr/>
        <p:txBody>
          <a:bodyPr/>
          <a:lstStyle/>
          <a:p>
            <a:fld id="{336F8861-7D18-944D-B836-A484A82765AD}" type="slidenum">
              <a:rPr lang="en-US" smtClean="0"/>
              <a:t>34</a:t>
            </a:fld>
            <a:endParaRPr lang="en-US"/>
          </a:p>
        </p:txBody>
      </p:sp>
    </p:spTree>
    <p:extLst>
      <p:ext uri="{BB962C8B-B14F-4D97-AF65-F5344CB8AC3E}">
        <p14:creationId xmlns:p14="http://schemas.microsoft.com/office/powerpoint/2010/main" val="33042431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dirty="0"/>
              <a:t>TIMING: 2 MINUTES</a:t>
            </a:r>
          </a:p>
          <a:p>
            <a:pPr>
              <a:spcAft>
                <a:spcPts val="600"/>
              </a:spcAft>
            </a:pPr>
            <a:r>
              <a:rPr sz="1200" b="1" i="0" dirty="0"/>
              <a:t>SPEAKER SCRIPT</a:t>
            </a:r>
          </a:p>
          <a:p>
            <a:pPr>
              <a:spcAft>
                <a:spcPts val="600"/>
              </a:spcAft>
            </a:pPr>
            <a:r>
              <a:rPr sz="1200" b="1" dirty="0">
                <a:solidFill>
                  <a:srgbClr val="C00000"/>
                </a:solidFill>
              </a:rPr>
              <a:t>[CLICKS ON THIS SLIDE: 2]</a:t>
            </a:r>
          </a:p>
          <a:p>
            <a:pPr>
              <a:spcAft>
                <a:spcPts val="600"/>
              </a:spcAft>
            </a:pPr>
            <a:r>
              <a:rPr sz="1200" b="0" i="0" dirty="0"/>
              <a:t>Let's confirm on the table.</a:t>
            </a:r>
          </a:p>
          <a:p>
            <a:pPr>
              <a:spcAft>
                <a:spcPts val="600"/>
              </a:spcAft>
            </a:pPr>
            <a:r>
              <a:rPr sz="1200" b="1" dirty="0">
                <a:solidFill>
                  <a:srgbClr val="C00000"/>
                </a:solidFill>
              </a:rPr>
              <a:t>[CLICK → marker 1]</a:t>
            </a:r>
          </a:p>
          <a:p>
            <a:pPr>
              <a:spcAft>
                <a:spcPts val="600"/>
              </a:spcAft>
            </a:pPr>
            <a:r>
              <a:rPr sz="1200" b="0" i="0" dirty="0"/>
              <a:t>Looking only at mistakes per pack: 95 percent yield, which is about 3.1 sigma.</a:t>
            </a:r>
          </a:p>
          <a:p>
            <a:pPr>
              <a:spcAft>
                <a:spcPts val="600"/>
              </a:spcAft>
            </a:pPr>
            <a:r>
              <a:rPr sz="1200" b="1" dirty="0">
                <a:solidFill>
                  <a:srgbClr val="C00000"/>
                </a:solidFill>
              </a:rPr>
              <a:t>[CLICK → marker 2]</a:t>
            </a:r>
          </a:p>
          <a:p>
            <a:pPr>
              <a:spcAft>
                <a:spcPts val="600"/>
              </a:spcAft>
            </a:pPr>
            <a:r>
              <a:rPr sz="1200" b="0" i="0" dirty="0"/>
              <a:t>Including opportunities: 1,250 DPMO, which is about 4.5 to 4.6 sigma.</a:t>
            </a:r>
          </a:p>
          <a:p>
            <a:pPr>
              <a:spcAft>
                <a:spcPts val="600"/>
              </a:spcAft>
            </a:pPr>
            <a:r>
              <a:rPr sz="1200" b="0" i="0" dirty="0"/>
              <a:t>These two numbers answer different questions. Yield tells us how many packs were mistake-free. DPMO tells us how many mistakes there were compared to all the chances for a mistake. When you share a result, always say which one you're using, so people know what they're looking at.</a:t>
            </a:r>
          </a:p>
        </p:txBody>
      </p:sp>
      <p:sp>
        <p:nvSpPr>
          <p:cNvPr id="4" name="Slide Number Placeholder 3"/>
          <p:cNvSpPr>
            <a:spLocks noGrp="1"/>
          </p:cNvSpPr>
          <p:nvPr>
            <p:ph type="sldNum" sz="quarter" idx="5"/>
          </p:nvPr>
        </p:nvSpPr>
        <p:spPr/>
        <p:txBody>
          <a:bodyPr/>
          <a:lstStyle/>
          <a:p>
            <a:fld id="{336F8861-7D18-944D-B836-A484A82765AD}" type="slidenum">
              <a:rPr lang="en-US" smtClean="0"/>
              <a:t>35</a:t>
            </a:fld>
            <a:endParaRPr lang="en-US"/>
          </a:p>
        </p:txBody>
      </p:sp>
    </p:spTree>
    <p:extLst>
      <p:ext uri="{BB962C8B-B14F-4D97-AF65-F5344CB8AC3E}">
        <p14:creationId xmlns:p14="http://schemas.microsoft.com/office/powerpoint/2010/main" val="3713541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D4D3C-DCFF-B8D1-1BF5-80CE1DCAF4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F813D-7E87-6BE5-6B55-C139878AA8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BCDFEE-06A2-C254-8C62-2AE3C88B129B}"/>
              </a:ext>
            </a:extLst>
          </p:cNvPr>
          <p:cNvSpPr>
            <a:spLocks noGrp="1"/>
          </p:cNvSpPr>
          <p:nvPr>
            <p:ph type="body" idx="1"/>
          </p:nvPr>
        </p:nvSpPr>
        <p:spPr/>
        <p:txBody>
          <a:bodyPr/>
          <a:lstStyle/>
          <a:p>
            <a:pPr>
              <a:spcAft>
                <a:spcPts val="600"/>
              </a:spcAft>
            </a:pPr>
            <a:r>
              <a:rPr sz="1200" b="1" i="0" dirty="0"/>
              <a:t>TIMING: 3 MINUTES</a:t>
            </a:r>
          </a:p>
          <a:p>
            <a:pPr>
              <a:spcAft>
                <a:spcPts val="600"/>
              </a:spcAft>
            </a:pPr>
            <a:r>
              <a:rPr sz="1200" b="1" i="0" dirty="0"/>
              <a:t>SPEAKER SCRIPT</a:t>
            </a:r>
          </a:p>
          <a:p>
            <a:pPr>
              <a:spcAft>
                <a:spcPts val="600"/>
              </a:spcAft>
            </a:pPr>
            <a:r>
              <a:rPr sz="1200" b="1" dirty="0">
                <a:solidFill>
                  <a:srgbClr val="C00000"/>
                </a:solidFill>
              </a:rPr>
              <a:t>[CLICKS ON THIS SLIDE: 1]</a:t>
            </a:r>
          </a:p>
          <a:p>
            <a:pPr>
              <a:spcAft>
                <a:spcPts val="600"/>
              </a:spcAft>
            </a:pPr>
            <a:r>
              <a:rPr sz="1200" b="0" i="0" dirty="0"/>
              <a:t>Now the Communications team redesigns the pack and makes a second version.</a:t>
            </a:r>
          </a:p>
          <a:p>
            <a:pPr>
              <a:spcAft>
                <a:spcPts val="600"/>
              </a:spcAft>
            </a:pPr>
            <a:r>
              <a:rPr sz="1200" b="0" i="0" dirty="0"/>
              <a:t>They check 100 new packs and find 3 mistakes. That's a DPU of 0.03. Without opportunities, the sigma is about 3.3 to 3.4.</a:t>
            </a:r>
          </a:p>
          <a:p>
            <a:pPr>
              <a:spcAft>
                <a:spcPts val="600"/>
              </a:spcAft>
            </a:pPr>
            <a:r>
              <a:rPr sz="1200" b="1" dirty="0">
                <a:solidFill>
                  <a:srgbClr val="C00000"/>
                </a:solidFill>
              </a:rPr>
              <a:t>[CLICK → new opportunities]</a:t>
            </a:r>
          </a:p>
          <a:p>
            <a:pPr>
              <a:spcAft>
                <a:spcPts val="600"/>
              </a:spcAft>
            </a:pPr>
            <a:r>
              <a:rPr sz="1200" b="0" i="0" dirty="0"/>
              <a:t>But the new pack is bigger: 45 pages, 25 images, and 8 printing steps. That's 78 opportunities. So 0.03 divided by 78, times a million, is about 385 DPMO.</a:t>
            </a:r>
          </a:p>
          <a:p>
            <a:pPr>
              <a:spcAft>
                <a:spcPts val="600"/>
              </a:spcAft>
            </a:pPr>
            <a:r>
              <a:rPr sz="1200" b="1" dirty="0">
                <a:solidFill>
                  <a:srgbClr val="0070C0"/>
                </a:solidFill>
              </a:rPr>
              <a:t>[CHAT]</a:t>
            </a:r>
            <a:r>
              <a:rPr sz="1200" b="0" i="0" dirty="0"/>
              <a:t> Using the table, what's the new sigma? Type it in. </a:t>
            </a:r>
            <a:r>
              <a:rPr sz="1200" b="1" dirty="0">
                <a:solidFill>
                  <a:srgbClr val="0070C0"/>
                </a:solidFill>
              </a:rPr>
              <a:t>[Pause for calculation.]</a:t>
            </a:r>
          </a:p>
          <a:p>
            <a:pPr>
              <a:spcAft>
                <a:spcPts val="600"/>
              </a:spcAft>
            </a:pPr>
            <a:r>
              <a:rPr sz="1200" b="0" i="0" dirty="0"/>
              <a:t>While you work, think about this: did the redesign really cut down on mistakes the customer would notice? Or did it just add more opportunities?</a:t>
            </a:r>
          </a:p>
        </p:txBody>
      </p:sp>
      <p:sp>
        <p:nvSpPr>
          <p:cNvPr id="4" name="Slide Number Placeholder 3">
            <a:extLst>
              <a:ext uri="{FF2B5EF4-FFF2-40B4-BE49-F238E27FC236}">
                <a16:creationId xmlns:a16="http://schemas.microsoft.com/office/drawing/2014/main" id="{B82BBEA2-C803-EC01-65D2-AAA507AD47B7}"/>
              </a:ext>
            </a:extLst>
          </p:cNvPr>
          <p:cNvSpPr>
            <a:spLocks noGrp="1"/>
          </p:cNvSpPr>
          <p:nvPr>
            <p:ph type="sldNum" sz="quarter" idx="5"/>
          </p:nvPr>
        </p:nvSpPr>
        <p:spPr/>
        <p:txBody>
          <a:bodyPr/>
          <a:lstStyle/>
          <a:p>
            <a:fld id="{336F8861-7D18-944D-B836-A484A82765AD}" type="slidenum">
              <a:rPr lang="en-US" smtClean="0"/>
              <a:t>36</a:t>
            </a:fld>
            <a:endParaRPr lang="en-US"/>
          </a:p>
        </p:txBody>
      </p:sp>
    </p:spTree>
    <p:extLst>
      <p:ext uri="{BB962C8B-B14F-4D97-AF65-F5344CB8AC3E}">
        <p14:creationId xmlns:p14="http://schemas.microsoft.com/office/powerpoint/2010/main" val="7813031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dirty="0"/>
              <a:t>TIMING: 2 MINUTES</a:t>
            </a:r>
          </a:p>
          <a:p>
            <a:pPr>
              <a:spcAft>
                <a:spcPts val="600"/>
              </a:spcAft>
            </a:pPr>
            <a:r>
              <a:rPr sz="1200" b="1" i="0" dirty="0"/>
              <a:t>SPEAKER SCRIPT</a:t>
            </a:r>
          </a:p>
          <a:p>
            <a:pPr>
              <a:spcAft>
                <a:spcPts val="600"/>
              </a:spcAft>
            </a:pPr>
            <a:r>
              <a:rPr sz="1200" b="1" dirty="0">
                <a:solidFill>
                  <a:srgbClr val="C00000"/>
                </a:solidFill>
              </a:rPr>
              <a:t>[CLICKS ON THIS SLIDE: 1]</a:t>
            </a:r>
          </a:p>
          <a:p>
            <a:pPr>
              <a:spcAft>
                <a:spcPts val="600"/>
              </a:spcAft>
            </a:pPr>
            <a:r>
              <a:rPr sz="1200" b="1" dirty="0">
                <a:solidFill>
                  <a:srgbClr val="C00000"/>
                </a:solidFill>
              </a:rPr>
              <a:t>[CLICK → answer]</a:t>
            </a:r>
          </a:p>
          <a:p>
            <a:pPr>
              <a:spcAft>
                <a:spcPts val="600"/>
              </a:spcAft>
            </a:pPr>
            <a:r>
              <a:rPr sz="1200" b="0" i="0" dirty="0"/>
              <a:t>With opportunities included, the answer is about 4.8 to 4.9 sigma. Looking only at mistakes per pack, it's about 3.3 to 3.4.</a:t>
            </a:r>
          </a:p>
          <a:p>
            <a:pPr>
              <a:spcAft>
                <a:spcPts val="600"/>
              </a:spcAft>
            </a:pPr>
            <a:r>
              <a:rPr sz="1200" b="0" i="0" dirty="0"/>
              <a:t>Here's how we got there: 0.03 divided by 78, times a million, is about 385 DPMO.</a:t>
            </a:r>
          </a:p>
          <a:p>
            <a:pPr>
              <a:spcAft>
                <a:spcPts val="600"/>
              </a:spcAft>
            </a:pPr>
            <a:r>
              <a:rPr sz="1200" b="0" i="0" dirty="0"/>
              <a:t>The big lesson: always calculate using the same definitions, and keep your decimals until the last step.</a:t>
            </a:r>
          </a:p>
        </p:txBody>
      </p:sp>
      <p:sp>
        <p:nvSpPr>
          <p:cNvPr id="4" name="Slide Number Placeholder 3"/>
          <p:cNvSpPr>
            <a:spLocks noGrp="1"/>
          </p:cNvSpPr>
          <p:nvPr>
            <p:ph type="sldNum" sz="quarter" idx="5"/>
          </p:nvPr>
        </p:nvSpPr>
        <p:spPr/>
        <p:txBody>
          <a:bodyPr/>
          <a:lstStyle/>
          <a:p>
            <a:fld id="{336F8861-7D18-944D-B836-A484A82765AD}" type="slidenum">
              <a:rPr lang="en-US" smtClean="0"/>
              <a:t>37</a:t>
            </a:fld>
            <a:endParaRPr lang="en-US"/>
          </a:p>
        </p:txBody>
      </p:sp>
    </p:spTree>
    <p:extLst>
      <p:ext uri="{BB962C8B-B14F-4D97-AF65-F5344CB8AC3E}">
        <p14:creationId xmlns:p14="http://schemas.microsoft.com/office/powerpoint/2010/main" val="4426708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dirty="0"/>
              <a:t>TIMING: 2 MINUTES</a:t>
            </a:r>
          </a:p>
          <a:p>
            <a:pPr>
              <a:spcAft>
                <a:spcPts val="600"/>
              </a:spcAft>
            </a:pPr>
            <a:r>
              <a:rPr sz="1200" b="1" i="0" dirty="0"/>
              <a:t>SPEAKER SCRIPT</a:t>
            </a:r>
          </a:p>
          <a:p>
            <a:pPr>
              <a:spcAft>
                <a:spcPts val="600"/>
              </a:spcAft>
            </a:pPr>
            <a:r>
              <a:rPr sz="1200" b="1" dirty="0">
                <a:solidFill>
                  <a:srgbClr val="C00000"/>
                </a:solidFill>
              </a:rPr>
              <a:t>[CLICKS ON THIS SLIDE: 2]</a:t>
            </a:r>
          </a:p>
          <a:p>
            <a:pPr>
              <a:spcAft>
                <a:spcPts val="600"/>
              </a:spcAft>
            </a:pPr>
            <a:r>
              <a:rPr sz="1200" b="0" i="0" dirty="0"/>
              <a:t>Let's confirm it on the table.</a:t>
            </a:r>
          </a:p>
          <a:p>
            <a:pPr>
              <a:spcAft>
                <a:spcPts val="600"/>
              </a:spcAft>
            </a:pPr>
            <a:r>
              <a:rPr sz="1200" b="1" dirty="0">
                <a:solidFill>
                  <a:srgbClr val="C00000"/>
                </a:solidFill>
              </a:rPr>
              <a:t>[CLICK → marker 1]</a:t>
            </a:r>
          </a:p>
          <a:p>
            <a:pPr>
              <a:spcAft>
                <a:spcPts val="600"/>
              </a:spcAft>
            </a:pPr>
            <a:r>
              <a:rPr sz="1200" b="0" i="0" dirty="0"/>
              <a:t>Looking only at mistakes per pack: 3 mistakes out of 100 gives a 97 percent yield, or about 3.3 to 3.4 sigma. </a:t>
            </a:r>
            <a:r>
              <a:rPr sz="1200" b="1" i="1" dirty="0">
                <a:solidFill>
                  <a:srgbClr val="C55A11"/>
                </a:solidFill>
              </a:rPr>
              <a:t>[Note: the slide says "5 defects". It should say 3.]</a:t>
            </a:r>
          </a:p>
          <a:p>
            <a:pPr>
              <a:spcAft>
                <a:spcPts val="600"/>
              </a:spcAft>
            </a:pPr>
            <a:r>
              <a:rPr sz="1200" b="1" dirty="0">
                <a:solidFill>
                  <a:srgbClr val="C00000"/>
                </a:solidFill>
              </a:rPr>
              <a:t>[CLICK → marker 2]</a:t>
            </a:r>
          </a:p>
          <a:p>
            <a:pPr>
              <a:spcAft>
                <a:spcPts val="600"/>
              </a:spcAft>
            </a:pPr>
            <a:r>
              <a:rPr sz="1200" b="0" i="0" dirty="0"/>
              <a:t>Including opportunities: 385 DPMO, which is about 4.8 to 4.9 sigma. </a:t>
            </a:r>
            <a:r>
              <a:rPr sz="1200" b="1" i="1" dirty="0">
                <a:solidFill>
                  <a:srgbClr val="C55A11"/>
                </a:solidFill>
              </a:rPr>
              <a:t>[Note: the slide says "DPMO of 1250". It should say 385.]</a:t>
            </a:r>
          </a:p>
        </p:txBody>
      </p:sp>
      <p:sp>
        <p:nvSpPr>
          <p:cNvPr id="4" name="Slide Number Placeholder 3"/>
          <p:cNvSpPr>
            <a:spLocks noGrp="1"/>
          </p:cNvSpPr>
          <p:nvPr>
            <p:ph type="sldNum" sz="quarter" idx="5"/>
          </p:nvPr>
        </p:nvSpPr>
        <p:spPr/>
        <p:txBody>
          <a:bodyPr/>
          <a:lstStyle/>
          <a:p>
            <a:fld id="{336F8861-7D18-944D-B836-A484A82765AD}" type="slidenum">
              <a:rPr lang="en-US" smtClean="0"/>
              <a:t>38</a:t>
            </a:fld>
            <a:endParaRPr lang="en-US"/>
          </a:p>
        </p:txBody>
      </p:sp>
    </p:spTree>
    <p:extLst>
      <p:ext uri="{BB962C8B-B14F-4D97-AF65-F5344CB8AC3E}">
        <p14:creationId xmlns:p14="http://schemas.microsoft.com/office/powerpoint/2010/main" val="22435315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dirty="0"/>
              <a:t>TIMING: 2 MINUTES</a:t>
            </a:r>
          </a:p>
          <a:p>
            <a:pPr>
              <a:spcAft>
                <a:spcPts val="600"/>
              </a:spcAft>
            </a:pPr>
            <a:r>
              <a:rPr sz="1200" b="1" i="0" dirty="0"/>
              <a:t>SPEAKER SCRIPT</a:t>
            </a:r>
          </a:p>
          <a:p>
            <a:pPr>
              <a:spcAft>
                <a:spcPts val="600"/>
              </a:spcAft>
            </a:pPr>
            <a:r>
              <a:rPr sz="1200" b="0" i="0" dirty="0"/>
              <a:t>So which pack is better?</a:t>
            </a:r>
          </a:p>
          <a:p>
            <a:pPr>
              <a:spcAft>
                <a:spcPts val="600"/>
              </a:spcAft>
            </a:pPr>
            <a:r>
              <a:rPr sz="1200" b="1" dirty="0">
                <a:solidFill>
                  <a:srgbClr val="0070C0"/>
                </a:solidFill>
              </a:rPr>
              <a:t>[POLL]</a:t>
            </a:r>
            <a:r>
              <a:rPr sz="1200" b="0" i="0" dirty="0"/>
              <a:t> Type "1" for Version 1 or "2" for Version 2. </a:t>
            </a:r>
            <a:r>
              <a:rPr sz="1200" b="1" dirty="0">
                <a:solidFill>
                  <a:srgbClr val="0070C0"/>
                </a:solidFill>
              </a:rPr>
              <a:t>[Pause and read the results.]</a:t>
            </a:r>
          </a:p>
          <a:p>
            <a:pPr>
              <a:spcAft>
                <a:spcPts val="600"/>
              </a:spcAft>
            </a:pPr>
            <a:r>
              <a:rPr sz="1200" b="0" i="0" dirty="0"/>
              <a:t>On paper, Version 2 wins. It has fewer mistakes and a higher sigma score.</a:t>
            </a:r>
          </a:p>
          <a:p>
            <a:pPr>
              <a:spcAft>
                <a:spcPts val="600"/>
              </a:spcAft>
            </a:pPr>
            <a:r>
              <a:rPr sz="1200" b="0" i="0" dirty="0"/>
              <a:t>But here's the bigger question: do all those extra pages, images, and printing steps actually help the employee reading it? A more complicated product can score well on quality and still cost more to make and keep up to date.</a:t>
            </a:r>
          </a:p>
          <a:p>
            <a:pPr>
              <a:spcAft>
                <a:spcPts val="600"/>
              </a:spcAft>
            </a:pPr>
            <a:r>
              <a:rPr sz="1200" b="0" i="0" dirty="0"/>
              <a:t>For </a:t>
            </a:r>
            <a:r>
              <a:rPr lang="en-US" sz="1200" b="0" i="0" dirty="0"/>
              <a:t>out</a:t>
            </a:r>
            <a:r>
              <a:rPr sz="1200" b="0" i="0" dirty="0"/>
              <a:t> company, the better choice balances what's useful to the customer, the number of mistakes, the effort involved, and the cost.</a:t>
            </a:r>
          </a:p>
        </p:txBody>
      </p:sp>
      <p:sp>
        <p:nvSpPr>
          <p:cNvPr id="4" name="Slide Number Placeholder 3"/>
          <p:cNvSpPr>
            <a:spLocks noGrp="1"/>
          </p:cNvSpPr>
          <p:nvPr>
            <p:ph type="sldNum" sz="quarter" idx="5"/>
          </p:nvPr>
        </p:nvSpPr>
        <p:spPr/>
        <p:txBody>
          <a:bodyPr/>
          <a:lstStyle/>
          <a:p>
            <a:fld id="{336F8861-7D18-944D-B836-A484A82765AD}" type="slidenum">
              <a:rPr lang="en-US" smtClean="0"/>
              <a:t>39</a:t>
            </a:fld>
            <a:endParaRPr lang="en-US"/>
          </a:p>
        </p:txBody>
      </p:sp>
    </p:spTree>
    <p:extLst>
      <p:ext uri="{BB962C8B-B14F-4D97-AF65-F5344CB8AC3E}">
        <p14:creationId xmlns:p14="http://schemas.microsoft.com/office/powerpoint/2010/main" val="22221653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dirty="0"/>
              <a:t>TIMING: 2.5 MINUTES</a:t>
            </a:r>
          </a:p>
          <a:p>
            <a:pPr>
              <a:spcAft>
                <a:spcPts val="600"/>
              </a:spcAft>
            </a:pPr>
            <a:r>
              <a:rPr sz="1200" b="1" i="0" dirty="0"/>
              <a:t>SPEAKER SCRIPT</a:t>
            </a:r>
          </a:p>
          <a:p>
            <a:pPr>
              <a:spcAft>
                <a:spcPts val="600"/>
              </a:spcAft>
            </a:pPr>
            <a:r>
              <a:rPr sz="1200" b="0" i="0" dirty="0"/>
              <a:t>Let's go back to our child care example. We worked out 20,000 DPMO. </a:t>
            </a:r>
            <a:r>
              <a:rPr sz="1200" b="1" i="1" dirty="0">
                <a:solidFill>
                  <a:srgbClr val="C55A11"/>
                </a:solidFill>
              </a:rPr>
              <a:t>[Note: the slide shows "0.08 ÷ 7" and "new starters". It should be "÷ 4" and "families".]</a:t>
            </a:r>
          </a:p>
          <a:p>
            <a:pPr>
              <a:spcAft>
                <a:spcPts val="600"/>
              </a:spcAft>
            </a:pPr>
            <a:r>
              <a:rPr sz="1200" b="0" i="0" dirty="0"/>
              <a:t>Use the table to find the sigma. </a:t>
            </a:r>
            <a:r>
              <a:rPr sz="1200" b="1" dirty="0">
                <a:solidFill>
                  <a:srgbClr val="0070C0"/>
                </a:solidFill>
              </a:rPr>
              <a:t>[Pause.]</a:t>
            </a:r>
          </a:p>
          <a:p>
            <a:pPr>
              <a:spcAft>
                <a:spcPts val="600"/>
              </a:spcAft>
            </a:pPr>
            <a:r>
              <a:rPr sz="1200" b="0" i="0" dirty="0"/>
              <a:t>The answer is about 3.5 to 3.6 sigma. </a:t>
            </a:r>
            <a:endParaRPr lang="en-US" sz="1200" b="1" i="1" dirty="0">
              <a:solidFill>
                <a:srgbClr val="C55A11"/>
              </a:solidFill>
            </a:endParaRPr>
          </a:p>
          <a:p>
            <a:pPr>
              <a:spcAft>
                <a:spcPts val="600"/>
              </a:spcAft>
            </a:pPr>
            <a:r>
              <a:rPr sz="1200" b="0" i="0" dirty="0"/>
              <a:t>But the real next step isn't the score. It's asking which type of mistake shows up most, and what changes would protect families from delays, wrong eligibility decisions, or missing notices.</a:t>
            </a:r>
          </a:p>
        </p:txBody>
      </p:sp>
      <p:sp>
        <p:nvSpPr>
          <p:cNvPr id="4" name="Slide Number Placeholder 3"/>
          <p:cNvSpPr>
            <a:spLocks noGrp="1"/>
          </p:cNvSpPr>
          <p:nvPr>
            <p:ph type="sldNum" sz="quarter" idx="5"/>
          </p:nvPr>
        </p:nvSpPr>
        <p:spPr/>
        <p:txBody>
          <a:bodyPr/>
          <a:lstStyle/>
          <a:p>
            <a:fld id="{336F8861-7D18-944D-B836-A484A82765AD}" type="slidenum">
              <a:rPr lang="en-US" smtClean="0"/>
              <a:t>40</a:t>
            </a:fld>
            <a:endParaRPr lang="en-US"/>
          </a:p>
        </p:txBody>
      </p:sp>
    </p:spTree>
    <p:extLst>
      <p:ext uri="{BB962C8B-B14F-4D97-AF65-F5344CB8AC3E}">
        <p14:creationId xmlns:p14="http://schemas.microsoft.com/office/powerpoint/2010/main" val="39423203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0.5 MINUTES</a:t>
            </a:r>
          </a:p>
          <a:p>
            <a:pPr>
              <a:spcAft>
                <a:spcPts val="600"/>
              </a:spcAft>
            </a:pPr>
            <a:r>
              <a:rPr sz="1200" b="1" i="0"/>
              <a:t>SPEAKER SCRIPT</a:t>
            </a:r>
          </a:p>
          <a:p>
            <a:pPr>
              <a:spcAft>
                <a:spcPts val="600"/>
              </a:spcAft>
            </a:pPr>
            <a:r>
              <a:rPr sz="1200" b="0" i="0"/>
              <a:t>Our last section is Rolled Throughput Yield. This measure shows us quality at every step along the way, not just at the very end.</a:t>
            </a:r>
          </a:p>
        </p:txBody>
      </p:sp>
      <p:sp>
        <p:nvSpPr>
          <p:cNvPr id="4" name="Slide Number Placeholder 3"/>
          <p:cNvSpPr>
            <a:spLocks noGrp="1"/>
          </p:cNvSpPr>
          <p:nvPr>
            <p:ph type="sldNum" sz="quarter" idx="5"/>
          </p:nvPr>
        </p:nvSpPr>
        <p:spPr/>
        <p:txBody>
          <a:bodyPr/>
          <a:lstStyle/>
          <a:p>
            <a:fld id="{336F8861-7D18-944D-B836-A484A82765AD}" type="slidenum">
              <a:rPr lang="en-US" smtClean="0"/>
              <a:t>41</a:t>
            </a:fld>
            <a:endParaRPr lang="en-US"/>
          </a:p>
        </p:txBody>
      </p:sp>
    </p:spTree>
    <p:extLst>
      <p:ext uri="{BB962C8B-B14F-4D97-AF65-F5344CB8AC3E}">
        <p14:creationId xmlns:p14="http://schemas.microsoft.com/office/powerpoint/2010/main" val="40006688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2.5 MINUTES</a:t>
            </a:r>
          </a:p>
          <a:p>
            <a:pPr>
              <a:spcAft>
                <a:spcPts val="600"/>
              </a:spcAft>
            </a:pPr>
            <a:r>
              <a:rPr sz="1200" b="1" i="0"/>
              <a:t>SPEAKER SCRIPT</a:t>
            </a:r>
          </a:p>
          <a:p>
            <a:pPr>
              <a:spcAft>
                <a:spcPts val="600"/>
              </a:spcAft>
            </a:pPr>
            <a:r>
              <a:rPr sz="1200" b="0" i="0"/>
              <a:t>Final Yield shows what reaches the customer at the end. Rolled Throughput Yield, or RTY, shows the chance that an item gets through every step with no problems at all.</a:t>
            </a:r>
          </a:p>
          <a:p>
            <a:pPr>
              <a:spcAft>
                <a:spcPts val="600"/>
              </a:spcAft>
            </a:pPr>
            <a:r>
              <a:rPr sz="1200" b="0" i="0"/>
              <a:t>To calculate it, multiply the first-time yield of each step together. On this slide, 0.95 times 0.95 times 0.85 is about 0.767, or 76.7 percent.</a:t>
            </a:r>
          </a:p>
          <a:p>
            <a:pPr>
              <a:spcAft>
                <a:spcPts val="600"/>
              </a:spcAft>
            </a:pPr>
            <a:r>
              <a:rPr sz="1200" b="0" i="0"/>
              <a:t>Here's why it matters. When RTY and Final Yield are close, there's not much hidden rework. When Final Yield is much higher than RTY, the end result only looks good because people are quietly fixing mistakes behind the scenes.</a:t>
            </a:r>
          </a:p>
        </p:txBody>
      </p:sp>
      <p:sp>
        <p:nvSpPr>
          <p:cNvPr id="4" name="Slide Number Placeholder 3"/>
          <p:cNvSpPr>
            <a:spLocks noGrp="1"/>
          </p:cNvSpPr>
          <p:nvPr>
            <p:ph type="sldNum" sz="quarter" idx="5"/>
          </p:nvPr>
        </p:nvSpPr>
        <p:spPr/>
        <p:txBody>
          <a:bodyPr/>
          <a:lstStyle/>
          <a:p>
            <a:fld id="{336F8861-7D18-944D-B836-A484A82765AD}" type="slidenum">
              <a:rPr lang="en-US" smtClean="0"/>
              <a:t>42</a:t>
            </a:fld>
            <a:endParaRPr lang="en-US"/>
          </a:p>
        </p:txBody>
      </p:sp>
    </p:spTree>
    <p:extLst>
      <p:ext uri="{BB962C8B-B14F-4D97-AF65-F5344CB8AC3E}">
        <p14:creationId xmlns:p14="http://schemas.microsoft.com/office/powerpoint/2010/main" val="18330036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D7737-3005-0D72-CC00-C349C91B7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C674A-ED21-D85B-2AA2-27A6162D75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C88FA8-508D-F43F-AAD1-69A0C1225A2F}"/>
              </a:ext>
            </a:extLst>
          </p:cNvPr>
          <p:cNvSpPr>
            <a:spLocks noGrp="1"/>
          </p:cNvSpPr>
          <p:nvPr>
            <p:ph type="body" idx="1"/>
          </p:nvPr>
        </p:nvSpPr>
        <p:spPr/>
        <p:txBody>
          <a:bodyPr/>
          <a:lstStyle/>
          <a:p>
            <a:pPr>
              <a:spcAft>
                <a:spcPts val="600"/>
              </a:spcAft>
            </a:pPr>
            <a:r>
              <a:rPr sz="1200" b="1" i="0"/>
              <a:t>TIMING: 2.5 MINUTES</a:t>
            </a:r>
          </a:p>
          <a:p>
            <a:pPr>
              <a:spcAft>
                <a:spcPts val="600"/>
              </a:spcAft>
            </a:pPr>
            <a:r>
              <a:rPr sz="1200" b="1" i="0"/>
              <a:t>SPEAKER SCRIPT</a:t>
            </a:r>
          </a:p>
          <a:p>
            <a:pPr>
              <a:spcAft>
                <a:spcPts val="600"/>
              </a:spcAft>
            </a:pPr>
            <a:r>
              <a:rPr sz="1200" b="0" i="0"/>
              <a:t>This IT help desk example makes the difference really clear.</a:t>
            </a:r>
          </a:p>
          <a:p>
            <a:pPr>
              <a:spcAft>
                <a:spcPts val="600"/>
              </a:spcAft>
            </a:pPr>
            <a:r>
              <a:rPr sz="1200" b="0" i="0"/>
              <a:t>The three steps get it right the first time 90 percent, 80 percent, and 95 percent of the time. Multiply them, and RTY is 68.4 percent.</a:t>
            </a:r>
          </a:p>
          <a:p>
            <a:pPr>
              <a:spcAft>
                <a:spcPts val="600"/>
              </a:spcAft>
            </a:pPr>
            <a:r>
              <a:rPr sz="1200" b="0" i="0"/>
              <a:t>But the Final Yield is 95 percent.</a:t>
            </a:r>
          </a:p>
          <a:p>
            <a:pPr>
              <a:spcAft>
                <a:spcPts val="600"/>
              </a:spcAft>
            </a:pPr>
            <a:r>
              <a:rPr sz="1200" b="1">
                <a:solidFill>
                  <a:srgbClr val="0070C0"/>
                </a:solidFill>
              </a:rPr>
              <a:t>[ASK]</a:t>
            </a:r>
            <a:r>
              <a:rPr sz="1200" b="0" i="0"/>
              <a:t> So which number would you rather report to your boss? </a:t>
            </a:r>
            <a:r>
              <a:rPr sz="1200" b="1">
                <a:solidFill>
                  <a:srgbClr val="0070C0"/>
                </a:solidFill>
              </a:rPr>
              <a:t>[Pause for a laugh.]</a:t>
            </a:r>
            <a:r>
              <a:rPr sz="1200" b="0" i="0"/>
              <a:t> And which one tells the real story?</a:t>
            </a:r>
          </a:p>
          <a:p>
            <a:pPr>
              <a:spcAft>
                <a:spcPts val="600"/>
              </a:spcAft>
            </a:pPr>
            <a:r>
              <a:rPr sz="1200" b="0" i="0"/>
              <a:t>Customers eventually get what they need, but only about two-thirds of requests made it through without a hiccup. Step 2 is the weak spot.</a:t>
            </a:r>
          </a:p>
          <a:p>
            <a:pPr>
              <a:spcAft>
                <a:spcPts val="600"/>
              </a:spcAft>
            </a:pPr>
            <a:r>
              <a:rPr sz="1200" b="0" i="0"/>
              <a:t>For our support teams at the company, this kind of view can show where local teams are hitting delays or repeat handoffs, even when the final numbers look fine.</a:t>
            </a:r>
          </a:p>
        </p:txBody>
      </p:sp>
      <p:sp>
        <p:nvSpPr>
          <p:cNvPr id="4" name="Slide Number Placeholder 3">
            <a:extLst>
              <a:ext uri="{FF2B5EF4-FFF2-40B4-BE49-F238E27FC236}">
                <a16:creationId xmlns:a16="http://schemas.microsoft.com/office/drawing/2014/main" id="{DCDF6590-EB11-E7E9-0545-9F80D782E42E}"/>
              </a:ext>
            </a:extLst>
          </p:cNvPr>
          <p:cNvSpPr>
            <a:spLocks noGrp="1"/>
          </p:cNvSpPr>
          <p:nvPr>
            <p:ph type="sldNum" sz="quarter" idx="5"/>
          </p:nvPr>
        </p:nvSpPr>
        <p:spPr/>
        <p:txBody>
          <a:bodyPr/>
          <a:lstStyle/>
          <a:p>
            <a:fld id="{336F8861-7D18-944D-B836-A484A82765AD}" type="slidenum">
              <a:rPr lang="en-US" smtClean="0"/>
              <a:t>43</a:t>
            </a:fld>
            <a:endParaRPr lang="en-US"/>
          </a:p>
        </p:txBody>
      </p:sp>
    </p:spTree>
    <p:extLst>
      <p:ext uri="{BB962C8B-B14F-4D97-AF65-F5344CB8AC3E}">
        <p14:creationId xmlns:p14="http://schemas.microsoft.com/office/powerpoint/2010/main" val="13625055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The gap between Final Yield and RTY is what we call the Hidden Factory. It's all the work the customer never sees: fixing, redoing, rerouting, reopening, and correcting mistakes.</a:t>
            </a:r>
          </a:p>
          <a:p>
            <a:pPr>
              <a:spcAft>
                <a:spcPts val="600"/>
              </a:spcAft>
            </a:pPr>
            <a:r>
              <a:rPr sz="1200" b="0" i="0"/>
              <a:t>In this example, 31.6 out of every 100 requests involve some kind of failure or rework. That's almost a third of the effort adding no value for the customer.</a:t>
            </a:r>
          </a:p>
          <a:p>
            <a:pPr>
              <a:spcAft>
                <a:spcPts val="600"/>
              </a:spcAft>
            </a:pPr>
            <a:r>
              <a:rPr sz="1200" b="0" i="0"/>
              <a:t>I saw this firsthand at Staples. When a call got sent to the wrong team and transferred, the customer eventually got help, so on paper it looked fine. But that transfer was hidden work for two agents, and often it meant a callback. That's exactly what we went after in our first contact resolution project.</a:t>
            </a:r>
          </a:p>
          <a:p>
            <a:pPr>
              <a:spcAft>
                <a:spcPts val="600"/>
              </a:spcAft>
            </a:pPr>
            <a:r>
              <a:rPr sz="1200" b="0" i="0"/>
              <a:t>At the company, this hidden effort uses up time that could go to helping customers, employers, and project teams. Shrinking it improves the customer experience and frees up capacity.</a:t>
            </a:r>
          </a:p>
        </p:txBody>
      </p:sp>
      <p:sp>
        <p:nvSpPr>
          <p:cNvPr id="4" name="Slide Number Placeholder 3"/>
          <p:cNvSpPr>
            <a:spLocks noGrp="1"/>
          </p:cNvSpPr>
          <p:nvPr>
            <p:ph type="sldNum" sz="quarter" idx="5"/>
          </p:nvPr>
        </p:nvSpPr>
        <p:spPr/>
        <p:txBody>
          <a:bodyPr/>
          <a:lstStyle/>
          <a:p>
            <a:fld id="{336F8861-7D18-944D-B836-A484A82765AD}" type="slidenum">
              <a:rPr lang="en-US" smtClean="0"/>
              <a:t>44</a:t>
            </a:fld>
            <a:endParaRPr lang="en-US"/>
          </a:p>
        </p:txBody>
      </p:sp>
    </p:spTree>
    <p:extLst>
      <p:ext uri="{BB962C8B-B14F-4D97-AF65-F5344CB8AC3E}">
        <p14:creationId xmlns:p14="http://schemas.microsoft.com/office/powerpoint/2010/main" val="8996138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This summary shows where the hidden work comes from.</a:t>
            </a:r>
          </a:p>
          <a:p>
            <a:pPr>
              <a:spcAft>
                <a:spcPts val="600"/>
              </a:spcAft>
            </a:pPr>
            <a:r>
              <a:rPr sz="1200" b="0" i="0"/>
              <a:t>Step 1 loses 10 requests to missing information. Step 2, routing, has the lowest yield and loses the most, 18 requests. Step 3 loses a few more to wrong fixes that get reopened.</a:t>
            </a:r>
          </a:p>
          <a:p>
            <a:pPr>
              <a:spcAft>
                <a:spcPts val="600"/>
              </a:spcAft>
            </a:pPr>
            <a:r>
              <a:rPr sz="1200" b="1">
                <a:solidFill>
                  <a:srgbClr val="0070C0"/>
                </a:solidFill>
              </a:rPr>
              <a:t>[ASK]</a:t>
            </a:r>
            <a:r>
              <a:rPr sz="1200" b="0" i="0"/>
              <a:t> If you only had budget to fix one step, which would you pick? </a:t>
            </a:r>
            <a:r>
              <a:rPr sz="1200" b="1">
                <a:solidFill>
                  <a:srgbClr val="0070C0"/>
                </a:solidFill>
              </a:rPr>
              <a:t>[Pause.]</a:t>
            </a:r>
            <a:r>
              <a:rPr sz="1200" b="0" i="0"/>
              <a:t> Step 2, right? It has the lowest yield and creates the most rework.</a:t>
            </a:r>
          </a:p>
          <a:p>
            <a:pPr>
              <a:spcAft>
                <a:spcPts val="600"/>
              </a:spcAft>
            </a:pPr>
            <a:r>
              <a:rPr sz="1200" b="0" i="0"/>
              <a:t>Still, the team should dig into the root cause before jumping to a fix. But the RTY breakdown tells us exactly where to start.</a:t>
            </a:r>
          </a:p>
        </p:txBody>
      </p:sp>
      <p:sp>
        <p:nvSpPr>
          <p:cNvPr id="4" name="Slide Number Placeholder 3"/>
          <p:cNvSpPr>
            <a:spLocks noGrp="1"/>
          </p:cNvSpPr>
          <p:nvPr>
            <p:ph type="sldNum" sz="quarter" idx="5"/>
          </p:nvPr>
        </p:nvSpPr>
        <p:spPr/>
        <p:txBody>
          <a:bodyPr/>
          <a:lstStyle/>
          <a:p>
            <a:fld id="{336F8861-7D18-944D-B836-A484A82765AD}" type="slidenum">
              <a:rPr lang="en-US" smtClean="0"/>
              <a:t>45</a:t>
            </a:fld>
            <a:endParaRPr lang="en-US"/>
          </a:p>
        </p:txBody>
      </p:sp>
    </p:spTree>
    <p:extLst>
      <p:ext uri="{BB962C8B-B14F-4D97-AF65-F5344CB8AC3E}">
        <p14:creationId xmlns:p14="http://schemas.microsoft.com/office/powerpoint/2010/main" val="18291088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b="1" i="0"/>
              <a:t>TIMING: 2 MINUTES</a:t>
            </a:r>
          </a:p>
          <a:p>
            <a:pPr>
              <a:spcAft>
                <a:spcPts val="600"/>
              </a:spcAft>
            </a:pPr>
            <a:r>
              <a:rPr sz="1200" b="1" i="0"/>
              <a:t>SPEAKER SCRIPT</a:t>
            </a:r>
          </a:p>
          <a:p>
            <a:pPr>
              <a:spcAft>
                <a:spcPts val="600"/>
              </a:spcAft>
            </a:pPr>
            <a:r>
              <a:rPr sz="1200" b="0" i="0"/>
              <a:t>Let's sum it up.</a:t>
            </a:r>
          </a:p>
          <a:p>
            <a:pPr>
              <a:spcAft>
                <a:spcPts val="600"/>
              </a:spcAft>
            </a:pPr>
            <a:r>
              <a:rPr sz="1200" b="0" i="0"/>
              <a:t>A defect is anything that doesn't meet the customer's needs. Final Yield tells us how often we get it right the first time. DPU counts the mistakes in each item. Opportunities are the chances for a mistake. DPMO puts everything on the same scale. Process Sigma turns that into a single score. RTY shows how we do across every step. And the Hidden Factory shows us all the rework nobody sees.</a:t>
            </a:r>
          </a:p>
          <a:p>
            <a:pPr>
              <a:spcAft>
                <a:spcPts val="600"/>
              </a:spcAft>
            </a:pPr>
            <a:r>
              <a:rPr sz="1200" b="0" i="0"/>
              <a:t>Together, these help us focus on fewer mistakes, less wasted effort, better results for customers, and better use of our resources.</a:t>
            </a:r>
          </a:p>
        </p:txBody>
      </p:sp>
      <p:sp>
        <p:nvSpPr>
          <p:cNvPr id="4" name="Slide Number Placeholder 3"/>
          <p:cNvSpPr>
            <a:spLocks noGrp="1"/>
          </p:cNvSpPr>
          <p:nvPr>
            <p:ph type="sldNum" sz="quarter" idx="5"/>
          </p:nvPr>
        </p:nvSpPr>
        <p:spPr/>
        <p:txBody>
          <a:bodyPr/>
          <a:lstStyle/>
          <a:p>
            <a:fld id="{336F8861-7D18-944D-B836-A484A82765AD}" type="slidenum">
              <a:rPr lang="en-US" smtClean="0"/>
              <a:t>46</a:t>
            </a:fld>
            <a:endParaRPr lang="en-US"/>
          </a:p>
        </p:txBody>
      </p:sp>
    </p:spTree>
    <p:extLst>
      <p:ext uri="{BB962C8B-B14F-4D97-AF65-F5344CB8AC3E}">
        <p14:creationId xmlns:p14="http://schemas.microsoft.com/office/powerpoint/2010/main" val="24146165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spcAft>
                <a:spcPts val="600"/>
              </a:spcAft>
            </a:pPr>
            <a:r>
              <a:rPr sz="1200" b="1" i="0"/>
              <a:t>TIMING: 1 MINUTES</a:t>
            </a:r>
          </a:p>
          <a:p>
            <a:pPr>
              <a:spcAft>
                <a:spcPts val="600"/>
              </a:spcAft>
            </a:pPr>
            <a:r>
              <a:rPr sz="1200" b="1" i="0"/>
              <a:t>SPEAKER SCRIPT</a:t>
            </a:r>
          </a:p>
          <a:p>
            <a:pPr>
              <a:spcAft>
                <a:spcPts val="600"/>
              </a:spcAft>
            </a:pPr>
            <a:r>
              <a:rPr sz="1200" b="0" i="0"/>
              <a:t>Thank you all for your participation!</a:t>
            </a:r>
          </a:p>
          <a:p>
            <a:pPr>
              <a:spcAft>
                <a:spcPts val="600"/>
              </a:spcAft>
            </a:pPr>
            <a:r>
              <a:rPr sz="1200" b="1">
                <a:solidFill>
                  <a:srgbClr val="0070C0"/>
                </a:solidFill>
              </a:rPr>
              <a:t>[CHAT]</a:t>
            </a:r>
            <a:r>
              <a:rPr sz="1200" b="0" i="0"/>
              <a:t> Before we close: pick one process you work with. Which measure from today would tell you the most: Final Yield, DPU, DPMO, sigma, or RTY? Type it in the chat with one sentence on why. </a:t>
            </a:r>
            <a:r>
              <a:rPr sz="1200" b="1">
                <a:solidFill>
                  <a:srgbClr val="0070C0"/>
                </a:solidFill>
              </a:rPr>
              <a:t>[Read a few out loud.]</a:t>
            </a:r>
          </a:p>
          <a:p>
            <a:pPr>
              <a:spcAft>
                <a:spcPts val="600"/>
              </a:spcAft>
            </a:pPr>
            <a:r>
              <a:rPr sz="1200" b="0" i="0"/>
              <a:t>Once your attendance is recorded, your end-of-module test and the slides will be available.</a:t>
            </a:r>
          </a:p>
        </p:txBody>
      </p:sp>
      <p:sp>
        <p:nvSpPr>
          <p:cNvPr id="4" name="Slide Number Placeholder 3"/>
          <p:cNvSpPr>
            <a:spLocks noGrp="1"/>
          </p:cNvSpPr>
          <p:nvPr>
            <p:ph type="sldNum" sz="quarter" idx="5"/>
          </p:nvPr>
        </p:nvSpPr>
        <p:spPr/>
        <p:txBody>
          <a:bodyPr/>
          <a:lstStyle/>
          <a:p>
            <a:fld id="{336F8861-7D18-944D-B836-A484A82765AD}" type="slidenum">
              <a:rPr lang="en-US" smtClean="0"/>
              <a:t>47</a:t>
            </a:fld>
            <a:endParaRPr lang="en-US"/>
          </a:p>
        </p:txBody>
      </p:sp>
    </p:spTree>
    <p:extLst>
      <p:ext uri="{BB962C8B-B14F-4D97-AF65-F5344CB8AC3E}">
        <p14:creationId xmlns:p14="http://schemas.microsoft.com/office/powerpoint/2010/main" val="25339670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16" name="bg object 16"/>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15" name="Text Placeholder 14">
            <a:extLst>
              <a:ext uri="{FF2B5EF4-FFF2-40B4-BE49-F238E27FC236}">
                <a16:creationId xmlns:a16="http://schemas.microsoft.com/office/drawing/2014/main" id="{B49E1506-44A0-C243-961B-917943DAE1E2}"/>
              </a:ext>
            </a:extLst>
          </p:cNvPr>
          <p:cNvSpPr>
            <a:spLocks noGrp="1"/>
          </p:cNvSpPr>
          <p:nvPr>
            <p:ph type="body" sz="quarter" idx="10" hasCustomPrompt="1"/>
          </p:nvPr>
        </p:nvSpPr>
        <p:spPr>
          <a:xfrm>
            <a:off x="533400" y="2318598"/>
            <a:ext cx="5562600" cy="1485900"/>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8" name="Text Placeholder 17">
            <a:extLst>
              <a:ext uri="{FF2B5EF4-FFF2-40B4-BE49-F238E27FC236}">
                <a16:creationId xmlns:a16="http://schemas.microsoft.com/office/drawing/2014/main" id="{7A74C29E-264C-E546-AA84-D6DEEEFAE46E}"/>
              </a:ext>
            </a:extLst>
          </p:cNvPr>
          <p:cNvSpPr>
            <a:spLocks noGrp="1"/>
          </p:cNvSpPr>
          <p:nvPr>
            <p:ph type="body" sz="quarter" idx="11" hasCustomPrompt="1"/>
          </p:nvPr>
        </p:nvSpPr>
        <p:spPr>
          <a:xfrm>
            <a:off x="533400" y="3947160"/>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pic>
        <p:nvPicPr>
          <p:cNvPr id="8" name="Picture 7">
            <a:extLst>
              <a:ext uri="{FF2B5EF4-FFF2-40B4-BE49-F238E27FC236}">
                <a16:creationId xmlns:a16="http://schemas.microsoft.com/office/drawing/2014/main" id="{09406C76-BFDA-2443-8FE2-8A696F72BB97}"/>
              </a:ext>
            </a:extLst>
          </p:cNvPr>
          <p:cNvPicPr>
            <a:picLocks noChangeAspect="1"/>
          </p:cNvPicPr>
          <p:nvPr userDrawn="1"/>
        </p:nvPicPr>
        <p:blipFill>
          <a:blip r:embed="rId2"/>
          <a:stretch>
            <a:fillRect/>
          </a:stretch>
        </p:blipFill>
        <p:spPr>
          <a:xfrm>
            <a:off x="575994" y="5788803"/>
            <a:ext cx="1616743" cy="547430"/>
          </a:xfrm>
          <a:prstGeom prst="rect">
            <a:avLst/>
          </a:prstGeom>
        </p:spPr>
      </p:pic>
      <p:pic>
        <p:nvPicPr>
          <p:cNvPr id="9" name="Picture 8">
            <a:extLst>
              <a:ext uri="{FF2B5EF4-FFF2-40B4-BE49-F238E27FC236}">
                <a16:creationId xmlns:a16="http://schemas.microsoft.com/office/drawing/2014/main" id="{1B6C17F0-EC2B-8849-AC98-388A1F15AAA1}"/>
              </a:ext>
            </a:extLst>
          </p:cNvPr>
          <p:cNvPicPr>
            <a:picLocks noChangeAspect="1"/>
          </p:cNvPicPr>
          <p:nvPr userDrawn="1"/>
        </p:nvPicPr>
        <p:blipFill>
          <a:blip r:embed="rId3"/>
          <a:stretch>
            <a:fillRect/>
          </a:stretch>
        </p:blipFill>
        <p:spPr>
          <a:xfrm>
            <a:off x="575994" y="577370"/>
            <a:ext cx="2353083" cy="722375"/>
          </a:xfrm>
          <a:prstGeom prst="rect">
            <a:avLst/>
          </a:prstGeom>
        </p:spPr>
      </p:pic>
      <p:pic>
        <p:nvPicPr>
          <p:cNvPr id="11" name="Picture 10">
            <a:extLst>
              <a:ext uri="{FF2B5EF4-FFF2-40B4-BE49-F238E27FC236}">
                <a16:creationId xmlns:a16="http://schemas.microsoft.com/office/drawing/2014/main" id="{AA8B8DAD-9481-AA47-88A7-BFE49BF958F8}"/>
              </a:ext>
            </a:extLst>
          </p:cNvPr>
          <p:cNvPicPr>
            <a:picLocks noChangeAspect="1"/>
          </p:cNvPicPr>
          <p:nvPr userDrawn="1"/>
        </p:nvPicPr>
        <p:blipFill>
          <a:blip r:embed="rId4"/>
          <a:stretch>
            <a:fillRect/>
          </a:stretch>
        </p:blipFill>
        <p:spPr>
          <a:xfrm>
            <a:off x="6688306" y="1328904"/>
            <a:ext cx="5300495" cy="530049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NTENT TITLE 1">
    <p:bg>
      <p:bgPr>
        <a:solidFill>
          <a:schemeClr val="bg1"/>
        </a:solidFill>
        <a:effectLst/>
      </p:bgPr>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E1C47ABA-B797-8D40-9EA9-D68CBCD1CFA6}"/>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FDB913"/>
          </a:solidFill>
        </p:spPr>
        <p:txBody>
          <a:bodyPr wrap="square" lIns="0" tIns="0" rIns="0" bIns="0" rtlCol="0"/>
          <a:lstStyle/>
          <a:p>
            <a:endParaRPr/>
          </a:p>
        </p:txBody>
      </p:sp>
      <p:pic>
        <p:nvPicPr>
          <p:cNvPr id="10" name="Picture 9">
            <a:extLst>
              <a:ext uri="{FF2B5EF4-FFF2-40B4-BE49-F238E27FC236}">
                <a16:creationId xmlns:a16="http://schemas.microsoft.com/office/drawing/2014/main" id="{D37420C8-369F-9048-9E36-6E4EB475F5E0}"/>
              </a:ext>
            </a:extLst>
          </p:cNvPr>
          <p:cNvPicPr>
            <a:picLocks noChangeAspect="1"/>
          </p:cNvPicPr>
          <p:nvPr userDrawn="1"/>
        </p:nvPicPr>
        <p:blipFill>
          <a:blip r:embed="rId2"/>
          <a:stretch>
            <a:fillRect/>
          </a:stretch>
        </p:blipFill>
        <p:spPr>
          <a:xfrm>
            <a:off x="9815421" y="575923"/>
            <a:ext cx="1801777" cy="553129"/>
          </a:xfrm>
          <a:prstGeom prst="rect">
            <a:avLst/>
          </a:prstGeom>
        </p:spPr>
      </p:pic>
      <p:sp>
        <p:nvSpPr>
          <p:cNvPr id="6" name="object 17">
            <a:extLst>
              <a:ext uri="{FF2B5EF4-FFF2-40B4-BE49-F238E27FC236}">
                <a16:creationId xmlns:a16="http://schemas.microsoft.com/office/drawing/2014/main" id="{D41CAC6E-A1AF-EE41-B7C8-5E89759F1640}"/>
              </a:ext>
            </a:extLst>
          </p:cNvPr>
          <p:cNvSpPr/>
          <p:nvPr userDrawn="1"/>
        </p:nvSpPr>
        <p:spPr>
          <a:xfrm>
            <a:off x="576000" y="3335991"/>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25408D"/>
          </a:solidFill>
        </p:spPr>
        <p:txBody>
          <a:bodyPr wrap="square" lIns="0" tIns="0" rIns="0" bIns="0" rtlCol="0"/>
          <a:lstStyle/>
          <a:p>
            <a:endParaRPr/>
          </a:p>
        </p:txBody>
      </p:sp>
      <p:sp>
        <p:nvSpPr>
          <p:cNvPr id="13" name="Text Placeholder 14">
            <a:extLst>
              <a:ext uri="{FF2B5EF4-FFF2-40B4-BE49-F238E27FC236}">
                <a16:creationId xmlns:a16="http://schemas.microsoft.com/office/drawing/2014/main" id="{4079F3DD-B8B1-A048-BFFD-2B692EB3A3D7}"/>
              </a:ext>
            </a:extLst>
          </p:cNvPr>
          <p:cNvSpPr>
            <a:spLocks noGrp="1"/>
          </p:cNvSpPr>
          <p:nvPr>
            <p:ph type="body" sz="quarter" idx="10" hasCustomPrompt="1"/>
          </p:nvPr>
        </p:nvSpPr>
        <p:spPr>
          <a:xfrm>
            <a:off x="533400" y="4343400"/>
            <a:ext cx="5562600" cy="1538883"/>
          </a:xfrm>
        </p:spPr>
        <p:txBody>
          <a:bodyPr/>
          <a:lstStyle>
            <a:lvl1pPr>
              <a:defRPr sz="5000" b="1" baseline="0">
                <a:solidFill>
                  <a:srgbClr val="24408D"/>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4" name="Text Placeholder 17">
            <a:extLst>
              <a:ext uri="{FF2B5EF4-FFF2-40B4-BE49-F238E27FC236}">
                <a16:creationId xmlns:a16="http://schemas.microsoft.com/office/drawing/2014/main" id="{74190006-AD26-B942-B35A-C304E8CFA96B}"/>
              </a:ext>
            </a:extLst>
          </p:cNvPr>
          <p:cNvSpPr>
            <a:spLocks noGrp="1"/>
          </p:cNvSpPr>
          <p:nvPr>
            <p:ph type="body" sz="quarter" idx="11" hasCustomPrompt="1"/>
          </p:nvPr>
        </p:nvSpPr>
        <p:spPr>
          <a:xfrm>
            <a:off x="533400" y="5971962"/>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sp>
        <p:nvSpPr>
          <p:cNvPr id="15" name="Text Placeholder 2">
            <a:extLst>
              <a:ext uri="{FF2B5EF4-FFF2-40B4-BE49-F238E27FC236}">
                <a16:creationId xmlns:a16="http://schemas.microsoft.com/office/drawing/2014/main" id="{0C25CAF6-6C38-434A-8515-C32412E0E9E0}"/>
              </a:ext>
            </a:extLst>
          </p:cNvPr>
          <p:cNvSpPr>
            <a:spLocks noGrp="1"/>
          </p:cNvSpPr>
          <p:nvPr>
            <p:ph type="body" sz="quarter" idx="12" hasCustomPrompt="1"/>
          </p:nvPr>
        </p:nvSpPr>
        <p:spPr>
          <a:xfrm>
            <a:off x="530280" y="3505200"/>
            <a:ext cx="914400" cy="484748"/>
          </a:xfrm>
        </p:spPr>
        <p:txBody>
          <a:bodyPr/>
          <a:lstStyle>
            <a:lvl1pPr algn="ctr">
              <a:defRPr sz="3150" b="1">
                <a:solidFill>
                  <a:srgbClr val="FDBA13"/>
                </a:solidFill>
                <a:latin typeface="Arial" panose="020B0604020202020204" pitchFamily="34" charset="0"/>
                <a:cs typeface="Arial" panose="020B0604020202020204" pitchFamily="34" charset="0"/>
              </a:defRPr>
            </a:lvl1pPr>
          </a:lstStyle>
          <a:p>
            <a:pPr lvl="0"/>
            <a:r>
              <a:rPr lang="en-GB"/>
              <a:t>01</a:t>
            </a:r>
            <a:endParaRPr lang="en-US"/>
          </a:p>
        </p:txBody>
      </p:sp>
      <p:pic>
        <p:nvPicPr>
          <p:cNvPr id="12" name="Picture 11">
            <a:extLst>
              <a:ext uri="{FF2B5EF4-FFF2-40B4-BE49-F238E27FC236}">
                <a16:creationId xmlns:a16="http://schemas.microsoft.com/office/drawing/2014/main" id="{E681081D-0C96-5943-BBC3-B8DF5ADDFC9E}"/>
              </a:ext>
            </a:extLst>
          </p:cNvPr>
          <p:cNvPicPr>
            <a:picLocks noChangeAspect="1"/>
          </p:cNvPicPr>
          <p:nvPr userDrawn="1"/>
        </p:nvPicPr>
        <p:blipFill>
          <a:blip r:embed="rId3"/>
          <a:stretch>
            <a:fillRect/>
          </a:stretch>
        </p:blipFill>
        <p:spPr>
          <a:xfrm>
            <a:off x="6688305" y="1328905"/>
            <a:ext cx="5300496" cy="530049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TITLE 2">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7AFBEAC9-D4A4-5E45-8FBD-DB63B8A4CE08}"/>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pic>
        <p:nvPicPr>
          <p:cNvPr id="9" name="Picture 8">
            <a:extLst>
              <a:ext uri="{FF2B5EF4-FFF2-40B4-BE49-F238E27FC236}">
                <a16:creationId xmlns:a16="http://schemas.microsoft.com/office/drawing/2014/main" id="{FFE8A3FC-ACA8-EF44-99E1-272DA6597867}"/>
              </a:ext>
            </a:extLst>
          </p:cNvPr>
          <p:cNvPicPr>
            <a:picLocks noChangeAspect="1"/>
          </p:cNvPicPr>
          <p:nvPr userDrawn="1"/>
        </p:nvPicPr>
        <p:blipFill>
          <a:blip r:embed="rId2"/>
          <a:stretch>
            <a:fillRect/>
          </a:stretch>
        </p:blipFill>
        <p:spPr>
          <a:xfrm>
            <a:off x="9815421" y="577622"/>
            <a:ext cx="1801776" cy="553129"/>
          </a:xfrm>
          <a:prstGeom prst="rect">
            <a:avLst/>
          </a:prstGeom>
        </p:spPr>
      </p:pic>
      <p:sp>
        <p:nvSpPr>
          <p:cNvPr id="6" name="object 17">
            <a:extLst>
              <a:ext uri="{FF2B5EF4-FFF2-40B4-BE49-F238E27FC236}">
                <a16:creationId xmlns:a16="http://schemas.microsoft.com/office/drawing/2014/main" id="{BA6F8A2B-F6D6-6042-86E5-0359E3657077}"/>
              </a:ext>
            </a:extLst>
          </p:cNvPr>
          <p:cNvSpPr/>
          <p:nvPr userDrawn="1"/>
        </p:nvSpPr>
        <p:spPr>
          <a:xfrm>
            <a:off x="576000" y="3335991"/>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7" name="Text Placeholder 14">
            <a:extLst>
              <a:ext uri="{FF2B5EF4-FFF2-40B4-BE49-F238E27FC236}">
                <a16:creationId xmlns:a16="http://schemas.microsoft.com/office/drawing/2014/main" id="{2B64CBD6-E94F-384D-B3C7-5EF72981368A}"/>
              </a:ext>
            </a:extLst>
          </p:cNvPr>
          <p:cNvSpPr>
            <a:spLocks noGrp="1"/>
          </p:cNvSpPr>
          <p:nvPr>
            <p:ph type="body" sz="quarter" idx="10" hasCustomPrompt="1"/>
          </p:nvPr>
        </p:nvSpPr>
        <p:spPr>
          <a:xfrm>
            <a:off x="533400" y="4343400"/>
            <a:ext cx="5562600" cy="1538883"/>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2" name="Text Placeholder 17">
            <a:extLst>
              <a:ext uri="{FF2B5EF4-FFF2-40B4-BE49-F238E27FC236}">
                <a16:creationId xmlns:a16="http://schemas.microsoft.com/office/drawing/2014/main" id="{AC9E665C-77BC-F04C-84E1-EE652A544129}"/>
              </a:ext>
            </a:extLst>
          </p:cNvPr>
          <p:cNvSpPr>
            <a:spLocks noGrp="1"/>
          </p:cNvSpPr>
          <p:nvPr>
            <p:ph type="body" sz="quarter" idx="11" hasCustomPrompt="1"/>
          </p:nvPr>
        </p:nvSpPr>
        <p:spPr>
          <a:xfrm>
            <a:off x="533400" y="5971962"/>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sp>
        <p:nvSpPr>
          <p:cNvPr id="13" name="Text Placeholder 2">
            <a:extLst>
              <a:ext uri="{FF2B5EF4-FFF2-40B4-BE49-F238E27FC236}">
                <a16:creationId xmlns:a16="http://schemas.microsoft.com/office/drawing/2014/main" id="{EACB878B-8222-1C49-9B67-4305EC50063C}"/>
              </a:ext>
            </a:extLst>
          </p:cNvPr>
          <p:cNvSpPr>
            <a:spLocks noGrp="1"/>
          </p:cNvSpPr>
          <p:nvPr>
            <p:ph type="body" sz="quarter" idx="12" hasCustomPrompt="1"/>
          </p:nvPr>
        </p:nvSpPr>
        <p:spPr>
          <a:xfrm>
            <a:off x="530280" y="3505200"/>
            <a:ext cx="914400" cy="484748"/>
          </a:xfrm>
        </p:spPr>
        <p:txBody>
          <a:bodyPr/>
          <a:lstStyle>
            <a:lvl1pPr algn="ctr">
              <a:defRPr sz="3150" b="1">
                <a:solidFill>
                  <a:srgbClr val="24408D"/>
                </a:solidFill>
                <a:latin typeface="Arial" panose="020B0604020202020204" pitchFamily="34" charset="0"/>
                <a:cs typeface="Arial" panose="020B0604020202020204" pitchFamily="34" charset="0"/>
              </a:defRPr>
            </a:lvl1pPr>
          </a:lstStyle>
          <a:p>
            <a:pPr lvl="0"/>
            <a:r>
              <a:rPr lang="en-GB"/>
              <a:t>01</a:t>
            </a:r>
            <a:endParaRPr lang="en-US"/>
          </a:p>
        </p:txBody>
      </p:sp>
      <p:pic>
        <p:nvPicPr>
          <p:cNvPr id="10" name="Picture 9">
            <a:extLst>
              <a:ext uri="{FF2B5EF4-FFF2-40B4-BE49-F238E27FC236}">
                <a16:creationId xmlns:a16="http://schemas.microsoft.com/office/drawing/2014/main" id="{70FCB4A0-59FC-5D4F-BD50-3F3913132A7D}"/>
              </a:ext>
            </a:extLst>
          </p:cNvPr>
          <p:cNvPicPr>
            <a:picLocks noChangeAspect="1"/>
          </p:cNvPicPr>
          <p:nvPr userDrawn="1"/>
        </p:nvPicPr>
        <p:blipFill>
          <a:blip r:embed="rId3"/>
          <a:stretch>
            <a:fillRect/>
          </a:stretch>
        </p:blipFill>
        <p:spPr>
          <a:xfrm>
            <a:off x="6688306" y="1328904"/>
            <a:ext cx="5300495" cy="530049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EXT">
    <p:bg>
      <p:bgPr>
        <a:solidFill>
          <a:schemeClr val="bg1"/>
        </a:solidFill>
        <a:effectLst/>
      </p:bgPr>
    </p:bg>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1" name="Text Placeholder 14">
            <a:extLst>
              <a:ext uri="{FF2B5EF4-FFF2-40B4-BE49-F238E27FC236}">
                <a16:creationId xmlns:a16="http://schemas.microsoft.com/office/drawing/2014/main" id="{6502E452-DD04-A942-B9C7-FB3B968F6231}"/>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
        <p:nvSpPr>
          <p:cNvPr id="12" name="Content Placeholder 2">
            <a:extLst>
              <a:ext uri="{FF2B5EF4-FFF2-40B4-BE49-F238E27FC236}">
                <a16:creationId xmlns:a16="http://schemas.microsoft.com/office/drawing/2014/main" id="{C92D5A97-B1C2-DC43-8911-4BEF1080F833}"/>
              </a:ext>
            </a:extLst>
          </p:cNvPr>
          <p:cNvSpPr>
            <a:spLocks noGrp="1"/>
          </p:cNvSpPr>
          <p:nvPr>
            <p:ph sz="quarter" idx="11"/>
          </p:nvPr>
        </p:nvSpPr>
        <p:spPr>
          <a:xfrm>
            <a:off x="6240463" y="1995059"/>
            <a:ext cx="5951537" cy="4862941"/>
          </a:xfrm>
          <a:solidFill>
            <a:schemeClr val="bg1">
              <a:lumMod val="85000"/>
            </a:schemeClr>
          </a:solidFill>
        </p:spPr>
        <p:txBody>
          <a:bodyPr/>
          <a:lstStyle/>
          <a:p>
            <a:pPr lvl="0"/>
            <a:endParaRPr lang="en-US"/>
          </a:p>
        </p:txBody>
      </p:sp>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400" y="1995059"/>
            <a:ext cx="4572000" cy="1401761"/>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5334000" cy="2523394"/>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endParaRPr lang="en-GB" sz="2000">
              <a:latin typeface="Arial"/>
              <a:cs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 COLLUM">
    <p:bg>
      <p:bgPr>
        <a:solidFill>
          <a:schemeClr val="bg1"/>
        </a:solidFill>
        <a:effectLst/>
      </p:bgPr>
    </p:bg>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400" y="1981200"/>
            <a:ext cx="4572000" cy="1401761"/>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09682"/>
            <a:ext cx="5334000" cy="2523394"/>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endParaRPr lang="en-GB" sz="2000">
              <a:latin typeface="Arial"/>
              <a:cs typeface="Arial"/>
            </a:endParaRPr>
          </a:p>
        </p:txBody>
      </p:sp>
      <p:sp>
        <p:nvSpPr>
          <p:cNvPr id="9" name="Text Placeholder 14">
            <a:extLst>
              <a:ext uri="{FF2B5EF4-FFF2-40B4-BE49-F238E27FC236}">
                <a16:creationId xmlns:a16="http://schemas.microsoft.com/office/drawing/2014/main" id="{152D63FE-C961-5245-824E-AFA31B16316F}"/>
              </a:ext>
            </a:extLst>
          </p:cNvPr>
          <p:cNvSpPr>
            <a:spLocks noGrp="1"/>
          </p:cNvSpPr>
          <p:nvPr>
            <p:ph type="body" sz="quarter" idx="14" hasCustomPrompt="1"/>
          </p:nvPr>
        </p:nvSpPr>
        <p:spPr>
          <a:xfrm>
            <a:off x="6236546" y="1981201"/>
            <a:ext cx="5574453" cy="4616648"/>
          </a:xfrm>
        </p:spPr>
        <p:txBody>
          <a:bodyPr/>
          <a:lstStyle>
            <a:lvl1pPr marL="12700" marR="5080" indent="0" defTabSz="914400" eaLnBrk="1" fontAlgn="auto" latinLnBrk="0" hangingPunct="1">
              <a:lnSpc>
                <a:spcPct val="100000"/>
              </a:lnSpc>
              <a:spcBef>
                <a:spcPts val="0"/>
              </a:spcBef>
              <a:spcAft>
                <a:spcPts val="0"/>
              </a:spcAft>
              <a:buClr>
                <a:srgbClr val="FDBA13"/>
              </a:buClr>
              <a:buSzTx/>
              <a:buFont typeface="Arial" panose="020B0604020202020204" pitchFamily="34" charset="0"/>
              <a:buChar char="•"/>
              <a:tabLst/>
              <a:defRPr sz="2000" b="0">
                <a:solidFill>
                  <a:schemeClr val="tx1"/>
                </a:solidFill>
                <a:latin typeface="Arial" panose="020B0604020202020204" pitchFamily="34" charset="0"/>
                <a:cs typeface="Arial" panose="020B0604020202020204" pitchFamily="34" charset="0"/>
              </a:defRPr>
            </a:lvl1pPr>
          </a:lstStyle>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pPr>
            <a:endParaRPr lang="en-GB" sz="2000" spc="-5">
              <a:solidFill>
                <a:srgbClr val="231F20"/>
              </a:solidFill>
              <a:latin typeface="Arial"/>
              <a:cs typeface="Arial"/>
            </a:endParaRPr>
          </a:p>
        </p:txBody>
      </p:sp>
      <p:sp>
        <p:nvSpPr>
          <p:cNvPr id="10" name="object 4">
            <a:extLst>
              <a:ext uri="{FF2B5EF4-FFF2-40B4-BE49-F238E27FC236}">
                <a16:creationId xmlns:a16="http://schemas.microsoft.com/office/drawing/2014/main" id="{0A30B750-42BF-FF4D-AB6F-E41F3BC02A90}"/>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12" name="Picture 11">
            <a:extLst>
              <a:ext uri="{FF2B5EF4-FFF2-40B4-BE49-F238E27FC236}">
                <a16:creationId xmlns:a16="http://schemas.microsoft.com/office/drawing/2014/main" id="{C908B0D0-73CA-6441-BC67-8241C0EC4EA4}"/>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3" name="Text Placeholder 14">
            <a:extLst>
              <a:ext uri="{FF2B5EF4-FFF2-40B4-BE49-F238E27FC236}">
                <a16:creationId xmlns:a16="http://schemas.microsoft.com/office/drawing/2014/main" id="{B257E25B-CC3A-1B41-9B97-EAFA50DA9770}"/>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Tree>
    <p:extLst>
      <p:ext uri="{BB962C8B-B14F-4D97-AF65-F5344CB8AC3E}">
        <p14:creationId xmlns:p14="http://schemas.microsoft.com/office/powerpoint/2010/main" val="2430717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S">
    <p:bg>
      <p:bgPr>
        <a:solidFill>
          <a:schemeClr val="bg1"/>
        </a:solidFill>
        <a:effectLst/>
      </p:bgPr>
    </p:bg>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960FC9AD-7910-8743-81A8-EBA958370EDB}"/>
              </a:ext>
            </a:extLst>
          </p:cNvPr>
          <p:cNvSpPr/>
          <p:nvPr userDrawn="1"/>
        </p:nvSpPr>
        <p:spPr>
          <a:xfrm>
            <a:off x="1311503" y="2153308"/>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2" name="object 4">
            <a:extLst>
              <a:ext uri="{FF2B5EF4-FFF2-40B4-BE49-F238E27FC236}">
                <a16:creationId xmlns:a16="http://schemas.microsoft.com/office/drawing/2014/main" id="{DA685DF8-8924-ED43-8E28-E944088185A6}"/>
              </a:ext>
            </a:extLst>
          </p:cNvPr>
          <p:cNvSpPr/>
          <p:nvPr userDrawn="1"/>
        </p:nvSpPr>
        <p:spPr>
          <a:xfrm>
            <a:off x="6959079" y="2153308"/>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13" name="object 5">
            <a:extLst>
              <a:ext uri="{FF2B5EF4-FFF2-40B4-BE49-F238E27FC236}">
                <a16:creationId xmlns:a16="http://schemas.microsoft.com/office/drawing/2014/main" id="{E28742B9-AFD3-9546-9C5A-D9EF026370FF}"/>
              </a:ext>
            </a:extLst>
          </p:cNvPr>
          <p:cNvSpPr/>
          <p:nvPr userDrawn="1"/>
        </p:nvSpPr>
        <p:spPr>
          <a:xfrm>
            <a:off x="1311503" y="4503747"/>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4" name="object 7">
            <a:extLst>
              <a:ext uri="{FF2B5EF4-FFF2-40B4-BE49-F238E27FC236}">
                <a16:creationId xmlns:a16="http://schemas.microsoft.com/office/drawing/2014/main" id="{BD2FA597-EB5B-4D43-872B-304E902F9C79}"/>
              </a:ext>
            </a:extLst>
          </p:cNvPr>
          <p:cNvSpPr/>
          <p:nvPr userDrawn="1"/>
        </p:nvSpPr>
        <p:spPr>
          <a:xfrm>
            <a:off x="1311503" y="3334560"/>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7" name="object 8">
            <a:extLst>
              <a:ext uri="{FF2B5EF4-FFF2-40B4-BE49-F238E27FC236}">
                <a16:creationId xmlns:a16="http://schemas.microsoft.com/office/drawing/2014/main" id="{39C42EC1-3D8B-D04C-8FF4-F0A04B09D8A2}"/>
              </a:ext>
            </a:extLst>
          </p:cNvPr>
          <p:cNvSpPr/>
          <p:nvPr userDrawn="1"/>
        </p:nvSpPr>
        <p:spPr>
          <a:xfrm>
            <a:off x="6959079" y="3334560"/>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18" name="object 9">
            <a:extLst>
              <a:ext uri="{FF2B5EF4-FFF2-40B4-BE49-F238E27FC236}">
                <a16:creationId xmlns:a16="http://schemas.microsoft.com/office/drawing/2014/main" id="{DEE12DEA-7EC1-3C4C-A6B3-4C2E2CC12877}"/>
              </a:ext>
            </a:extLst>
          </p:cNvPr>
          <p:cNvSpPr/>
          <p:nvPr userDrawn="1"/>
        </p:nvSpPr>
        <p:spPr>
          <a:xfrm>
            <a:off x="1311503" y="5633885"/>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9" name="object 10">
            <a:extLst>
              <a:ext uri="{FF2B5EF4-FFF2-40B4-BE49-F238E27FC236}">
                <a16:creationId xmlns:a16="http://schemas.microsoft.com/office/drawing/2014/main" id="{112A1AAD-969A-A440-A26A-58E4FDCC424F}"/>
              </a:ext>
            </a:extLst>
          </p:cNvPr>
          <p:cNvSpPr/>
          <p:nvPr userDrawn="1"/>
        </p:nvSpPr>
        <p:spPr>
          <a:xfrm>
            <a:off x="6959079" y="5633885"/>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41" name="object 6">
            <a:extLst>
              <a:ext uri="{FF2B5EF4-FFF2-40B4-BE49-F238E27FC236}">
                <a16:creationId xmlns:a16="http://schemas.microsoft.com/office/drawing/2014/main" id="{A8F91473-624E-7442-B71A-4CB0B89B8F3D}"/>
              </a:ext>
            </a:extLst>
          </p:cNvPr>
          <p:cNvSpPr/>
          <p:nvPr userDrawn="1"/>
        </p:nvSpPr>
        <p:spPr>
          <a:xfrm>
            <a:off x="6959079" y="4503747"/>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47" name="object 17">
            <a:extLst>
              <a:ext uri="{FF2B5EF4-FFF2-40B4-BE49-F238E27FC236}">
                <a16:creationId xmlns:a16="http://schemas.microsoft.com/office/drawing/2014/main" id="{AF8A0B8F-4945-4349-AEEE-D808D1ABAAA0}"/>
              </a:ext>
            </a:extLst>
          </p:cNvPr>
          <p:cNvSpPr/>
          <p:nvPr userDrawn="1"/>
        </p:nvSpPr>
        <p:spPr>
          <a:xfrm>
            <a:off x="568396" y="1981200"/>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48" name="Text Placeholder 2">
            <a:extLst>
              <a:ext uri="{FF2B5EF4-FFF2-40B4-BE49-F238E27FC236}">
                <a16:creationId xmlns:a16="http://schemas.microsoft.com/office/drawing/2014/main" id="{1C5E7EFD-6ED2-AF47-AF4D-7EE7CD54FBAA}"/>
              </a:ext>
            </a:extLst>
          </p:cNvPr>
          <p:cNvSpPr>
            <a:spLocks noGrp="1"/>
          </p:cNvSpPr>
          <p:nvPr>
            <p:ph type="body" sz="quarter" idx="12" hasCustomPrompt="1"/>
          </p:nvPr>
        </p:nvSpPr>
        <p:spPr>
          <a:xfrm>
            <a:off x="522676" y="2150409"/>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01</a:t>
            </a:r>
            <a:endParaRPr lang="en-US"/>
          </a:p>
        </p:txBody>
      </p:sp>
      <p:sp>
        <p:nvSpPr>
          <p:cNvPr id="51" name="object 17">
            <a:extLst>
              <a:ext uri="{FF2B5EF4-FFF2-40B4-BE49-F238E27FC236}">
                <a16:creationId xmlns:a16="http://schemas.microsoft.com/office/drawing/2014/main" id="{EEDFC4BB-EE81-5842-891A-567CF4465459}"/>
              </a:ext>
            </a:extLst>
          </p:cNvPr>
          <p:cNvSpPr/>
          <p:nvPr userDrawn="1"/>
        </p:nvSpPr>
        <p:spPr>
          <a:xfrm>
            <a:off x="568396" y="3147906"/>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52" name="Text Placeholder 2">
            <a:extLst>
              <a:ext uri="{FF2B5EF4-FFF2-40B4-BE49-F238E27FC236}">
                <a16:creationId xmlns:a16="http://schemas.microsoft.com/office/drawing/2014/main" id="{BA3FFFEB-07B7-9642-8573-8D1C96B0234D}"/>
              </a:ext>
            </a:extLst>
          </p:cNvPr>
          <p:cNvSpPr>
            <a:spLocks noGrp="1"/>
          </p:cNvSpPr>
          <p:nvPr>
            <p:ph type="body" sz="quarter" idx="13" hasCustomPrompt="1"/>
          </p:nvPr>
        </p:nvSpPr>
        <p:spPr>
          <a:xfrm>
            <a:off x="522676" y="3317115"/>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02</a:t>
            </a:r>
            <a:endParaRPr lang="en-US"/>
          </a:p>
        </p:txBody>
      </p:sp>
      <p:sp>
        <p:nvSpPr>
          <p:cNvPr id="53" name="object 17">
            <a:extLst>
              <a:ext uri="{FF2B5EF4-FFF2-40B4-BE49-F238E27FC236}">
                <a16:creationId xmlns:a16="http://schemas.microsoft.com/office/drawing/2014/main" id="{185B463A-D151-9D4D-9EA4-0580C5809736}"/>
              </a:ext>
            </a:extLst>
          </p:cNvPr>
          <p:cNvSpPr/>
          <p:nvPr userDrawn="1"/>
        </p:nvSpPr>
        <p:spPr>
          <a:xfrm>
            <a:off x="568396" y="4312130"/>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54" name="Text Placeholder 2">
            <a:extLst>
              <a:ext uri="{FF2B5EF4-FFF2-40B4-BE49-F238E27FC236}">
                <a16:creationId xmlns:a16="http://schemas.microsoft.com/office/drawing/2014/main" id="{B3C02F17-611A-BB40-8C9E-41278C003124}"/>
              </a:ext>
            </a:extLst>
          </p:cNvPr>
          <p:cNvSpPr>
            <a:spLocks noGrp="1"/>
          </p:cNvSpPr>
          <p:nvPr>
            <p:ph type="body" sz="quarter" idx="14" hasCustomPrompt="1"/>
          </p:nvPr>
        </p:nvSpPr>
        <p:spPr>
          <a:xfrm>
            <a:off x="522676" y="4481339"/>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03</a:t>
            </a:r>
            <a:endParaRPr lang="en-US"/>
          </a:p>
        </p:txBody>
      </p:sp>
      <p:sp>
        <p:nvSpPr>
          <p:cNvPr id="55" name="object 17">
            <a:extLst>
              <a:ext uri="{FF2B5EF4-FFF2-40B4-BE49-F238E27FC236}">
                <a16:creationId xmlns:a16="http://schemas.microsoft.com/office/drawing/2014/main" id="{9A36F3D8-5A74-4346-97CA-25AD14701876}"/>
              </a:ext>
            </a:extLst>
          </p:cNvPr>
          <p:cNvSpPr/>
          <p:nvPr userDrawn="1"/>
        </p:nvSpPr>
        <p:spPr>
          <a:xfrm>
            <a:off x="568396" y="5461493"/>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56" name="Text Placeholder 2">
            <a:extLst>
              <a:ext uri="{FF2B5EF4-FFF2-40B4-BE49-F238E27FC236}">
                <a16:creationId xmlns:a16="http://schemas.microsoft.com/office/drawing/2014/main" id="{48D914B5-B6B8-6C42-B5FE-5154EAFCD577}"/>
              </a:ext>
            </a:extLst>
          </p:cNvPr>
          <p:cNvSpPr>
            <a:spLocks noGrp="1"/>
          </p:cNvSpPr>
          <p:nvPr>
            <p:ph type="body" sz="quarter" idx="15" hasCustomPrompt="1"/>
          </p:nvPr>
        </p:nvSpPr>
        <p:spPr>
          <a:xfrm>
            <a:off x="522676" y="5630702"/>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04</a:t>
            </a:r>
            <a:endParaRPr lang="en-US"/>
          </a:p>
        </p:txBody>
      </p:sp>
      <p:sp>
        <p:nvSpPr>
          <p:cNvPr id="65" name="object 17">
            <a:extLst>
              <a:ext uri="{FF2B5EF4-FFF2-40B4-BE49-F238E27FC236}">
                <a16:creationId xmlns:a16="http://schemas.microsoft.com/office/drawing/2014/main" id="{124734BE-8E85-0C4A-A9C3-5C30D151A195}"/>
              </a:ext>
            </a:extLst>
          </p:cNvPr>
          <p:cNvSpPr/>
          <p:nvPr userDrawn="1"/>
        </p:nvSpPr>
        <p:spPr>
          <a:xfrm>
            <a:off x="6237676" y="1990357"/>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66" name="Text Placeholder 2">
            <a:extLst>
              <a:ext uri="{FF2B5EF4-FFF2-40B4-BE49-F238E27FC236}">
                <a16:creationId xmlns:a16="http://schemas.microsoft.com/office/drawing/2014/main" id="{640ADF69-D899-2C43-9A90-8741851A3DE3}"/>
              </a:ext>
            </a:extLst>
          </p:cNvPr>
          <p:cNvSpPr>
            <a:spLocks noGrp="1"/>
          </p:cNvSpPr>
          <p:nvPr>
            <p:ph type="body" sz="quarter" idx="16" hasCustomPrompt="1"/>
          </p:nvPr>
        </p:nvSpPr>
        <p:spPr>
          <a:xfrm>
            <a:off x="6191956" y="2159566"/>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05</a:t>
            </a:r>
            <a:endParaRPr lang="en-US"/>
          </a:p>
        </p:txBody>
      </p:sp>
      <p:sp>
        <p:nvSpPr>
          <p:cNvPr id="67" name="object 17">
            <a:extLst>
              <a:ext uri="{FF2B5EF4-FFF2-40B4-BE49-F238E27FC236}">
                <a16:creationId xmlns:a16="http://schemas.microsoft.com/office/drawing/2014/main" id="{930131F0-6C47-5A4A-9583-7D8CA4B72483}"/>
              </a:ext>
            </a:extLst>
          </p:cNvPr>
          <p:cNvSpPr/>
          <p:nvPr userDrawn="1"/>
        </p:nvSpPr>
        <p:spPr>
          <a:xfrm>
            <a:off x="6237676" y="3157063"/>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68" name="Text Placeholder 2">
            <a:extLst>
              <a:ext uri="{FF2B5EF4-FFF2-40B4-BE49-F238E27FC236}">
                <a16:creationId xmlns:a16="http://schemas.microsoft.com/office/drawing/2014/main" id="{0A3C8333-6CAE-0F42-A0C0-BA10D92836CA}"/>
              </a:ext>
            </a:extLst>
          </p:cNvPr>
          <p:cNvSpPr>
            <a:spLocks noGrp="1"/>
          </p:cNvSpPr>
          <p:nvPr>
            <p:ph type="body" sz="quarter" idx="17" hasCustomPrompt="1"/>
          </p:nvPr>
        </p:nvSpPr>
        <p:spPr>
          <a:xfrm>
            <a:off x="6191956" y="3326272"/>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06</a:t>
            </a:r>
            <a:endParaRPr lang="en-US"/>
          </a:p>
        </p:txBody>
      </p:sp>
      <p:sp>
        <p:nvSpPr>
          <p:cNvPr id="69" name="object 17">
            <a:extLst>
              <a:ext uri="{FF2B5EF4-FFF2-40B4-BE49-F238E27FC236}">
                <a16:creationId xmlns:a16="http://schemas.microsoft.com/office/drawing/2014/main" id="{02712926-CB6C-8248-B2E4-AA2E3C6260EB}"/>
              </a:ext>
            </a:extLst>
          </p:cNvPr>
          <p:cNvSpPr/>
          <p:nvPr userDrawn="1"/>
        </p:nvSpPr>
        <p:spPr>
          <a:xfrm>
            <a:off x="6237676" y="4309648"/>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70" name="Text Placeholder 2">
            <a:extLst>
              <a:ext uri="{FF2B5EF4-FFF2-40B4-BE49-F238E27FC236}">
                <a16:creationId xmlns:a16="http://schemas.microsoft.com/office/drawing/2014/main" id="{F5582053-EE49-BB4C-A8C4-FB472EA30EA8}"/>
              </a:ext>
            </a:extLst>
          </p:cNvPr>
          <p:cNvSpPr>
            <a:spLocks noGrp="1"/>
          </p:cNvSpPr>
          <p:nvPr>
            <p:ph type="body" sz="quarter" idx="18" hasCustomPrompt="1"/>
          </p:nvPr>
        </p:nvSpPr>
        <p:spPr>
          <a:xfrm>
            <a:off x="6191956" y="4492978"/>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07</a:t>
            </a:r>
            <a:endParaRPr lang="en-US"/>
          </a:p>
        </p:txBody>
      </p:sp>
      <p:sp>
        <p:nvSpPr>
          <p:cNvPr id="71" name="object 17">
            <a:extLst>
              <a:ext uri="{FF2B5EF4-FFF2-40B4-BE49-F238E27FC236}">
                <a16:creationId xmlns:a16="http://schemas.microsoft.com/office/drawing/2014/main" id="{DB950829-8155-7C4A-814E-022B44884A74}"/>
              </a:ext>
            </a:extLst>
          </p:cNvPr>
          <p:cNvSpPr/>
          <p:nvPr userDrawn="1"/>
        </p:nvSpPr>
        <p:spPr>
          <a:xfrm>
            <a:off x="6237676" y="5461493"/>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72" name="Text Placeholder 2">
            <a:extLst>
              <a:ext uri="{FF2B5EF4-FFF2-40B4-BE49-F238E27FC236}">
                <a16:creationId xmlns:a16="http://schemas.microsoft.com/office/drawing/2014/main" id="{A854C96B-7FCE-5048-8682-21610E74FA2E}"/>
              </a:ext>
            </a:extLst>
          </p:cNvPr>
          <p:cNvSpPr>
            <a:spLocks noGrp="1"/>
          </p:cNvSpPr>
          <p:nvPr>
            <p:ph type="body" sz="quarter" idx="19" hasCustomPrompt="1"/>
          </p:nvPr>
        </p:nvSpPr>
        <p:spPr>
          <a:xfrm>
            <a:off x="6191956" y="5630702"/>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08</a:t>
            </a:r>
            <a:endParaRPr lang="en-US"/>
          </a:p>
        </p:txBody>
      </p:sp>
      <p:sp>
        <p:nvSpPr>
          <p:cNvPr id="74" name="Text Placeholder 2">
            <a:extLst>
              <a:ext uri="{FF2B5EF4-FFF2-40B4-BE49-F238E27FC236}">
                <a16:creationId xmlns:a16="http://schemas.microsoft.com/office/drawing/2014/main" id="{17338358-2637-4F40-B17E-16CE627EF048}"/>
              </a:ext>
            </a:extLst>
          </p:cNvPr>
          <p:cNvSpPr>
            <a:spLocks noGrp="1"/>
          </p:cNvSpPr>
          <p:nvPr>
            <p:ph type="body" sz="quarter" idx="20" hasCustomPrompt="1"/>
          </p:nvPr>
        </p:nvSpPr>
        <p:spPr>
          <a:xfrm>
            <a:off x="1578655" y="2248647"/>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75" name="Text Placeholder 2">
            <a:extLst>
              <a:ext uri="{FF2B5EF4-FFF2-40B4-BE49-F238E27FC236}">
                <a16:creationId xmlns:a16="http://schemas.microsoft.com/office/drawing/2014/main" id="{B435CC68-4CCA-8E48-8352-69AEE946461A}"/>
              </a:ext>
            </a:extLst>
          </p:cNvPr>
          <p:cNvSpPr>
            <a:spLocks noGrp="1"/>
          </p:cNvSpPr>
          <p:nvPr>
            <p:ph type="body" sz="quarter" idx="21" hasCustomPrompt="1"/>
          </p:nvPr>
        </p:nvSpPr>
        <p:spPr>
          <a:xfrm>
            <a:off x="1578655" y="3415354"/>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76" name="Text Placeholder 2">
            <a:extLst>
              <a:ext uri="{FF2B5EF4-FFF2-40B4-BE49-F238E27FC236}">
                <a16:creationId xmlns:a16="http://schemas.microsoft.com/office/drawing/2014/main" id="{FFD479F7-74E2-2C46-A1CD-0BD117AED980}"/>
              </a:ext>
            </a:extLst>
          </p:cNvPr>
          <p:cNvSpPr>
            <a:spLocks noGrp="1"/>
          </p:cNvSpPr>
          <p:nvPr>
            <p:ph type="body" sz="quarter" idx="22" hasCustomPrompt="1"/>
          </p:nvPr>
        </p:nvSpPr>
        <p:spPr>
          <a:xfrm>
            <a:off x="1578655" y="4595607"/>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77" name="Text Placeholder 2">
            <a:extLst>
              <a:ext uri="{FF2B5EF4-FFF2-40B4-BE49-F238E27FC236}">
                <a16:creationId xmlns:a16="http://schemas.microsoft.com/office/drawing/2014/main" id="{0FF4259C-63E8-0C4A-80D2-B3CD0132F6D6}"/>
              </a:ext>
            </a:extLst>
          </p:cNvPr>
          <p:cNvSpPr>
            <a:spLocks noGrp="1"/>
          </p:cNvSpPr>
          <p:nvPr>
            <p:ph type="body" sz="quarter" idx="23" hasCustomPrompt="1"/>
          </p:nvPr>
        </p:nvSpPr>
        <p:spPr>
          <a:xfrm>
            <a:off x="1578655" y="5742451"/>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2" name="Text Placeholder 2">
            <a:extLst>
              <a:ext uri="{FF2B5EF4-FFF2-40B4-BE49-F238E27FC236}">
                <a16:creationId xmlns:a16="http://schemas.microsoft.com/office/drawing/2014/main" id="{AFCE00A5-7058-9C4D-B14D-FDE32BDBA044}"/>
              </a:ext>
            </a:extLst>
          </p:cNvPr>
          <p:cNvSpPr>
            <a:spLocks noGrp="1"/>
          </p:cNvSpPr>
          <p:nvPr>
            <p:ph type="body" sz="quarter" idx="24" hasCustomPrompt="1"/>
          </p:nvPr>
        </p:nvSpPr>
        <p:spPr>
          <a:xfrm>
            <a:off x="7193748" y="2234526"/>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3" name="Text Placeholder 2">
            <a:extLst>
              <a:ext uri="{FF2B5EF4-FFF2-40B4-BE49-F238E27FC236}">
                <a16:creationId xmlns:a16="http://schemas.microsoft.com/office/drawing/2014/main" id="{BB212FAD-928F-AE48-90B8-764BCBFBA485}"/>
              </a:ext>
            </a:extLst>
          </p:cNvPr>
          <p:cNvSpPr>
            <a:spLocks noGrp="1"/>
          </p:cNvSpPr>
          <p:nvPr>
            <p:ph type="body" sz="quarter" idx="25" hasCustomPrompt="1"/>
          </p:nvPr>
        </p:nvSpPr>
        <p:spPr>
          <a:xfrm>
            <a:off x="7193748" y="3401233"/>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4" name="Text Placeholder 2">
            <a:extLst>
              <a:ext uri="{FF2B5EF4-FFF2-40B4-BE49-F238E27FC236}">
                <a16:creationId xmlns:a16="http://schemas.microsoft.com/office/drawing/2014/main" id="{84540E62-23A8-9146-ADE1-EBEF6532B062}"/>
              </a:ext>
            </a:extLst>
          </p:cNvPr>
          <p:cNvSpPr>
            <a:spLocks noGrp="1"/>
          </p:cNvSpPr>
          <p:nvPr>
            <p:ph type="body" sz="quarter" idx="26" hasCustomPrompt="1"/>
          </p:nvPr>
        </p:nvSpPr>
        <p:spPr>
          <a:xfrm>
            <a:off x="7193748" y="4581486"/>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5" name="Text Placeholder 2">
            <a:extLst>
              <a:ext uri="{FF2B5EF4-FFF2-40B4-BE49-F238E27FC236}">
                <a16:creationId xmlns:a16="http://schemas.microsoft.com/office/drawing/2014/main" id="{1C53A4AE-C416-4442-B6D4-D0A54E97F665}"/>
              </a:ext>
            </a:extLst>
          </p:cNvPr>
          <p:cNvSpPr>
            <a:spLocks noGrp="1"/>
          </p:cNvSpPr>
          <p:nvPr>
            <p:ph type="body" sz="quarter" idx="27" hasCustomPrompt="1"/>
          </p:nvPr>
        </p:nvSpPr>
        <p:spPr>
          <a:xfrm>
            <a:off x="7193748" y="5742451"/>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38" name="object 4">
            <a:extLst>
              <a:ext uri="{FF2B5EF4-FFF2-40B4-BE49-F238E27FC236}">
                <a16:creationId xmlns:a16="http://schemas.microsoft.com/office/drawing/2014/main" id="{F06D9F0C-C8DC-3146-B5BD-4804081AB093}"/>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39" name="Picture 38">
            <a:extLst>
              <a:ext uri="{FF2B5EF4-FFF2-40B4-BE49-F238E27FC236}">
                <a16:creationId xmlns:a16="http://schemas.microsoft.com/office/drawing/2014/main" id="{512059AF-015C-4F4D-8003-829F6993C829}"/>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40" name="Text Placeholder 14">
            <a:extLst>
              <a:ext uri="{FF2B5EF4-FFF2-40B4-BE49-F238E27FC236}">
                <a16:creationId xmlns:a16="http://schemas.microsoft.com/office/drawing/2014/main" id="{08AC4639-2DD2-FE49-AADD-EED8D4A5974D}"/>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Tree>
    <p:extLst>
      <p:ext uri="{BB962C8B-B14F-4D97-AF65-F5344CB8AC3E}">
        <p14:creationId xmlns:p14="http://schemas.microsoft.com/office/powerpoint/2010/main" val="1822914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FULL WIDTH">
    <p:bg>
      <p:bgPr>
        <a:solidFill>
          <a:schemeClr val="bg1"/>
        </a:solidFill>
        <a:effectLst/>
      </p:bgPr>
    </p:bg>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1" name="Text Placeholder 14">
            <a:extLst>
              <a:ext uri="{FF2B5EF4-FFF2-40B4-BE49-F238E27FC236}">
                <a16:creationId xmlns:a16="http://schemas.microsoft.com/office/drawing/2014/main" id="{6502E452-DD04-A942-B9C7-FB3B968F6231}"/>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3876289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WATERMARK">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62BE2F-60AC-894F-B8EE-A0F0C34CD80D}"/>
              </a:ext>
            </a:extLst>
          </p:cNvPr>
          <p:cNvPicPr>
            <a:picLocks noChangeAspect="1"/>
          </p:cNvPicPr>
          <p:nvPr userDrawn="1"/>
        </p:nvPicPr>
        <p:blipFill>
          <a:blip r:embed="rId2">
            <a:alphaModFix amt="20000"/>
          </a:blip>
          <a:stretch>
            <a:fillRect/>
          </a:stretch>
        </p:blipFill>
        <p:spPr>
          <a:xfrm>
            <a:off x="7082294" y="1720622"/>
            <a:ext cx="4906507" cy="4906507"/>
          </a:xfrm>
          <a:prstGeom prst="rect">
            <a:avLst/>
          </a:prstGeom>
        </p:spPr>
      </p:pic>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3"/>
          <a:stretch>
            <a:fillRect/>
          </a:stretch>
        </p:blipFill>
        <p:spPr>
          <a:xfrm>
            <a:off x="9815421" y="424767"/>
            <a:ext cx="1801776" cy="553129"/>
          </a:xfrm>
          <a:prstGeom prst="rect">
            <a:avLst/>
          </a:prstGeom>
        </p:spPr>
      </p:pic>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1426425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ACK COVER">
    <p:bg>
      <p:bgPr>
        <a:solidFill>
          <a:schemeClr val="bg1"/>
        </a:solidFill>
        <a:effectLst/>
      </p:bgPr>
    </p:bg>
    <p:spTree>
      <p:nvGrpSpPr>
        <p:cNvPr id="1" name=""/>
        <p:cNvGrpSpPr/>
        <p:nvPr/>
      </p:nvGrpSpPr>
      <p:grpSpPr>
        <a:xfrm>
          <a:off x="0" y="0"/>
          <a:ext cx="0" cy="0"/>
          <a:chOff x="0" y="0"/>
          <a:chExt cx="0" cy="0"/>
        </a:xfrm>
      </p:grpSpPr>
      <p:sp>
        <p:nvSpPr>
          <p:cNvPr id="16" name="bg object 16"/>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15" name="Text Placeholder 14">
            <a:extLst>
              <a:ext uri="{FF2B5EF4-FFF2-40B4-BE49-F238E27FC236}">
                <a16:creationId xmlns:a16="http://schemas.microsoft.com/office/drawing/2014/main" id="{B49E1506-44A0-C243-961B-917943DAE1E2}"/>
              </a:ext>
            </a:extLst>
          </p:cNvPr>
          <p:cNvSpPr>
            <a:spLocks noGrp="1"/>
          </p:cNvSpPr>
          <p:nvPr>
            <p:ph type="body" sz="quarter" idx="10" hasCustomPrompt="1"/>
          </p:nvPr>
        </p:nvSpPr>
        <p:spPr>
          <a:xfrm>
            <a:off x="533400" y="2318598"/>
            <a:ext cx="5562600" cy="1485900"/>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8" name="Text Placeholder 17">
            <a:extLst>
              <a:ext uri="{FF2B5EF4-FFF2-40B4-BE49-F238E27FC236}">
                <a16:creationId xmlns:a16="http://schemas.microsoft.com/office/drawing/2014/main" id="{7A74C29E-264C-E546-AA84-D6DEEEFAE46E}"/>
              </a:ext>
            </a:extLst>
          </p:cNvPr>
          <p:cNvSpPr>
            <a:spLocks noGrp="1"/>
          </p:cNvSpPr>
          <p:nvPr>
            <p:ph type="body" sz="quarter" idx="11" hasCustomPrompt="1"/>
          </p:nvPr>
        </p:nvSpPr>
        <p:spPr>
          <a:xfrm>
            <a:off x="533400" y="3947160"/>
            <a:ext cx="4572000" cy="1538883"/>
          </a:xfrm>
        </p:spPr>
        <p:txBody>
          <a:bodyPr/>
          <a:lstStyle>
            <a:lvl1pPr marL="0" marR="0" indent="0" defTabSz="914400" eaLnBrk="1" fontAlgn="auto" latinLnBrk="0" hangingPunct="1">
              <a:lnSpc>
                <a:spcPct val="100000"/>
              </a:lnSpc>
              <a:spcBef>
                <a:spcPts val="0"/>
              </a:spcBef>
              <a:spcAft>
                <a:spcPts val="0"/>
              </a:spcAft>
              <a:buClrTx/>
              <a:buSzTx/>
              <a:buFontTx/>
              <a:buNone/>
              <a:tabLst/>
              <a:defRPr sz="2500">
                <a:solidFill>
                  <a:schemeClr val="bg1"/>
                </a:solidFill>
                <a:latin typeface="Arial" panose="020B0604020202020204" pitchFamily="34" charset="0"/>
                <a:cs typeface="Arial" panose="020B0604020202020204"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lang="en-GB"/>
              <a:t>Tel: XXXX XXXXXX</a:t>
            </a:r>
            <a:br>
              <a:rPr lang="en-GB"/>
            </a:br>
            <a:r>
              <a:rPr lang="en-GB"/>
              <a:t>Web: XXXXXXXXXX.XXX</a:t>
            </a:r>
            <a:endParaRPr lang="en-US"/>
          </a:p>
          <a:p>
            <a:pPr lvl="0"/>
            <a:endParaRPr lang="en-US"/>
          </a:p>
        </p:txBody>
      </p:sp>
      <p:pic>
        <p:nvPicPr>
          <p:cNvPr id="8" name="Picture 7">
            <a:extLst>
              <a:ext uri="{FF2B5EF4-FFF2-40B4-BE49-F238E27FC236}">
                <a16:creationId xmlns:a16="http://schemas.microsoft.com/office/drawing/2014/main" id="{09406C76-BFDA-2443-8FE2-8A696F72BB97}"/>
              </a:ext>
            </a:extLst>
          </p:cNvPr>
          <p:cNvPicPr>
            <a:picLocks noChangeAspect="1"/>
          </p:cNvPicPr>
          <p:nvPr userDrawn="1"/>
        </p:nvPicPr>
        <p:blipFill>
          <a:blip r:embed="rId2"/>
          <a:stretch>
            <a:fillRect/>
          </a:stretch>
        </p:blipFill>
        <p:spPr>
          <a:xfrm>
            <a:off x="575994" y="5788803"/>
            <a:ext cx="1616743" cy="547430"/>
          </a:xfrm>
          <a:prstGeom prst="rect">
            <a:avLst/>
          </a:prstGeom>
        </p:spPr>
      </p:pic>
      <p:pic>
        <p:nvPicPr>
          <p:cNvPr id="9" name="Picture 8">
            <a:extLst>
              <a:ext uri="{FF2B5EF4-FFF2-40B4-BE49-F238E27FC236}">
                <a16:creationId xmlns:a16="http://schemas.microsoft.com/office/drawing/2014/main" id="{1B6C17F0-EC2B-8849-AC98-388A1F15AAA1}"/>
              </a:ext>
            </a:extLst>
          </p:cNvPr>
          <p:cNvPicPr>
            <a:picLocks noChangeAspect="1"/>
          </p:cNvPicPr>
          <p:nvPr userDrawn="1"/>
        </p:nvPicPr>
        <p:blipFill>
          <a:blip r:embed="rId3"/>
          <a:stretch>
            <a:fillRect/>
          </a:stretch>
        </p:blipFill>
        <p:spPr>
          <a:xfrm>
            <a:off x="575994" y="577370"/>
            <a:ext cx="2353083" cy="722375"/>
          </a:xfrm>
          <a:prstGeom prst="rect">
            <a:avLst/>
          </a:prstGeom>
        </p:spPr>
      </p:pic>
      <p:pic>
        <p:nvPicPr>
          <p:cNvPr id="10" name="Picture 9">
            <a:extLst>
              <a:ext uri="{FF2B5EF4-FFF2-40B4-BE49-F238E27FC236}">
                <a16:creationId xmlns:a16="http://schemas.microsoft.com/office/drawing/2014/main" id="{055C0B87-51A5-3949-8E61-B0322586B7CE}"/>
              </a:ext>
            </a:extLst>
          </p:cNvPr>
          <p:cNvPicPr>
            <a:picLocks noChangeAspect="1"/>
          </p:cNvPicPr>
          <p:nvPr userDrawn="1"/>
        </p:nvPicPr>
        <p:blipFill>
          <a:blip r:embed="rId4"/>
          <a:stretch>
            <a:fillRect/>
          </a:stretch>
        </p:blipFill>
        <p:spPr>
          <a:xfrm>
            <a:off x="6688306" y="1328904"/>
            <a:ext cx="5300495" cy="5300495"/>
          </a:xfrm>
          <a:prstGeom prst="rect">
            <a:avLst/>
          </a:prstGeom>
        </p:spPr>
      </p:pic>
    </p:spTree>
    <p:extLst>
      <p:ext uri="{BB962C8B-B14F-4D97-AF65-F5344CB8AC3E}">
        <p14:creationId xmlns:p14="http://schemas.microsoft.com/office/powerpoint/2010/main" val="3635430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 name="Picture 4" descr="A picture containing person, clothing, man, indoor&#10;&#10;Description generated with very high confidence">
            <a:extLst>
              <a:ext uri="{FF2B5EF4-FFF2-40B4-BE49-F238E27FC236}">
                <a16:creationId xmlns:a16="http://schemas.microsoft.com/office/drawing/2014/main" id="{5A2AF239-AC0A-4440-93DD-736D00FE7B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1" name="Freeform: Shape 20">
            <a:extLst>
              <a:ext uri="{FF2B5EF4-FFF2-40B4-BE49-F238E27FC236}">
                <a16:creationId xmlns:a16="http://schemas.microsoft.com/office/drawing/2014/main" id="{AFFE477E-4140-491C-B36C-2012D9E86E84}"/>
              </a:ext>
            </a:extLst>
          </p:cNvPr>
          <p:cNvSpPr/>
          <p:nvPr userDrawn="1"/>
        </p:nvSpPr>
        <p:spPr>
          <a:xfrm>
            <a:off x="6845300" y="4191000"/>
            <a:ext cx="5346700" cy="736600"/>
          </a:xfrm>
          <a:custGeom>
            <a:avLst/>
            <a:gdLst>
              <a:gd name="connsiteX0" fmla="*/ 368300 w 5346700"/>
              <a:gd name="connsiteY0" fmla="*/ 0 h 736600"/>
              <a:gd name="connsiteX1" fmla="*/ 5346700 w 5346700"/>
              <a:gd name="connsiteY1" fmla="*/ 0 h 736600"/>
              <a:gd name="connsiteX2" fmla="*/ 5346700 w 5346700"/>
              <a:gd name="connsiteY2" fmla="*/ 736600 h 736600"/>
              <a:gd name="connsiteX3" fmla="*/ 368300 w 5346700"/>
              <a:gd name="connsiteY3" fmla="*/ 736600 h 736600"/>
              <a:gd name="connsiteX4" fmla="*/ 0 w 5346700"/>
              <a:gd name="connsiteY4" fmla="*/ 368300 h 736600"/>
              <a:gd name="connsiteX5" fmla="*/ 368300 w 5346700"/>
              <a:gd name="connsiteY5" fmla="*/ 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6700" h="736600">
                <a:moveTo>
                  <a:pt x="368300" y="0"/>
                </a:moveTo>
                <a:lnTo>
                  <a:pt x="5346700" y="0"/>
                </a:lnTo>
                <a:lnTo>
                  <a:pt x="5346700" y="736600"/>
                </a:lnTo>
                <a:lnTo>
                  <a:pt x="368300" y="736600"/>
                </a:lnTo>
                <a:cubicBezTo>
                  <a:pt x="164894" y="736600"/>
                  <a:pt x="0" y="571706"/>
                  <a:pt x="0" y="368300"/>
                </a:cubicBezTo>
                <a:cubicBezTo>
                  <a:pt x="0" y="164894"/>
                  <a:pt x="164894" y="0"/>
                  <a:pt x="368300"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3FED2B7-789D-48D3-845F-B0EE1A13CFC5}"/>
              </a:ext>
            </a:extLst>
          </p:cNvPr>
          <p:cNvSpPr>
            <a:spLocks noGrp="1"/>
          </p:cNvSpPr>
          <p:nvPr>
            <p:ph type="ctrTitle"/>
          </p:nvPr>
        </p:nvSpPr>
        <p:spPr>
          <a:xfrm>
            <a:off x="7226300" y="1833563"/>
            <a:ext cx="4254500" cy="2128837"/>
          </a:xfrm>
        </p:spPr>
        <p:txBody>
          <a:bodyPr anchor="b">
            <a:normAutofit/>
          </a:bodyPr>
          <a:lstStyle>
            <a:lvl1pPr algn="l">
              <a:lnSpc>
                <a:spcPct val="100000"/>
              </a:lnSpc>
              <a:defRPr sz="3600" b="1" cap="all" baseline="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E7620CC6-2136-4A58-91C3-1A411D2008D8}"/>
              </a:ext>
            </a:extLst>
          </p:cNvPr>
          <p:cNvSpPr>
            <a:spLocks noGrp="1"/>
          </p:cNvSpPr>
          <p:nvPr>
            <p:ph type="subTitle" idx="1"/>
          </p:nvPr>
        </p:nvSpPr>
        <p:spPr>
          <a:xfrm>
            <a:off x="7226300" y="4302919"/>
            <a:ext cx="4254500" cy="512762"/>
          </a:xfrm>
        </p:spPr>
        <p:txBody>
          <a:bodyPr anchor="ctr">
            <a:normAutofit/>
          </a:bodyPr>
          <a:lstStyle>
            <a:lvl1pPr marL="0" indent="0" algn="l">
              <a:lnSpc>
                <a:spcPct val="100000"/>
              </a:lnSpc>
              <a:spcBef>
                <a:spcPts val="0"/>
              </a:spcBef>
              <a:buNone/>
              <a:defRPr sz="2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a:t>
            </a:r>
            <a:endParaRPr lang="en-GB"/>
          </a:p>
        </p:txBody>
      </p:sp>
      <p:grpSp>
        <p:nvGrpSpPr>
          <p:cNvPr id="10" name="Group 9">
            <a:extLst>
              <a:ext uri="{FF2B5EF4-FFF2-40B4-BE49-F238E27FC236}">
                <a16:creationId xmlns:a16="http://schemas.microsoft.com/office/drawing/2014/main" id="{58D6B991-1E19-4811-A1FD-04E9AC08BB88}"/>
              </a:ext>
            </a:extLst>
          </p:cNvPr>
          <p:cNvGrpSpPr/>
          <p:nvPr userDrawn="1"/>
        </p:nvGrpSpPr>
        <p:grpSpPr>
          <a:xfrm>
            <a:off x="9786622" y="508001"/>
            <a:ext cx="1724967" cy="622299"/>
            <a:chOff x="3663950" y="2217738"/>
            <a:chExt cx="2508251" cy="904876"/>
          </a:xfrm>
        </p:grpSpPr>
        <p:sp>
          <p:nvSpPr>
            <p:cNvPr id="11" name="Freeform 5">
              <a:extLst>
                <a:ext uri="{FF2B5EF4-FFF2-40B4-BE49-F238E27FC236}">
                  <a16:creationId xmlns:a16="http://schemas.microsoft.com/office/drawing/2014/main" id="{5BF59F9C-F30F-41E8-A161-AF1A18EAD1F2}"/>
                </a:ext>
              </a:extLst>
            </p:cNvPr>
            <p:cNvSpPr>
              <a:spLocks/>
            </p:cNvSpPr>
            <p:nvPr userDrawn="1"/>
          </p:nvSpPr>
          <p:spPr bwMode="auto">
            <a:xfrm>
              <a:off x="3719513" y="2217738"/>
              <a:ext cx="133350" cy="133350"/>
            </a:xfrm>
            <a:custGeom>
              <a:avLst/>
              <a:gdLst>
                <a:gd name="T0" fmla="*/ 1 w 41"/>
                <a:gd name="T1" fmla="*/ 19 h 41"/>
                <a:gd name="T2" fmla="*/ 22 w 41"/>
                <a:gd name="T3" fmla="*/ 1 h 41"/>
                <a:gd name="T4" fmla="*/ 40 w 41"/>
                <a:gd name="T5" fmla="*/ 23 h 41"/>
                <a:gd name="T6" fmla="*/ 18 w 41"/>
                <a:gd name="T7" fmla="*/ 40 h 41"/>
                <a:gd name="T8" fmla="*/ 1 w 41"/>
                <a:gd name="T9" fmla="*/ 19 h 41"/>
              </a:gdLst>
              <a:ahLst/>
              <a:cxnLst>
                <a:cxn ang="0">
                  <a:pos x="T0" y="T1"/>
                </a:cxn>
                <a:cxn ang="0">
                  <a:pos x="T2" y="T3"/>
                </a:cxn>
                <a:cxn ang="0">
                  <a:pos x="T4" y="T5"/>
                </a:cxn>
                <a:cxn ang="0">
                  <a:pos x="T6" y="T7"/>
                </a:cxn>
                <a:cxn ang="0">
                  <a:pos x="T8" y="T9"/>
                </a:cxn>
              </a:cxnLst>
              <a:rect l="0" t="0" r="r" b="b"/>
              <a:pathLst>
                <a:path w="41" h="41">
                  <a:moveTo>
                    <a:pt x="1" y="19"/>
                  </a:moveTo>
                  <a:cubicBezTo>
                    <a:pt x="2" y="8"/>
                    <a:pt x="12" y="0"/>
                    <a:pt x="22" y="1"/>
                  </a:cubicBezTo>
                  <a:cubicBezTo>
                    <a:pt x="33" y="3"/>
                    <a:pt x="41" y="12"/>
                    <a:pt x="40" y="23"/>
                  </a:cubicBezTo>
                  <a:cubicBezTo>
                    <a:pt x="39" y="34"/>
                    <a:pt x="29" y="41"/>
                    <a:pt x="18" y="40"/>
                  </a:cubicBezTo>
                  <a:cubicBezTo>
                    <a:pt x="8" y="39"/>
                    <a:pt x="0" y="30"/>
                    <a:pt x="1" y="19"/>
                  </a:cubicBezTo>
                </a:path>
              </a:pathLst>
            </a:custGeom>
            <a:solidFill>
              <a:srgbClr val="FB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6">
              <a:extLst>
                <a:ext uri="{FF2B5EF4-FFF2-40B4-BE49-F238E27FC236}">
                  <a16:creationId xmlns:a16="http://schemas.microsoft.com/office/drawing/2014/main" id="{B4D02C02-C1B5-495B-B3A8-BCE8AC690733}"/>
                </a:ext>
              </a:extLst>
            </p:cNvPr>
            <p:cNvSpPr>
              <a:spLocks/>
            </p:cNvSpPr>
            <p:nvPr userDrawn="1"/>
          </p:nvSpPr>
          <p:spPr bwMode="auto">
            <a:xfrm>
              <a:off x="3663950" y="2419351"/>
              <a:ext cx="169863" cy="503238"/>
            </a:xfrm>
            <a:custGeom>
              <a:avLst/>
              <a:gdLst>
                <a:gd name="T0" fmla="*/ 51 w 107"/>
                <a:gd name="T1" fmla="*/ 317 h 317"/>
                <a:gd name="T2" fmla="*/ 51 w 107"/>
                <a:gd name="T3" fmla="*/ 48 h 317"/>
                <a:gd name="T4" fmla="*/ 0 w 107"/>
                <a:gd name="T5" fmla="*/ 48 h 317"/>
                <a:gd name="T6" fmla="*/ 0 w 107"/>
                <a:gd name="T7" fmla="*/ 0 h 317"/>
                <a:gd name="T8" fmla="*/ 107 w 107"/>
                <a:gd name="T9" fmla="*/ 0 h 317"/>
                <a:gd name="T10" fmla="*/ 107 w 107"/>
                <a:gd name="T11" fmla="*/ 317 h 317"/>
                <a:gd name="T12" fmla="*/ 51 w 107"/>
                <a:gd name="T13" fmla="*/ 317 h 317"/>
              </a:gdLst>
              <a:ahLst/>
              <a:cxnLst>
                <a:cxn ang="0">
                  <a:pos x="T0" y="T1"/>
                </a:cxn>
                <a:cxn ang="0">
                  <a:pos x="T2" y="T3"/>
                </a:cxn>
                <a:cxn ang="0">
                  <a:pos x="T4" y="T5"/>
                </a:cxn>
                <a:cxn ang="0">
                  <a:pos x="T6" y="T7"/>
                </a:cxn>
                <a:cxn ang="0">
                  <a:pos x="T8" y="T9"/>
                </a:cxn>
                <a:cxn ang="0">
                  <a:pos x="T10" y="T11"/>
                </a:cxn>
                <a:cxn ang="0">
                  <a:pos x="T12" y="T13"/>
                </a:cxn>
              </a:cxnLst>
              <a:rect l="0" t="0" r="r" b="b"/>
              <a:pathLst>
                <a:path w="107" h="317">
                  <a:moveTo>
                    <a:pt x="51" y="317"/>
                  </a:moveTo>
                  <a:lnTo>
                    <a:pt x="51" y="48"/>
                  </a:lnTo>
                  <a:lnTo>
                    <a:pt x="0" y="48"/>
                  </a:lnTo>
                  <a:lnTo>
                    <a:pt x="0" y="0"/>
                  </a:lnTo>
                  <a:lnTo>
                    <a:pt x="107" y="0"/>
                  </a:lnTo>
                  <a:lnTo>
                    <a:pt x="107" y="317"/>
                  </a:lnTo>
                  <a:lnTo>
                    <a:pt x="51" y="317"/>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7">
              <a:extLst>
                <a:ext uri="{FF2B5EF4-FFF2-40B4-BE49-F238E27FC236}">
                  <a16:creationId xmlns:a16="http://schemas.microsoft.com/office/drawing/2014/main" id="{663A1132-9AF5-424A-B72F-3552BDBAE087}"/>
                </a:ext>
              </a:extLst>
            </p:cNvPr>
            <p:cNvSpPr>
              <a:spLocks/>
            </p:cNvSpPr>
            <p:nvPr userDrawn="1"/>
          </p:nvSpPr>
          <p:spPr bwMode="auto">
            <a:xfrm>
              <a:off x="3917950" y="2409826"/>
              <a:ext cx="398463" cy="512763"/>
            </a:xfrm>
            <a:custGeom>
              <a:avLst/>
              <a:gdLst>
                <a:gd name="T0" fmla="*/ 95 w 122"/>
                <a:gd name="T1" fmla="*/ 157 h 157"/>
                <a:gd name="T2" fmla="*/ 95 w 122"/>
                <a:gd name="T3" fmla="*/ 68 h 157"/>
                <a:gd name="T4" fmla="*/ 88 w 122"/>
                <a:gd name="T5" fmla="*/ 33 h 157"/>
                <a:gd name="T6" fmla="*/ 63 w 122"/>
                <a:gd name="T7" fmla="*/ 23 h 157"/>
                <a:gd name="T8" fmla="*/ 43 w 122"/>
                <a:gd name="T9" fmla="*/ 29 h 157"/>
                <a:gd name="T10" fmla="*/ 27 w 122"/>
                <a:gd name="T11" fmla="*/ 43 h 157"/>
                <a:gd name="T12" fmla="*/ 27 w 122"/>
                <a:gd name="T13" fmla="*/ 157 h 157"/>
                <a:gd name="T14" fmla="*/ 0 w 122"/>
                <a:gd name="T15" fmla="*/ 157 h 157"/>
                <a:gd name="T16" fmla="*/ 0 w 122"/>
                <a:gd name="T17" fmla="*/ 3 h 157"/>
                <a:gd name="T18" fmla="*/ 19 w 122"/>
                <a:gd name="T19" fmla="*/ 3 h 157"/>
                <a:gd name="T20" fmla="*/ 27 w 122"/>
                <a:gd name="T21" fmla="*/ 23 h 157"/>
                <a:gd name="T22" fmla="*/ 72 w 122"/>
                <a:gd name="T23" fmla="*/ 0 h 157"/>
                <a:gd name="T24" fmla="*/ 122 w 122"/>
                <a:gd name="T25" fmla="*/ 62 h 157"/>
                <a:gd name="T26" fmla="*/ 122 w 122"/>
                <a:gd name="T27" fmla="*/ 157 h 157"/>
                <a:gd name="T28" fmla="*/ 95 w 122"/>
                <a:gd name="T29"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57">
                  <a:moveTo>
                    <a:pt x="95" y="157"/>
                  </a:moveTo>
                  <a:cubicBezTo>
                    <a:pt x="95" y="68"/>
                    <a:pt x="95" y="68"/>
                    <a:pt x="95" y="68"/>
                  </a:cubicBezTo>
                  <a:cubicBezTo>
                    <a:pt x="95" y="51"/>
                    <a:pt x="93" y="40"/>
                    <a:pt x="88" y="33"/>
                  </a:cubicBezTo>
                  <a:cubicBezTo>
                    <a:pt x="83" y="26"/>
                    <a:pt x="74" y="23"/>
                    <a:pt x="63" y="23"/>
                  </a:cubicBezTo>
                  <a:cubicBezTo>
                    <a:pt x="56" y="23"/>
                    <a:pt x="50" y="25"/>
                    <a:pt x="43" y="29"/>
                  </a:cubicBezTo>
                  <a:cubicBezTo>
                    <a:pt x="36" y="33"/>
                    <a:pt x="31" y="37"/>
                    <a:pt x="27" y="43"/>
                  </a:cubicBezTo>
                  <a:cubicBezTo>
                    <a:pt x="27" y="157"/>
                    <a:pt x="27" y="157"/>
                    <a:pt x="27" y="157"/>
                  </a:cubicBezTo>
                  <a:cubicBezTo>
                    <a:pt x="0" y="157"/>
                    <a:pt x="0" y="157"/>
                    <a:pt x="0" y="157"/>
                  </a:cubicBezTo>
                  <a:cubicBezTo>
                    <a:pt x="0" y="3"/>
                    <a:pt x="0" y="3"/>
                    <a:pt x="0" y="3"/>
                  </a:cubicBezTo>
                  <a:cubicBezTo>
                    <a:pt x="19" y="3"/>
                    <a:pt x="19" y="3"/>
                    <a:pt x="19" y="3"/>
                  </a:cubicBezTo>
                  <a:cubicBezTo>
                    <a:pt x="27" y="23"/>
                    <a:pt x="27" y="23"/>
                    <a:pt x="27" y="23"/>
                  </a:cubicBezTo>
                  <a:cubicBezTo>
                    <a:pt x="36" y="8"/>
                    <a:pt x="51" y="0"/>
                    <a:pt x="72" y="0"/>
                  </a:cubicBezTo>
                  <a:cubicBezTo>
                    <a:pt x="106" y="0"/>
                    <a:pt x="122" y="21"/>
                    <a:pt x="122" y="62"/>
                  </a:cubicBezTo>
                  <a:cubicBezTo>
                    <a:pt x="122" y="157"/>
                    <a:pt x="122" y="157"/>
                    <a:pt x="122" y="157"/>
                  </a:cubicBezTo>
                  <a:lnTo>
                    <a:pt x="95" y="157"/>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8">
              <a:extLst>
                <a:ext uri="{FF2B5EF4-FFF2-40B4-BE49-F238E27FC236}">
                  <a16:creationId xmlns:a16="http://schemas.microsoft.com/office/drawing/2014/main" id="{57FAD8B9-9F3D-4626-9306-C83F30C3939E}"/>
                </a:ext>
              </a:extLst>
            </p:cNvPr>
            <p:cNvSpPr>
              <a:spLocks noEditPoints="1"/>
            </p:cNvSpPr>
            <p:nvPr userDrawn="1"/>
          </p:nvSpPr>
          <p:spPr bwMode="auto">
            <a:xfrm>
              <a:off x="4384675" y="2387601"/>
              <a:ext cx="417513" cy="735013"/>
            </a:xfrm>
            <a:custGeom>
              <a:avLst/>
              <a:gdLst>
                <a:gd name="T0" fmla="*/ 61 w 128"/>
                <a:gd name="T1" fmla="*/ 29 h 225"/>
                <a:gd name="T2" fmla="*/ 37 w 128"/>
                <a:gd name="T3" fmla="*/ 39 h 225"/>
                <a:gd name="T4" fmla="*/ 28 w 128"/>
                <a:gd name="T5" fmla="*/ 64 h 225"/>
                <a:gd name="T6" fmla="*/ 37 w 128"/>
                <a:gd name="T7" fmla="*/ 91 h 225"/>
                <a:gd name="T8" fmla="*/ 61 w 128"/>
                <a:gd name="T9" fmla="*/ 101 h 225"/>
                <a:gd name="T10" fmla="*/ 84 w 128"/>
                <a:gd name="T11" fmla="*/ 91 h 225"/>
                <a:gd name="T12" fmla="*/ 92 w 128"/>
                <a:gd name="T13" fmla="*/ 64 h 225"/>
                <a:gd name="T14" fmla="*/ 83 w 128"/>
                <a:gd name="T15" fmla="*/ 39 h 225"/>
                <a:gd name="T16" fmla="*/ 61 w 128"/>
                <a:gd name="T17" fmla="*/ 29 h 225"/>
                <a:gd name="T18" fmla="*/ 3 w 128"/>
                <a:gd name="T19" fmla="*/ 207 h 225"/>
                <a:gd name="T20" fmla="*/ 17 w 128"/>
                <a:gd name="T21" fmla="*/ 185 h 225"/>
                <a:gd name="T22" fmla="*/ 62 w 128"/>
                <a:gd name="T23" fmla="*/ 201 h 225"/>
                <a:gd name="T24" fmla="*/ 91 w 128"/>
                <a:gd name="T25" fmla="*/ 194 h 225"/>
                <a:gd name="T26" fmla="*/ 102 w 128"/>
                <a:gd name="T27" fmla="*/ 178 h 225"/>
                <a:gd name="T28" fmla="*/ 75 w 128"/>
                <a:gd name="T29" fmla="*/ 160 h 225"/>
                <a:gd name="T30" fmla="*/ 58 w 128"/>
                <a:gd name="T31" fmla="*/ 162 h 225"/>
                <a:gd name="T32" fmla="*/ 39 w 128"/>
                <a:gd name="T33" fmla="*/ 164 h 225"/>
                <a:gd name="T34" fmla="*/ 6 w 128"/>
                <a:gd name="T35" fmla="*/ 140 h 225"/>
                <a:gd name="T36" fmla="*/ 14 w 128"/>
                <a:gd name="T37" fmla="*/ 126 h 225"/>
                <a:gd name="T38" fmla="*/ 33 w 128"/>
                <a:gd name="T39" fmla="*/ 117 h 225"/>
                <a:gd name="T40" fmla="*/ 0 w 128"/>
                <a:gd name="T41" fmla="*/ 64 h 225"/>
                <a:gd name="T42" fmla="*/ 17 w 128"/>
                <a:gd name="T43" fmla="*/ 23 h 225"/>
                <a:gd name="T44" fmla="*/ 59 w 128"/>
                <a:gd name="T45" fmla="*/ 7 h 225"/>
                <a:gd name="T46" fmla="*/ 95 w 128"/>
                <a:gd name="T47" fmla="*/ 16 h 225"/>
                <a:gd name="T48" fmla="*/ 108 w 128"/>
                <a:gd name="T49" fmla="*/ 0 h 225"/>
                <a:gd name="T50" fmla="*/ 126 w 128"/>
                <a:gd name="T51" fmla="*/ 17 h 225"/>
                <a:gd name="T52" fmla="*/ 110 w 128"/>
                <a:gd name="T53" fmla="*/ 29 h 225"/>
                <a:gd name="T54" fmla="*/ 120 w 128"/>
                <a:gd name="T55" fmla="*/ 65 h 225"/>
                <a:gd name="T56" fmla="*/ 106 w 128"/>
                <a:gd name="T57" fmla="*/ 104 h 225"/>
                <a:gd name="T58" fmla="*/ 67 w 128"/>
                <a:gd name="T59" fmla="*/ 122 h 225"/>
                <a:gd name="T60" fmla="*/ 45 w 128"/>
                <a:gd name="T61" fmla="*/ 125 h 225"/>
                <a:gd name="T62" fmla="*/ 34 w 128"/>
                <a:gd name="T63" fmla="*/ 128 h 225"/>
                <a:gd name="T64" fmla="*/ 27 w 128"/>
                <a:gd name="T65" fmla="*/ 135 h 225"/>
                <a:gd name="T66" fmla="*/ 41 w 128"/>
                <a:gd name="T67" fmla="*/ 141 h 225"/>
                <a:gd name="T68" fmla="*/ 61 w 128"/>
                <a:gd name="T69" fmla="*/ 139 h 225"/>
                <a:gd name="T70" fmla="*/ 80 w 128"/>
                <a:gd name="T71" fmla="*/ 136 h 225"/>
                <a:gd name="T72" fmla="*/ 116 w 128"/>
                <a:gd name="T73" fmla="*/ 147 h 225"/>
                <a:gd name="T74" fmla="*/ 128 w 128"/>
                <a:gd name="T75" fmla="*/ 177 h 225"/>
                <a:gd name="T76" fmla="*/ 109 w 128"/>
                <a:gd name="T77" fmla="*/ 212 h 225"/>
                <a:gd name="T78" fmla="*/ 61 w 128"/>
                <a:gd name="T79" fmla="*/ 225 h 225"/>
                <a:gd name="T80" fmla="*/ 29 w 128"/>
                <a:gd name="T81" fmla="*/ 220 h 225"/>
                <a:gd name="T82" fmla="*/ 3 w 128"/>
                <a:gd name="T83" fmla="*/ 20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8" h="225">
                  <a:moveTo>
                    <a:pt x="61" y="29"/>
                  </a:moveTo>
                  <a:cubicBezTo>
                    <a:pt x="51" y="29"/>
                    <a:pt x="43" y="32"/>
                    <a:pt x="37" y="39"/>
                  </a:cubicBezTo>
                  <a:cubicBezTo>
                    <a:pt x="31" y="46"/>
                    <a:pt x="28" y="54"/>
                    <a:pt x="28" y="64"/>
                  </a:cubicBezTo>
                  <a:cubicBezTo>
                    <a:pt x="28" y="75"/>
                    <a:pt x="31" y="83"/>
                    <a:pt x="37" y="91"/>
                  </a:cubicBezTo>
                  <a:cubicBezTo>
                    <a:pt x="43" y="98"/>
                    <a:pt x="51" y="101"/>
                    <a:pt x="61" y="101"/>
                  </a:cubicBezTo>
                  <a:cubicBezTo>
                    <a:pt x="70" y="101"/>
                    <a:pt x="78" y="98"/>
                    <a:pt x="84" y="91"/>
                  </a:cubicBezTo>
                  <a:cubicBezTo>
                    <a:pt x="89" y="84"/>
                    <a:pt x="92" y="75"/>
                    <a:pt x="92" y="64"/>
                  </a:cubicBezTo>
                  <a:cubicBezTo>
                    <a:pt x="92" y="54"/>
                    <a:pt x="89" y="46"/>
                    <a:pt x="83" y="39"/>
                  </a:cubicBezTo>
                  <a:cubicBezTo>
                    <a:pt x="77" y="32"/>
                    <a:pt x="70" y="29"/>
                    <a:pt x="61" y="29"/>
                  </a:cubicBezTo>
                  <a:moveTo>
                    <a:pt x="3" y="207"/>
                  </a:moveTo>
                  <a:cubicBezTo>
                    <a:pt x="17" y="185"/>
                    <a:pt x="17" y="185"/>
                    <a:pt x="17" y="185"/>
                  </a:cubicBezTo>
                  <a:cubicBezTo>
                    <a:pt x="33" y="196"/>
                    <a:pt x="48" y="201"/>
                    <a:pt x="62" y="201"/>
                  </a:cubicBezTo>
                  <a:cubicBezTo>
                    <a:pt x="74" y="201"/>
                    <a:pt x="84" y="199"/>
                    <a:pt x="91" y="194"/>
                  </a:cubicBezTo>
                  <a:cubicBezTo>
                    <a:pt x="98" y="190"/>
                    <a:pt x="102" y="185"/>
                    <a:pt x="102" y="178"/>
                  </a:cubicBezTo>
                  <a:cubicBezTo>
                    <a:pt x="102" y="166"/>
                    <a:pt x="93" y="160"/>
                    <a:pt x="75" y="160"/>
                  </a:cubicBezTo>
                  <a:cubicBezTo>
                    <a:pt x="72" y="160"/>
                    <a:pt x="66" y="161"/>
                    <a:pt x="58" y="162"/>
                  </a:cubicBezTo>
                  <a:cubicBezTo>
                    <a:pt x="50" y="164"/>
                    <a:pt x="43" y="164"/>
                    <a:pt x="39" y="164"/>
                  </a:cubicBezTo>
                  <a:cubicBezTo>
                    <a:pt x="17" y="164"/>
                    <a:pt x="6" y="156"/>
                    <a:pt x="6" y="140"/>
                  </a:cubicBezTo>
                  <a:cubicBezTo>
                    <a:pt x="6" y="134"/>
                    <a:pt x="9" y="130"/>
                    <a:pt x="14" y="126"/>
                  </a:cubicBezTo>
                  <a:cubicBezTo>
                    <a:pt x="19" y="122"/>
                    <a:pt x="25" y="119"/>
                    <a:pt x="33" y="117"/>
                  </a:cubicBezTo>
                  <a:cubicBezTo>
                    <a:pt x="11" y="107"/>
                    <a:pt x="0" y="89"/>
                    <a:pt x="0" y="64"/>
                  </a:cubicBezTo>
                  <a:cubicBezTo>
                    <a:pt x="0" y="47"/>
                    <a:pt x="6" y="34"/>
                    <a:pt x="17" y="23"/>
                  </a:cubicBezTo>
                  <a:cubicBezTo>
                    <a:pt x="28" y="12"/>
                    <a:pt x="42" y="7"/>
                    <a:pt x="59" y="7"/>
                  </a:cubicBezTo>
                  <a:cubicBezTo>
                    <a:pt x="74" y="7"/>
                    <a:pt x="86" y="10"/>
                    <a:pt x="95" y="16"/>
                  </a:cubicBezTo>
                  <a:cubicBezTo>
                    <a:pt x="108" y="0"/>
                    <a:pt x="108" y="0"/>
                    <a:pt x="108" y="0"/>
                  </a:cubicBezTo>
                  <a:cubicBezTo>
                    <a:pt x="126" y="17"/>
                    <a:pt x="126" y="17"/>
                    <a:pt x="126" y="17"/>
                  </a:cubicBezTo>
                  <a:cubicBezTo>
                    <a:pt x="110" y="29"/>
                    <a:pt x="110" y="29"/>
                    <a:pt x="110" y="29"/>
                  </a:cubicBezTo>
                  <a:cubicBezTo>
                    <a:pt x="117" y="38"/>
                    <a:pt x="120" y="50"/>
                    <a:pt x="120" y="65"/>
                  </a:cubicBezTo>
                  <a:cubicBezTo>
                    <a:pt x="120" y="81"/>
                    <a:pt x="115" y="94"/>
                    <a:pt x="106" y="104"/>
                  </a:cubicBezTo>
                  <a:cubicBezTo>
                    <a:pt x="96" y="115"/>
                    <a:pt x="83" y="121"/>
                    <a:pt x="67" y="122"/>
                  </a:cubicBezTo>
                  <a:cubicBezTo>
                    <a:pt x="45" y="125"/>
                    <a:pt x="45" y="125"/>
                    <a:pt x="45" y="125"/>
                  </a:cubicBezTo>
                  <a:cubicBezTo>
                    <a:pt x="42" y="125"/>
                    <a:pt x="38" y="126"/>
                    <a:pt x="34" y="128"/>
                  </a:cubicBezTo>
                  <a:cubicBezTo>
                    <a:pt x="29" y="130"/>
                    <a:pt x="27" y="132"/>
                    <a:pt x="27" y="135"/>
                  </a:cubicBezTo>
                  <a:cubicBezTo>
                    <a:pt x="27" y="139"/>
                    <a:pt x="32" y="141"/>
                    <a:pt x="41" y="141"/>
                  </a:cubicBezTo>
                  <a:cubicBezTo>
                    <a:pt x="45" y="141"/>
                    <a:pt x="52" y="140"/>
                    <a:pt x="61" y="139"/>
                  </a:cubicBezTo>
                  <a:cubicBezTo>
                    <a:pt x="69" y="137"/>
                    <a:pt x="76" y="136"/>
                    <a:pt x="80" y="136"/>
                  </a:cubicBezTo>
                  <a:cubicBezTo>
                    <a:pt x="95" y="136"/>
                    <a:pt x="107" y="140"/>
                    <a:pt x="116" y="147"/>
                  </a:cubicBezTo>
                  <a:cubicBezTo>
                    <a:pt x="124" y="155"/>
                    <a:pt x="128" y="165"/>
                    <a:pt x="128" y="177"/>
                  </a:cubicBezTo>
                  <a:cubicBezTo>
                    <a:pt x="128" y="192"/>
                    <a:pt x="122" y="203"/>
                    <a:pt x="109" y="212"/>
                  </a:cubicBezTo>
                  <a:cubicBezTo>
                    <a:pt x="97" y="221"/>
                    <a:pt x="80" y="225"/>
                    <a:pt x="61" y="225"/>
                  </a:cubicBezTo>
                  <a:cubicBezTo>
                    <a:pt x="51" y="225"/>
                    <a:pt x="40" y="223"/>
                    <a:pt x="29" y="220"/>
                  </a:cubicBezTo>
                  <a:cubicBezTo>
                    <a:pt x="18" y="216"/>
                    <a:pt x="9" y="212"/>
                    <a:pt x="3" y="207"/>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9">
              <a:extLst>
                <a:ext uri="{FF2B5EF4-FFF2-40B4-BE49-F238E27FC236}">
                  <a16:creationId xmlns:a16="http://schemas.microsoft.com/office/drawing/2014/main" id="{DE342850-0900-4272-8122-CC827B67F3B5}"/>
                </a:ext>
              </a:extLst>
            </p:cNvPr>
            <p:cNvSpPr>
              <a:spLocks noEditPoints="1"/>
            </p:cNvSpPr>
            <p:nvPr userDrawn="1"/>
          </p:nvSpPr>
          <p:spPr bwMode="auto">
            <a:xfrm>
              <a:off x="4838700" y="2409826"/>
              <a:ext cx="463550" cy="522288"/>
            </a:xfrm>
            <a:custGeom>
              <a:avLst/>
              <a:gdLst>
                <a:gd name="T0" fmla="*/ 74 w 142"/>
                <a:gd name="T1" fmla="*/ 23 h 160"/>
                <a:gd name="T2" fmla="*/ 43 w 142"/>
                <a:gd name="T3" fmla="*/ 35 h 160"/>
                <a:gd name="T4" fmla="*/ 29 w 142"/>
                <a:gd name="T5" fmla="*/ 63 h 160"/>
                <a:gd name="T6" fmla="*/ 115 w 142"/>
                <a:gd name="T7" fmla="*/ 63 h 160"/>
                <a:gd name="T8" fmla="*/ 105 w 142"/>
                <a:gd name="T9" fmla="*/ 35 h 160"/>
                <a:gd name="T10" fmla="*/ 74 w 142"/>
                <a:gd name="T11" fmla="*/ 23 h 160"/>
                <a:gd name="T12" fmla="*/ 140 w 142"/>
                <a:gd name="T13" fmla="*/ 83 h 160"/>
                <a:gd name="T14" fmla="*/ 29 w 142"/>
                <a:gd name="T15" fmla="*/ 83 h 160"/>
                <a:gd name="T16" fmla="*/ 44 w 142"/>
                <a:gd name="T17" fmla="*/ 125 h 160"/>
                <a:gd name="T18" fmla="*/ 77 w 142"/>
                <a:gd name="T19" fmla="*/ 137 h 160"/>
                <a:gd name="T20" fmla="*/ 117 w 142"/>
                <a:gd name="T21" fmla="*/ 124 h 160"/>
                <a:gd name="T22" fmla="*/ 128 w 142"/>
                <a:gd name="T23" fmla="*/ 143 h 160"/>
                <a:gd name="T24" fmla="*/ 109 w 142"/>
                <a:gd name="T25" fmla="*/ 154 h 160"/>
                <a:gd name="T26" fmla="*/ 72 w 142"/>
                <a:gd name="T27" fmla="*/ 160 h 160"/>
                <a:gd name="T28" fmla="*/ 22 w 142"/>
                <a:gd name="T29" fmla="*/ 141 h 160"/>
                <a:gd name="T30" fmla="*/ 0 w 142"/>
                <a:gd name="T31" fmla="*/ 82 h 160"/>
                <a:gd name="T32" fmla="*/ 23 w 142"/>
                <a:gd name="T33" fmla="*/ 21 h 160"/>
                <a:gd name="T34" fmla="*/ 72 w 142"/>
                <a:gd name="T35" fmla="*/ 0 h 160"/>
                <a:gd name="T36" fmla="*/ 124 w 142"/>
                <a:gd name="T37" fmla="*/ 19 h 160"/>
                <a:gd name="T38" fmla="*/ 142 w 142"/>
                <a:gd name="T39" fmla="*/ 66 h 160"/>
                <a:gd name="T40" fmla="*/ 140 w 142"/>
                <a:gd name="T41" fmla="*/ 8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2" h="160">
                  <a:moveTo>
                    <a:pt x="74" y="23"/>
                  </a:moveTo>
                  <a:cubicBezTo>
                    <a:pt x="61" y="23"/>
                    <a:pt x="51" y="27"/>
                    <a:pt x="43" y="35"/>
                  </a:cubicBezTo>
                  <a:cubicBezTo>
                    <a:pt x="35" y="42"/>
                    <a:pt x="30" y="52"/>
                    <a:pt x="29" y="63"/>
                  </a:cubicBezTo>
                  <a:cubicBezTo>
                    <a:pt x="115" y="63"/>
                    <a:pt x="115" y="63"/>
                    <a:pt x="115" y="63"/>
                  </a:cubicBezTo>
                  <a:cubicBezTo>
                    <a:pt x="115" y="52"/>
                    <a:pt x="112" y="43"/>
                    <a:pt x="105" y="35"/>
                  </a:cubicBezTo>
                  <a:cubicBezTo>
                    <a:pt x="97" y="27"/>
                    <a:pt x="87" y="23"/>
                    <a:pt x="74" y="23"/>
                  </a:cubicBezTo>
                  <a:moveTo>
                    <a:pt x="140" y="83"/>
                  </a:moveTo>
                  <a:cubicBezTo>
                    <a:pt x="29" y="83"/>
                    <a:pt x="29" y="83"/>
                    <a:pt x="29" y="83"/>
                  </a:cubicBezTo>
                  <a:cubicBezTo>
                    <a:pt x="29" y="101"/>
                    <a:pt x="34" y="115"/>
                    <a:pt x="44" y="125"/>
                  </a:cubicBezTo>
                  <a:cubicBezTo>
                    <a:pt x="52" y="133"/>
                    <a:pt x="64" y="137"/>
                    <a:pt x="77" y="137"/>
                  </a:cubicBezTo>
                  <a:cubicBezTo>
                    <a:pt x="93" y="137"/>
                    <a:pt x="106" y="133"/>
                    <a:pt x="117" y="124"/>
                  </a:cubicBezTo>
                  <a:cubicBezTo>
                    <a:pt x="128" y="143"/>
                    <a:pt x="128" y="143"/>
                    <a:pt x="128" y="143"/>
                  </a:cubicBezTo>
                  <a:cubicBezTo>
                    <a:pt x="124" y="148"/>
                    <a:pt x="117" y="151"/>
                    <a:pt x="109" y="154"/>
                  </a:cubicBezTo>
                  <a:cubicBezTo>
                    <a:pt x="98" y="158"/>
                    <a:pt x="85" y="160"/>
                    <a:pt x="72" y="160"/>
                  </a:cubicBezTo>
                  <a:cubicBezTo>
                    <a:pt x="53" y="160"/>
                    <a:pt x="36" y="154"/>
                    <a:pt x="22" y="141"/>
                  </a:cubicBezTo>
                  <a:cubicBezTo>
                    <a:pt x="7" y="126"/>
                    <a:pt x="0" y="107"/>
                    <a:pt x="0" y="82"/>
                  </a:cubicBezTo>
                  <a:cubicBezTo>
                    <a:pt x="0" y="57"/>
                    <a:pt x="8" y="36"/>
                    <a:pt x="23" y="21"/>
                  </a:cubicBezTo>
                  <a:cubicBezTo>
                    <a:pt x="37" y="7"/>
                    <a:pt x="53" y="0"/>
                    <a:pt x="72" y="0"/>
                  </a:cubicBezTo>
                  <a:cubicBezTo>
                    <a:pt x="94" y="0"/>
                    <a:pt x="112" y="6"/>
                    <a:pt x="124" y="19"/>
                  </a:cubicBezTo>
                  <a:cubicBezTo>
                    <a:pt x="136" y="31"/>
                    <a:pt x="142" y="46"/>
                    <a:pt x="142" y="66"/>
                  </a:cubicBezTo>
                  <a:cubicBezTo>
                    <a:pt x="142" y="72"/>
                    <a:pt x="142" y="78"/>
                    <a:pt x="140" y="83"/>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0">
              <a:extLst>
                <a:ext uri="{FF2B5EF4-FFF2-40B4-BE49-F238E27FC236}">
                  <a16:creationId xmlns:a16="http://schemas.microsoft.com/office/drawing/2014/main" id="{06F7DD2B-7643-4151-BEE0-8F66A034CE5A}"/>
                </a:ext>
              </a:extLst>
            </p:cNvPr>
            <p:cNvSpPr>
              <a:spLocks/>
            </p:cNvSpPr>
            <p:nvPr userDrawn="1"/>
          </p:nvSpPr>
          <p:spPr bwMode="auto">
            <a:xfrm>
              <a:off x="5370513" y="2419351"/>
              <a:ext cx="411163" cy="512763"/>
            </a:xfrm>
            <a:custGeom>
              <a:avLst/>
              <a:gdLst>
                <a:gd name="T0" fmla="*/ 28 w 126"/>
                <a:gd name="T1" fmla="*/ 0 h 157"/>
                <a:gd name="T2" fmla="*/ 28 w 126"/>
                <a:gd name="T3" fmla="*/ 98 h 157"/>
                <a:gd name="T4" fmla="*/ 59 w 126"/>
                <a:gd name="T5" fmla="*/ 134 h 157"/>
                <a:gd name="T6" fmla="*/ 84 w 126"/>
                <a:gd name="T7" fmla="*/ 126 h 157"/>
                <a:gd name="T8" fmla="*/ 99 w 126"/>
                <a:gd name="T9" fmla="*/ 108 h 157"/>
                <a:gd name="T10" fmla="*/ 99 w 126"/>
                <a:gd name="T11" fmla="*/ 0 h 157"/>
                <a:gd name="T12" fmla="*/ 126 w 126"/>
                <a:gd name="T13" fmla="*/ 0 h 157"/>
                <a:gd name="T14" fmla="*/ 126 w 126"/>
                <a:gd name="T15" fmla="*/ 154 h 157"/>
                <a:gd name="T16" fmla="*/ 99 w 126"/>
                <a:gd name="T17" fmla="*/ 154 h 157"/>
                <a:gd name="T18" fmla="*/ 99 w 126"/>
                <a:gd name="T19" fmla="*/ 133 h 157"/>
                <a:gd name="T20" fmla="*/ 80 w 126"/>
                <a:gd name="T21" fmla="*/ 150 h 157"/>
                <a:gd name="T22" fmla="*/ 53 w 126"/>
                <a:gd name="T23" fmla="*/ 157 h 157"/>
                <a:gd name="T24" fmla="*/ 14 w 126"/>
                <a:gd name="T25" fmla="*/ 143 h 157"/>
                <a:gd name="T26" fmla="*/ 0 w 126"/>
                <a:gd name="T27" fmla="*/ 101 h 157"/>
                <a:gd name="T28" fmla="*/ 0 w 126"/>
                <a:gd name="T29" fmla="*/ 0 h 157"/>
                <a:gd name="T30" fmla="*/ 28 w 126"/>
                <a:gd name="T3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6" h="157">
                  <a:moveTo>
                    <a:pt x="28" y="0"/>
                  </a:moveTo>
                  <a:cubicBezTo>
                    <a:pt x="28" y="98"/>
                    <a:pt x="28" y="98"/>
                    <a:pt x="28" y="98"/>
                  </a:cubicBezTo>
                  <a:cubicBezTo>
                    <a:pt x="28" y="122"/>
                    <a:pt x="38" y="134"/>
                    <a:pt x="59" y="134"/>
                  </a:cubicBezTo>
                  <a:cubicBezTo>
                    <a:pt x="68" y="134"/>
                    <a:pt x="76" y="132"/>
                    <a:pt x="84" y="126"/>
                  </a:cubicBezTo>
                  <a:cubicBezTo>
                    <a:pt x="91" y="121"/>
                    <a:pt x="96" y="115"/>
                    <a:pt x="99" y="108"/>
                  </a:cubicBezTo>
                  <a:cubicBezTo>
                    <a:pt x="99" y="0"/>
                    <a:pt x="99" y="0"/>
                    <a:pt x="99" y="0"/>
                  </a:cubicBezTo>
                  <a:cubicBezTo>
                    <a:pt x="126" y="0"/>
                    <a:pt x="126" y="0"/>
                    <a:pt x="126" y="0"/>
                  </a:cubicBezTo>
                  <a:cubicBezTo>
                    <a:pt x="126" y="154"/>
                    <a:pt x="126" y="154"/>
                    <a:pt x="126" y="154"/>
                  </a:cubicBezTo>
                  <a:cubicBezTo>
                    <a:pt x="99" y="154"/>
                    <a:pt x="99" y="154"/>
                    <a:pt x="99" y="154"/>
                  </a:cubicBezTo>
                  <a:cubicBezTo>
                    <a:pt x="99" y="133"/>
                    <a:pt x="99" y="133"/>
                    <a:pt x="99" y="133"/>
                  </a:cubicBezTo>
                  <a:cubicBezTo>
                    <a:pt x="95" y="139"/>
                    <a:pt x="89" y="145"/>
                    <a:pt x="80" y="150"/>
                  </a:cubicBezTo>
                  <a:cubicBezTo>
                    <a:pt x="71" y="155"/>
                    <a:pt x="62" y="157"/>
                    <a:pt x="53" y="157"/>
                  </a:cubicBezTo>
                  <a:cubicBezTo>
                    <a:pt x="36" y="157"/>
                    <a:pt x="23" y="153"/>
                    <a:pt x="14" y="143"/>
                  </a:cubicBezTo>
                  <a:cubicBezTo>
                    <a:pt x="5" y="133"/>
                    <a:pt x="0" y="119"/>
                    <a:pt x="0" y="101"/>
                  </a:cubicBezTo>
                  <a:cubicBezTo>
                    <a:pt x="0" y="0"/>
                    <a:pt x="0" y="0"/>
                    <a:pt x="0" y="0"/>
                  </a:cubicBezTo>
                  <a:lnTo>
                    <a:pt x="28" y="0"/>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1">
              <a:extLst>
                <a:ext uri="{FF2B5EF4-FFF2-40B4-BE49-F238E27FC236}">
                  <a16:creationId xmlns:a16="http://schemas.microsoft.com/office/drawing/2014/main" id="{282113B7-B0E1-434E-9A73-59B3FB749986}"/>
                </a:ext>
              </a:extLst>
            </p:cNvPr>
            <p:cNvSpPr>
              <a:spLocks/>
            </p:cNvSpPr>
            <p:nvPr userDrawn="1"/>
          </p:nvSpPr>
          <p:spPr bwMode="auto">
            <a:xfrm>
              <a:off x="5843588" y="2409826"/>
              <a:ext cx="328613" cy="522288"/>
            </a:xfrm>
            <a:custGeom>
              <a:avLst/>
              <a:gdLst>
                <a:gd name="T0" fmla="*/ 0 w 101"/>
                <a:gd name="T1" fmla="*/ 148 h 160"/>
                <a:gd name="T2" fmla="*/ 10 w 101"/>
                <a:gd name="T3" fmla="*/ 122 h 160"/>
                <a:gd name="T4" fmla="*/ 47 w 101"/>
                <a:gd name="T5" fmla="*/ 137 h 160"/>
                <a:gd name="T6" fmla="*/ 72 w 101"/>
                <a:gd name="T7" fmla="*/ 116 h 160"/>
                <a:gd name="T8" fmla="*/ 47 w 101"/>
                <a:gd name="T9" fmla="*/ 90 h 160"/>
                <a:gd name="T10" fmla="*/ 22 w 101"/>
                <a:gd name="T11" fmla="*/ 77 h 160"/>
                <a:gd name="T12" fmla="*/ 10 w 101"/>
                <a:gd name="T13" fmla="*/ 66 h 160"/>
                <a:gd name="T14" fmla="*/ 3 w 101"/>
                <a:gd name="T15" fmla="*/ 54 h 160"/>
                <a:gd name="T16" fmla="*/ 1 w 101"/>
                <a:gd name="T17" fmla="*/ 40 h 160"/>
                <a:gd name="T18" fmla="*/ 15 w 101"/>
                <a:gd name="T19" fmla="*/ 11 h 160"/>
                <a:gd name="T20" fmla="*/ 51 w 101"/>
                <a:gd name="T21" fmla="*/ 0 h 160"/>
                <a:gd name="T22" fmla="*/ 94 w 101"/>
                <a:gd name="T23" fmla="*/ 11 h 160"/>
                <a:gd name="T24" fmla="*/ 86 w 101"/>
                <a:gd name="T25" fmla="*/ 36 h 160"/>
                <a:gd name="T26" fmla="*/ 53 w 101"/>
                <a:gd name="T27" fmla="*/ 23 h 160"/>
                <a:gd name="T28" fmla="*/ 36 w 101"/>
                <a:gd name="T29" fmla="*/ 28 h 160"/>
                <a:gd name="T30" fmla="*/ 30 w 101"/>
                <a:gd name="T31" fmla="*/ 39 h 160"/>
                <a:gd name="T32" fmla="*/ 47 w 101"/>
                <a:gd name="T33" fmla="*/ 62 h 160"/>
                <a:gd name="T34" fmla="*/ 66 w 101"/>
                <a:gd name="T35" fmla="*/ 71 h 160"/>
                <a:gd name="T36" fmla="*/ 93 w 101"/>
                <a:gd name="T37" fmla="*/ 90 h 160"/>
                <a:gd name="T38" fmla="*/ 101 w 101"/>
                <a:gd name="T39" fmla="*/ 116 h 160"/>
                <a:gd name="T40" fmla="*/ 86 w 101"/>
                <a:gd name="T41" fmla="*/ 149 h 160"/>
                <a:gd name="T42" fmla="*/ 46 w 101"/>
                <a:gd name="T43" fmla="*/ 160 h 160"/>
                <a:gd name="T44" fmla="*/ 0 w 101"/>
                <a:gd name="T45" fmla="*/ 14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1" h="160">
                  <a:moveTo>
                    <a:pt x="0" y="148"/>
                  </a:moveTo>
                  <a:cubicBezTo>
                    <a:pt x="10" y="122"/>
                    <a:pt x="10" y="122"/>
                    <a:pt x="10" y="122"/>
                  </a:cubicBezTo>
                  <a:cubicBezTo>
                    <a:pt x="25" y="132"/>
                    <a:pt x="37" y="137"/>
                    <a:pt x="47" y="137"/>
                  </a:cubicBezTo>
                  <a:cubicBezTo>
                    <a:pt x="63" y="137"/>
                    <a:pt x="72" y="130"/>
                    <a:pt x="72" y="116"/>
                  </a:cubicBezTo>
                  <a:cubicBezTo>
                    <a:pt x="72" y="106"/>
                    <a:pt x="64" y="97"/>
                    <a:pt x="47" y="90"/>
                  </a:cubicBezTo>
                  <a:cubicBezTo>
                    <a:pt x="35" y="84"/>
                    <a:pt x="26" y="80"/>
                    <a:pt x="22" y="77"/>
                  </a:cubicBezTo>
                  <a:cubicBezTo>
                    <a:pt x="18" y="74"/>
                    <a:pt x="14" y="70"/>
                    <a:pt x="10" y="66"/>
                  </a:cubicBezTo>
                  <a:cubicBezTo>
                    <a:pt x="7" y="63"/>
                    <a:pt x="5" y="59"/>
                    <a:pt x="3" y="54"/>
                  </a:cubicBezTo>
                  <a:cubicBezTo>
                    <a:pt x="2" y="50"/>
                    <a:pt x="1" y="45"/>
                    <a:pt x="1" y="40"/>
                  </a:cubicBezTo>
                  <a:cubicBezTo>
                    <a:pt x="1" y="28"/>
                    <a:pt x="6" y="18"/>
                    <a:pt x="15" y="11"/>
                  </a:cubicBezTo>
                  <a:cubicBezTo>
                    <a:pt x="24" y="4"/>
                    <a:pt x="36" y="0"/>
                    <a:pt x="51" y="0"/>
                  </a:cubicBezTo>
                  <a:cubicBezTo>
                    <a:pt x="62" y="0"/>
                    <a:pt x="76" y="4"/>
                    <a:pt x="94" y="11"/>
                  </a:cubicBezTo>
                  <a:cubicBezTo>
                    <a:pt x="86" y="36"/>
                    <a:pt x="86" y="36"/>
                    <a:pt x="86" y="36"/>
                  </a:cubicBezTo>
                  <a:cubicBezTo>
                    <a:pt x="75" y="27"/>
                    <a:pt x="64" y="23"/>
                    <a:pt x="53" y="23"/>
                  </a:cubicBezTo>
                  <a:cubicBezTo>
                    <a:pt x="46" y="23"/>
                    <a:pt x="41" y="25"/>
                    <a:pt x="36" y="28"/>
                  </a:cubicBezTo>
                  <a:cubicBezTo>
                    <a:pt x="32" y="31"/>
                    <a:pt x="30" y="35"/>
                    <a:pt x="30" y="39"/>
                  </a:cubicBezTo>
                  <a:cubicBezTo>
                    <a:pt x="30" y="49"/>
                    <a:pt x="35" y="57"/>
                    <a:pt x="47" y="62"/>
                  </a:cubicBezTo>
                  <a:cubicBezTo>
                    <a:pt x="66" y="71"/>
                    <a:pt x="66" y="71"/>
                    <a:pt x="66" y="71"/>
                  </a:cubicBezTo>
                  <a:cubicBezTo>
                    <a:pt x="78" y="76"/>
                    <a:pt x="87" y="83"/>
                    <a:pt x="93" y="90"/>
                  </a:cubicBezTo>
                  <a:cubicBezTo>
                    <a:pt x="98" y="97"/>
                    <a:pt x="101" y="105"/>
                    <a:pt x="101" y="116"/>
                  </a:cubicBezTo>
                  <a:cubicBezTo>
                    <a:pt x="101" y="130"/>
                    <a:pt x="96" y="141"/>
                    <a:pt x="86" y="149"/>
                  </a:cubicBezTo>
                  <a:cubicBezTo>
                    <a:pt x="76" y="156"/>
                    <a:pt x="63" y="160"/>
                    <a:pt x="46" y="160"/>
                  </a:cubicBezTo>
                  <a:cubicBezTo>
                    <a:pt x="30" y="160"/>
                    <a:pt x="14" y="156"/>
                    <a:pt x="0" y="148"/>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61584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p:spTree>
      <p:nvGrpSpPr>
        <p:cNvPr id="1" name=""/>
        <p:cNvGrpSpPr/>
        <p:nvPr/>
      </p:nvGrpSpPr>
      <p:grpSpPr>
        <a:xfrm>
          <a:off x="0" y="0"/>
          <a:ext cx="0" cy="0"/>
          <a:chOff x="0" y="0"/>
          <a:chExt cx="0" cy="0"/>
        </a:xfrm>
      </p:grpSpPr>
      <p:pic>
        <p:nvPicPr>
          <p:cNvPr id="28" name="Picture 27" descr="A picture containing outdoor&#10;&#10;Description generated with very high confidence">
            <a:extLst>
              <a:ext uri="{FF2B5EF4-FFF2-40B4-BE49-F238E27FC236}">
                <a16:creationId xmlns:a16="http://schemas.microsoft.com/office/drawing/2014/main" id="{8BDD3F1A-0226-4133-8200-2BFD2994E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2CC44766-F15A-41E7-A5D3-BF025F156C34}"/>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9D047DD6-73B3-4C28-B429-327937A6303A}"/>
              </a:ext>
            </a:extLst>
          </p:cNvPr>
          <p:cNvSpPr/>
          <p:nvPr userDrawn="1"/>
        </p:nvSpPr>
        <p:spPr>
          <a:xfrm>
            <a:off x="693556" y="493485"/>
            <a:ext cx="1543020" cy="6364515"/>
          </a:xfrm>
          <a:custGeom>
            <a:avLst/>
            <a:gdLst>
              <a:gd name="connsiteX0" fmla="*/ 771510 w 1543020"/>
              <a:gd name="connsiteY0" fmla="*/ 0 h 6364515"/>
              <a:gd name="connsiteX1" fmla="*/ 1543020 w 1543020"/>
              <a:gd name="connsiteY1" fmla="*/ 771510 h 6364515"/>
              <a:gd name="connsiteX2" fmla="*/ 1543020 w 1543020"/>
              <a:gd name="connsiteY2" fmla="*/ 6364515 h 6364515"/>
              <a:gd name="connsiteX3" fmla="*/ 0 w 1543020"/>
              <a:gd name="connsiteY3" fmla="*/ 6364515 h 6364515"/>
              <a:gd name="connsiteX4" fmla="*/ 0 w 1543020"/>
              <a:gd name="connsiteY4" fmla="*/ 771510 h 6364515"/>
              <a:gd name="connsiteX5" fmla="*/ 771510 w 1543020"/>
              <a:gd name="connsiteY5" fmla="*/ 0 h 636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20" h="6364515">
                <a:moveTo>
                  <a:pt x="771510" y="0"/>
                </a:moveTo>
                <a:cubicBezTo>
                  <a:pt x="1197603" y="0"/>
                  <a:pt x="1543020" y="345417"/>
                  <a:pt x="1543020" y="771510"/>
                </a:cubicBezTo>
                <a:lnTo>
                  <a:pt x="1543020" y="6364515"/>
                </a:lnTo>
                <a:lnTo>
                  <a:pt x="0" y="6364515"/>
                </a:lnTo>
                <a:lnTo>
                  <a:pt x="0" y="771510"/>
                </a:lnTo>
                <a:cubicBezTo>
                  <a:pt x="0" y="345417"/>
                  <a:pt x="345417" y="0"/>
                  <a:pt x="771510"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ADAB6006-8FF0-4ECE-9F3A-911691C7A7B3}"/>
              </a:ext>
            </a:extLst>
          </p:cNvPr>
          <p:cNvSpPr/>
          <p:nvPr userDrawn="1"/>
        </p:nvSpPr>
        <p:spPr>
          <a:xfrm>
            <a:off x="837322" y="609601"/>
            <a:ext cx="1255488" cy="1255486"/>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a:solidFill>
                <a:schemeClr val="bg1"/>
              </a:solidFill>
            </a:endParaRPr>
          </a:p>
        </p:txBody>
      </p:sp>
      <p:sp>
        <p:nvSpPr>
          <p:cNvPr id="2" name="Title 1">
            <a:extLst>
              <a:ext uri="{FF2B5EF4-FFF2-40B4-BE49-F238E27FC236}">
                <a16:creationId xmlns:a16="http://schemas.microsoft.com/office/drawing/2014/main" id="{0B9ADC4A-720F-46B1-98A1-87DAD495DC1B}"/>
              </a:ext>
            </a:extLst>
          </p:cNvPr>
          <p:cNvSpPr>
            <a:spLocks noGrp="1"/>
          </p:cNvSpPr>
          <p:nvPr>
            <p:ph type="title"/>
          </p:nvPr>
        </p:nvSpPr>
        <p:spPr>
          <a:xfrm>
            <a:off x="3048000" y="795338"/>
            <a:ext cx="4229100" cy="2852737"/>
          </a:xfrm>
        </p:spPr>
        <p:txBody>
          <a:bodyPr anchor="b">
            <a:normAutofit/>
          </a:bodyPr>
          <a:lstStyle>
            <a:lvl1pPr>
              <a:defRPr sz="3600" b="1" cap="all" baseline="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6739A5-7B29-4322-8DEC-B816DF173FEF}"/>
              </a:ext>
            </a:extLst>
          </p:cNvPr>
          <p:cNvSpPr>
            <a:spLocks noGrp="1"/>
          </p:cNvSpPr>
          <p:nvPr>
            <p:ph type="body" idx="1"/>
          </p:nvPr>
        </p:nvSpPr>
        <p:spPr>
          <a:xfrm>
            <a:off x="3048000" y="3789364"/>
            <a:ext cx="4229100" cy="552450"/>
          </a:xfrm>
        </p:spPr>
        <p:txBody>
          <a:bodyPr anchor="ctr">
            <a:normAutofit/>
          </a:bodyPr>
          <a:lstStyle>
            <a:lvl1pPr marL="0" indent="0">
              <a:lnSpc>
                <a:spcPct val="100000"/>
              </a:lnSpc>
              <a:spcBef>
                <a:spcPts val="0"/>
              </a:spcBef>
              <a:buNone/>
              <a:defRPr sz="2800" b="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35" name="Freeform: Shape 34">
            <a:extLst>
              <a:ext uri="{FF2B5EF4-FFF2-40B4-BE49-F238E27FC236}">
                <a16:creationId xmlns:a16="http://schemas.microsoft.com/office/drawing/2014/main" id="{4071DF3E-A139-4B83-B575-BC1867577449}"/>
              </a:ext>
            </a:extLst>
          </p:cNvPr>
          <p:cNvSpPr/>
          <p:nvPr userDrawn="1"/>
        </p:nvSpPr>
        <p:spPr>
          <a:xfrm rot="5400000">
            <a:off x="2486478" y="5543550"/>
            <a:ext cx="1892300" cy="736600"/>
          </a:xfrm>
          <a:custGeom>
            <a:avLst/>
            <a:gdLst>
              <a:gd name="connsiteX0" fmla="*/ 0 w 1892300"/>
              <a:gd name="connsiteY0" fmla="*/ 368300 h 736600"/>
              <a:gd name="connsiteX1" fmla="*/ 368300 w 1892300"/>
              <a:gd name="connsiteY1" fmla="*/ 0 h 736600"/>
              <a:gd name="connsiteX2" fmla="*/ 1892300 w 1892300"/>
              <a:gd name="connsiteY2" fmla="*/ 0 h 736600"/>
              <a:gd name="connsiteX3" fmla="*/ 1892300 w 1892300"/>
              <a:gd name="connsiteY3" fmla="*/ 736600 h 736600"/>
              <a:gd name="connsiteX4" fmla="*/ 368300 w 1892300"/>
              <a:gd name="connsiteY4" fmla="*/ 736600 h 736600"/>
              <a:gd name="connsiteX5" fmla="*/ 0 w 18923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300" h="736600">
                <a:moveTo>
                  <a:pt x="0" y="368300"/>
                </a:moveTo>
                <a:cubicBezTo>
                  <a:pt x="0" y="164894"/>
                  <a:pt x="164894" y="0"/>
                  <a:pt x="368300" y="0"/>
                </a:cubicBezTo>
                <a:lnTo>
                  <a:pt x="1892300" y="0"/>
                </a:lnTo>
                <a:lnTo>
                  <a:pt x="18923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reeform: Shape 31">
            <a:extLst>
              <a:ext uri="{FF2B5EF4-FFF2-40B4-BE49-F238E27FC236}">
                <a16:creationId xmlns:a16="http://schemas.microsoft.com/office/drawing/2014/main" id="{282668F5-FEFD-49FC-A2DA-9EFBBC585DF3}"/>
              </a:ext>
            </a:extLst>
          </p:cNvPr>
          <p:cNvSpPr/>
          <p:nvPr userDrawn="1"/>
        </p:nvSpPr>
        <p:spPr>
          <a:xfrm rot="5400000">
            <a:off x="6965950" y="730250"/>
            <a:ext cx="2197100" cy="736600"/>
          </a:xfrm>
          <a:custGeom>
            <a:avLst/>
            <a:gdLst>
              <a:gd name="connsiteX0" fmla="*/ 0 w 2197100"/>
              <a:gd name="connsiteY0" fmla="*/ 736600 h 736600"/>
              <a:gd name="connsiteX1" fmla="*/ 0 w 2197100"/>
              <a:gd name="connsiteY1" fmla="*/ 0 h 736600"/>
              <a:gd name="connsiteX2" fmla="*/ 1828800 w 2197100"/>
              <a:gd name="connsiteY2" fmla="*/ 0 h 736600"/>
              <a:gd name="connsiteX3" fmla="*/ 2197100 w 2197100"/>
              <a:gd name="connsiteY3" fmla="*/ 368300 h 736600"/>
              <a:gd name="connsiteX4" fmla="*/ 1828800 w 2197100"/>
              <a:gd name="connsiteY4" fmla="*/ 73660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7100" h="736600">
                <a:moveTo>
                  <a:pt x="0" y="736600"/>
                </a:moveTo>
                <a:lnTo>
                  <a:pt x="0" y="0"/>
                </a:lnTo>
                <a:lnTo>
                  <a:pt x="1828800" y="0"/>
                </a:lnTo>
                <a:cubicBezTo>
                  <a:pt x="2032206" y="0"/>
                  <a:pt x="2197100" y="164894"/>
                  <a:pt x="2197100" y="368300"/>
                </a:cubicBezTo>
                <a:cubicBezTo>
                  <a:pt x="2197100" y="571706"/>
                  <a:pt x="2032206" y="736600"/>
                  <a:pt x="1828800" y="7366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 Placeholder 9">
            <a:extLst>
              <a:ext uri="{FF2B5EF4-FFF2-40B4-BE49-F238E27FC236}">
                <a16:creationId xmlns:a16="http://schemas.microsoft.com/office/drawing/2014/main" id="{98ED0577-7CE6-4271-BE86-1FC4E49AD44C}"/>
              </a:ext>
            </a:extLst>
          </p:cNvPr>
          <p:cNvSpPr>
            <a:spLocks noGrp="1"/>
          </p:cNvSpPr>
          <p:nvPr>
            <p:ph type="body" sz="quarter" idx="10" hasCustomPrompt="1"/>
          </p:nvPr>
        </p:nvSpPr>
        <p:spPr>
          <a:xfrm>
            <a:off x="836410" y="609601"/>
            <a:ext cx="1256400" cy="1256400"/>
          </a:xfrm>
        </p:spPr>
        <p:txBody>
          <a:bodyPr anchor="ctr">
            <a:normAutofit/>
          </a:bodyPr>
          <a:lstStyle>
            <a:lvl1pPr algn="ctr">
              <a:lnSpc>
                <a:spcPct val="100000"/>
              </a:lnSpc>
              <a:spcBef>
                <a:spcPts val="0"/>
              </a:spcBef>
              <a:defRPr sz="4400">
                <a:solidFill>
                  <a:schemeClr val="bg1"/>
                </a:solidFill>
              </a:defRPr>
            </a:lvl1pPr>
          </a:lstStyle>
          <a:p>
            <a:pPr lvl="0"/>
            <a:r>
              <a:rPr lang="en-US"/>
              <a:t>##</a:t>
            </a:r>
            <a:endParaRPr lang="en-GB"/>
          </a:p>
        </p:txBody>
      </p:sp>
      <p:sp>
        <p:nvSpPr>
          <p:cNvPr id="43" name="Freeform: Shape 42">
            <a:extLst>
              <a:ext uri="{FF2B5EF4-FFF2-40B4-BE49-F238E27FC236}">
                <a16:creationId xmlns:a16="http://schemas.microsoft.com/office/drawing/2014/main" id="{33C8BA43-3B9B-4D2C-A1CB-6E3CE971B31C}"/>
              </a:ext>
            </a:extLst>
          </p:cNvPr>
          <p:cNvSpPr/>
          <p:nvPr userDrawn="1"/>
        </p:nvSpPr>
        <p:spPr>
          <a:xfrm rot="5400000">
            <a:off x="8648700" y="4013200"/>
            <a:ext cx="4953000" cy="736600"/>
          </a:xfrm>
          <a:custGeom>
            <a:avLst/>
            <a:gdLst>
              <a:gd name="connsiteX0" fmla="*/ 0 w 4953000"/>
              <a:gd name="connsiteY0" fmla="*/ 368300 h 736600"/>
              <a:gd name="connsiteX1" fmla="*/ 368300 w 4953000"/>
              <a:gd name="connsiteY1" fmla="*/ 0 h 736600"/>
              <a:gd name="connsiteX2" fmla="*/ 4953000 w 4953000"/>
              <a:gd name="connsiteY2" fmla="*/ 0 h 736600"/>
              <a:gd name="connsiteX3" fmla="*/ 4953000 w 4953000"/>
              <a:gd name="connsiteY3" fmla="*/ 736600 h 736600"/>
              <a:gd name="connsiteX4" fmla="*/ 368300 w 4953000"/>
              <a:gd name="connsiteY4" fmla="*/ 736600 h 736600"/>
              <a:gd name="connsiteX5" fmla="*/ 0 w 49530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3000" h="736600">
                <a:moveTo>
                  <a:pt x="0" y="368300"/>
                </a:moveTo>
                <a:cubicBezTo>
                  <a:pt x="0" y="164894"/>
                  <a:pt x="164894" y="0"/>
                  <a:pt x="368300" y="0"/>
                </a:cubicBezTo>
                <a:lnTo>
                  <a:pt x="4953000" y="0"/>
                </a:lnTo>
                <a:lnTo>
                  <a:pt x="49530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0D9CC793-7332-4F1C-9139-C5AADEE66B67}"/>
              </a:ext>
            </a:extLst>
          </p:cNvPr>
          <p:cNvGrpSpPr/>
          <p:nvPr userDrawn="1"/>
        </p:nvGrpSpPr>
        <p:grpSpPr>
          <a:xfrm>
            <a:off x="10817037" y="1965137"/>
            <a:ext cx="617726" cy="617726"/>
            <a:chOff x="10131237" y="1965137"/>
            <a:chExt cx="617726" cy="617726"/>
          </a:xfrm>
        </p:grpSpPr>
        <p:sp>
          <p:nvSpPr>
            <p:cNvPr id="45" name="Oval 44">
              <a:extLst>
                <a:ext uri="{FF2B5EF4-FFF2-40B4-BE49-F238E27FC236}">
                  <a16:creationId xmlns:a16="http://schemas.microsoft.com/office/drawing/2014/main" id="{104B4FF7-1B5E-4389-BBB5-CF129712E3F8}"/>
                </a:ext>
              </a:extLst>
            </p:cNvPr>
            <p:cNvSpPr>
              <a:spLocks noChangeAspect="1"/>
            </p:cNvSpPr>
            <p:nvPr userDrawn="1"/>
          </p:nvSpPr>
          <p:spPr>
            <a:xfrm>
              <a:off x="10131237" y="1965137"/>
              <a:ext cx="617726" cy="6177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46" name="Group 45">
              <a:extLst>
                <a:ext uri="{FF2B5EF4-FFF2-40B4-BE49-F238E27FC236}">
                  <a16:creationId xmlns:a16="http://schemas.microsoft.com/office/drawing/2014/main" id="{73DB47BB-4CAB-4613-BD5A-879D595B0618}"/>
                </a:ext>
              </a:extLst>
            </p:cNvPr>
            <p:cNvGrpSpPr/>
            <p:nvPr/>
          </p:nvGrpSpPr>
          <p:grpSpPr>
            <a:xfrm>
              <a:off x="10379250" y="2093262"/>
              <a:ext cx="121701" cy="361477"/>
              <a:chOff x="-12442" y="1663700"/>
              <a:chExt cx="1761630" cy="5232400"/>
            </a:xfrm>
            <a:solidFill>
              <a:schemeClr val="tx2"/>
            </a:solidFill>
          </p:grpSpPr>
          <p:sp>
            <p:nvSpPr>
              <p:cNvPr id="47" name="Freeform 5">
                <a:extLst>
                  <a:ext uri="{FF2B5EF4-FFF2-40B4-BE49-F238E27FC236}">
                    <a16:creationId xmlns:a16="http://schemas.microsoft.com/office/drawing/2014/main" id="{CD97D5F9-8577-4E55-A370-E70B9ED773B1}"/>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48" name="Freeform 6">
                <a:extLst>
                  <a:ext uri="{FF2B5EF4-FFF2-40B4-BE49-F238E27FC236}">
                    <a16:creationId xmlns:a16="http://schemas.microsoft.com/office/drawing/2014/main" id="{538CA225-9D4A-41EA-8C13-07EACEF994DC}"/>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Tree>
    <p:extLst>
      <p:ext uri="{BB962C8B-B14F-4D97-AF65-F5344CB8AC3E}">
        <p14:creationId xmlns:p14="http://schemas.microsoft.com/office/powerpoint/2010/main" val="1332363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 Divider">
    <p:spTree>
      <p:nvGrpSpPr>
        <p:cNvPr id="1" name=""/>
        <p:cNvGrpSpPr/>
        <p:nvPr/>
      </p:nvGrpSpPr>
      <p:grpSpPr>
        <a:xfrm>
          <a:off x="0" y="0"/>
          <a:ext cx="0" cy="0"/>
          <a:chOff x="0" y="0"/>
          <a:chExt cx="0" cy="0"/>
        </a:xfrm>
      </p:grpSpPr>
      <p:pic>
        <p:nvPicPr>
          <p:cNvPr id="28" name="Picture 27" descr="A picture containing outdoor&#10;&#10;Description generated with very high confidence">
            <a:extLst>
              <a:ext uri="{FF2B5EF4-FFF2-40B4-BE49-F238E27FC236}">
                <a16:creationId xmlns:a16="http://schemas.microsoft.com/office/drawing/2014/main" id="{8BDD3F1A-0226-4133-8200-2BFD2994E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2CC44766-F15A-41E7-A5D3-BF025F156C34}"/>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9D047DD6-73B3-4C28-B429-327937A6303A}"/>
              </a:ext>
            </a:extLst>
          </p:cNvPr>
          <p:cNvSpPr/>
          <p:nvPr userDrawn="1"/>
        </p:nvSpPr>
        <p:spPr>
          <a:xfrm>
            <a:off x="693556" y="493485"/>
            <a:ext cx="1543020" cy="6364515"/>
          </a:xfrm>
          <a:custGeom>
            <a:avLst/>
            <a:gdLst>
              <a:gd name="connsiteX0" fmla="*/ 771510 w 1543020"/>
              <a:gd name="connsiteY0" fmla="*/ 0 h 6364515"/>
              <a:gd name="connsiteX1" fmla="*/ 1543020 w 1543020"/>
              <a:gd name="connsiteY1" fmla="*/ 771510 h 6364515"/>
              <a:gd name="connsiteX2" fmla="*/ 1543020 w 1543020"/>
              <a:gd name="connsiteY2" fmla="*/ 6364515 h 6364515"/>
              <a:gd name="connsiteX3" fmla="*/ 0 w 1543020"/>
              <a:gd name="connsiteY3" fmla="*/ 6364515 h 6364515"/>
              <a:gd name="connsiteX4" fmla="*/ 0 w 1543020"/>
              <a:gd name="connsiteY4" fmla="*/ 771510 h 6364515"/>
              <a:gd name="connsiteX5" fmla="*/ 771510 w 1543020"/>
              <a:gd name="connsiteY5" fmla="*/ 0 h 636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20" h="6364515">
                <a:moveTo>
                  <a:pt x="771510" y="0"/>
                </a:moveTo>
                <a:cubicBezTo>
                  <a:pt x="1197603" y="0"/>
                  <a:pt x="1543020" y="345417"/>
                  <a:pt x="1543020" y="771510"/>
                </a:cubicBezTo>
                <a:lnTo>
                  <a:pt x="1543020" y="6364515"/>
                </a:lnTo>
                <a:lnTo>
                  <a:pt x="0" y="6364515"/>
                </a:lnTo>
                <a:lnTo>
                  <a:pt x="0" y="771510"/>
                </a:lnTo>
                <a:cubicBezTo>
                  <a:pt x="0" y="345417"/>
                  <a:pt x="345417" y="0"/>
                  <a:pt x="771510"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ADAB6006-8FF0-4ECE-9F3A-911691C7A7B3}"/>
              </a:ext>
            </a:extLst>
          </p:cNvPr>
          <p:cNvSpPr/>
          <p:nvPr userDrawn="1"/>
        </p:nvSpPr>
        <p:spPr>
          <a:xfrm>
            <a:off x="837322" y="609601"/>
            <a:ext cx="1255488" cy="12554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a:solidFill>
                <a:schemeClr val="bg1"/>
              </a:solidFill>
            </a:endParaRPr>
          </a:p>
        </p:txBody>
      </p:sp>
      <p:sp>
        <p:nvSpPr>
          <p:cNvPr id="2" name="Title 1">
            <a:extLst>
              <a:ext uri="{FF2B5EF4-FFF2-40B4-BE49-F238E27FC236}">
                <a16:creationId xmlns:a16="http://schemas.microsoft.com/office/drawing/2014/main" id="{0B9ADC4A-720F-46B1-98A1-87DAD495DC1B}"/>
              </a:ext>
            </a:extLst>
          </p:cNvPr>
          <p:cNvSpPr>
            <a:spLocks noGrp="1"/>
          </p:cNvSpPr>
          <p:nvPr>
            <p:ph type="title"/>
          </p:nvPr>
        </p:nvSpPr>
        <p:spPr>
          <a:xfrm>
            <a:off x="3048000" y="795338"/>
            <a:ext cx="4229100" cy="2852737"/>
          </a:xfrm>
        </p:spPr>
        <p:txBody>
          <a:bodyPr anchor="b">
            <a:normAutofit/>
          </a:bodyPr>
          <a:lstStyle>
            <a:lvl1pPr>
              <a:defRPr sz="3600" b="1" cap="all" baseline="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6739A5-7B29-4322-8DEC-B816DF173FEF}"/>
              </a:ext>
            </a:extLst>
          </p:cNvPr>
          <p:cNvSpPr>
            <a:spLocks noGrp="1"/>
          </p:cNvSpPr>
          <p:nvPr>
            <p:ph type="body" idx="1"/>
          </p:nvPr>
        </p:nvSpPr>
        <p:spPr>
          <a:xfrm>
            <a:off x="3048000" y="3789364"/>
            <a:ext cx="4229100" cy="552450"/>
          </a:xfrm>
        </p:spPr>
        <p:txBody>
          <a:bodyPr anchor="ctr">
            <a:normAutofit/>
          </a:bodyPr>
          <a:lstStyle>
            <a:lvl1pPr marL="0" indent="0">
              <a:lnSpc>
                <a:spcPct val="100000"/>
              </a:lnSpc>
              <a:spcBef>
                <a:spcPts val="0"/>
              </a:spcBef>
              <a:buNone/>
              <a:defRPr sz="2800" b="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35" name="Freeform: Shape 34">
            <a:extLst>
              <a:ext uri="{FF2B5EF4-FFF2-40B4-BE49-F238E27FC236}">
                <a16:creationId xmlns:a16="http://schemas.microsoft.com/office/drawing/2014/main" id="{4071DF3E-A139-4B83-B575-BC1867577449}"/>
              </a:ext>
            </a:extLst>
          </p:cNvPr>
          <p:cNvSpPr/>
          <p:nvPr userDrawn="1"/>
        </p:nvSpPr>
        <p:spPr>
          <a:xfrm rot="5400000">
            <a:off x="2486478" y="5543550"/>
            <a:ext cx="1892300" cy="736600"/>
          </a:xfrm>
          <a:custGeom>
            <a:avLst/>
            <a:gdLst>
              <a:gd name="connsiteX0" fmla="*/ 0 w 1892300"/>
              <a:gd name="connsiteY0" fmla="*/ 368300 h 736600"/>
              <a:gd name="connsiteX1" fmla="*/ 368300 w 1892300"/>
              <a:gd name="connsiteY1" fmla="*/ 0 h 736600"/>
              <a:gd name="connsiteX2" fmla="*/ 1892300 w 1892300"/>
              <a:gd name="connsiteY2" fmla="*/ 0 h 736600"/>
              <a:gd name="connsiteX3" fmla="*/ 1892300 w 1892300"/>
              <a:gd name="connsiteY3" fmla="*/ 736600 h 736600"/>
              <a:gd name="connsiteX4" fmla="*/ 368300 w 1892300"/>
              <a:gd name="connsiteY4" fmla="*/ 736600 h 736600"/>
              <a:gd name="connsiteX5" fmla="*/ 0 w 18923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300" h="736600">
                <a:moveTo>
                  <a:pt x="0" y="368300"/>
                </a:moveTo>
                <a:cubicBezTo>
                  <a:pt x="0" y="164894"/>
                  <a:pt x="164894" y="0"/>
                  <a:pt x="368300" y="0"/>
                </a:cubicBezTo>
                <a:lnTo>
                  <a:pt x="1892300" y="0"/>
                </a:lnTo>
                <a:lnTo>
                  <a:pt x="18923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reeform: Shape 31">
            <a:extLst>
              <a:ext uri="{FF2B5EF4-FFF2-40B4-BE49-F238E27FC236}">
                <a16:creationId xmlns:a16="http://schemas.microsoft.com/office/drawing/2014/main" id="{282668F5-FEFD-49FC-A2DA-9EFBBC585DF3}"/>
              </a:ext>
            </a:extLst>
          </p:cNvPr>
          <p:cNvSpPr/>
          <p:nvPr userDrawn="1"/>
        </p:nvSpPr>
        <p:spPr>
          <a:xfrm rot="5400000">
            <a:off x="6965950" y="730250"/>
            <a:ext cx="2197100" cy="736600"/>
          </a:xfrm>
          <a:custGeom>
            <a:avLst/>
            <a:gdLst>
              <a:gd name="connsiteX0" fmla="*/ 0 w 2197100"/>
              <a:gd name="connsiteY0" fmla="*/ 736600 h 736600"/>
              <a:gd name="connsiteX1" fmla="*/ 0 w 2197100"/>
              <a:gd name="connsiteY1" fmla="*/ 0 h 736600"/>
              <a:gd name="connsiteX2" fmla="*/ 1828800 w 2197100"/>
              <a:gd name="connsiteY2" fmla="*/ 0 h 736600"/>
              <a:gd name="connsiteX3" fmla="*/ 2197100 w 2197100"/>
              <a:gd name="connsiteY3" fmla="*/ 368300 h 736600"/>
              <a:gd name="connsiteX4" fmla="*/ 1828800 w 2197100"/>
              <a:gd name="connsiteY4" fmla="*/ 73660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7100" h="736600">
                <a:moveTo>
                  <a:pt x="0" y="736600"/>
                </a:moveTo>
                <a:lnTo>
                  <a:pt x="0" y="0"/>
                </a:lnTo>
                <a:lnTo>
                  <a:pt x="1828800" y="0"/>
                </a:lnTo>
                <a:cubicBezTo>
                  <a:pt x="2032206" y="0"/>
                  <a:pt x="2197100" y="164894"/>
                  <a:pt x="2197100" y="368300"/>
                </a:cubicBezTo>
                <a:cubicBezTo>
                  <a:pt x="2197100" y="571706"/>
                  <a:pt x="2032206" y="736600"/>
                  <a:pt x="1828800" y="7366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Freeform: Shape 42">
            <a:extLst>
              <a:ext uri="{FF2B5EF4-FFF2-40B4-BE49-F238E27FC236}">
                <a16:creationId xmlns:a16="http://schemas.microsoft.com/office/drawing/2014/main" id="{33C8BA43-3B9B-4D2C-A1CB-6E3CE971B31C}"/>
              </a:ext>
            </a:extLst>
          </p:cNvPr>
          <p:cNvSpPr/>
          <p:nvPr userDrawn="1"/>
        </p:nvSpPr>
        <p:spPr>
          <a:xfrm rot="5400000">
            <a:off x="8648700" y="4013200"/>
            <a:ext cx="4953000" cy="736600"/>
          </a:xfrm>
          <a:custGeom>
            <a:avLst/>
            <a:gdLst>
              <a:gd name="connsiteX0" fmla="*/ 0 w 4953000"/>
              <a:gd name="connsiteY0" fmla="*/ 368300 h 736600"/>
              <a:gd name="connsiteX1" fmla="*/ 368300 w 4953000"/>
              <a:gd name="connsiteY1" fmla="*/ 0 h 736600"/>
              <a:gd name="connsiteX2" fmla="*/ 4953000 w 4953000"/>
              <a:gd name="connsiteY2" fmla="*/ 0 h 736600"/>
              <a:gd name="connsiteX3" fmla="*/ 4953000 w 4953000"/>
              <a:gd name="connsiteY3" fmla="*/ 736600 h 736600"/>
              <a:gd name="connsiteX4" fmla="*/ 368300 w 4953000"/>
              <a:gd name="connsiteY4" fmla="*/ 736600 h 736600"/>
              <a:gd name="connsiteX5" fmla="*/ 0 w 49530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3000" h="736600">
                <a:moveTo>
                  <a:pt x="0" y="368300"/>
                </a:moveTo>
                <a:cubicBezTo>
                  <a:pt x="0" y="164894"/>
                  <a:pt x="164894" y="0"/>
                  <a:pt x="368300" y="0"/>
                </a:cubicBezTo>
                <a:lnTo>
                  <a:pt x="4953000" y="0"/>
                </a:lnTo>
                <a:lnTo>
                  <a:pt x="49530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0D9CC793-7332-4F1C-9139-C5AADEE66B67}"/>
              </a:ext>
            </a:extLst>
          </p:cNvPr>
          <p:cNvGrpSpPr/>
          <p:nvPr userDrawn="1"/>
        </p:nvGrpSpPr>
        <p:grpSpPr>
          <a:xfrm>
            <a:off x="10817037" y="1965137"/>
            <a:ext cx="617726" cy="617726"/>
            <a:chOff x="10131237" y="1965137"/>
            <a:chExt cx="617726" cy="617726"/>
          </a:xfrm>
        </p:grpSpPr>
        <p:sp>
          <p:nvSpPr>
            <p:cNvPr id="45" name="Oval 44">
              <a:extLst>
                <a:ext uri="{FF2B5EF4-FFF2-40B4-BE49-F238E27FC236}">
                  <a16:creationId xmlns:a16="http://schemas.microsoft.com/office/drawing/2014/main" id="{104B4FF7-1B5E-4389-BBB5-CF129712E3F8}"/>
                </a:ext>
              </a:extLst>
            </p:cNvPr>
            <p:cNvSpPr>
              <a:spLocks noChangeAspect="1"/>
            </p:cNvSpPr>
            <p:nvPr userDrawn="1"/>
          </p:nvSpPr>
          <p:spPr>
            <a:xfrm>
              <a:off x="10131237" y="1965137"/>
              <a:ext cx="617726" cy="6177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46" name="Group 45">
              <a:extLst>
                <a:ext uri="{FF2B5EF4-FFF2-40B4-BE49-F238E27FC236}">
                  <a16:creationId xmlns:a16="http://schemas.microsoft.com/office/drawing/2014/main" id="{73DB47BB-4CAB-4613-BD5A-879D595B0618}"/>
                </a:ext>
              </a:extLst>
            </p:cNvPr>
            <p:cNvGrpSpPr/>
            <p:nvPr/>
          </p:nvGrpSpPr>
          <p:grpSpPr>
            <a:xfrm>
              <a:off x="10379250" y="2093262"/>
              <a:ext cx="121701" cy="361477"/>
              <a:chOff x="-12442" y="1663700"/>
              <a:chExt cx="1761630" cy="5232400"/>
            </a:xfrm>
            <a:solidFill>
              <a:schemeClr val="tx2"/>
            </a:solidFill>
          </p:grpSpPr>
          <p:sp>
            <p:nvSpPr>
              <p:cNvPr id="47" name="Freeform 5">
                <a:extLst>
                  <a:ext uri="{FF2B5EF4-FFF2-40B4-BE49-F238E27FC236}">
                    <a16:creationId xmlns:a16="http://schemas.microsoft.com/office/drawing/2014/main" id="{CD97D5F9-8577-4E55-A370-E70B9ED773B1}"/>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48" name="Freeform 6">
                <a:extLst>
                  <a:ext uri="{FF2B5EF4-FFF2-40B4-BE49-F238E27FC236}">
                    <a16:creationId xmlns:a16="http://schemas.microsoft.com/office/drawing/2014/main" id="{538CA225-9D4A-41EA-8C13-07EACEF994DC}"/>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pic>
        <p:nvPicPr>
          <p:cNvPr id="5" name="Picture 4">
            <a:extLst>
              <a:ext uri="{FF2B5EF4-FFF2-40B4-BE49-F238E27FC236}">
                <a16:creationId xmlns:a16="http://schemas.microsoft.com/office/drawing/2014/main" id="{A8B1BCA3-CCE8-4A84-805D-D08185020EA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flipH="1" flipV="1">
            <a:off x="1007064" y="782424"/>
            <a:ext cx="912921" cy="912921"/>
          </a:xfrm>
          <a:prstGeom prst="rect">
            <a:avLst/>
          </a:prstGeom>
        </p:spPr>
      </p:pic>
    </p:spTree>
    <p:extLst>
      <p:ext uri="{BB962C8B-B14F-4D97-AF65-F5344CB8AC3E}">
        <p14:creationId xmlns:p14="http://schemas.microsoft.com/office/powerpoint/2010/main" val="716886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pic>
        <p:nvPicPr>
          <p:cNvPr id="4" name="Picture 3" descr="A picture containing building, outdoor, sky&#10;&#10;Description generated with high confidence">
            <a:extLst>
              <a:ext uri="{FF2B5EF4-FFF2-40B4-BE49-F238E27FC236}">
                <a16:creationId xmlns:a16="http://schemas.microsoft.com/office/drawing/2014/main" id="{C1DF82AB-AF7D-4639-9012-DE1C56D96EF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1374559E-AE65-4C9B-AAD3-CC94FB7F013C}"/>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08952E4C-D196-4C84-9515-57E479D2EFA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B6F85792-A727-402C-807C-EA609F45C62D}"/>
              </a:ext>
            </a:extLst>
          </p:cNvPr>
          <p:cNvSpPr>
            <a:spLocks noGrp="1"/>
          </p:cNvSpPr>
          <p:nvPr>
            <p:ph type="sldNum" sz="quarter" idx="12"/>
          </p:nvPr>
        </p:nvSpPr>
        <p:spPr/>
        <p:txBody>
          <a:bodyPr/>
          <a:lstStyle/>
          <a:p>
            <a:fld id="{FAEEC637-5006-4E50-A83C-29CEB747C05F}" type="slidenum">
              <a:rPr lang="en-GB" smtClean="0"/>
              <a:t>‹#›</a:t>
            </a:fld>
            <a:endParaRPr lang="en-GB"/>
          </a:p>
        </p:txBody>
      </p:sp>
      <p:sp>
        <p:nvSpPr>
          <p:cNvPr id="28" name="Title 27">
            <a:extLst>
              <a:ext uri="{FF2B5EF4-FFF2-40B4-BE49-F238E27FC236}">
                <a16:creationId xmlns:a16="http://schemas.microsoft.com/office/drawing/2014/main" id="{D7DE24CA-30C6-4AD5-9799-CF97131D6364}"/>
              </a:ext>
            </a:extLst>
          </p:cNvPr>
          <p:cNvSpPr>
            <a:spLocks noGrp="1"/>
          </p:cNvSpPr>
          <p:nvPr>
            <p:ph type="title"/>
          </p:nvPr>
        </p:nvSpPr>
        <p:spPr/>
        <p:txBody>
          <a:bodyPr/>
          <a:lstStyle/>
          <a:p>
            <a:r>
              <a:rPr lang="en-US"/>
              <a:t>Click to edit Master title style</a:t>
            </a:r>
            <a:endParaRPr lang="en-GB"/>
          </a:p>
        </p:txBody>
      </p:sp>
      <p:sp>
        <p:nvSpPr>
          <p:cNvPr id="5" name="Footer Placeholder 4">
            <a:extLst>
              <a:ext uri="{FF2B5EF4-FFF2-40B4-BE49-F238E27FC236}">
                <a16:creationId xmlns:a16="http://schemas.microsoft.com/office/drawing/2014/main" id="{D7A77A6D-683B-4BDB-A6A4-E320FBD7F851}"/>
              </a:ext>
            </a:extLst>
          </p:cNvPr>
          <p:cNvSpPr>
            <a:spLocks noGrp="1"/>
          </p:cNvSpPr>
          <p:nvPr>
            <p:ph type="ftr" sz="quarter" idx="11"/>
          </p:nvPr>
        </p:nvSpPr>
        <p:spPr/>
        <p:txBody>
          <a:bodyPr/>
          <a:lstStyle/>
          <a:p>
            <a:r>
              <a:rPr lang="en-US"/>
              <a:t>Go to Insert &gt; Header &amp; Footer to edit footer text</a:t>
            </a:r>
            <a:endParaRPr lang="en-GB"/>
          </a:p>
        </p:txBody>
      </p:sp>
    </p:spTree>
    <p:extLst>
      <p:ext uri="{BB962C8B-B14F-4D97-AF65-F5344CB8AC3E}">
        <p14:creationId xmlns:p14="http://schemas.microsoft.com/office/powerpoint/2010/main" val="3641268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a:p>
        </p:txBody>
      </p:sp>
      <p:sp>
        <p:nvSpPr>
          <p:cNvPr id="14" name="Title 13">
            <a:extLst>
              <a:ext uri="{FF2B5EF4-FFF2-40B4-BE49-F238E27FC236}">
                <a16:creationId xmlns:a16="http://schemas.microsoft.com/office/drawing/2014/main" id="{B87D5249-2480-44E9-9FEE-825E44639A83}"/>
              </a:ext>
            </a:extLst>
          </p:cNvPr>
          <p:cNvSpPr>
            <a:spLocks noGrp="1"/>
          </p:cNvSpPr>
          <p:nvPr>
            <p:ph type="title"/>
          </p:nvPr>
        </p:nvSpPr>
        <p:spPr>
          <a:xfrm>
            <a:off x="710381" y="275771"/>
            <a:ext cx="10783118" cy="1085172"/>
          </a:xfrm>
        </p:spPr>
        <p:txBody>
          <a:bodyPr/>
          <a:lstStyle/>
          <a:p>
            <a:r>
              <a:rPr lang="en-US"/>
              <a:t>Click to edit Master title style</a:t>
            </a:r>
            <a:endParaRPr lang="en-GB"/>
          </a:p>
        </p:txBody>
      </p:sp>
      <p:sp>
        <p:nvSpPr>
          <p:cNvPr id="16" name="Content Placeholder 15">
            <a:extLst>
              <a:ext uri="{FF2B5EF4-FFF2-40B4-BE49-F238E27FC236}">
                <a16:creationId xmlns:a16="http://schemas.microsoft.com/office/drawing/2014/main" id="{4A8F2D77-441F-48B4-A821-351780FDE8D5}"/>
              </a:ext>
            </a:extLst>
          </p:cNvPr>
          <p:cNvSpPr>
            <a:spLocks noGrp="1"/>
          </p:cNvSpPr>
          <p:nvPr>
            <p:ph sz="quarter" idx="15"/>
          </p:nvPr>
        </p:nvSpPr>
        <p:spPr>
          <a:xfrm>
            <a:off x="710381" y="1748712"/>
            <a:ext cx="5119687"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5">
            <a:extLst>
              <a:ext uri="{FF2B5EF4-FFF2-40B4-BE49-F238E27FC236}">
                <a16:creationId xmlns:a16="http://schemas.microsoft.com/office/drawing/2014/main" id="{CD68D76E-AFF8-4B02-BAA9-0FED28F1004D}"/>
              </a:ext>
            </a:extLst>
          </p:cNvPr>
          <p:cNvSpPr>
            <a:spLocks noGrp="1"/>
          </p:cNvSpPr>
          <p:nvPr>
            <p:ph sz="quarter" idx="16"/>
          </p:nvPr>
        </p:nvSpPr>
        <p:spPr>
          <a:xfrm>
            <a:off x="6373812" y="1748712"/>
            <a:ext cx="5119687"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descr="A picture containing building, outdoor, sky&#10;&#10;Description generated with high confidence">
            <a:extLst>
              <a:ext uri="{FF2B5EF4-FFF2-40B4-BE49-F238E27FC236}">
                <a16:creationId xmlns:a16="http://schemas.microsoft.com/office/drawing/2014/main" id="{B9C24068-C1A2-477D-9F25-18C90AF8F22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7175C9FE-EA62-4AA9-AE88-39A9966CA189}"/>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56562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a:p>
        </p:txBody>
      </p:sp>
      <p:sp>
        <p:nvSpPr>
          <p:cNvPr id="3" name="Title 2">
            <a:extLst>
              <a:ext uri="{FF2B5EF4-FFF2-40B4-BE49-F238E27FC236}">
                <a16:creationId xmlns:a16="http://schemas.microsoft.com/office/drawing/2014/main" id="{550994A2-FF53-473B-9518-B935E654BB62}"/>
              </a:ext>
            </a:extLst>
          </p:cNvPr>
          <p:cNvSpPr>
            <a:spLocks noGrp="1"/>
          </p:cNvSpPr>
          <p:nvPr>
            <p:ph type="title"/>
          </p:nvPr>
        </p:nvSpPr>
        <p:spPr>
          <a:xfrm>
            <a:off x="710381" y="275771"/>
            <a:ext cx="10783118" cy="1085172"/>
          </a:xfrm>
        </p:spPr>
        <p:txBody>
          <a:bodyPr/>
          <a:lstStyle/>
          <a:p>
            <a:r>
              <a:rPr lang="en-US"/>
              <a:t>Click to edit Master title style</a:t>
            </a:r>
            <a:endParaRPr lang="en-GB"/>
          </a:p>
        </p:txBody>
      </p:sp>
      <p:sp>
        <p:nvSpPr>
          <p:cNvPr id="17" name="Content Placeholder 15">
            <a:extLst>
              <a:ext uri="{FF2B5EF4-FFF2-40B4-BE49-F238E27FC236}">
                <a16:creationId xmlns:a16="http://schemas.microsoft.com/office/drawing/2014/main" id="{5FF0F91E-87EA-4199-AA93-F4252B351E92}"/>
              </a:ext>
            </a:extLst>
          </p:cNvPr>
          <p:cNvSpPr>
            <a:spLocks noGrp="1"/>
          </p:cNvSpPr>
          <p:nvPr>
            <p:ph sz="quarter" idx="16"/>
          </p:nvPr>
        </p:nvSpPr>
        <p:spPr>
          <a:xfrm>
            <a:off x="710381"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5">
            <a:extLst>
              <a:ext uri="{FF2B5EF4-FFF2-40B4-BE49-F238E27FC236}">
                <a16:creationId xmlns:a16="http://schemas.microsoft.com/office/drawing/2014/main" id="{C1F72E16-6A8E-4447-87BA-003C5FA15F5A}"/>
              </a:ext>
            </a:extLst>
          </p:cNvPr>
          <p:cNvSpPr>
            <a:spLocks noGrp="1"/>
          </p:cNvSpPr>
          <p:nvPr>
            <p:ph sz="quarter" idx="17"/>
          </p:nvPr>
        </p:nvSpPr>
        <p:spPr>
          <a:xfrm>
            <a:off x="8236426"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Content Placeholder 15">
            <a:extLst>
              <a:ext uri="{FF2B5EF4-FFF2-40B4-BE49-F238E27FC236}">
                <a16:creationId xmlns:a16="http://schemas.microsoft.com/office/drawing/2014/main" id="{5E832D2A-A709-4375-B688-8EB1C4928F02}"/>
              </a:ext>
            </a:extLst>
          </p:cNvPr>
          <p:cNvSpPr>
            <a:spLocks noGrp="1"/>
          </p:cNvSpPr>
          <p:nvPr>
            <p:ph sz="quarter" idx="18"/>
          </p:nvPr>
        </p:nvSpPr>
        <p:spPr>
          <a:xfrm>
            <a:off x="4473403"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descr="A picture containing building, outdoor, sky&#10;&#10;Description generated with high confidence">
            <a:extLst>
              <a:ext uri="{FF2B5EF4-FFF2-40B4-BE49-F238E27FC236}">
                <a16:creationId xmlns:a16="http://schemas.microsoft.com/office/drawing/2014/main" id="{9E693D63-499E-4EC1-8ED6-D8B9BC755A9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D5906753-7C29-4620-8395-5A49F5FD9932}"/>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8834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mp; Left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585246-1954-427D-B255-C25001135C7B}"/>
              </a:ext>
            </a:extLst>
          </p:cNvPr>
          <p:cNvSpPr>
            <a:spLocks noGrp="1"/>
          </p:cNvSpPr>
          <p:nvPr>
            <p:ph type="pic" sz="quarter" idx="15"/>
          </p:nvPr>
        </p:nvSpPr>
        <p:spPr>
          <a:xfrm>
            <a:off x="0" y="0"/>
            <a:ext cx="3657600" cy="6858000"/>
          </a:xfrm>
          <a:solidFill>
            <a:schemeClr val="bg1">
              <a:lumMod val="95000"/>
            </a:schemeClr>
          </a:solidFill>
        </p:spPr>
        <p:txBody>
          <a:bodyPr anchor="ctr"/>
          <a:lstStyle>
            <a:lvl1pPr algn="ctr">
              <a:defRPr>
                <a:solidFill>
                  <a:schemeClr val="tx1"/>
                </a:solidFill>
              </a:defRPr>
            </a:lvl1pPr>
          </a:lstStyle>
          <a:p>
            <a:endParaRPr lang="en-GB"/>
          </a:p>
        </p:txBody>
      </p:sp>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a:p>
        </p:txBody>
      </p:sp>
      <p:grpSp>
        <p:nvGrpSpPr>
          <p:cNvPr id="11" name="Group 10">
            <a:extLst>
              <a:ext uri="{FF2B5EF4-FFF2-40B4-BE49-F238E27FC236}">
                <a16:creationId xmlns:a16="http://schemas.microsoft.com/office/drawing/2014/main" id="{AE9ADE75-6973-43E5-A5E5-C73FAA64A8D3}"/>
              </a:ext>
            </a:extLst>
          </p:cNvPr>
          <p:cNvGrpSpPr/>
          <p:nvPr userDrawn="1"/>
        </p:nvGrpSpPr>
        <p:grpSpPr>
          <a:xfrm>
            <a:off x="3657600" y="445112"/>
            <a:ext cx="368300" cy="746490"/>
            <a:chOff x="0" y="415872"/>
            <a:chExt cx="368300" cy="746490"/>
          </a:xfrm>
        </p:grpSpPr>
        <p:sp>
          <p:nvSpPr>
            <p:cNvPr id="13" name="Freeform: Shape 12">
              <a:extLst>
                <a:ext uri="{FF2B5EF4-FFF2-40B4-BE49-F238E27FC236}">
                  <a16:creationId xmlns:a16="http://schemas.microsoft.com/office/drawing/2014/main" id="{0BCC7A88-3E81-41A9-BE87-E6D48B19D7E2}"/>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14" name="Group 13">
              <a:extLst>
                <a:ext uri="{FF2B5EF4-FFF2-40B4-BE49-F238E27FC236}">
                  <a16:creationId xmlns:a16="http://schemas.microsoft.com/office/drawing/2014/main" id="{78E85866-BFA6-443A-A892-469B61A3AFF2}"/>
                </a:ext>
              </a:extLst>
            </p:cNvPr>
            <p:cNvGrpSpPr/>
            <p:nvPr/>
          </p:nvGrpSpPr>
          <p:grpSpPr>
            <a:xfrm>
              <a:off x="78324" y="605745"/>
              <a:ext cx="121701" cy="361477"/>
              <a:chOff x="-12442" y="1663700"/>
              <a:chExt cx="1761630" cy="5232400"/>
            </a:xfrm>
          </p:grpSpPr>
          <p:sp>
            <p:nvSpPr>
              <p:cNvPr id="15" name="Freeform 5">
                <a:extLst>
                  <a:ext uri="{FF2B5EF4-FFF2-40B4-BE49-F238E27FC236}">
                    <a16:creationId xmlns:a16="http://schemas.microsoft.com/office/drawing/2014/main" id="{B430C14F-CB1F-4CEE-9B91-FFAEB3609D44}"/>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16" name="Freeform 6">
                <a:extLst>
                  <a:ext uri="{FF2B5EF4-FFF2-40B4-BE49-F238E27FC236}">
                    <a16:creationId xmlns:a16="http://schemas.microsoft.com/office/drawing/2014/main" id="{F06A3196-F07E-44B7-A538-72649FE99C84}"/>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
        <p:nvSpPr>
          <p:cNvPr id="4" name="Title 3">
            <a:extLst>
              <a:ext uri="{FF2B5EF4-FFF2-40B4-BE49-F238E27FC236}">
                <a16:creationId xmlns:a16="http://schemas.microsoft.com/office/drawing/2014/main" id="{832148D3-C9A7-4EA0-9252-3D0008D222CB}"/>
              </a:ext>
            </a:extLst>
          </p:cNvPr>
          <p:cNvSpPr>
            <a:spLocks noGrp="1"/>
          </p:cNvSpPr>
          <p:nvPr>
            <p:ph type="title"/>
          </p:nvPr>
        </p:nvSpPr>
        <p:spPr>
          <a:xfrm>
            <a:off x="4393379" y="275771"/>
            <a:ext cx="7100119" cy="1085172"/>
          </a:xfrm>
        </p:spPr>
        <p:txBody>
          <a:bodyPr/>
          <a:lstStyle/>
          <a:p>
            <a:r>
              <a:rPr lang="en-US"/>
              <a:t>Click to edit Master title style</a:t>
            </a:r>
            <a:endParaRPr lang="en-GB"/>
          </a:p>
        </p:txBody>
      </p:sp>
      <p:sp>
        <p:nvSpPr>
          <p:cNvPr id="17" name="Content Placeholder 15">
            <a:extLst>
              <a:ext uri="{FF2B5EF4-FFF2-40B4-BE49-F238E27FC236}">
                <a16:creationId xmlns:a16="http://schemas.microsoft.com/office/drawing/2014/main" id="{A11C52F5-48D0-4855-B28C-0BD5E409C5B3}"/>
              </a:ext>
            </a:extLst>
          </p:cNvPr>
          <p:cNvSpPr>
            <a:spLocks noGrp="1"/>
          </p:cNvSpPr>
          <p:nvPr>
            <p:ph sz="quarter" idx="16"/>
          </p:nvPr>
        </p:nvSpPr>
        <p:spPr>
          <a:xfrm>
            <a:off x="4393379" y="1748712"/>
            <a:ext cx="7100121"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60229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mp; Right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585246-1954-427D-B255-C25001135C7B}"/>
              </a:ext>
            </a:extLst>
          </p:cNvPr>
          <p:cNvSpPr>
            <a:spLocks noGrp="1"/>
          </p:cNvSpPr>
          <p:nvPr>
            <p:ph type="pic" sz="quarter" idx="15"/>
          </p:nvPr>
        </p:nvSpPr>
        <p:spPr>
          <a:xfrm>
            <a:off x="8534400" y="0"/>
            <a:ext cx="3657600" cy="6858000"/>
          </a:xfrm>
          <a:solidFill>
            <a:schemeClr val="bg1">
              <a:lumMod val="95000"/>
            </a:schemeClr>
          </a:solidFill>
        </p:spPr>
        <p:txBody>
          <a:bodyPr anchor="ctr"/>
          <a:lstStyle>
            <a:lvl1pPr algn="ctr">
              <a:defRPr>
                <a:solidFill>
                  <a:schemeClr val="tx1"/>
                </a:solidFill>
              </a:defRPr>
            </a:lvl1pPr>
          </a:lstStyle>
          <a:p>
            <a:endParaRPr lang="en-GB"/>
          </a:p>
        </p:txBody>
      </p:sp>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17" name="Freeform: Shape 16">
            <a:extLst>
              <a:ext uri="{FF2B5EF4-FFF2-40B4-BE49-F238E27FC236}">
                <a16:creationId xmlns:a16="http://schemas.microsoft.com/office/drawing/2014/main" id="{D5BCA6B4-C5FD-4781-B3F1-316CAB213A1A}"/>
              </a:ext>
            </a:extLst>
          </p:cNvPr>
          <p:cNvSpPr>
            <a:spLocks noChangeAspect="1"/>
          </p:cNvSpPr>
          <p:nvPr userDrawn="1"/>
        </p:nvSpPr>
        <p:spPr>
          <a:xfrm flipH="1">
            <a:off x="81788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sp>
        <p:nvSpPr>
          <p:cNvPr id="18" name="Slide Number Placeholder 5">
            <a:extLst>
              <a:ext uri="{FF2B5EF4-FFF2-40B4-BE49-F238E27FC236}">
                <a16:creationId xmlns:a16="http://schemas.microsoft.com/office/drawing/2014/main" id="{03805916-7BFC-4FAD-BE47-414CDF4220FE}"/>
              </a:ext>
            </a:extLst>
          </p:cNvPr>
          <p:cNvSpPr>
            <a:spLocks noGrp="1"/>
          </p:cNvSpPr>
          <p:nvPr>
            <p:ph type="sldNum" sz="quarter" idx="4"/>
          </p:nvPr>
        </p:nvSpPr>
        <p:spPr>
          <a:xfrm>
            <a:off x="8140700" y="635795"/>
            <a:ext cx="368300" cy="365125"/>
          </a:xfrm>
          <a:prstGeom prst="rect">
            <a:avLst/>
          </a:prstGeom>
        </p:spPr>
        <p:txBody>
          <a:bodyPr vert="horz" lIns="0" tIns="0" rIns="0" bIns="0" rtlCol="0" anchor="ctr"/>
          <a:lstStyle>
            <a:lvl1pPr algn="r">
              <a:defRPr sz="1050">
                <a:solidFill>
                  <a:schemeClr val="bg1"/>
                </a:solidFill>
              </a:defRPr>
            </a:lvl1pPr>
          </a:lstStyle>
          <a:p>
            <a:fld id="{FAEEC637-5006-4E50-A83C-29CEB747C05F}" type="slidenum">
              <a:rPr lang="en-GB" smtClean="0"/>
              <a:pPr/>
              <a:t>‹#›</a:t>
            </a:fld>
            <a:endParaRPr lang="en-GB"/>
          </a:p>
        </p:txBody>
      </p:sp>
      <p:sp>
        <p:nvSpPr>
          <p:cNvPr id="4" name="Title 3">
            <a:extLst>
              <a:ext uri="{FF2B5EF4-FFF2-40B4-BE49-F238E27FC236}">
                <a16:creationId xmlns:a16="http://schemas.microsoft.com/office/drawing/2014/main" id="{31608B16-B6FA-4F3E-8353-0A541E8BE5F1}"/>
              </a:ext>
            </a:extLst>
          </p:cNvPr>
          <p:cNvSpPr>
            <a:spLocks noGrp="1"/>
          </p:cNvSpPr>
          <p:nvPr>
            <p:ph type="title"/>
          </p:nvPr>
        </p:nvSpPr>
        <p:spPr>
          <a:xfrm>
            <a:off x="710381" y="275771"/>
            <a:ext cx="7100118" cy="1085172"/>
          </a:xfrm>
        </p:spPr>
        <p:txBody>
          <a:bodyPr/>
          <a:lstStyle/>
          <a:p>
            <a:r>
              <a:rPr lang="en-US"/>
              <a:t>Click to edit Master title style</a:t>
            </a:r>
            <a:endParaRPr lang="en-GB"/>
          </a:p>
        </p:txBody>
      </p:sp>
      <p:sp>
        <p:nvSpPr>
          <p:cNvPr id="22" name="Content Placeholder 15">
            <a:extLst>
              <a:ext uri="{FF2B5EF4-FFF2-40B4-BE49-F238E27FC236}">
                <a16:creationId xmlns:a16="http://schemas.microsoft.com/office/drawing/2014/main" id="{CB4E58A0-1EA8-4DBE-B28A-67728CEC13EC}"/>
              </a:ext>
            </a:extLst>
          </p:cNvPr>
          <p:cNvSpPr>
            <a:spLocks noGrp="1"/>
          </p:cNvSpPr>
          <p:nvPr>
            <p:ph sz="quarter" idx="16"/>
          </p:nvPr>
        </p:nvSpPr>
        <p:spPr>
          <a:xfrm>
            <a:off x="710381" y="1748712"/>
            <a:ext cx="7100121"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85551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Quote or Statement">
    <p:spTree>
      <p:nvGrpSpPr>
        <p:cNvPr id="1" name=""/>
        <p:cNvGrpSpPr/>
        <p:nvPr/>
      </p:nvGrpSpPr>
      <p:grpSpPr>
        <a:xfrm>
          <a:off x="0" y="0"/>
          <a:ext cx="0" cy="0"/>
          <a:chOff x="0" y="0"/>
          <a:chExt cx="0" cy="0"/>
        </a:xfrm>
      </p:grpSpPr>
      <p:pic>
        <p:nvPicPr>
          <p:cNvPr id="18" name="Picture 17" descr="A picture containing outdoor&#10;&#10;Description generated with very high confidence">
            <a:extLst>
              <a:ext uri="{FF2B5EF4-FFF2-40B4-BE49-F238E27FC236}">
                <a16:creationId xmlns:a16="http://schemas.microsoft.com/office/drawing/2014/main" id="{9596B830-8529-46BF-BF6A-67DB63FB05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Rectangle 18">
            <a:extLst>
              <a:ext uri="{FF2B5EF4-FFF2-40B4-BE49-F238E27FC236}">
                <a16:creationId xmlns:a16="http://schemas.microsoft.com/office/drawing/2014/main" id="{AE6AEA2D-94B1-4669-B3E4-612302B88B9D}"/>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ooter Placeholder 2">
            <a:extLst>
              <a:ext uri="{FF2B5EF4-FFF2-40B4-BE49-F238E27FC236}">
                <a16:creationId xmlns:a16="http://schemas.microsoft.com/office/drawing/2014/main" id="{709C8322-D2BC-4FB2-81D0-54CD35257875}"/>
              </a:ext>
            </a:extLst>
          </p:cNvPr>
          <p:cNvSpPr>
            <a:spLocks noGrp="1"/>
          </p:cNvSpPr>
          <p:nvPr>
            <p:ph type="ftr" sz="quarter" idx="10"/>
          </p:nvPr>
        </p:nvSpPr>
        <p:spPr/>
        <p:txBody>
          <a:bodyPr/>
          <a:lstStyle/>
          <a:p>
            <a:r>
              <a:rPr lang="en-US"/>
              <a:t>Go to Insert &gt; Header &amp; Footer to edit footer text</a:t>
            </a:r>
            <a:endParaRPr lang="en-GB"/>
          </a:p>
        </p:txBody>
      </p:sp>
      <p:sp>
        <p:nvSpPr>
          <p:cNvPr id="17" name="Freeform: Shape 16">
            <a:extLst>
              <a:ext uri="{FF2B5EF4-FFF2-40B4-BE49-F238E27FC236}">
                <a16:creationId xmlns:a16="http://schemas.microsoft.com/office/drawing/2014/main" id="{A8D4B3AC-666F-4E9E-B904-F633D547596C}"/>
              </a:ext>
            </a:extLst>
          </p:cNvPr>
          <p:cNvSpPr/>
          <p:nvPr userDrawn="1"/>
        </p:nvSpPr>
        <p:spPr>
          <a:xfrm>
            <a:off x="698501" y="1884731"/>
            <a:ext cx="11493499" cy="3327398"/>
          </a:xfrm>
          <a:custGeom>
            <a:avLst/>
            <a:gdLst>
              <a:gd name="connsiteX0" fmla="*/ 1663699 w 11493499"/>
              <a:gd name="connsiteY0" fmla="*/ 0 h 3327398"/>
              <a:gd name="connsiteX1" fmla="*/ 11493499 w 11493499"/>
              <a:gd name="connsiteY1" fmla="*/ 0 h 3327398"/>
              <a:gd name="connsiteX2" fmla="*/ 11493499 w 11493499"/>
              <a:gd name="connsiteY2" fmla="*/ 3327398 h 3327398"/>
              <a:gd name="connsiteX3" fmla="*/ 1663699 w 11493499"/>
              <a:gd name="connsiteY3" fmla="*/ 3327398 h 3327398"/>
              <a:gd name="connsiteX4" fmla="*/ 0 w 11493499"/>
              <a:gd name="connsiteY4" fmla="*/ 1663699 h 3327398"/>
              <a:gd name="connsiteX5" fmla="*/ 1663699 w 11493499"/>
              <a:gd name="connsiteY5" fmla="*/ 0 h 332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3499" h="3327398">
                <a:moveTo>
                  <a:pt x="1663699" y="0"/>
                </a:moveTo>
                <a:lnTo>
                  <a:pt x="11493499" y="0"/>
                </a:lnTo>
                <a:lnTo>
                  <a:pt x="11493499" y="3327398"/>
                </a:lnTo>
                <a:lnTo>
                  <a:pt x="1663699" y="3327398"/>
                </a:lnTo>
                <a:cubicBezTo>
                  <a:pt x="744863" y="3327398"/>
                  <a:pt x="0" y="2582535"/>
                  <a:pt x="0" y="1663699"/>
                </a:cubicBezTo>
                <a:cubicBezTo>
                  <a:pt x="0" y="744863"/>
                  <a:pt x="744863" y="0"/>
                  <a:pt x="1663699"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3" name="Picture Placeholder 12">
            <a:extLst>
              <a:ext uri="{FF2B5EF4-FFF2-40B4-BE49-F238E27FC236}">
                <a16:creationId xmlns:a16="http://schemas.microsoft.com/office/drawing/2014/main" id="{7F595A26-9317-4CC6-BE9B-BCC5CE1C0790}"/>
              </a:ext>
            </a:extLst>
          </p:cNvPr>
          <p:cNvSpPr>
            <a:spLocks noGrp="1"/>
          </p:cNvSpPr>
          <p:nvPr>
            <p:ph type="pic" sz="quarter" idx="12"/>
          </p:nvPr>
        </p:nvSpPr>
        <p:spPr>
          <a:xfrm>
            <a:off x="688875" y="1885230"/>
            <a:ext cx="3348000" cy="3326400"/>
          </a:xfrm>
          <a:custGeom>
            <a:avLst/>
            <a:gdLst>
              <a:gd name="connsiteX0" fmla="*/ 1663200 w 3326400"/>
              <a:gd name="connsiteY0" fmla="*/ 0 h 3326400"/>
              <a:gd name="connsiteX1" fmla="*/ 3326400 w 3326400"/>
              <a:gd name="connsiteY1" fmla="*/ 1663200 h 3326400"/>
              <a:gd name="connsiteX2" fmla="*/ 1663200 w 3326400"/>
              <a:gd name="connsiteY2" fmla="*/ 3326400 h 3326400"/>
              <a:gd name="connsiteX3" fmla="*/ 0 w 3326400"/>
              <a:gd name="connsiteY3" fmla="*/ 1663200 h 3326400"/>
              <a:gd name="connsiteX4" fmla="*/ 1663200 w 3326400"/>
              <a:gd name="connsiteY4" fmla="*/ 0 h 332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6400" h="3326400">
                <a:moveTo>
                  <a:pt x="1663200" y="0"/>
                </a:moveTo>
                <a:cubicBezTo>
                  <a:pt x="2581760" y="0"/>
                  <a:pt x="3326400" y="744640"/>
                  <a:pt x="3326400" y="1663200"/>
                </a:cubicBezTo>
                <a:cubicBezTo>
                  <a:pt x="3326400" y="2581760"/>
                  <a:pt x="2581760" y="3326400"/>
                  <a:pt x="1663200" y="3326400"/>
                </a:cubicBezTo>
                <a:cubicBezTo>
                  <a:pt x="744640" y="3326400"/>
                  <a:pt x="0" y="2581760"/>
                  <a:pt x="0" y="1663200"/>
                </a:cubicBezTo>
                <a:cubicBezTo>
                  <a:pt x="0" y="744640"/>
                  <a:pt x="744640" y="0"/>
                  <a:pt x="1663200"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en-GB"/>
          </a:p>
        </p:txBody>
      </p:sp>
      <p:sp>
        <p:nvSpPr>
          <p:cNvPr id="15" name="Text Placeholder 14">
            <a:extLst>
              <a:ext uri="{FF2B5EF4-FFF2-40B4-BE49-F238E27FC236}">
                <a16:creationId xmlns:a16="http://schemas.microsoft.com/office/drawing/2014/main" id="{DE5A9667-5612-4B76-B61A-FB5335E7C461}"/>
              </a:ext>
            </a:extLst>
          </p:cNvPr>
          <p:cNvSpPr>
            <a:spLocks noGrp="1"/>
          </p:cNvSpPr>
          <p:nvPr>
            <p:ph type="body" sz="quarter" idx="13"/>
          </p:nvPr>
        </p:nvSpPr>
        <p:spPr>
          <a:xfrm>
            <a:off x="4584700" y="2291130"/>
            <a:ext cx="6908799" cy="2514600"/>
          </a:xfrm>
        </p:spPr>
        <p:txBody>
          <a:bodyPr anchor="ctr">
            <a:normAutofit/>
          </a:bodyPr>
          <a:lstStyle>
            <a:lvl1pPr>
              <a:defRPr sz="3600">
                <a:solidFill>
                  <a:schemeClr val="bg1"/>
                </a:solidFill>
              </a:defRPr>
            </a:lvl1pPr>
          </a:lstStyle>
          <a:p>
            <a:pPr lvl="0"/>
            <a:r>
              <a:rPr lang="en-US"/>
              <a:t>Edit Master text styles</a:t>
            </a:r>
          </a:p>
        </p:txBody>
      </p:sp>
      <p:sp>
        <p:nvSpPr>
          <p:cNvPr id="20" name="Freeform: Shape 19">
            <a:extLst>
              <a:ext uri="{FF2B5EF4-FFF2-40B4-BE49-F238E27FC236}">
                <a16:creationId xmlns:a16="http://schemas.microsoft.com/office/drawing/2014/main" id="{49A37327-6163-44BA-97B3-2D3415A4DE61}"/>
              </a:ext>
            </a:extLst>
          </p:cNvPr>
          <p:cNvSpPr>
            <a:spLocks noChangeAspect="1"/>
          </p:cNvSpPr>
          <p:nvPr userDrawn="1"/>
        </p:nvSpPr>
        <p:spPr>
          <a:xfrm flipH="1">
            <a:off x="118237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21" name="Group 20">
            <a:extLst>
              <a:ext uri="{FF2B5EF4-FFF2-40B4-BE49-F238E27FC236}">
                <a16:creationId xmlns:a16="http://schemas.microsoft.com/office/drawing/2014/main" id="{8DDAD210-C494-48B6-95BE-8C9B9DB75551}"/>
              </a:ext>
            </a:extLst>
          </p:cNvPr>
          <p:cNvGrpSpPr/>
          <p:nvPr userDrawn="1"/>
        </p:nvGrpSpPr>
        <p:grpSpPr>
          <a:xfrm>
            <a:off x="0" y="445112"/>
            <a:ext cx="368300" cy="746490"/>
            <a:chOff x="0" y="415872"/>
            <a:chExt cx="368300" cy="746490"/>
          </a:xfrm>
        </p:grpSpPr>
        <p:sp>
          <p:nvSpPr>
            <p:cNvPr id="22" name="Freeform: Shape 21">
              <a:extLst>
                <a:ext uri="{FF2B5EF4-FFF2-40B4-BE49-F238E27FC236}">
                  <a16:creationId xmlns:a16="http://schemas.microsoft.com/office/drawing/2014/main" id="{A15C7EC2-27C0-44C8-AF3E-AD0C8FE81E69}"/>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23" name="Group 22">
              <a:extLst>
                <a:ext uri="{FF2B5EF4-FFF2-40B4-BE49-F238E27FC236}">
                  <a16:creationId xmlns:a16="http://schemas.microsoft.com/office/drawing/2014/main" id="{EE8BA3DF-3DB6-4B5C-8BDA-1337AA8E1FAE}"/>
                </a:ext>
              </a:extLst>
            </p:cNvPr>
            <p:cNvGrpSpPr/>
            <p:nvPr/>
          </p:nvGrpSpPr>
          <p:grpSpPr>
            <a:xfrm>
              <a:off x="78324" y="605745"/>
              <a:ext cx="121701" cy="361477"/>
              <a:chOff x="-12442" y="1663700"/>
              <a:chExt cx="1761630" cy="5232400"/>
            </a:xfrm>
          </p:grpSpPr>
          <p:sp>
            <p:nvSpPr>
              <p:cNvPr id="24" name="Freeform 5">
                <a:extLst>
                  <a:ext uri="{FF2B5EF4-FFF2-40B4-BE49-F238E27FC236}">
                    <a16:creationId xmlns:a16="http://schemas.microsoft.com/office/drawing/2014/main" id="{F92DBA50-E586-417D-ACE8-E9328CAD1DB3}"/>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25" name="Freeform 6">
                <a:extLst>
                  <a:ext uri="{FF2B5EF4-FFF2-40B4-BE49-F238E27FC236}">
                    <a16:creationId xmlns:a16="http://schemas.microsoft.com/office/drawing/2014/main" id="{CCD4F696-0109-496D-8830-21B98FFAB290}"/>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
        <p:nvSpPr>
          <p:cNvPr id="4" name="Slide Number Placeholder 3">
            <a:extLst>
              <a:ext uri="{FF2B5EF4-FFF2-40B4-BE49-F238E27FC236}">
                <a16:creationId xmlns:a16="http://schemas.microsoft.com/office/drawing/2014/main" id="{5FD8AA36-DC02-4C10-B19F-8CC1013CFC9D}"/>
              </a:ext>
            </a:extLst>
          </p:cNvPr>
          <p:cNvSpPr>
            <a:spLocks noGrp="1"/>
          </p:cNvSpPr>
          <p:nvPr>
            <p:ph type="sldNum" sz="quarter" idx="11"/>
          </p:nvPr>
        </p:nvSpPr>
        <p:spPr/>
        <p:txBody>
          <a:bodyPr/>
          <a:lstStyle/>
          <a:p>
            <a:fld id="{FAEEC637-5006-4E50-A83C-29CEB747C05F}" type="slidenum">
              <a:rPr lang="en-GB" smtClean="0"/>
              <a:pPr/>
              <a:t>‹#›</a:t>
            </a:fld>
            <a:endParaRPr lang="en-GB"/>
          </a:p>
        </p:txBody>
      </p:sp>
    </p:spTree>
    <p:extLst>
      <p:ext uri="{BB962C8B-B14F-4D97-AF65-F5344CB8AC3E}">
        <p14:creationId xmlns:p14="http://schemas.microsoft.com/office/powerpoint/2010/main" val="1623929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11500-00F8-4965-84B4-14C20B61B64D}"/>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ACB3732C-FC7F-4DE3-88A8-A46C602C6181}"/>
              </a:ext>
            </a:extLst>
          </p:cNvPr>
          <p:cNvSpPr>
            <a:spLocks noGrp="1"/>
          </p:cNvSpPr>
          <p:nvPr>
            <p:ph type="ftr" sz="quarter" idx="11"/>
          </p:nvPr>
        </p:nvSpPr>
        <p:spPr/>
        <p:txBody>
          <a:bodyPr/>
          <a:lstStyle/>
          <a:p>
            <a:r>
              <a:rPr lang="en-US"/>
              <a:t>Go to Insert &gt; Header &amp; Footer to edit footer text</a:t>
            </a:r>
            <a:endParaRPr lang="en-GB"/>
          </a:p>
        </p:txBody>
      </p:sp>
      <p:sp>
        <p:nvSpPr>
          <p:cNvPr id="5" name="Slide Number Placeholder 4">
            <a:extLst>
              <a:ext uri="{FF2B5EF4-FFF2-40B4-BE49-F238E27FC236}">
                <a16:creationId xmlns:a16="http://schemas.microsoft.com/office/drawing/2014/main" id="{83506D75-FF9B-4780-94C9-D353E2FAEE5F}"/>
              </a:ext>
            </a:extLst>
          </p:cNvPr>
          <p:cNvSpPr>
            <a:spLocks noGrp="1"/>
          </p:cNvSpPr>
          <p:nvPr>
            <p:ph type="sldNum" sz="quarter" idx="12"/>
          </p:nvPr>
        </p:nvSpPr>
        <p:spPr/>
        <p:txBody>
          <a:bodyPr/>
          <a:lstStyle/>
          <a:p>
            <a:fld id="{FAEEC637-5006-4E50-A83C-29CEB747C05F}" type="slidenum">
              <a:rPr lang="en-GB" smtClean="0"/>
              <a:t>‹#›</a:t>
            </a:fld>
            <a:endParaRPr lang="en-GB"/>
          </a:p>
        </p:txBody>
      </p:sp>
    </p:spTree>
    <p:extLst>
      <p:ext uri="{BB962C8B-B14F-4D97-AF65-F5344CB8AC3E}">
        <p14:creationId xmlns:p14="http://schemas.microsoft.com/office/powerpoint/2010/main" val="137213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EEF98BD-1ACC-47C2-B49D-F62045976874}"/>
              </a:ext>
            </a:extLst>
          </p:cNvPr>
          <p:cNvSpPr>
            <a:spLocks noGrp="1"/>
          </p:cNvSpPr>
          <p:nvPr>
            <p:ph type="ftr" sz="quarter" idx="11"/>
          </p:nvPr>
        </p:nvSpPr>
        <p:spPr/>
        <p:txBody>
          <a:bodyPr/>
          <a:lstStyle/>
          <a:p>
            <a:r>
              <a:rPr lang="en-US"/>
              <a:t>Go to Insert &gt; Header &amp; Footer to edit footer text</a:t>
            </a:r>
            <a:endParaRPr lang="en-GB"/>
          </a:p>
        </p:txBody>
      </p:sp>
      <p:sp>
        <p:nvSpPr>
          <p:cNvPr id="4" name="Slide Number Placeholder 3">
            <a:extLst>
              <a:ext uri="{FF2B5EF4-FFF2-40B4-BE49-F238E27FC236}">
                <a16:creationId xmlns:a16="http://schemas.microsoft.com/office/drawing/2014/main" id="{FD5A0906-AC26-44F3-9B49-2006953D6072}"/>
              </a:ext>
            </a:extLst>
          </p:cNvPr>
          <p:cNvSpPr>
            <a:spLocks noGrp="1"/>
          </p:cNvSpPr>
          <p:nvPr>
            <p:ph type="sldNum" sz="quarter" idx="12"/>
          </p:nvPr>
        </p:nvSpPr>
        <p:spPr/>
        <p:txBody>
          <a:bodyPr/>
          <a:lstStyle/>
          <a:p>
            <a:fld id="{FAEEC637-5006-4E50-A83C-29CEB747C05F}" type="slidenum">
              <a:rPr lang="en-GB" smtClean="0"/>
              <a:t>‹#›</a:t>
            </a:fld>
            <a:endParaRPr lang="en-GB"/>
          </a:p>
        </p:txBody>
      </p:sp>
    </p:spTree>
    <p:extLst>
      <p:ext uri="{BB962C8B-B14F-4D97-AF65-F5344CB8AC3E}">
        <p14:creationId xmlns:p14="http://schemas.microsoft.com/office/powerpoint/2010/main" val="1819967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Thank You">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BB1815A-B3AC-4EED-B654-8903A2CE163E}"/>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n>
                <a:solidFill>
                  <a:schemeClr val="bg1"/>
                </a:solidFill>
              </a:ln>
              <a:solidFill>
                <a:schemeClr val="bg1"/>
              </a:solidFill>
            </a:endParaRPr>
          </a:p>
        </p:txBody>
      </p:sp>
      <p:pic>
        <p:nvPicPr>
          <p:cNvPr id="6" name="Picture 5" descr="A picture containing outdoor&#10;&#10;Description generated with very high confidence">
            <a:extLst>
              <a:ext uri="{FF2B5EF4-FFF2-40B4-BE49-F238E27FC236}">
                <a16:creationId xmlns:a16="http://schemas.microsoft.com/office/drawing/2014/main" id="{353441D7-B154-431A-A906-AE049925AF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FB89681C-A500-41B3-AEC8-006EF607E575}"/>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Shape 7">
            <a:extLst>
              <a:ext uri="{FF2B5EF4-FFF2-40B4-BE49-F238E27FC236}">
                <a16:creationId xmlns:a16="http://schemas.microsoft.com/office/drawing/2014/main" id="{24DE3A14-50CC-4DE7-BC04-ECE2D4476919}"/>
              </a:ext>
            </a:extLst>
          </p:cNvPr>
          <p:cNvSpPr/>
          <p:nvPr userDrawn="1"/>
        </p:nvSpPr>
        <p:spPr>
          <a:xfrm>
            <a:off x="695326" y="2119449"/>
            <a:ext cx="11496674" cy="2645018"/>
          </a:xfrm>
          <a:custGeom>
            <a:avLst/>
            <a:gdLst>
              <a:gd name="connsiteX0" fmla="*/ 1322509 w 11496675"/>
              <a:gd name="connsiteY0" fmla="*/ 0 h 2645018"/>
              <a:gd name="connsiteX1" fmla="*/ 11496675 w 11496675"/>
              <a:gd name="connsiteY1" fmla="*/ 0 h 2645018"/>
              <a:gd name="connsiteX2" fmla="*/ 11496675 w 11496675"/>
              <a:gd name="connsiteY2" fmla="*/ 2645018 h 2645018"/>
              <a:gd name="connsiteX3" fmla="*/ 1322509 w 11496675"/>
              <a:gd name="connsiteY3" fmla="*/ 2645018 h 2645018"/>
              <a:gd name="connsiteX4" fmla="*/ 0 w 11496675"/>
              <a:gd name="connsiteY4" fmla="*/ 1322509 h 2645018"/>
              <a:gd name="connsiteX5" fmla="*/ 1322509 w 11496675"/>
              <a:gd name="connsiteY5" fmla="*/ 0 h 2645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6675" h="2645018">
                <a:moveTo>
                  <a:pt x="1322509" y="0"/>
                </a:moveTo>
                <a:lnTo>
                  <a:pt x="11496675" y="0"/>
                </a:lnTo>
                <a:lnTo>
                  <a:pt x="11496675" y="2645018"/>
                </a:lnTo>
                <a:lnTo>
                  <a:pt x="1322509" y="2645018"/>
                </a:lnTo>
                <a:cubicBezTo>
                  <a:pt x="592109" y="2645018"/>
                  <a:pt x="0" y="2052909"/>
                  <a:pt x="0" y="1322509"/>
                </a:cubicBezTo>
                <a:cubicBezTo>
                  <a:pt x="0" y="592109"/>
                  <a:pt x="592109" y="0"/>
                  <a:pt x="1322509"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GB"/>
          </a:p>
        </p:txBody>
      </p:sp>
      <p:sp>
        <p:nvSpPr>
          <p:cNvPr id="9" name="Oval 8">
            <a:extLst>
              <a:ext uri="{FF2B5EF4-FFF2-40B4-BE49-F238E27FC236}">
                <a16:creationId xmlns:a16="http://schemas.microsoft.com/office/drawing/2014/main" id="{208AB5E0-AFB1-46D0-B888-EFB7A35BC2A2}"/>
              </a:ext>
            </a:extLst>
          </p:cNvPr>
          <p:cNvSpPr/>
          <p:nvPr userDrawn="1"/>
        </p:nvSpPr>
        <p:spPr>
          <a:xfrm>
            <a:off x="905606" y="2329730"/>
            <a:ext cx="2224456" cy="22244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Footer Placeholder 2">
            <a:extLst>
              <a:ext uri="{FF2B5EF4-FFF2-40B4-BE49-F238E27FC236}">
                <a16:creationId xmlns:a16="http://schemas.microsoft.com/office/drawing/2014/main" id="{8EEF98BD-1ACC-47C2-B49D-F62045976874}"/>
              </a:ext>
            </a:extLst>
          </p:cNvPr>
          <p:cNvSpPr>
            <a:spLocks noGrp="1"/>
          </p:cNvSpPr>
          <p:nvPr>
            <p:ph type="ftr" sz="quarter" idx="11"/>
          </p:nvPr>
        </p:nvSpPr>
        <p:spPr/>
        <p:txBody>
          <a:bodyPr/>
          <a:lstStyle/>
          <a:p>
            <a:r>
              <a:rPr lang="en-US"/>
              <a:t>Go to Insert &gt; Header &amp; Footer to edit footer text</a:t>
            </a:r>
            <a:endParaRPr lang="en-GB"/>
          </a:p>
        </p:txBody>
      </p:sp>
      <p:sp>
        <p:nvSpPr>
          <p:cNvPr id="11" name="Rectangle 10">
            <a:extLst>
              <a:ext uri="{FF2B5EF4-FFF2-40B4-BE49-F238E27FC236}">
                <a16:creationId xmlns:a16="http://schemas.microsoft.com/office/drawing/2014/main" id="{E50116F5-C21D-4DA9-892D-50392E4BD607}"/>
              </a:ext>
            </a:extLst>
          </p:cNvPr>
          <p:cNvSpPr/>
          <p:nvPr userDrawn="1"/>
        </p:nvSpPr>
        <p:spPr>
          <a:xfrm>
            <a:off x="3522951" y="2657128"/>
            <a:ext cx="7973723" cy="1569660"/>
          </a:xfrm>
          <a:prstGeom prst="rect">
            <a:avLst/>
          </a:prstGeom>
        </p:spPr>
        <p:txBody>
          <a:bodyPr wrap="square">
            <a:spAutoFit/>
          </a:bodyPr>
          <a:lstStyle/>
          <a:p>
            <a:pPr algn="ctr" defTabSz="914400" rtl="0" eaLnBrk="1" latinLnBrk="0" hangingPunct="1">
              <a:lnSpc>
                <a:spcPct val="100000"/>
              </a:lnSpc>
              <a:spcBef>
                <a:spcPct val="0"/>
              </a:spcBef>
              <a:buNone/>
            </a:pPr>
            <a:r>
              <a:rPr lang="en-US" sz="9600" b="1" kern="1200" cap="all" baseline="0" noProof="0">
                <a:solidFill>
                  <a:schemeClr val="bg2"/>
                </a:solidFill>
                <a:latin typeface="+mj-lt"/>
                <a:ea typeface="+mj-ea"/>
                <a:cs typeface="+mj-cs"/>
              </a:rPr>
              <a:t>THANK YOU</a:t>
            </a:r>
            <a:endParaRPr lang="en-US" sz="9600" b="1" kern="1200" cap="all" baseline="0">
              <a:solidFill>
                <a:schemeClr val="bg2"/>
              </a:solidFill>
              <a:latin typeface="+mj-lt"/>
              <a:ea typeface="+mj-ea"/>
              <a:cs typeface="+mj-cs"/>
            </a:endParaRPr>
          </a:p>
        </p:txBody>
      </p:sp>
      <p:pic>
        <p:nvPicPr>
          <p:cNvPr id="10" name="Picture 9">
            <a:extLst>
              <a:ext uri="{FF2B5EF4-FFF2-40B4-BE49-F238E27FC236}">
                <a16:creationId xmlns:a16="http://schemas.microsoft.com/office/drawing/2014/main" id="{1DCE2996-6646-445A-9880-B094B54B8E8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flipH="1" flipV="1">
            <a:off x="1168246" y="2573517"/>
            <a:ext cx="1699176" cy="1699174"/>
          </a:xfrm>
          <a:prstGeom prst="rect">
            <a:avLst/>
          </a:prstGeom>
        </p:spPr>
      </p:pic>
    </p:spTree>
    <p:extLst>
      <p:ext uri="{BB962C8B-B14F-4D97-AF65-F5344CB8AC3E}">
        <p14:creationId xmlns:p14="http://schemas.microsoft.com/office/powerpoint/2010/main" val="351365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RASPBERRY">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594524" y="326585"/>
            <a:ext cx="11186962" cy="540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defRPr>
                <a:solidFill>
                  <a:srgbClr val="CA005D"/>
                </a:solidFill>
              </a:defRPr>
            </a:lvl1pPr>
          </a:lstStyle>
          <a:p>
            <a:pPr lvl="0"/>
            <a:r>
              <a:rPr lang="en-US" noProof="0"/>
              <a:t>Click to edit Master title style</a:t>
            </a:r>
            <a:endParaRPr lang="en-GB" noProof="0"/>
          </a:p>
        </p:txBody>
      </p:sp>
      <p:sp>
        <p:nvSpPr>
          <p:cNvPr id="4" name="Text Placeholder 3"/>
          <p:cNvSpPr>
            <a:spLocks noGrp="1"/>
          </p:cNvSpPr>
          <p:nvPr>
            <p:ph type="body" sz="quarter" idx="10"/>
          </p:nvPr>
        </p:nvSpPr>
        <p:spPr>
          <a:xfrm>
            <a:off x="410925" y="1468954"/>
            <a:ext cx="11370562" cy="45075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Slide Number Placeholder 1"/>
          <p:cNvSpPr>
            <a:spLocks noGrp="1"/>
          </p:cNvSpPr>
          <p:nvPr>
            <p:ph type="sldNum" sz="quarter" idx="11"/>
          </p:nvPr>
        </p:nvSpPr>
        <p:spPr/>
        <p:txBody>
          <a:bodyPr/>
          <a:lstStyle/>
          <a:p>
            <a:fld id="{68E9E923-BE2F-B54C-8612-CEC3CBE68F6C}" type="slidenum">
              <a:rPr lang="en-GB" smtClean="0"/>
              <a:pPr/>
              <a:t>‹#›</a:t>
            </a:fld>
            <a:r>
              <a:rPr lang="en-GB"/>
              <a:t> </a:t>
            </a:r>
          </a:p>
          <a:p>
            <a:endParaRPr lang="en-GB"/>
          </a:p>
        </p:txBody>
      </p:sp>
      <p:sp>
        <p:nvSpPr>
          <p:cNvPr id="5" name="TextBox 4"/>
          <p:cNvSpPr txBox="1"/>
          <p:nvPr userDrawn="1"/>
        </p:nvSpPr>
        <p:spPr>
          <a:xfrm>
            <a:off x="787841" y="-244357"/>
            <a:ext cx="184731" cy="343620"/>
          </a:xfrm>
          <a:prstGeom prst="rect">
            <a:avLst/>
          </a:prstGeom>
          <a:noFill/>
        </p:spPr>
        <p:txBody>
          <a:bodyPr wrap="none" rtlCol="0">
            <a:spAutoFit/>
          </a:bodyPr>
          <a:lstStyle/>
          <a:p>
            <a:endParaRPr lang="en-US" sz="1633"/>
          </a:p>
        </p:txBody>
      </p:sp>
      <p:cxnSp>
        <p:nvCxnSpPr>
          <p:cNvPr id="7" name="Straight Connector 6"/>
          <p:cNvCxnSpPr/>
          <p:nvPr userDrawn="1"/>
        </p:nvCxnSpPr>
        <p:spPr bwMode="auto">
          <a:xfrm>
            <a:off x="410512" y="360581"/>
            <a:ext cx="0" cy="522595"/>
          </a:xfrm>
          <a:prstGeom prst="line">
            <a:avLst/>
          </a:prstGeom>
          <a:solidFill>
            <a:srgbClr val="FF9900"/>
          </a:solidFill>
          <a:ln w="57150" cap="flat" cmpd="sng" algn="ctr">
            <a:solidFill>
              <a:srgbClr val="CA005D"/>
            </a:solidFill>
            <a:prstDash val="solid"/>
            <a:round/>
            <a:headEnd type="none" w="med" len="med"/>
            <a:tailEnd type="none" w="med" len="med"/>
          </a:ln>
          <a:effectLst/>
        </p:spPr>
      </p:cxnSp>
      <p:cxnSp>
        <p:nvCxnSpPr>
          <p:cNvPr id="8" name="Straight Connector 7"/>
          <p:cNvCxnSpPr/>
          <p:nvPr userDrawn="1"/>
        </p:nvCxnSpPr>
        <p:spPr bwMode="auto">
          <a:xfrm>
            <a:off x="409440" y="6303271"/>
            <a:ext cx="11372046" cy="0"/>
          </a:xfrm>
          <a:prstGeom prst="line">
            <a:avLst/>
          </a:prstGeom>
          <a:solidFill>
            <a:srgbClr val="FF9900"/>
          </a:solidFill>
          <a:ln w="38100" cap="flat" cmpd="sng" algn="ctr">
            <a:solidFill>
              <a:srgbClr val="CA005D"/>
            </a:solidFill>
            <a:prstDash val="solid"/>
            <a:round/>
            <a:headEnd type="none" w="med" len="med"/>
            <a:tailEnd type="none" w="med" len="med"/>
          </a:ln>
          <a:effectLst/>
        </p:spPr>
      </p:cxnSp>
    </p:spTree>
    <p:extLst>
      <p:ext uri="{BB962C8B-B14F-4D97-AF65-F5344CB8AC3E}">
        <p14:creationId xmlns:p14="http://schemas.microsoft.com/office/powerpoint/2010/main" val="4087684309"/>
      </p:ext>
    </p:extLst>
  </p:cSld>
  <p:clrMapOvr>
    <a:masterClrMapping/>
  </p:clrMapOvr>
  <p:extLst>
    <p:ext uri="{DCECCB84-F9BA-43D5-87BE-67443E8EF086}">
      <p15:sldGuideLst xmlns:p15="http://schemas.microsoft.com/office/powerpoint/2012/main">
        <p15:guide id="4" orient="horz" pos="415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2" name="Holder 2"/>
          <p:cNvSpPr>
            <a:spLocks noGrp="1"/>
          </p:cNvSpPr>
          <p:nvPr>
            <p:ph type="title"/>
          </p:nvPr>
        </p:nvSpPr>
        <p:spPr>
          <a:xfrm>
            <a:off x="563299" y="356055"/>
            <a:ext cx="11071750" cy="939800"/>
          </a:xfrm>
          <a:prstGeom prst="rect">
            <a:avLst/>
          </a:prstGeom>
        </p:spPr>
        <p:txBody>
          <a:bodyPr wrap="square" lIns="0" tIns="0" rIns="0" bIns="0">
            <a:spAutoFit/>
          </a:bodyPr>
          <a:lstStyle>
            <a:lvl1pPr>
              <a:defRPr sz="6000" b="1" i="0">
                <a:solidFill>
                  <a:srgbClr val="FDB913"/>
                </a:solidFill>
                <a:latin typeface="Arial"/>
                <a:cs typeface="Arial"/>
              </a:defRPr>
            </a:lvl1pPr>
          </a:lstStyle>
          <a:p>
            <a:endParaRPr/>
          </a:p>
        </p:txBody>
      </p:sp>
      <p:sp>
        <p:nvSpPr>
          <p:cNvPr id="3" name="Holder 3"/>
          <p:cNvSpPr>
            <a:spLocks noGrp="1"/>
          </p:cNvSpPr>
          <p:nvPr>
            <p:ph type="body" idx="1"/>
          </p:nvPr>
        </p:nvSpPr>
        <p:spPr>
          <a:xfrm>
            <a:off x="563299" y="2079848"/>
            <a:ext cx="11071750" cy="42659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6" r:id="rId5"/>
    <p:sldLayoutId id="2147483667" r:id="rId6"/>
    <p:sldLayoutId id="2147483668" r:id="rId7"/>
    <p:sldLayoutId id="2147483669" r:id="rId8"/>
    <p:sldLayoutId id="2147483670" r:id="rId9"/>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6" name="Freeform: Shape 55">
            <a:extLst>
              <a:ext uri="{FF2B5EF4-FFF2-40B4-BE49-F238E27FC236}">
                <a16:creationId xmlns:a16="http://schemas.microsoft.com/office/drawing/2014/main" id="{4BD9B2D0-4DAD-4C9A-86A9-6492BED11C88}"/>
              </a:ext>
            </a:extLst>
          </p:cNvPr>
          <p:cNvSpPr>
            <a:spLocks noChangeAspect="1"/>
          </p:cNvSpPr>
          <p:nvPr userDrawn="1"/>
        </p:nvSpPr>
        <p:spPr>
          <a:xfrm flipH="1">
            <a:off x="118237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57" name="Group 56">
            <a:extLst>
              <a:ext uri="{FF2B5EF4-FFF2-40B4-BE49-F238E27FC236}">
                <a16:creationId xmlns:a16="http://schemas.microsoft.com/office/drawing/2014/main" id="{B3597DD2-4311-487A-BDC8-D6C18BBFB2A3}"/>
              </a:ext>
            </a:extLst>
          </p:cNvPr>
          <p:cNvGrpSpPr/>
          <p:nvPr userDrawn="1"/>
        </p:nvGrpSpPr>
        <p:grpSpPr>
          <a:xfrm>
            <a:off x="0" y="445112"/>
            <a:ext cx="368300" cy="746490"/>
            <a:chOff x="0" y="415872"/>
            <a:chExt cx="368300" cy="746490"/>
          </a:xfrm>
        </p:grpSpPr>
        <p:sp>
          <p:nvSpPr>
            <p:cNvPr id="58" name="Freeform: Shape 57">
              <a:extLst>
                <a:ext uri="{FF2B5EF4-FFF2-40B4-BE49-F238E27FC236}">
                  <a16:creationId xmlns:a16="http://schemas.microsoft.com/office/drawing/2014/main" id="{CE9C42D4-C9D4-432A-9D66-DCDC964320FD}"/>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59" name="Group 58">
              <a:extLst>
                <a:ext uri="{FF2B5EF4-FFF2-40B4-BE49-F238E27FC236}">
                  <a16:creationId xmlns:a16="http://schemas.microsoft.com/office/drawing/2014/main" id="{22F65F2D-951E-47A0-AE6C-369C25E83A73}"/>
                </a:ext>
              </a:extLst>
            </p:cNvPr>
            <p:cNvGrpSpPr/>
            <p:nvPr/>
          </p:nvGrpSpPr>
          <p:grpSpPr>
            <a:xfrm>
              <a:off x="78324" y="605745"/>
              <a:ext cx="121701" cy="361477"/>
              <a:chOff x="-12442" y="1663700"/>
              <a:chExt cx="1761630" cy="5232400"/>
            </a:xfrm>
          </p:grpSpPr>
          <p:sp>
            <p:nvSpPr>
              <p:cNvPr id="60" name="Freeform 5">
                <a:extLst>
                  <a:ext uri="{FF2B5EF4-FFF2-40B4-BE49-F238E27FC236}">
                    <a16:creationId xmlns:a16="http://schemas.microsoft.com/office/drawing/2014/main" id="{0FB2E93E-7D77-43B4-8773-6972AD5BFAC5}"/>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61" name="Freeform 6">
                <a:extLst>
                  <a:ext uri="{FF2B5EF4-FFF2-40B4-BE49-F238E27FC236}">
                    <a16:creationId xmlns:a16="http://schemas.microsoft.com/office/drawing/2014/main" id="{4A43FD87-41BC-4166-AE05-76ECC39D31D0}"/>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
        <p:nvSpPr>
          <p:cNvPr id="2" name="Title Placeholder 1">
            <a:extLst>
              <a:ext uri="{FF2B5EF4-FFF2-40B4-BE49-F238E27FC236}">
                <a16:creationId xmlns:a16="http://schemas.microsoft.com/office/drawing/2014/main" id="{38386F46-B8A7-4A41-B9E3-152DBB5AF39C}"/>
              </a:ext>
            </a:extLst>
          </p:cNvPr>
          <p:cNvSpPr>
            <a:spLocks noGrp="1"/>
          </p:cNvSpPr>
          <p:nvPr>
            <p:ph type="title"/>
          </p:nvPr>
        </p:nvSpPr>
        <p:spPr>
          <a:xfrm>
            <a:off x="710381" y="275771"/>
            <a:ext cx="10783118" cy="1085172"/>
          </a:xfrm>
          <a:prstGeom prst="rect">
            <a:avLst/>
          </a:prstGeom>
        </p:spPr>
        <p:txBody>
          <a:bodyPr vert="horz" lIns="0" tIns="45720" rIns="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03B2E23-FA8D-4BFB-8633-584027D63898}"/>
              </a:ext>
            </a:extLst>
          </p:cNvPr>
          <p:cNvSpPr>
            <a:spLocks noGrp="1"/>
          </p:cNvSpPr>
          <p:nvPr>
            <p:ph type="body" idx="1"/>
          </p:nvPr>
        </p:nvSpPr>
        <p:spPr>
          <a:xfrm>
            <a:off x="710381" y="1749425"/>
            <a:ext cx="10783118" cy="417512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67AB9E95-2B69-4CC2-AA68-608768FABD0E}"/>
              </a:ext>
            </a:extLst>
          </p:cNvPr>
          <p:cNvSpPr>
            <a:spLocks noGrp="1"/>
          </p:cNvSpPr>
          <p:nvPr>
            <p:ph type="ftr" sz="quarter" idx="3"/>
          </p:nvPr>
        </p:nvSpPr>
        <p:spPr>
          <a:xfrm>
            <a:off x="7382881" y="6387307"/>
            <a:ext cx="4114800" cy="199231"/>
          </a:xfrm>
          <a:prstGeom prst="rect">
            <a:avLst/>
          </a:prstGeom>
        </p:spPr>
        <p:txBody>
          <a:bodyPr vert="horz" lIns="0" tIns="0" rIns="0" bIns="0" rtlCol="0" anchor="ctr"/>
          <a:lstStyle>
            <a:lvl1pPr algn="r">
              <a:defRPr sz="1050">
                <a:solidFill>
                  <a:schemeClr val="tx1"/>
                </a:solidFill>
              </a:defRPr>
            </a:lvl1pPr>
          </a:lstStyle>
          <a:p>
            <a:r>
              <a:rPr lang="en-US"/>
              <a:t>Go to Insert &gt; Header &amp; Footer to edit footer text</a:t>
            </a:r>
            <a:endParaRPr lang="en-GB"/>
          </a:p>
        </p:txBody>
      </p:sp>
      <p:sp>
        <p:nvSpPr>
          <p:cNvPr id="6" name="Slide Number Placeholder 5">
            <a:extLst>
              <a:ext uri="{FF2B5EF4-FFF2-40B4-BE49-F238E27FC236}">
                <a16:creationId xmlns:a16="http://schemas.microsoft.com/office/drawing/2014/main" id="{6CC352AB-4E9A-4CB2-BC09-E1F646D7F671}"/>
              </a:ext>
            </a:extLst>
          </p:cNvPr>
          <p:cNvSpPr>
            <a:spLocks noGrp="1"/>
          </p:cNvSpPr>
          <p:nvPr>
            <p:ph type="sldNum" sz="quarter" idx="4"/>
          </p:nvPr>
        </p:nvSpPr>
        <p:spPr>
          <a:xfrm>
            <a:off x="11785600" y="635795"/>
            <a:ext cx="368300" cy="365125"/>
          </a:xfrm>
          <a:prstGeom prst="rect">
            <a:avLst/>
          </a:prstGeom>
        </p:spPr>
        <p:txBody>
          <a:bodyPr vert="horz" lIns="0" tIns="0" rIns="0" bIns="0" rtlCol="0" anchor="ctr"/>
          <a:lstStyle>
            <a:lvl1pPr algn="r">
              <a:defRPr sz="1050">
                <a:solidFill>
                  <a:schemeClr val="bg1"/>
                </a:solidFill>
              </a:defRPr>
            </a:lvl1pPr>
          </a:lstStyle>
          <a:p>
            <a:fld id="{FAEEC637-5006-4E50-A83C-29CEB747C05F}" type="slidenum">
              <a:rPr lang="en-GB" smtClean="0"/>
              <a:pPr/>
              <a:t>‹#›</a:t>
            </a:fld>
            <a:endParaRPr lang="en-GB"/>
          </a:p>
        </p:txBody>
      </p:sp>
    </p:spTree>
    <p:extLst>
      <p:ext uri="{BB962C8B-B14F-4D97-AF65-F5344CB8AC3E}">
        <p14:creationId xmlns:p14="http://schemas.microsoft.com/office/powerpoint/2010/main" val="510719657"/>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38">
          <p15:clr>
            <a:srgbClr val="F26B43"/>
          </p15:clr>
        </p15:guide>
        <p15:guide id="3" pos="7242">
          <p15:clr>
            <a:srgbClr val="F26B43"/>
          </p15:clr>
        </p15:guide>
        <p15:guide id="4" orient="horz" pos="3744">
          <p15:clr>
            <a:srgbClr val="F26B43"/>
          </p15:clr>
        </p15:guide>
        <p15:guide id="5" orient="horz" pos="109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4.jpe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5.jpe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hemeOverride" Target="../theme/themeOverride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image" Target="../media/image40.png"/><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4" name="Text Placeholder 3">
            <a:extLst>
              <a:ext uri="{FF2B5EF4-FFF2-40B4-BE49-F238E27FC236}">
                <a16:creationId xmlns:a16="http://schemas.microsoft.com/office/drawing/2014/main" id="{E0578AD4-E9AB-144D-8D25-75B212E9DAFE}"/>
              </a:ext>
            </a:extLst>
          </p:cNvPr>
          <p:cNvSpPr>
            <a:spLocks noGrp="1"/>
          </p:cNvSpPr>
          <p:nvPr>
            <p:ph type="body" sz="quarter" idx="10"/>
          </p:nvPr>
        </p:nvSpPr>
        <p:spPr>
          <a:xfrm>
            <a:off x="533400" y="2318598"/>
            <a:ext cx="5562600" cy="615553"/>
          </a:xfrm>
        </p:spPr>
        <p:txBody>
          <a:bodyPr/>
          <a:lstStyle/>
          <a:p>
            <a:r>
              <a:rPr lang="en-US" sz="4000" noProof="0"/>
              <a:t>Summarizing Data</a:t>
            </a:r>
          </a:p>
        </p:txBody>
      </p:sp>
      <p:sp>
        <p:nvSpPr>
          <p:cNvPr id="5" name="Text Placeholder 4">
            <a:extLst>
              <a:ext uri="{FF2B5EF4-FFF2-40B4-BE49-F238E27FC236}">
                <a16:creationId xmlns:a16="http://schemas.microsoft.com/office/drawing/2014/main" id="{921EE887-B48F-AD4F-8697-4305800340F0}"/>
              </a:ext>
            </a:extLst>
          </p:cNvPr>
          <p:cNvSpPr>
            <a:spLocks noGrp="1"/>
          </p:cNvSpPr>
          <p:nvPr>
            <p:ph type="body" sz="quarter" idx="11"/>
          </p:nvPr>
        </p:nvSpPr>
        <p:spPr>
          <a:xfrm>
            <a:off x="533400" y="3947160"/>
            <a:ext cx="2743200" cy="1015663"/>
          </a:xfrm>
        </p:spPr>
        <p:txBody>
          <a:bodyPr wrap="square" lIns="0" tIns="0" rIns="0" bIns="0" anchor="t">
            <a:spAutoFit/>
          </a:bodyPr>
          <a:lstStyle/>
          <a:p>
            <a:r>
              <a:rPr lang="en-US" sz="2300" b="1" noProof="0"/>
              <a:t>DMAIC – LSS14</a:t>
            </a:r>
          </a:p>
          <a:p>
            <a:endParaRPr lang="en-US" noProof="0"/>
          </a:p>
          <a:p>
            <a:r>
              <a:rPr lang="en-US" sz="1700" b="1" noProof="0">
                <a:latin typeface="Arial"/>
                <a:cs typeface="Arial"/>
              </a:rPr>
              <a:t>Version: </a:t>
            </a:r>
            <a:r>
              <a:rPr lang="en-US" sz="1700" b="1">
                <a:latin typeface="Arial"/>
                <a:cs typeface="Arial"/>
              </a:rPr>
              <a:t>June 2026</a:t>
            </a:r>
            <a:endParaRPr lang="en-US" sz="1700" b="1" noProof="0"/>
          </a:p>
        </p:txBody>
      </p:sp>
      <p:pic>
        <p:nvPicPr>
          <p:cNvPr id="2" name="Picture 1" descr="A blue square with white lines&#10;&#10;AI-generated content may be incorrect.">
            <a:extLst>
              <a:ext uri="{FF2B5EF4-FFF2-40B4-BE49-F238E27FC236}">
                <a16:creationId xmlns:a16="http://schemas.microsoft.com/office/drawing/2014/main" id="{EB941362-5BB7-8F54-81E1-EE9E0F676F2F}"/>
              </a:ext>
            </a:extLst>
          </p:cNvPr>
          <p:cNvPicPr>
            <a:picLocks noChangeAspect="1"/>
          </p:cNvPicPr>
          <p:nvPr/>
        </p:nvPicPr>
        <p:blipFill>
          <a:blip r:embed="rId3"/>
          <a:stretch>
            <a:fillRect/>
          </a:stretch>
        </p:blipFill>
        <p:spPr>
          <a:xfrm>
            <a:off x="128588" y="5653314"/>
            <a:ext cx="2181225" cy="76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4" name="Picture 3" descr="Woman looking at computer screen">
            <a:extLst>
              <a:ext uri="{FF2B5EF4-FFF2-40B4-BE49-F238E27FC236}">
                <a16:creationId xmlns:a16="http://schemas.microsoft.com/office/drawing/2014/main" id="{9A9A7879-3834-4E16-83BA-78EE2EC2C4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77689" y="352117"/>
            <a:ext cx="3104322" cy="2069548"/>
          </a:xfrm>
          <a:prstGeom prst="rect">
            <a:avLst/>
          </a:prstGeom>
        </p:spPr>
      </p:pic>
      <p:pic>
        <p:nvPicPr>
          <p:cNvPr id="5" name="Picture 4" descr="Person looking at computer screen">
            <a:extLst>
              <a:ext uri="{FF2B5EF4-FFF2-40B4-BE49-F238E27FC236}">
                <a16:creationId xmlns:a16="http://schemas.microsoft.com/office/drawing/2014/main" id="{2E842367-3A6C-41A8-B546-9684297140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9723" y="352117"/>
            <a:ext cx="3104322" cy="2069548"/>
          </a:xfrm>
          <a:prstGeom prst="rect">
            <a:avLst/>
          </a:prstGeom>
        </p:spPr>
      </p:pic>
      <p:sp>
        <p:nvSpPr>
          <p:cNvPr id="7" name="Content Placeholder 2">
            <a:extLst>
              <a:ext uri="{FF2B5EF4-FFF2-40B4-BE49-F238E27FC236}">
                <a16:creationId xmlns:a16="http://schemas.microsoft.com/office/drawing/2014/main" id="{3FF8775C-D23D-46B1-A586-AC0645F3760E}"/>
              </a:ext>
            </a:extLst>
          </p:cNvPr>
          <p:cNvSpPr txBox="1">
            <a:spLocks/>
          </p:cNvSpPr>
          <p:nvPr/>
        </p:nvSpPr>
        <p:spPr>
          <a:xfrm>
            <a:off x="1413765" y="2782278"/>
            <a:ext cx="4682235" cy="3584019"/>
          </a:xfrm>
          <a:prstGeom prst="rect">
            <a:avLst/>
          </a:prstGeom>
          <a:ln w="19050">
            <a:solidFill>
              <a:srgbClr val="00B0F0"/>
            </a:solidFill>
            <a:prstDash val="dash"/>
          </a:ln>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en-US" b="1" kern="0" noProof="0">
              <a:solidFill>
                <a:srgbClr val="00B0F0"/>
              </a:solidFill>
              <a:latin typeface="Trebuchet MS" panose="020B0603020202020204" pitchFamily="34" charset="0"/>
              <a:cs typeface="Arial" panose="020B0604020202020204" pitchFamily="34" charset="0"/>
            </a:endParaRPr>
          </a:p>
          <a:p>
            <a:r>
              <a:rPr lang="en-US" sz="3200" b="1" kern="0" noProof="0">
                <a:solidFill>
                  <a:srgbClr val="00B0F0"/>
                </a:solidFill>
                <a:latin typeface="Trebuchet MS" panose="020B0603020202020204" pitchFamily="34" charset="0"/>
                <a:cs typeface="Arial" panose="020B0604020202020204" pitchFamily="34" charset="0"/>
              </a:rPr>
              <a:t>Virtual Classroom</a:t>
            </a:r>
          </a:p>
          <a:p>
            <a:r>
              <a:rPr lang="en-US" sz="3200" b="1" kern="0" noProof="0">
                <a:solidFill>
                  <a:srgbClr val="00B0F0"/>
                </a:solidFill>
                <a:latin typeface="Trebuchet MS" panose="020B0603020202020204" pitchFamily="34" charset="0"/>
                <a:cs typeface="Arial" panose="020B0604020202020204" pitchFamily="34" charset="0"/>
              </a:rPr>
              <a:t>Module</a:t>
            </a:r>
          </a:p>
          <a:p>
            <a:endParaRPr lang="en-US" kern="0" noProof="0">
              <a:solidFill>
                <a:srgbClr val="24408D"/>
              </a:solidFill>
              <a:latin typeface="Trebuchet MS" panose="020B0603020202020204" pitchFamily="34" charset="0"/>
              <a:cs typeface="Arial" panose="020B0604020202020204" pitchFamily="34" charset="0"/>
            </a:endParaRPr>
          </a:p>
          <a:p>
            <a:pPr marL="285750" indent="-285750">
              <a:buFont typeface="Arial" panose="020B0604020202020204" pitchFamily="34" charset="0"/>
              <a:buChar char="•"/>
            </a:pPr>
            <a:r>
              <a:rPr lang="en-US" kern="0" noProof="0">
                <a:solidFill>
                  <a:srgbClr val="002060"/>
                </a:solidFill>
                <a:latin typeface="Trebuchet MS" panose="020B0603020202020204" pitchFamily="34" charset="0"/>
                <a:cs typeface="Arial" panose="020B0604020202020204" pitchFamily="34" charset="0"/>
              </a:rPr>
              <a:t>90 mins session.</a:t>
            </a:r>
          </a:p>
          <a:p>
            <a:pPr marL="285750" indent="-285750">
              <a:buFont typeface="Arial" panose="020B0604020202020204" pitchFamily="34" charset="0"/>
              <a:buChar char="•"/>
            </a:pPr>
            <a:endParaRPr lang="en-US" kern="0" noProof="0">
              <a:solidFill>
                <a:srgbClr val="002060"/>
              </a:solidFill>
              <a:latin typeface="Trebuchet MS" panose="020B0603020202020204" pitchFamily="34" charset="0"/>
              <a:cs typeface="Arial" panose="020B0604020202020204" pitchFamily="34" charset="0"/>
            </a:endParaRPr>
          </a:p>
          <a:p>
            <a:pPr marL="285750" indent="-285750">
              <a:buFont typeface="Arial" panose="020B0604020202020204" pitchFamily="34" charset="0"/>
              <a:buChar char="•"/>
            </a:pPr>
            <a:r>
              <a:rPr lang="en-US" kern="0" noProof="0">
                <a:solidFill>
                  <a:srgbClr val="002060"/>
                </a:solidFill>
                <a:latin typeface="Trebuchet MS" panose="020B0603020202020204" pitchFamily="34" charset="0"/>
                <a:cs typeface="Arial" panose="020B0604020202020204" pitchFamily="34" charset="0"/>
              </a:rPr>
              <a:t>Please mute your microphone if you are not speaking.</a:t>
            </a:r>
          </a:p>
          <a:p>
            <a:pPr marL="285750" indent="-285750">
              <a:buFont typeface="Arial" panose="020B0604020202020204" pitchFamily="34" charset="0"/>
              <a:buChar char="•"/>
            </a:pPr>
            <a:endParaRPr lang="en-US" kern="0" noProof="0">
              <a:solidFill>
                <a:srgbClr val="002060"/>
              </a:solidFill>
              <a:latin typeface="Trebuchet MS" panose="020B0603020202020204" pitchFamily="34" charset="0"/>
              <a:cs typeface="Arial" panose="020B0604020202020204" pitchFamily="34" charset="0"/>
            </a:endParaRPr>
          </a:p>
          <a:p>
            <a:pPr marL="285750" indent="-285750">
              <a:buFont typeface="Arial" panose="020B0604020202020204" pitchFamily="34" charset="0"/>
              <a:buChar char="•"/>
            </a:pPr>
            <a:r>
              <a:rPr lang="en-US" kern="0" noProof="0">
                <a:solidFill>
                  <a:srgbClr val="002060"/>
                </a:solidFill>
                <a:latin typeface="Trebuchet MS" panose="020B0603020202020204" pitchFamily="34" charset="0"/>
                <a:cs typeface="Arial" panose="020B0604020202020204" pitchFamily="34" charset="0"/>
              </a:rPr>
              <a:t>Q&amp;A during the session in chat.</a:t>
            </a:r>
          </a:p>
          <a:p>
            <a:pPr marL="742950" lvl="1" indent="-285750">
              <a:buFont typeface="Courier New" panose="02070309020205020404" pitchFamily="49" charset="0"/>
              <a:buChar char="o"/>
            </a:pPr>
            <a:endParaRPr lang="en-US" kern="0" noProof="0">
              <a:latin typeface="Trebuchet MS" panose="020B0603020202020204" pitchFamily="34" charset="0"/>
              <a:cs typeface="Arial" panose="020B0604020202020204" pitchFamily="34" charset="0"/>
            </a:endParaRPr>
          </a:p>
          <a:p>
            <a:endParaRPr lang="en-US" kern="0" noProof="0">
              <a:solidFill>
                <a:sysClr val="windowText" lastClr="000000"/>
              </a:solidFill>
              <a:latin typeface="Trebuchet MS" panose="020B0603020202020204" pitchFamily="34" charset="0"/>
              <a:cs typeface="Arial" panose="020B0604020202020204" pitchFamily="34" charset="0"/>
            </a:endParaRPr>
          </a:p>
          <a:p>
            <a:pPr marL="342900" indent="-342900">
              <a:buFont typeface="+mj-lt"/>
              <a:buAutoNum type="arabicPeriod"/>
            </a:pPr>
            <a:endParaRPr lang="en-US" kern="0" noProof="0">
              <a:solidFill>
                <a:sysClr val="windowText" lastClr="000000"/>
              </a:solidFill>
              <a:latin typeface="Trebuchet MS" panose="020B0603020202020204" pitchFamily="34" charset="0"/>
              <a:cs typeface="Arial" panose="020B0604020202020204" pitchFamily="34" charset="0"/>
            </a:endParaRPr>
          </a:p>
          <a:p>
            <a:endParaRPr lang="en-US" kern="0" noProof="0">
              <a:solidFill>
                <a:sysClr val="windowText" lastClr="000000"/>
              </a:solidFill>
              <a:latin typeface="Trebuchet MS" panose="020B0603020202020204" pitchFamily="34" charset="0"/>
              <a:cs typeface="Arial" panose="020B0604020202020204" pitchFamily="34" charset="0"/>
            </a:endParaRPr>
          </a:p>
          <a:p>
            <a:endParaRPr lang="en-US" kern="0" noProof="0">
              <a:solidFill>
                <a:sysClr val="windowText" lastClr="000000"/>
              </a:solidFill>
              <a:latin typeface="Trebuchet MS" panose="020B0603020202020204" pitchFamily="34" charset="0"/>
              <a:cs typeface="Arial" panose="020B0604020202020204" pitchFamily="34" charset="0"/>
            </a:endParaRPr>
          </a:p>
        </p:txBody>
      </p:sp>
      <p:graphicFrame>
        <p:nvGraphicFramePr>
          <p:cNvPr id="6" name="Diagram 5">
            <a:extLst>
              <a:ext uri="{FF2B5EF4-FFF2-40B4-BE49-F238E27FC236}">
                <a16:creationId xmlns:a16="http://schemas.microsoft.com/office/drawing/2014/main" id="{CCCACFAE-A132-4400-9E56-83527DBA58C4}"/>
              </a:ext>
            </a:extLst>
          </p:cNvPr>
          <p:cNvGraphicFramePr/>
          <p:nvPr>
            <p:extLst>
              <p:ext uri="{D42A27DB-BD31-4B8C-83A1-F6EECF244321}">
                <p14:modId xmlns:p14="http://schemas.microsoft.com/office/powerpoint/2010/main" val="1578149250"/>
              </p:ext>
            </p:extLst>
          </p:nvPr>
        </p:nvGraphicFramePr>
        <p:xfrm>
          <a:off x="8213264" y="2936929"/>
          <a:ext cx="2642464" cy="248246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161517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533400" y="345110"/>
            <a:ext cx="7239000" cy="553998"/>
          </a:xfrm>
        </p:spPr>
        <p:txBody>
          <a:bodyPr/>
          <a:lstStyle/>
          <a:p>
            <a:r>
              <a:rPr lang="en-US" sz="3600" noProof="0">
                <a:latin typeface="Trebuchet MS" panose="020B0603020202020204" pitchFamily="34" charset="0"/>
              </a:rPr>
              <a:t>Measure Modules</a:t>
            </a:r>
          </a:p>
        </p:txBody>
      </p:sp>
      <p:sp>
        <p:nvSpPr>
          <p:cNvPr id="9" name="TextBox 8">
            <a:extLst>
              <a:ext uri="{FF2B5EF4-FFF2-40B4-BE49-F238E27FC236}">
                <a16:creationId xmlns:a16="http://schemas.microsoft.com/office/drawing/2014/main" id="{C466EA28-7C2A-41C6-A28D-3948DA1E39D5}"/>
              </a:ext>
            </a:extLst>
          </p:cNvPr>
          <p:cNvSpPr txBox="1"/>
          <p:nvPr/>
        </p:nvSpPr>
        <p:spPr>
          <a:xfrm>
            <a:off x="414731" y="1532346"/>
            <a:ext cx="6843865" cy="369332"/>
          </a:xfrm>
          <a:prstGeom prst="rect">
            <a:avLst/>
          </a:prstGeom>
          <a:noFill/>
        </p:spPr>
        <p:txBody>
          <a:bodyPr wrap="square">
            <a:spAutoFit/>
          </a:bodyPr>
          <a:lstStyle/>
          <a:p>
            <a:r>
              <a:rPr lang="en-US" noProof="0">
                <a:solidFill>
                  <a:srgbClr val="002060"/>
                </a:solidFill>
                <a:latin typeface="Trebuchet MS" panose="020B0603020202020204" pitchFamily="34" charset="0"/>
                <a:cs typeface="Arial" panose="020B0604020202020204" pitchFamily="34" charset="0"/>
              </a:rPr>
              <a:t>5 modules you will study in </a:t>
            </a:r>
            <a:r>
              <a:rPr lang="en-US" b="1" noProof="0">
                <a:solidFill>
                  <a:srgbClr val="00B0F0"/>
                </a:solidFill>
                <a:latin typeface="Trebuchet MS" panose="020B0603020202020204" pitchFamily="34" charset="0"/>
                <a:cs typeface="Arial" panose="020B0604020202020204" pitchFamily="34" charset="0"/>
              </a:rPr>
              <a:t>Measure</a:t>
            </a:r>
            <a:r>
              <a:rPr lang="en-US" noProof="0">
                <a:solidFill>
                  <a:srgbClr val="00B0F0"/>
                </a:solidFill>
                <a:latin typeface="Trebuchet MS" panose="020B0603020202020204" pitchFamily="34" charset="0"/>
                <a:cs typeface="Arial" panose="020B0604020202020204" pitchFamily="34" charset="0"/>
              </a:rPr>
              <a:t>:</a:t>
            </a:r>
          </a:p>
        </p:txBody>
      </p:sp>
      <p:grpSp>
        <p:nvGrpSpPr>
          <p:cNvPr id="2" name="Group 1">
            <a:extLst>
              <a:ext uri="{FF2B5EF4-FFF2-40B4-BE49-F238E27FC236}">
                <a16:creationId xmlns:a16="http://schemas.microsoft.com/office/drawing/2014/main" id="{B49DF827-C956-4427-ADBC-30364D40F589}"/>
              </a:ext>
            </a:extLst>
          </p:cNvPr>
          <p:cNvGrpSpPr/>
          <p:nvPr/>
        </p:nvGrpSpPr>
        <p:grpSpPr>
          <a:xfrm>
            <a:off x="914400" y="2327460"/>
            <a:ext cx="3976114" cy="3696171"/>
            <a:chOff x="414731" y="2246942"/>
            <a:chExt cx="5491616" cy="4123418"/>
          </a:xfrm>
          <a:solidFill>
            <a:srgbClr val="00B0F0"/>
          </a:solidFill>
        </p:grpSpPr>
        <p:sp>
          <p:nvSpPr>
            <p:cNvPr id="11" name="Rectangle: Rounded Corners 10">
              <a:extLst>
                <a:ext uri="{FF2B5EF4-FFF2-40B4-BE49-F238E27FC236}">
                  <a16:creationId xmlns:a16="http://schemas.microsoft.com/office/drawing/2014/main" id="{58AC4F61-03E5-43E5-8DF4-E663A4539C56}"/>
                </a:ext>
              </a:extLst>
            </p:cNvPr>
            <p:cNvSpPr/>
            <p:nvPr/>
          </p:nvSpPr>
          <p:spPr>
            <a:xfrm>
              <a:off x="429548" y="2246942"/>
              <a:ext cx="5447167" cy="691633"/>
            </a:xfrm>
            <a:prstGeom prst="roundRect">
              <a:avLst/>
            </a:prstGeom>
            <a:grp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noProof="0">
                  <a:solidFill>
                    <a:schemeClr val="bg1"/>
                  </a:solidFill>
                  <a:latin typeface="Trebuchet MS" panose="020B0603020202020204" pitchFamily="34" charset="0"/>
                  <a:cs typeface="Arial" panose="020B0604020202020204" pitchFamily="34" charset="0"/>
                </a:rPr>
                <a:t>LSS10</a:t>
              </a:r>
              <a:r>
                <a:rPr lang="en-US" sz="1600" b="1" noProof="0">
                  <a:solidFill>
                    <a:schemeClr val="bg1"/>
                  </a:solidFill>
                  <a:latin typeface="Trebuchet MS" panose="020B0603020202020204" pitchFamily="34" charset="0"/>
                  <a:cs typeface="Arial" panose="020B0604020202020204" pitchFamily="34" charset="0"/>
                </a:rPr>
                <a:t>	Data</a:t>
              </a:r>
            </a:p>
          </p:txBody>
        </p:sp>
        <p:sp>
          <p:nvSpPr>
            <p:cNvPr id="12" name="Rectangle: Rounded Corners 11">
              <a:extLst>
                <a:ext uri="{FF2B5EF4-FFF2-40B4-BE49-F238E27FC236}">
                  <a16:creationId xmlns:a16="http://schemas.microsoft.com/office/drawing/2014/main" id="{F22C3B31-FD7C-4611-82B7-9B342AAD1CE8}"/>
                </a:ext>
              </a:extLst>
            </p:cNvPr>
            <p:cNvSpPr/>
            <p:nvPr/>
          </p:nvSpPr>
          <p:spPr>
            <a:xfrm>
              <a:off x="414732" y="3088982"/>
              <a:ext cx="5461983" cy="691633"/>
            </a:xfrm>
            <a:prstGeom prst="roundRect">
              <a:avLst/>
            </a:prstGeom>
            <a:grp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noProof="0">
                  <a:solidFill>
                    <a:schemeClr val="bg1"/>
                  </a:solidFill>
                  <a:latin typeface="Trebuchet MS" panose="020B0603020202020204" pitchFamily="34" charset="0"/>
                  <a:cs typeface="Arial" panose="020B0604020202020204" pitchFamily="34" charset="0"/>
                </a:rPr>
                <a:t>LSS11</a:t>
              </a:r>
              <a:r>
                <a:rPr lang="en-US" sz="1600" b="1" noProof="0">
                  <a:solidFill>
                    <a:schemeClr val="bg1"/>
                  </a:solidFill>
                  <a:latin typeface="Trebuchet MS" panose="020B0603020202020204" pitchFamily="34" charset="0"/>
                  <a:cs typeface="Arial" panose="020B0604020202020204" pitchFamily="34" charset="0"/>
                </a:rPr>
                <a:t>	Data Measurement &amp;       	Operational Definitions</a:t>
              </a:r>
            </a:p>
          </p:txBody>
        </p:sp>
        <p:sp>
          <p:nvSpPr>
            <p:cNvPr id="13" name="Rectangle: Rounded Corners 12">
              <a:extLst>
                <a:ext uri="{FF2B5EF4-FFF2-40B4-BE49-F238E27FC236}">
                  <a16:creationId xmlns:a16="http://schemas.microsoft.com/office/drawing/2014/main" id="{B23327B7-7889-4A50-A8DC-313F87F32979}"/>
                </a:ext>
              </a:extLst>
            </p:cNvPr>
            <p:cNvSpPr/>
            <p:nvPr/>
          </p:nvSpPr>
          <p:spPr>
            <a:xfrm>
              <a:off x="414731" y="3964729"/>
              <a:ext cx="5461983" cy="691633"/>
            </a:xfrm>
            <a:prstGeom prst="roundRect">
              <a:avLst/>
            </a:prstGeom>
            <a:grp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noProof="0">
                  <a:solidFill>
                    <a:schemeClr val="bg1"/>
                  </a:solidFill>
                  <a:latin typeface="Trebuchet MS" panose="020B0603020202020204" pitchFamily="34" charset="0"/>
                  <a:cs typeface="Arial" panose="020B0604020202020204" pitchFamily="34" charset="0"/>
                </a:rPr>
                <a:t>LSS12</a:t>
              </a:r>
              <a:r>
                <a:rPr lang="en-US" sz="1600" b="1" noProof="0">
                  <a:solidFill>
                    <a:schemeClr val="bg1"/>
                  </a:solidFill>
                  <a:latin typeface="Trebuchet MS" panose="020B0603020202020204" pitchFamily="34" charset="0"/>
                  <a:cs typeface="Arial" panose="020B0604020202020204" pitchFamily="34" charset="0"/>
                </a:rPr>
                <a:t> 	Data Verification</a:t>
              </a:r>
            </a:p>
          </p:txBody>
        </p:sp>
        <p:sp>
          <p:nvSpPr>
            <p:cNvPr id="14" name="Rectangle: Rounded Corners 13">
              <a:extLst>
                <a:ext uri="{FF2B5EF4-FFF2-40B4-BE49-F238E27FC236}">
                  <a16:creationId xmlns:a16="http://schemas.microsoft.com/office/drawing/2014/main" id="{495A1D16-887D-4C80-8022-24A5FE2E95A3}"/>
                </a:ext>
              </a:extLst>
            </p:cNvPr>
            <p:cNvSpPr/>
            <p:nvPr/>
          </p:nvSpPr>
          <p:spPr>
            <a:xfrm>
              <a:off x="414731" y="4840476"/>
              <a:ext cx="5476799" cy="691633"/>
            </a:xfrm>
            <a:prstGeom prst="roundRect">
              <a:avLst/>
            </a:prstGeom>
            <a:grp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noProof="0">
                  <a:solidFill>
                    <a:schemeClr val="bg1"/>
                  </a:solidFill>
                  <a:latin typeface="Trebuchet MS" panose="020B0603020202020204" pitchFamily="34" charset="0"/>
                  <a:cs typeface="Arial" panose="020B0604020202020204" pitchFamily="34" charset="0"/>
                </a:rPr>
                <a:t>LSS13</a:t>
              </a:r>
              <a:r>
                <a:rPr lang="en-US" sz="1600" b="1" noProof="0">
                  <a:solidFill>
                    <a:schemeClr val="bg1"/>
                  </a:solidFill>
                  <a:latin typeface="Trebuchet MS" panose="020B0603020202020204" pitchFamily="34" charset="0"/>
                  <a:cs typeface="Arial" panose="020B0604020202020204" pitchFamily="34" charset="0"/>
                </a:rPr>
                <a:t>	Basic Statistics</a:t>
              </a:r>
            </a:p>
          </p:txBody>
        </p:sp>
        <p:sp>
          <p:nvSpPr>
            <p:cNvPr id="15" name="Rectangle: Rounded Corners 14">
              <a:extLst>
                <a:ext uri="{FF2B5EF4-FFF2-40B4-BE49-F238E27FC236}">
                  <a16:creationId xmlns:a16="http://schemas.microsoft.com/office/drawing/2014/main" id="{F5F5BFDC-018A-4AC7-8AC8-5D79C0FF25D1}"/>
                </a:ext>
              </a:extLst>
            </p:cNvPr>
            <p:cNvSpPr/>
            <p:nvPr/>
          </p:nvSpPr>
          <p:spPr>
            <a:xfrm>
              <a:off x="429548" y="5678727"/>
              <a:ext cx="5476799" cy="691633"/>
            </a:xfrm>
            <a:prstGeom prst="roundRect">
              <a:avLst/>
            </a:prstGeom>
            <a:solidFill>
              <a:schemeClr val="accent5">
                <a:lumMod val="40000"/>
                <a:lumOff val="60000"/>
              </a:schemeClr>
            </a:solidFill>
            <a:ln w="57150">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noProof="0">
                  <a:solidFill>
                    <a:srgbClr val="24408D"/>
                  </a:solidFill>
                  <a:latin typeface="Trebuchet MS" panose="020B0603020202020204" pitchFamily="34" charset="0"/>
                  <a:cs typeface="Arial" panose="020B0604020202020204" pitchFamily="34" charset="0"/>
                </a:rPr>
                <a:t>LSS14</a:t>
              </a:r>
              <a:r>
                <a:rPr lang="en-US" sz="1600" b="1" noProof="0">
                  <a:solidFill>
                    <a:srgbClr val="24408D"/>
                  </a:solidFill>
                  <a:latin typeface="Trebuchet MS" panose="020B0603020202020204" pitchFamily="34" charset="0"/>
                  <a:cs typeface="Arial" panose="020B0604020202020204" pitchFamily="34" charset="0"/>
                </a:rPr>
                <a:t>	Summarizing Data</a:t>
              </a:r>
            </a:p>
          </p:txBody>
        </p:sp>
      </p:grpSp>
      <p:graphicFrame>
        <p:nvGraphicFramePr>
          <p:cNvPr id="17" name="Diagram 16">
            <a:extLst>
              <a:ext uri="{FF2B5EF4-FFF2-40B4-BE49-F238E27FC236}">
                <a16:creationId xmlns:a16="http://schemas.microsoft.com/office/drawing/2014/main" id="{9D5558A3-D634-4D96-8E8E-5EA065CD4EA2}"/>
              </a:ext>
            </a:extLst>
          </p:cNvPr>
          <p:cNvGraphicFramePr/>
          <p:nvPr>
            <p:extLst>
              <p:ext uri="{D42A27DB-BD31-4B8C-83A1-F6EECF244321}">
                <p14:modId xmlns:p14="http://schemas.microsoft.com/office/powerpoint/2010/main" val="3731136401"/>
              </p:ext>
            </p:extLst>
          </p:nvPr>
        </p:nvGraphicFramePr>
        <p:xfrm>
          <a:off x="4953000" y="1913826"/>
          <a:ext cx="5638800" cy="45234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36474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8" y="457200"/>
            <a:ext cx="5562600" cy="492443"/>
          </a:xfrm>
        </p:spPr>
        <p:txBody>
          <a:bodyPr/>
          <a:lstStyle/>
          <a:p>
            <a:r>
              <a:rPr lang="en-US" sz="3200" noProof="0">
                <a:solidFill>
                  <a:srgbClr val="FFC000"/>
                </a:solidFill>
                <a:latin typeface="Trebuchet MS" panose="020B0603020202020204" pitchFamily="34" charset="0"/>
              </a:rPr>
              <a:t>Module Learning Outcomes</a:t>
            </a:r>
          </a:p>
        </p:txBody>
      </p:sp>
      <p:pic>
        <p:nvPicPr>
          <p:cNvPr id="10" name="Picture 9" descr="Person working with laptop and notepad">
            <a:extLst>
              <a:ext uri="{FF2B5EF4-FFF2-40B4-BE49-F238E27FC236}">
                <a16:creationId xmlns:a16="http://schemas.microsoft.com/office/drawing/2014/main" id="{B10F143C-6FB9-432F-A6D2-05F04FC0F3A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376" b="13354"/>
          <a:stretch/>
        </p:blipFill>
        <p:spPr>
          <a:xfrm>
            <a:off x="7179726" y="2438400"/>
            <a:ext cx="5012274" cy="2819400"/>
          </a:xfrm>
          <a:prstGeom prst="rect">
            <a:avLst/>
          </a:prstGeom>
        </p:spPr>
      </p:pic>
      <p:graphicFrame>
        <p:nvGraphicFramePr>
          <p:cNvPr id="12" name="Table 12">
            <a:extLst>
              <a:ext uri="{FF2B5EF4-FFF2-40B4-BE49-F238E27FC236}">
                <a16:creationId xmlns:a16="http://schemas.microsoft.com/office/drawing/2014/main" id="{EF9E26F7-5659-4DE6-8C31-180EC39A74F4}"/>
              </a:ext>
            </a:extLst>
          </p:cNvPr>
          <p:cNvGraphicFramePr>
            <a:graphicFrameLocks noGrp="1"/>
          </p:cNvGraphicFramePr>
          <p:nvPr>
            <p:extLst>
              <p:ext uri="{D42A27DB-BD31-4B8C-83A1-F6EECF244321}">
                <p14:modId xmlns:p14="http://schemas.microsoft.com/office/powerpoint/2010/main" val="4040297196"/>
              </p:ext>
            </p:extLst>
          </p:nvPr>
        </p:nvGraphicFramePr>
        <p:xfrm>
          <a:off x="487868" y="2210271"/>
          <a:ext cx="6095812" cy="3925861"/>
        </p:xfrm>
        <a:graphic>
          <a:graphicData uri="http://schemas.openxmlformats.org/drawingml/2006/table">
            <a:tbl>
              <a:tblPr firstRow="1" bandRow="1">
                <a:tableStyleId>{5C22544A-7EE6-4342-B048-85BDC9FD1C3A}</a:tableStyleId>
              </a:tblPr>
              <a:tblGrid>
                <a:gridCol w="6095812">
                  <a:extLst>
                    <a:ext uri="{9D8B030D-6E8A-4147-A177-3AD203B41FA5}">
                      <a16:colId xmlns:a16="http://schemas.microsoft.com/office/drawing/2014/main" val="3720059813"/>
                    </a:ext>
                  </a:extLst>
                </a:gridCol>
              </a:tblGrid>
              <a:tr h="441489">
                <a:tc>
                  <a:txBody>
                    <a:bodyPr/>
                    <a:lstStyle/>
                    <a:p>
                      <a:r>
                        <a:rPr lang="en-US" noProof="0">
                          <a:solidFill>
                            <a:schemeClr val="bg1"/>
                          </a:solidFill>
                          <a:latin typeface="Arial" panose="020B0604020202020204" pitchFamily="34" charset="0"/>
                          <a:cs typeface="Arial" panose="020B0604020202020204" pitchFamily="34" charset="0"/>
                        </a:rPr>
                        <a:t>Summarizing Data – LSS14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152283500"/>
                  </a:ext>
                </a:extLst>
              </a:tr>
              <a:tr h="2655272">
                <a:tc>
                  <a:txBody>
                    <a:bodyPr/>
                    <a:lstStyle/>
                    <a:p>
                      <a:pPr marL="0" lvl="0" indent="0" algn="l">
                        <a:lnSpc>
                          <a:spcPct val="120000"/>
                        </a:lnSpc>
                        <a:buFont typeface="Wingdings" panose="05000000000000000000" pitchFamily="2" charset="2"/>
                        <a:buNone/>
                      </a:pPr>
                      <a:endParaRPr lang="en-US" sz="1600" b="0" noProof="0">
                        <a:solidFill>
                          <a:srgbClr val="808080"/>
                        </a:solidFill>
                        <a:effectLst/>
                        <a:latin typeface="Arial" panose="020B0604020202020204" pitchFamily="34" charset="0"/>
                        <a:cs typeface="Arial" panose="020B0604020202020204" pitchFamily="34" charset="0"/>
                      </a:endParaRPr>
                    </a:p>
                    <a:p>
                      <a:pPr marL="0" lvl="0" indent="0" algn="l">
                        <a:lnSpc>
                          <a:spcPct val="120000"/>
                        </a:lnSpc>
                        <a:buFont typeface="Wingdings" panose="05000000000000000000" pitchFamily="2" charset="2"/>
                        <a:buNone/>
                      </a:pPr>
                      <a:r>
                        <a:rPr lang="en-US" sz="1800" b="0" noProof="0">
                          <a:solidFill>
                            <a:srgbClr val="002060"/>
                          </a:solidFill>
                          <a:effectLst/>
                          <a:latin typeface="Arial" panose="020B0604020202020204" pitchFamily="34" charset="0"/>
                          <a:cs typeface="Arial" panose="020B0604020202020204" pitchFamily="34" charset="0"/>
                        </a:rPr>
                        <a:t>By the end of this module, you will:</a:t>
                      </a:r>
                    </a:p>
                    <a:p>
                      <a:pPr marL="0" lvl="0" indent="0" algn="ctr">
                        <a:lnSpc>
                          <a:spcPct val="120000"/>
                        </a:lnSpc>
                        <a:buFont typeface="Wingdings" panose="05000000000000000000" pitchFamily="2" charset="2"/>
                        <a:buNone/>
                      </a:pPr>
                      <a:endParaRPr lang="en-US" sz="1800" b="0" noProof="0">
                        <a:solidFill>
                          <a:srgbClr val="002060"/>
                        </a:solidFill>
                        <a:effectLst/>
                        <a:latin typeface="Arial" panose="020B0604020202020204" pitchFamily="34" charset="0"/>
                        <a:cs typeface="Arial" panose="020B0604020202020204" pitchFamily="34" charset="0"/>
                      </a:endParaRPr>
                    </a:p>
                    <a:p>
                      <a:pPr marL="285750" lvl="0" indent="-285750" algn="l">
                        <a:lnSpc>
                          <a:spcPct val="120000"/>
                        </a:lnSpc>
                        <a:buFont typeface="Wingdings" panose="05000000000000000000" pitchFamily="2" charset="2"/>
                        <a:buChar char="q"/>
                      </a:pPr>
                      <a:r>
                        <a:rPr lang="en-US" sz="1800" b="0" noProof="0">
                          <a:solidFill>
                            <a:srgbClr val="002060"/>
                          </a:solidFill>
                          <a:effectLst/>
                          <a:latin typeface="Arial" panose="020B0604020202020204" pitchFamily="34" charset="0"/>
                          <a:cs typeface="Arial" panose="020B0604020202020204" pitchFamily="34" charset="0"/>
                        </a:rPr>
                        <a:t>Understand the meaning of defects and yield.</a:t>
                      </a:r>
                    </a:p>
                    <a:p>
                      <a:pPr marL="285750" lvl="0" indent="-285750" algn="l">
                        <a:lnSpc>
                          <a:spcPct val="120000"/>
                        </a:lnSpc>
                        <a:buFont typeface="Wingdings" panose="05000000000000000000" pitchFamily="2" charset="2"/>
                        <a:buChar char="q"/>
                      </a:pPr>
                      <a:r>
                        <a:rPr lang="en-US" sz="1800" b="0" noProof="0">
                          <a:solidFill>
                            <a:srgbClr val="002060"/>
                          </a:solidFill>
                          <a:effectLst/>
                          <a:latin typeface="Arial" panose="020B0604020202020204" pitchFamily="34" charset="0"/>
                          <a:cs typeface="Arial" panose="020B0604020202020204" pitchFamily="34" charset="0"/>
                        </a:rPr>
                        <a:t>Understand the meaning of process baseline and sigma.</a:t>
                      </a:r>
                    </a:p>
                    <a:p>
                      <a:pPr marL="285750" lvl="0" indent="-285750" algn="l">
                        <a:lnSpc>
                          <a:spcPct val="120000"/>
                        </a:lnSpc>
                        <a:buFont typeface="Wingdings" panose="05000000000000000000" pitchFamily="2" charset="2"/>
                        <a:buChar char="q"/>
                      </a:pPr>
                      <a:r>
                        <a:rPr lang="en-US" sz="1800" b="0" noProof="0">
                          <a:solidFill>
                            <a:srgbClr val="002060"/>
                          </a:solidFill>
                          <a:effectLst/>
                          <a:latin typeface="Arial" panose="020B0604020202020204" pitchFamily="34" charset="0"/>
                          <a:cs typeface="Arial" panose="020B0604020202020204" pitchFamily="34" charset="0"/>
                        </a:rPr>
                        <a:t>Be able to calculate defects and opportunities.</a:t>
                      </a:r>
                    </a:p>
                    <a:p>
                      <a:pPr marL="285750" lvl="0" indent="-285750" algn="l">
                        <a:lnSpc>
                          <a:spcPct val="120000"/>
                        </a:lnSpc>
                        <a:buFont typeface="Wingdings" panose="05000000000000000000" pitchFamily="2" charset="2"/>
                        <a:buChar char="q"/>
                      </a:pPr>
                      <a:r>
                        <a:rPr lang="en-US" sz="1800" b="0" noProof="0">
                          <a:solidFill>
                            <a:srgbClr val="002060"/>
                          </a:solidFill>
                          <a:effectLst/>
                          <a:latin typeface="Arial"/>
                          <a:cs typeface="Arial"/>
                        </a:rPr>
                        <a:t>Understand and be able to apply 'Final Yield' and 'Rolled Throughput Yield'.</a:t>
                      </a:r>
                    </a:p>
                    <a:p>
                      <a:pPr marL="457200" lvl="1" indent="0" algn="l">
                        <a:lnSpc>
                          <a:spcPct val="120000"/>
                        </a:lnSpc>
                        <a:buFont typeface="Wingdings" panose="05000000000000000000" pitchFamily="2" charset="2"/>
                        <a:buNone/>
                      </a:pPr>
                      <a:endParaRPr lang="en-US" sz="1600" b="0" noProof="0">
                        <a:solidFill>
                          <a:srgbClr val="24408D"/>
                        </a:solidFill>
                        <a:effectLst/>
                        <a:latin typeface="Arial" panose="020B0604020202020204" pitchFamily="34" charset="0"/>
                        <a:cs typeface="Arial" panose="020B0604020202020204" pitchFamily="34" charset="0"/>
                      </a:endParaRPr>
                    </a:p>
                    <a:p>
                      <a:pPr marL="457200" lvl="1" indent="0" algn="r">
                        <a:lnSpc>
                          <a:spcPct val="120000"/>
                        </a:lnSpc>
                        <a:buFont typeface="Wingdings" panose="05000000000000000000" pitchFamily="2" charset="2"/>
                        <a:buNone/>
                      </a:pPr>
                      <a:endParaRPr lang="en-US" sz="1600" b="0" noProof="0">
                        <a:solidFill>
                          <a:srgbClr val="24408D"/>
                        </a:solidFill>
                        <a:effectLst/>
                        <a:latin typeface="Arial" panose="020B060402020202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8752962"/>
                  </a:ext>
                </a:extLst>
              </a:tr>
            </a:tbl>
          </a:graphicData>
        </a:graphic>
      </p:graphicFrame>
    </p:spTree>
    <p:extLst>
      <p:ext uri="{BB962C8B-B14F-4D97-AF65-F5344CB8AC3E}">
        <p14:creationId xmlns:p14="http://schemas.microsoft.com/office/powerpoint/2010/main" val="3899145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DFD83-5514-3A6F-404F-28B3B446A43A}"/>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7089EA57-79A9-E8E1-2AE8-3CF3C1D1832E}"/>
              </a:ext>
            </a:extLst>
          </p:cNvPr>
          <p:cNvSpPr>
            <a:spLocks noGrp="1"/>
          </p:cNvSpPr>
          <p:nvPr>
            <p:ph type="body" sz="quarter" idx="10"/>
          </p:nvPr>
        </p:nvSpPr>
        <p:spPr>
          <a:xfrm>
            <a:off x="533400" y="4343400"/>
            <a:ext cx="5562600" cy="1477328"/>
          </a:xfrm>
        </p:spPr>
        <p:txBody>
          <a:bodyPr/>
          <a:lstStyle/>
          <a:p>
            <a:r>
              <a:rPr lang="en-US" sz="3200" noProof="0">
                <a:latin typeface="Trebuchet MS" panose="020B0603020202020204" pitchFamily="34" charset="0"/>
              </a:rPr>
              <a:t>Definition of Process Defects and Yields</a:t>
            </a:r>
          </a:p>
          <a:p>
            <a:endParaRPr lang="en-US" sz="3200" noProof="0">
              <a:latin typeface="Trebuchet MS" panose="020B0603020202020204" pitchFamily="34" charset="0"/>
            </a:endParaRPr>
          </a:p>
        </p:txBody>
      </p:sp>
      <p:sp>
        <p:nvSpPr>
          <p:cNvPr id="7" name="Text Placeholder 6">
            <a:extLst>
              <a:ext uri="{FF2B5EF4-FFF2-40B4-BE49-F238E27FC236}">
                <a16:creationId xmlns:a16="http://schemas.microsoft.com/office/drawing/2014/main" id="{725F049F-A379-E595-4C10-298FFA0F51E3}"/>
              </a:ext>
            </a:extLst>
          </p:cNvPr>
          <p:cNvSpPr>
            <a:spLocks noGrp="1"/>
          </p:cNvSpPr>
          <p:nvPr>
            <p:ph type="body" sz="quarter" idx="12"/>
          </p:nvPr>
        </p:nvSpPr>
        <p:spPr>
          <a:xfrm>
            <a:off x="530280" y="3505200"/>
            <a:ext cx="914400" cy="492443"/>
          </a:xfrm>
        </p:spPr>
        <p:txBody>
          <a:bodyPr/>
          <a:lstStyle/>
          <a:p>
            <a:r>
              <a:rPr lang="en-US" sz="3200" noProof="0"/>
              <a:t>01</a:t>
            </a:r>
          </a:p>
        </p:txBody>
      </p:sp>
      <p:sp>
        <p:nvSpPr>
          <p:cNvPr id="2" name="Text Placeholder 5">
            <a:extLst>
              <a:ext uri="{FF2B5EF4-FFF2-40B4-BE49-F238E27FC236}">
                <a16:creationId xmlns:a16="http://schemas.microsoft.com/office/drawing/2014/main" id="{98AC456C-13D8-CD06-FDD3-A3E1608AEB80}"/>
              </a:ext>
            </a:extLst>
          </p:cNvPr>
          <p:cNvSpPr>
            <a:spLocks noGrp="1"/>
          </p:cNvSpPr>
          <p:nvPr>
            <p:ph type="body" sz="quarter" idx="11"/>
          </p:nvPr>
        </p:nvSpPr>
        <p:spPr>
          <a:xfrm>
            <a:off x="533400" y="5971962"/>
            <a:ext cx="2743200" cy="384721"/>
          </a:xfrm>
        </p:spPr>
        <p:txBody>
          <a:bodyPr/>
          <a:lstStyle/>
          <a:p>
            <a:r>
              <a:rPr lang="en-US" noProof="0">
                <a:latin typeface="Trebuchet MS" panose="020B0603020202020204" pitchFamily="34" charset="0"/>
              </a:rPr>
              <a:t>Summarizing Data</a:t>
            </a:r>
          </a:p>
        </p:txBody>
      </p:sp>
    </p:spTree>
    <p:extLst>
      <p:ext uri="{BB962C8B-B14F-4D97-AF65-F5344CB8AC3E}">
        <p14:creationId xmlns:p14="http://schemas.microsoft.com/office/powerpoint/2010/main" val="1488107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cxnSp>
        <p:nvCxnSpPr>
          <p:cNvPr id="28" name="Straight Connector 27">
            <a:extLst>
              <a:ext uri="{FF2B5EF4-FFF2-40B4-BE49-F238E27FC236}">
                <a16:creationId xmlns:a16="http://schemas.microsoft.com/office/drawing/2014/main" id="{E49A4BA2-4A7A-F011-C496-3C36550E4024}"/>
              </a:ext>
            </a:extLst>
          </p:cNvPr>
          <p:cNvCxnSpPr>
            <a:cxnSpLocks/>
          </p:cNvCxnSpPr>
          <p:nvPr/>
        </p:nvCxnSpPr>
        <p:spPr>
          <a:xfrm flipV="1">
            <a:off x="11189308" y="4333280"/>
            <a:ext cx="1" cy="747413"/>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E8E8C6D-5A57-F25A-5C4B-902E7B5CD7EF}"/>
              </a:ext>
            </a:extLst>
          </p:cNvPr>
          <p:cNvCxnSpPr/>
          <p:nvPr/>
        </p:nvCxnSpPr>
        <p:spPr>
          <a:xfrm flipV="1">
            <a:off x="8305800" y="4352330"/>
            <a:ext cx="1" cy="62662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F1FD6FA-C96A-67F8-458A-C98ED0320E33}"/>
              </a:ext>
            </a:extLst>
          </p:cNvPr>
          <p:cNvCxnSpPr/>
          <p:nvPr/>
        </p:nvCxnSpPr>
        <p:spPr>
          <a:xfrm>
            <a:off x="9906000" y="2819400"/>
            <a:ext cx="1" cy="60960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5A0EBB-E0EF-166F-A6E2-3B0D0E8BAF98}"/>
              </a:ext>
            </a:extLst>
          </p:cNvPr>
          <p:cNvCxnSpPr>
            <a:stCxn id="9" idx="0"/>
          </p:cNvCxnSpPr>
          <p:nvPr/>
        </p:nvCxnSpPr>
        <p:spPr>
          <a:xfrm flipH="1" flipV="1">
            <a:off x="7162800" y="2819400"/>
            <a:ext cx="12092" cy="59055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E9911927-3587-48BC-9B6B-B4B2DA17C1F9}"/>
              </a:ext>
            </a:extLst>
          </p:cNvPr>
          <p:cNvSpPr>
            <a:spLocks noGrp="1"/>
          </p:cNvSpPr>
          <p:nvPr>
            <p:ph type="body" sz="quarter" idx="10"/>
          </p:nvPr>
        </p:nvSpPr>
        <p:spPr>
          <a:xfrm>
            <a:off x="533400" y="381000"/>
            <a:ext cx="5562600" cy="492443"/>
          </a:xfrm>
        </p:spPr>
        <p:txBody>
          <a:bodyPr/>
          <a:lstStyle/>
          <a:p>
            <a:r>
              <a:rPr lang="en-US" sz="3200" noProof="0">
                <a:latin typeface="Trebuchet MS" panose="020B0603020202020204" pitchFamily="34" charset="0"/>
              </a:rPr>
              <a:t>Definition - Defects</a:t>
            </a:r>
          </a:p>
        </p:txBody>
      </p:sp>
      <p:sp>
        <p:nvSpPr>
          <p:cNvPr id="3" name="Text Placeholder 2">
            <a:extLst>
              <a:ext uri="{FF2B5EF4-FFF2-40B4-BE49-F238E27FC236}">
                <a16:creationId xmlns:a16="http://schemas.microsoft.com/office/drawing/2014/main" id="{D38215AE-C54B-4319-99B1-6B6823C39B5A}"/>
              </a:ext>
            </a:extLst>
          </p:cNvPr>
          <p:cNvSpPr>
            <a:spLocks noGrp="1"/>
          </p:cNvSpPr>
          <p:nvPr>
            <p:ph type="body" sz="quarter" idx="12"/>
          </p:nvPr>
        </p:nvSpPr>
        <p:spPr>
          <a:xfrm>
            <a:off x="554101" y="1834827"/>
            <a:ext cx="11083797" cy="307777"/>
          </a:xfrm>
        </p:spPr>
        <p:txBody>
          <a:bodyPr/>
          <a:lstStyle/>
          <a:p>
            <a:r>
              <a:rPr lang="en-US" sz="2000" kern="1200" noProof="0">
                <a:solidFill>
                  <a:srgbClr val="002060"/>
                </a:solidFill>
                <a:latin typeface="Trebuchet MS" panose="020B0603020202020204" pitchFamily="34" charset="0"/>
              </a:rPr>
              <a:t>Defects are defined as:</a:t>
            </a:r>
          </a:p>
        </p:txBody>
      </p:sp>
      <p:sp>
        <p:nvSpPr>
          <p:cNvPr id="4" name="Text Placeholder 3">
            <a:extLst>
              <a:ext uri="{FF2B5EF4-FFF2-40B4-BE49-F238E27FC236}">
                <a16:creationId xmlns:a16="http://schemas.microsoft.com/office/drawing/2014/main" id="{F020F3DC-7B98-4B11-B5B6-9879F8EE323E}"/>
              </a:ext>
            </a:extLst>
          </p:cNvPr>
          <p:cNvSpPr>
            <a:spLocks noGrp="1"/>
          </p:cNvSpPr>
          <p:nvPr>
            <p:ph type="body" sz="quarter" idx="13"/>
          </p:nvPr>
        </p:nvSpPr>
        <p:spPr>
          <a:xfrm>
            <a:off x="576090" y="2362200"/>
            <a:ext cx="5638800" cy="3231654"/>
          </a:xfrm>
        </p:spPr>
        <p:txBody>
          <a:bodyPr/>
          <a:lstStyle/>
          <a:p>
            <a:pPr marL="342900" indent="-342900">
              <a:buFont typeface="Arial" panose="020B0604020202020204" pitchFamily="34" charset="0"/>
              <a:buChar char="•"/>
            </a:pPr>
            <a:r>
              <a:rPr lang="en-US" noProof="0">
                <a:solidFill>
                  <a:srgbClr val="002060"/>
                </a:solidFill>
                <a:latin typeface="Trebuchet MS" panose="020B0603020202020204" pitchFamily="34" charset="0"/>
              </a:rPr>
              <a:t>Outputs that do not meet expected results. </a:t>
            </a:r>
          </a:p>
          <a:p>
            <a:pPr marL="342900" indent="-342900">
              <a:buFont typeface="Arial" panose="020B0604020202020204" pitchFamily="34" charset="0"/>
              <a:buChar char="•"/>
            </a:pPr>
            <a:r>
              <a:rPr lang="en-US" noProof="0">
                <a:solidFill>
                  <a:srgbClr val="002060"/>
                </a:solidFill>
                <a:latin typeface="Trebuchet MS" panose="020B0603020202020204" pitchFamily="34" charset="0"/>
              </a:rPr>
              <a:t>Customer requirements not achieved.</a:t>
            </a:r>
          </a:p>
          <a:p>
            <a:pPr marL="342900" indent="-342900">
              <a:buFont typeface="Arial" panose="020B0604020202020204" pitchFamily="34" charset="0"/>
              <a:buChar char="•"/>
            </a:pPr>
            <a:r>
              <a:rPr lang="en-US" noProof="0">
                <a:solidFill>
                  <a:srgbClr val="002060"/>
                </a:solidFill>
                <a:latin typeface="Trebuchet MS" panose="020B0603020202020204" pitchFamily="34" charset="0"/>
              </a:rPr>
              <a:t>Variation or human error.</a:t>
            </a:r>
          </a:p>
          <a:p>
            <a:pPr marL="342900" indent="-342900">
              <a:buFont typeface="Arial" panose="020B0604020202020204" pitchFamily="34" charset="0"/>
              <a:buChar char="•"/>
            </a:pPr>
            <a:r>
              <a:rPr lang="en-US" noProof="0">
                <a:solidFill>
                  <a:srgbClr val="002060"/>
                </a:solidFill>
                <a:latin typeface="Trebuchet MS" panose="020B0603020202020204" pitchFamily="34" charset="0"/>
              </a:rPr>
              <a:t>Waste or rework.</a:t>
            </a:r>
          </a:p>
          <a:p>
            <a:endParaRPr lang="en-US" noProof="0">
              <a:solidFill>
                <a:srgbClr val="002060"/>
              </a:solidFill>
              <a:latin typeface="Trebuchet MS" panose="020B0603020202020204" pitchFamily="34" charset="0"/>
            </a:endParaRPr>
          </a:p>
          <a:p>
            <a:r>
              <a:rPr lang="en-US" noProof="0">
                <a:solidFill>
                  <a:srgbClr val="002060"/>
                </a:solidFill>
                <a:latin typeface="Trebuchet MS" panose="020B0603020202020204" pitchFamily="34" charset="0"/>
              </a:rPr>
              <a:t>We measure defect risk using Failure Mode and Effect Analysis (FMEA) which we will explore in greater detail at various points in DMAIC. </a:t>
            </a:r>
          </a:p>
          <a:p>
            <a:endParaRPr lang="en-US" sz="1600" b="0" i="0" noProof="0">
              <a:solidFill>
                <a:srgbClr val="002060"/>
              </a:solidFill>
              <a:effectLst/>
              <a:latin typeface="Trebuchet MS" panose="020B0603020202020204" pitchFamily="34" charset="0"/>
            </a:endParaRPr>
          </a:p>
          <a:p>
            <a:endParaRPr lang="en-US" sz="1600" noProof="0">
              <a:solidFill>
                <a:srgbClr val="002060"/>
              </a:solidFill>
              <a:latin typeface="Trebuchet MS" panose="020B0603020202020204" pitchFamily="34" charset="0"/>
            </a:endParaRPr>
          </a:p>
          <a:p>
            <a:endParaRPr lang="en-US" sz="1800" noProof="0">
              <a:solidFill>
                <a:srgbClr val="002060"/>
              </a:solidFill>
              <a:latin typeface="Trebuchet MS" panose="020B0603020202020204" pitchFamily="34" charset="0"/>
            </a:endParaRPr>
          </a:p>
        </p:txBody>
      </p:sp>
      <p:pic>
        <p:nvPicPr>
          <p:cNvPr id="6" name="Picture 5">
            <a:extLst>
              <a:ext uri="{FF2B5EF4-FFF2-40B4-BE49-F238E27FC236}">
                <a16:creationId xmlns:a16="http://schemas.microsoft.com/office/drawing/2014/main" id="{A8B2F9FA-FC6E-13F2-1C51-458800262A4A}"/>
              </a:ext>
            </a:extLst>
          </p:cNvPr>
          <p:cNvPicPr>
            <a:picLocks noChangeAspect="1"/>
          </p:cNvPicPr>
          <p:nvPr/>
        </p:nvPicPr>
        <p:blipFill>
          <a:blip r:embed="rId3"/>
          <a:srcRect t="28775" b="34658"/>
          <a:stretch>
            <a:fillRect/>
          </a:stretch>
        </p:blipFill>
        <p:spPr>
          <a:xfrm>
            <a:off x="5583388" y="3019425"/>
            <a:ext cx="7294412" cy="1778242"/>
          </a:xfrm>
          <a:prstGeom prst="rect">
            <a:avLst/>
          </a:prstGeom>
        </p:spPr>
      </p:pic>
      <p:sp>
        <p:nvSpPr>
          <p:cNvPr id="8" name="Rectangle 7">
            <a:extLst>
              <a:ext uri="{FF2B5EF4-FFF2-40B4-BE49-F238E27FC236}">
                <a16:creationId xmlns:a16="http://schemas.microsoft.com/office/drawing/2014/main" id="{E1FBD052-3B58-1BB1-AA8B-BE4F9B38BBE3}"/>
              </a:ext>
            </a:extLst>
          </p:cNvPr>
          <p:cNvSpPr/>
          <p:nvPr/>
        </p:nvSpPr>
        <p:spPr>
          <a:xfrm>
            <a:off x="10892593" y="3429000"/>
            <a:ext cx="593432" cy="923330"/>
          </a:xfrm>
          <a:prstGeom prst="rect">
            <a:avLst/>
          </a:prstGeom>
          <a:noFill/>
        </p:spPr>
        <p:txBody>
          <a:bodyPr wrap="none" lIns="91440" tIns="45720" rIns="91440" bIns="45720">
            <a:spAutoFit/>
          </a:bodyPr>
          <a:lstStyle/>
          <a:p>
            <a:pPr algn="ctr"/>
            <a:r>
              <a:rPr lang="en-US" sz="5400" b="0" cap="none" spc="0" noProof="0">
                <a:ln w="0"/>
                <a:solidFill>
                  <a:schemeClr val="bg1"/>
                </a:solidFill>
                <a:effectLst>
                  <a:outerShdw blurRad="38100" dist="19050" dir="2700000" algn="tl" rotWithShape="0">
                    <a:schemeClr val="dk1">
                      <a:alpha val="40000"/>
                    </a:schemeClr>
                  </a:outerShdw>
                </a:effectLst>
                <a:latin typeface="Trebuchet MS" panose="020B0603020202020204" pitchFamily="34" charset="0"/>
              </a:rPr>
              <a:t>A</a:t>
            </a:r>
          </a:p>
        </p:txBody>
      </p:sp>
      <p:sp>
        <p:nvSpPr>
          <p:cNvPr id="9" name="Rectangle 8">
            <a:extLst>
              <a:ext uri="{FF2B5EF4-FFF2-40B4-BE49-F238E27FC236}">
                <a16:creationId xmlns:a16="http://schemas.microsoft.com/office/drawing/2014/main" id="{BDDDD9D6-9616-A6F6-4BE1-309467F313D4}"/>
              </a:ext>
            </a:extLst>
          </p:cNvPr>
          <p:cNvSpPr/>
          <p:nvPr/>
        </p:nvSpPr>
        <p:spPr>
          <a:xfrm>
            <a:off x="6900618" y="3409950"/>
            <a:ext cx="548548" cy="923330"/>
          </a:xfrm>
          <a:prstGeom prst="rect">
            <a:avLst/>
          </a:prstGeom>
          <a:noFill/>
        </p:spPr>
        <p:txBody>
          <a:bodyPr wrap="none" lIns="91440" tIns="45720" rIns="91440" bIns="45720">
            <a:spAutoFit/>
          </a:bodyPr>
          <a:lstStyle/>
          <a:p>
            <a:pPr algn="ctr"/>
            <a:r>
              <a:rPr lang="en-US" sz="5400" noProof="0">
                <a:ln w="0"/>
                <a:solidFill>
                  <a:schemeClr val="bg1"/>
                </a:solidFill>
                <a:effectLst>
                  <a:outerShdw blurRad="38100" dist="19050" dir="2700000" algn="tl" rotWithShape="0">
                    <a:schemeClr val="dk1">
                      <a:alpha val="40000"/>
                    </a:schemeClr>
                  </a:outerShdw>
                </a:effectLst>
                <a:latin typeface="Trebuchet MS" panose="020B0603020202020204" pitchFamily="34" charset="0"/>
              </a:rPr>
              <a:t>F</a:t>
            </a:r>
            <a:endParaRPr lang="en-US" sz="5400" b="0" cap="none" spc="0" noProof="0">
              <a:ln w="0"/>
              <a:solidFill>
                <a:schemeClr val="bg1"/>
              </a:solidFill>
              <a:effectLst>
                <a:outerShdw blurRad="38100" dist="19050" dir="2700000" algn="tl" rotWithShape="0">
                  <a:schemeClr val="dk1">
                    <a:alpha val="40000"/>
                  </a:schemeClr>
                </a:outerShdw>
              </a:effectLst>
              <a:latin typeface="Trebuchet MS" panose="020B0603020202020204" pitchFamily="34" charset="0"/>
            </a:endParaRPr>
          </a:p>
        </p:txBody>
      </p:sp>
      <p:sp>
        <p:nvSpPr>
          <p:cNvPr id="10" name="Rectangle 9">
            <a:extLst>
              <a:ext uri="{FF2B5EF4-FFF2-40B4-BE49-F238E27FC236}">
                <a16:creationId xmlns:a16="http://schemas.microsoft.com/office/drawing/2014/main" id="{CFFF157D-A1E4-AC70-AC69-CCE4E606664A}"/>
              </a:ext>
            </a:extLst>
          </p:cNvPr>
          <p:cNvSpPr/>
          <p:nvPr/>
        </p:nvSpPr>
        <p:spPr>
          <a:xfrm>
            <a:off x="8134894" y="3420070"/>
            <a:ext cx="675185" cy="923330"/>
          </a:xfrm>
          <a:prstGeom prst="rect">
            <a:avLst/>
          </a:prstGeom>
          <a:noFill/>
        </p:spPr>
        <p:txBody>
          <a:bodyPr wrap="none" lIns="91440" tIns="45720" rIns="91440" bIns="45720">
            <a:spAutoFit/>
          </a:bodyPr>
          <a:lstStyle/>
          <a:p>
            <a:pPr algn="ctr"/>
            <a:r>
              <a:rPr lang="en-US" sz="5400" noProof="0">
                <a:ln w="0"/>
                <a:solidFill>
                  <a:schemeClr val="bg1"/>
                </a:solidFill>
                <a:effectLst>
                  <a:outerShdw blurRad="38100" dist="19050" dir="2700000" algn="tl" rotWithShape="0">
                    <a:schemeClr val="dk1">
                      <a:alpha val="40000"/>
                    </a:schemeClr>
                  </a:outerShdw>
                </a:effectLst>
                <a:latin typeface="Trebuchet MS" panose="020B0603020202020204" pitchFamily="34" charset="0"/>
              </a:rPr>
              <a:t>M</a:t>
            </a:r>
            <a:endParaRPr lang="en-US" sz="5400" b="0" cap="none" spc="0" noProof="0">
              <a:ln w="0"/>
              <a:solidFill>
                <a:schemeClr val="bg1"/>
              </a:solidFill>
              <a:effectLst>
                <a:outerShdw blurRad="38100" dist="19050" dir="2700000" algn="tl" rotWithShape="0">
                  <a:schemeClr val="dk1">
                    <a:alpha val="40000"/>
                  </a:schemeClr>
                </a:outerShdw>
              </a:effectLst>
              <a:latin typeface="Trebuchet MS" panose="020B0603020202020204" pitchFamily="34" charset="0"/>
            </a:endParaRPr>
          </a:p>
        </p:txBody>
      </p:sp>
      <p:sp>
        <p:nvSpPr>
          <p:cNvPr id="11" name="Rectangle 10">
            <a:extLst>
              <a:ext uri="{FF2B5EF4-FFF2-40B4-BE49-F238E27FC236}">
                <a16:creationId xmlns:a16="http://schemas.microsoft.com/office/drawing/2014/main" id="{5DB59B76-D31B-624D-E940-3E8D2E48C726}"/>
              </a:ext>
            </a:extLst>
          </p:cNvPr>
          <p:cNvSpPr/>
          <p:nvPr/>
        </p:nvSpPr>
        <p:spPr>
          <a:xfrm>
            <a:off x="9528124" y="3409950"/>
            <a:ext cx="554960" cy="923330"/>
          </a:xfrm>
          <a:prstGeom prst="rect">
            <a:avLst/>
          </a:prstGeom>
          <a:noFill/>
        </p:spPr>
        <p:txBody>
          <a:bodyPr wrap="none" lIns="91440" tIns="45720" rIns="91440" bIns="45720">
            <a:spAutoFit/>
          </a:bodyPr>
          <a:lstStyle/>
          <a:p>
            <a:pPr algn="ctr"/>
            <a:r>
              <a:rPr lang="en-US" sz="5400" b="0" cap="none" spc="0" noProof="0">
                <a:ln w="0"/>
                <a:solidFill>
                  <a:schemeClr val="bg1"/>
                </a:solidFill>
                <a:effectLst>
                  <a:outerShdw blurRad="38100" dist="19050" dir="2700000" algn="tl" rotWithShape="0">
                    <a:schemeClr val="dk1">
                      <a:alpha val="40000"/>
                    </a:schemeClr>
                  </a:outerShdw>
                </a:effectLst>
                <a:latin typeface="Trebuchet MS" panose="020B0603020202020204" pitchFamily="34" charset="0"/>
              </a:rPr>
              <a:t>E</a:t>
            </a:r>
          </a:p>
        </p:txBody>
      </p:sp>
      <p:sp>
        <p:nvSpPr>
          <p:cNvPr id="14" name="TextBox 13">
            <a:extLst>
              <a:ext uri="{FF2B5EF4-FFF2-40B4-BE49-F238E27FC236}">
                <a16:creationId xmlns:a16="http://schemas.microsoft.com/office/drawing/2014/main" id="{2CA8CD41-4549-815B-6F3A-4991BB3B34AA}"/>
              </a:ext>
            </a:extLst>
          </p:cNvPr>
          <p:cNvSpPr txBox="1"/>
          <p:nvPr/>
        </p:nvSpPr>
        <p:spPr>
          <a:xfrm>
            <a:off x="6432973" y="2142604"/>
            <a:ext cx="1534711" cy="855047"/>
          </a:xfrm>
          <a:prstGeom prst="roundRect">
            <a:avLst>
              <a:gd name="adj" fmla="val 9264"/>
            </a:avLst>
          </a:prstGeom>
          <a:solidFill>
            <a:schemeClr val="bg1"/>
          </a:solidFill>
          <a:ln w="28575">
            <a:solidFill>
              <a:srgbClr val="FDBA13"/>
            </a:solidFill>
          </a:ln>
        </p:spPr>
        <p:txBody>
          <a:bodyPr wrap="square" rtlCol="0">
            <a:spAutoFit/>
          </a:bodyPr>
          <a:lstStyle/>
          <a:p>
            <a:endParaRPr lang="en-US" sz="400" noProof="0">
              <a:solidFill>
                <a:srgbClr val="172859"/>
              </a:solidFill>
              <a:latin typeface="Trebuchet MS" panose="020B0603020202020204" pitchFamily="34" charset="0"/>
              <a:cs typeface="Arial" panose="020B0604020202020204" pitchFamily="34" charset="0"/>
            </a:endParaRPr>
          </a:p>
          <a:p>
            <a:r>
              <a:rPr lang="en-US" sz="1400" noProof="0">
                <a:solidFill>
                  <a:srgbClr val="172859"/>
                </a:solidFill>
                <a:latin typeface="Trebuchet MS" panose="020B0603020202020204" pitchFamily="34" charset="0"/>
                <a:cs typeface="Arial" panose="020B0604020202020204" pitchFamily="34" charset="0"/>
              </a:rPr>
              <a:t>Potential errors, defects or issues.</a:t>
            </a:r>
          </a:p>
        </p:txBody>
      </p:sp>
      <p:sp>
        <p:nvSpPr>
          <p:cNvPr id="16" name="TextBox 15">
            <a:extLst>
              <a:ext uri="{FF2B5EF4-FFF2-40B4-BE49-F238E27FC236}">
                <a16:creationId xmlns:a16="http://schemas.microsoft.com/office/drawing/2014/main" id="{FD6200B7-96E3-E34A-717E-54CAC9009DD3}"/>
              </a:ext>
            </a:extLst>
          </p:cNvPr>
          <p:cNvSpPr txBox="1"/>
          <p:nvPr/>
        </p:nvSpPr>
        <p:spPr>
          <a:xfrm>
            <a:off x="9209488" y="1757362"/>
            <a:ext cx="1534712" cy="1290638"/>
          </a:xfrm>
          <a:prstGeom prst="roundRect">
            <a:avLst>
              <a:gd name="adj" fmla="val 9264"/>
            </a:avLst>
          </a:prstGeom>
          <a:solidFill>
            <a:schemeClr val="bg1"/>
          </a:solidFill>
          <a:ln w="28575">
            <a:solidFill>
              <a:schemeClr val="accent6"/>
            </a:solidFill>
          </a:ln>
        </p:spPr>
        <p:txBody>
          <a:bodyPr wrap="square" rtlCol="0">
            <a:spAutoFit/>
          </a:bodyPr>
          <a:lstStyle/>
          <a:p>
            <a:endParaRPr lang="en-US" sz="400" noProof="0">
              <a:solidFill>
                <a:srgbClr val="172859"/>
              </a:solidFill>
              <a:latin typeface="Trebuchet MS" panose="020B0603020202020204" pitchFamily="34" charset="0"/>
              <a:cs typeface="Arial" panose="020B0604020202020204" pitchFamily="34" charset="0"/>
            </a:endParaRPr>
          </a:p>
          <a:p>
            <a:r>
              <a:rPr lang="en-US" sz="1400" noProof="0">
                <a:solidFill>
                  <a:srgbClr val="172859"/>
                </a:solidFill>
                <a:latin typeface="Trebuchet MS" panose="020B0603020202020204" pitchFamily="34" charset="0"/>
                <a:cs typeface="Arial" panose="020B0604020202020204" pitchFamily="34" charset="0"/>
              </a:rPr>
              <a:t>Impact the failure will have on the process being analyzed.</a:t>
            </a:r>
          </a:p>
        </p:txBody>
      </p:sp>
      <p:pic>
        <p:nvPicPr>
          <p:cNvPr id="17" name="Picture 2">
            <a:extLst>
              <a:ext uri="{FF2B5EF4-FFF2-40B4-BE49-F238E27FC236}">
                <a16:creationId xmlns:a16="http://schemas.microsoft.com/office/drawing/2014/main" id="{DDBCAA6B-E7B4-F30A-A807-44E73B7C5A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6280" y="9319423"/>
            <a:ext cx="5962650" cy="313896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B10A48A5-33D1-84C9-B723-6641D7CFAF37}"/>
              </a:ext>
            </a:extLst>
          </p:cNvPr>
          <p:cNvSpPr txBox="1"/>
          <p:nvPr/>
        </p:nvSpPr>
        <p:spPr>
          <a:xfrm>
            <a:off x="7772400" y="5336024"/>
            <a:ext cx="1534712" cy="1064776"/>
          </a:xfrm>
          <a:prstGeom prst="roundRect">
            <a:avLst>
              <a:gd name="adj" fmla="val 9264"/>
            </a:avLst>
          </a:prstGeom>
          <a:solidFill>
            <a:schemeClr val="bg1"/>
          </a:solidFill>
          <a:ln w="28575">
            <a:solidFill>
              <a:srgbClr val="00B050"/>
            </a:solidFill>
          </a:ln>
        </p:spPr>
        <p:txBody>
          <a:bodyPr wrap="square" rtlCol="0">
            <a:spAutoFit/>
          </a:bodyPr>
          <a:lstStyle/>
          <a:p>
            <a:endParaRPr lang="en-US" sz="400" noProof="0">
              <a:solidFill>
                <a:srgbClr val="172859"/>
              </a:solidFill>
              <a:latin typeface="Trebuchet MS" panose="020B0603020202020204" pitchFamily="34" charset="0"/>
              <a:cs typeface="Arial" panose="020B0604020202020204" pitchFamily="34" charset="0"/>
            </a:endParaRPr>
          </a:p>
          <a:p>
            <a:r>
              <a:rPr lang="en-US" sz="1400" noProof="0">
                <a:solidFill>
                  <a:srgbClr val="172859"/>
                </a:solidFill>
                <a:latin typeface="Trebuchet MS" panose="020B0603020202020204" pitchFamily="34" charset="0"/>
                <a:cs typeface="Arial" panose="020B0604020202020204" pitchFamily="34" charset="0"/>
              </a:rPr>
              <a:t>Possible types of failure and ways it can happen.</a:t>
            </a:r>
          </a:p>
        </p:txBody>
      </p:sp>
      <p:sp>
        <p:nvSpPr>
          <p:cNvPr id="21" name="TextBox 20">
            <a:extLst>
              <a:ext uri="{FF2B5EF4-FFF2-40B4-BE49-F238E27FC236}">
                <a16:creationId xmlns:a16="http://schemas.microsoft.com/office/drawing/2014/main" id="{B08E3B82-5488-BA0F-6520-AC4282053668}"/>
              </a:ext>
            </a:extLst>
          </p:cNvPr>
          <p:cNvSpPr txBox="1"/>
          <p:nvPr/>
        </p:nvSpPr>
        <p:spPr>
          <a:xfrm>
            <a:off x="10578168" y="5437763"/>
            <a:ext cx="1534712" cy="1290638"/>
          </a:xfrm>
          <a:prstGeom prst="roundRect">
            <a:avLst>
              <a:gd name="adj" fmla="val 9264"/>
            </a:avLst>
          </a:prstGeom>
          <a:solidFill>
            <a:schemeClr val="bg1"/>
          </a:solidFill>
          <a:ln w="28575">
            <a:solidFill>
              <a:srgbClr val="00B0F0"/>
            </a:solidFill>
          </a:ln>
        </p:spPr>
        <p:txBody>
          <a:bodyPr wrap="square" rtlCol="0">
            <a:spAutoFit/>
          </a:bodyPr>
          <a:lstStyle/>
          <a:p>
            <a:endParaRPr lang="en-US" sz="400" noProof="0">
              <a:solidFill>
                <a:srgbClr val="172859"/>
              </a:solidFill>
              <a:latin typeface="Trebuchet MS" panose="020B0603020202020204" pitchFamily="34" charset="0"/>
              <a:cs typeface="Arial" panose="020B0604020202020204" pitchFamily="34" charset="0"/>
            </a:endParaRPr>
          </a:p>
          <a:p>
            <a:r>
              <a:rPr lang="en-US" sz="1400" noProof="0">
                <a:solidFill>
                  <a:srgbClr val="172859"/>
                </a:solidFill>
                <a:latin typeface="Trebuchet MS" panose="020B0603020202020204" pitchFamily="34" charset="0"/>
                <a:cs typeface="Arial" panose="020B0604020202020204" pitchFamily="34" charset="0"/>
              </a:rPr>
              <a:t>Analyzing and studying how we can eliminate and prevent risk. </a:t>
            </a:r>
          </a:p>
        </p:txBody>
      </p:sp>
      <p:sp>
        <p:nvSpPr>
          <p:cNvPr id="20" name="Rectangle: Rounded Corners 19">
            <a:extLst>
              <a:ext uri="{FF2B5EF4-FFF2-40B4-BE49-F238E27FC236}">
                <a16:creationId xmlns:a16="http://schemas.microsoft.com/office/drawing/2014/main" id="{795C9574-3F43-B8F9-017B-1FC55FE8239E}"/>
              </a:ext>
            </a:extLst>
          </p:cNvPr>
          <p:cNvSpPr/>
          <p:nvPr/>
        </p:nvSpPr>
        <p:spPr>
          <a:xfrm>
            <a:off x="10578168" y="5080693"/>
            <a:ext cx="1534712" cy="428508"/>
          </a:xfrm>
          <a:prstGeom prst="roundRect">
            <a:avLst/>
          </a:prstGeom>
          <a:solidFill>
            <a:srgbClr val="00B0F0"/>
          </a:solidFill>
          <a:ln w="38100">
            <a:solidFill>
              <a:srgbClr val="00B0F0"/>
            </a:solidFill>
          </a:ln>
          <a:effectLst/>
        </p:spPr>
        <p:style>
          <a:lnRef idx="1">
            <a:schemeClr val="accent4"/>
          </a:lnRef>
          <a:fillRef idx="3">
            <a:schemeClr val="accent4"/>
          </a:fillRef>
          <a:effectRef idx="2">
            <a:schemeClr val="accent4"/>
          </a:effectRef>
          <a:fontRef idx="minor">
            <a:schemeClr val="lt1"/>
          </a:fontRef>
        </p:style>
        <p:txBody>
          <a:bodyPr rtlCol="0" anchor="ctr"/>
          <a:lstStyle/>
          <a:p>
            <a:r>
              <a:rPr lang="en-US" sz="2000" b="1" noProof="0">
                <a:solidFill>
                  <a:schemeClr val="bg1"/>
                </a:solidFill>
                <a:latin typeface="Trebuchet MS" panose="020B0603020202020204" pitchFamily="34" charset="0"/>
                <a:cs typeface="Arial" panose="020B0604020202020204" pitchFamily="34" charset="0"/>
              </a:rPr>
              <a:t>Analysis</a:t>
            </a:r>
          </a:p>
        </p:txBody>
      </p:sp>
      <p:sp>
        <p:nvSpPr>
          <p:cNvPr id="13" name="Rectangle: Rounded Corners 12">
            <a:extLst>
              <a:ext uri="{FF2B5EF4-FFF2-40B4-BE49-F238E27FC236}">
                <a16:creationId xmlns:a16="http://schemas.microsoft.com/office/drawing/2014/main" id="{22896472-8572-F6E8-0E38-B91A4E647ABA}"/>
              </a:ext>
            </a:extLst>
          </p:cNvPr>
          <p:cNvSpPr/>
          <p:nvPr/>
        </p:nvSpPr>
        <p:spPr>
          <a:xfrm>
            <a:off x="6432973" y="1752600"/>
            <a:ext cx="1534711" cy="428508"/>
          </a:xfrm>
          <a:prstGeom prst="roundRect">
            <a:avLst/>
          </a:prstGeom>
          <a:solidFill>
            <a:srgbClr val="FDBA13"/>
          </a:solidFill>
          <a:ln w="38100">
            <a:solidFill>
              <a:srgbClr val="FDBA13"/>
            </a:solidFill>
          </a:ln>
          <a:effectLst/>
        </p:spPr>
        <p:style>
          <a:lnRef idx="1">
            <a:schemeClr val="accent4"/>
          </a:lnRef>
          <a:fillRef idx="3">
            <a:schemeClr val="accent4"/>
          </a:fillRef>
          <a:effectRef idx="2">
            <a:schemeClr val="accent4"/>
          </a:effectRef>
          <a:fontRef idx="minor">
            <a:schemeClr val="lt1"/>
          </a:fontRef>
        </p:style>
        <p:txBody>
          <a:bodyPr rtlCol="0" anchor="ctr"/>
          <a:lstStyle/>
          <a:p>
            <a:r>
              <a:rPr lang="en-US" sz="2000" b="1" noProof="0">
                <a:solidFill>
                  <a:schemeClr val="bg1"/>
                </a:solidFill>
                <a:latin typeface="Trebuchet MS" panose="020B0603020202020204" pitchFamily="34" charset="0"/>
                <a:cs typeface="Arial" panose="020B0604020202020204" pitchFamily="34" charset="0"/>
              </a:rPr>
              <a:t>Failure</a:t>
            </a:r>
          </a:p>
        </p:txBody>
      </p:sp>
      <p:sp>
        <p:nvSpPr>
          <p:cNvPr id="15" name="Rectangle: Rounded Corners 14">
            <a:extLst>
              <a:ext uri="{FF2B5EF4-FFF2-40B4-BE49-F238E27FC236}">
                <a16:creationId xmlns:a16="http://schemas.microsoft.com/office/drawing/2014/main" id="{F33184CF-9335-73C2-84F2-7A558F4D498B}"/>
              </a:ext>
            </a:extLst>
          </p:cNvPr>
          <p:cNvSpPr/>
          <p:nvPr/>
        </p:nvSpPr>
        <p:spPr>
          <a:xfrm>
            <a:off x="9209488" y="1400292"/>
            <a:ext cx="1534712" cy="428508"/>
          </a:xfrm>
          <a:prstGeom prst="roundRect">
            <a:avLst/>
          </a:prstGeom>
          <a:solidFill>
            <a:schemeClr val="accent6"/>
          </a:solidFill>
          <a:ln w="38100">
            <a:solidFill>
              <a:schemeClr val="accent6"/>
            </a:solidFill>
          </a:ln>
          <a:effectLst/>
        </p:spPr>
        <p:style>
          <a:lnRef idx="1">
            <a:schemeClr val="accent4"/>
          </a:lnRef>
          <a:fillRef idx="3">
            <a:schemeClr val="accent4"/>
          </a:fillRef>
          <a:effectRef idx="2">
            <a:schemeClr val="accent4"/>
          </a:effectRef>
          <a:fontRef idx="minor">
            <a:schemeClr val="lt1"/>
          </a:fontRef>
        </p:style>
        <p:txBody>
          <a:bodyPr rtlCol="0" anchor="ctr"/>
          <a:lstStyle/>
          <a:p>
            <a:r>
              <a:rPr lang="en-US" sz="2000" b="1" noProof="0">
                <a:solidFill>
                  <a:schemeClr val="bg1"/>
                </a:solidFill>
                <a:latin typeface="Trebuchet MS" panose="020B0603020202020204" pitchFamily="34" charset="0"/>
                <a:cs typeface="Arial" panose="020B0604020202020204" pitchFamily="34" charset="0"/>
              </a:rPr>
              <a:t>Effect</a:t>
            </a:r>
          </a:p>
        </p:txBody>
      </p:sp>
      <p:sp>
        <p:nvSpPr>
          <p:cNvPr id="18" name="Rectangle: Rounded Corners 17">
            <a:extLst>
              <a:ext uri="{FF2B5EF4-FFF2-40B4-BE49-F238E27FC236}">
                <a16:creationId xmlns:a16="http://schemas.microsoft.com/office/drawing/2014/main" id="{6054BF30-090C-DD86-3473-C7CD45821E28}"/>
              </a:ext>
            </a:extLst>
          </p:cNvPr>
          <p:cNvSpPr/>
          <p:nvPr/>
        </p:nvSpPr>
        <p:spPr>
          <a:xfrm>
            <a:off x="7772400" y="4978954"/>
            <a:ext cx="1534712" cy="428508"/>
          </a:xfrm>
          <a:prstGeom prst="roundRect">
            <a:avLst/>
          </a:prstGeom>
          <a:solidFill>
            <a:srgbClr val="00B050"/>
          </a:solidFill>
          <a:ln w="38100">
            <a:solidFill>
              <a:srgbClr val="00B050"/>
            </a:solidFill>
          </a:ln>
          <a:effectLst/>
        </p:spPr>
        <p:style>
          <a:lnRef idx="1">
            <a:schemeClr val="accent4"/>
          </a:lnRef>
          <a:fillRef idx="3">
            <a:schemeClr val="accent4"/>
          </a:fillRef>
          <a:effectRef idx="2">
            <a:schemeClr val="accent4"/>
          </a:effectRef>
          <a:fontRef idx="minor">
            <a:schemeClr val="lt1"/>
          </a:fontRef>
        </p:style>
        <p:txBody>
          <a:bodyPr rtlCol="0" anchor="ctr"/>
          <a:lstStyle/>
          <a:p>
            <a:r>
              <a:rPr lang="en-US" sz="2000" b="1" noProof="0">
                <a:solidFill>
                  <a:schemeClr val="bg1"/>
                </a:solidFill>
                <a:latin typeface="Trebuchet MS" panose="020B0603020202020204" pitchFamily="34" charset="0"/>
                <a:cs typeface="Arial" panose="020B0604020202020204" pitchFamily="34" charset="0"/>
              </a:rPr>
              <a:t>Mode</a:t>
            </a:r>
          </a:p>
        </p:txBody>
      </p:sp>
    </p:spTree>
    <p:extLst>
      <p:ext uri="{BB962C8B-B14F-4D97-AF65-F5344CB8AC3E}">
        <p14:creationId xmlns:p14="http://schemas.microsoft.com/office/powerpoint/2010/main" val="147848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P spid="11" grpId="0"/>
      <p:bldP spid="14" grpId="0" animBg="1"/>
      <p:bldP spid="16" grpId="0" animBg="1"/>
      <p:bldP spid="19" grpId="0" animBg="1"/>
      <p:bldP spid="21" grpId="0" animBg="1"/>
      <p:bldP spid="20" grpId="0" animBg="1"/>
      <p:bldP spid="13" grpId="0" animBg="1"/>
      <p:bldP spid="15"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6BD90-CE21-BAD5-8BB6-F86ED8BC4FF9}"/>
            </a:ext>
          </a:extLst>
        </p:cNvPr>
        <p:cNvGrpSpPr/>
        <p:nvPr/>
      </p:nvGrpSpPr>
      <p:grpSpPr>
        <a:xfrm>
          <a:off x="0" y="0"/>
          <a:ext cx="1" cy="1"/>
          <a:chOff x="0" y="0"/>
          <a:chExt cx="1" cy="1"/>
        </a:xfrm>
      </p:grpSpPr>
      <p:sp>
        <p:nvSpPr>
          <p:cNvPr id="2" name="Text Placeholder 1">
            <a:extLst>
              <a:ext uri="{FF2B5EF4-FFF2-40B4-BE49-F238E27FC236}">
                <a16:creationId xmlns:a16="http://schemas.microsoft.com/office/drawing/2014/main" id="{19885C4A-C12E-7B10-0E55-53D2020E8C0A}"/>
              </a:ext>
            </a:extLst>
          </p:cNvPr>
          <p:cNvSpPr>
            <a:spLocks noGrp="1"/>
          </p:cNvSpPr>
          <p:nvPr>
            <p:ph type="body" sz="quarter" idx="10"/>
          </p:nvPr>
        </p:nvSpPr>
        <p:spPr>
          <a:xfrm>
            <a:off x="533400" y="381000"/>
            <a:ext cx="5562600" cy="492443"/>
          </a:xfrm>
        </p:spPr>
        <p:txBody>
          <a:bodyPr/>
          <a:lstStyle/>
          <a:p>
            <a:r>
              <a:rPr lang="en-US" sz="3200" noProof="0">
                <a:latin typeface="Trebuchet MS" panose="020B0603020202020204" pitchFamily="34" charset="0"/>
              </a:rPr>
              <a:t>Example Defects</a:t>
            </a:r>
          </a:p>
        </p:txBody>
      </p:sp>
      <p:pic>
        <p:nvPicPr>
          <p:cNvPr id="17" name="Picture 2">
            <a:extLst>
              <a:ext uri="{FF2B5EF4-FFF2-40B4-BE49-F238E27FC236}">
                <a16:creationId xmlns:a16="http://schemas.microsoft.com/office/drawing/2014/main" id="{A54DB9E9-E7AA-96DD-4E15-60974A1B38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6280" y="9319423"/>
            <a:ext cx="5962650" cy="3138960"/>
          </a:xfrm>
          <a:prstGeom prst="rect">
            <a:avLst/>
          </a:prstGeom>
          <a:noFill/>
          <a:extLst>
            <a:ext uri="{909E8E84-426E-40DD-AFC4-6F175D3DCCD1}">
              <a14:hiddenFill xmlns:a14="http://schemas.microsoft.com/office/drawing/2010/main">
                <a:solidFill>
                  <a:srgbClr val="FFFFFF"/>
                </a:solidFill>
              </a14:hiddenFill>
            </a:ext>
          </a:extLst>
        </p:spPr>
      </p:pic>
      <p:sp>
        <p:nvSpPr>
          <p:cNvPr id="31" name="Rectangle 30">
            <a:extLst>
              <a:ext uri="{FF2B5EF4-FFF2-40B4-BE49-F238E27FC236}">
                <a16:creationId xmlns:a16="http://schemas.microsoft.com/office/drawing/2014/main" id="{DBF1B3BE-7A20-2CE7-6281-8841BD86869D}"/>
              </a:ext>
            </a:extLst>
          </p:cNvPr>
          <p:cNvSpPr/>
          <p:nvPr/>
        </p:nvSpPr>
        <p:spPr>
          <a:xfrm>
            <a:off x="304800" y="2514599"/>
            <a:ext cx="2160000" cy="309600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000" b="1" noProof="0">
              <a:solidFill>
                <a:schemeClr val="bg1"/>
              </a:solidFill>
              <a:latin typeface="Trebuchet MS" panose="020B0603020202020204" pitchFamily="34" charset="0"/>
            </a:endParaRPr>
          </a:p>
          <a:p>
            <a:pPr algn="ctr"/>
            <a:r>
              <a:rPr lang="en-US" sz="2000" b="1" noProof="0">
                <a:solidFill>
                  <a:schemeClr val="bg1"/>
                </a:solidFill>
                <a:latin typeface="Trebuchet MS" panose="020B0603020202020204" pitchFamily="34" charset="0"/>
              </a:rPr>
              <a:t>Missing Data</a:t>
            </a: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Customer record has no contact number.</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Appointment notes not completed.</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Mandatory fields in a form left blank.</a:t>
            </a: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p:txBody>
      </p:sp>
      <p:sp>
        <p:nvSpPr>
          <p:cNvPr id="33" name="Rectangle 32">
            <a:extLst>
              <a:ext uri="{FF2B5EF4-FFF2-40B4-BE49-F238E27FC236}">
                <a16:creationId xmlns:a16="http://schemas.microsoft.com/office/drawing/2014/main" id="{74341301-3D25-0330-DECD-D0436AF9E8EF}"/>
              </a:ext>
            </a:extLst>
          </p:cNvPr>
          <p:cNvSpPr/>
          <p:nvPr/>
        </p:nvSpPr>
        <p:spPr>
          <a:xfrm>
            <a:off x="2667000" y="2514600"/>
            <a:ext cx="2160000" cy="3096000"/>
          </a:xfrm>
          <a:prstGeom prst="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000" b="1" noProof="0">
              <a:solidFill>
                <a:schemeClr val="bg1"/>
              </a:solidFill>
              <a:latin typeface="Trebuchet MS" panose="020B0603020202020204" pitchFamily="34" charset="0"/>
            </a:endParaRPr>
          </a:p>
          <a:p>
            <a:pPr algn="ctr"/>
            <a:r>
              <a:rPr lang="en-US" sz="2000" b="1" noProof="0">
                <a:solidFill>
                  <a:schemeClr val="bg1"/>
                </a:solidFill>
                <a:latin typeface="Trebuchet MS" panose="020B0603020202020204" pitchFamily="34" charset="0"/>
              </a:rPr>
              <a:t>Incorrect Input</a:t>
            </a: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Wrong customer details entered (e.g. name/date of birth).</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Incorrect payment type selected.</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Data entered in wrong format (e.g. date or Zip code).</a:t>
            </a: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p:txBody>
      </p:sp>
      <p:sp>
        <p:nvSpPr>
          <p:cNvPr id="34" name="Rectangle 33">
            <a:extLst>
              <a:ext uri="{FF2B5EF4-FFF2-40B4-BE49-F238E27FC236}">
                <a16:creationId xmlns:a16="http://schemas.microsoft.com/office/drawing/2014/main" id="{79EDDE8C-4330-0E88-24B1-2E78C0FE808D}"/>
              </a:ext>
            </a:extLst>
          </p:cNvPr>
          <p:cNvSpPr/>
          <p:nvPr/>
        </p:nvSpPr>
        <p:spPr>
          <a:xfrm>
            <a:off x="5028310" y="2529838"/>
            <a:ext cx="2160000" cy="3096000"/>
          </a:xfrm>
          <a:prstGeom prst="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000" b="1" noProof="0">
              <a:solidFill>
                <a:schemeClr val="bg1"/>
              </a:solidFill>
              <a:latin typeface="Trebuchet MS" panose="020B0603020202020204" pitchFamily="34" charset="0"/>
            </a:endParaRPr>
          </a:p>
          <a:p>
            <a:pPr algn="ctr"/>
            <a:r>
              <a:rPr lang="en-US" sz="2000" b="1" noProof="0">
                <a:solidFill>
                  <a:schemeClr val="bg1"/>
                </a:solidFill>
                <a:latin typeface="Trebuchet MS" panose="020B0603020202020204" pitchFamily="34" charset="0"/>
              </a:rPr>
              <a:t>Process Delays</a:t>
            </a:r>
          </a:p>
          <a:p>
            <a:pPr marL="285750" indent="-285750">
              <a:buFont typeface="Arial" panose="020B0604020202020204" pitchFamily="34" charset="0"/>
              <a:buChar char="•"/>
            </a:pPr>
            <a:endParaRPr lang="en-US" sz="1600" noProof="0">
              <a:solidFill>
                <a:schemeClr val="bg1"/>
              </a:solidFill>
              <a:latin typeface="Trebuchet MS" panose="020B0603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Appointment not scheduled within target timeframe.</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Approval not completed on time.</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Request sits in queue with no action.</a:t>
            </a:r>
          </a:p>
          <a:p>
            <a:pPr marL="285750" indent="-285750">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a:buFont typeface="Arial" panose="020B0604020202020204" pitchFamily="34" charset="0"/>
              <a:buChar char="•"/>
            </a:pPr>
            <a:endParaRPr lang="en-US" sz="1400" noProof="0">
              <a:solidFill>
                <a:schemeClr val="bg1"/>
              </a:solidFill>
              <a:latin typeface="Trebuchet MS" panose="020B0603020202020204" pitchFamily="34" charset="0"/>
            </a:endParaRPr>
          </a:p>
        </p:txBody>
      </p:sp>
      <p:sp>
        <p:nvSpPr>
          <p:cNvPr id="35" name="Rectangle 34">
            <a:extLst>
              <a:ext uri="{FF2B5EF4-FFF2-40B4-BE49-F238E27FC236}">
                <a16:creationId xmlns:a16="http://schemas.microsoft.com/office/drawing/2014/main" id="{086923D4-ED5C-3A5C-9827-71FAFFAD0941}"/>
              </a:ext>
            </a:extLst>
          </p:cNvPr>
          <p:cNvSpPr/>
          <p:nvPr/>
        </p:nvSpPr>
        <p:spPr>
          <a:xfrm>
            <a:off x="7391400" y="2514600"/>
            <a:ext cx="2160000" cy="3096000"/>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000" b="1" noProof="0">
              <a:solidFill>
                <a:schemeClr val="bg1"/>
              </a:solidFill>
              <a:latin typeface="Trebuchet MS" panose="020B0603020202020204" pitchFamily="34" charset="0"/>
            </a:endParaRPr>
          </a:p>
          <a:p>
            <a:pPr algn="ctr"/>
            <a:r>
              <a:rPr lang="en-US" sz="2000" b="1" noProof="0">
                <a:solidFill>
                  <a:schemeClr val="bg1"/>
                </a:solidFill>
                <a:latin typeface="Trebuchet MS" panose="020B0603020202020204" pitchFamily="34" charset="0"/>
              </a:rPr>
              <a:t>Quality Errors</a:t>
            </a:r>
          </a:p>
          <a:p>
            <a:pPr algn="ctr"/>
            <a:endParaRPr lang="en-US" sz="2000" b="1" noProof="0">
              <a:solidFill>
                <a:schemeClr val="bg1"/>
              </a:solidFill>
              <a:latin typeface="Trebuchet MS" panose="020B0603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Document contains spelling mistakes.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Incorrect information provided to customer.</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Output does not meet agreed standard.</a:t>
            </a:r>
          </a:p>
          <a:p>
            <a:pPr marL="285750" indent="-285750">
              <a:buFont typeface="Arial" panose="020B0604020202020204" pitchFamily="34" charset="0"/>
              <a:buChar char="•"/>
            </a:pPr>
            <a:endParaRPr lang="en-US" sz="1400" noProof="0">
              <a:solidFill>
                <a:schemeClr val="bg1"/>
              </a:solidFill>
              <a:latin typeface="Trebuchet MS" panose="020B0603020202020204" pitchFamily="34" charset="0"/>
            </a:endParaRPr>
          </a:p>
        </p:txBody>
      </p:sp>
      <p:sp>
        <p:nvSpPr>
          <p:cNvPr id="36" name="Rectangle 35">
            <a:extLst>
              <a:ext uri="{FF2B5EF4-FFF2-40B4-BE49-F238E27FC236}">
                <a16:creationId xmlns:a16="http://schemas.microsoft.com/office/drawing/2014/main" id="{A06A5AC7-F019-6E12-1EA3-B8323C49BC98}"/>
              </a:ext>
            </a:extLst>
          </p:cNvPr>
          <p:cNvSpPr/>
          <p:nvPr/>
        </p:nvSpPr>
        <p:spPr>
          <a:xfrm>
            <a:off x="9753600" y="2499360"/>
            <a:ext cx="2160000" cy="3096000"/>
          </a:xfrm>
          <a:prstGeom prst="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2000" b="1" noProof="0">
              <a:solidFill>
                <a:schemeClr val="bg1"/>
              </a:solidFill>
              <a:latin typeface="Trebuchet MS" panose="020B0603020202020204" pitchFamily="34" charset="0"/>
            </a:endParaRPr>
          </a:p>
          <a:p>
            <a:pPr algn="ctr"/>
            <a:r>
              <a:rPr lang="en-US" sz="2000" b="1" noProof="0">
                <a:solidFill>
                  <a:schemeClr val="bg1"/>
                </a:solidFill>
                <a:latin typeface="Trebuchet MS" panose="020B0603020202020204" pitchFamily="34" charset="0"/>
              </a:rPr>
              <a:t>Incomplete</a:t>
            </a:r>
          </a:p>
          <a:p>
            <a:pPr algn="ctr"/>
            <a:endParaRPr lang="en-US" sz="2000" b="1" noProof="0">
              <a:solidFill>
                <a:schemeClr val="bg1"/>
              </a:solidFill>
              <a:latin typeface="Trebuchet MS" panose="020B0603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Task started but not finished.</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Required documentation not uploaded.</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Process skipped a required step.</a:t>
            </a:r>
          </a:p>
          <a:p>
            <a:pPr marL="285750" indent="-285750">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a:buFont typeface="Arial" panose="020B0604020202020204" pitchFamily="34" charset="0"/>
              <a:buChar char="•"/>
            </a:pPr>
            <a:endParaRPr lang="en-US" sz="1400" noProof="0">
              <a:solidFill>
                <a:schemeClr val="bg1"/>
              </a:solidFill>
              <a:latin typeface="Trebuchet MS" panose="020B0603020202020204" pitchFamily="34" charset="0"/>
            </a:endParaRPr>
          </a:p>
        </p:txBody>
      </p:sp>
      <p:sp>
        <p:nvSpPr>
          <p:cNvPr id="44" name="Flowchart: Connector 43">
            <a:extLst>
              <a:ext uri="{FF2B5EF4-FFF2-40B4-BE49-F238E27FC236}">
                <a16:creationId xmlns:a16="http://schemas.microsoft.com/office/drawing/2014/main" id="{E9CC84BF-56AB-4283-28A2-06B75458FC2F}"/>
              </a:ext>
            </a:extLst>
          </p:cNvPr>
          <p:cNvSpPr/>
          <p:nvPr/>
        </p:nvSpPr>
        <p:spPr>
          <a:xfrm>
            <a:off x="838200" y="1638033"/>
            <a:ext cx="1065600" cy="1066800"/>
          </a:xfrm>
          <a:prstGeom prst="flowChartConnector">
            <a:avLst/>
          </a:prstGeom>
          <a:solidFill>
            <a:schemeClr val="accent6"/>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45" name="Flowchart: Connector 44">
            <a:extLst>
              <a:ext uri="{FF2B5EF4-FFF2-40B4-BE49-F238E27FC236}">
                <a16:creationId xmlns:a16="http://schemas.microsoft.com/office/drawing/2014/main" id="{A3657D68-B773-4753-5BC4-43E8E7323C50}"/>
              </a:ext>
            </a:extLst>
          </p:cNvPr>
          <p:cNvSpPr/>
          <p:nvPr/>
        </p:nvSpPr>
        <p:spPr>
          <a:xfrm>
            <a:off x="3186687" y="1619544"/>
            <a:ext cx="1065600" cy="1066800"/>
          </a:xfrm>
          <a:prstGeom prst="flowChartConnector">
            <a:avLst/>
          </a:prstGeom>
          <a:solidFill>
            <a:srgbClr val="00AF74"/>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46" name="Flowchart: Connector 45">
            <a:extLst>
              <a:ext uri="{FF2B5EF4-FFF2-40B4-BE49-F238E27FC236}">
                <a16:creationId xmlns:a16="http://schemas.microsoft.com/office/drawing/2014/main" id="{913C9295-1C32-CC49-639C-85A4182E5FB3}"/>
              </a:ext>
            </a:extLst>
          </p:cNvPr>
          <p:cNvSpPr/>
          <p:nvPr/>
        </p:nvSpPr>
        <p:spPr>
          <a:xfrm>
            <a:off x="5564593" y="1638033"/>
            <a:ext cx="1065600" cy="1066800"/>
          </a:xfrm>
          <a:prstGeom prst="flowChartConnector">
            <a:avLst/>
          </a:prstGeom>
          <a:solidFill>
            <a:srgbClr val="27AAE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47" name="Flowchart: Connector 46">
            <a:extLst>
              <a:ext uri="{FF2B5EF4-FFF2-40B4-BE49-F238E27FC236}">
                <a16:creationId xmlns:a16="http://schemas.microsoft.com/office/drawing/2014/main" id="{B21FF461-AC87-2B18-AB3B-05304761A35A}"/>
              </a:ext>
            </a:extLst>
          </p:cNvPr>
          <p:cNvSpPr/>
          <p:nvPr/>
        </p:nvSpPr>
        <p:spPr>
          <a:xfrm>
            <a:off x="7913080" y="1638033"/>
            <a:ext cx="1065600" cy="1066800"/>
          </a:xfrm>
          <a:prstGeom prst="flowChartConnector">
            <a:avLst/>
          </a:prstGeom>
          <a:solidFill>
            <a:srgbClr val="00206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48" name="Flowchart: Connector 47">
            <a:extLst>
              <a:ext uri="{FF2B5EF4-FFF2-40B4-BE49-F238E27FC236}">
                <a16:creationId xmlns:a16="http://schemas.microsoft.com/office/drawing/2014/main" id="{2B0DE117-CE51-D6A2-C390-2E18B65475F0}"/>
              </a:ext>
            </a:extLst>
          </p:cNvPr>
          <p:cNvSpPr/>
          <p:nvPr/>
        </p:nvSpPr>
        <p:spPr>
          <a:xfrm>
            <a:off x="10287000" y="1609470"/>
            <a:ext cx="1065600" cy="1066800"/>
          </a:xfrm>
          <a:prstGeom prst="flowChartConnector">
            <a:avLst/>
          </a:prstGeom>
          <a:solidFill>
            <a:srgbClr val="7030A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pic>
        <p:nvPicPr>
          <p:cNvPr id="50" name="Graphic 49" descr="Clipboard Mixed with solid fill">
            <a:extLst>
              <a:ext uri="{FF2B5EF4-FFF2-40B4-BE49-F238E27FC236}">
                <a16:creationId xmlns:a16="http://schemas.microsoft.com/office/drawing/2014/main" id="{1D134C3D-9006-AC0E-C93A-CF262631F1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2192" y="1774062"/>
            <a:ext cx="737616" cy="737616"/>
          </a:xfrm>
          <a:prstGeom prst="rect">
            <a:avLst/>
          </a:prstGeom>
        </p:spPr>
      </p:pic>
      <p:pic>
        <p:nvPicPr>
          <p:cNvPr id="52" name="Graphic 51" descr="Keyboard with solid fill">
            <a:extLst>
              <a:ext uri="{FF2B5EF4-FFF2-40B4-BE49-F238E27FC236}">
                <a16:creationId xmlns:a16="http://schemas.microsoft.com/office/drawing/2014/main" id="{73D7CC34-8FF7-502F-AC41-56DAFC838C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16962" y="1765876"/>
            <a:ext cx="608533" cy="830957"/>
          </a:xfrm>
          <a:prstGeom prst="rect">
            <a:avLst/>
          </a:prstGeom>
        </p:spPr>
      </p:pic>
      <p:pic>
        <p:nvPicPr>
          <p:cNvPr id="54" name="Graphic 53" descr="Clock with solid fill">
            <a:extLst>
              <a:ext uri="{FF2B5EF4-FFF2-40B4-BE49-F238E27FC236}">
                <a16:creationId xmlns:a16="http://schemas.microsoft.com/office/drawing/2014/main" id="{1A7AF6B9-102B-02A2-20F7-040A83B5BAA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75410" y="1752333"/>
            <a:ext cx="838200" cy="838200"/>
          </a:xfrm>
          <a:prstGeom prst="rect">
            <a:avLst/>
          </a:prstGeom>
        </p:spPr>
      </p:pic>
      <p:pic>
        <p:nvPicPr>
          <p:cNvPr id="56" name="Graphic 55" descr="Clipboard Checked with solid fill">
            <a:extLst>
              <a:ext uri="{FF2B5EF4-FFF2-40B4-BE49-F238E27FC236}">
                <a16:creationId xmlns:a16="http://schemas.microsoft.com/office/drawing/2014/main" id="{CD0AD512-F0BB-5426-D1F3-206D7AE6CE4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68028" y="1793581"/>
            <a:ext cx="755703" cy="755703"/>
          </a:xfrm>
          <a:prstGeom prst="rect">
            <a:avLst/>
          </a:prstGeom>
        </p:spPr>
      </p:pic>
      <p:pic>
        <p:nvPicPr>
          <p:cNvPr id="58" name="Graphic 57" descr="Irritant with solid fill">
            <a:extLst>
              <a:ext uri="{FF2B5EF4-FFF2-40B4-BE49-F238E27FC236}">
                <a16:creationId xmlns:a16="http://schemas.microsoft.com/office/drawing/2014/main" id="{BCFED159-83CF-D625-B65C-A70936FA28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440265" y="1705650"/>
            <a:ext cx="755703" cy="755703"/>
          </a:xfrm>
          <a:prstGeom prst="rect">
            <a:avLst/>
          </a:prstGeom>
        </p:spPr>
      </p:pic>
    </p:spTree>
    <p:extLst>
      <p:ext uri="{BB962C8B-B14F-4D97-AF65-F5344CB8AC3E}">
        <p14:creationId xmlns:p14="http://schemas.microsoft.com/office/powerpoint/2010/main" val="2085494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3" grpId="0" animBg="1"/>
      <p:bldP spid="34" grpId="0" animBg="1"/>
      <p:bldP spid="35" grpId="0" animBg="1"/>
      <p:bldP spid="36" grpId="0" animBg="1"/>
      <p:bldP spid="44" grpId="0" animBg="1"/>
      <p:bldP spid="45" grpId="0" animBg="1"/>
      <p:bldP spid="46" grpId="0" animBg="1"/>
      <p:bldP spid="47" grpId="0" animBg="1"/>
      <p:bldP spid="4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1" cy="1"/>
          <a:chOff x="0" y="0"/>
          <a:chExt cx="1" cy="1"/>
        </a:xfrm>
      </p:grpSpPr>
      <p:sp>
        <p:nvSpPr>
          <p:cNvPr id="9" name="Text Placeholder 8">
            <a:extLst>
              <a:ext uri="{FF2B5EF4-FFF2-40B4-BE49-F238E27FC236}">
                <a16:creationId xmlns:a16="http://schemas.microsoft.com/office/drawing/2014/main" id="{C0E53D5D-B4A5-1A41-883D-13E334FB6997}"/>
              </a:ext>
            </a:extLst>
          </p:cNvPr>
          <p:cNvSpPr>
            <a:spLocks noGrp="1"/>
          </p:cNvSpPr>
          <p:nvPr>
            <p:ph type="body" sz="quarter" idx="10"/>
          </p:nvPr>
        </p:nvSpPr>
        <p:spPr>
          <a:xfrm>
            <a:off x="533400" y="381000"/>
            <a:ext cx="5562600" cy="492443"/>
          </a:xfrm>
        </p:spPr>
        <p:txBody>
          <a:bodyPr/>
          <a:lstStyle/>
          <a:p>
            <a:r>
              <a:rPr lang="en-US" sz="3200" noProof="0">
                <a:solidFill>
                  <a:srgbClr val="FFC000"/>
                </a:solidFill>
                <a:latin typeface="Trebuchet MS" panose="020B0603020202020204" pitchFamily="34" charset="0"/>
              </a:rPr>
              <a:t>Definition – Final Yield</a:t>
            </a:r>
          </a:p>
        </p:txBody>
      </p:sp>
      <p:sp>
        <p:nvSpPr>
          <p:cNvPr id="11" name="Text Placeholder 10">
            <a:extLst>
              <a:ext uri="{FF2B5EF4-FFF2-40B4-BE49-F238E27FC236}">
                <a16:creationId xmlns:a16="http://schemas.microsoft.com/office/drawing/2014/main" id="{BE480800-403E-9E49-9F24-2A83B4040E7A}"/>
              </a:ext>
            </a:extLst>
          </p:cNvPr>
          <p:cNvSpPr>
            <a:spLocks noGrp="1"/>
          </p:cNvSpPr>
          <p:nvPr>
            <p:ph type="body" sz="quarter" idx="12"/>
          </p:nvPr>
        </p:nvSpPr>
        <p:spPr>
          <a:xfrm>
            <a:off x="533400" y="1828800"/>
            <a:ext cx="10058400" cy="1846659"/>
          </a:xfrm>
        </p:spPr>
        <p:txBody>
          <a:bodyPr wrap="square" lIns="0" tIns="0" rIns="0" bIns="0" anchor="t">
            <a:spAutoFit/>
          </a:bodyPr>
          <a:lstStyle/>
          <a:p>
            <a:pPr algn="l" rtl="0"/>
            <a:r>
              <a:rPr lang="en-US" sz="2000" b="0" kern="1200" noProof="0">
                <a:solidFill>
                  <a:srgbClr val="172859"/>
                </a:solidFill>
                <a:latin typeface="Trebuchet MS"/>
                <a:cs typeface="Arial"/>
              </a:rPr>
              <a:t>Final Yield is used to measure the performance of the process. </a:t>
            </a:r>
          </a:p>
          <a:p>
            <a:pPr algn="l" rtl="0"/>
            <a:endParaRPr lang="en-US" sz="2000" b="0" kern="1200" noProof="0">
              <a:solidFill>
                <a:srgbClr val="172859"/>
              </a:solidFill>
              <a:latin typeface="Trebuchet MS" panose="020B0603020202020204" pitchFamily="34" charset="0"/>
            </a:endParaRPr>
          </a:p>
          <a:p>
            <a:pPr algn="l" rtl="0"/>
            <a:r>
              <a:rPr lang="en-US" sz="2000" kern="1200" noProof="0">
                <a:solidFill>
                  <a:srgbClr val="172859"/>
                </a:solidFill>
                <a:latin typeface="Trebuchet MS" panose="020B0603020202020204" pitchFamily="34" charset="0"/>
              </a:rPr>
              <a:t>Definition: </a:t>
            </a:r>
            <a:r>
              <a:rPr lang="en-US" sz="2000" b="0" kern="1200" noProof="0">
                <a:solidFill>
                  <a:srgbClr val="172859"/>
                </a:solidFill>
                <a:latin typeface="Trebuchet MS" panose="020B0603020202020204" pitchFamily="34" charset="0"/>
              </a:rPr>
              <a:t>% of activities or outcomes completed correctly first time.</a:t>
            </a:r>
          </a:p>
          <a:p>
            <a:pPr algn="l" rtl="0"/>
            <a:endParaRPr lang="en-US" sz="2000" b="0" kern="1200" noProof="0">
              <a:solidFill>
                <a:srgbClr val="172859"/>
              </a:solidFill>
              <a:latin typeface="Trebuchet MS" panose="020B0603020202020204" pitchFamily="34" charset="0"/>
            </a:endParaRPr>
          </a:p>
          <a:p>
            <a:pPr algn="l" rtl="0"/>
            <a:r>
              <a:rPr lang="en-US" sz="2000" kern="1200" noProof="0">
                <a:solidFill>
                  <a:srgbClr val="172859"/>
                </a:solidFill>
                <a:latin typeface="Trebuchet MS" panose="020B0603020202020204" pitchFamily="34" charset="0"/>
              </a:rPr>
              <a:t>Formula:</a:t>
            </a:r>
            <a:endParaRPr lang="en-US" sz="2400" noProof="0">
              <a:solidFill>
                <a:schemeClr val="tx2"/>
              </a:solidFill>
              <a:latin typeface="Trebuchet MS" panose="020B0603020202020204" pitchFamily="34" charset="0"/>
            </a:endParaRPr>
          </a:p>
          <a:p>
            <a:endParaRPr lang="en-US" sz="2000" kern="1200" noProof="0">
              <a:solidFill>
                <a:srgbClr val="172859"/>
              </a:solidFill>
              <a:latin typeface="Trebuchet MS" panose="020B0603020202020204" pitchFamily="34" charset="0"/>
            </a:endParaRPr>
          </a:p>
        </p:txBody>
      </p:sp>
      <p:grpSp>
        <p:nvGrpSpPr>
          <p:cNvPr id="2" name="Group 1">
            <a:extLst>
              <a:ext uri="{FF2B5EF4-FFF2-40B4-BE49-F238E27FC236}">
                <a16:creationId xmlns:a16="http://schemas.microsoft.com/office/drawing/2014/main" id="{0DF56B75-F6AE-3446-3054-08885125683C}"/>
              </a:ext>
            </a:extLst>
          </p:cNvPr>
          <p:cNvGrpSpPr/>
          <p:nvPr/>
        </p:nvGrpSpPr>
        <p:grpSpPr>
          <a:xfrm>
            <a:off x="1485900" y="3675459"/>
            <a:ext cx="9220199" cy="1846658"/>
            <a:chOff x="5407152" y="2640426"/>
            <a:chExt cx="6470522" cy="876300"/>
          </a:xfrm>
        </p:grpSpPr>
        <p:sp>
          <p:nvSpPr>
            <p:cNvPr id="3" name="Rectangle: Rounded Corners 2">
              <a:extLst>
                <a:ext uri="{FF2B5EF4-FFF2-40B4-BE49-F238E27FC236}">
                  <a16:creationId xmlns:a16="http://schemas.microsoft.com/office/drawing/2014/main" id="{54D9A006-005E-9A57-10F4-65B4DBBDED51}"/>
                </a:ext>
              </a:extLst>
            </p:cNvPr>
            <p:cNvSpPr/>
            <p:nvPr/>
          </p:nvSpPr>
          <p:spPr>
            <a:xfrm>
              <a:off x="5407152" y="2640426"/>
              <a:ext cx="1790702" cy="876300"/>
            </a:xfrm>
            <a:prstGeom prst="roundRect">
              <a:avLst/>
            </a:prstGeom>
            <a:solidFill>
              <a:srgbClr val="FDBA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a:solidFill>
                    <a:schemeClr val="bg1"/>
                  </a:solidFill>
                  <a:latin typeface="Trebuchet MS" panose="020B0603020202020204" pitchFamily="34" charset="0"/>
                  <a:cs typeface="Arial" panose="020B0604020202020204" pitchFamily="34" charset="0"/>
                </a:rPr>
                <a:t>Number of activities completed correctly</a:t>
              </a:r>
            </a:p>
          </p:txBody>
        </p:sp>
        <p:sp>
          <p:nvSpPr>
            <p:cNvPr id="4" name="Division Sign 3">
              <a:extLst>
                <a:ext uri="{FF2B5EF4-FFF2-40B4-BE49-F238E27FC236}">
                  <a16:creationId xmlns:a16="http://schemas.microsoft.com/office/drawing/2014/main" id="{E8C17234-3B16-C3D9-C9FD-9835DDB2BB3D}"/>
                </a:ext>
              </a:extLst>
            </p:cNvPr>
            <p:cNvSpPr/>
            <p:nvPr/>
          </p:nvSpPr>
          <p:spPr>
            <a:xfrm>
              <a:off x="7280150" y="2754726"/>
              <a:ext cx="688848" cy="647700"/>
            </a:xfrm>
            <a:prstGeom prst="mathDivide">
              <a:avLst/>
            </a:prstGeom>
            <a:solidFill>
              <a:srgbClr val="2440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cs typeface="Arial" panose="020B0604020202020204" pitchFamily="34" charset="0"/>
              </a:endParaRPr>
            </a:p>
          </p:txBody>
        </p:sp>
        <p:sp>
          <p:nvSpPr>
            <p:cNvPr id="5" name="Rectangle: Rounded Corners 4">
              <a:extLst>
                <a:ext uri="{FF2B5EF4-FFF2-40B4-BE49-F238E27FC236}">
                  <a16:creationId xmlns:a16="http://schemas.microsoft.com/office/drawing/2014/main" id="{0E050CC8-75BF-7214-8A20-302426CCEF92}"/>
                </a:ext>
              </a:extLst>
            </p:cNvPr>
            <p:cNvSpPr/>
            <p:nvPr/>
          </p:nvSpPr>
          <p:spPr>
            <a:xfrm>
              <a:off x="8051294" y="2640426"/>
              <a:ext cx="1815082" cy="876300"/>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a:latin typeface="Trebuchet MS" panose="020B0603020202020204" pitchFamily="34" charset="0"/>
                  <a:cs typeface="Arial" panose="020B0604020202020204" pitchFamily="34" charset="0"/>
                </a:rPr>
                <a:t>Total number of activities </a:t>
              </a:r>
            </a:p>
          </p:txBody>
        </p:sp>
        <p:sp>
          <p:nvSpPr>
            <p:cNvPr id="6" name="Equals 5">
              <a:extLst>
                <a:ext uri="{FF2B5EF4-FFF2-40B4-BE49-F238E27FC236}">
                  <a16:creationId xmlns:a16="http://schemas.microsoft.com/office/drawing/2014/main" id="{71131064-9029-D7B9-8F08-84076BFEC93E}"/>
                </a:ext>
              </a:extLst>
            </p:cNvPr>
            <p:cNvSpPr/>
            <p:nvPr/>
          </p:nvSpPr>
          <p:spPr>
            <a:xfrm>
              <a:off x="9938575" y="2926176"/>
              <a:ext cx="533400" cy="304800"/>
            </a:xfrm>
            <a:prstGeom prst="mathEqual">
              <a:avLst/>
            </a:prstGeom>
            <a:solidFill>
              <a:srgbClr val="2440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Trebuchet MS" panose="020B0603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512C60B2-A087-234A-08BB-ED29E860B5D8}"/>
                </a:ext>
              </a:extLst>
            </p:cNvPr>
            <p:cNvSpPr/>
            <p:nvPr/>
          </p:nvSpPr>
          <p:spPr>
            <a:xfrm>
              <a:off x="10582274" y="2640426"/>
              <a:ext cx="1295400" cy="87630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noProof="0">
                  <a:latin typeface="Trebuchet MS"/>
                  <a:cs typeface="Arial"/>
                </a:rPr>
                <a:t>Final Yield</a:t>
              </a:r>
            </a:p>
          </p:txBody>
        </p:sp>
      </p:grpSp>
      <p:sp>
        <p:nvSpPr>
          <p:cNvPr id="10" name="TextBox 9">
            <a:extLst>
              <a:ext uri="{FF2B5EF4-FFF2-40B4-BE49-F238E27FC236}">
                <a16:creationId xmlns:a16="http://schemas.microsoft.com/office/drawing/2014/main" id="{D9428449-2F0B-779B-8DE1-D7F4E9D3FAC9}"/>
              </a:ext>
            </a:extLst>
          </p:cNvPr>
          <p:cNvSpPr txBox="1"/>
          <p:nvPr/>
        </p:nvSpPr>
        <p:spPr>
          <a:xfrm>
            <a:off x="536082" y="5978787"/>
            <a:ext cx="10589118" cy="646331"/>
          </a:xfrm>
          <a:prstGeom prst="rect">
            <a:avLst/>
          </a:prstGeom>
          <a:solidFill>
            <a:srgbClr val="24408D"/>
          </a:solidFill>
        </p:spPr>
        <p:txBody>
          <a:bodyPr wrap="square" lIns="91440" tIns="45720" rIns="91440" bIns="45720" anchor="t">
            <a:spAutoFit/>
          </a:bodyPr>
          <a:lstStyle/>
          <a:p>
            <a:pPr fontAlgn="t"/>
            <a:r>
              <a:rPr lang="en-US" b="1" i="0" noProof="0">
                <a:solidFill>
                  <a:schemeClr val="bg1"/>
                </a:solidFill>
                <a:effectLst/>
                <a:latin typeface="Trebuchet MS"/>
              </a:rPr>
              <a:t>Key Takeaway: </a:t>
            </a:r>
            <a:r>
              <a:rPr lang="en-US" b="0" i="0" noProof="0">
                <a:solidFill>
                  <a:schemeClr val="bg1"/>
                </a:solidFill>
                <a:effectLst/>
                <a:latin typeface="Trebuchet MS"/>
              </a:rPr>
              <a:t>If defects tell us what’s going wrong,</a:t>
            </a:r>
            <a:r>
              <a:rPr lang="en-US">
                <a:solidFill>
                  <a:schemeClr val="bg1"/>
                </a:solidFill>
                <a:latin typeface="Trebuchet MS"/>
              </a:rPr>
              <a:t>  final </a:t>
            </a:r>
            <a:r>
              <a:rPr lang="en-US" b="1">
                <a:solidFill>
                  <a:schemeClr val="bg1"/>
                </a:solidFill>
                <a:latin typeface="Trebuchet MS"/>
              </a:rPr>
              <a:t>yield</a:t>
            </a:r>
            <a:r>
              <a:rPr lang="en-US" b="1" i="0" noProof="0">
                <a:solidFill>
                  <a:schemeClr val="bg1"/>
                </a:solidFill>
                <a:effectLst/>
                <a:latin typeface="Trebuchet MS"/>
              </a:rPr>
              <a:t> tells us how often we’re getting it right first time.</a:t>
            </a:r>
            <a:endParaRPr lang="en-US" b="0" i="0" noProof="0">
              <a:solidFill>
                <a:schemeClr val="bg1"/>
              </a:solidFill>
              <a:effectLst/>
              <a:latin typeface="Trebuchet MS"/>
            </a:endParaRPr>
          </a:p>
        </p:txBody>
      </p:sp>
    </p:spTree>
    <p:extLst>
      <p:ext uri="{BB962C8B-B14F-4D97-AF65-F5344CB8AC3E}">
        <p14:creationId xmlns:p14="http://schemas.microsoft.com/office/powerpoint/2010/main" val="75695018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94E2583C-588A-5583-BE25-B217024FF698}"/>
              </a:ext>
            </a:extLst>
          </p:cNvPr>
          <p:cNvSpPr>
            <a:spLocks noGrp="1"/>
          </p:cNvSpPr>
          <p:nvPr>
            <p:ph type="body" sz="quarter" idx="10"/>
          </p:nvPr>
        </p:nvSpPr>
        <p:spPr>
          <a:xfrm>
            <a:off x="533400" y="381000"/>
            <a:ext cx="5562600" cy="430887"/>
          </a:xfrm>
        </p:spPr>
        <p:txBody>
          <a:bodyPr/>
          <a:lstStyle/>
          <a:p>
            <a:r>
              <a:rPr lang="en-US" sz="2800" noProof="0">
                <a:latin typeface="Trebuchet MS" panose="020B0603020202020204" pitchFamily="34" charset="0"/>
              </a:rPr>
              <a:t>Example</a:t>
            </a:r>
          </a:p>
        </p:txBody>
      </p:sp>
      <p:sp>
        <p:nvSpPr>
          <p:cNvPr id="7" name="TextBox 6">
            <a:extLst>
              <a:ext uri="{FF2B5EF4-FFF2-40B4-BE49-F238E27FC236}">
                <a16:creationId xmlns:a16="http://schemas.microsoft.com/office/drawing/2014/main" id="{04E84234-D56D-4357-6941-DCB7EB999140}"/>
              </a:ext>
            </a:extLst>
          </p:cNvPr>
          <p:cNvSpPr txBox="1"/>
          <p:nvPr/>
        </p:nvSpPr>
        <p:spPr>
          <a:xfrm>
            <a:off x="518160" y="1676400"/>
            <a:ext cx="7482840" cy="3416320"/>
          </a:xfrm>
          <a:prstGeom prst="rect">
            <a:avLst/>
          </a:prstGeom>
          <a:noFill/>
        </p:spPr>
        <p:txBody>
          <a:bodyPr wrap="square" lIns="91440" tIns="45720" rIns="91440" bIns="45720" anchor="t">
            <a:spAutoFit/>
          </a:bodyPr>
          <a:lstStyle/>
          <a:p>
            <a:r>
              <a:rPr lang="en-US" b="1" noProof="0">
                <a:solidFill>
                  <a:srgbClr val="002060"/>
                </a:solidFill>
                <a:latin typeface="Trebuchet MS" panose="020B0603020202020204" pitchFamily="34" charset="0"/>
              </a:rPr>
              <a:t>Example: </a:t>
            </a:r>
          </a:p>
          <a:p>
            <a:endParaRPr lang="en-US" noProof="0">
              <a:solidFill>
                <a:srgbClr val="002060"/>
              </a:solidFill>
              <a:latin typeface="Trebuchet MS" panose="020B0603020202020204" pitchFamily="34" charset="0"/>
            </a:endParaRPr>
          </a:p>
          <a:p>
            <a:r>
              <a:rPr lang="en-US" noProof="0">
                <a:solidFill>
                  <a:srgbClr val="002060"/>
                </a:solidFill>
                <a:latin typeface="Trebuchet MS" panose="020B0603020202020204" pitchFamily="34" charset="0"/>
              </a:rPr>
              <a:t>A bakery produces 100 cakes in a day. Out of these, 85 units are good (no defects the first time). The other 15 were missing some icing or the cherry on the top.</a:t>
            </a:r>
          </a:p>
          <a:p>
            <a:endParaRPr lang="en-US" noProof="0">
              <a:solidFill>
                <a:srgbClr val="002060"/>
              </a:solidFill>
              <a:latin typeface="Trebuchet MS" panose="020B0603020202020204" pitchFamily="34" charset="0"/>
            </a:endParaRPr>
          </a:p>
          <a:p>
            <a:r>
              <a:rPr lang="en-US" noProof="0">
                <a:solidFill>
                  <a:srgbClr val="002060"/>
                </a:solidFill>
                <a:latin typeface="Trebuchet MS" panose="020B0603020202020204" pitchFamily="34" charset="0"/>
              </a:rPr>
              <a:t>Let’s apply a formula to work out how well the process is working to create cakes right first time. </a:t>
            </a:r>
          </a:p>
          <a:p>
            <a:endParaRPr lang="en-US"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noProof="0">
                <a:solidFill>
                  <a:srgbClr val="002060"/>
                </a:solidFill>
                <a:latin typeface="Trebuchet MS"/>
              </a:rPr>
              <a:t>Step 1 – Apply the formula: Final Yield = Good Cakes / Total cakes</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Step 2 – Calculate: Yield = 85 / 100 = 0.85</a:t>
            </a:r>
          </a:p>
          <a:p>
            <a:pPr marL="285750" indent="-285750">
              <a:buFont typeface="Arial" panose="020B0604020202020204" pitchFamily="34" charset="0"/>
              <a:buChar char="•"/>
            </a:pPr>
            <a:r>
              <a:rPr lang="en-US" noProof="0">
                <a:solidFill>
                  <a:srgbClr val="002060"/>
                </a:solidFill>
                <a:latin typeface="Trebuchet MS"/>
              </a:rPr>
              <a:t>Step 3 – Convert to percentage: Final Yield = 85%</a:t>
            </a:r>
          </a:p>
        </p:txBody>
      </p:sp>
      <p:sp>
        <p:nvSpPr>
          <p:cNvPr id="10" name="TextBox 9">
            <a:extLst>
              <a:ext uri="{FF2B5EF4-FFF2-40B4-BE49-F238E27FC236}">
                <a16:creationId xmlns:a16="http://schemas.microsoft.com/office/drawing/2014/main" id="{F689E9DF-5660-BAF2-B549-715341D3AA64}"/>
              </a:ext>
            </a:extLst>
          </p:cNvPr>
          <p:cNvSpPr txBox="1"/>
          <p:nvPr/>
        </p:nvSpPr>
        <p:spPr>
          <a:xfrm>
            <a:off x="533400" y="5486400"/>
            <a:ext cx="10668000" cy="646331"/>
          </a:xfrm>
          <a:prstGeom prst="rect">
            <a:avLst/>
          </a:prstGeom>
          <a:solidFill>
            <a:srgbClr val="24408D"/>
          </a:solidFill>
        </p:spPr>
        <p:txBody>
          <a:bodyPr wrap="square" lIns="91440" tIns="45720" rIns="91440" bIns="45720" anchor="t">
            <a:spAutoFit/>
          </a:bodyPr>
          <a:lstStyle/>
          <a:p>
            <a:pPr fontAlgn="t"/>
            <a:r>
              <a:rPr lang="en-US" b="1" noProof="0">
                <a:solidFill>
                  <a:schemeClr val="bg1"/>
                </a:solidFill>
                <a:latin typeface="Trebuchet MS"/>
              </a:rPr>
              <a:t>Final Answer: </a:t>
            </a:r>
            <a:r>
              <a:rPr lang="en-US" noProof="0">
                <a:solidFill>
                  <a:schemeClr val="bg1"/>
                </a:solidFill>
                <a:latin typeface="Trebuchet MS"/>
              </a:rPr>
              <a:t>The Final Yield is 85%, meaning 85% of were produced correctly the first time without rework.</a:t>
            </a:r>
          </a:p>
        </p:txBody>
      </p:sp>
      <p:pic>
        <p:nvPicPr>
          <p:cNvPr id="12" name="Picture 11">
            <a:extLst>
              <a:ext uri="{FF2B5EF4-FFF2-40B4-BE49-F238E27FC236}">
                <a16:creationId xmlns:a16="http://schemas.microsoft.com/office/drawing/2014/main" id="{6F36C4D1-946C-D45D-4FA1-FF2356389DBE}"/>
              </a:ext>
            </a:extLst>
          </p:cNvPr>
          <p:cNvPicPr>
            <a:picLocks noChangeAspect="1"/>
          </p:cNvPicPr>
          <p:nvPr/>
        </p:nvPicPr>
        <p:blipFill>
          <a:blip r:embed="rId3"/>
          <a:stretch>
            <a:fillRect/>
          </a:stretch>
        </p:blipFill>
        <p:spPr>
          <a:xfrm>
            <a:off x="8404541" y="1747642"/>
            <a:ext cx="3279932" cy="3273836"/>
          </a:xfrm>
          <a:prstGeom prst="rect">
            <a:avLst/>
          </a:prstGeom>
        </p:spPr>
      </p:pic>
    </p:spTree>
    <p:extLst>
      <p:ext uri="{BB962C8B-B14F-4D97-AF65-F5344CB8AC3E}">
        <p14:creationId xmlns:p14="http://schemas.microsoft.com/office/powerpoint/2010/main" val="407740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4DCD1AEE-B26D-3BFE-F222-5D84B8C9DFEF}"/>
              </a:ext>
            </a:extLst>
          </p:cNvPr>
          <p:cNvSpPr>
            <a:spLocks noGrp="1"/>
          </p:cNvSpPr>
          <p:nvPr>
            <p:ph type="body" sz="quarter" idx="10"/>
          </p:nvPr>
        </p:nvSpPr>
        <p:spPr>
          <a:xfrm>
            <a:off x="477516" y="411180"/>
            <a:ext cx="9753600" cy="492443"/>
          </a:xfrm>
        </p:spPr>
        <p:txBody>
          <a:bodyPr wrap="square" lIns="0" tIns="0" rIns="0" bIns="0" anchor="t">
            <a:spAutoFit/>
          </a:bodyPr>
          <a:lstStyle/>
          <a:p>
            <a:r>
              <a:rPr lang="en-US" sz="3200">
                <a:latin typeface="Trebuchet MS"/>
                <a:cs typeface="Arial"/>
              </a:rPr>
              <a:t>Final</a:t>
            </a:r>
            <a:r>
              <a:rPr lang="en-US" sz="3200" noProof="0">
                <a:latin typeface="Trebuchet MS"/>
                <a:cs typeface="Arial"/>
              </a:rPr>
              <a:t> Yield Limitations</a:t>
            </a:r>
          </a:p>
        </p:txBody>
      </p:sp>
      <p:sp>
        <p:nvSpPr>
          <p:cNvPr id="8" name="TextBox 7">
            <a:extLst>
              <a:ext uri="{FF2B5EF4-FFF2-40B4-BE49-F238E27FC236}">
                <a16:creationId xmlns:a16="http://schemas.microsoft.com/office/drawing/2014/main" id="{185B9B3F-082C-200E-B073-D9C0ED252576}"/>
              </a:ext>
            </a:extLst>
          </p:cNvPr>
          <p:cNvSpPr txBox="1"/>
          <p:nvPr/>
        </p:nvSpPr>
        <p:spPr>
          <a:xfrm>
            <a:off x="426721" y="1473029"/>
            <a:ext cx="7158145" cy="3970318"/>
          </a:xfrm>
          <a:prstGeom prst="rect">
            <a:avLst/>
          </a:prstGeom>
          <a:noFill/>
        </p:spPr>
        <p:txBody>
          <a:bodyPr wrap="square" lIns="91440" tIns="45720" rIns="91440" bIns="45720" anchor="t">
            <a:spAutoFit/>
          </a:bodyPr>
          <a:lstStyle/>
          <a:p>
            <a:pPr fontAlgn="t"/>
            <a:r>
              <a:rPr lang="en-US">
                <a:solidFill>
                  <a:srgbClr val="002060"/>
                </a:solidFill>
                <a:latin typeface="Trebuchet MS"/>
              </a:rPr>
              <a:t>Final yield</a:t>
            </a:r>
            <a:r>
              <a:rPr lang="en-US" b="0" i="0" noProof="0">
                <a:solidFill>
                  <a:srgbClr val="002060"/>
                </a:solidFill>
                <a:effectLst/>
                <a:latin typeface="Trebuchet MS"/>
              </a:rPr>
              <a:t> tells us whether a unit is defective, but it does not show how many defects it contains. While we know some cakes did not meet the required standard, </a:t>
            </a:r>
            <a:r>
              <a:rPr lang="en-US">
                <a:solidFill>
                  <a:srgbClr val="002060"/>
                </a:solidFill>
                <a:latin typeface="Trebuchet MS"/>
              </a:rPr>
              <a:t>final yield</a:t>
            </a:r>
            <a:r>
              <a:rPr lang="en-US" b="0" i="0" noProof="0">
                <a:solidFill>
                  <a:srgbClr val="002060"/>
                </a:solidFill>
                <a:effectLst/>
                <a:latin typeface="Trebuchet MS"/>
              </a:rPr>
              <a:t> alone cannot tell us the total number of defects.</a:t>
            </a:r>
          </a:p>
          <a:p>
            <a:pPr fontAlgn="t">
              <a:buNone/>
            </a:pPr>
            <a:endParaRPr lang="en-US" noProof="0">
              <a:solidFill>
                <a:srgbClr val="002060"/>
              </a:solidFill>
              <a:latin typeface="Trebuchet MS" panose="020B0603020202020204" pitchFamily="34" charset="0"/>
            </a:endParaRPr>
          </a:p>
          <a:p>
            <a:pPr fontAlgn="t">
              <a:buNone/>
            </a:pPr>
            <a:r>
              <a:rPr lang="en-US" b="1" i="0" noProof="0">
                <a:solidFill>
                  <a:srgbClr val="00AF74"/>
                </a:solidFill>
                <a:effectLst/>
                <a:latin typeface="Trebuchet MS" panose="020B0603020202020204" pitchFamily="34" charset="0"/>
              </a:rPr>
              <a:t>Example:</a:t>
            </a:r>
          </a:p>
          <a:p>
            <a:pPr fontAlgn="t">
              <a:buNone/>
            </a:pPr>
            <a:endParaRPr lang="en-US" noProof="0">
              <a:solidFill>
                <a:srgbClr val="00AF74"/>
              </a:solidFill>
              <a:latin typeface="Trebuchet MS" panose="020B0603020202020204" pitchFamily="34" charset="0"/>
            </a:endParaRPr>
          </a:p>
          <a:p>
            <a:pPr marL="285750" indent="-285750" fontAlgn="t">
              <a:buFont typeface="Arial" panose="020B0604020202020204" pitchFamily="34" charset="0"/>
              <a:buChar char="•"/>
            </a:pPr>
            <a:r>
              <a:rPr lang="en-US" noProof="0">
                <a:solidFill>
                  <a:srgbClr val="00AF74"/>
                </a:solidFill>
                <a:latin typeface="Trebuchet MS" panose="020B0603020202020204" pitchFamily="34" charset="0"/>
              </a:rPr>
              <a:t>Cake </a:t>
            </a:r>
            <a:r>
              <a:rPr lang="en-US" b="0" i="0" noProof="0">
                <a:solidFill>
                  <a:srgbClr val="00AF74"/>
                </a:solidFill>
                <a:effectLst/>
                <a:latin typeface="Trebuchet MS" panose="020B0603020202020204" pitchFamily="34" charset="0"/>
              </a:rPr>
              <a:t>A → 1 defect (no icing)</a:t>
            </a:r>
          </a:p>
          <a:p>
            <a:pPr marL="285750" indent="-285750" fontAlgn="t">
              <a:buFont typeface="Arial" panose="020B0604020202020204" pitchFamily="34" charset="0"/>
              <a:buChar char="•"/>
            </a:pPr>
            <a:r>
              <a:rPr lang="en-US" noProof="0">
                <a:solidFill>
                  <a:srgbClr val="00AF74"/>
                </a:solidFill>
                <a:latin typeface="Trebuchet MS" panose="020B0603020202020204" pitchFamily="34" charset="0"/>
              </a:rPr>
              <a:t>Cake B</a:t>
            </a:r>
            <a:r>
              <a:rPr lang="en-US" b="0" i="0" noProof="0">
                <a:solidFill>
                  <a:srgbClr val="00AF74"/>
                </a:solidFill>
                <a:effectLst/>
                <a:latin typeface="Trebuchet MS" panose="020B0603020202020204" pitchFamily="34" charset="0"/>
              </a:rPr>
              <a:t> → 4 defects (Too small, no icing, no sprinkles, no cherry)</a:t>
            </a:r>
          </a:p>
          <a:p>
            <a:pPr fontAlgn="t">
              <a:buNone/>
            </a:pPr>
            <a:endParaRPr lang="en-US" noProof="0">
              <a:solidFill>
                <a:srgbClr val="002060"/>
              </a:solidFill>
              <a:latin typeface="Trebuchet MS" panose="020B0603020202020204" pitchFamily="34" charset="0"/>
            </a:endParaRPr>
          </a:p>
          <a:p>
            <a:pPr fontAlgn="t"/>
            <a:r>
              <a:rPr lang="en-US" noProof="0">
                <a:solidFill>
                  <a:srgbClr val="002060"/>
                </a:solidFill>
                <a:latin typeface="Trebuchet MS"/>
              </a:rPr>
              <a:t>In terms of </a:t>
            </a:r>
            <a:r>
              <a:rPr lang="en-US">
                <a:solidFill>
                  <a:srgbClr val="002060"/>
                </a:solidFill>
                <a:latin typeface="Trebuchet MS"/>
              </a:rPr>
              <a:t>final yield</a:t>
            </a:r>
            <a:r>
              <a:rPr lang="en-US" noProof="0">
                <a:solidFill>
                  <a:srgbClr val="002060"/>
                </a:solidFill>
                <a:latin typeface="Trebuchet MS"/>
              </a:rPr>
              <a:t>, both cakes are counted the same because both are defective. However, Cake B has more defects and is therefore a poorer-quality product. This is why </a:t>
            </a:r>
            <a:r>
              <a:rPr lang="en-US" b="1" noProof="0">
                <a:solidFill>
                  <a:srgbClr val="002060"/>
                </a:solidFill>
                <a:latin typeface="Trebuchet MS"/>
              </a:rPr>
              <a:t>Defects Per Unit</a:t>
            </a:r>
            <a:r>
              <a:rPr lang="en-US" noProof="0">
                <a:solidFill>
                  <a:srgbClr val="002060"/>
                </a:solidFill>
                <a:latin typeface="Trebuchet MS"/>
              </a:rPr>
              <a:t> (DPU) is an important measure.</a:t>
            </a:r>
            <a:endParaRPr lang="en-US" b="0" i="0" noProof="0">
              <a:solidFill>
                <a:srgbClr val="002060"/>
              </a:solidFill>
              <a:effectLst/>
              <a:latin typeface="Trebuchet MS"/>
            </a:endParaRPr>
          </a:p>
        </p:txBody>
      </p:sp>
      <p:pic>
        <p:nvPicPr>
          <p:cNvPr id="10" name="Graphic 9" descr="Cupcake with solid fill">
            <a:extLst>
              <a:ext uri="{FF2B5EF4-FFF2-40B4-BE49-F238E27FC236}">
                <a16:creationId xmlns:a16="http://schemas.microsoft.com/office/drawing/2014/main" id="{55593FA9-E894-9BBB-9165-10AEC3978D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93357" y="3581400"/>
            <a:ext cx="1371600" cy="1371600"/>
          </a:xfrm>
          <a:prstGeom prst="rect">
            <a:avLst/>
          </a:prstGeom>
        </p:spPr>
      </p:pic>
      <p:pic>
        <p:nvPicPr>
          <p:cNvPr id="14" name="Graphic 13" descr="Cupcake with solid fill">
            <a:extLst>
              <a:ext uri="{FF2B5EF4-FFF2-40B4-BE49-F238E27FC236}">
                <a16:creationId xmlns:a16="http://schemas.microsoft.com/office/drawing/2014/main" id="{E6FF5EE4-F7E6-DEA5-8AE5-5FB5902E74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46567" y="1676400"/>
            <a:ext cx="2590800" cy="2590800"/>
          </a:xfrm>
          <a:prstGeom prst="rect">
            <a:avLst/>
          </a:prstGeom>
        </p:spPr>
      </p:pic>
      <p:sp>
        <p:nvSpPr>
          <p:cNvPr id="15" name="Flowchart: Connector 14">
            <a:extLst>
              <a:ext uri="{FF2B5EF4-FFF2-40B4-BE49-F238E27FC236}">
                <a16:creationId xmlns:a16="http://schemas.microsoft.com/office/drawing/2014/main" id="{94AAAE96-8342-A695-490F-5447C0CFAA5C}"/>
              </a:ext>
            </a:extLst>
          </p:cNvPr>
          <p:cNvSpPr/>
          <p:nvPr/>
        </p:nvSpPr>
        <p:spPr>
          <a:xfrm>
            <a:off x="8651467" y="1756789"/>
            <a:ext cx="381000" cy="381000"/>
          </a:xfrm>
          <a:prstGeom prst="flowChartConnector">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rgbClr val="002060"/>
              </a:solidFill>
              <a:latin typeface="Trebuchet MS" panose="020B0603020202020204" pitchFamily="34" charset="0"/>
            </a:endParaRPr>
          </a:p>
        </p:txBody>
      </p:sp>
      <p:pic>
        <p:nvPicPr>
          <p:cNvPr id="17" name="Picture 16">
            <a:extLst>
              <a:ext uri="{FF2B5EF4-FFF2-40B4-BE49-F238E27FC236}">
                <a16:creationId xmlns:a16="http://schemas.microsoft.com/office/drawing/2014/main" id="{39E1684D-E083-8A3B-7999-75B706CCF41E}"/>
              </a:ext>
            </a:extLst>
          </p:cNvPr>
          <p:cNvPicPr>
            <a:picLocks noChangeAspect="1"/>
          </p:cNvPicPr>
          <p:nvPr/>
        </p:nvPicPr>
        <p:blipFill>
          <a:blip r:embed="rId4"/>
          <a:stretch>
            <a:fillRect/>
          </a:stretch>
        </p:blipFill>
        <p:spPr>
          <a:xfrm>
            <a:off x="10231116" y="3821041"/>
            <a:ext cx="347432" cy="446159"/>
          </a:xfrm>
          <a:prstGeom prst="rect">
            <a:avLst/>
          </a:prstGeom>
        </p:spPr>
      </p:pic>
      <p:pic>
        <p:nvPicPr>
          <p:cNvPr id="18" name="Picture 17">
            <a:extLst>
              <a:ext uri="{FF2B5EF4-FFF2-40B4-BE49-F238E27FC236}">
                <a16:creationId xmlns:a16="http://schemas.microsoft.com/office/drawing/2014/main" id="{4443AC8C-EC4C-1999-12CD-9E364F1AADE4}"/>
              </a:ext>
            </a:extLst>
          </p:cNvPr>
          <p:cNvPicPr>
            <a:picLocks noChangeAspect="1"/>
          </p:cNvPicPr>
          <p:nvPr/>
        </p:nvPicPr>
        <p:blipFill>
          <a:blip r:embed="rId4"/>
          <a:stretch>
            <a:fillRect/>
          </a:stretch>
        </p:blipFill>
        <p:spPr>
          <a:xfrm>
            <a:off x="10555357" y="3964779"/>
            <a:ext cx="228600" cy="293560"/>
          </a:xfrm>
          <a:prstGeom prst="rect">
            <a:avLst/>
          </a:prstGeom>
        </p:spPr>
      </p:pic>
      <p:pic>
        <p:nvPicPr>
          <p:cNvPr id="19" name="Picture 18">
            <a:extLst>
              <a:ext uri="{FF2B5EF4-FFF2-40B4-BE49-F238E27FC236}">
                <a16:creationId xmlns:a16="http://schemas.microsoft.com/office/drawing/2014/main" id="{E8BAF091-F582-12BE-5915-C2CFF706A553}"/>
              </a:ext>
            </a:extLst>
          </p:cNvPr>
          <p:cNvPicPr>
            <a:picLocks noChangeAspect="1"/>
          </p:cNvPicPr>
          <p:nvPr/>
        </p:nvPicPr>
        <p:blipFill>
          <a:blip r:embed="rId4"/>
          <a:stretch>
            <a:fillRect/>
          </a:stretch>
        </p:blipFill>
        <p:spPr>
          <a:xfrm>
            <a:off x="10131727" y="3883643"/>
            <a:ext cx="236132" cy="303232"/>
          </a:xfrm>
          <a:prstGeom prst="rect">
            <a:avLst/>
          </a:prstGeom>
        </p:spPr>
      </p:pic>
      <p:sp>
        <p:nvSpPr>
          <p:cNvPr id="23" name="TextBox 22">
            <a:extLst>
              <a:ext uri="{FF2B5EF4-FFF2-40B4-BE49-F238E27FC236}">
                <a16:creationId xmlns:a16="http://schemas.microsoft.com/office/drawing/2014/main" id="{E828425C-5BAE-C407-D657-6C77DB98B1CE}"/>
              </a:ext>
            </a:extLst>
          </p:cNvPr>
          <p:cNvSpPr txBox="1"/>
          <p:nvPr/>
        </p:nvSpPr>
        <p:spPr>
          <a:xfrm>
            <a:off x="426721" y="6091811"/>
            <a:ext cx="11384279" cy="646331"/>
          </a:xfrm>
          <a:prstGeom prst="rect">
            <a:avLst/>
          </a:prstGeom>
          <a:solidFill>
            <a:srgbClr val="24408D"/>
          </a:solidFill>
        </p:spPr>
        <p:txBody>
          <a:bodyPr wrap="square" lIns="91440" tIns="45720" rIns="91440" bIns="45720" anchor="t">
            <a:spAutoFit/>
          </a:bodyPr>
          <a:lstStyle/>
          <a:p>
            <a:r>
              <a:rPr lang="en-US" b="1" noProof="0">
                <a:solidFill>
                  <a:schemeClr val="bg1"/>
                </a:solidFill>
                <a:latin typeface="Trebuchet MS"/>
              </a:rPr>
              <a:t>Key Takeaway</a:t>
            </a:r>
            <a:r>
              <a:rPr lang="en-US" noProof="0">
                <a:solidFill>
                  <a:schemeClr val="bg1"/>
                </a:solidFill>
                <a:latin typeface="Trebuchet MS"/>
              </a:rPr>
              <a:t>: </a:t>
            </a:r>
            <a:r>
              <a:rPr lang="en-US">
                <a:solidFill>
                  <a:schemeClr val="bg1"/>
                </a:solidFill>
                <a:latin typeface="Trebuchet MS"/>
              </a:rPr>
              <a:t>Final yield</a:t>
            </a:r>
            <a:r>
              <a:rPr lang="en-US" noProof="0">
                <a:solidFill>
                  <a:schemeClr val="bg1"/>
                </a:solidFill>
                <a:latin typeface="Trebuchet MS"/>
              </a:rPr>
              <a:t> is useful for a quick view, but to really understand and improve performance, we need to go deeper.</a:t>
            </a:r>
          </a:p>
        </p:txBody>
      </p:sp>
      <p:sp>
        <p:nvSpPr>
          <p:cNvPr id="2" name="TextBox 1">
            <a:extLst>
              <a:ext uri="{FF2B5EF4-FFF2-40B4-BE49-F238E27FC236}">
                <a16:creationId xmlns:a16="http://schemas.microsoft.com/office/drawing/2014/main" id="{76A0F16A-9080-3E5F-15E6-F83B2DE8B079}"/>
              </a:ext>
            </a:extLst>
          </p:cNvPr>
          <p:cNvSpPr txBox="1"/>
          <p:nvPr/>
        </p:nvSpPr>
        <p:spPr>
          <a:xfrm>
            <a:off x="9156591" y="1756789"/>
            <a:ext cx="1434548" cy="381000"/>
          </a:xfrm>
          <a:prstGeom prst="rect">
            <a:avLst/>
          </a:prstGeom>
          <a:noFill/>
        </p:spPr>
        <p:txBody>
          <a:bodyPr wrap="square" rtlCol="0">
            <a:spAutoFit/>
          </a:bodyPr>
          <a:lstStyle/>
          <a:p>
            <a:r>
              <a:rPr lang="en-US" noProof="0">
                <a:solidFill>
                  <a:srgbClr val="00AF74"/>
                </a:solidFill>
                <a:latin typeface="Trebuchet MS" panose="020B0603020202020204" pitchFamily="34" charset="0"/>
              </a:rPr>
              <a:t>Cake A</a:t>
            </a:r>
          </a:p>
        </p:txBody>
      </p:sp>
      <p:sp>
        <p:nvSpPr>
          <p:cNvPr id="3" name="TextBox 2">
            <a:extLst>
              <a:ext uri="{FF2B5EF4-FFF2-40B4-BE49-F238E27FC236}">
                <a16:creationId xmlns:a16="http://schemas.microsoft.com/office/drawing/2014/main" id="{C8AF5AE2-17FF-70F0-2646-08BE7AF44C59}"/>
              </a:ext>
            </a:extLst>
          </p:cNvPr>
          <p:cNvSpPr txBox="1"/>
          <p:nvPr/>
        </p:nvSpPr>
        <p:spPr>
          <a:xfrm>
            <a:off x="10949609" y="3581400"/>
            <a:ext cx="1434548" cy="381000"/>
          </a:xfrm>
          <a:prstGeom prst="rect">
            <a:avLst/>
          </a:prstGeom>
          <a:noFill/>
        </p:spPr>
        <p:txBody>
          <a:bodyPr wrap="square" rtlCol="0">
            <a:spAutoFit/>
          </a:bodyPr>
          <a:lstStyle/>
          <a:p>
            <a:r>
              <a:rPr lang="en-US" noProof="0">
                <a:solidFill>
                  <a:srgbClr val="00AF74"/>
                </a:solidFill>
                <a:latin typeface="Trebuchet MS" panose="020B0603020202020204" pitchFamily="34" charset="0"/>
              </a:rPr>
              <a:t>Cake B</a:t>
            </a:r>
          </a:p>
        </p:txBody>
      </p:sp>
    </p:spTree>
    <p:extLst>
      <p:ext uri="{BB962C8B-B14F-4D97-AF65-F5344CB8AC3E}">
        <p14:creationId xmlns:p14="http://schemas.microsoft.com/office/powerpoint/2010/main" val="2649067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AD142-59F3-FC74-415E-2B53C36D197F}"/>
            </a:ext>
          </a:extLst>
        </p:cNvPr>
        <p:cNvGrpSpPr/>
        <p:nvPr/>
      </p:nvGrpSpPr>
      <p:grpSpPr>
        <a:xfrm>
          <a:off x="0" y="0"/>
          <a:ext cx="1" cy="1"/>
          <a:chOff x="0" y="0"/>
          <a:chExt cx="1" cy="1"/>
        </a:xfrm>
      </p:grpSpPr>
      <p:cxnSp>
        <p:nvCxnSpPr>
          <p:cNvPr id="22" name="Straight Arrow Connector 21">
            <a:extLst>
              <a:ext uri="{FF2B5EF4-FFF2-40B4-BE49-F238E27FC236}">
                <a16:creationId xmlns:a16="http://schemas.microsoft.com/office/drawing/2014/main" id="{362FBDA3-CC35-7A70-A903-8031B4342E65}"/>
              </a:ext>
            </a:extLst>
          </p:cNvPr>
          <p:cNvCxnSpPr>
            <a:cxnSpLocks/>
            <a:stCxn id="8" idx="2"/>
            <a:endCxn id="23" idx="0"/>
          </p:cNvCxnSpPr>
          <p:nvPr/>
        </p:nvCxnSpPr>
        <p:spPr>
          <a:xfrm>
            <a:off x="6986418" y="3304562"/>
            <a:ext cx="1" cy="2154245"/>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128CF02E-89D8-087F-5257-551FD59F4333}"/>
              </a:ext>
            </a:extLst>
          </p:cNvPr>
          <p:cNvSpPr>
            <a:spLocks noGrp="1"/>
          </p:cNvSpPr>
          <p:nvPr>
            <p:ph type="body" sz="quarter" idx="10"/>
          </p:nvPr>
        </p:nvSpPr>
        <p:spPr>
          <a:xfrm>
            <a:off x="533400" y="219670"/>
            <a:ext cx="8229600" cy="615553"/>
          </a:xfrm>
        </p:spPr>
        <p:txBody>
          <a:bodyPr wrap="square" lIns="0" tIns="0" rIns="0" bIns="0" anchor="t">
            <a:spAutoFit/>
          </a:bodyPr>
          <a:lstStyle/>
          <a:p>
            <a:r>
              <a:rPr lang="en-US" sz="4000">
                <a:latin typeface="Trebuchet MS"/>
                <a:cs typeface="Arial"/>
              </a:rPr>
              <a:t>Final Yield</a:t>
            </a:r>
            <a:r>
              <a:rPr lang="en-US" sz="4000" noProof="0">
                <a:latin typeface="Trebuchet MS"/>
                <a:cs typeface="Arial"/>
              </a:rPr>
              <a:t> to DPU Flow Example</a:t>
            </a:r>
          </a:p>
        </p:txBody>
      </p:sp>
      <p:sp>
        <p:nvSpPr>
          <p:cNvPr id="6" name="Rectangle: Rounded Corners 5">
            <a:extLst>
              <a:ext uri="{FF2B5EF4-FFF2-40B4-BE49-F238E27FC236}">
                <a16:creationId xmlns:a16="http://schemas.microsoft.com/office/drawing/2014/main" id="{53152292-6154-C02A-2031-4FBDAA757C30}"/>
              </a:ext>
            </a:extLst>
          </p:cNvPr>
          <p:cNvSpPr/>
          <p:nvPr/>
        </p:nvSpPr>
        <p:spPr>
          <a:xfrm>
            <a:off x="5995818" y="1603456"/>
            <a:ext cx="1981200" cy="567036"/>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latin typeface="Trebuchet MS" panose="020B0603020202020204" pitchFamily="34" charset="0"/>
              </a:rPr>
              <a:t>Units completed</a:t>
            </a:r>
          </a:p>
        </p:txBody>
      </p:sp>
      <p:sp>
        <p:nvSpPr>
          <p:cNvPr id="8" name="Flowchart: Decision 7">
            <a:extLst>
              <a:ext uri="{FF2B5EF4-FFF2-40B4-BE49-F238E27FC236}">
                <a16:creationId xmlns:a16="http://schemas.microsoft.com/office/drawing/2014/main" id="{581DA28F-04B8-0DC2-6D10-C4A7399E898E}"/>
              </a:ext>
            </a:extLst>
          </p:cNvPr>
          <p:cNvSpPr/>
          <p:nvPr/>
        </p:nvSpPr>
        <p:spPr>
          <a:xfrm>
            <a:off x="5843418" y="2466362"/>
            <a:ext cx="2286000" cy="838200"/>
          </a:xfrm>
          <a:prstGeom prst="flowChartDecision">
            <a:avLst/>
          </a:prstGeom>
          <a:solidFill>
            <a:srgbClr val="244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noProof="0">
                <a:latin typeface="Trebuchet MS" panose="020B0603020202020204" pitchFamily="34" charset="0"/>
              </a:rPr>
              <a:t>Defect Free</a:t>
            </a:r>
          </a:p>
        </p:txBody>
      </p:sp>
      <p:cxnSp>
        <p:nvCxnSpPr>
          <p:cNvPr id="10" name="Straight Connector 9">
            <a:extLst>
              <a:ext uri="{FF2B5EF4-FFF2-40B4-BE49-F238E27FC236}">
                <a16:creationId xmlns:a16="http://schemas.microsoft.com/office/drawing/2014/main" id="{2C880CA1-804B-FF9A-FCC1-9AF2C4093C85}"/>
              </a:ext>
            </a:extLst>
          </p:cNvPr>
          <p:cNvCxnSpPr>
            <a:cxnSpLocks/>
            <a:stCxn id="6" idx="2"/>
            <a:endCxn id="8" idx="0"/>
          </p:cNvCxnSpPr>
          <p:nvPr/>
        </p:nvCxnSpPr>
        <p:spPr>
          <a:xfrm>
            <a:off x="6986418" y="2170492"/>
            <a:ext cx="1" cy="295870"/>
          </a:xfrm>
          <a:prstGeom prst="line">
            <a:avLst/>
          </a:prstGeom>
          <a:ln w="38100">
            <a:solidFill>
              <a:srgbClr val="24408D"/>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7CD88C9-F3B9-7C04-0049-5DBF505533C4}"/>
              </a:ext>
            </a:extLst>
          </p:cNvPr>
          <p:cNvCxnSpPr>
            <a:cxnSpLocks/>
            <a:stCxn id="8" idx="3"/>
            <a:endCxn id="13" idx="2"/>
          </p:cNvCxnSpPr>
          <p:nvPr/>
        </p:nvCxnSpPr>
        <p:spPr>
          <a:xfrm>
            <a:off x="8129418" y="2885462"/>
            <a:ext cx="2437261" cy="1"/>
          </a:xfrm>
          <a:prstGeom prst="straightConnector1">
            <a:avLst/>
          </a:prstGeom>
          <a:ln w="38100">
            <a:solidFill>
              <a:srgbClr val="00AF74"/>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 name="Flowchart: Connector 12">
            <a:extLst>
              <a:ext uri="{FF2B5EF4-FFF2-40B4-BE49-F238E27FC236}">
                <a16:creationId xmlns:a16="http://schemas.microsoft.com/office/drawing/2014/main" id="{66CAC1A1-6D71-51D4-6899-842371D47AF0}"/>
              </a:ext>
            </a:extLst>
          </p:cNvPr>
          <p:cNvSpPr/>
          <p:nvPr/>
        </p:nvSpPr>
        <p:spPr>
          <a:xfrm>
            <a:off x="10566679" y="2294915"/>
            <a:ext cx="1219200" cy="1181093"/>
          </a:xfrm>
          <a:prstGeom prst="flowChartConnector">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latin typeface="Trebuchet MS"/>
              </a:rPr>
              <a:t>Final </a:t>
            </a:r>
            <a:endParaRPr lang="en-US" sz="2000" b="1">
              <a:latin typeface="Trebuchet MS" panose="020B0603020202020204" pitchFamily="34" charset="0"/>
            </a:endParaRPr>
          </a:p>
          <a:p>
            <a:pPr algn="ctr"/>
            <a:r>
              <a:rPr lang="en-US" sz="2000" b="1">
                <a:latin typeface="Trebuchet MS"/>
              </a:rPr>
              <a:t>Yield</a:t>
            </a:r>
            <a:endParaRPr lang="en-US" sz="2000" b="1" noProof="0">
              <a:latin typeface="Trebuchet MS" panose="020B0603020202020204" pitchFamily="34" charset="0"/>
            </a:endParaRPr>
          </a:p>
        </p:txBody>
      </p:sp>
      <p:sp>
        <p:nvSpPr>
          <p:cNvPr id="14" name="Rectangle: Rounded Corners 13">
            <a:extLst>
              <a:ext uri="{FF2B5EF4-FFF2-40B4-BE49-F238E27FC236}">
                <a16:creationId xmlns:a16="http://schemas.microsoft.com/office/drawing/2014/main" id="{6795D0BA-DE6E-77E1-E4B2-284801CB232A}"/>
              </a:ext>
            </a:extLst>
          </p:cNvPr>
          <p:cNvSpPr/>
          <p:nvPr/>
        </p:nvSpPr>
        <p:spPr>
          <a:xfrm>
            <a:off x="9046660" y="2656865"/>
            <a:ext cx="762000" cy="457191"/>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latin typeface="Trebuchet MS" panose="020B0603020202020204" pitchFamily="34" charset="0"/>
              </a:rPr>
              <a:t>YES</a:t>
            </a:r>
          </a:p>
        </p:txBody>
      </p:sp>
      <p:sp>
        <p:nvSpPr>
          <p:cNvPr id="17" name="Rectangle: Rounded Corners 16">
            <a:extLst>
              <a:ext uri="{FF2B5EF4-FFF2-40B4-BE49-F238E27FC236}">
                <a16:creationId xmlns:a16="http://schemas.microsoft.com/office/drawing/2014/main" id="{AD3FF5EB-89C8-4928-113E-541840233D8A}"/>
              </a:ext>
            </a:extLst>
          </p:cNvPr>
          <p:cNvSpPr/>
          <p:nvPr/>
        </p:nvSpPr>
        <p:spPr>
          <a:xfrm>
            <a:off x="6605418" y="3823924"/>
            <a:ext cx="762000" cy="457191"/>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latin typeface="Trebuchet MS" panose="020B0603020202020204" pitchFamily="34" charset="0"/>
              </a:rPr>
              <a:t>NO</a:t>
            </a:r>
          </a:p>
        </p:txBody>
      </p:sp>
      <p:sp>
        <p:nvSpPr>
          <p:cNvPr id="20" name="Rectangle 19">
            <a:extLst>
              <a:ext uri="{FF2B5EF4-FFF2-40B4-BE49-F238E27FC236}">
                <a16:creationId xmlns:a16="http://schemas.microsoft.com/office/drawing/2014/main" id="{4087C8FA-0701-4B6E-E6FE-54E400EB918F}"/>
              </a:ext>
            </a:extLst>
          </p:cNvPr>
          <p:cNvSpPr/>
          <p:nvPr/>
        </p:nvSpPr>
        <p:spPr>
          <a:xfrm>
            <a:off x="5843423" y="4573874"/>
            <a:ext cx="2285995" cy="532741"/>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latin typeface="Trebuchet MS" panose="020B0603020202020204" pitchFamily="34" charset="0"/>
              </a:rPr>
              <a:t>How many defects?</a:t>
            </a:r>
          </a:p>
        </p:txBody>
      </p:sp>
      <p:sp>
        <p:nvSpPr>
          <p:cNvPr id="23" name="Flowchart: Connector 22">
            <a:extLst>
              <a:ext uri="{FF2B5EF4-FFF2-40B4-BE49-F238E27FC236}">
                <a16:creationId xmlns:a16="http://schemas.microsoft.com/office/drawing/2014/main" id="{285067E6-353F-3FA7-551C-DBD21AC6D1BC}"/>
              </a:ext>
            </a:extLst>
          </p:cNvPr>
          <p:cNvSpPr/>
          <p:nvPr/>
        </p:nvSpPr>
        <p:spPr>
          <a:xfrm>
            <a:off x="6376818" y="5458807"/>
            <a:ext cx="1219200" cy="1181093"/>
          </a:xfrm>
          <a:prstGeom prst="flowChartConnector">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noProof="0">
                <a:latin typeface="Trebuchet MS" panose="020B0603020202020204" pitchFamily="34" charset="0"/>
              </a:rPr>
              <a:t>DPU</a:t>
            </a:r>
          </a:p>
        </p:txBody>
      </p:sp>
      <p:sp>
        <p:nvSpPr>
          <p:cNvPr id="2" name="TextBox 1">
            <a:extLst>
              <a:ext uri="{FF2B5EF4-FFF2-40B4-BE49-F238E27FC236}">
                <a16:creationId xmlns:a16="http://schemas.microsoft.com/office/drawing/2014/main" id="{843C36C8-E963-02C6-6A00-A4D0BF61F4BF}"/>
              </a:ext>
            </a:extLst>
          </p:cNvPr>
          <p:cNvSpPr txBox="1"/>
          <p:nvPr/>
        </p:nvSpPr>
        <p:spPr>
          <a:xfrm>
            <a:off x="500341" y="1370273"/>
            <a:ext cx="4649619" cy="1538883"/>
          </a:xfrm>
          <a:prstGeom prst="rect">
            <a:avLst/>
          </a:prstGeom>
          <a:solidFill>
            <a:schemeClr val="bg1"/>
          </a:solidFill>
          <a:ln w="57150">
            <a:solidFill>
              <a:srgbClr val="7030A0"/>
            </a:solidFill>
          </a:ln>
        </p:spPr>
        <p:txBody>
          <a:bodyPr wrap="square" rtlCol="0">
            <a:spAutoFit/>
          </a:bodyPr>
          <a:lstStyle/>
          <a:p>
            <a:r>
              <a:rPr lang="en-US" sz="1400" b="1" noProof="0">
                <a:solidFill>
                  <a:srgbClr val="002060"/>
                </a:solidFill>
                <a:latin typeface="Trebuchet MS" panose="020B0603020202020204" pitchFamily="34" charset="0"/>
              </a:rPr>
              <a:t>Unit examples (item to be created or processed):</a:t>
            </a:r>
          </a:p>
          <a:p>
            <a:pPr marL="285750" indent="-285750">
              <a:buFont typeface="Arial" panose="020B0604020202020204" pitchFamily="34" charset="0"/>
              <a:buChar char="•"/>
            </a:pPr>
            <a:endParaRPr lang="en-US" sz="5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200" noProof="0">
                <a:solidFill>
                  <a:srgbClr val="002060"/>
                </a:solidFill>
                <a:latin typeface="Trebuchet MS" panose="020B0603020202020204" pitchFamily="34" charset="0"/>
              </a:rPr>
              <a:t>Cases created</a:t>
            </a:r>
          </a:p>
          <a:p>
            <a:pPr marL="285750" indent="-285750">
              <a:buFont typeface="Arial" panose="020B0604020202020204" pitchFamily="34" charset="0"/>
              <a:buChar char="•"/>
            </a:pPr>
            <a:r>
              <a:rPr lang="en-US" sz="1200" noProof="0">
                <a:solidFill>
                  <a:srgbClr val="002060"/>
                </a:solidFill>
                <a:latin typeface="Trebuchet MS" panose="020B0603020202020204" pitchFamily="34" charset="0"/>
              </a:rPr>
              <a:t>HR requests</a:t>
            </a:r>
          </a:p>
          <a:p>
            <a:pPr marL="285750" indent="-285750">
              <a:buFont typeface="Arial" panose="020B0604020202020204" pitchFamily="34" charset="0"/>
              <a:buChar char="•"/>
            </a:pPr>
            <a:r>
              <a:rPr lang="en-US" sz="1200" noProof="0">
                <a:solidFill>
                  <a:srgbClr val="002060"/>
                </a:solidFill>
                <a:latin typeface="Trebuchet MS" panose="020B0603020202020204" pitchFamily="34" charset="0"/>
              </a:rPr>
              <a:t>Payroll transactions</a:t>
            </a:r>
          </a:p>
          <a:p>
            <a:pPr marL="285750" indent="-285750">
              <a:buFont typeface="Arial" panose="020B0604020202020204" pitchFamily="34" charset="0"/>
              <a:buChar char="•"/>
            </a:pPr>
            <a:r>
              <a:rPr lang="en-US" sz="1200" noProof="0">
                <a:solidFill>
                  <a:srgbClr val="002060"/>
                </a:solidFill>
                <a:latin typeface="Trebuchet MS" panose="020B0603020202020204" pitchFamily="34" charset="0"/>
              </a:rPr>
              <a:t>Leave requests</a:t>
            </a:r>
          </a:p>
          <a:p>
            <a:pPr marL="285750" indent="-285750">
              <a:buFont typeface="Arial" panose="020B0604020202020204" pitchFamily="34" charset="0"/>
              <a:buChar char="•"/>
            </a:pPr>
            <a:r>
              <a:rPr lang="en-US" sz="1200" noProof="0">
                <a:solidFill>
                  <a:srgbClr val="002060"/>
                </a:solidFill>
                <a:latin typeface="Trebuchet MS" panose="020B0603020202020204" pitchFamily="34" charset="0"/>
              </a:rPr>
              <a:t>Benefits inquiries</a:t>
            </a:r>
          </a:p>
          <a:p>
            <a:pPr marL="285750" indent="-285750">
              <a:buFont typeface="Arial" panose="020B0604020202020204" pitchFamily="34" charset="0"/>
              <a:buChar char="•"/>
            </a:pPr>
            <a:r>
              <a:rPr lang="en-US" sz="1200" noProof="0">
                <a:solidFill>
                  <a:srgbClr val="002060"/>
                </a:solidFill>
                <a:latin typeface="Trebuchet MS" panose="020B0603020202020204" pitchFamily="34" charset="0"/>
              </a:rPr>
              <a:t>Employee onboarding/offboarding actions</a:t>
            </a:r>
          </a:p>
        </p:txBody>
      </p:sp>
      <p:cxnSp>
        <p:nvCxnSpPr>
          <p:cNvPr id="4" name="Straight Arrow Connector 3">
            <a:extLst>
              <a:ext uri="{FF2B5EF4-FFF2-40B4-BE49-F238E27FC236}">
                <a16:creationId xmlns:a16="http://schemas.microsoft.com/office/drawing/2014/main" id="{283E9C6A-52A9-56C3-3CA8-374887268B2D}"/>
              </a:ext>
            </a:extLst>
          </p:cNvPr>
          <p:cNvCxnSpPr>
            <a:cxnSpLocks/>
            <a:stCxn id="2" idx="3"/>
            <a:endCxn id="6" idx="1"/>
          </p:cNvCxnSpPr>
          <p:nvPr/>
        </p:nvCxnSpPr>
        <p:spPr>
          <a:xfrm flipV="1">
            <a:off x="5149960" y="1886974"/>
            <a:ext cx="845858" cy="252741"/>
          </a:xfrm>
          <a:prstGeom prst="straightConnector1">
            <a:avLst/>
          </a:prstGeom>
          <a:ln w="38100">
            <a:solidFill>
              <a:srgbClr val="7030A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6EA7F3B-7105-8B57-2CEE-3452EA93DF3E}"/>
              </a:ext>
            </a:extLst>
          </p:cNvPr>
          <p:cNvSpPr txBox="1"/>
          <p:nvPr/>
        </p:nvSpPr>
        <p:spPr>
          <a:xfrm>
            <a:off x="8610608" y="4135368"/>
            <a:ext cx="3187972" cy="2215991"/>
          </a:xfrm>
          <a:prstGeom prst="rect">
            <a:avLst/>
          </a:prstGeom>
          <a:solidFill>
            <a:schemeClr val="bg1"/>
          </a:solidFill>
          <a:ln>
            <a:solidFill>
              <a:srgbClr val="00AF74"/>
            </a:solidFill>
          </a:ln>
        </p:spPr>
        <p:txBody>
          <a:bodyPr wrap="square" lIns="91440" tIns="45720" rIns="91440" bIns="45720" rtlCol="0" anchor="t">
            <a:spAutoFit/>
          </a:bodyPr>
          <a:lstStyle>
            <a:defPPr>
              <a:defRPr lang="en-US"/>
            </a:defPPr>
            <a:lvl1pPr marL="285750" indent="-285750">
              <a:buFont typeface="Arial" panose="020B0604020202020204" pitchFamily="34" charset="0"/>
              <a:buChar char="•"/>
              <a:defRPr sz="1600">
                <a:latin typeface="Trebuchet MS" panose="020B0603020202020204" pitchFamily="34" charset="0"/>
              </a:defRPr>
            </a:lvl1pPr>
          </a:lstStyle>
          <a:p>
            <a:pPr marL="0" indent="0">
              <a:buNone/>
            </a:pPr>
            <a:r>
              <a:rPr lang="en-US" sz="1400" b="1">
                <a:solidFill>
                  <a:srgbClr val="002060"/>
                </a:solidFill>
                <a:latin typeface="Trebuchet MS"/>
              </a:rPr>
              <a:t>Final yield</a:t>
            </a:r>
            <a:r>
              <a:rPr lang="en-US" sz="1400" b="1" noProof="0">
                <a:solidFill>
                  <a:srgbClr val="002060"/>
                </a:solidFill>
                <a:latin typeface="Trebuchet MS"/>
              </a:rPr>
              <a:t> examples ( % Items completed first time)</a:t>
            </a:r>
          </a:p>
          <a:p>
            <a:endParaRPr lang="en-US" sz="1200" noProof="0">
              <a:solidFill>
                <a:srgbClr val="002060"/>
              </a:solidFill>
            </a:endParaRPr>
          </a:p>
          <a:p>
            <a:r>
              <a:rPr lang="en-US" sz="1200" noProof="0">
                <a:solidFill>
                  <a:srgbClr val="002060"/>
                </a:solidFill>
              </a:rPr>
              <a:t>Cases/requests completed correctly the first time </a:t>
            </a:r>
          </a:p>
          <a:p>
            <a:r>
              <a:rPr lang="en-US" sz="1200" noProof="0">
                <a:solidFill>
                  <a:srgbClr val="002060"/>
                </a:solidFill>
              </a:rPr>
              <a:t>No rework required </a:t>
            </a:r>
          </a:p>
          <a:p>
            <a:r>
              <a:rPr lang="en-US" sz="1200" noProof="0">
                <a:solidFill>
                  <a:srgbClr val="002060"/>
                </a:solidFill>
              </a:rPr>
              <a:t>No escalation required </a:t>
            </a:r>
          </a:p>
          <a:p>
            <a:r>
              <a:rPr lang="en-US" sz="1200" noProof="0">
                <a:solidFill>
                  <a:srgbClr val="002060"/>
                </a:solidFill>
              </a:rPr>
              <a:t>Targets met</a:t>
            </a:r>
          </a:p>
          <a:p>
            <a:endParaRPr lang="en-US" sz="1200" noProof="0">
              <a:solidFill>
                <a:srgbClr val="002060"/>
              </a:solidFill>
            </a:endParaRPr>
          </a:p>
          <a:p>
            <a:pPr marL="0" indent="0" algn="ctr">
              <a:buNone/>
            </a:pPr>
            <a:r>
              <a:rPr lang="en-US" sz="1400" b="1" noProof="0">
                <a:solidFill>
                  <a:srgbClr val="002060"/>
                </a:solidFill>
                <a:latin typeface="Trebuchet MS"/>
              </a:rPr>
              <a:t>Final Yield =</a:t>
            </a:r>
            <a:r>
              <a:rPr lang="en-US" sz="1200" noProof="0">
                <a:solidFill>
                  <a:srgbClr val="002060"/>
                </a:solidFill>
                <a:latin typeface="Trebuchet MS"/>
              </a:rPr>
              <a:t> </a:t>
            </a:r>
            <a:r>
              <a:rPr lang="en-US" sz="1200" b="1" u="sng" noProof="0">
                <a:solidFill>
                  <a:srgbClr val="002060"/>
                </a:solidFill>
                <a:latin typeface="Trebuchet MS"/>
              </a:rPr>
              <a:t>Right first time</a:t>
            </a:r>
          </a:p>
          <a:p>
            <a:pPr marL="0" indent="0" algn="ctr">
              <a:buNone/>
            </a:pPr>
            <a:r>
              <a:rPr lang="en-US" sz="1200" b="1" noProof="0">
                <a:solidFill>
                  <a:srgbClr val="002060"/>
                </a:solidFill>
              </a:rPr>
              <a:t>	Total number of items</a:t>
            </a:r>
          </a:p>
        </p:txBody>
      </p:sp>
      <p:cxnSp>
        <p:nvCxnSpPr>
          <p:cNvPr id="16" name="Straight Arrow Connector 15">
            <a:extLst>
              <a:ext uri="{FF2B5EF4-FFF2-40B4-BE49-F238E27FC236}">
                <a16:creationId xmlns:a16="http://schemas.microsoft.com/office/drawing/2014/main" id="{CCF9057D-4BF0-B89F-E979-ACAE133747D9}"/>
              </a:ext>
            </a:extLst>
          </p:cNvPr>
          <p:cNvCxnSpPr>
            <a:cxnSpLocks/>
            <a:stCxn id="11" idx="0"/>
            <a:endCxn id="13" idx="4"/>
          </p:cNvCxnSpPr>
          <p:nvPr/>
        </p:nvCxnSpPr>
        <p:spPr>
          <a:xfrm flipV="1">
            <a:off x="10204594" y="3476008"/>
            <a:ext cx="971685" cy="659360"/>
          </a:xfrm>
          <a:prstGeom prst="straightConnector1">
            <a:avLst/>
          </a:prstGeom>
          <a:ln w="38100">
            <a:solidFill>
              <a:srgbClr val="00AF74"/>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70C9AA6-FFF7-5459-B23C-54AAEE5D8FF5}"/>
              </a:ext>
            </a:extLst>
          </p:cNvPr>
          <p:cNvSpPr txBox="1"/>
          <p:nvPr/>
        </p:nvSpPr>
        <p:spPr>
          <a:xfrm>
            <a:off x="510000" y="5495356"/>
            <a:ext cx="4643770" cy="1107996"/>
          </a:xfrm>
          <a:prstGeom prst="rect">
            <a:avLst/>
          </a:prstGeom>
          <a:solidFill>
            <a:schemeClr val="bg1"/>
          </a:solidFill>
          <a:ln>
            <a:solidFill>
              <a:srgbClr val="FF0000"/>
            </a:solidFill>
          </a:ln>
        </p:spPr>
        <p:txBody>
          <a:bodyPr wrap="square" rtlCol="0">
            <a:spAutoFit/>
          </a:bodyPr>
          <a:lstStyle>
            <a:defPPr>
              <a:defRPr lang="en-US"/>
            </a:defPPr>
            <a:lvl1pPr marL="285750" indent="-285750">
              <a:buFont typeface="Arial" panose="020B0604020202020204" pitchFamily="34" charset="0"/>
              <a:buChar char="•"/>
              <a:defRPr sz="1600">
                <a:latin typeface="Trebuchet MS" panose="020B0603020202020204" pitchFamily="34" charset="0"/>
              </a:defRPr>
            </a:lvl1pPr>
          </a:lstStyle>
          <a:p>
            <a:pPr marL="0" indent="0">
              <a:buNone/>
            </a:pPr>
            <a:r>
              <a:rPr lang="en-US" sz="1400" b="1" noProof="0">
                <a:solidFill>
                  <a:srgbClr val="002060"/>
                </a:solidFill>
              </a:rPr>
              <a:t>Defects per unit (number of defects of total units)</a:t>
            </a:r>
          </a:p>
          <a:p>
            <a:pPr marL="0" indent="0">
              <a:buNone/>
            </a:pPr>
            <a:endParaRPr lang="en-US" sz="1400" b="1" noProof="0">
              <a:solidFill>
                <a:srgbClr val="002060"/>
              </a:solidFill>
            </a:endParaRPr>
          </a:p>
          <a:p>
            <a:pPr marL="0" indent="0">
              <a:buNone/>
            </a:pPr>
            <a:r>
              <a:rPr lang="en-US" sz="1200" b="1" noProof="0">
                <a:solidFill>
                  <a:srgbClr val="002060"/>
                </a:solidFill>
              </a:rPr>
              <a:t>DPU=	</a:t>
            </a:r>
            <a:r>
              <a:rPr lang="en-US" sz="1200" b="1" u="sng" noProof="0">
                <a:solidFill>
                  <a:srgbClr val="002060"/>
                </a:solidFill>
              </a:rPr>
              <a:t>Total defects</a:t>
            </a:r>
          </a:p>
          <a:p>
            <a:pPr marL="0" indent="0">
              <a:buNone/>
            </a:pPr>
            <a:r>
              <a:rPr lang="en-US" sz="1200" b="1" noProof="0">
                <a:solidFill>
                  <a:srgbClr val="002060"/>
                </a:solidFill>
              </a:rPr>
              <a:t>	Total Units completed</a:t>
            </a:r>
            <a:endParaRPr lang="en-US" sz="1200" noProof="0">
              <a:solidFill>
                <a:srgbClr val="002060"/>
              </a:solidFill>
            </a:endParaRPr>
          </a:p>
          <a:p>
            <a:pPr marL="0" indent="0">
              <a:buNone/>
            </a:pPr>
            <a:endParaRPr lang="en-US" sz="1400" noProof="0">
              <a:solidFill>
                <a:srgbClr val="002060"/>
              </a:solidFill>
            </a:endParaRPr>
          </a:p>
        </p:txBody>
      </p:sp>
      <p:cxnSp>
        <p:nvCxnSpPr>
          <p:cNvPr id="25" name="Straight Arrow Connector 24">
            <a:extLst>
              <a:ext uri="{FF2B5EF4-FFF2-40B4-BE49-F238E27FC236}">
                <a16:creationId xmlns:a16="http://schemas.microsoft.com/office/drawing/2014/main" id="{D46ADB68-7611-536D-B9F8-6BBBB3E1199B}"/>
              </a:ext>
            </a:extLst>
          </p:cNvPr>
          <p:cNvCxnSpPr>
            <a:cxnSpLocks/>
            <a:stCxn id="32" idx="3"/>
            <a:endCxn id="8" idx="1"/>
          </p:cNvCxnSpPr>
          <p:nvPr/>
        </p:nvCxnSpPr>
        <p:spPr>
          <a:xfrm flipV="1">
            <a:off x="5153770" y="2885462"/>
            <a:ext cx="689648" cy="1067750"/>
          </a:xfrm>
          <a:prstGeom prst="straightConnector1">
            <a:avLst/>
          </a:prstGeom>
          <a:ln w="38100">
            <a:solidFill>
              <a:srgbClr val="00206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A5B3184-B888-C3AF-8EE0-6498FA22BE17}"/>
              </a:ext>
            </a:extLst>
          </p:cNvPr>
          <p:cNvSpPr txBox="1"/>
          <p:nvPr/>
        </p:nvSpPr>
        <p:spPr>
          <a:xfrm>
            <a:off x="510000" y="3114521"/>
            <a:ext cx="4643770" cy="1677382"/>
          </a:xfrm>
          <a:prstGeom prst="rect">
            <a:avLst/>
          </a:prstGeom>
          <a:solidFill>
            <a:schemeClr val="bg1"/>
          </a:solidFill>
          <a:ln w="57150">
            <a:solidFill>
              <a:srgbClr val="002060"/>
            </a:solidFill>
          </a:ln>
        </p:spPr>
        <p:txBody>
          <a:bodyPr wrap="square" rtlCol="0">
            <a:spAutoFit/>
          </a:bodyPr>
          <a:lstStyle>
            <a:defPPr>
              <a:defRPr lang="en-US"/>
            </a:defPPr>
            <a:lvl1pPr marL="285750" indent="-285750">
              <a:buFont typeface="Arial" panose="020B0604020202020204" pitchFamily="34" charset="0"/>
              <a:buChar char="•"/>
              <a:defRPr sz="1600">
                <a:latin typeface="Trebuchet MS" panose="020B0603020202020204" pitchFamily="34" charset="0"/>
              </a:defRPr>
            </a:lvl1pPr>
          </a:lstStyle>
          <a:p>
            <a:pPr marL="0" indent="0">
              <a:buNone/>
            </a:pPr>
            <a:r>
              <a:rPr lang="en-US" sz="1400" b="1" noProof="0">
                <a:solidFill>
                  <a:srgbClr val="002060"/>
                </a:solidFill>
              </a:rPr>
              <a:t>Defect examples (things that have gone wrong):</a:t>
            </a:r>
          </a:p>
          <a:p>
            <a:pPr marL="0" indent="0">
              <a:buNone/>
            </a:pPr>
            <a:endParaRPr lang="en-US" sz="500" b="1" noProof="0">
              <a:solidFill>
                <a:srgbClr val="002060"/>
              </a:solidFill>
            </a:endParaRPr>
          </a:p>
          <a:p>
            <a:r>
              <a:rPr lang="en-US" sz="1200" noProof="0">
                <a:solidFill>
                  <a:srgbClr val="002060"/>
                </a:solidFill>
              </a:rPr>
              <a:t>Incorrect case update</a:t>
            </a:r>
          </a:p>
          <a:p>
            <a:r>
              <a:rPr lang="en-US" sz="1200" noProof="0">
                <a:solidFill>
                  <a:srgbClr val="002060"/>
                </a:solidFill>
              </a:rPr>
              <a:t>Payroll processing error</a:t>
            </a:r>
          </a:p>
          <a:p>
            <a:r>
              <a:rPr lang="en-US" sz="1200" noProof="0">
                <a:solidFill>
                  <a:srgbClr val="002060"/>
                </a:solidFill>
              </a:rPr>
              <a:t>Missing documentation</a:t>
            </a:r>
          </a:p>
          <a:p>
            <a:r>
              <a:rPr lang="en-US" sz="1200" noProof="0">
                <a:solidFill>
                  <a:srgbClr val="002060"/>
                </a:solidFill>
              </a:rPr>
              <a:t>Wrong benefit enrollment</a:t>
            </a:r>
          </a:p>
          <a:p>
            <a:r>
              <a:rPr lang="en-US" sz="1200" noProof="0">
                <a:solidFill>
                  <a:srgbClr val="002060"/>
                </a:solidFill>
              </a:rPr>
              <a:t>Completion timescale failure</a:t>
            </a:r>
          </a:p>
          <a:p>
            <a:r>
              <a:rPr lang="en-US" sz="1200" noProof="0">
                <a:solidFill>
                  <a:srgbClr val="002060"/>
                </a:solidFill>
              </a:rPr>
              <a:t>Case reassignment</a:t>
            </a:r>
          </a:p>
          <a:p>
            <a:r>
              <a:rPr lang="en-US" sz="1200" noProof="0">
                <a:solidFill>
                  <a:srgbClr val="002060"/>
                </a:solidFill>
              </a:rPr>
              <a:t>Employee/Customer call back required</a:t>
            </a:r>
            <a:endParaRPr lang="en-US" sz="1400" noProof="0">
              <a:solidFill>
                <a:srgbClr val="002060"/>
              </a:solidFill>
            </a:endParaRPr>
          </a:p>
        </p:txBody>
      </p:sp>
      <p:cxnSp>
        <p:nvCxnSpPr>
          <p:cNvPr id="37" name="Straight Arrow Connector 36">
            <a:extLst>
              <a:ext uri="{FF2B5EF4-FFF2-40B4-BE49-F238E27FC236}">
                <a16:creationId xmlns:a16="http://schemas.microsoft.com/office/drawing/2014/main" id="{702331C1-9514-6F11-74B9-B4735ABE06D6}"/>
              </a:ext>
            </a:extLst>
          </p:cNvPr>
          <p:cNvCxnSpPr>
            <a:cxnSpLocks/>
            <a:stCxn id="21" idx="3"/>
            <a:endCxn id="23" idx="2"/>
          </p:cNvCxnSpPr>
          <p:nvPr/>
        </p:nvCxnSpPr>
        <p:spPr>
          <a:xfrm>
            <a:off x="5153770" y="6049354"/>
            <a:ext cx="1223048" cy="1"/>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746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4F3C461B-B06D-8BBA-5D1B-5204277A6DCE}"/>
              </a:ext>
            </a:extLst>
          </p:cNvPr>
          <p:cNvSpPr>
            <a:spLocks noGrp="1"/>
          </p:cNvSpPr>
          <p:nvPr>
            <p:ph type="body" sz="quarter" idx="10"/>
          </p:nvPr>
        </p:nvSpPr>
        <p:spPr>
          <a:xfrm>
            <a:off x="533400" y="219670"/>
            <a:ext cx="8305800" cy="615553"/>
          </a:xfrm>
        </p:spPr>
        <p:txBody>
          <a:bodyPr/>
          <a:lstStyle/>
          <a:p>
            <a:r>
              <a:rPr lang="en-US" sz="4000" noProof="0">
                <a:latin typeface="Trebuchet MS" panose="020B0603020202020204" pitchFamily="34" charset="0"/>
              </a:rPr>
              <a:t>Defects Per Unit (DPU)</a:t>
            </a:r>
          </a:p>
        </p:txBody>
      </p:sp>
      <p:sp>
        <p:nvSpPr>
          <p:cNvPr id="7" name="TextBox 6">
            <a:extLst>
              <a:ext uri="{FF2B5EF4-FFF2-40B4-BE49-F238E27FC236}">
                <a16:creationId xmlns:a16="http://schemas.microsoft.com/office/drawing/2014/main" id="{85FC207F-C0B8-463E-826A-DA02E29D757D}"/>
              </a:ext>
            </a:extLst>
          </p:cNvPr>
          <p:cNvSpPr txBox="1"/>
          <p:nvPr/>
        </p:nvSpPr>
        <p:spPr>
          <a:xfrm>
            <a:off x="533400" y="1674674"/>
            <a:ext cx="10896600" cy="1200329"/>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noProof="0">
                <a:solidFill>
                  <a:srgbClr val="002060"/>
                </a:solidFill>
                <a:latin typeface="Trebuchet MS" panose="020B0603020202020204" pitchFamily="34" charset="0"/>
              </a:rPr>
              <a:t>Rather than simply classifying units as good or bad, DPU counts every defect.</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DPU answers the question: “How many defects does each unit contain?”</a:t>
            </a:r>
          </a:p>
          <a:p>
            <a:pPr marL="285750" indent="-285750">
              <a:buFont typeface="Arial" panose="020B0604020202020204" pitchFamily="34" charset="0"/>
              <a:buChar char="•"/>
            </a:pPr>
            <a:r>
              <a:rPr lang="en-US">
                <a:solidFill>
                  <a:srgbClr val="002060"/>
                </a:solidFill>
                <a:latin typeface="Trebuchet MS"/>
              </a:rPr>
              <a:t>Final Yield</a:t>
            </a:r>
            <a:r>
              <a:rPr lang="en-US" noProof="0">
                <a:solidFill>
                  <a:srgbClr val="002060"/>
                </a:solidFill>
                <a:latin typeface="Trebuchet MS"/>
              </a:rPr>
              <a:t> measures how many units are defect-free, while DPU measures the number of defects within those units.</a:t>
            </a:r>
          </a:p>
        </p:txBody>
      </p:sp>
      <p:graphicFrame>
        <p:nvGraphicFramePr>
          <p:cNvPr id="10" name="Table 9">
            <a:extLst>
              <a:ext uri="{FF2B5EF4-FFF2-40B4-BE49-F238E27FC236}">
                <a16:creationId xmlns:a16="http://schemas.microsoft.com/office/drawing/2014/main" id="{C2674746-5706-21A2-0B48-08283CA2B950}"/>
              </a:ext>
            </a:extLst>
          </p:cNvPr>
          <p:cNvGraphicFramePr>
            <a:graphicFrameLocks noGrp="1"/>
          </p:cNvGraphicFramePr>
          <p:nvPr>
            <p:extLst>
              <p:ext uri="{D42A27DB-BD31-4B8C-83A1-F6EECF244321}">
                <p14:modId xmlns:p14="http://schemas.microsoft.com/office/powerpoint/2010/main" val="404441411"/>
              </p:ext>
            </p:extLst>
          </p:nvPr>
        </p:nvGraphicFramePr>
        <p:xfrm>
          <a:off x="655321" y="3307814"/>
          <a:ext cx="11071224" cy="1097280"/>
        </p:xfrm>
        <a:graphic>
          <a:graphicData uri="http://schemas.openxmlformats.org/drawingml/2006/table">
            <a:tbl>
              <a:tblPr/>
              <a:tblGrid>
                <a:gridCol w="3690408">
                  <a:extLst>
                    <a:ext uri="{9D8B030D-6E8A-4147-A177-3AD203B41FA5}">
                      <a16:colId xmlns:a16="http://schemas.microsoft.com/office/drawing/2014/main" val="1932457824"/>
                    </a:ext>
                  </a:extLst>
                </a:gridCol>
                <a:gridCol w="3690408">
                  <a:extLst>
                    <a:ext uri="{9D8B030D-6E8A-4147-A177-3AD203B41FA5}">
                      <a16:colId xmlns:a16="http://schemas.microsoft.com/office/drawing/2014/main" val="2023425170"/>
                    </a:ext>
                  </a:extLst>
                </a:gridCol>
                <a:gridCol w="3690408">
                  <a:extLst>
                    <a:ext uri="{9D8B030D-6E8A-4147-A177-3AD203B41FA5}">
                      <a16:colId xmlns:a16="http://schemas.microsoft.com/office/drawing/2014/main" val="3285382461"/>
                    </a:ext>
                  </a:extLst>
                </a:gridCol>
              </a:tblGrid>
              <a:tr h="0">
                <a:tc>
                  <a:txBody>
                    <a:bodyPr/>
                    <a:lstStyle/>
                    <a:p>
                      <a:pPr>
                        <a:buNone/>
                      </a:pPr>
                      <a:r>
                        <a:rPr lang="en-US" b="1" noProof="0">
                          <a:solidFill>
                            <a:schemeClr val="bg1"/>
                          </a:solidFill>
                          <a:latin typeface="Trebuchet MS" panose="020B0603020202020204" pitchFamily="34" charset="0"/>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4408D"/>
                    </a:solidFill>
                  </a:tcPr>
                </a:tc>
                <a:tc>
                  <a:txBody>
                    <a:bodyPr/>
                    <a:lstStyle/>
                    <a:p>
                      <a:pPr>
                        <a:buNone/>
                      </a:pPr>
                      <a:r>
                        <a:rPr lang="en-US" b="1" noProof="0">
                          <a:solidFill>
                            <a:schemeClr val="bg1"/>
                          </a:solidFill>
                          <a:latin typeface="Trebuchet MS" panose="020B0603020202020204" pitchFamily="34" charset="0"/>
                        </a:rPr>
                        <a:t>What it Measures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4408D"/>
                    </a:solidFill>
                  </a:tcPr>
                </a:tc>
                <a:tc>
                  <a:txBody>
                    <a:bodyPr/>
                    <a:lstStyle/>
                    <a:p>
                      <a:pPr>
                        <a:buNone/>
                      </a:pPr>
                      <a:r>
                        <a:rPr lang="en-US" b="1" noProof="0">
                          <a:solidFill>
                            <a:schemeClr val="bg1"/>
                          </a:solidFill>
                          <a:latin typeface="Trebuchet MS" panose="020B0603020202020204" pitchFamily="34" charset="0"/>
                        </a:rPr>
                        <a:t>Focus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4408D"/>
                    </a:solidFill>
                  </a:tcPr>
                </a:tc>
                <a:extLst>
                  <a:ext uri="{0D108BD9-81ED-4DB2-BD59-A6C34878D82A}">
                    <a16:rowId xmlns:a16="http://schemas.microsoft.com/office/drawing/2014/main" val="3373580149"/>
                  </a:ext>
                </a:extLst>
              </a:tr>
              <a:tr h="0">
                <a:tc>
                  <a:txBody>
                    <a:bodyPr/>
                    <a:lstStyle/>
                    <a:p>
                      <a:pPr>
                        <a:buNone/>
                      </a:pPr>
                      <a:r>
                        <a:rPr lang="en-US" noProof="0">
                          <a:solidFill>
                            <a:srgbClr val="002060"/>
                          </a:solidFill>
                          <a:latin typeface="Trebuchet MS"/>
                        </a:rPr>
                        <a:t>Final Yield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noProof="0">
                          <a:solidFill>
                            <a:srgbClr val="002060"/>
                          </a:solidFill>
                          <a:latin typeface="Trebuchet MS" panose="020B0603020202020204" pitchFamily="34" charset="0"/>
                        </a:rPr>
                        <a:t>% of defect-free units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noProof="0">
                          <a:solidFill>
                            <a:srgbClr val="002060"/>
                          </a:solidFill>
                          <a:latin typeface="Trebuchet MS" panose="020B0603020202020204" pitchFamily="34" charset="0"/>
                        </a:rPr>
                        <a:t>Outcome (Good vs Bad)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6151279"/>
                  </a:ext>
                </a:extLst>
              </a:tr>
              <a:tr h="0">
                <a:tc>
                  <a:txBody>
                    <a:bodyPr/>
                    <a:lstStyle/>
                    <a:p>
                      <a:pPr>
                        <a:buNone/>
                      </a:pPr>
                      <a:r>
                        <a:rPr lang="en-US" noProof="0">
                          <a:solidFill>
                            <a:srgbClr val="002060"/>
                          </a:solidFill>
                          <a:latin typeface="Trebuchet MS" panose="020B0603020202020204" pitchFamily="34" charset="0"/>
                        </a:rPr>
                        <a:t>DPU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noProof="0">
                          <a:solidFill>
                            <a:srgbClr val="002060"/>
                          </a:solidFill>
                          <a:latin typeface="Trebuchet MS" panose="020B0603020202020204" pitchFamily="34" charset="0"/>
                        </a:rPr>
                        <a:t>Average defects per unit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noProof="0">
                          <a:solidFill>
                            <a:srgbClr val="002060"/>
                          </a:solidFill>
                          <a:latin typeface="Trebuchet MS" panose="020B0603020202020204" pitchFamily="34" charset="0"/>
                        </a:rPr>
                        <a:t>Detail (How many defects)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7589384"/>
                  </a:ext>
                </a:extLst>
              </a:tr>
            </a:tbl>
          </a:graphicData>
        </a:graphic>
      </p:graphicFrame>
      <p:sp>
        <p:nvSpPr>
          <p:cNvPr id="13" name="TextBox 12">
            <a:extLst>
              <a:ext uri="{FF2B5EF4-FFF2-40B4-BE49-F238E27FC236}">
                <a16:creationId xmlns:a16="http://schemas.microsoft.com/office/drawing/2014/main" id="{2CDBEC32-515B-9037-CE1D-3B4488474E3A}"/>
              </a:ext>
            </a:extLst>
          </p:cNvPr>
          <p:cNvSpPr txBox="1"/>
          <p:nvPr/>
        </p:nvSpPr>
        <p:spPr>
          <a:xfrm>
            <a:off x="655321" y="4861096"/>
            <a:ext cx="11070907" cy="498213"/>
          </a:xfrm>
          <a:prstGeom prst="rect">
            <a:avLst/>
          </a:prstGeom>
          <a:noFill/>
        </p:spPr>
        <p:txBody>
          <a:bodyPr wrap="square">
            <a:spAutoFit/>
          </a:bodyPr>
          <a:lstStyle/>
          <a:p>
            <a:pPr fontAlgn="t">
              <a:lnSpc>
                <a:spcPts val="1500"/>
              </a:lnSpc>
              <a:buNone/>
            </a:pPr>
            <a:r>
              <a:rPr lang="en-US" b="0" i="0" noProof="0">
                <a:solidFill>
                  <a:srgbClr val="002060"/>
                </a:solidFill>
                <a:effectLst/>
                <a:latin typeface="Trebuchet MS" panose="020B0603020202020204" pitchFamily="34" charset="0"/>
              </a:rPr>
              <a:t>Yield measures how often we get it right. DPU measures how many defects are present when we get it wrong.</a:t>
            </a:r>
          </a:p>
        </p:txBody>
      </p:sp>
      <p:sp>
        <p:nvSpPr>
          <p:cNvPr id="15" name="TextBox 14">
            <a:extLst>
              <a:ext uri="{FF2B5EF4-FFF2-40B4-BE49-F238E27FC236}">
                <a16:creationId xmlns:a16="http://schemas.microsoft.com/office/drawing/2014/main" id="{E4D9217E-253C-CA45-6D9D-7ACDA45DA358}"/>
              </a:ext>
            </a:extLst>
          </p:cNvPr>
          <p:cNvSpPr txBox="1"/>
          <p:nvPr/>
        </p:nvSpPr>
        <p:spPr>
          <a:xfrm>
            <a:off x="685138" y="5815311"/>
            <a:ext cx="4953662" cy="338554"/>
          </a:xfrm>
          <a:prstGeom prst="rect">
            <a:avLst/>
          </a:prstGeom>
          <a:solidFill>
            <a:srgbClr val="27AAE1"/>
          </a:solidFill>
        </p:spPr>
        <p:txBody>
          <a:bodyPr wrap="square">
            <a:spAutoFit/>
          </a:bodyPr>
          <a:lstStyle/>
          <a:p>
            <a:r>
              <a:rPr lang="en-US" sz="1600" b="1" noProof="0">
                <a:solidFill>
                  <a:schemeClr val="bg1"/>
                </a:solidFill>
                <a:latin typeface="Trebuchet MS" panose="020B0603020202020204" pitchFamily="34" charset="0"/>
              </a:rPr>
              <a:t>Important: </a:t>
            </a:r>
            <a:r>
              <a:rPr lang="en-US" sz="1600" noProof="0">
                <a:solidFill>
                  <a:schemeClr val="bg1"/>
                </a:solidFill>
                <a:latin typeface="Trebuchet MS" panose="020B0603020202020204" pitchFamily="34" charset="0"/>
              </a:rPr>
              <a:t>A single unit can have multiple defects.</a:t>
            </a:r>
          </a:p>
        </p:txBody>
      </p:sp>
    </p:spTree>
    <p:extLst>
      <p:ext uri="{BB962C8B-B14F-4D97-AF65-F5344CB8AC3E}">
        <p14:creationId xmlns:p14="http://schemas.microsoft.com/office/powerpoint/2010/main" val="268948813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53E36321-23E1-3C26-CCF9-9414FEAB687F}"/>
              </a:ext>
            </a:extLst>
          </p:cNvPr>
          <p:cNvSpPr>
            <a:spLocks noGrp="1"/>
          </p:cNvSpPr>
          <p:nvPr>
            <p:ph type="body" sz="quarter" idx="10"/>
          </p:nvPr>
        </p:nvSpPr>
        <p:spPr>
          <a:xfrm>
            <a:off x="574276" y="351094"/>
            <a:ext cx="5562600" cy="615553"/>
          </a:xfrm>
        </p:spPr>
        <p:txBody>
          <a:bodyPr/>
          <a:lstStyle/>
          <a:p>
            <a:r>
              <a:rPr lang="en-US" sz="4000" noProof="0">
                <a:latin typeface="Trebuchet MS" panose="020B0603020202020204" pitchFamily="34" charset="0"/>
              </a:rPr>
              <a:t>DPU Formula</a:t>
            </a:r>
          </a:p>
        </p:txBody>
      </p:sp>
      <p:grpSp>
        <p:nvGrpSpPr>
          <p:cNvPr id="8" name="Group 7">
            <a:extLst>
              <a:ext uri="{FF2B5EF4-FFF2-40B4-BE49-F238E27FC236}">
                <a16:creationId xmlns:a16="http://schemas.microsoft.com/office/drawing/2014/main" id="{D1FD0A46-33BB-4331-369A-5D1D213E8AB2}"/>
              </a:ext>
            </a:extLst>
          </p:cNvPr>
          <p:cNvGrpSpPr/>
          <p:nvPr/>
        </p:nvGrpSpPr>
        <p:grpSpPr>
          <a:xfrm>
            <a:off x="1447800" y="2438400"/>
            <a:ext cx="8458200" cy="2387943"/>
            <a:chOff x="5407152" y="2640426"/>
            <a:chExt cx="6470522" cy="1193971"/>
          </a:xfrm>
        </p:grpSpPr>
        <p:sp>
          <p:nvSpPr>
            <p:cNvPr id="9" name="Rectangle: Rounded Corners 8">
              <a:extLst>
                <a:ext uri="{FF2B5EF4-FFF2-40B4-BE49-F238E27FC236}">
                  <a16:creationId xmlns:a16="http://schemas.microsoft.com/office/drawing/2014/main" id="{1F3A72B0-80D3-8FE8-1D17-E09DDE4714DB}"/>
                </a:ext>
              </a:extLst>
            </p:cNvPr>
            <p:cNvSpPr/>
            <p:nvPr/>
          </p:nvSpPr>
          <p:spPr>
            <a:xfrm>
              <a:off x="5407152" y="2640426"/>
              <a:ext cx="1790702" cy="876300"/>
            </a:xfrm>
            <a:prstGeom prst="roundRect">
              <a:avLst/>
            </a:prstGeom>
            <a:solidFill>
              <a:srgbClr val="2440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noProof="0">
                  <a:solidFill>
                    <a:schemeClr val="bg1"/>
                  </a:solidFill>
                  <a:latin typeface="Trebuchet MS" panose="020B0603020202020204" pitchFamily="34" charset="0"/>
                  <a:cs typeface="Arial" panose="020B0604020202020204" pitchFamily="34" charset="0"/>
                </a:rPr>
                <a:t>Total Number of Defects</a:t>
              </a:r>
            </a:p>
          </p:txBody>
        </p:sp>
        <p:sp>
          <p:nvSpPr>
            <p:cNvPr id="10" name="Division Sign 9">
              <a:extLst>
                <a:ext uri="{FF2B5EF4-FFF2-40B4-BE49-F238E27FC236}">
                  <a16:creationId xmlns:a16="http://schemas.microsoft.com/office/drawing/2014/main" id="{118C4BEC-F45F-8CC7-66AD-809BCBD1546C}"/>
                </a:ext>
              </a:extLst>
            </p:cNvPr>
            <p:cNvSpPr/>
            <p:nvPr/>
          </p:nvSpPr>
          <p:spPr>
            <a:xfrm>
              <a:off x="7279558" y="3186697"/>
              <a:ext cx="688848" cy="647700"/>
            </a:xfrm>
            <a:prstGeom prst="mathDivide">
              <a:avLst/>
            </a:prstGeom>
            <a:solidFill>
              <a:srgbClr val="2440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solidFill>
                  <a:srgbClr val="002060"/>
                </a:solidFill>
                <a:latin typeface="Trebuchet MS" panose="020B0603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629D94ED-BA79-75AA-615A-31741F006CEA}"/>
                </a:ext>
              </a:extLst>
            </p:cNvPr>
            <p:cNvSpPr/>
            <p:nvPr/>
          </p:nvSpPr>
          <p:spPr>
            <a:xfrm>
              <a:off x="8051294" y="2640426"/>
              <a:ext cx="1815082" cy="876300"/>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noProof="0">
                  <a:solidFill>
                    <a:schemeClr val="bg1"/>
                  </a:solidFill>
                  <a:latin typeface="Trebuchet MS" panose="020B0603020202020204" pitchFamily="34" charset="0"/>
                  <a:cs typeface="Arial" panose="020B0604020202020204" pitchFamily="34" charset="0"/>
                </a:rPr>
                <a:t>Total Number of Units</a:t>
              </a:r>
            </a:p>
          </p:txBody>
        </p:sp>
        <p:sp>
          <p:nvSpPr>
            <p:cNvPr id="12" name="Equals 11">
              <a:extLst>
                <a:ext uri="{FF2B5EF4-FFF2-40B4-BE49-F238E27FC236}">
                  <a16:creationId xmlns:a16="http://schemas.microsoft.com/office/drawing/2014/main" id="{CBBA0EF8-6100-6A04-F680-626EF235E2DD}"/>
                </a:ext>
              </a:extLst>
            </p:cNvPr>
            <p:cNvSpPr/>
            <p:nvPr/>
          </p:nvSpPr>
          <p:spPr>
            <a:xfrm>
              <a:off x="9976047" y="3364326"/>
              <a:ext cx="533400" cy="304800"/>
            </a:xfrm>
            <a:prstGeom prst="mathEqual">
              <a:avLst/>
            </a:prstGeom>
            <a:solidFill>
              <a:srgbClr val="2440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noProof="0">
                <a:solidFill>
                  <a:srgbClr val="002060"/>
                </a:solidFill>
                <a:latin typeface="Trebuchet MS" panose="020B0603020202020204" pitchFamily="34" charset="0"/>
                <a:cs typeface="Arial" panose="020B0604020202020204" pitchFamily="34" charset="0"/>
              </a:endParaRPr>
            </a:p>
          </p:txBody>
        </p:sp>
        <p:sp>
          <p:nvSpPr>
            <p:cNvPr id="13" name="Rectangle: Rounded Corners 12">
              <a:extLst>
                <a:ext uri="{FF2B5EF4-FFF2-40B4-BE49-F238E27FC236}">
                  <a16:creationId xmlns:a16="http://schemas.microsoft.com/office/drawing/2014/main" id="{0C65E4A4-E363-2839-0C52-4D0BCA6BAAAE}"/>
                </a:ext>
              </a:extLst>
            </p:cNvPr>
            <p:cNvSpPr/>
            <p:nvPr/>
          </p:nvSpPr>
          <p:spPr>
            <a:xfrm>
              <a:off x="10582274" y="2640426"/>
              <a:ext cx="1295400" cy="876300"/>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noProof="0">
                  <a:solidFill>
                    <a:schemeClr val="bg1"/>
                  </a:solidFill>
                  <a:latin typeface="Trebuchet MS" panose="020B0603020202020204" pitchFamily="34" charset="0"/>
                  <a:cs typeface="Arial" panose="020B0604020202020204" pitchFamily="34" charset="0"/>
                </a:rPr>
                <a:t>DPU (defects per unit)</a:t>
              </a:r>
            </a:p>
          </p:txBody>
        </p:sp>
      </p:grpSp>
      <p:sp>
        <p:nvSpPr>
          <p:cNvPr id="14" name="TextBox 13">
            <a:extLst>
              <a:ext uri="{FF2B5EF4-FFF2-40B4-BE49-F238E27FC236}">
                <a16:creationId xmlns:a16="http://schemas.microsoft.com/office/drawing/2014/main" id="{50143660-71BC-28F8-9912-D834C9A50ABC}"/>
              </a:ext>
            </a:extLst>
          </p:cNvPr>
          <p:cNvSpPr txBox="1"/>
          <p:nvPr/>
        </p:nvSpPr>
        <p:spPr>
          <a:xfrm>
            <a:off x="574276" y="1576247"/>
            <a:ext cx="9865124" cy="646331"/>
          </a:xfrm>
          <a:prstGeom prst="rect">
            <a:avLst/>
          </a:prstGeom>
          <a:noFill/>
        </p:spPr>
        <p:txBody>
          <a:bodyPr wrap="square" rtlCol="0">
            <a:spAutoFit/>
          </a:bodyPr>
          <a:lstStyle/>
          <a:p>
            <a:r>
              <a:rPr lang="en-US" noProof="0">
                <a:solidFill>
                  <a:srgbClr val="002060"/>
                </a:solidFill>
                <a:latin typeface="Trebuchet MS" panose="020B0603020202020204" pitchFamily="34" charset="0"/>
              </a:rPr>
              <a:t>Below is the formula used for calculating the DPU for a cake making process. Figures are example only. </a:t>
            </a:r>
          </a:p>
        </p:txBody>
      </p:sp>
      <p:sp>
        <p:nvSpPr>
          <p:cNvPr id="2" name="Rectangle: Rounded Corners 1">
            <a:extLst>
              <a:ext uri="{FF2B5EF4-FFF2-40B4-BE49-F238E27FC236}">
                <a16:creationId xmlns:a16="http://schemas.microsoft.com/office/drawing/2014/main" id="{EAF0F692-4342-17DB-EC07-7FC7CC0CBECF}"/>
              </a:ext>
            </a:extLst>
          </p:cNvPr>
          <p:cNvSpPr/>
          <p:nvPr/>
        </p:nvSpPr>
        <p:spPr>
          <a:xfrm>
            <a:off x="1944962" y="4468857"/>
            <a:ext cx="1142999" cy="876301"/>
          </a:xfrm>
          <a:prstGeom prst="roundRect">
            <a:avLst/>
          </a:prstGeom>
          <a:solidFill>
            <a:srgbClr val="2440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noProof="0">
                <a:solidFill>
                  <a:schemeClr val="bg1"/>
                </a:solidFill>
                <a:latin typeface="Trebuchet MS" panose="020B0603020202020204" pitchFamily="34" charset="0"/>
                <a:cs typeface="Arial" panose="020B0604020202020204" pitchFamily="34" charset="0"/>
              </a:rPr>
              <a:t>75 </a:t>
            </a:r>
            <a:endParaRPr lang="en-US"/>
          </a:p>
        </p:txBody>
      </p:sp>
      <p:sp>
        <p:nvSpPr>
          <p:cNvPr id="3" name="Rectangle: Rounded Corners 2">
            <a:extLst>
              <a:ext uri="{FF2B5EF4-FFF2-40B4-BE49-F238E27FC236}">
                <a16:creationId xmlns:a16="http://schemas.microsoft.com/office/drawing/2014/main" id="{C2BA3D55-ECF2-59AE-CDE4-D279CA167CA7}"/>
              </a:ext>
            </a:extLst>
          </p:cNvPr>
          <p:cNvSpPr/>
          <p:nvPr/>
        </p:nvSpPr>
        <p:spPr>
          <a:xfrm>
            <a:off x="5358218" y="4438650"/>
            <a:ext cx="1291143" cy="876302"/>
          </a:xfrm>
          <a:prstGeom prst="roundRect">
            <a:avLst/>
          </a:prstGeom>
          <a:solidFill>
            <a:srgbClr val="27AAE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noProof="0">
                <a:solidFill>
                  <a:schemeClr val="bg1"/>
                </a:solidFill>
                <a:latin typeface="Trebuchet MS" panose="020B0603020202020204" pitchFamily="34" charset="0"/>
                <a:cs typeface="Arial" panose="020B0604020202020204" pitchFamily="34" charset="0"/>
              </a:rPr>
              <a:t>1000</a:t>
            </a:r>
            <a:endParaRPr lang="en-US"/>
          </a:p>
        </p:txBody>
      </p:sp>
      <p:sp>
        <p:nvSpPr>
          <p:cNvPr id="4" name="Rectangle: Rounded Corners 3">
            <a:extLst>
              <a:ext uri="{FF2B5EF4-FFF2-40B4-BE49-F238E27FC236}">
                <a16:creationId xmlns:a16="http://schemas.microsoft.com/office/drawing/2014/main" id="{EDE2EF84-78DA-5F09-4562-913F8B38635F}"/>
              </a:ext>
            </a:extLst>
          </p:cNvPr>
          <p:cNvSpPr/>
          <p:nvPr/>
        </p:nvSpPr>
        <p:spPr>
          <a:xfrm>
            <a:off x="8458469" y="4468856"/>
            <a:ext cx="1291143" cy="876302"/>
          </a:xfrm>
          <a:prstGeom prst="round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noProof="0">
                <a:solidFill>
                  <a:schemeClr val="bg1"/>
                </a:solidFill>
                <a:latin typeface="Trebuchet MS" panose="020B0603020202020204" pitchFamily="34" charset="0"/>
                <a:cs typeface="Arial" panose="020B0604020202020204" pitchFamily="34" charset="0"/>
              </a:rPr>
              <a:t>0.075</a:t>
            </a:r>
          </a:p>
        </p:txBody>
      </p:sp>
      <p:sp>
        <p:nvSpPr>
          <p:cNvPr id="6" name="TextBox 5">
            <a:extLst>
              <a:ext uri="{FF2B5EF4-FFF2-40B4-BE49-F238E27FC236}">
                <a16:creationId xmlns:a16="http://schemas.microsoft.com/office/drawing/2014/main" id="{1BDD78A1-09BA-FC44-9E34-A0B45552BE0A}"/>
              </a:ext>
            </a:extLst>
          </p:cNvPr>
          <p:cNvSpPr txBox="1"/>
          <p:nvPr/>
        </p:nvSpPr>
        <p:spPr>
          <a:xfrm>
            <a:off x="574276" y="5715000"/>
            <a:ext cx="10322324" cy="646331"/>
          </a:xfrm>
          <a:prstGeom prst="rect">
            <a:avLst/>
          </a:prstGeom>
          <a:noFill/>
        </p:spPr>
        <p:txBody>
          <a:bodyPr wrap="square" rtlCol="0">
            <a:spAutoFit/>
          </a:bodyPr>
          <a:lstStyle/>
          <a:p>
            <a:r>
              <a:rPr lang="en-US" noProof="0">
                <a:solidFill>
                  <a:srgbClr val="002060"/>
                </a:solidFill>
                <a:latin typeface="Trebuchet MS" panose="020B0603020202020204" pitchFamily="34" charset="0"/>
              </a:rPr>
              <a:t>Once we have our DPU, we can then use this Information to determine whether the process is performing or whether improvement is needed. </a:t>
            </a:r>
          </a:p>
        </p:txBody>
      </p:sp>
    </p:spTree>
    <p:extLst>
      <p:ext uri="{BB962C8B-B14F-4D97-AF65-F5344CB8AC3E}">
        <p14:creationId xmlns:p14="http://schemas.microsoft.com/office/powerpoint/2010/main" val="473904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36B9DD5B-620B-3D75-9C3E-61F60541DE31}"/>
              </a:ext>
            </a:extLst>
          </p:cNvPr>
          <p:cNvSpPr>
            <a:spLocks noGrp="1"/>
          </p:cNvSpPr>
          <p:nvPr>
            <p:ph type="body" sz="quarter" idx="10"/>
          </p:nvPr>
        </p:nvSpPr>
        <p:spPr>
          <a:xfrm>
            <a:off x="533400" y="349383"/>
            <a:ext cx="8534400" cy="492443"/>
          </a:xfrm>
        </p:spPr>
        <p:txBody>
          <a:bodyPr/>
          <a:lstStyle/>
          <a:p>
            <a:r>
              <a:rPr lang="en-US" sz="3200" noProof="0">
                <a:latin typeface="Trebuchet MS" panose="020B0603020202020204" pitchFamily="34" charset="0"/>
              </a:rPr>
              <a:t>What does this tell us?</a:t>
            </a:r>
          </a:p>
        </p:txBody>
      </p:sp>
      <p:sp>
        <p:nvSpPr>
          <p:cNvPr id="7" name="TextBox 6">
            <a:extLst>
              <a:ext uri="{FF2B5EF4-FFF2-40B4-BE49-F238E27FC236}">
                <a16:creationId xmlns:a16="http://schemas.microsoft.com/office/drawing/2014/main" id="{DA35DB8A-8AEA-8AE3-1DF4-CD6492633AFB}"/>
              </a:ext>
            </a:extLst>
          </p:cNvPr>
          <p:cNvSpPr txBox="1"/>
          <p:nvPr/>
        </p:nvSpPr>
        <p:spPr>
          <a:xfrm>
            <a:off x="448139" y="1529536"/>
            <a:ext cx="4267200" cy="3139321"/>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noProof="0">
                <a:solidFill>
                  <a:srgbClr val="002060"/>
                </a:solidFill>
                <a:latin typeface="Trebuchet MS"/>
              </a:rPr>
              <a:t>DPU is set internally so it  varies according to </a:t>
            </a:r>
            <a:r>
              <a:rPr lang="en-US">
                <a:solidFill>
                  <a:srgbClr val="002060"/>
                </a:solidFill>
                <a:latin typeface="Trebuchet MS"/>
              </a:rPr>
              <a:t>each quality tolerance. </a:t>
            </a:r>
            <a:endParaRPr lang="en-US" noProof="0">
              <a:solidFill>
                <a:srgbClr val="002060"/>
              </a:solidFill>
              <a:latin typeface="Trebuchet MS"/>
            </a:endParaRPr>
          </a:p>
          <a:p>
            <a:pPr marL="285750" indent="-285750">
              <a:buFont typeface="Arial" panose="020B0604020202020204" pitchFamily="34" charset="0"/>
              <a:buChar char="•"/>
            </a:pPr>
            <a:endParaRPr lang="en-US"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noProof="0">
                <a:solidFill>
                  <a:srgbClr val="002060"/>
                </a:solidFill>
                <a:latin typeface="Trebuchet MS" panose="020B0603020202020204" pitchFamily="34" charset="0"/>
              </a:rPr>
              <a:t>Using a scale is often easier to understand than using DPU numbers.</a:t>
            </a:r>
          </a:p>
          <a:p>
            <a:pPr marL="285750" indent="-285750">
              <a:buFont typeface="Arial" panose="020B0604020202020204" pitchFamily="34" charset="0"/>
              <a:buChar char="•"/>
            </a:pPr>
            <a:endParaRPr lang="en-US"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noProof="0">
                <a:solidFill>
                  <a:srgbClr val="002060"/>
                </a:solidFill>
                <a:latin typeface="Trebuchet MS" panose="020B0603020202020204" pitchFamily="34" charset="0"/>
              </a:rPr>
              <a:t>Having this scale allows us to identify when action needs to be taken.</a:t>
            </a:r>
          </a:p>
          <a:p>
            <a:endParaRPr lang="en-US" noProof="0">
              <a:solidFill>
                <a:srgbClr val="002060"/>
              </a:solidFill>
              <a:latin typeface="Trebuchet MS" panose="020B0603020202020204" pitchFamily="34" charset="0"/>
            </a:endParaRPr>
          </a:p>
          <a:p>
            <a:endParaRPr lang="en-US" noProof="0"/>
          </a:p>
        </p:txBody>
      </p:sp>
      <p:sp>
        <p:nvSpPr>
          <p:cNvPr id="9" name="TextBox 8">
            <a:extLst>
              <a:ext uri="{FF2B5EF4-FFF2-40B4-BE49-F238E27FC236}">
                <a16:creationId xmlns:a16="http://schemas.microsoft.com/office/drawing/2014/main" id="{905C8D6E-387D-DE6D-9231-8562A883110C}"/>
              </a:ext>
            </a:extLst>
          </p:cNvPr>
          <p:cNvSpPr txBox="1"/>
          <p:nvPr/>
        </p:nvSpPr>
        <p:spPr>
          <a:xfrm>
            <a:off x="1981200" y="6266846"/>
            <a:ext cx="8419056" cy="381000"/>
          </a:xfrm>
          <a:prstGeom prst="rect">
            <a:avLst/>
          </a:prstGeom>
          <a:solidFill>
            <a:srgbClr val="27AAE1"/>
          </a:solidFill>
        </p:spPr>
        <p:txBody>
          <a:bodyPr wrap="square">
            <a:spAutoFit/>
          </a:bodyPr>
          <a:lstStyle/>
          <a:p>
            <a:r>
              <a:rPr lang="en-US" noProof="0">
                <a:solidFill>
                  <a:schemeClr val="bg1"/>
                </a:solidFill>
              </a:rPr>
              <a:t>It is important to note that we can also set our own acceptable scale for defects per unit.</a:t>
            </a:r>
          </a:p>
        </p:txBody>
      </p:sp>
      <p:graphicFrame>
        <p:nvGraphicFramePr>
          <p:cNvPr id="10" name="Table 9">
            <a:extLst>
              <a:ext uri="{FF2B5EF4-FFF2-40B4-BE49-F238E27FC236}">
                <a16:creationId xmlns:a16="http://schemas.microsoft.com/office/drawing/2014/main" id="{153C4640-0D80-B2FE-CAAC-13EB4965038D}"/>
              </a:ext>
            </a:extLst>
          </p:cNvPr>
          <p:cNvGraphicFramePr>
            <a:graphicFrameLocks noGrp="1"/>
          </p:cNvGraphicFramePr>
          <p:nvPr>
            <p:extLst>
              <p:ext uri="{D42A27DB-BD31-4B8C-83A1-F6EECF244321}">
                <p14:modId xmlns:p14="http://schemas.microsoft.com/office/powerpoint/2010/main" val="1841669973"/>
              </p:ext>
            </p:extLst>
          </p:nvPr>
        </p:nvGraphicFramePr>
        <p:xfrm>
          <a:off x="5029200" y="1404477"/>
          <a:ext cx="6540501" cy="3931920"/>
        </p:xfrm>
        <a:graphic>
          <a:graphicData uri="http://schemas.openxmlformats.org/drawingml/2006/table">
            <a:tbl>
              <a:tblPr/>
              <a:tblGrid>
                <a:gridCol w="2180167">
                  <a:extLst>
                    <a:ext uri="{9D8B030D-6E8A-4147-A177-3AD203B41FA5}">
                      <a16:colId xmlns:a16="http://schemas.microsoft.com/office/drawing/2014/main" val="1395885413"/>
                    </a:ext>
                  </a:extLst>
                </a:gridCol>
                <a:gridCol w="2180167">
                  <a:extLst>
                    <a:ext uri="{9D8B030D-6E8A-4147-A177-3AD203B41FA5}">
                      <a16:colId xmlns:a16="http://schemas.microsoft.com/office/drawing/2014/main" val="1175847028"/>
                    </a:ext>
                  </a:extLst>
                </a:gridCol>
                <a:gridCol w="2180167">
                  <a:extLst>
                    <a:ext uri="{9D8B030D-6E8A-4147-A177-3AD203B41FA5}">
                      <a16:colId xmlns:a16="http://schemas.microsoft.com/office/drawing/2014/main" val="777585560"/>
                    </a:ext>
                  </a:extLst>
                </a:gridCol>
              </a:tblGrid>
              <a:tr h="0">
                <a:tc>
                  <a:txBody>
                    <a:bodyPr/>
                    <a:lstStyle/>
                    <a:p>
                      <a:pPr>
                        <a:buNone/>
                      </a:pPr>
                      <a:r>
                        <a:rPr lang="en-US" b="1" noProof="0">
                          <a:solidFill>
                            <a:schemeClr val="bg1"/>
                          </a:solidFill>
                        </a:rPr>
                        <a:t>DPU</a:t>
                      </a:r>
                    </a:p>
                  </a:txBody>
                  <a:tcPr anchor="ctr">
                    <a:lnL>
                      <a:noFill/>
                    </a:lnL>
                    <a:lnR>
                      <a:noFill/>
                    </a:lnR>
                    <a:lnT>
                      <a:noFill/>
                    </a:lnT>
                    <a:lnB w="12700" cap="flat" cmpd="sng" algn="ctr">
                      <a:solidFill>
                        <a:schemeClr val="tx1"/>
                      </a:solidFill>
                      <a:prstDash val="solid"/>
                      <a:round/>
                      <a:headEnd type="none" w="med" len="med"/>
                      <a:tailEnd type="none" w="med" len="med"/>
                    </a:lnB>
                    <a:solidFill>
                      <a:srgbClr val="00AF74"/>
                    </a:solidFill>
                  </a:tcPr>
                </a:tc>
                <a:tc>
                  <a:txBody>
                    <a:bodyPr/>
                    <a:lstStyle/>
                    <a:p>
                      <a:pPr>
                        <a:buNone/>
                      </a:pPr>
                      <a:r>
                        <a:rPr lang="en-US" b="1" noProof="0">
                          <a:solidFill>
                            <a:schemeClr val="bg1"/>
                          </a:solidFill>
                        </a:rPr>
                        <a:t>Rating</a:t>
                      </a:r>
                    </a:p>
                  </a:txBody>
                  <a:tcPr anchor="ctr">
                    <a:lnL>
                      <a:noFill/>
                    </a:lnL>
                    <a:lnR>
                      <a:noFill/>
                    </a:lnR>
                    <a:lnT>
                      <a:noFill/>
                    </a:lnT>
                    <a:lnB w="12700" cap="flat" cmpd="sng" algn="ctr">
                      <a:solidFill>
                        <a:schemeClr val="tx1"/>
                      </a:solidFill>
                      <a:prstDash val="solid"/>
                      <a:round/>
                      <a:headEnd type="none" w="med" len="med"/>
                      <a:tailEnd type="none" w="med" len="med"/>
                    </a:lnB>
                    <a:solidFill>
                      <a:srgbClr val="00AF74"/>
                    </a:solidFill>
                  </a:tcPr>
                </a:tc>
                <a:tc>
                  <a:txBody>
                    <a:bodyPr/>
                    <a:lstStyle/>
                    <a:p>
                      <a:pPr>
                        <a:buNone/>
                      </a:pPr>
                      <a:r>
                        <a:rPr lang="en-US" b="1" noProof="0">
                          <a:solidFill>
                            <a:schemeClr val="bg1"/>
                          </a:solidFill>
                        </a:rPr>
                        <a:t>Interpretation</a:t>
                      </a:r>
                    </a:p>
                  </a:txBody>
                  <a:tcPr anchor="ctr">
                    <a:lnL>
                      <a:noFill/>
                    </a:lnL>
                    <a:lnR>
                      <a:noFill/>
                    </a:lnR>
                    <a:lnT>
                      <a:noFill/>
                    </a:lnT>
                    <a:lnB w="12700" cap="flat" cmpd="sng" algn="ctr">
                      <a:solidFill>
                        <a:schemeClr val="tx1"/>
                      </a:solidFill>
                      <a:prstDash val="solid"/>
                      <a:round/>
                      <a:headEnd type="none" w="med" len="med"/>
                      <a:tailEnd type="none" w="med" len="med"/>
                    </a:lnB>
                    <a:solidFill>
                      <a:srgbClr val="00AF74"/>
                    </a:solidFill>
                  </a:tcPr>
                </a:tc>
                <a:extLst>
                  <a:ext uri="{0D108BD9-81ED-4DB2-BD59-A6C34878D82A}">
                    <a16:rowId xmlns:a16="http://schemas.microsoft.com/office/drawing/2014/main" val="3821429165"/>
                  </a:ext>
                </a:extLst>
              </a:tr>
              <a:tr h="0">
                <a:tc>
                  <a:txBody>
                    <a:bodyPr/>
                    <a:lstStyle/>
                    <a:p>
                      <a:pPr>
                        <a:buNone/>
                      </a:pPr>
                      <a:r>
                        <a:rPr lang="en-US" noProof="0">
                          <a:solidFill>
                            <a:srgbClr val="002060"/>
                          </a:solidFill>
                        </a:rPr>
                        <a:t>&lt;0.02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Excellent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Highly capable 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8775841"/>
                  </a:ext>
                </a:extLst>
              </a:tr>
              <a:tr h="0">
                <a:tc>
                  <a:txBody>
                    <a:bodyPr/>
                    <a:lstStyle/>
                    <a:p>
                      <a:pPr>
                        <a:buNone/>
                      </a:pPr>
                      <a:r>
                        <a:rPr lang="en-US" noProof="0">
                          <a:solidFill>
                            <a:srgbClr val="002060"/>
                          </a:solidFill>
                        </a:rPr>
                        <a:t>0.02-0.05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Minor rework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7346176"/>
                  </a:ext>
                </a:extLst>
              </a:tr>
              <a:tr h="0">
                <a:tc>
                  <a:txBody>
                    <a:bodyPr/>
                    <a:lstStyle/>
                    <a:p>
                      <a:pPr>
                        <a:buNone/>
                      </a:pPr>
                      <a:r>
                        <a:rPr lang="en-US" noProof="0">
                          <a:solidFill>
                            <a:srgbClr val="002060"/>
                          </a:solidFill>
                        </a:rPr>
                        <a:t>0.05-0.10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US" noProof="0">
                          <a:solidFill>
                            <a:srgbClr val="002060"/>
                          </a:solidFill>
                        </a:rPr>
                        <a:t>Within Tolerance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Some recurring defects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2514912"/>
                  </a:ext>
                </a:extLst>
              </a:tr>
              <a:tr h="0">
                <a:tc>
                  <a:txBody>
                    <a:bodyPr/>
                    <a:lstStyle/>
                    <a:p>
                      <a:pPr>
                        <a:buNone/>
                      </a:pPr>
                      <a:r>
                        <a:rPr lang="en-US" noProof="0">
                          <a:solidFill>
                            <a:srgbClr val="002060"/>
                          </a:solidFill>
                        </a:rPr>
                        <a:t>0.10-0.25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Needs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Noticeable rework burden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0189756"/>
                  </a:ext>
                </a:extLst>
              </a:tr>
              <a:tr h="0">
                <a:tc>
                  <a:txBody>
                    <a:bodyPr/>
                    <a:lstStyle/>
                    <a:p>
                      <a:pPr>
                        <a:buNone/>
                      </a:pPr>
                      <a:r>
                        <a:rPr lang="en-US" noProof="0">
                          <a:solidFill>
                            <a:srgbClr val="002060"/>
                          </a:solidFill>
                        </a:rPr>
                        <a:t>0.25-0.50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Significant quality 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7669586"/>
                  </a:ext>
                </a:extLst>
              </a:tr>
              <a:tr h="0">
                <a:tc>
                  <a:txBody>
                    <a:bodyPr/>
                    <a:lstStyle/>
                    <a:p>
                      <a:pPr>
                        <a:buNone/>
                      </a:pPr>
                      <a:r>
                        <a:rPr lang="en-US" noProof="0">
                          <a:solidFill>
                            <a:srgbClr val="002060"/>
                          </a:solidFill>
                        </a:rPr>
                        <a:t>&gt;0.50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Critical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0">
                          <a:solidFill>
                            <a:srgbClr val="002060"/>
                          </a:solidFill>
                        </a:rPr>
                        <a:t>Systemic process problems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9836171"/>
                  </a:ext>
                </a:extLst>
              </a:tr>
            </a:tbl>
          </a:graphicData>
        </a:graphic>
      </p:graphicFrame>
      <p:sp>
        <p:nvSpPr>
          <p:cNvPr id="11" name="Rectangle 10">
            <a:extLst>
              <a:ext uri="{FF2B5EF4-FFF2-40B4-BE49-F238E27FC236}">
                <a16:creationId xmlns:a16="http://schemas.microsoft.com/office/drawing/2014/main" id="{31BC8873-7EE9-0717-9C1A-10B5FDB7E84A}"/>
              </a:ext>
            </a:extLst>
          </p:cNvPr>
          <p:cNvSpPr/>
          <p:nvPr/>
        </p:nvSpPr>
        <p:spPr>
          <a:xfrm>
            <a:off x="5029199" y="2819400"/>
            <a:ext cx="6540501" cy="60960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18" name="Picture 17">
            <a:extLst>
              <a:ext uri="{FF2B5EF4-FFF2-40B4-BE49-F238E27FC236}">
                <a16:creationId xmlns:a16="http://schemas.microsoft.com/office/drawing/2014/main" id="{9E04B1E3-F8EF-9EF0-0881-645B1F96963F}"/>
              </a:ext>
            </a:extLst>
          </p:cNvPr>
          <p:cNvPicPr>
            <a:picLocks noChangeAspect="1"/>
          </p:cNvPicPr>
          <p:nvPr/>
        </p:nvPicPr>
        <p:blipFill>
          <a:blip r:embed="rId3"/>
          <a:stretch>
            <a:fillRect/>
          </a:stretch>
        </p:blipFill>
        <p:spPr>
          <a:xfrm>
            <a:off x="271149" y="4564826"/>
            <a:ext cx="4440947" cy="1527276"/>
          </a:xfrm>
          <a:prstGeom prst="rect">
            <a:avLst/>
          </a:prstGeom>
        </p:spPr>
      </p:pic>
    </p:spTree>
    <p:extLst>
      <p:ext uri="{BB962C8B-B14F-4D97-AF65-F5344CB8AC3E}">
        <p14:creationId xmlns:p14="http://schemas.microsoft.com/office/powerpoint/2010/main" val="3063489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4338F415-8764-5F09-7228-FB88B9551AED}"/>
              </a:ext>
            </a:extLst>
          </p:cNvPr>
          <p:cNvSpPr>
            <a:spLocks noGrp="1"/>
          </p:cNvSpPr>
          <p:nvPr>
            <p:ph type="body" sz="quarter" idx="10"/>
          </p:nvPr>
        </p:nvSpPr>
        <p:spPr>
          <a:xfrm>
            <a:off x="533400" y="283919"/>
            <a:ext cx="9448800" cy="492443"/>
          </a:xfrm>
        </p:spPr>
        <p:txBody>
          <a:bodyPr/>
          <a:lstStyle/>
          <a:p>
            <a:r>
              <a:rPr lang="en-US" sz="3200" noProof="0">
                <a:latin typeface="Trebuchet MS" panose="020B0603020202020204" pitchFamily="34" charset="0"/>
              </a:rPr>
              <a:t>What should we do about it?</a:t>
            </a:r>
          </a:p>
        </p:txBody>
      </p:sp>
      <p:sp>
        <p:nvSpPr>
          <p:cNvPr id="7" name="TextBox 6">
            <a:extLst>
              <a:ext uri="{FF2B5EF4-FFF2-40B4-BE49-F238E27FC236}">
                <a16:creationId xmlns:a16="http://schemas.microsoft.com/office/drawing/2014/main" id="{470AB678-47A0-9F4A-08DC-CD8E6410D3CC}"/>
              </a:ext>
            </a:extLst>
          </p:cNvPr>
          <p:cNvSpPr txBox="1"/>
          <p:nvPr/>
        </p:nvSpPr>
        <p:spPr>
          <a:xfrm>
            <a:off x="3885924" y="2684011"/>
            <a:ext cx="8128000" cy="3293209"/>
          </a:xfrm>
          <a:prstGeom prst="rect">
            <a:avLst/>
          </a:prstGeom>
          <a:noFill/>
        </p:spPr>
        <p:txBody>
          <a:bodyPr wrap="square">
            <a:spAutoFit/>
          </a:bodyPr>
          <a:lstStyle/>
          <a:p>
            <a:r>
              <a:rPr lang="en-US" sz="1600" noProof="0" dirty="0">
                <a:solidFill>
                  <a:srgbClr val="002060"/>
                </a:solidFill>
                <a:latin typeface="Trebuchet MS" panose="020B0603020202020204" pitchFamily="34" charset="0"/>
              </a:rPr>
              <a:t>DPU = 0.075 → Acceptable (Recurring)</a:t>
            </a:r>
          </a:p>
          <a:p>
            <a:endParaRPr lang="en-US" sz="1600" noProof="0" dirty="0">
              <a:solidFill>
                <a:srgbClr val="002060"/>
              </a:solidFill>
              <a:latin typeface="Trebuchet MS" panose="020B0603020202020204" pitchFamily="34" charset="0"/>
            </a:endParaRPr>
          </a:p>
          <a:p>
            <a:r>
              <a:rPr lang="en-US" sz="1600" b="1" noProof="0" dirty="0">
                <a:solidFill>
                  <a:srgbClr val="002060"/>
                </a:solidFill>
                <a:latin typeface="Trebuchet MS" panose="020B0603020202020204" pitchFamily="34" charset="0"/>
              </a:rPr>
              <a:t>What this means:</a:t>
            </a:r>
          </a:p>
          <a:p>
            <a:endParaRPr lang="en-US" sz="1600" noProof="0" dirty="0">
              <a:solidFill>
                <a:srgbClr val="002060"/>
              </a:solidFill>
              <a:latin typeface="Trebuchet MS" panose="020B0603020202020204" pitchFamily="34" charset="0"/>
            </a:endParaRPr>
          </a:p>
          <a:p>
            <a:r>
              <a:rPr lang="en-US" sz="1600" noProof="0" dirty="0">
                <a:solidFill>
                  <a:srgbClr val="002060"/>
                </a:solidFill>
                <a:latin typeface="Trebuchet MS" panose="020B0603020202020204" pitchFamily="34" charset="0"/>
              </a:rPr>
              <a:t>Defects are recurring and are not isolated incidents.</a:t>
            </a:r>
          </a:p>
          <a:p>
            <a:endParaRPr lang="en-US" sz="1600" noProof="0" dirty="0">
              <a:solidFill>
                <a:srgbClr val="002060"/>
              </a:solidFill>
              <a:latin typeface="Trebuchet MS" panose="020B0603020202020204" pitchFamily="34" charset="0"/>
            </a:endParaRPr>
          </a:p>
          <a:p>
            <a:r>
              <a:rPr lang="en-US" sz="1600" b="1" noProof="0" dirty="0">
                <a:solidFill>
                  <a:srgbClr val="002060"/>
                </a:solidFill>
                <a:latin typeface="Trebuchet MS" panose="020B0603020202020204" pitchFamily="34" charset="0"/>
              </a:rPr>
              <a:t>Action focus:</a:t>
            </a:r>
          </a:p>
          <a:p>
            <a:endParaRPr lang="en-US" sz="1600" noProof="0" dirty="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dirty="0">
                <a:solidFill>
                  <a:srgbClr val="002060"/>
                </a:solidFill>
                <a:latin typeface="Trebuchet MS" panose="020B0603020202020204" pitchFamily="34" charset="0"/>
              </a:rPr>
              <a:t>Identifying where defects recurring in the process before it becomes a bigger issue.</a:t>
            </a:r>
          </a:p>
          <a:p>
            <a:pPr marL="285750" indent="-285750">
              <a:buFont typeface="Arial" panose="020B0604020202020204" pitchFamily="34" charset="0"/>
              <a:buChar char="•"/>
            </a:pPr>
            <a:r>
              <a:rPr lang="en-US" sz="1600" noProof="0" dirty="0">
                <a:solidFill>
                  <a:srgbClr val="002060"/>
                </a:solidFill>
                <a:latin typeface="Trebuchet MS" panose="020B0603020202020204" pitchFamily="34" charset="0"/>
              </a:rPr>
              <a:t>Fixing root causes at high-impact steps.</a:t>
            </a:r>
          </a:p>
          <a:p>
            <a:pPr marL="285750" indent="-285750">
              <a:buFont typeface="Arial" panose="020B0604020202020204" pitchFamily="34" charset="0"/>
              <a:buChar char="•"/>
            </a:pPr>
            <a:r>
              <a:rPr lang="en-US" sz="1600" noProof="0" dirty="0">
                <a:solidFill>
                  <a:srgbClr val="002060"/>
                </a:solidFill>
                <a:latin typeface="Trebuchet MS" panose="020B0603020202020204" pitchFamily="34" charset="0"/>
              </a:rPr>
              <a:t>Reducing complexity and variation.</a:t>
            </a:r>
          </a:p>
          <a:p>
            <a:pPr marL="285750" indent="-285750">
              <a:buFont typeface="Arial" panose="020B0604020202020204" pitchFamily="34" charset="0"/>
              <a:buChar char="•"/>
            </a:pPr>
            <a:r>
              <a:rPr lang="en-US" sz="1600" noProof="0" dirty="0">
                <a:solidFill>
                  <a:srgbClr val="002060"/>
                </a:solidFill>
                <a:latin typeface="Trebuchet MS" panose="020B0603020202020204" pitchFamily="34" charset="0"/>
              </a:rPr>
              <a:t>Preventing defects before they happen (not just fixing after).</a:t>
            </a:r>
          </a:p>
        </p:txBody>
      </p:sp>
      <p:sp>
        <p:nvSpPr>
          <p:cNvPr id="9" name="TextBox 8">
            <a:extLst>
              <a:ext uri="{FF2B5EF4-FFF2-40B4-BE49-F238E27FC236}">
                <a16:creationId xmlns:a16="http://schemas.microsoft.com/office/drawing/2014/main" id="{071980C9-4050-A1F3-A7E1-3C7900B17764}"/>
              </a:ext>
            </a:extLst>
          </p:cNvPr>
          <p:cNvSpPr txBox="1"/>
          <p:nvPr/>
        </p:nvSpPr>
        <p:spPr>
          <a:xfrm>
            <a:off x="762000" y="6235527"/>
            <a:ext cx="8839200" cy="338554"/>
          </a:xfrm>
          <a:prstGeom prst="rect">
            <a:avLst/>
          </a:prstGeom>
          <a:solidFill>
            <a:srgbClr val="24408D"/>
          </a:solidFill>
        </p:spPr>
        <p:txBody>
          <a:bodyPr wrap="square">
            <a:spAutoFit/>
          </a:bodyPr>
          <a:lstStyle/>
          <a:p>
            <a:r>
              <a:rPr lang="en-US" sz="1600" b="1" noProof="0">
                <a:solidFill>
                  <a:schemeClr val="bg1"/>
                </a:solidFill>
                <a:latin typeface="Trebuchet MS" panose="020B0603020202020204" pitchFamily="34" charset="0"/>
              </a:rPr>
              <a:t>Key Takeaway: </a:t>
            </a:r>
            <a:r>
              <a:rPr lang="en-US" sz="1600" noProof="0">
                <a:solidFill>
                  <a:schemeClr val="bg1"/>
                </a:solidFill>
                <a:latin typeface="Trebuchet MS" panose="020B0603020202020204" pitchFamily="34" charset="0"/>
              </a:rPr>
              <a:t>At this level, the goal is not to fix individual defects. It is to fix the process.</a:t>
            </a:r>
          </a:p>
        </p:txBody>
      </p:sp>
      <p:graphicFrame>
        <p:nvGraphicFramePr>
          <p:cNvPr id="10" name="Diagram 9">
            <a:extLst>
              <a:ext uri="{FF2B5EF4-FFF2-40B4-BE49-F238E27FC236}">
                <a16:creationId xmlns:a16="http://schemas.microsoft.com/office/drawing/2014/main" id="{9F463222-04F9-1315-295D-C5F4C9AC9A53}"/>
              </a:ext>
            </a:extLst>
          </p:cNvPr>
          <p:cNvGraphicFramePr/>
          <p:nvPr>
            <p:extLst>
              <p:ext uri="{D42A27DB-BD31-4B8C-83A1-F6EECF244321}">
                <p14:modId xmlns:p14="http://schemas.microsoft.com/office/powerpoint/2010/main" val="3361098505"/>
              </p:ext>
            </p:extLst>
          </p:nvPr>
        </p:nvGraphicFramePr>
        <p:xfrm>
          <a:off x="609324" y="120557"/>
          <a:ext cx="11131550" cy="35051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5" name="Picture 14">
            <a:extLst>
              <a:ext uri="{FF2B5EF4-FFF2-40B4-BE49-F238E27FC236}">
                <a16:creationId xmlns:a16="http://schemas.microsoft.com/office/drawing/2014/main" id="{9EFEB982-6C90-7F32-E03B-16068B2DB004}"/>
              </a:ext>
            </a:extLst>
          </p:cNvPr>
          <p:cNvPicPr>
            <a:picLocks noChangeAspect="1"/>
          </p:cNvPicPr>
          <p:nvPr/>
        </p:nvPicPr>
        <p:blipFill>
          <a:blip r:embed="rId8"/>
          <a:stretch>
            <a:fillRect/>
          </a:stretch>
        </p:blipFill>
        <p:spPr>
          <a:xfrm>
            <a:off x="609324" y="2388451"/>
            <a:ext cx="3276600" cy="3276600"/>
          </a:xfrm>
          <a:prstGeom prst="rect">
            <a:avLst/>
          </a:prstGeom>
        </p:spPr>
      </p:pic>
    </p:spTree>
    <p:extLst>
      <p:ext uri="{BB962C8B-B14F-4D97-AF65-F5344CB8AC3E}">
        <p14:creationId xmlns:p14="http://schemas.microsoft.com/office/powerpoint/2010/main" val="120518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 Placeholder 6">
            <a:extLst>
              <a:ext uri="{FF2B5EF4-FFF2-40B4-BE49-F238E27FC236}">
                <a16:creationId xmlns:a16="http://schemas.microsoft.com/office/drawing/2014/main" id="{B854D7F8-561E-2140-9A6B-F2B28851105D}"/>
              </a:ext>
            </a:extLst>
          </p:cNvPr>
          <p:cNvSpPr>
            <a:spLocks noGrp="1"/>
          </p:cNvSpPr>
          <p:nvPr>
            <p:ph type="body" sz="quarter" idx="12"/>
          </p:nvPr>
        </p:nvSpPr>
        <p:spPr>
          <a:xfrm>
            <a:off x="286894" y="1605497"/>
            <a:ext cx="11762230" cy="276999"/>
          </a:xfrm>
        </p:spPr>
        <p:txBody>
          <a:bodyPr/>
          <a:lstStyle/>
          <a:p>
            <a:r>
              <a:rPr lang="en-US" sz="1800" b="0" kern="1200" noProof="0">
                <a:solidFill>
                  <a:srgbClr val="172859"/>
                </a:solidFill>
                <a:latin typeface="Trebuchet MS" panose="020B0603020202020204" pitchFamily="34" charset="0"/>
              </a:rPr>
              <a:t>Below are some other key terms you will need to know:</a:t>
            </a:r>
          </a:p>
        </p:txBody>
      </p:sp>
      <p:sp>
        <p:nvSpPr>
          <p:cNvPr id="8" name="Text Placeholder 7">
            <a:extLst>
              <a:ext uri="{FF2B5EF4-FFF2-40B4-BE49-F238E27FC236}">
                <a16:creationId xmlns:a16="http://schemas.microsoft.com/office/drawing/2014/main" id="{6B5991D7-DA0E-0341-965F-EEB4346A713C}"/>
              </a:ext>
            </a:extLst>
          </p:cNvPr>
          <p:cNvSpPr>
            <a:spLocks noGrp="1"/>
          </p:cNvSpPr>
          <p:nvPr>
            <p:ph type="body" sz="quarter" idx="13"/>
          </p:nvPr>
        </p:nvSpPr>
        <p:spPr>
          <a:xfrm>
            <a:off x="286894" y="2647680"/>
            <a:ext cx="4326257" cy="2462213"/>
          </a:xfrm>
        </p:spPr>
        <p:txBody>
          <a:bodyPr/>
          <a:lstStyle/>
          <a:p>
            <a:r>
              <a:rPr lang="en-US" sz="1600" b="1" kern="1200" noProof="0">
                <a:solidFill>
                  <a:srgbClr val="27AAE1"/>
                </a:solidFill>
                <a:latin typeface="Trebuchet MS" panose="020B0603020202020204" pitchFamily="34" charset="0"/>
              </a:rPr>
              <a:t>DPU (Defects per Unit): </a:t>
            </a:r>
            <a:r>
              <a:rPr lang="en-US" sz="1600" kern="1200" noProof="0">
                <a:solidFill>
                  <a:srgbClr val="172859"/>
                </a:solidFill>
                <a:latin typeface="Trebuchet MS" panose="020B0603020202020204" pitchFamily="34" charset="0"/>
              </a:rPr>
              <a:t>Measures defects per unit (e.g. appointment, service, product etc.).</a:t>
            </a:r>
          </a:p>
          <a:p>
            <a:endParaRPr lang="en-US" sz="1600" b="1" kern="1200" noProof="0">
              <a:solidFill>
                <a:srgbClr val="172859"/>
              </a:solidFill>
              <a:latin typeface="Trebuchet MS" panose="020B0603020202020204" pitchFamily="34" charset="0"/>
            </a:endParaRPr>
          </a:p>
          <a:p>
            <a:r>
              <a:rPr lang="en-US" sz="1600" b="1" kern="1200" noProof="0">
                <a:solidFill>
                  <a:srgbClr val="27AAE1"/>
                </a:solidFill>
                <a:latin typeface="Trebuchet MS" panose="020B0603020202020204" pitchFamily="34" charset="0"/>
              </a:rPr>
              <a:t>Number of Opportunities: </a:t>
            </a:r>
            <a:r>
              <a:rPr lang="en-US" sz="1600" kern="1200" noProof="0">
                <a:solidFill>
                  <a:srgbClr val="172859"/>
                </a:solidFill>
                <a:latin typeface="Trebuchet MS" panose="020B0603020202020204" pitchFamily="34" charset="0"/>
              </a:rPr>
              <a:t>The number of chances for a defect to occur within ONE unit.</a:t>
            </a:r>
          </a:p>
          <a:p>
            <a:endParaRPr lang="en-US" sz="1600" b="1" kern="1200" noProof="0">
              <a:solidFill>
                <a:srgbClr val="172859"/>
              </a:solidFill>
              <a:latin typeface="Trebuchet MS" panose="020B0603020202020204" pitchFamily="34" charset="0"/>
            </a:endParaRPr>
          </a:p>
          <a:p>
            <a:r>
              <a:rPr lang="en-US" sz="1600" b="1" kern="1200" noProof="0">
                <a:solidFill>
                  <a:srgbClr val="27AAE1"/>
                </a:solidFill>
                <a:latin typeface="Trebuchet MS" panose="020B0603020202020204" pitchFamily="34" charset="0"/>
              </a:rPr>
              <a:t>Defects per million opportunities (DPMO):</a:t>
            </a:r>
          </a:p>
          <a:p>
            <a:r>
              <a:rPr lang="en-US" sz="1600" kern="1200" noProof="0">
                <a:solidFill>
                  <a:srgbClr val="172859"/>
                </a:solidFill>
                <a:latin typeface="Trebuchet MS" panose="020B0603020202020204" pitchFamily="34" charset="0"/>
              </a:rPr>
              <a:t>Uses DPU and opportunities to calculate (predict) defects per million units. </a:t>
            </a:r>
          </a:p>
          <a:p>
            <a:endParaRPr lang="en-US" sz="1600" b="1" kern="1200" noProof="0">
              <a:solidFill>
                <a:srgbClr val="172859"/>
              </a:solidFill>
              <a:latin typeface="Trebuchet MS" panose="020B0603020202020204" pitchFamily="34" charset="0"/>
            </a:endParaRPr>
          </a:p>
        </p:txBody>
      </p:sp>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533400" y="381000"/>
            <a:ext cx="8458200" cy="492443"/>
          </a:xfrm>
        </p:spPr>
        <p:txBody>
          <a:bodyPr/>
          <a:lstStyle/>
          <a:p>
            <a:r>
              <a:rPr lang="en-US" sz="3200" noProof="0">
                <a:solidFill>
                  <a:srgbClr val="FFC000"/>
                </a:solidFill>
                <a:latin typeface="Trebuchet MS" panose="020B0603020202020204" pitchFamily="34" charset="0"/>
              </a:rPr>
              <a:t>Calculating DPMO</a:t>
            </a:r>
          </a:p>
        </p:txBody>
      </p:sp>
      <p:pic>
        <p:nvPicPr>
          <p:cNvPr id="3" name="Picture 2">
            <a:extLst>
              <a:ext uri="{FF2B5EF4-FFF2-40B4-BE49-F238E27FC236}">
                <a16:creationId xmlns:a16="http://schemas.microsoft.com/office/drawing/2014/main" id="{43CDD0F2-9480-6FB5-C2C3-CDB3C91AA6F7}"/>
              </a:ext>
            </a:extLst>
          </p:cNvPr>
          <p:cNvPicPr>
            <a:picLocks noChangeAspect="1"/>
          </p:cNvPicPr>
          <p:nvPr/>
        </p:nvPicPr>
        <p:blipFill>
          <a:blip r:embed="rId3"/>
          <a:stretch>
            <a:fillRect/>
          </a:stretch>
        </p:blipFill>
        <p:spPr>
          <a:xfrm>
            <a:off x="4762500" y="2108425"/>
            <a:ext cx="7328614" cy="3216115"/>
          </a:xfrm>
          <a:prstGeom prst="rect">
            <a:avLst/>
          </a:prstGeom>
        </p:spPr>
      </p:pic>
      <p:sp>
        <p:nvSpPr>
          <p:cNvPr id="4" name="TextBox 3">
            <a:extLst>
              <a:ext uri="{FF2B5EF4-FFF2-40B4-BE49-F238E27FC236}">
                <a16:creationId xmlns:a16="http://schemas.microsoft.com/office/drawing/2014/main" id="{33981924-4ABC-3B15-03A4-E875B4C340CF}"/>
              </a:ext>
            </a:extLst>
          </p:cNvPr>
          <p:cNvSpPr txBox="1"/>
          <p:nvPr/>
        </p:nvSpPr>
        <p:spPr>
          <a:xfrm>
            <a:off x="367856" y="5766558"/>
            <a:ext cx="11600306" cy="646331"/>
          </a:xfrm>
          <a:prstGeom prst="rect">
            <a:avLst/>
          </a:prstGeom>
          <a:solidFill>
            <a:srgbClr val="27AAE1"/>
          </a:solidFill>
        </p:spPr>
        <p:txBody>
          <a:bodyPr wrap="square">
            <a:spAutoFit/>
          </a:bodyPr>
          <a:lstStyle/>
          <a:p>
            <a:r>
              <a:rPr lang="en-US" noProof="0">
                <a:solidFill>
                  <a:schemeClr val="bg1"/>
                </a:solidFill>
              </a:rPr>
              <a:t>DPMO doesn't mean you need a million cases, referrals, applications, or employees. It's simply a standardized way of predicting defect rates so different processes can be compared.</a:t>
            </a:r>
          </a:p>
        </p:txBody>
      </p:sp>
    </p:spTree>
    <p:extLst>
      <p:ext uri="{BB962C8B-B14F-4D97-AF65-F5344CB8AC3E}">
        <p14:creationId xmlns:p14="http://schemas.microsoft.com/office/powerpoint/2010/main" val="3577427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 Placeholder 6">
            <a:extLst>
              <a:ext uri="{FF2B5EF4-FFF2-40B4-BE49-F238E27FC236}">
                <a16:creationId xmlns:a16="http://schemas.microsoft.com/office/drawing/2014/main" id="{B854D7F8-561E-2140-9A6B-F2B28851105D}"/>
              </a:ext>
            </a:extLst>
          </p:cNvPr>
          <p:cNvSpPr>
            <a:spLocks noGrp="1"/>
          </p:cNvSpPr>
          <p:nvPr>
            <p:ph type="body" sz="quarter" idx="12"/>
          </p:nvPr>
        </p:nvSpPr>
        <p:spPr>
          <a:xfrm>
            <a:off x="470280" y="1528545"/>
            <a:ext cx="11188320" cy="800219"/>
          </a:xfrm>
        </p:spPr>
        <p:txBody>
          <a:bodyPr wrap="square" lIns="0" tIns="0" rIns="0" bIns="0" anchor="t">
            <a:spAutoFit/>
          </a:bodyPr>
          <a:lstStyle/>
          <a:p>
            <a:pPr algn="l"/>
            <a:r>
              <a:rPr lang="en-US" sz="1600" b="0" noProof="0">
                <a:latin typeface="Trebuchet MS"/>
                <a:cs typeface="Arial"/>
              </a:rPr>
              <a:t>Opportunities are defined as the number of chances within a process for a defect to occur.</a:t>
            </a:r>
            <a:r>
              <a:rPr lang="en-US" sz="1600" noProof="0">
                <a:latin typeface="Trebuchet MS"/>
                <a:cs typeface="Arial"/>
              </a:rPr>
              <a:t> </a:t>
            </a:r>
            <a:r>
              <a:rPr lang="en-US" sz="1600" b="0" noProof="0">
                <a:latin typeface="Trebuchet MS"/>
                <a:cs typeface="Arial"/>
              </a:rPr>
              <a:t>The more components we have in our processes, the more opportunities there are for defects </a:t>
            </a:r>
            <a:r>
              <a:rPr lang="en-US" sz="1600" b="0">
                <a:latin typeface="Trebuchet MS"/>
                <a:cs typeface="Arial"/>
              </a:rPr>
              <a:t>to</a:t>
            </a:r>
            <a:r>
              <a:rPr lang="en-US" sz="1600" b="0" noProof="0">
                <a:latin typeface="Trebuchet MS"/>
                <a:cs typeface="Arial"/>
              </a:rPr>
              <a:t> occur.</a:t>
            </a:r>
          </a:p>
          <a:p>
            <a:endParaRPr lang="en-US" sz="2000" noProof="0">
              <a:latin typeface="Trebuchet MS" panose="020B0603020202020204" pitchFamily="34" charset="0"/>
            </a:endParaRPr>
          </a:p>
        </p:txBody>
      </p:sp>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472514" y="403705"/>
            <a:ext cx="9448800" cy="492443"/>
          </a:xfrm>
        </p:spPr>
        <p:txBody>
          <a:bodyPr/>
          <a:lstStyle/>
          <a:p>
            <a:r>
              <a:rPr lang="en-US" sz="3200" noProof="0">
                <a:solidFill>
                  <a:srgbClr val="FFC000"/>
                </a:solidFill>
                <a:latin typeface="Trebuchet MS" panose="020B0603020202020204" pitchFamily="34" charset="0"/>
              </a:rPr>
              <a:t>Example: Opportunity Management</a:t>
            </a:r>
          </a:p>
        </p:txBody>
      </p:sp>
      <p:sp>
        <p:nvSpPr>
          <p:cNvPr id="10" name="Rectangle: Rounded Corners 9">
            <a:extLst>
              <a:ext uri="{FF2B5EF4-FFF2-40B4-BE49-F238E27FC236}">
                <a16:creationId xmlns:a16="http://schemas.microsoft.com/office/drawing/2014/main" id="{171A0E10-746D-D764-45D6-F4E98BD76B86}"/>
              </a:ext>
            </a:extLst>
          </p:cNvPr>
          <p:cNvSpPr/>
          <p:nvPr/>
        </p:nvSpPr>
        <p:spPr>
          <a:xfrm>
            <a:off x="461165" y="2356052"/>
            <a:ext cx="4615543" cy="3428999"/>
          </a:xfrm>
          <a:prstGeom prst="roundRect">
            <a:avLst/>
          </a:prstGeom>
          <a:noFill/>
          <a:ln w="3810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noProof="0">
              <a:solidFill>
                <a:srgbClr val="24408D"/>
              </a:solidFill>
              <a:latin typeface="Trebuchet MS" panose="020B0603020202020204" pitchFamily="34" charset="0"/>
              <a:cs typeface="Arial" panose="020B0604020202020204" pitchFamily="34" charset="0"/>
            </a:endParaRPr>
          </a:p>
          <a:p>
            <a:endParaRPr lang="en-US" sz="2000" noProof="0">
              <a:solidFill>
                <a:srgbClr val="24408D"/>
              </a:solidFill>
              <a:latin typeface="Trebuchet MS" panose="020B0603020202020204" pitchFamily="34" charset="0"/>
              <a:cs typeface="Arial" panose="020B0604020202020204" pitchFamily="34" charset="0"/>
            </a:endParaRPr>
          </a:p>
          <a:p>
            <a:endParaRPr lang="en-US" sz="2000" noProof="0">
              <a:solidFill>
                <a:srgbClr val="24408D"/>
              </a:solidFill>
              <a:latin typeface="Trebuchet MS" panose="020B0603020202020204" pitchFamily="34" charset="0"/>
              <a:cs typeface="Arial" panose="020B0604020202020204" pitchFamily="34" charset="0"/>
            </a:endParaRPr>
          </a:p>
          <a:p>
            <a:endParaRPr lang="en-US" sz="2000" noProof="0">
              <a:solidFill>
                <a:srgbClr val="24408D"/>
              </a:solidFill>
              <a:latin typeface="Trebuchet MS" panose="020B0603020202020204" pitchFamily="34" charset="0"/>
              <a:cs typeface="Arial" panose="020B0604020202020204" pitchFamily="34" charset="0"/>
            </a:endParaRPr>
          </a:p>
          <a:p>
            <a:endParaRPr lang="en-US" sz="2000" b="1" noProof="0">
              <a:solidFill>
                <a:srgbClr val="24408D"/>
              </a:solidFill>
              <a:latin typeface="Trebuchet MS" panose="020B0603020202020204" pitchFamily="34" charset="0"/>
              <a:cs typeface="Arial" panose="020B0604020202020204" pitchFamily="34" charset="0"/>
            </a:endParaRPr>
          </a:p>
          <a:p>
            <a:r>
              <a:rPr lang="en-US" sz="1400" noProof="0">
                <a:solidFill>
                  <a:srgbClr val="24408D"/>
                </a:solidFill>
                <a:latin typeface="Trebuchet MS" panose="020B0603020202020204" pitchFamily="34" charset="0"/>
                <a:cs typeface="Arial" panose="020B0604020202020204" pitchFamily="34" charset="0"/>
              </a:rPr>
              <a:t>An Occupational Health referral has multiple opportunities for defects, including:</a:t>
            </a:r>
          </a:p>
          <a:p>
            <a:endParaRPr lang="en-US" sz="1000" noProof="0">
              <a:solidFill>
                <a:srgbClr val="24408D"/>
              </a:solidFill>
              <a:latin typeface="Trebuchet MS" panose="020B0603020202020204" pitchFamily="34" charset="0"/>
              <a:cs typeface="Arial" panose="020B0604020202020204" pitchFamily="34" charset="0"/>
            </a:endParaRPr>
          </a:p>
          <a:p>
            <a:pPr marL="285750" indent="-285750">
              <a:buFont typeface="Arial" panose="020B0604020202020204" pitchFamily="34" charset="0"/>
              <a:buChar char="•"/>
            </a:pPr>
            <a:r>
              <a:rPr lang="en-US" sz="1400" noProof="0">
                <a:solidFill>
                  <a:srgbClr val="24408D"/>
                </a:solidFill>
                <a:latin typeface="Trebuchet MS" panose="020B0603020202020204" pitchFamily="34" charset="0"/>
                <a:cs typeface="Arial" panose="020B0604020202020204" pitchFamily="34" charset="0"/>
              </a:rPr>
              <a:t>Referral information incomplete</a:t>
            </a:r>
          </a:p>
          <a:p>
            <a:pPr marL="285750" indent="-285750">
              <a:buFont typeface="Arial" panose="020B0604020202020204" pitchFamily="34" charset="0"/>
              <a:buChar char="•"/>
            </a:pPr>
            <a:r>
              <a:rPr lang="en-US" sz="1400" noProof="0">
                <a:solidFill>
                  <a:srgbClr val="24408D"/>
                </a:solidFill>
                <a:latin typeface="Trebuchet MS" panose="020B0603020202020204" pitchFamily="34" charset="0"/>
                <a:cs typeface="Arial" panose="020B0604020202020204" pitchFamily="34" charset="0"/>
              </a:rPr>
              <a:t>Appointment scheduled incorrectly</a:t>
            </a:r>
          </a:p>
          <a:p>
            <a:pPr marL="285750" indent="-285750">
              <a:buFont typeface="Arial" panose="020B0604020202020204" pitchFamily="34" charset="0"/>
              <a:buChar char="•"/>
            </a:pPr>
            <a:r>
              <a:rPr lang="en-US" sz="1400" noProof="0">
                <a:solidFill>
                  <a:srgbClr val="24408D"/>
                </a:solidFill>
                <a:latin typeface="Trebuchet MS" panose="020B0603020202020204" pitchFamily="34" charset="0"/>
                <a:cs typeface="Arial" panose="020B0604020202020204" pitchFamily="34" charset="0"/>
              </a:rPr>
              <a:t>Medical records incomplete</a:t>
            </a:r>
          </a:p>
          <a:p>
            <a:pPr marL="285750" indent="-285750">
              <a:buFont typeface="Arial" panose="020B0604020202020204" pitchFamily="34" charset="0"/>
              <a:buChar char="•"/>
            </a:pPr>
            <a:r>
              <a:rPr lang="en-US" sz="1400" noProof="0">
                <a:solidFill>
                  <a:srgbClr val="24408D"/>
                </a:solidFill>
                <a:latin typeface="Trebuchet MS" panose="020B0603020202020204" pitchFamily="34" charset="0"/>
                <a:cs typeface="Arial" panose="020B0604020202020204" pitchFamily="34" charset="0"/>
              </a:rPr>
              <a:t>Return-to-work advice not communicated</a:t>
            </a:r>
          </a:p>
          <a:p>
            <a:endParaRPr lang="en-US" sz="1400" noProof="0">
              <a:solidFill>
                <a:srgbClr val="24408D"/>
              </a:solidFill>
              <a:latin typeface="Trebuchet MS" panose="020B0603020202020204" pitchFamily="34" charset="0"/>
              <a:cs typeface="Arial" panose="020B0604020202020204" pitchFamily="34" charset="0"/>
            </a:endParaRPr>
          </a:p>
          <a:p>
            <a:r>
              <a:rPr lang="en-US" sz="1400" noProof="0">
                <a:solidFill>
                  <a:srgbClr val="24408D"/>
                </a:solidFill>
                <a:latin typeface="Trebuchet MS" panose="020B0603020202020204" pitchFamily="34" charset="0"/>
                <a:cs typeface="Arial" panose="020B0604020202020204" pitchFamily="34" charset="0"/>
              </a:rPr>
              <a:t>By simplifying the referral process and using standard templates, the team can reduce process steps and handoffs.</a:t>
            </a:r>
          </a:p>
          <a:p>
            <a:endParaRPr lang="en-US" sz="1600" noProof="0">
              <a:solidFill>
                <a:srgbClr val="24408D"/>
              </a:solidFill>
              <a:latin typeface="Trebuchet MS" panose="020B0603020202020204" pitchFamily="34" charset="0"/>
              <a:cs typeface="Arial" panose="020B0604020202020204" pitchFamily="34" charset="0"/>
            </a:endParaRPr>
          </a:p>
          <a:p>
            <a:endParaRPr lang="en-US" sz="1600" noProof="0">
              <a:solidFill>
                <a:srgbClr val="24408D"/>
              </a:solidFill>
              <a:latin typeface="Trebuchet MS" panose="020B0603020202020204" pitchFamily="34" charset="0"/>
              <a:cs typeface="Arial" panose="020B0604020202020204" pitchFamily="34" charset="0"/>
            </a:endParaRPr>
          </a:p>
          <a:p>
            <a:endParaRPr lang="en-US" sz="2000" noProof="0">
              <a:solidFill>
                <a:srgbClr val="24408D"/>
              </a:solidFill>
              <a:latin typeface="Trebuchet MS" panose="020B0603020202020204" pitchFamily="34" charset="0"/>
              <a:cs typeface="Arial" panose="020B0604020202020204" pitchFamily="34" charset="0"/>
            </a:endParaRPr>
          </a:p>
          <a:p>
            <a:endParaRPr lang="en-US" sz="2000" noProof="0">
              <a:solidFill>
                <a:srgbClr val="24408D"/>
              </a:solidFill>
              <a:latin typeface="Trebuchet MS" panose="020B0603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F729D24-6789-B832-665B-E48248B5CBF6}"/>
              </a:ext>
            </a:extLst>
          </p:cNvPr>
          <p:cNvSpPr txBox="1"/>
          <p:nvPr/>
        </p:nvSpPr>
        <p:spPr>
          <a:xfrm>
            <a:off x="533400" y="6108187"/>
            <a:ext cx="11381232" cy="490519"/>
          </a:xfrm>
          <a:prstGeom prst="rect">
            <a:avLst/>
          </a:prstGeom>
          <a:solidFill>
            <a:srgbClr val="24408D"/>
          </a:solidFill>
        </p:spPr>
        <p:txBody>
          <a:bodyPr wrap="square">
            <a:spAutoFit/>
          </a:bodyPr>
          <a:lstStyle/>
          <a:p>
            <a:pPr fontAlgn="t">
              <a:lnSpc>
                <a:spcPts val="1500"/>
              </a:lnSpc>
              <a:buNone/>
            </a:pPr>
            <a:r>
              <a:rPr lang="en-US" sz="1400" b="1" noProof="0">
                <a:solidFill>
                  <a:schemeClr val="bg1"/>
                </a:solidFill>
                <a:latin typeface="Segoe UI" panose="020B0502040204020203" pitchFamily="34" charset="0"/>
              </a:rPr>
              <a:t>Key Takeaway: </a:t>
            </a:r>
            <a:r>
              <a:rPr lang="en-US" sz="1400" noProof="0">
                <a:solidFill>
                  <a:schemeClr val="bg1"/>
                </a:solidFill>
                <a:latin typeface="Segoe UI" panose="020B0502040204020203" pitchFamily="34" charset="0"/>
              </a:rPr>
              <a:t>Reducing opportunities for defects is often achieved by removing unnecessary steps, approvals, and handoffs while retaining the activities that add value for the customer.</a:t>
            </a:r>
          </a:p>
        </p:txBody>
      </p:sp>
      <p:sp>
        <p:nvSpPr>
          <p:cNvPr id="2" name="Rectangle 1">
            <a:extLst>
              <a:ext uri="{FF2B5EF4-FFF2-40B4-BE49-F238E27FC236}">
                <a16:creationId xmlns:a16="http://schemas.microsoft.com/office/drawing/2014/main" id="{2695BF54-0BCE-99A3-D0E7-401DA592A2AC}"/>
              </a:ext>
            </a:extLst>
          </p:cNvPr>
          <p:cNvSpPr/>
          <p:nvPr/>
        </p:nvSpPr>
        <p:spPr>
          <a:xfrm>
            <a:off x="5791200" y="2646312"/>
            <a:ext cx="1600200" cy="2967839"/>
          </a:xfrm>
          <a:prstGeom prst="rect">
            <a:avLst/>
          </a:prstGeom>
          <a:solidFill>
            <a:schemeClr val="bg1">
              <a:lumMod val="9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noProof="0"/>
          </a:p>
        </p:txBody>
      </p:sp>
      <p:sp>
        <p:nvSpPr>
          <p:cNvPr id="4" name="Rectangle 3">
            <a:extLst>
              <a:ext uri="{FF2B5EF4-FFF2-40B4-BE49-F238E27FC236}">
                <a16:creationId xmlns:a16="http://schemas.microsoft.com/office/drawing/2014/main" id="{2DFE3394-EBB9-CAAD-E160-136C896DA0F6}"/>
              </a:ext>
            </a:extLst>
          </p:cNvPr>
          <p:cNvSpPr/>
          <p:nvPr/>
        </p:nvSpPr>
        <p:spPr>
          <a:xfrm>
            <a:off x="7828242" y="2646312"/>
            <a:ext cx="1600200" cy="2967839"/>
          </a:xfrm>
          <a:prstGeom prst="rect">
            <a:avLst/>
          </a:prstGeom>
          <a:solidFill>
            <a:schemeClr val="bg1">
              <a:lumMod val="95000"/>
            </a:schemeClr>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Rectangle 4">
            <a:extLst>
              <a:ext uri="{FF2B5EF4-FFF2-40B4-BE49-F238E27FC236}">
                <a16:creationId xmlns:a16="http://schemas.microsoft.com/office/drawing/2014/main" id="{36D7D7F5-C32C-0B3A-AF14-8A5DB6098574}"/>
              </a:ext>
            </a:extLst>
          </p:cNvPr>
          <p:cNvSpPr/>
          <p:nvPr/>
        </p:nvSpPr>
        <p:spPr>
          <a:xfrm>
            <a:off x="6018313" y="2818899"/>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Referral</a:t>
            </a:r>
          </a:p>
        </p:txBody>
      </p:sp>
      <p:sp>
        <p:nvSpPr>
          <p:cNvPr id="11" name="Rectangle 10">
            <a:extLst>
              <a:ext uri="{FF2B5EF4-FFF2-40B4-BE49-F238E27FC236}">
                <a16:creationId xmlns:a16="http://schemas.microsoft.com/office/drawing/2014/main" id="{76BEB9BF-C540-A7F1-753E-0A9F680E6643}"/>
              </a:ext>
            </a:extLst>
          </p:cNvPr>
          <p:cNvSpPr/>
          <p:nvPr/>
        </p:nvSpPr>
        <p:spPr>
          <a:xfrm>
            <a:off x="6019800" y="3280948"/>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Review</a:t>
            </a:r>
          </a:p>
        </p:txBody>
      </p:sp>
      <p:sp>
        <p:nvSpPr>
          <p:cNvPr id="13" name="Rectangle 12">
            <a:extLst>
              <a:ext uri="{FF2B5EF4-FFF2-40B4-BE49-F238E27FC236}">
                <a16:creationId xmlns:a16="http://schemas.microsoft.com/office/drawing/2014/main" id="{FF1C469B-F95E-FC8D-FF78-F8B281D5247D}"/>
              </a:ext>
            </a:extLst>
          </p:cNvPr>
          <p:cNvSpPr/>
          <p:nvPr/>
        </p:nvSpPr>
        <p:spPr>
          <a:xfrm>
            <a:off x="6019800" y="3738190"/>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Approval</a:t>
            </a:r>
          </a:p>
        </p:txBody>
      </p:sp>
      <p:sp>
        <p:nvSpPr>
          <p:cNvPr id="14" name="Rectangle 13">
            <a:extLst>
              <a:ext uri="{FF2B5EF4-FFF2-40B4-BE49-F238E27FC236}">
                <a16:creationId xmlns:a16="http://schemas.microsoft.com/office/drawing/2014/main" id="{61099C0F-7804-6C0E-8F1D-5C125B698A51}"/>
              </a:ext>
            </a:extLst>
          </p:cNvPr>
          <p:cNvSpPr/>
          <p:nvPr/>
        </p:nvSpPr>
        <p:spPr>
          <a:xfrm>
            <a:off x="6019800" y="4198303"/>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Assessment</a:t>
            </a:r>
          </a:p>
        </p:txBody>
      </p:sp>
      <p:sp>
        <p:nvSpPr>
          <p:cNvPr id="15" name="Rectangle 14">
            <a:extLst>
              <a:ext uri="{FF2B5EF4-FFF2-40B4-BE49-F238E27FC236}">
                <a16:creationId xmlns:a16="http://schemas.microsoft.com/office/drawing/2014/main" id="{3FB9F0E6-E89C-9F8E-17D9-28AF8513EC1E}"/>
              </a:ext>
            </a:extLst>
          </p:cNvPr>
          <p:cNvSpPr/>
          <p:nvPr/>
        </p:nvSpPr>
        <p:spPr>
          <a:xfrm>
            <a:off x="6019800" y="4671450"/>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Documentation</a:t>
            </a:r>
          </a:p>
        </p:txBody>
      </p:sp>
      <p:sp>
        <p:nvSpPr>
          <p:cNvPr id="16" name="Rectangle 15">
            <a:extLst>
              <a:ext uri="{FF2B5EF4-FFF2-40B4-BE49-F238E27FC236}">
                <a16:creationId xmlns:a16="http://schemas.microsoft.com/office/drawing/2014/main" id="{CBE87DAC-9BA1-7D2B-87C2-37F6560EC9A8}"/>
              </a:ext>
            </a:extLst>
          </p:cNvPr>
          <p:cNvSpPr/>
          <p:nvPr/>
        </p:nvSpPr>
        <p:spPr>
          <a:xfrm>
            <a:off x="6019800" y="5150437"/>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Communication</a:t>
            </a:r>
          </a:p>
        </p:txBody>
      </p:sp>
      <p:sp>
        <p:nvSpPr>
          <p:cNvPr id="17" name="Rectangle 16">
            <a:extLst>
              <a:ext uri="{FF2B5EF4-FFF2-40B4-BE49-F238E27FC236}">
                <a16:creationId xmlns:a16="http://schemas.microsoft.com/office/drawing/2014/main" id="{9E8A4066-E465-5DA2-E438-6E6CDFFEE670}"/>
              </a:ext>
            </a:extLst>
          </p:cNvPr>
          <p:cNvSpPr/>
          <p:nvPr/>
        </p:nvSpPr>
        <p:spPr>
          <a:xfrm>
            <a:off x="8056842" y="2875496"/>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Referral</a:t>
            </a:r>
          </a:p>
        </p:txBody>
      </p:sp>
      <p:sp>
        <p:nvSpPr>
          <p:cNvPr id="19" name="Rectangle 18">
            <a:extLst>
              <a:ext uri="{FF2B5EF4-FFF2-40B4-BE49-F238E27FC236}">
                <a16:creationId xmlns:a16="http://schemas.microsoft.com/office/drawing/2014/main" id="{31F05B7D-6F71-B15F-57AA-CA35F8A72110}"/>
              </a:ext>
            </a:extLst>
          </p:cNvPr>
          <p:cNvSpPr/>
          <p:nvPr/>
        </p:nvSpPr>
        <p:spPr>
          <a:xfrm>
            <a:off x="8056842" y="3431232"/>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Booking</a:t>
            </a:r>
          </a:p>
        </p:txBody>
      </p:sp>
      <p:sp>
        <p:nvSpPr>
          <p:cNvPr id="20" name="Rectangle 19">
            <a:extLst>
              <a:ext uri="{FF2B5EF4-FFF2-40B4-BE49-F238E27FC236}">
                <a16:creationId xmlns:a16="http://schemas.microsoft.com/office/drawing/2014/main" id="{DBE3F03F-CDCA-7AD3-3788-22632F231190}"/>
              </a:ext>
            </a:extLst>
          </p:cNvPr>
          <p:cNvSpPr/>
          <p:nvPr/>
        </p:nvSpPr>
        <p:spPr>
          <a:xfrm>
            <a:off x="8056842" y="3960753"/>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Assessment</a:t>
            </a:r>
          </a:p>
        </p:txBody>
      </p:sp>
      <p:sp>
        <p:nvSpPr>
          <p:cNvPr id="21" name="Rectangle 20">
            <a:extLst>
              <a:ext uri="{FF2B5EF4-FFF2-40B4-BE49-F238E27FC236}">
                <a16:creationId xmlns:a16="http://schemas.microsoft.com/office/drawing/2014/main" id="{AC6C0428-58F3-7962-0099-0A0FE82D0DE1}"/>
              </a:ext>
            </a:extLst>
          </p:cNvPr>
          <p:cNvSpPr/>
          <p:nvPr/>
        </p:nvSpPr>
        <p:spPr>
          <a:xfrm>
            <a:off x="8056842" y="4517938"/>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Report</a:t>
            </a:r>
          </a:p>
        </p:txBody>
      </p:sp>
      <p:sp>
        <p:nvSpPr>
          <p:cNvPr id="22" name="Rectangle 21">
            <a:extLst>
              <a:ext uri="{FF2B5EF4-FFF2-40B4-BE49-F238E27FC236}">
                <a16:creationId xmlns:a16="http://schemas.microsoft.com/office/drawing/2014/main" id="{392C6962-7580-0BDC-0058-9E3F8FF0FAC0}"/>
              </a:ext>
            </a:extLst>
          </p:cNvPr>
          <p:cNvSpPr/>
          <p:nvPr/>
        </p:nvSpPr>
        <p:spPr>
          <a:xfrm>
            <a:off x="8056842" y="5087304"/>
            <a:ext cx="1143000" cy="360000"/>
          </a:xfrm>
          <a:prstGeom prst="rect">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noProof="0"/>
              <a:t>Communication</a:t>
            </a:r>
          </a:p>
        </p:txBody>
      </p:sp>
      <p:sp>
        <p:nvSpPr>
          <p:cNvPr id="37" name="Rectangle 36">
            <a:extLst>
              <a:ext uri="{FF2B5EF4-FFF2-40B4-BE49-F238E27FC236}">
                <a16:creationId xmlns:a16="http://schemas.microsoft.com/office/drawing/2014/main" id="{11D15450-D2C7-30FD-A762-0B852CDF320D}"/>
              </a:ext>
            </a:extLst>
          </p:cNvPr>
          <p:cNvSpPr/>
          <p:nvPr/>
        </p:nvSpPr>
        <p:spPr>
          <a:xfrm>
            <a:off x="5791200" y="2362200"/>
            <a:ext cx="1600200" cy="311059"/>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Complex</a:t>
            </a:r>
          </a:p>
        </p:txBody>
      </p:sp>
      <p:sp>
        <p:nvSpPr>
          <p:cNvPr id="38" name="Rectangle 37">
            <a:extLst>
              <a:ext uri="{FF2B5EF4-FFF2-40B4-BE49-F238E27FC236}">
                <a16:creationId xmlns:a16="http://schemas.microsoft.com/office/drawing/2014/main" id="{AE4C41B1-169E-F728-72AC-6D14830F0E95}"/>
              </a:ext>
            </a:extLst>
          </p:cNvPr>
          <p:cNvSpPr/>
          <p:nvPr/>
        </p:nvSpPr>
        <p:spPr>
          <a:xfrm>
            <a:off x="7828242" y="2368622"/>
            <a:ext cx="1600200" cy="311059"/>
          </a:xfrm>
          <a:prstGeom prst="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Simplified</a:t>
            </a:r>
          </a:p>
        </p:txBody>
      </p:sp>
      <p:sp>
        <p:nvSpPr>
          <p:cNvPr id="41" name="TextBox 40">
            <a:extLst>
              <a:ext uri="{FF2B5EF4-FFF2-40B4-BE49-F238E27FC236}">
                <a16:creationId xmlns:a16="http://schemas.microsoft.com/office/drawing/2014/main" id="{17BFCBA0-9079-5E5F-E466-AD700C77E954}"/>
              </a:ext>
            </a:extLst>
          </p:cNvPr>
          <p:cNvSpPr txBox="1"/>
          <p:nvPr/>
        </p:nvSpPr>
        <p:spPr>
          <a:xfrm>
            <a:off x="9601200" y="3066804"/>
            <a:ext cx="2252726" cy="1917807"/>
          </a:xfrm>
          <a:prstGeom prst="roundRect">
            <a:avLst>
              <a:gd name="adj" fmla="val 9148"/>
            </a:avLst>
          </a:prstGeom>
          <a:solidFill>
            <a:srgbClr val="27AAE1"/>
          </a:solidFill>
        </p:spPr>
        <p:txBody>
          <a:bodyPr wrap="square" lIns="91440" tIns="45720" rIns="91440" bIns="45720" anchor="t">
            <a:spAutoFit/>
          </a:bodyPr>
          <a:lstStyle/>
          <a:p>
            <a:pPr fontAlgn="t">
              <a:lnSpc>
                <a:spcPts val="1500"/>
              </a:lnSpc>
              <a:buNone/>
            </a:pPr>
            <a:r>
              <a:rPr lang="en-US" sz="1400" b="1" noProof="0">
                <a:solidFill>
                  <a:schemeClr val="bg1"/>
                </a:solidFill>
                <a:latin typeface="Trebuchet MS" panose="020B0603020202020204" pitchFamily="34" charset="0"/>
              </a:rPr>
              <a:t>Example </a:t>
            </a:r>
            <a:r>
              <a:rPr lang="en-US" sz="1400" b="1" i="0" noProof="0">
                <a:solidFill>
                  <a:schemeClr val="bg1"/>
                </a:solidFill>
                <a:effectLst/>
                <a:latin typeface="Trebuchet MS" panose="020B0603020202020204" pitchFamily="34" charset="0"/>
              </a:rPr>
              <a:t>Improvements:</a:t>
            </a:r>
          </a:p>
          <a:p>
            <a:pPr fontAlgn="t">
              <a:lnSpc>
                <a:spcPts val="1500"/>
              </a:lnSpc>
              <a:buNone/>
            </a:pPr>
            <a:endParaRPr lang="en-US" sz="1400" b="0" i="0" noProof="0">
              <a:solidFill>
                <a:schemeClr val="bg1"/>
              </a:solidFill>
              <a:effectLst/>
              <a:latin typeface="Trebuchet MS" panose="020B0603020202020204" pitchFamily="34" charset="0"/>
            </a:endParaRPr>
          </a:p>
          <a:p>
            <a:pPr marL="171450" indent="-171450" fontAlgn="t">
              <a:lnSpc>
                <a:spcPts val="1500"/>
              </a:lnSpc>
              <a:buFont typeface="Arial" panose="020B0604020202020204" pitchFamily="34" charset="0"/>
              <a:buChar char="•"/>
            </a:pPr>
            <a:r>
              <a:rPr lang="en-US" sz="1400" b="0" i="0" noProof="0">
                <a:solidFill>
                  <a:schemeClr val="bg1"/>
                </a:solidFill>
                <a:effectLst/>
                <a:latin typeface="Trebuchet MS" panose="020B0603020202020204" pitchFamily="34" charset="0"/>
              </a:rPr>
              <a:t>Referral review incorporated into booking.</a:t>
            </a:r>
          </a:p>
          <a:p>
            <a:pPr marL="171450" indent="-171450">
              <a:lnSpc>
                <a:spcPts val="1500"/>
              </a:lnSpc>
              <a:buFont typeface="Arial" panose="020B0604020202020204" pitchFamily="34" charset="0"/>
              <a:buChar char="•"/>
            </a:pPr>
            <a:endParaRPr lang="en-US" sz="1400">
              <a:solidFill>
                <a:schemeClr val="bg1"/>
              </a:solidFill>
              <a:latin typeface="Trebuchet MS"/>
            </a:endParaRPr>
          </a:p>
          <a:p>
            <a:pPr marL="171450" indent="-171450" fontAlgn="t">
              <a:lnSpc>
                <a:spcPts val="1500"/>
              </a:lnSpc>
              <a:buFont typeface="Arial" panose="020B0604020202020204" pitchFamily="34" charset="0"/>
              <a:buChar char="•"/>
            </a:pPr>
            <a:r>
              <a:rPr lang="en-US" sz="1400">
                <a:solidFill>
                  <a:schemeClr val="bg1"/>
                </a:solidFill>
                <a:latin typeface="Trebuchet MS"/>
              </a:rPr>
              <a:t>U</a:t>
            </a:r>
            <a:r>
              <a:rPr lang="en-US" sz="1400" b="0" i="0" noProof="0">
                <a:solidFill>
                  <a:schemeClr val="bg1"/>
                </a:solidFill>
                <a:effectLst/>
                <a:latin typeface="Trebuchet MS"/>
              </a:rPr>
              <a:t>nnecessary approval removed.</a:t>
            </a:r>
          </a:p>
        </p:txBody>
      </p:sp>
      <p:sp>
        <p:nvSpPr>
          <p:cNvPr id="3" name="Rectangle: Rounded Corners 2">
            <a:extLst>
              <a:ext uri="{FF2B5EF4-FFF2-40B4-BE49-F238E27FC236}">
                <a16:creationId xmlns:a16="http://schemas.microsoft.com/office/drawing/2014/main" id="{56F271CE-21B7-B6E0-8BDE-696C6C934AFA}"/>
              </a:ext>
            </a:extLst>
          </p:cNvPr>
          <p:cNvSpPr/>
          <p:nvPr/>
        </p:nvSpPr>
        <p:spPr>
          <a:xfrm>
            <a:off x="470280" y="2230786"/>
            <a:ext cx="4597312" cy="634521"/>
          </a:xfrm>
          <a:prstGeom prst="roundRect">
            <a:avLst>
              <a:gd name="adj" fmla="val 28932"/>
            </a:avLst>
          </a:prstGeom>
          <a:solidFill>
            <a:srgbClr val="00B0F0"/>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latin typeface="Trebuchet MS" panose="020B0603020202020204" pitchFamily="34" charset="0"/>
              </a:rPr>
              <a:t>Occupational Health Example</a:t>
            </a:r>
          </a:p>
        </p:txBody>
      </p:sp>
    </p:spTree>
    <p:extLst>
      <p:ext uri="{BB962C8B-B14F-4D97-AF65-F5344CB8AC3E}">
        <p14:creationId xmlns:p14="http://schemas.microsoft.com/office/powerpoint/2010/main" val="2598756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 Placeholder 6">
            <a:extLst>
              <a:ext uri="{FF2B5EF4-FFF2-40B4-BE49-F238E27FC236}">
                <a16:creationId xmlns:a16="http://schemas.microsoft.com/office/drawing/2014/main" id="{B854D7F8-561E-2140-9A6B-F2B28851105D}"/>
              </a:ext>
            </a:extLst>
          </p:cNvPr>
          <p:cNvSpPr>
            <a:spLocks noGrp="1"/>
          </p:cNvSpPr>
          <p:nvPr>
            <p:ph type="body" sz="quarter" idx="12"/>
          </p:nvPr>
        </p:nvSpPr>
        <p:spPr>
          <a:xfrm>
            <a:off x="533400" y="1524000"/>
            <a:ext cx="10820400" cy="276999"/>
          </a:xfrm>
        </p:spPr>
        <p:txBody>
          <a:bodyPr/>
          <a:lstStyle/>
          <a:p>
            <a:r>
              <a:rPr lang="en-US" sz="1800" noProof="0">
                <a:latin typeface="Trebuchet MS" panose="020B0603020202020204" pitchFamily="34" charset="0"/>
              </a:rPr>
              <a:t>When working out the number of opportunities for defects, you need to ensure consistency. </a:t>
            </a:r>
          </a:p>
        </p:txBody>
      </p:sp>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533400" y="381000"/>
            <a:ext cx="8458200" cy="492443"/>
          </a:xfrm>
        </p:spPr>
        <p:txBody>
          <a:bodyPr/>
          <a:lstStyle/>
          <a:p>
            <a:r>
              <a:rPr lang="en-US" sz="3200" noProof="0">
                <a:solidFill>
                  <a:srgbClr val="FFC000"/>
                </a:solidFill>
                <a:latin typeface="Trebuchet MS" panose="020B0603020202020204" pitchFamily="34" charset="0"/>
              </a:rPr>
              <a:t>How to Determine Opportunities</a:t>
            </a:r>
          </a:p>
        </p:txBody>
      </p:sp>
      <p:graphicFrame>
        <p:nvGraphicFramePr>
          <p:cNvPr id="4" name="Table 7">
            <a:extLst>
              <a:ext uri="{FF2B5EF4-FFF2-40B4-BE49-F238E27FC236}">
                <a16:creationId xmlns:a16="http://schemas.microsoft.com/office/drawing/2014/main" id="{E06E394A-A7C1-7E76-3368-B612F1A5A3FA}"/>
              </a:ext>
            </a:extLst>
          </p:cNvPr>
          <p:cNvGraphicFramePr>
            <a:graphicFrameLocks noGrp="1"/>
          </p:cNvGraphicFramePr>
          <p:nvPr>
            <p:extLst>
              <p:ext uri="{D42A27DB-BD31-4B8C-83A1-F6EECF244321}">
                <p14:modId xmlns:p14="http://schemas.microsoft.com/office/powerpoint/2010/main" val="4265802024"/>
              </p:ext>
            </p:extLst>
          </p:nvPr>
        </p:nvGraphicFramePr>
        <p:xfrm>
          <a:off x="533400" y="2286000"/>
          <a:ext cx="10944226" cy="3134360"/>
        </p:xfrm>
        <a:graphic>
          <a:graphicData uri="http://schemas.openxmlformats.org/drawingml/2006/table">
            <a:tbl>
              <a:tblPr firstRow="1" bandRow="1">
                <a:tableStyleId>{69CF1AB2-1976-4502-BF36-3FF5EA218861}</a:tableStyleId>
              </a:tblPr>
              <a:tblGrid>
                <a:gridCol w="893406">
                  <a:extLst>
                    <a:ext uri="{9D8B030D-6E8A-4147-A177-3AD203B41FA5}">
                      <a16:colId xmlns:a16="http://schemas.microsoft.com/office/drawing/2014/main" val="2556741801"/>
                    </a:ext>
                  </a:extLst>
                </a:gridCol>
                <a:gridCol w="10050820">
                  <a:extLst>
                    <a:ext uri="{9D8B030D-6E8A-4147-A177-3AD203B41FA5}">
                      <a16:colId xmlns:a16="http://schemas.microsoft.com/office/drawing/2014/main" val="2143432187"/>
                    </a:ext>
                  </a:extLst>
                </a:gridCol>
              </a:tblGrid>
              <a:tr h="370840">
                <a:tc>
                  <a:txBody>
                    <a:bodyPr/>
                    <a:lstStyle/>
                    <a:p>
                      <a:pPr algn="ctr"/>
                      <a:r>
                        <a:rPr lang="en-US" sz="1600" b="1" noProof="0">
                          <a:solidFill>
                            <a:schemeClr val="bg1"/>
                          </a:solidFill>
                          <a:latin typeface="Trebuchet MS" panose="020B0603020202020204" pitchFamily="34" charset="0"/>
                        </a:rPr>
                        <a:t>1.</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rPr>
                        <a:t>Identify defects</a:t>
                      </a:r>
                      <a:r>
                        <a:rPr lang="en-US" sz="1400" b="0" noProof="0">
                          <a:solidFill>
                            <a:srgbClr val="002060"/>
                          </a:solidFill>
                          <a:latin typeface="Trebuchet MS" panose="020B0603020202020204" pitchFamily="34" charset="0"/>
                        </a:rPr>
                        <a:t>: Prepare an initial list of possible defect types.</a:t>
                      </a:r>
                      <a:endParaRPr lang="en-US" sz="1400" b="0" noProof="0">
                        <a:solidFill>
                          <a:srgbClr val="002060"/>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253042231"/>
                  </a:ext>
                </a:extLst>
              </a:tr>
              <a:tr h="370840">
                <a:tc>
                  <a:txBody>
                    <a:bodyPr/>
                    <a:lstStyle/>
                    <a:p>
                      <a:pPr algn="ctr"/>
                      <a:r>
                        <a:rPr lang="en-US" sz="1600" b="1" noProof="0">
                          <a:solidFill>
                            <a:schemeClr val="bg1"/>
                          </a:solidFill>
                          <a:latin typeface="Trebuchet MS" panose="020B0603020202020204" pitchFamily="34" charset="0"/>
                        </a:rPr>
                        <a:t>2.</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rPr>
                        <a:t>Categorize defects:</a:t>
                      </a:r>
                    </a:p>
                    <a:p>
                      <a:pPr marL="285750" indent="-285750">
                        <a:buFont typeface="Arial" panose="020B0604020202020204" pitchFamily="34" charset="0"/>
                        <a:buChar char="•"/>
                      </a:pPr>
                      <a:r>
                        <a:rPr lang="en-US" sz="1400" b="1" noProof="0">
                          <a:solidFill>
                            <a:srgbClr val="002060"/>
                          </a:solidFill>
                          <a:latin typeface="Trebuchet MS" panose="020B0603020202020204" pitchFamily="34" charset="0"/>
                        </a:rPr>
                        <a:t>Actual defects </a:t>
                      </a:r>
                      <a:r>
                        <a:rPr lang="en-US" sz="1400" b="0" noProof="0">
                          <a:solidFill>
                            <a:srgbClr val="002060"/>
                          </a:solidFill>
                          <a:latin typeface="Trebuchet MS" panose="020B0603020202020204" pitchFamily="34" charset="0"/>
                        </a:rPr>
                        <a:t>– physical faults (e.g., cracks, damage).</a:t>
                      </a:r>
                    </a:p>
                    <a:p>
                      <a:pPr marL="285750" indent="-285750">
                        <a:buFont typeface="Arial" panose="020B0604020202020204" pitchFamily="34" charset="0"/>
                        <a:buChar char="•"/>
                      </a:pPr>
                      <a:r>
                        <a:rPr lang="en-US" sz="1400" b="1" noProof="0">
                          <a:solidFill>
                            <a:srgbClr val="002060"/>
                          </a:solidFill>
                          <a:latin typeface="Trebuchet MS" panose="020B0603020202020204" pitchFamily="34" charset="0"/>
                        </a:rPr>
                        <a:t>Customer-critical defects – </a:t>
                      </a:r>
                      <a:r>
                        <a:rPr lang="en-US" sz="1400" b="0" noProof="0">
                          <a:solidFill>
                            <a:srgbClr val="002060"/>
                          </a:solidFill>
                          <a:latin typeface="Trebuchet MS" panose="020B0603020202020204" pitchFamily="34" charset="0"/>
                        </a:rPr>
                        <a:t>impact customer satisfaction.</a:t>
                      </a:r>
                    </a:p>
                    <a:p>
                      <a:pPr marL="285750" indent="-285750">
                        <a:buFont typeface="Arial" panose="020B0604020202020204" pitchFamily="34" charset="0"/>
                        <a:buChar char="•"/>
                      </a:pPr>
                      <a:r>
                        <a:rPr lang="en-US" sz="1400" b="1" noProof="0">
                          <a:solidFill>
                            <a:srgbClr val="002060"/>
                          </a:solidFill>
                          <a:latin typeface="Trebuchet MS" panose="020B0603020202020204" pitchFamily="34" charset="0"/>
                        </a:rPr>
                        <a:t>Process-specific defects – </a:t>
                      </a:r>
                      <a:r>
                        <a:rPr lang="en-US" sz="1400" b="0" noProof="0">
                          <a:solidFill>
                            <a:srgbClr val="002060"/>
                          </a:solidFill>
                          <a:latin typeface="Trebuchet MS" panose="020B0603020202020204" pitchFamily="34" charset="0"/>
                        </a:rPr>
                        <a:t>related to how the process operates.</a:t>
                      </a:r>
                    </a:p>
                  </a:txBody>
                  <a:tcPr/>
                </a:tc>
                <a:extLst>
                  <a:ext uri="{0D108BD9-81ED-4DB2-BD59-A6C34878D82A}">
                    <a16:rowId xmlns:a16="http://schemas.microsoft.com/office/drawing/2014/main" val="236302368"/>
                  </a:ext>
                </a:extLst>
              </a:tr>
              <a:tr h="370840">
                <a:tc>
                  <a:txBody>
                    <a:bodyPr/>
                    <a:lstStyle/>
                    <a:p>
                      <a:pPr algn="ctr"/>
                      <a:r>
                        <a:rPr lang="en-US" sz="1600" b="1" noProof="0">
                          <a:solidFill>
                            <a:schemeClr val="bg1"/>
                          </a:solidFill>
                          <a:latin typeface="Trebuchet MS" panose="020B0603020202020204" pitchFamily="34" charset="0"/>
                        </a:rPr>
                        <a:t>3.</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rPr>
                        <a:t>Focus on routine defects: </a:t>
                      </a:r>
                      <a:r>
                        <a:rPr lang="en-US" sz="1400" b="0" noProof="0">
                          <a:solidFill>
                            <a:srgbClr val="002060"/>
                          </a:solidFill>
                          <a:latin typeface="Trebuchet MS" panose="020B0603020202020204" pitchFamily="34" charset="0"/>
                        </a:rPr>
                        <a:t>Exclude one-off or non-routine issues.</a:t>
                      </a:r>
                      <a:endParaRPr lang="en-US" sz="1400" b="0" noProof="0">
                        <a:solidFill>
                          <a:srgbClr val="002060"/>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3257223731"/>
                  </a:ext>
                </a:extLst>
              </a:tr>
              <a:tr h="370840">
                <a:tc>
                  <a:txBody>
                    <a:bodyPr/>
                    <a:lstStyle/>
                    <a:p>
                      <a:pPr algn="ctr"/>
                      <a:r>
                        <a:rPr lang="en-US" sz="1600" b="1" noProof="0">
                          <a:solidFill>
                            <a:schemeClr val="bg1"/>
                          </a:solidFill>
                          <a:latin typeface="Trebuchet MS" panose="020B0603020202020204" pitchFamily="34" charset="0"/>
                        </a:rPr>
                        <a:t>4.</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rPr>
                        <a:t>Group similar defects: </a:t>
                      </a:r>
                      <a:r>
                        <a:rPr lang="en-US" sz="1400" b="0" noProof="0">
                          <a:solidFill>
                            <a:srgbClr val="002060"/>
                          </a:solidFill>
                          <a:latin typeface="Trebuchet MS" panose="020B0603020202020204" pitchFamily="34" charset="0"/>
                        </a:rPr>
                        <a:t>Combine related </a:t>
                      </a:r>
                      <a:r>
                        <a:rPr lang="en-US" sz="1400" noProof="0">
                          <a:solidFill>
                            <a:srgbClr val="002060"/>
                          </a:solidFill>
                          <a:latin typeface="Trebuchet MS" panose="020B0603020202020204" pitchFamily="34" charset="0"/>
                        </a:rPr>
                        <a:t>defects together.</a:t>
                      </a:r>
                      <a:endParaRPr lang="en-US" sz="1400" noProof="0">
                        <a:solidFill>
                          <a:srgbClr val="002060"/>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834514130"/>
                  </a:ext>
                </a:extLst>
              </a:tr>
              <a:tr h="370840">
                <a:tc>
                  <a:txBody>
                    <a:bodyPr/>
                    <a:lstStyle/>
                    <a:p>
                      <a:pPr algn="ctr"/>
                      <a:r>
                        <a:rPr lang="en-US" sz="1600" b="1" noProof="0">
                          <a:solidFill>
                            <a:schemeClr val="bg1"/>
                          </a:solidFill>
                          <a:latin typeface="Trebuchet MS" panose="020B0603020202020204" pitchFamily="34" charset="0"/>
                        </a:rPr>
                        <a:t>5.</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rPr>
                        <a:t>Apply a consistent definition: </a:t>
                      </a:r>
                      <a:r>
                        <a:rPr lang="en-US" sz="1400" b="0" noProof="0">
                          <a:solidFill>
                            <a:srgbClr val="002060"/>
                          </a:solidFill>
                          <a:latin typeface="Trebuchet MS" panose="020B0603020202020204" pitchFamily="34" charset="0"/>
                        </a:rPr>
                        <a:t>Opportunities should reflect where defects can occur, not every possible failure scenario.</a:t>
                      </a:r>
                      <a:endParaRPr lang="en-US" sz="1400" b="0" noProof="0">
                        <a:solidFill>
                          <a:srgbClr val="002060"/>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4086707594"/>
                  </a:ext>
                </a:extLst>
              </a:tr>
              <a:tr h="330200">
                <a:tc>
                  <a:txBody>
                    <a:bodyPr/>
                    <a:lstStyle/>
                    <a:p>
                      <a:pPr algn="ctr"/>
                      <a:r>
                        <a:rPr lang="en-US" sz="1600" b="1" noProof="0">
                          <a:solidFill>
                            <a:schemeClr val="bg1"/>
                          </a:solidFill>
                          <a:latin typeface="Trebuchet MS" panose="020B0603020202020204" pitchFamily="34" charset="0"/>
                        </a:rPr>
                        <a:t>6.</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cs typeface="Arial" panose="020B0604020202020204" pitchFamily="34" charset="0"/>
                        </a:rPr>
                        <a:t>Validate against standards: </a:t>
                      </a:r>
                      <a:r>
                        <a:rPr lang="en-US" sz="1400" noProof="0">
                          <a:solidFill>
                            <a:srgbClr val="002060"/>
                          </a:solidFill>
                          <a:latin typeface="Trebuchet MS" panose="020B0603020202020204" pitchFamily="34" charset="0"/>
                          <a:cs typeface="Arial" panose="020B0604020202020204" pitchFamily="34" charset="0"/>
                        </a:rPr>
                        <a:t>Cross-check opportunities with specifications and tolerances.</a:t>
                      </a:r>
                    </a:p>
                  </a:txBody>
                  <a:tcPr/>
                </a:tc>
                <a:extLst>
                  <a:ext uri="{0D108BD9-81ED-4DB2-BD59-A6C34878D82A}">
                    <a16:rowId xmlns:a16="http://schemas.microsoft.com/office/drawing/2014/main" val="2283342736"/>
                  </a:ext>
                </a:extLst>
              </a:tr>
              <a:tr h="370840">
                <a:tc>
                  <a:txBody>
                    <a:bodyPr/>
                    <a:lstStyle/>
                    <a:p>
                      <a:pPr algn="ctr"/>
                      <a:r>
                        <a:rPr lang="en-US" sz="1600" b="1" noProof="0">
                          <a:solidFill>
                            <a:schemeClr val="bg1"/>
                          </a:solidFill>
                          <a:latin typeface="Trebuchet MS" panose="020B0603020202020204" pitchFamily="34" charset="0"/>
                        </a:rPr>
                        <a:t>8.</a:t>
                      </a:r>
                      <a:endParaRPr lang="en-US" sz="1600" b="1" noProof="0">
                        <a:solidFill>
                          <a:schemeClr val="bg1"/>
                        </a:solidFill>
                        <a:latin typeface="Trebuchet MS" panose="020B0603020202020204" pitchFamily="34" charset="0"/>
                        <a:cs typeface="Arial" panose="020B0604020202020204" pitchFamily="34" charset="0"/>
                      </a:endParaRPr>
                    </a:p>
                  </a:txBody>
                  <a:tcPr>
                    <a:solidFill>
                      <a:srgbClr val="24408D"/>
                    </a:solidFill>
                  </a:tcPr>
                </a:tc>
                <a:tc>
                  <a:txBody>
                    <a:bodyPr/>
                    <a:lstStyle/>
                    <a:p>
                      <a:r>
                        <a:rPr lang="en-US" sz="1400" b="1" noProof="0">
                          <a:solidFill>
                            <a:srgbClr val="002060"/>
                          </a:solidFill>
                          <a:latin typeface="Trebuchet MS" panose="020B0603020202020204" pitchFamily="34" charset="0"/>
                        </a:rPr>
                        <a:t>Maintain consistency</a:t>
                      </a:r>
                      <a:r>
                        <a:rPr lang="en-US" sz="1400" noProof="0">
                          <a:solidFill>
                            <a:srgbClr val="002060"/>
                          </a:solidFill>
                          <a:latin typeface="Trebuchet MS" panose="020B0603020202020204" pitchFamily="34" charset="0"/>
                        </a:rPr>
                        <a:t>: Avoid changing definitions once measurement begins.</a:t>
                      </a:r>
                      <a:endParaRPr lang="en-US" sz="1400" noProof="0">
                        <a:solidFill>
                          <a:srgbClr val="002060"/>
                        </a:solidFill>
                        <a:latin typeface="Trebuchet MS" panose="020B0603020202020204" pitchFamily="34" charset="0"/>
                        <a:cs typeface="Arial" panose="020B0604020202020204" pitchFamily="34" charset="0"/>
                      </a:endParaRPr>
                    </a:p>
                  </a:txBody>
                  <a:tcPr/>
                </a:tc>
                <a:extLst>
                  <a:ext uri="{0D108BD9-81ED-4DB2-BD59-A6C34878D82A}">
                    <a16:rowId xmlns:a16="http://schemas.microsoft.com/office/drawing/2014/main" val="1948684844"/>
                  </a:ext>
                </a:extLst>
              </a:tr>
            </a:tbl>
          </a:graphicData>
        </a:graphic>
      </p:graphicFrame>
    </p:spTree>
    <p:extLst>
      <p:ext uri="{BB962C8B-B14F-4D97-AF65-F5344CB8AC3E}">
        <p14:creationId xmlns:p14="http://schemas.microsoft.com/office/powerpoint/2010/main" val="2742165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B1EDB2BD-9E52-F3FC-0C37-93B763F4D339}"/>
              </a:ext>
            </a:extLst>
          </p:cNvPr>
          <p:cNvSpPr>
            <a:spLocks noGrp="1"/>
          </p:cNvSpPr>
          <p:nvPr>
            <p:ph type="body" sz="quarter" idx="10"/>
          </p:nvPr>
        </p:nvSpPr>
        <p:spPr>
          <a:xfrm>
            <a:off x="304800" y="298936"/>
            <a:ext cx="9144000" cy="553998"/>
          </a:xfrm>
        </p:spPr>
        <p:txBody>
          <a:bodyPr/>
          <a:lstStyle/>
          <a:p>
            <a:r>
              <a:rPr lang="en-US" sz="3200" noProof="0">
                <a:latin typeface="Trebuchet MS" panose="020B0603020202020204" pitchFamily="34" charset="0"/>
              </a:rPr>
              <a:t>Opportunities</a:t>
            </a:r>
            <a:r>
              <a:rPr lang="en-US" sz="3600" noProof="0"/>
              <a:t> and DPMO Summary</a:t>
            </a:r>
          </a:p>
        </p:txBody>
      </p:sp>
      <p:sp>
        <p:nvSpPr>
          <p:cNvPr id="7" name="TextBox 6">
            <a:extLst>
              <a:ext uri="{FF2B5EF4-FFF2-40B4-BE49-F238E27FC236}">
                <a16:creationId xmlns:a16="http://schemas.microsoft.com/office/drawing/2014/main" id="{26B995A9-0DEB-2CD6-2161-6D4FE6D81526}"/>
              </a:ext>
            </a:extLst>
          </p:cNvPr>
          <p:cNvSpPr txBox="1"/>
          <p:nvPr/>
        </p:nvSpPr>
        <p:spPr>
          <a:xfrm>
            <a:off x="457200" y="1676400"/>
            <a:ext cx="5295901" cy="2477601"/>
          </a:xfrm>
          <a:prstGeom prst="rect">
            <a:avLst/>
          </a:prstGeom>
          <a:noFill/>
        </p:spPr>
        <p:txBody>
          <a:bodyPr wrap="square">
            <a:spAutoFit/>
          </a:bodyPr>
          <a:lstStyle/>
          <a:p>
            <a:r>
              <a:rPr lang="en-US" b="1" noProof="0">
                <a:solidFill>
                  <a:srgbClr val="002060"/>
                </a:solidFill>
                <a:latin typeface="Trebuchet MS" panose="020B0603020202020204" pitchFamily="34" charset="0"/>
              </a:rPr>
              <a:t>Scenario:</a:t>
            </a:r>
          </a:p>
          <a:p>
            <a:endParaRPr lang="en-US" noProof="0">
              <a:solidFill>
                <a:srgbClr val="002060"/>
              </a:solidFill>
              <a:latin typeface="Trebuchet MS" panose="020B0603020202020204" pitchFamily="34" charset="0"/>
            </a:endParaRPr>
          </a:p>
          <a:p>
            <a:r>
              <a:rPr lang="en-US" noProof="0">
                <a:solidFill>
                  <a:srgbClr val="002060"/>
                </a:solidFill>
                <a:latin typeface="Trebuchet MS" panose="020B0603020202020204" pitchFamily="34" charset="0"/>
              </a:rPr>
              <a:t>A bakery produces 100 cakes.</a:t>
            </a:r>
          </a:p>
          <a:p>
            <a:endParaRPr lang="en-US" noProof="0">
              <a:solidFill>
                <a:srgbClr val="002060"/>
              </a:solidFill>
              <a:latin typeface="Trebuchet MS" panose="020B0603020202020204" pitchFamily="34" charset="0"/>
            </a:endParaRPr>
          </a:p>
          <a:p>
            <a:r>
              <a:rPr lang="en-US" noProof="0">
                <a:solidFill>
                  <a:srgbClr val="002060"/>
                </a:solidFill>
                <a:latin typeface="Trebuchet MS" panose="020B0603020202020204" pitchFamily="34" charset="0"/>
              </a:rPr>
              <a:t>Each cake has 3 defect opportunities:</a:t>
            </a:r>
          </a:p>
          <a:p>
            <a:endParaRPr lang="en-US" sz="105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noProof="0">
                <a:solidFill>
                  <a:srgbClr val="002060"/>
                </a:solidFill>
                <a:latin typeface="Trebuchet MS" panose="020B0603020202020204" pitchFamily="34" charset="0"/>
              </a:rPr>
              <a:t>Sponge baked correctly</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Icing applied correctly</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Decoration added (e.g. cherry)</a:t>
            </a:r>
          </a:p>
        </p:txBody>
      </p:sp>
      <p:sp>
        <p:nvSpPr>
          <p:cNvPr id="8" name="Rectangle: Rounded Corners 7">
            <a:extLst>
              <a:ext uri="{FF2B5EF4-FFF2-40B4-BE49-F238E27FC236}">
                <a16:creationId xmlns:a16="http://schemas.microsoft.com/office/drawing/2014/main" id="{8FBBED9C-4A64-D6E0-A777-CC47018B84A4}"/>
              </a:ext>
            </a:extLst>
          </p:cNvPr>
          <p:cNvSpPr/>
          <p:nvPr/>
        </p:nvSpPr>
        <p:spPr>
          <a:xfrm>
            <a:off x="5636964" y="1528045"/>
            <a:ext cx="5295900" cy="762000"/>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Trebuchet MS" panose="020B0603020202020204" pitchFamily="34" charset="0"/>
              </a:rPr>
              <a:t>Identify defect opportunities per item</a:t>
            </a:r>
          </a:p>
        </p:txBody>
      </p:sp>
      <p:sp>
        <p:nvSpPr>
          <p:cNvPr id="9" name="Rectangle: Rounded Corners 8">
            <a:extLst>
              <a:ext uri="{FF2B5EF4-FFF2-40B4-BE49-F238E27FC236}">
                <a16:creationId xmlns:a16="http://schemas.microsoft.com/office/drawing/2014/main" id="{924D4486-AE09-2179-5FDA-42BE6887ECD0}"/>
              </a:ext>
            </a:extLst>
          </p:cNvPr>
          <p:cNvSpPr/>
          <p:nvPr/>
        </p:nvSpPr>
        <p:spPr>
          <a:xfrm>
            <a:off x="5636964" y="2631844"/>
            <a:ext cx="5295900" cy="920631"/>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Trebuchet MS" panose="020B0603020202020204" pitchFamily="34" charset="0"/>
              </a:rPr>
              <a:t>Calculate the total opportunities </a:t>
            </a:r>
            <a:r>
              <a:rPr lang="en-US" sz="1400">
                <a:solidFill>
                  <a:schemeClr val="bg1"/>
                </a:solidFill>
                <a:latin typeface="Trebuchet MS" panose="020B0603020202020204" pitchFamily="34" charset="0"/>
              </a:rPr>
              <a:t>(what could go wrong)</a:t>
            </a:r>
            <a:endParaRPr lang="en-US" sz="1400" b="1" noProof="0">
              <a:solidFill>
                <a:schemeClr val="bg1"/>
              </a:solidFill>
              <a:latin typeface="Trebuchet MS" panose="020B0603020202020204" pitchFamily="34" charset="0"/>
            </a:endParaRPr>
          </a:p>
          <a:p>
            <a:pPr algn="ctr"/>
            <a:r>
              <a:rPr lang="en-US" sz="1400" noProof="0">
                <a:solidFill>
                  <a:schemeClr val="bg1"/>
                </a:solidFill>
                <a:latin typeface="Trebuchet MS" panose="020B0603020202020204" pitchFamily="34" charset="0"/>
              </a:rPr>
              <a:t>100 cakes x 3 opportunities </a:t>
            </a:r>
          </a:p>
        </p:txBody>
      </p:sp>
      <p:sp>
        <p:nvSpPr>
          <p:cNvPr id="10" name="Rectangle: Rounded Corners 9">
            <a:extLst>
              <a:ext uri="{FF2B5EF4-FFF2-40B4-BE49-F238E27FC236}">
                <a16:creationId xmlns:a16="http://schemas.microsoft.com/office/drawing/2014/main" id="{47778661-E725-BED7-4F95-752DCF6B0C30}"/>
              </a:ext>
            </a:extLst>
          </p:cNvPr>
          <p:cNvSpPr/>
          <p:nvPr/>
        </p:nvSpPr>
        <p:spPr>
          <a:xfrm>
            <a:off x="5636964" y="3950610"/>
            <a:ext cx="5295900" cy="990600"/>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panose="020B0603020202020204" pitchFamily="34" charset="0"/>
              </a:rPr>
              <a:t>Calculate DPU </a:t>
            </a:r>
            <a:r>
              <a:rPr lang="en-US" sz="1400">
                <a:solidFill>
                  <a:schemeClr val="bg1"/>
                </a:solidFill>
                <a:latin typeface="Trebuchet MS" panose="020B0603020202020204" pitchFamily="34" charset="0"/>
              </a:rPr>
              <a:t>(what did go wrong) </a:t>
            </a:r>
          </a:p>
          <a:p>
            <a:pPr algn="ctr"/>
            <a:r>
              <a:rPr lang="en-US" sz="1400" noProof="0">
                <a:solidFill>
                  <a:schemeClr val="bg1"/>
                </a:solidFill>
                <a:latin typeface="Trebuchet MS"/>
              </a:rPr>
              <a:t>3 defects/100 cakes = 0.03 defects per cake </a:t>
            </a:r>
          </a:p>
        </p:txBody>
      </p:sp>
      <p:sp>
        <p:nvSpPr>
          <p:cNvPr id="11" name="Rectangle: Rounded Corners 10">
            <a:extLst>
              <a:ext uri="{FF2B5EF4-FFF2-40B4-BE49-F238E27FC236}">
                <a16:creationId xmlns:a16="http://schemas.microsoft.com/office/drawing/2014/main" id="{22F716E0-520E-5DB4-AFF4-B7CF96D0099D}"/>
              </a:ext>
            </a:extLst>
          </p:cNvPr>
          <p:cNvSpPr/>
          <p:nvPr/>
        </p:nvSpPr>
        <p:spPr>
          <a:xfrm>
            <a:off x="5636964" y="5257800"/>
            <a:ext cx="5295900" cy="1121842"/>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Apply DPMO </a:t>
            </a:r>
          </a:p>
          <a:p>
            <a:pPr algn="ctr"/>
            <a:r>
              <a:rPr lang="en-US" sz="1400" noProof="0">
                <a:solidFill>
                  <a:schemeClr val="bg1"/>
                </a:solidFill>
                <a:latin typeface="Trebuchet MS" panose="020B0603020202020204" pitchFamily="34" charset="0"/>
              </a:rPr>
              <a:t>DPMO = (DPU ÷ Opportunities) × 1,000,000     </a:t>
            </a:r>
          </a:p>
          <a:p>
            <a:pPr algn="ctr"/>
            <a:r>
              <a:rPr lang="en-US" sz="1400" noProof="0">
                <a:solidFill>
                  <a:schemeClr val="bg1"/>
                </a:solidFill>
                <a:latin typeface="Trebuchet MS" panose="020B0603020202020204" pitchFamily="34" charset="0"/>
              </a:rPr>
              <a:t>= (0.03 ÷ 3) × 1,000,000     </a:t>
            </a:r>
          </a:p>
          <a:p>
            <a:pPr algn="ctr"/>
            <a:r>
              <a:rPr lang="en-US" sz="1400" noProof="0">
                <a:solidFill>
                  <a:schemeClr val="bg1"/>
                </a:solidFill>
                <a:latin typeface="Trebuchet MS" panose="020B0603020202020204" pitchFamily="34" charset="0"/>
              </a:rPr>
              <a:t>= 10,000 cake defects per million opportunities</a:t>
            </a:r>
          </a:p>
          <a:p>
            <a:pPr algn="ctr"/>
            <a:endParaRPr lang="en-US" sz="1400" noProof="0">
              <a:solidFill>
                <a:schemeClr val="bg1"/>
              </a:solidFill>
              <a:latin typeface="Trebuchet MS" panose="020B0603020202020204" pitchFamily="34" charset="0"/>
            </a:endParaRPr>
          </a:p>
        </p:txBody>
      </p:sp>
      <p:sp>
        <p:nvSpPr>
          <p:cNvPr id="12" name="Arrow: Down 11">
            <a:extLst>
              <a:ext uri="{FF2B5EF4-FFF2-40B4-BE49-F238E27FC236}">
                <a16:creationId xmlns:a16="http://schemas.microsoft.com/office/drawing/2014/main" id="{53D1247B-65C6-4FF7-8F12-8A91B3539B04}"/>
              </a:ext>
            </a:extLst>
          </p:cNvPr>
          <p:cNvSpPr/>
          <p:nvPr/>
        </p:nvSpPr>
        <p:spPr>
          <a:xfrm>
            <a:off x="7936577" y="2289235"/>
            <a:ext cx="685800" cy="274261"/>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latin typeface="Trebuchet MS" panose="020B0603020202020204" pitchFamily="34" charset="0"/>
            </a:endParaRPr>
          </a:p>
        </p:txBody>
      </p:sp>
      <p:sp>
        <p:nvSpPr>
          <p:cNvPr id="13" name="Arrow: Down 12">
            <a:extLst>
              <a:ext uri="{FF2B5EF4-FFF2-40B4-BE49-F238E27FC236}">
                <a16:creationId xmlns:a16="http://schemas.microsoft.com/office/drawing/2014/main" id="{62A235C7-03DE-D7DF-ACAB-2F7D1B0652B3}"/>
              </a:ext>
            </a:extLst>
          </p:cNvPr>
          <p:cNvSpPr/>
          <p:nvPr/>
        </p:nvSpPr>
        <p:spPr>
          <a:xfrm>
            <a:off x="7936577" y="3505200"/>
            <a:ext cx="685800" cy="363865"/>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latin typeface="Trebuchet MS" panose="020B0603020202020204" pitchFamily="34" charset="0"/>
            </a:endParaRPr>
          </a:p>
        </p:txBody>
      </p:sp>
      <p:sp>
        <p:nvSpPr>
          <p:cNvPr id="14" name="Arrow: Down 13">
            <a:extLst>
              <a:ext uri="{FF2B5EF4-FFF2-40B4-BE49-F238E27FC236}">
                <a16:creationId xmlns:a16="http://schemas.microsoft.com/office/drawing/2014/main" id="{430EA0BA-1E99-2370-8BD7-0FCF9B1D8236}"/>
              </a:ext>
            </a:extLst>
          </p:cNvPr>
          <p:cNvSpPr/>
          <p:nvPr/>
        </p:nvSpPr>
        <p:spPr>
          <a:xfrm>
            <a:off x="7938413" y="4939589"/>
            <a:ext cx="685800" cy="274261"/>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latin typeface="Trebuchet MS" panose="020B0603020202020204" pitchFamily="34" charset="0"/>
            </a:endParaRPr>
          </a:p>
        </p:txBody>
      </p:sp>
      <p:pic>
        <p:nvPicPr>
          <p:cNvPr id="15" name="Picture 14">
            <a:extLst>
              <a:ext uri="{FF2B5EF4-FFF2-40B4-BE49-F238E27FC236}">
                <a16:creationId xmlns:a16="http://schemas.microsoft.com/office/drawing/2014/main" id="{8995C2B5-F22F-1FAB-C49D-5C2FEE2BEF91}"/>
              </a:ext>
            </a:extLst>
          </p:cNvPr>
          <p:cNvPicPr>
            <a:picLocks noChangeAspect="1"/>
          </p:cNvPicPr>
          <p:nvPr/>
        </p:nvPicPr>
        <p:blipFill>
          <a:blip r:embed="rId3"/>
          <a:stretch>
            <a:fillRect/>
          </a:stretch>
        </p:blipFill>
        <p:spPr>
          <a:xfrm>
            <a:off x="1893099" y="4329663"/>
            <a:ext cx="1703873" cy="1703873"/>
          </a:xfrm>
          <a:prstGeom prst="rect">
            <a:avLst/>
          </a:prstGeom>
        </p:spPr>
      </p:pic>
    </p:spTree>
    <p:extLst>
      <p:ext uri="{BB962C8B-B14F-4D97-AF65-F5344CB8AC3E}">
        <p14:creationId xmlns:p14="http://schemas.microsoft.com/office/powerpoint/2010/main" val="2492953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ED460-B360-C738-70FB-E7D1BA0B4ECF}"/>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0D7A9C46-1473-6F91-4006-3D1B81C73817}"/>
              </a:ext>
            </a:extLst>
          </p:cNvPr>
          <p:cNvSpPr>
            <a:spLocks noGrp="1"/>
          </p:cNvSpPr>
          <p:nvPr>
            <p:ph type="body" sz="quarter" idx="10"/>
          </p:nvPr>
        </p:nvSpPr>
        <p:spPr>
          <a:xfrm>
            <a:off x="330739" y="352186"/>
            <a:ext cx="9144000" cy="492443"/>
          </a:xfrm>
        </p:spPr>
        <p:txBody>
          <a:bodyPr/>
          <a:lstStyle/>
          <a:p>
            <a:r>
              <a:rPr lang="en-US" sz="3200" noProof="0">
                <a:latin typeface="Trebuchet MS" panose="020B0603020202020204" pitchFamily="34" charset="0"/>
              </a:rPr>
              <a:t>Real Work Example: Occupational Health</a:t>
            </a:r>
            <a:endParaRPr lang="en-US" sz="3600" noProof="0"/>
          </a:p>
        </p:txBody>
      </p:sp>
      <p:sp>
        <p:nvSpPr>
          <p:cNvPr id="8" name="Rectangle: Rounded Corners 7">
            <a:extLst>
              <a:ext uri="{FF2B5EF4-FFF2-40B4-BE49-F238E27FC236}">
                <a16:creationId xmlns:a16="http://schemas.microsoft.com/office/drawing/2014/main" id="{C7620F26-8831-71C4-FE38-0BFD8AE231B3}"/>
              </a:ext>
            </a:extLst>
          </p:cNvPr>
          <p:cNvSpPr/>
          <p:nvPr/>
        </p:nvSpPr>
        <p:spPr>
          <a:xfrm>
            <a:off x="5506278" y="1752600"/>
            <a:ext cx="5869236" cy="454765"/>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Trebuchet MS" panose="020B0603020202020204" pitchFamily="34" charset="0"/>
              </a:rPr>
              <a:t>Identify defect opportunities per item</a:t>
            </a:r>
          </a:p>
        </p:txBody>
      </p:sp>
      <p:sp>
        <p:nvSpPr>
          <p:cNvPr id="9" name="Rectangle: Rounded Corners 8">
            <a:extLst>
              <a:ext uri="{FF2B5EF4-FFF2-40B4-BE49-F238E27FC236}">
                <a16:creationId xmlns:a16="http://schemas.microsoft.com/office/drawing/2014/main" id="{92CC6BE3-1B12-DD2C-FBE0-3CBA7929128F}"/>
              </a:ext>
            </a:extLst>
          </p:cNvPr>
          <p:cNvSpPr/>
          <p:nvPr/>
        </p:nvSpPr>
        <p:spPr>
          <a:xfrm>
            <a:off x="5506277" y="2571235"/>
            <a:ext cx="5869236" cy="912152"/>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Trebuchet MS" panose="020B0603020202020204" pitchFamily="34" charset="0"/>
            </a:endParaRPr>
          </a:p>
          <a:p>
            <a:pPr algn="ctr"/>
            <a:r>
              <a:rPr lang="en-US" sz="1400" b="1" noProof="0" dirty="0">
                <a:solidFill>
                  <a:schemeClr val="bg1"/>
                </a:solidFill>
                <a:latin typeface="Trebuchet MS" panose="020B0603020202020204" pitchFamily="34" charset="0"/>
              </a:rPr>
              <a:t>Calculate the total opportunities </a:t>
            </a:r>
            <a:r>
              <a:rPr lang="en-US" sz="1400" dirty="0">
                <a:solidFill>
                  <a:schemeClr val="bg1"/>
                </a:solidFill>
                <a:latin typeface="Trebuchet MS" panose="020B0603020202020204" pitchFamily="34" charset="0"/>
              </a:rPr>
              <a:t>(what could go wrong)</a:t>
            </a:r>
          </a:p>
          <a:p>
            <a:pPr algn="ctr"/>
            <a:r>
              <a:rPr lang="en-US" sz="1400" dirty="0">
                <a:solidFill>
                  <a:schemeClr val="bg1"/>
                </a:solidFill>
                <a:latin typeface="Trebuchet MS" panose="020B0603020202020204" pitchFamily="34" charset="0"/>
              </a:rPr>
              <a:t>100 referrals X </a:t>
            </a:r>
            <a:r>
              <a:rPr lang="en-US" sz="1400" noProof="0" dirty="0">
                <a:solidFill>
                  <a:schemeClr val="bg1"/>
                </a:solidFill>
                <a:latin typeface="Trebuchet MS" panose="020B0603020202020204" pitchFamily="34" charset="0"/>
              </a:rPr>
              <a:t>3 opportunities = 300 opportunities</a:t>
            </a:r>
          </a:p>
          <a:p>
            <a:pPr algn="ctr"/>
            <a:endParaRPr lang="en-US" sz="1400" noProof="0" dirty="0">
              <a:solidFill>
                <a:schemeClr val="bg1"/>
              </a:solidFill>
              <a:latin typeface="Trebuchet MS" panose="020B0603020202020204" pitchFamily="34" charset="0"/>
            </a:endParaRPr>
          </a:p>
        </p:txBody>
      </p:sp>
      <p:sp>
        <p:nvSpPr>
          <p:cNvPr id="10" name="Rectangle: Rounded Corners 9">
            <a:extLst>
              <a:ext uri="{FF2B5EF4-FFF2-40B4-BE49-F238E27FC236}">
                <a16:creationId xmlns:a16="http://schemas.microsoft.com/office/drawing/2014/main" id="{7AA0878A-0FEA-84D8-9534-EA2BF5FDF3DA}"/>
              </a:ext>
            </a:extLst>
          </p:cNvPr>
          <p:cNvSpPr/>
          <p:nvPr/>
        </p:nvSpPr>
        <p:spPr>
          <a:xfrm>
            <a:off x="5506277" y="3908578"/>
            <a:ext cx="5869236" cy="759000"/>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dirty="0">
                <a:solidFill>
                  <a:schemeClr val="bg1"/>
                </a:solidFill>
                <a:latin typeface="Trebuchet MS" panose="020B0603020202020204" pitchFamily="34" charset="0"/>
              </a:rPr>
              <a:t>Calculate DPU</a:t>
            </a:r>
            <a:br>
              <a:rPr lang="en-US" sz="1400" b="1" noProof="0" dirty="0">
                <a:solidFill>
                  <a:schemeClr val="bg1"/>
                </a:solidFill>
                <a:latin typeface="Trebuchet MS" panose="020B0603020202020204" pitchFamily="34" charset="0"/>
              </a:rPr>
            </a:br>
            <a:r>
              <a:rPr lang="en-US" sz="1400" dirty="0">
                <a:solidFill>
                  <a:schemeClr val="bg1"/>
                </a:solidFill>
                <a:latin typeface="Trebuchet MS" panose="020B0603020202020204" pitchFamily="34" charset="0"/>
              </a:rPr>
              <a:t>(what did go wrong) </a:t>
            </a:r>
            <a:endParaRPr lang="en-US" sz="1400" noProof="0" dirty="0">
              <a:solidFill>
                <a:schemeClr val="bg1"/>
              </a:solidFill>
              <a:latin typeface="Trebuchet MS" panose="020B0603020202020204" pitchFamily="34" charset="0"/>
            </a:endParaRPr>
          </a:p>
          <a:p>
            <a:pPr algn="ctr"/>
            <a:r>
              <a:rPr lang="en-US" sz="1400" noProof="0" dirty="0">
                <a:solidFill>
                  <a:schemeClr val="bg1"/>
                </a:solidFill>
                <a:latin typeface="Trebuchet MS"/>
              </a:rPr>
              <a:t>3 defects/100 referrals = 0.03 defects per item</a:t>
            </a:r>
          </a:p>
        </p:txBody>
      </p:sp>
      <p:sp>
        <p:nvSpPr>
          <p:cNvPr id="11" name="Rectangle: Rounded Corners 10">
            <a:extLst>
              <a:ext uri="{FF2B5EF4-FFF2-40B4-BE49-F238E27FC236}">
                <a16:creationId xmlns:a16="http://schemas.microsoft.com/office/drawing/2014/main" id="{9BD4C0E6-A245-35BA-3E40-7559D75C2A5E}"/>
              </a:ext>
            </a:extLst>
          </p:cNvPr>
          <p:cNvSpPr/>
          <p:nvPr/>
        </p:nvSpPr>
        <p:spPr>
          <a:xfrm>
            <a:off x="5506277" y="5105400"/>
            <a:ext cx="5869236" cy="912152"/>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Trebuchet MS" panose="020B0603020202020204" pitchFamily="34" charset="0"/>
            </a:endParaRPr>
          </a:p>
          <a:p>
            <a:pPr algn="ctr"/>
            <a:r>
              <a:rPr lang="en-US" sz="1400" b="1" noProof="0" dirty="0">
                <a:solidFill>
                  <a:schemeClr val="bg1"/>
                </a:solidFill>
                <a:latin typeface="Trebuchet MS" panose="020B0603020202020204" pitchFamily="34" charset="0"/>
              </a:rPr>
              <a:t>Apply DPMO </a:t>
            </a:r>
          </a:p>
          <a:p>
            <a:pPr algn="ctr"/>
            <a:r>
              <a:rPr lang="en-US" sz="1400" noProof="0" dirty="0">
                <a:solidFill>
                  <a:schemeClr val="bg1"/>
                </a:solidFill>
                <a:latin typeface="Trebuchet MS" panose="020B0603020202020204" pitchFamily="34" charset="0"/>
              </a:rPr>
              <a:t>DPMO = (DPU ÷ Opportunities) × 1,000,000     </a:t>
            </a:r>
          </a:p>
          <a:p>
            <a:pPr algn="ctr"/>
            <a:r>
              <a:rPr lang="en-US" sz="1400" noProof="0" dirty="0">
                <a:solidFill>
                  <a:schemeClr val="bg1"/>
                </a:solidFill>
                <a:latin typeface="Trebuchet MS" panose="020B0603020202020204" pitchFamily="34" charset="0"/>
              </a:rPr>
              <a:t>= (0.03 ÷ 3 Defects) × 1,000,000     </a:t>
            </a:r>
          </a:p>
          <a:p>
            <a:pPr algn="ctr"/>
            <a:r>
              <a:rPr lang="en-US" sz="1400" noProof="0" dirty="0">
                <a:solidFill>
                  <a:schemeClr val="bg1"/>
                </a:solidFill>
                <a:latin typeface="Trebuchet MS" panose="020B0603020202020204" pitchFamily="34" charset="0"/>
              </a:rPr>
              <a:t>= 10,000 defects per million opportunities</a:t>
            </a:r>
          </a:p>
          <a:p>
            <a:pPr algn="ctr"/>
            <a:endParaRPr lang="en-US" sz="1400" noProof="0" dirty="0">
              <a:solidFill>
                <a:schemeClr val="bg1"/>
              </a:solidFill>
              <a:latin typeface="Trebuchet MS" panose="020B0603020202020204" pitchFamily="34" charset="0"/>
            </a:endParaRPr>
          </a:p>
        </p:txBody>
      </p:sp>
      <p:sp>
        <p:nvSpPr>
          <p:cNvPr id="12" name="Arrow: Down 11">
            <a:extLst>
              <a:ext uri="{FF2B5EF4-FFF2-40B4-BE49-F238E27FC236}">
                <a16:creationId xmlns:a16="http://schemas.microsoft.com/office/drawing/2014/main" id="{6AAA727D-4428-F153-CB93-9F86BDA90D63}"/>
              </a:ext>
            </a:extLst>
          </p:cNvPr>
          <p:cNvSpPr/>
          <p:nvPr/>
        </p:nvSpPr>
        <p:spPr>
          <a:xfrm>
            <a:off x="8044858" y="2130051"/>
            <a:ext cx="788404" cy="356237"/>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3" name="Arrow: Down 12">
            <a:extLst>
              <a:ext uri="{FF2B5EF4-FFF2-40B4-BE49-F238E27FC236}">
                <a16:creationId xmlns:a16="http://schemas.microsoft.com/office/drawing/2014/main" id="{38508DC3-F2B1-54FA-9BE7-C76B1B684170}"/>
              </a:ext>
            </a:extLst>
          </p:cNvPr>
          <p:cNvSpPr/>
          <p:nvPr/>
        </p:nvSpPr>
        <p:spPr>
          <a:xfrm>
            <a:off x="8087088" y="3442793"/>
            <a:ext cx="788404" cy="356237"/>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4" name="Arrow: Down 13">
            <a:extLst>
              <a:ext uri="{FF2B5EF4-FFF2-40B4-BE49-F238E27FC236}">
                <a16:creationId xmlns:a16="http://schemas.microsoft.com/office/drawing/2014/main" id="{B6514B26-63F0-729B-E8CF-BA634E2AC0DE}"/>
              </a:ext>
            </a:extLst>
          </p:cNvPr>
          <p:cNvSpPr/>
          <p:nvPr/>
        </p:nvSpPr>
        <p:spPr>
          <a:xfrm>
            <a:off x="8108444" y="4675210"/>
            <a:ext cx="788404" cy="356237"/>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2" name="Rectangle: Rounded Corners 1">
            <a:extLst>
              <a:ext uri="{FF2B5EF4-FFF2-40B4-BE49-F238E27FC236}">
                <a16:creationId xmlns:a16="http://schemas.microsoft.com/office/drawing/2014/main" id="{7A8B410F-CD68-36A5-0B45-36635F7AC145}"/>
              </a:ext>
            </a:extLst>
          </p:cNvPr>
          <p:cNvSpPr/>
          <p:nvPr/>
        </p:nvSpPr>
        <p:spPr>
          <a:xfrm>
            <a:off x="304799" y="1447800"/>
            <a:ext cx="5029201" cy="5111264"/>
          </a:xfrm>
          <a:prstGeom prst="roundRect">
            <a:avLst>
              <a:gd name="adj" fmla="val 1061"/>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noProof="0">
                <a:solidFill>
                  <a:srgbClr val="002060"/>
                </a:solidFill>
                <a:latin typeface="Trebuchet MS" panose="020B0603020202020204" pitchFamily="34" charset="0"/>
              </a:rPr>
              <a:t>Scenario: Occupational Health Referrals</a:t>
            </a:r>
          </a:p>
          <a:p>
            <a:endParaRPr lang="en-US" b="1"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A team manages 100 occupational health referrals. </a:t>
            </a:r>
          </a:p>
          <a:p>
            <a:endParaRPr lang="en-US" sz="160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Each referral has defect opportunities:</a:t>
            </a:r>
          </a:p>
          <a:p>
            <a:endParaRPr lang="en-US" sz="10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Employee assessment booked correctly</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Medical information recorded correctly</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Return-to-work recommendation communicated correctly</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Assume: 3 defects found across the 100 referrals. </a:t>
            </a:r>
          </a:p>
          <a:p>
            <a:endParaRPr lang="en-US" sz="1600" b="1"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Examples of Defects:</a:t>
            </a:r>
          </a:p>
          <a:p>
            <a:endParaRPr lang="en-US" sz="1000" b="1"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Incorrect appointment scheduling</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Missing medical documentation</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Return-to-work guidance not communicated</a:t>
            </a:r>
          </a:p>
          <a:p>
            <a:endParaRPr lang="en-US" sz="1600" noProof="0">
              <a:solidFill>
                <a:srgbClr val="002060"/>
              </a:solidFill>
              <a:latin typeface="Trebuchet MS" panose="020B0603020202020204" pitchFamily="34" charset="0"/>
            </a:endParaRPr>
          </a:p>
        </p:txBody>
      </p:sp>
    </p:spTree>
    <p:extLst>
      <p:ext uri="{BB962C8B-B14F-4D97-AF65-F5344CB8AC3E}">
        <p14:creationId xmlns:p14="http://schemas.microsoft.com/office/powerpoint/2010/main" val="848828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929C4-87E4-1745-E4E9-7BB8F457C463}"/>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0F5D07E6-E69D-DC6B-42C9-93080145DBBD}"/>
              </a:ext>
            </a:extLst>
          </p:cNvPr>
          <p:cNvSpPr>
            <a:spLocks noGrp="1"/>
          </p:cNvSpPr>
          <p:nvPr>
            <p:ph type="body" sz="quarter" idx="10"/>
          </p:nvPr>
        </p:nvSpPr>
        <p:spPr>
          <a:xfrm>
            <a:off x="609600" y="412283"/>
            <a:ext cx="9144000" cy="492443"/>
          </a:xfrm>
        </p:spPr>
        <p:txBody>
          <a:bodyPr/>
          <a:lstStyle/>
          <a:p>
            <a:r>
              <a:rPr lang="en-US" sz="3200" noProof="0">
                <a:latin typeface="Trebuchet MS" panose="020B0603020202020204" pitchFamily="34" charset="0"/>
              </a:rPr>
              <a:t>Real Work Example: Employability Support</a:t>
            </a:r>
            <a:endParaRPr lang="en-US" sz="3600" noProof="0">
              <a:latin typeface="Trebuchet MS" panose="020B0603020202020204" pitchFamily="34" charset="0"/>
            </a:endParaRPr>
          </a:p>
        </p:txBody>
      </p:sp>
      <p:sp>
        <p:nvSpPr>
          <p:cNvPr id="8" name="Rectangle: Rounded Corners 7">
            <a:extLst>
              <a:ext uri="{FF2B5EF4-FFF2-40B4-BE49-F238E27FC236}">
                <a16:creationId xmlns:a16="http://schemas.microsoft.com/office/drawing/2014/main" id="{B2E4A3A5-5EA0-B3B2-9658-C2FAE7230479}"/>
              </a:ext>
            </a:extLst>
          </p:cNvPr>
          <p:cNvSpPr/>
          <p:nvPr/>
        </p:nvSpPr>
        <p:spPr>
          <a:xfrm>
            <a:off x="5512977" y="1754470"/>
            <a:ext cx="5869236" cy="454765"/>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Trebuchet MS" panose="020B0603020202020204" pitchFamily="34" charset="0"/>
              </a:rPr>
              <a:t>Identify defect opportunities per item</a:t>
            </a:r>
          </a:p>
        </p:txBody>
      </p:sp>
      <p:sp>
        <p:nvSpPr>
          <p:cNvPr id="9" name="Rectangle: Rounded Corners 8">
            <a:extLst>
              <a:ext uri="{FF2B5EF4-FFF2-40B4-BE49-F238E27FC236}">
                <a16:creationId xmlns:a16="http://schemas.microsoft.com/office/drawing/2014/main" id="{F184F744-9576-42AC-A7B8-0BD466906C9B}"/>
              </a:ext>
            </a:extLst>
          </p:cNvPr>
          <p:cNvSpPr/>
          <p:nvPr/>
        </p:nvSpPr>
        <p:spPr>
          <a:xfrm>
            <a:off x="5527633" y="2578867"/>
            <a:ext cx="5869236" cy="759000"/>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Trebuchet MS" panose="020B0603020202020204" pitchFamily="34" charset="0"/>
            </a:endParaRPr>
          </a:p>
          <a:p>
            <a:pPr algn="ctr"/>
            <a:r>
              <a:rPr lang="en-US" sz="1400" b="1" noProof="0" dirty="0">
                <a:solidFill>
                  <a:schemeClr val="bg1"/>
                </a:solidFill>
                <a:latin typeface="Trebuchet MS" panose="020B0603020202020204" pitchFamily="34" charset="0"/>
              </a:rPr>
              <a:t>Calculate the total opportunities </a:t>
            </a:r>
            <a:r>
              <a:rPr lang="en-US" sz="1400" noProof="0" dirty="0">
                <a:solidFill>
                  <a:schemeClr val="bg1"/>
                </a:solidFill>
                <a:latin typeface="Trebuchet MS" panose="020B0603020202020204" pitchFamily="34" charset="0"/>
              </a:rPr>
              <a:t>(what could go wrong)</a:t>
            </a:r>
          </a:p>
          <a:p>
            <a:pPr algn="ctr"/>
            <a:r>
              <a:rPr lang="en-US" sz="1400" dirty="0">
                <a:solidFill>
                  <a:schemeClr val="bg1"/>
                </a:solidFill>
                <a:latin typeface="Trebuchet MS" panose="020B0603020202020204" pitchFamily="34" charset="0"/>
              </a:rPr>
              <a:t>250 referrals </a:t>
            </a:r>
            <a:r>
              <a:rPr lang="en-US" sz="1400" noProof="0" dirty="0">
                <a:solidFill>
                  <a:schemeClr val="bg1"/>
                </a:solidFill>
                <a:latin typeface="Trebuchet MS" panose="020B0603020202020204" pitchFamily="34" charset="0"/>
              </a:rPr>
              <a:t>x </a:t>
            </a:r>
            <a:r>
              <a:rPr lang="en-US" sz="1400" dirty="0">
                <a:solidFill>
                  <a:schemeClr val="bg1"/>
                </a:solidFill>
                <a:latin typeface="Trebuchet MS" panose="020B0603020202020204" pitchFamily="34" charset="0"/>
              </a:rPr>
              <a:t>4 opportunities </a:t>
            </a:r>
            <a:r>
              <a:rPr lang="en-US" sz="1400" noProof="0" dirty="0">
                <a:solidFill>
                  <a:schemeClr val="bg1"/>
                </a:solidFill>
                <a:latin typeface="Trebuchet MS" panose="020B0603020202020204" pitchFamily="34" charset="0"/>
              </a:rPr>
              <a:t>= 1000 opportunities</a:t>
            </a:r>
          </a:p>
          <a:p>
            <a:pPr algn="ctr"/>
            <a:endParaRPr lang="en-US" sz="1400" noProof="0" dirty="0">
              <a:solidFill>
                <a:schemeClr val="bg1"/>
              </a:solidFill>
              <a:latin typeface="Trebuchet MS" panose="020B0603020202020204" pitchFamily="34" charset="0"/>
            </a:endParaRPr>
          </a:p>
        </p:txBody>
      </p:sp>
      <p:sp>
        <p:nvSpPr>
          <p:cNvPr id="10" name="Rectangle: Rounded Corners 9">
            <a:extLst>
              <a:ext uri="{FF2B5EF4-FFF2-40B4-BE49-F238E27FC236}">
                <a16:creationId xmlns:a16="http://schemas.microsoft.com/office/drawing/2014/main" id="{6A5C24E8-FAE1-07CB-CD0F-B9AE5EC2C8B0}"/>
              </a:ext>
            </a:extLst>
          </p:cNvPr>
          <p:cNvSpPr/>
          <p:nvPr/>
        </p:nvSpPr>
        <p:spPr>
          <a:xfrm>
            <a:off x="5506278" y="3810000"/>
            <a:ext cx="5869236" cy="660385"/>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panose="020B0603020202020204" pitchFamily="34" charset="0"/>
              </a:rPr>
              <a:t>Calculate DPU </a:t>
            </a:r>
            <a:r>
              <a:rPr lang="en-US" sz="1400" noProof="0">
                <a:solidFill>
                  <a:schemeClr val="bg1"/>
                </a:solidFill>
                <a:latin typeface="Trebuchet MS" panose="020B0603020202020204" pitchFamily="34" charset="0"/>
              </a:rPr>
              <a:t>(what did go wrong) </a:t>
            </a:r>
          </a:p>
          <a:p>
            <a:pPr algn="ctr"/>
            <a:r>
              <a:rPr lang="en-US" sz="1400" noProof="0">
                <a:solidFill>
                  <a:schemeClr val="bg1"/>
                </a:solidFill>
                <a:latin typeface="Trebuchet MS" panose="020B0603020202020204" pitchFamily="34" charset="0"/>
              </a:rPr>
              <a:t>12 defects/250 referrals = 0.048 defects per item</a:t>
            </a:r>
          </a:p>
        </p:txBody>
      </p:sp>
      <p:sp>
        <p:nvSpPr>
          <p:cNvPr id="11" name="Rectangle: Rounded Corners 10">
            <a:extLst>
              <a:ext uri="{FF2B5EF4-FFF2-40B4-BE49-F238E27FC236}">
                <a16:creationId xmlns:a16="http://schemas.microsoft.com/office/drawing/2014/main" id="{78743FDB-B505-C67A-6D7D-E96CA68F3671}"/>
              </a:ext>
            </a:extLst>
          </p:cNvPr>
          <p:cNvSpPr/>
          <p:nvPr/>
        </p:nvSpPr>
        <p:spPr>
          <a:xfrm>
            <a:off x="5506278" y="4826432"/>
            <a:ext cx="5869236" cy="1143000"/>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Trebuchet MS" panose="020B0603020202020204" pitchFamily="34" charset="0"/>
            </a:endParaRPr>
          </a:p>
          <a:p>
            <a:pPr algn="ctr"/>
            <a:r>
              <a:rPr lang="en-US" sz="1400" b="1" noProof="0" dirty="0">
                <a:solidFill>
                  <a:schemeClr val="bg1"/>
                </a:solidFill>
                <a:latin typeface="Trebuchet MS" panose="020B0603020202020204" pitchFamily="34" charset="0"/>
              </a:rPr>
              <a:t>Apply DPMO </a:t>
            </a:r>
          </a:p>
          <a:p>
            <a:pPr algn="ctr"/>
            <a:r>
              <a:rPr lang="en-US" sz="1400" noProof="0" dirty="0">
                <a:solidFill>
                  <a:schemeClr val="bg1"/>
                </a:solidFill>
                <a:latin typeface="Trebuchet MS" panose="020B0603020202020204" pitchFamily="34" charset="0"/>
              </a:rPr>
              <a:t>DPMO = (DPU ÷ Opportunities) × 1,000,000     </a:t>
            </a:r>
          </a:p>
          <a:p>
            <a:pPr algn="ctr"/>
            <a:r>
              <a:rPr lang="en-US" sz="1400" noProof="0" dirty="0">
                <a:solidFill>
                  <a:schemeClr val="bg1"/>
                </a:solidFill>
                <a:latin typeface="Trebuchet MS" panose="020B0603020202020204" pitchFamily="34" charset="0"/>
              </a:rPr>
              <a:t>= (0.048 ÷ 4 Defects) × 1,000,000     </a:t>
            </a:r>
          </a:p>
          <a:p>
            <a:pPr algn="ctr"/>
            <a:r>
              <a:rPr lang="en-US" sz="1400" noProof="0" dirty="0">
                <a:solidFill>
                  <a:schemeClr val="bg1"/>
                </a:solidFill>
                <a:latin typeface="Trebuchet MS" panose="020B0603020202020204" pitchFamily="34" charset="0"/>
              </a:rPr>
              <a:t>= 12,000 defects per million opportunities</a:t>
            </a:r>
          </a:p>
          <a:p>
            <a:pPr algn="ctr"/>
            <a:endParaRPr lang="en-US" sz="1400" noProof="0" dirty="0">
              <a:solidFill>
                <a:schemeClr val="bg1"/>
              </a:solidFill>
              <a:latin typeface="Trebuchet MS" panose="020B0603020202020204" pitchFamily="34" charset="0"/>
            </a:endParaRPr>
          </a:p>
        </p:txBody>
      </p:sp>
      <p:sp>
        <p:nvSpPr>
          <p:cNvPr id="12" name="Arrow: Down 11">
            <a:extLst>
              <a:ext uri="{FF2B5EF4-FFF2-40B4-BE49-F238E27FC236}">
                <a16:creationId xmlns:a16="http://schemas.microsoft.com/office/drawing/2014/main" id="{86D406F9-B085-197B-CB93-89967B62CEC4}"/>
              </a:ext>
            </a:extLst>
          </p:cNvPr>
          <p:cNvSpPr/>
          <p:nvPr/>
        </p:nvSpPr>
        <p:spPr>
          <a:xfrm>
            <a:off x="8051557" y="2131921"/>
            <a:ext cx="788404" cy="356237"/>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3" name="Arrow: Down 12">
            <a:extLst>
              <a:ext uri="{FF2B5EF4-FFF2-40B4-BE49-F238E27FC236}">
                <a16:creationId xmlns:a16="http://schemas.microsoft.com/office/drawing/2014/main" id="{066DFA2E-7E63-5511-B09E-759B96BC2457}"/>
              </a:ext>
            </a:extLst>
          </p:cNvPr>
          <p:cNvSpPr/>
          <p:nvPr/>
        </p:nvSpPr>
        <p:spPr>
          <a:xfrm>
            <a:off x="8044858" y="3356910"/>
            <a:ext cx="788404" cy="356237"/>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4" name="Arrow: Down 13">
            <a:extLst>
              <a:ext uri="{FF2B5EF4-FFF2-40B4-BE49-F238E27FC236}">
                <a16:creationId xmlns:a16="http://schemas.microsoft.com/office/drawing/2014/main" id="{A99634EA-D2E3-53B0-6434-44CCFB4C4C48}"/>
              </a:ext>
            </a:extLst>
          </p:cNvPr>
          <p:cNvSpPr/>
          <p:nvPr/>
        </p:nvSpPr>
        <p:spPr>
          <a:xfrm>
            <a:off x="8046694" y="4394606"/>
            <a:ext cx="788404" cy="356237"/>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2" name="Rectangle: Rounded Corners 1">
            <a:extLst>
              <a:ext uri="{FF2B5EF4-FFF2-40B4-BE49-F238E27FC236}">
                <a16:creationId xmlns:a16="http://schemas.microsoft.com/office/drawing/2014/main" id="{9FA187E7-5A00-18D3-BC21-713CDCCAF013}"/>
              </a:ext>
            </a:extLst>
          </p:cNvPr>
          <p:cNvSpPr/>
          <p:nvPr/>
        </p:nvSpPr>
        <p:spPr>
          <a:xfrm>
            <a:off x="304800" y="1660455"/>
            <a:ext cx="5176452" cy="470550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rgbClr val="002060"/>
                </a:solidFill>
                <a:latin typeface="Trebuchet MS" panose="020B0603020202020204" pitchFamily="34" charset="0"/>
              </a:rPr>
              <a:t>Scenario: Employability Support</a:t>
            </a:r>
            <a:endParaRPr lang="en-US" noProof="0">
              <a:solidFill>
                <a:srgbClr val="002060"/>
              </a:solidFill>
              <a:latin typeface="Trebuchet MS" panose="020B0603020202020204" pitchFamily="34" charset="0"/>
            </a:endParaRPr>
          </a:p>
          <a:p>
            <a:endParaRPr lang="en-US" sz="1600" noProof="0">
              <a:solidFill>
                <a:srgbClr val="002060"/>
              </a:solidFill>
              <a:latin typeface="Trebuchet MS" panose="020B0603020202020204" pitchFamily="34" charset="0"/>
            </a:endParaRPr>
          </a:p>
          <a:p>
            <a:r>
              <a:rPr lang="en-US" sz="1600">
                <a:solidFill>
                  <a:srgbClr val="002060"/>
                </a:solidFill>
                <a:latin typeface="Trebuchet MS" panose="020B0603020202020204" pitchFamily="34" charset="0"/>
              </a:rPr>
              <a:t>The </a:t>
            </a:r>
            <a:r>
              <a:rPr lang="en-US" sz="1600" noProof="0">
                <a:solidFill>
                  <a:srgbClr val="002060"/>
                </a:solidFill>
                <a:latin typeface="Trebuchet MS" panose="020B0603020202020204" pitchFamily="34" charset="0"/>
              </a:rPr>
              <a:t>Employability Team supports 250 job seekers each month.</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Each job seeker has 4 defect opportunities:</a:t>
            </a:r>
          </a:p>
          <a:p>
            <a:pPr marL="285750" indent="-285750">
              <a:buFont typeface="Arial" panose="020B0604020202020204" pitchFamily="34" charset="0"/>
              <a:buChar char="•"/>
            </a:pPr>
            <a:endParaRPr lang="en-US" sz="10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Initial assessment completed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Action plan created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Training assignment completed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Employer referral submitted</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During the month, the team identifies 12 defects:</a:t>
            </a:r>
          </a:p>
          <a:p>
            <a:endParaRPr lang="en-US" sz="10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4 x assessments not completed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3 x action plans delayed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2 x incorrect training assignments</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3 x employer referrals missed</a:t>
            </a:r>
          </a:p>
        </p:txBody>
      </p:sp>
    </p:spTree>
    <p:extLst>
      <p:ext uri="{BB962C8B-B14F-4D97-AF65-F5344CB8AC3E}">
        <p14:creationId xmlns:p14="http://schemas.microsoft.com/office/powerpoint/2010/main" val="1986143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1AD4-40A3-48FA-45CF-CD0D96EF340D}"/>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C9E82690-205D-BA80-332D-6B7BE387C1F9}"/>
              </a:ext>
            </a:extLst>
          </p:cNvPr>
          <p:cNvSpPr>
            <a:spLocks noGrp="1"/>
          </p:cNvSpPr>
          <p:nvPr>
            <p:ph type="body" sz="quarter" idx="10"/>
          </p:nvPr>
        </p:nvSpPr>
        <p:spPr>
          <a:xfrm>
            <a:off x="304800" y="298936"/>
            <a:ext cx="9144000" cy="492443"/>
          </a:xfrm>
        </p:spPr>
        <p:txBody>
          <a:bodyPr/>
          <a:lstStyle/>
          <a:p>
            <a:r>
              <a:rPr lang="en-US" sz="3200" noProof="0">
                <a:latin typeface="Trebuchet MS" panose="020B0603020202020204" pitchFamily="34" charset="0"/>
              </a:rPr>
              <a:t>Real Work Example: People and Culture</a:t>
            </a:r>
            <a:endParaRPr lang="en-US" sz="3600" noProof="0"/>
          </a:p>
        </p:txBody>
      </p:sp>
      <p:sp>
        <p:nvSpPr>
          <p:cNvPr id="8" name="Rectangle: Rounded Corners 7">
            <a:extLst>
              <a:ext uri="{FF2B5EF4-FFF2-40B4-BE49-F238E27FC236}">
                <a16:creationId xmlns:a16="http://schemas.microsoft.com/office/drawing/2014/main" id="{8C353D98-E521-8EDB-5C3D-BCF6772977D0}"/>
              </a:ext>
            </a:extLst>
          </p:cNvPr>
          <p:cNvSpPr/>
          <p:nvPr/>
        </p:nvSpPr>
        <p:spPr>
          <a:xfrm>
            <a:off x="5506278" y="1752600"/>
            <a:ext cx="5869236" cy="454765"/>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noProof="0">
                <a:solidFill>
                  <a:schemeClr val="bg1"/>
                </a:solidFill>
                <a:latin typeface="Trebuchet MS" panose="020B0603020202020204" pitchFamily="34" charset="0"/>
              </a:rPr>
              <a:t>Identify defect opportunities per item</a:t>
            </a:r>
          </a:p>
        </p:txBody>
      </p:sp>
      <p:sp>
        <p:nvSpPr>
          <p:cNvPr id="9" name="Rectangle: Rounded Corners 8">
            <a:extLst>
              <a:ext uri="{FF2B5EF4-FFF2-40B4-BE49-F238E27FC236}">
                <a16:creationId xmlns:a16="http://schemas.microsoft.com/office/drawing/2014/main" id="{1F77B654-2B49-5FC0-0384-C8AECA664459}"/>
              </a:ext>
            </a:extLst>
          </p:cNvPr>
          <p:cNvSpPr/>
          <p:nvPr/>
        </p:nvSpPr>
        <p:spPr>
          <a:xfrm>
            <a:off x="5527633" y="2578867"/>
            <a:ext cx="5869236" cy="912152"/>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Trebuchet MS" panose="020B0603020202020204" pitchFamily="34" charset="0"/>
            </a:endParaRPr>
          </a:p>
          <a:p>
            <a:pPr algn="ctr"/>
            <a:r>
              <a:rPr lang="en-US" sz="1400" b="1" noProof="0" dirty="0">
                <a:solidFill>
                  <a:schemeClr val="bg1"/>
                </a:solidFill>
                <a:latin typeface="Trebuchet MS" panose="020B0603020202020204" pitchFamily="34" charset="0"/>
              </a:rPr>
              <a:t>Calculate the total opportunities </a:t>
            </a:r>
            <a:r>
              <a:rPr lang="en-US" sz="1400" noProof="0" dirty="0">
                <a:solidFill>
                  <a:schemeClr val="bg1"/>
                </a:solidFill>
                <a:latin typeface="Trebuchet MS" panose="020B0603020202020204" pitchFamily="34" charset="0"/>
              </a:rPr>
              <a:t>(what could go wrong)</a:t>
            </a:r>
          </a:p>
          <a:p>
            <a:pPr algn="ctr"/>
            <a:r>
              <a:rPr lang="en-US" sz="1400" dirty="0">
                <a:solidFill>
                  <a:schemeClr val="bg1"/>
                </a:solidFill>
                <a:latin typeface="Trebuchet MS" panose="020B0603020202020204" pitchFamily="34" charset="0"/>
              </a:rPr>
              <a:t>300 new starters </a:t>
            </a:r>
            <a:r>
              <a:rPr lang="en-US" sz="1400" noProof="0" dirty="0">
                <a:solidFill>
                  <a:schemeClr val="bg1"/>
                </a:solidFill>
                <a:latin typeface="Trebuchet MS" panose="020B0603020202020204" pitchFamily="34" charset="0"/>
              </a:rPr>
              <a:t>x </a:t>
            </a:r>
            <a:r>
              <a:rPr lang="en-US" sz="1400" dirty="0">
                <a:solidFill>
                  <a:schemeClr val="bg1"/>
                </a:solidFill>
                <a:latin typeface="Trebuchet MS" panose="020B0603020202020204" pitchFamily="34" charset="0"/>
              </a:rPr>
              <a:t>5 opportunities </a:t>
            </a:r>
            <a:r>
              <a:rPr lang="en-US" sz="1400" noProof="0" dirty="0">
                <a:solidFill>
                  <a:schemeClr val="bg1"/>
                </a:solidFill>
                <a:latin typeface="Trebuchet MS" panose="020B0603020202020204" pitchFamily="34" charset="0"/>
              </a:rPr>
              <a:t>= 1500 opportunities</a:t>
            </a:r>
          </a:p>
          <a:p>
            <a:pPr algn="ctr"/>
            <a:endParaRPr lang="en-US" sz="1400" noProof="0" dirty="0">
              <a:solidFill>
                <a:schemeClr val="bg1"/>
              </a:solidFill>
              <a:latin typeface="Trebuchet MS" panose="020B0603020202020204" pitchFamily="34" charset="0"/>
            </a:endParaRPr>
          </a:p>
        </p:txBody>
      </p:sp>
      <p:sp>
        <p:nvSpPr>
          <p:cNvPr id="10" name="Rectangle: Rounded Corners 9">
            <a:extLst>
              <a:ext uri="{FF2B5EF4-FFF2-40B4-BE49-F238E27FC236}">
                <a16:creationId xmlns:a16="http://schemas.microsoft.com/office/drawing/2014/main" id="{B6A23ACF-BC0B-C345-4442-87910807A532}"/>
              </a:ext>
            </a:extLst>
          </p:cNvPr>
          <p:cNvSpPr/>
          <p:nvPr/>
        </p:nvSpPr>
        <p:spPr>
          <a:xfrm>
            <a:off x="5506278" y="3839678"/>
            <a:ext cx="5869236" cy="759000"/>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panose="020B0603020202020204" pitchFamily="34" charset="0"/>
              </a:rPr>
              <a:t>Calculate DPU </a:t>
            </a:r>
            <a:r>
              <a:rPr lang="en-US" sz="1400" noProof="0">
                <a:solidFill>
                  <a:schemeClr val="bg1"/>
                </a:solidFill>
                <a:latin typeface="Trebuchet MS" panose="020B0603020202020204" pitchFamily="34" charset="0"/>
              </a:rPr>
              <a:t>(what did go wrong) </a:t>
            </a:r>
          </a:p>
          <a:p>
            <a:pPr algn="ctr"/>
            <a:r>
              <a:rPr lang="en-US" sz="1400" noProof="0">
                <a:solidFill>
                  <a:schemeClr val="bg1"/>
                </a:solidFill>
                <a:latin typeface="Trebuchet MS"/>
              </a:rPr>
              <a:t>20 defects/300 new starters = 0.0667 defects per item</a:t>
            </a:r>
          </a:p>
        </p:txBody>
      </p:sp>
      <p:sp>
        <p:nvSpPr>
          <p:cNvPr id="11" name="Rectangle: Rounded Corners 10">
            <a:extLst>
              <a:ext uri="{FF2B5EF4-FFF2-40B4-BE49-F238E27FC236}">
                <a16:creationId xmlns:a16="http://schemas.microsoft.com/office/drawing/2014/main" id="{63AE6E66-9186-0BA4-5D74-002D7C125DB6}"/>
              </a:ext>
            </a:extLst>
          </p:cNvPr>
          <p:cNvSpPr/>
          <p:nvPr/>
        </p:nvSpPr>
        <p:spPr>
          <a:xfrm>
            <a:off x="5527633" y="4909985"/>
            <a:ext cx="5869236" cy="1109815"/>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Trebuchet MS" panose="020B0603020202020204" pitchFamily="34" charset="0"/>
            </a:endParaRPr>
          </a:p>
          <a:p>
            <a:pPr algn="ctr"/>
            <a:r>
              <a:rPr lang="en-US" sz="1400" b="1" noProof="0" dirty="0">
                <a:solidFill>
                  <a:schemeClr val="bg1"/>
                </a:solidFill>
                <a:latin typeface="Trebuchet MS" panose="020B0603020202020204" pitchFamily="34" charset="0"/>
              </a:rPr>
              <a:t>Apply DPMO </a:t>
            </a:r>
          </a:p>
          <a:p>
            <a:pPr algn="ctr"/>
            <a:r>
              <a:rPr lang="en-US" sz="1400" noProof="0" dirty="0">
                <a:solidFill>
                  <a:schemeClr val="bg1"/>
                </a:solidFill>
                <a:latin typeface="Trebuchet MS" panose="020B0603020202020204" pitchFamily="34" charset="0"/>
              </a:rPr>
              <a:t>DPMO = (DPU ÷ Opportunities) × 1,000,000     </a:t>
            </a:r>
          </a:p>
          <a:p>
            <a:pPr algn="ctr"/>
            <a:r>
              <a:rPr lang="en-US" sz="1400" noProof="0" dirty="0">
                <a:solidFill>
                  <a:schemeClr val="bg1"/>
                </a:solidFill>
                <a:latin typeface="Trebuchet MS" panose="020B0603020202020204" pitchFamily="34" charset="0"/>
              </a:rPr>
              <a:t>= (0.0667÷  5 Defects) × 1,000,000     </a:t>
            </a:r>
          </a:p>
          <a:p>
            <a:pPr algn="ctr"/>
            <a:r>
              <a:rPr lang="en-US" sz="1400" noProof="0" dirty="0">
                <a:solidFill>
                  <a:schemeClr val="bg1"/>
                </a:solidFill>
                <a:latin typeface="Trebuchet MS" panose="020B0603020202020204" pitchFamily="34" charset="0"/>
              </a:rPr>
              <a:t>= 13, 333 items defects per million opportunities</a:t>
            </a:r>
          </a:p>
          <a:p>
            <a:pPr algn="ctr"/>
            <a:endParaRPr lang="en-US" sz="1400" noProof="0" dirty="0">
              <a:solidFill>
                <a:schemeClr val="bg1"/>
              </a:solidFill>
              <a:latin typeface="Trebuchet MS" panose="020B0603020202020204" pitchFamily="34" charset="0"/>
            </a:endParaRPr>
          </a:p>
        </p:txBody>
      </p:sp>
      <p:sp>
        <p:nvSpPr>
          <p:cNvPr id="12" name="Arrow: Down 11">
            <a:extLst>
              <a:ext uri="{FF2B5EF4-FFF2-40B4-BE49-F238E27FC236}">
                <a16:creationId xmlns:a16="http://schemas.microsoft.com/office/drawing/2014/main" id="{371D2B44-659E-8207-97A5-74EF921CA693}"/>
              </a:ext>
            </a:extLst>
          </p:cNvPr>
          <p:cNvSpPr/>
          <p:nvPr/>
        </p:nvSpPr>
        <p:spPr>
          <a:xfrm>
            <a:off x="8105309" y="2178304"/>
            <a:ext cx="788404" cy="356237"/>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3" name="Arrow: Down 12">
            <a:extLst>
              <a:ext uri="{FF2B5EF4-FFF2-40B4-BE49-F238E27FC236}">
                <a16:creationId xmlns:a16="http://schemas.microsoft.com/office/drawing/2014/main" id="{782B1EC7-44DC-6898-B163-E4C16469638B}"/>
              </a:ext>
            </a:extLst>
          </p:cNvPr>
          <p:cNvSpPr/>
          <p:nvPr/>
        </p:nvSpPr>
        <p:spPr>
          <a:xfrm>
            <a:off x="8108444" y="3450425"/>
            <a:ext cx="788404" cy="356237"/>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4" name="Arrow: Down 13">
            <a:extLst>
              <a:ext uri="{FF2B5EF4-FFF2-40B4-BE49-F238E27FC236}">
                <a16:creationId xmlns:a16="http://schemas.microsoft.com/office/drawing/2014/main" id="{925C04EC-7BDF-79E0-BC97-3C5AFAC6BC51}"/>
              </a:ext>
            </a:extLst>
          </p:cNvPr>
          <p:cNvSpPr/>
          <p:nvPr/>
        </p:nvSpPr>
        <p:spPr>
          <a:xfrm>
            <a:off x="8108444" y="4520562"/>
            <a:ext cx="788404" cy="356237"/>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2" name="Rectangle: Rounded Corners 1">
            <a:extLst>
              <a:ext uri="{FF2B5EF4-FFF2-40B4-BE49-F238E27FC236}">
                <a16:creationId xmlns:a16="http://schemas.microsoft.com/office/drawing/2014/main" id="{8BEBEEF4-A551-3B58-EC7B-15565EBD129E}"/>
              </a:ext>
            </a:extLst>
          </p:cNvPr>
          <p:cNvSpPr/>
          <p:nvPr/>
        </p:nvSpPr>
        <p:spPr>
          <a:xfrm>
            <a:off x="278296" y="1447800"/>
            <a:ext cx="4953000" cy="5257800"/>
          </a:xfrm>
          <a:prstGeom prst="roundRect">
            <a:avLst>
              <a:gd name="adj" fmla="val 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a:solidFill>
                  <a:srgbClr val="002060"/>
                </a:solidFill>
                <a:latin typeface="Trebuchet MS" panose="020B0603020202020204" pitchFamily="34" charset="0"/>
              </a:rPr>
              <a:t>  </a:t>
            </a:r>
            <a:r>
              <a:rPr lang="en-US" b="1">
                <a:solidFill>
                  <a:srgbClr val="002060"/>
                </a:solidFill>
                <a:latin typeface="Trebuchet MS" panose="020B0603020202020204" pitchFamily="34" charset="0"/>
              </a:rPr>
              <a:t>Scenario: </a:t>
            </a:r>
            <a:r>
              <a:rPr lang="en-US" b="1" noProof="0">
                <a:solidFill>
                  <a:srgbClr val="002060"/>
                </a:solidFill>
                <a:latin typeface="Trebuchet MS" panose="020B0603020202020204" pitchFamily="34" charset="0"/>
              </a:rPr>
              <a:t>HR Onboarding</a:t>
            </a:r>
          </a:p>
          <a:p>
            <a:endParaRPr lang="en-US" sz="1600" b="1" noProof="0">
              <a:solidFill>
                <a:srgbClr val="002060"/>
              </a:solidFill>
              <a:latin typeface="Trebuchet MS" panose="020B0603020202020204" pitchFamily="34" charset="0"/>
            </a:endParaRPr>
          </a:p>
          <a:p>
            <a:pPr marL="92075"/>
            <a:r>
              <a:rPr lang="en-US" sz="1600" noProof="0">
                <a:solidFill>
                  <a:srgbClr val="002060"/>
                </a:solidFill>
                <a:latin typeface="Trebuchet MS" panose="020B0603020202020204" pitchFamily="34" charset="0"/>
              </a:rPr>
              <a:t>The People and Culture team onboarded 300 new starters this quarter. </a:t>
            </a:r>
          </a:p>
          <a:p>
            <a:pPr marL="92075"/>
            <a:endParaRPr lang="en-US" sz="1600">
              <a:solidFill>
                <a:srgbClr val="002060"/>
              </a:solidFill>
              <a:latin typeface="Trebuchet MS" panose="020B0603020202020204" pitchFamily="34" charset="0"/>
            </a:endParaRPr>
          </a:p>
          <a:p>
            <a:pPr marL="92075"/>
            <a:r>
              <a:rPr lang="en-US" sz="1600" noProof="0">
                <a:solidFill>
                  <a:srgbClr val="002060"/>
                </a:solidFill>
                <a:latin typeface="Trebuchet MS" panose="020B0603020202020204" pitchFamily="34" charset="0"/>
              </a:rPr>
              <a:t>Each starter has 5 defect opportunities:</a:t>
            </a:r>
          </a:p>
          <a:p>
            <a:pPr marL="357188" indent="-265113"/>
            <a:endParaRPr lang="en-US" sz="1000" noProof="0">
              <a:solidFill>
                <a:srgbClr val="002060"/>
              </a:solidFill>
              <a:latin typeface="Trebuchet MS" panose="020B0603020202020204" pitchFamily="34" charset="0"/>
            </a:endParaRP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Right to work verified</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Payroll setup completed</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System access provisioned</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Manager induction completed</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Mandatory training assigned</a:t>
            </a:r>
          </a:p>
          <a:p>
            <a:pPr marL="357188" indent="-265113"/>
            <a:endParaRPr lang="en-US" sz="1600" noProof="0">
              <a:solidFill>
                <a:srgbClr val="002060"/>
              </a:solidFill>
              <a:latin typeface="Trebuchet MS" panose="020B0603020202020204" pitchFamily="34" charset="0"/>
            </a:endParaRPr>
          </a:p>
          <a:p>
            <a:pPr marL="357188" indent="-265113"/>
            <a:r>
              <a:rPr lang="en-US" sz="1600" noProof="0">
                <a:solidFill>
                  <a:srgbClr val="002060"/>
                </a:solidFill>
                <a:latin typeface="Trebuchet MS" panose="020B0603020202020204" pitchFamily="34" charset="0"/>
              </a:rPr>
              <a:t>Assume 20 of these defects identified across the</a:t>
            </a:r>
          </a:p>
          <a:p>
            <a:pPr marL="357188" indent="-265113"/>
            <a:r>
              <a:rPr lang="en-US" sz="1600" noProof="0">
                <a:solidFill>
                  <a:srgbClr val="002060"/>
                </a:solidFill>
                <a:latin typeface="Trebuchet MS" panose="020B0603020202020204" pitchFamily="34" charset="0"/>
              </a:rPr>
              <a:t>300 starters.</a:t>
            </a:r>
          </a:p>
          <a:p>
            <a:pPr marL="357188" indent="-265113"/>
            <a:endParaRPr lang="en-US" sz="1000" noProof="0">
              <a:solidFill>
                <a:srgbClr val="002060"/>
              </a:solidFill>
              <a:latin typeface="Trebuchet MS" panose="020B0603020202020204" pitchFamily="34" charset="0"/>
            </a:endParaRP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Missing contract</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Payroll setup errors</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Delayed laptop request</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Incorrect manager allocation</a:t>
            </a:r>
          </a:p>
          <a:p>
            <a:pPr marL="357188" indent="-265113">
              <a:buFont typeface="Arial" panose="020B0604020202020204" pitchFamily="34" charset="0"/>
              <a:buChar char="•"/>
            </a:pPr>
            <a:r>
              <a:rPr lang="en-US" sz="1600" noProof="0">
                <a:solidFill>
                  <a:srgbClr val="002060"/>
                </a:solidFill>
                <a:latin typeface="Trebuchet MS" panose="020B0603020202020204" pitchFamily="34" charset="0"/>
              </a:rPr>
              <a:t>Mandatory training not assigned</a:t>
            </a:r>
          </a:p>
        </p:txBody>
      </p:sp>
    </p:spTree>
    <p:extLst>
      <p:ext uri="{BB962C8B-B14F-4D97-AF65-F5344CB8AC3E}">
        <p14:creationId xmlns:p14="http://schemas.microsoft.com/office/powerpoint/2010/main" val="2007116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CBB68-B166-682C-1068-B804CFCF0ACF}"/>
            </a:ext>
          </a:extLst>
        </p:cNvPr>
        <p:cNvGrpSpPr/>
        <p:nvPr/>
      </p:nvGrpSpPr>
      <p:grpSpPr>
        <a:xfrm>
          <a:off x="0" y="0"/>
          <a:ext cx="1" cy="1"/>
          <a:chOff x="0" y="0"/>
          <a:chExt cx="1" cy="1"/>
        </a:xfrm>
      </p:grpSpPr>
      <p:sp>
        <p:nvSpPr>
          <p:cNvPr id="2" name="Text Placeholder 1">
            <a:extLst>
              <a:ext uri="{FF2B5EF4-FFF2-40B4-BE49-F238E27FC236}">
                <a16:creationId xmlns:a16="http://schemas.microsoft.com/office/drawing/2014/main" id="{E8410C06-0C8A-30CC-1D3C-25B06C88AEF8}"/>
              </a:ext>
            </a:extLst>
          </p:cNvPr>
          <p:cNvSpPr>
            <a:spLocks noGrp="1"/>
          </p:cNvSpPr>
          <p:nvPr>
            <p:ph type="body" sz="quarter" idx="10"/>
          </p:nvPr>
        </p:nvSpPr>
        <p:spPr>
          <a:xfrm>
            <a:off x="406940" y="387958"/>
            <a:ext cx="5562600" cy="492443"/>
          </a:xfrm>
        </p:spPr>
        <p:txBody>
          <a:bodyPr/>
          <a:lstStyle/>
          <a:p>
            <a:r>
              <a:rPr lang="en-US" sz="3200" noProof="0">
                <a:latin typeface="Trebuchet MS" panose="020B0603020202020204" pitchFamily="34" charset="0"/>
              </a:rPr>
              <a:t>Activity:</a:t>
            </a:r>
          </a:p>
        </p:txBody>
      </p:sp>
      <p:sp>
        <p:nvSpPr>
          <p:cNvPr id="6" name="TextBox 5">
            <a:extLst>
              <a:ext uri="{FF2B5EF4-FFF2-40B4-BE49-F238E27FC236}">
                <a16:creationId xmlns:a16="http://schemas.microsoft.com/office/drawing/2014/main" id="{037D5062-0ADA-213C-15ED-2D31CDA7615E}"/>
              </a:ext>
            </a:extLst>
          </p:cNvPr>
          <p:cNvSpPr txBox="1"/>
          <p:nvPr/>
        </p:nvSpPr>
        <p:spPr>
          <a:xfrm>
            <a:off x="328411" y="1807120"/>
            <a:ext cx="5334000" cy="4124206"/>
          </a:xfrm>
          <a:prstGeom prst="rect">
            <a:avLst/>
          </a:prstGeom>
          <a:noFill/>
        </p:spPr>
        <p:txBody>
          <a:bodyPr wrap="square">
            <a:spAutoFit/>
          </a:bodyPr>
          <a:lstStyle/>
          <a:p>
            <a:r>
              <a:rPr lang="en-US" b="1" noProof="0" dirty="0">
                <a:solidFill>
                  <a:srgbClr val="002060"/>
                </a:solidFill>
                <a:latin typeface="Trebuchet MS" panose="020B0603020202020204" pitchFamily="34" charset="0"/>
              </a:rPr>
              <a:t>Scenario: Child Care Eligibility</a:t>
            </a:r>
          </a:p>
          <a:p>
            <a:endParaRPr lang="en-US" sz="1600" noProof="0" dirty="0">
              <a:solidFill>
                <a:srgbClr val="002060"/>
              </a:solidFill>
              <a:latin typeface="Trebuchet MS" panose="020B0603020202020204" pitchFamily="34" charset="0"/>
            </a:endParaRPr>
          </a:p>
          <a:p>
            <a:r>
              <a:rPr lang="en-US" sz="1600" noProof="0" dirty="0">
                <a:solidFill>
                  <a:srgbClr val="002060"/>
                </a:solidFill>
                <a:latin typeface="Trebuchet MS" panose="020B0603020202020204" pitchFamily="34" charset="0"/>
              </a:rPr>
              <a:t>Child Care supported 200 families during the month.</a:t>
            </a:r>
          </a:p>
          <a:p>
            <a:endParaRPr lang="en-US" sz="1600" noProof="0" dirty="0">
              <a:solidFill>
                <a:srgbClr val="002060"/>
              </a:solidFill>
              <a:latin typeface="Trebuchet MS" panose="020B0603020202020204" pitchFamily="34" charset="0"/>
            </a:endParaRPr>
          </a:p>
          <a:p>
            <a:r>
              <a:rPr lang="en-US" sz="1600" noProof="0" dirty="0">
                <a:solidFill>
                  <a:srgbClr val="002060"/>
                </a:solidFill>
                <a:latin typeface="Trebuchet MS" panose="020B0603020202020204" pitchFamily="34" charset="0"/>
              </a:rPr>
              <a:t>Each family has 4 opportunities for a defect to occur:</a:t>
            </a:r>
          </a:p>
          <a:p>
            <a:endParaRPr lang="en-US" sz="1000" noProof="0" dirty="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dirty="0">
                <a:solidFill>
                  <a:srgbClr val="002060"/>
                </a:solidFill>
                <a:latin typeface="Trebuchet MS" panose="020B0603020202020204" pitchFamily="34" charset="0"/>
              </a:rPr>
              <a:t>Eligibility completed</a:t>
            </a:r>
          </a:p>
          <a:p>
            <a:pPr marL="285750" indent="-285750">
              <a:buFont typeface="Arial" panose="020B0604020202020204" pitchFamily="34" charset="0"/>
              <a:buChar char="•"/>
            </a:pPr>
            <a:r>
              <a:rPr lang="en-US" sz="1600" noProof="0" dirty="0">
                <a:solidFill>
                  <a:srgbClr val="002060"/>
                </a:solidFill>
                <a:latin typeface="Trebuchet MS" panose="020B0603020202020204" pitchFamily="34" charset="0"/>
              </a:rPr>
              <a:t>Income calculation</a:t>
            </a:r>
          </a:p>
          <a:p>
            <a:pPr marL="285750" indent="-285750">
              <a:buFont typeface="Arial" panose="020B0604020202020204" pitchFamily="34" charset="0"/>
              <a:buChar char="•"/>
            </a:pPr>
            <a:r>
              <a:rPr lang="en-US" sz="1600" noProof="0" dirty="0">
                <a:solidFill>
                  <a:srgbClr val="002060"/>
                </a:solidFill>
                <a:latin typeface="Trebuchet MS" panose="020B0603020202020204" pitchFamily="34" charset="0"/>
              </a:rPr>
              <a:t>Evidence verification</a:t>
            </a:r>
          </a:p>
          <a:p>
            <a:pPr marL="285750" indent="-285750">
              <a:buFont typeface="Arial" panose="020B0604020202020204" pitchFamily="34" charset="0"/>
              <a:buChar char="•"/>
            </a:pPr>
            <a:r>
              <a:rPr lang="en-US" sz="1600" noProof="0" dirty="0">
                <a:solidFill>
                  <a:srgbClr val="002060"/>
                </a:solidFill>
                <a:latin typeface="Trebuchet MS" panose="020B0603020202020204" pitchFamily="34" charset="0"/>
              </a:rPr>
              <a:t>Child Care Notice</a:t>
            </a:r>
          </a:p>
          <a:p>
            <a:endParaRPr lang="en-US" sz="1600" noProof="0" dirty="0">
              <a:solidFill>
                <a:srgbClr val="002060"/>
              </a:solidFill>
              <a:latin typeface="Trebuchet MS" panose="020B0603020202020204" pitchFamily="34" charset="0"/>
            </a:endParaRPr>
          </a:p>
          <a:p>
            <a:r>
              <a:rPr lang="en-US" sz="1600" noProof="0" dirty="0">
                <a:solidFill>
                  <a:srgbClr val="002060"/>
                </a:solidFill>
                <a:latin typeface="Trebuchet MS" panose="020B0603020202020204" pitchFamily="34" charset="0"/>
              </a:rPr>
              <a:t>During the month, the team identified 16 defects:</a:t>
            </a:r>
          </a:p>
          <a:p>
            <a:endParaRPr lang="en-US" sz="1000" noProof="0" dirty="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dirty="0">
                <a:solidFill>
                  <a:srgbClr val="002060"/>
                </a:solidFill>
                <a:latin typeface="Trebuchet MS" panose="020B0603020202020204" pitchFamily="34" charset="0"/>
              </a:rPr>
              <a:t>5 x eligibility not completed</a:t>
            </a:r>
          </a:p>
          <a:p>
            <a:pPr marL="285750" indent="-285750">
              <a:buFont typeface="Arial" panose="020B0604020202020204" pitchFamily="34" charset="0"/>
              <a:buChar char="•"/>
            </a:pPr>
            <a:r>
              <a:rPr lang="en-US" sz="1600" noProof="0" dirty="0">
                <a:solidFill>
                  <a:srgbClr val="002060"/>
                </a:solidFill>
                <a:latin typeface="Trebuchet MS" panose="020B0603020202020204" pitchFamily="34" charset="0"/>
              </a:rPr>
              <a:t>4 x income calculations incorrect</a:t>
            </a:r>
          </a:p>
          <a:p>
            <a:pPr marL="285750" indent="-285750">
              <a:buFont typeface="Arial" panose="020B0604020202020204" pitchFamily="34" charset="0"/>
              <a:buChar char="•"/>
            </a:pPr>
            <a:r>
              <a:rPr lang="en-US" sz="1600" noProof="0" dirty="0">
                <a:solidFill>
                  <a:srgbClr val="002060"/>
                </a:solidFill>
                <a:latin typeface="Trebuchet MS" panose="020B0603020202020204" pitchFamily="34" charset="0"/>
              </a:rPr>
              <a:t>3 x incorrect evidence approved</a:t>
            </a:r>
          </a:p>
          <a:p>
            <a:pPr marL="285750" indent="-285750">
              <a:buFont typeface="Arial" panose="020B0604020202020204" pitchFamily="34" charset="0"/>
              <a:buChar char="•"/>
            </a:pPr>
            <a:r>
              <a:rPr lang="en-US" sz="1600" noProof="0" dirty="0">
                <a:solidFill>
                  <a:srgbClr val="002060"/>
                </a:solidFill>
                <a:latin typeface="Trebuchet MS" panose="020B0603020202020204" pitchFamily="34" charset="0"/>
              </a:rPr>
              <a:t>4 x Child Care notices not issued to provider</a:t>
            </a:r>
          </a:p>
        </p:txBody>
      </p:sp>
      <p:sp>
        <p:nvSpPr>
          <p:cNvPr id="7" name="Rectangle: Rounded Corners 6">
            <a:extLst>
              <a:ext uri="{FF2B5EF4-FFF2-40B4-BE49-F238E27FC236}">
                <a16:creationId xmlns:a16="http://schemas.microsoft.com/office/drawing/2014/main" id="{98704B8B-C0A9-8D73-1907-31665F49D4A3}"/>
              </a:ext>
            </a:extLst>
          </p:cNvPr>
          <p:cNvSpPr/>
          <p:nvPr/>
        </p:nvSpPr>
        <p:spPr>
          <a:xfrm>
            <a:off x="5504442" y="1736882"/>
            <a:ext cx="5869236" cy="454765"/>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a:rPr>
              <a:t>Identify </a:t>
            </a:r>
            <a:r>
              <a:rPr lang="en-US" sz="1400" b="1">
                <a:solidFill>
                  <a:schemeClr val="bg1"/>
                </a:solidFill>
                <a:latin typeface="Trebuchet MS"/>
              </a:rPr>
              <a:t>defect opportunities</a:t>
            </a:r>
            <a:r>
              <a:rPr lang="en-US" sz="1400" b="1" noProof="0">
                <a:solidFill>
                  <a:schemeClr val="bg1"/>
                </a:solidFill>
                <a:latin typeface="Trebuchet MS"/>
              </a:rPr>
              <a:t> per item</a:t>
            </a:r>
          </a:p>
        </p:txBody>
      </p:sp>
      <p:sp>
        <p:nvSpPr>
          <p:cNvPr id="8" name="Rectangle: Rounded Corners 7">
            <a:extLst>
              <a:ext uri="{FF2B5EF4-FFF2-40B4-BE49-F238E27FC236}">
                <a16:creationId xmlns:a16="http://schemas.microsoft.com/office/drawing/2014/main" id="{E65973FA-B16B-A7DA-CF1C-33B9F516DFF5}"/>
              </a:ext>
            </a:extLst>
          </p:cNvPr>
          <p:cNvSpPr/>
          <p:nvPr/>
        </p:nvSpPr>
        <p:spPr>
          <a:xfrm>
            <a:off x="5509313" y="2514600"/>
            <a:ext cx="5869236" cy="912152"/>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Trebuchet MS" panose="020B0603020202020204" pitchFamily="34" charset="0"/>
            </a:endParaRPr>
          </a:p>
          <a:p>
            <a:pPr algn="ctr"/>
            <a:r>
              <a:rPr lang="en-US" sz="1400" b="1" noProof="0" dirty="0">
                <a:solidFill>
                  <a:schemeClr val="bg1"/>
                </a:solidFill>
                <a:latin typeface="Trebuchet MS" panose="020B0603020202020204" pitchFamily="34" charset="0"/>
              </a:rPr>
              <a:t>Calculate the total opportunities </a:t>
            </a:r>
            <a:r>
              <a:rPr lang="en-US" sz="1400" noProof="0" dirty="0">
                <a:solidFill>
                  <a:schemeClr val="bg1"/>
                </a:solidFill>
                <a:latin typeface="Trebuchet MS" panose="020B0603020202020204" pitchFamily="34" charset="0"/>
              </a:rPr>
              <a:t>(what could go wrong)</a:t>
            </a:r>
          </a:p>
          <a:p>
            <a:pPr algn="ctr"/>
            <a:r>
              <a:rPr lang="en-US" sz="1400" dirty="0">
                <a:solidFill>
                  <a:schemeClr val="bg1"/>
                </a:solidFill>
                <a:latin typeface="Trebuchet MS" panose="020B0603020202020204" pitchFamily="34" charset="0"/>
              </a:rPr>
              <a:t># Families </a:t>
            </a:r>
            <a:r>
              <a:rPr lang="en-US" sz="1400" noProof="0" dirty="0">
                <a:solidFill>
                  <a:schemeClr val="bg1"/>
                </a:solidFill>
                <a:latin typeface="Trebuchet MS" panose="020B0603020202020204" pitchFamily="34" charset="0"/>
              </a:rPr>
              <a:t>x </a:t>
            </a:r>
            <a:r>
              <a:rPr lang="en-US" sz="1400" dirty="0">
                <a:solidFill>
                  <a:schemeClr val="bg1"/>
                </a:solidFill>
                <a:latin typeface="Trebuchet MS" panose="020B0603020202020204" pitchFamily="34" charset="0"/>
              </a:rPr>
              <a:t># opportunities </a:t>
            </a:r>
            <a:r>
              <a:rPr lang="en-US" sz="1400" noProof="0" dirty="0">
                <a:solidFill>
                  <a:schemeClr val="bg1"/>
                </a:solidFill>
                <a:latin typeface="Trebuchet MS" panose="020B0603020202020204" pitchFamily="34" charset="0"/>
              </a:rPr>
              <a:t>=  # opportunities</a:t>
            </a:r>
          </a:p>
          <a:p>
            <a:pPr algn="ctr"/>
            <a:endParaRPr lang="en-US" sz="1400" noProof="0" dirty="0">
              <a:solidFill>
                <a:schemeClr val="bg1"/>
              </a:solidFill>
              <a:latin typeface="Trebuchet MS" panose="020B0603020202020204" pitchFamily="34" charset="0"/>
            </a:endParaRPr>
          </a:p>
        </p:txBody>
      </p:sp>
      <p:sp>
        <p:nvSpPr>
          <p:cNvPr id="9" name="Rectangle: Rounded Corners 8">
            <a:extLst>
              <a:ext uri="{FF2B5EF4-FFF2-40B4-BE49-F238E27FC236}">
                <a16:creationId xmlns:a16="http://schemas.microsoft.com/office/drawing/2014/main" id="{5F33869D-2F9F-8781-5C0C-9D91A9EF1A50}"/>
              </a:ext>
            </a:extLst>
          </p:cNvPr>
          <p:cNvSpPr/>
          <p:nvPr/>
        </p:nvSpPr>
        <p:spPr>
          <a:xfrm>
            <a:off x="5504442" y="3823057"/>
            <a:ext cx="5869236" cy="759000"/>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panose="020B0603020202020204" pitchFamily="34" charset="0"/>
              </a:rPr>
              <a:t>Calculate DPU</a:t>
            </a:r>
            <a:r>
              <a:rPr lang="en-US" sz="1400" noProof="0">
                <a:solidFill>
                  <a:schemeClr val="bg1"/>
                </a:solidFill>
                <a:latin typeface="Trebuchet MS" panose="020B0603020202020204" pitchFamily="34" charset="0"/>
              </a:rPr>
              <a:t>(what did go wrong) </a:t>
            </a:r>
          </a:p>
          <a:p>
            <a:pPr algn="ctr"/>
            <a:r>
              <a:rPr lang="en-US" sz="1400" noProof="0">
                <a:solidFill>
                  <a:schemeClr val="bg1"/>
                </a:solidFill>
                <a:latin typeface="Trebuchet MS"/>
              </a:rPr>
              <a:t># defects/# families = # defects per unit (item)</a:t>
            </a:r>
          </a:p>
        </p:txBody>
      </p:sp>
      <p:sp>
        <p:nvSpPr>
          <p:cNvPr id="10" name="Rectangle: Rounded Corners 9">
            <a:extLst>
              <a:ext uri="{FF2B5EF4-FFF2-40B4-BE49-F238E27FC236}">
                <a16:creationId xmlns:a16="http://schemas.microsoft.com/office/drawing/2014/main" id="{B15BFA4C-0EB3-B28F-A361-B5AAA1AB7411}"/>
              </a:ext>
            </a:extLst>
          </p:cNvPr>
          <p:cNvSpPr/>
          <p:nvPr/>
        </p:nvSpPr>
        <p:spPr>
          <a:xfrm>
            <a:off x="5504442" y="4988090"/>
            <a:ext cx="5869236" cy="1295400"/>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a:solidFill>
                <a:schemeClr val="bg1"/>
              </a:solidFill>
              <a:latin typeface="Trebuchet MS" panose="020B0603020202020204" pitchFamily="34" charset="0"/>
            </a:endParaRPr>
          </a:p>
          <a:p>
            <a:pPr algn="ctr"/>
            <a:r>
              <a:rPr lang="en-US" sz="1400" b="1" noProof="0">
                <a:solidFill>
                  <a:schemeClr val="bg1"/>
                </a:solidFill>
                <a:latin typeface="Trebuchet MS" panose="020B0603020202020204" pitchFamily="34" charset="0"/>
              </a:rPr>
              <a:t>Apply DPMO </a:t>
            </a:r>
          </a:p>
          <a:p>
            <a:pPr algn="ctr"/>
            <a:r>
              <a:rPr lang="en-US" sz="1400" noProof="0">
                <a:solidFill>
                  <a:schemeClr val="bg1"/>
                </a:solidFill>
                <a:latin typeface="Trebuchet MS" panose="020B0603020202020204" pitchFamily="34" charset="0"/>
              </a:rPr>
              <a:t>DPMO = (DPU ÷ Opportunities) × 1,000,000     </a:t>
            </a:r>
          </a:p>
          <a:p>
            <a:pPr algn="ctr"/>
            <a:r>
              <a:rPr lang="en-US" sz="1400" noProof="0">
                <a:solidFill>
                  <a:schemeClr val="bg1"/>
                </a:solidFill>
                <a:latin typeface="Trebuchet MS" panose="020B0603020202020204" pitchFamily="34" charset="0"/>
              </a:rPr>
              <a:t>= (DPU÷ # Defects) × 1,000,000     </a:t>
            </a:r>
          </a:p>
          <a:p>
            <a:pPr algn="ctr"/>
            <a:r>
              <a:rPr lang="en-US" sz="1400" noProof="0">
                <a:solidFill>
                  <a:schemeClr val="bg1"/>
                </a:solidFill>
                <a:latin typeface="Trebuchet MS" panose="020B0603020202020204" pitchFamily="34" charset="0"/>
              </a:rPr>
              <a:t>= # Child Care defects per million opportunities</a:t>
            </a:r>
          </a:p>
          <a:p>
            <a:pPr algn="ctr"/>
            <a:endParaRPr lang="en-US" sz="1400" noProof="0">
              <a:solidFill>
                <a:schemeClr val="bg1"/>
              </a:solidFill>
              <a:latin typeface="Trebuchet MS" panose="020B0603020202020204" pitchFamily="34" charset="0"/>
            </a:endParaRPr>
          </a:p>
        </p:txBody>
      </p:sp>
      <p:sp>
        <p:nvSpPr>
          <p:cNvPr id="11" name="Arrow: Down 10">
            <a:extLst>
              <a:ext uri="{FF2B5EF4-FFF2-40B4-BE49-F238E27FC236}">
                <a16:creationId xmlns:a16="http://schemas.microsoft.com/office/drawing/2014/main" id="{4EE7C419-4A6F-E60F-59F8-BC4E5D7A9804}"/>
              </a:ext>
            </a:extLst>
          </p:cNvPr>
          <p:cNvSpPr/>
          <p:nvPr/>
        </p:nvSpPr>
        <p:spPr>
          <a:xfrm>
            <a:off x="8043022" y="2114333"/>
            <a:ext cx="788404" cy="356237"/>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2" name="Arrow: Down 11">
            <a:extLst>
              <a:ext uri="{FF2B5EF4-FFF2-40B4-BE49-F238E27FC236}">
                <a16:creationId xmlns:a16="http://schemas.microsoft.com/office/drawing/2014/main" id="{E6BFAA16-FCC5-53F2-A1F5-E09DD6B76A7D}"/>
              </a:ext>
            </a:extLst>
          </p:cNvPr>
          <p:cNvSpPr/>
          <p:nvPr/>
        </p:nvSpPr>
        <p:spPr>
          <a:xfrm>
            <a:off x="8043022" y="3391737"/>
            <a:ext cx="788404" cy="356237"/>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3" name="Arrow: Down 12">
            <a:extLst>
              <a:ext uri="{FF2B5EF4-FFF2-40B4-BE49-F238E27FC236}">
                <a16:creationId xmlns:a16="http://schemas.microsoft.com/office/drawing/2014/main" id="{C2C849C8-1FE3-12FE-0818-929CE66E99C3}"/>
              </a:ext>
            </a:extLst>
          </p:cNvPr>
          <p:cNvSpPr/>
          <p:nvPr/>
        </p:nvSpPr>
        <p:spPr>
          <a:xfrm>
            <a:off x="8043022" y="4562822"/>
            <a:ext cx="788404" cy="356237"/>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Tree>
    <p:extLst>
      <p:ext uri="{BB962C8B-B14F-4D97-AF65-F5344CB8AC3E}">
        <p14:creationId xmlns:p14="http://schemas.microsoft.com/office/powerpoint/2010/main" val="4193466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Placeholder 1">
            <a:extLst>
              <a:ext uri="{FF2B5EF4-FFF2-40B4-BE49-F238E27FC236}">
                <a16:creationId xmlns:a16="http://schemas.microsoft.com/office/drawing/2014/main" id="{9D0838A2-07D3-70DA-770A-E6F5F14AE5FC}"/>
              </a:ext>
            </a:extLst>
          </p:cNvPr>
          <p:cNvSpPr>
            <a:spLocks noGrp="1"/>
          </p:cNvSpPr>
          <p:nvPr>
            <p:ph type="body" sz="quarter" idx="10"/>
          </p:nvPr>
        </p:nvSpPr>
        <p:spPr>
          <a:xfrm>
            <a:off x="439806" y="374007"/>
            <a:ext cx="7696200" cy="492443"/>
          </a:xfrm>
        </p:spPr>
        <p:txBody>
          <a:bodyPr/>
          <a:lstStyle/>
          <a:p>
            <a:r>
              <a:rPr lang="en-US" sz="3200" noProof="0">
                <a:latin typeface="Trebuchet MS" panose="020B0603020202020204" pitchFamily="34" charset="0"/>
              </a:rPr>
              <a:t>Activity: Answer</a:t>
            </a:r>
          </a:p>
        </p:txBody>
      </p:sp>
      <p:sp>
        <p:nvSpPr>
          <p:cNvPr id="6" name="TextBox 5">
            <a:extLst>
              <a:ext uri="{FF2B5EF4-FFF2-40B4-BE49-F238E27FC236}">
                <a16:creationId xmlns:a16="http://schemas.microsoft.com/office/drawing/2014/main" id="{82912596-AE28-AAE1-DF76-A0ECD0672A1B}"/>
              </a:ext>
            </a:extLst>
          </p:cNvPr>
          <p:cNvSpPr txBox="1"/>
          <p:nvPr/>
        </p:nvSpPr>
        <p:spPr>
          <a:xfrm>
            <a:off x="381000" y="1524000"/>
            <a:ext cx="5100251" cy="4124206"/>
          </a:xfrm>
          <a:prstGeom prst="rect">
            <a:avLst/>
          </a:prstGeom>
          <a:noFill/>
        </p:spPr>
        <p:txBody>
          <a:bodyPr wrap="square">
            <a:spAutoFit/>
          </a:bodyPr>
          <a:lstStyle/>
          <a:p>
            <a:r>
              <a:rPr lang="en-US" b="1" noProof="0">
                <a:solidFill>
                  <a:srgbClr val="002060"/>
                </a:solidFill>
                <a:latin typeface="Trebuchet MS" panose="020B0603020202020204" pitchFamily="34" charset="0"/>
              </a:rPr>
              <a:t>Scenario: Child Care Eligibility</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Child Care supported 200 families during the month.</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Each family has 4 opportunities for a defect to occur:</a:t>
            </a:r>
          </a:p>
          <a:p>
            <a:endParaRPr lang="en-US" sz="10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Eligibility completed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Income calculation</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Evidence verification</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Child Care Notice</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During the month, the team identified 16 defects:</a:t>
            </a:r>
          </a:p>
          <a:p>
            <a:endParaRPr lang="en-US" sz="10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5 x eligibility not completed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4 x income calculations incorrect</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3 x incorrect evidence approved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4 x Child Care notices not issued to provider</a:t>
            </a:r>
          </a:p>
        </p:txBody>
      </p:sp>
      <p:sp>
        <p:nvSpPr>
          <p:cNvPr id="7" name="Rectangle: Rounded Corners 6">
            <a:extLst>
              <a:ext uri="{FF2B5EF4-FFF2-40B4-BE49-F238E27FC236}">
                <a16:creationId xmlns:a16="http://schemas.microsoft.com/office/drawing/2014/main" id="{F5666FD7-2721-DA1A-39B0-F9FF6781CD9D}"/>
              </a:ext>
            </a:extLst>
          </p:cNvPr>
          <p:cNvSpPr/>
          <p:nvPr/>
        </p:nvSpPr>
        <p:spPr>
          <a:xfrm>
            <a:off x="5527633" y="1712068"/>
            <a:ext cx="5869236" cy="454765"/>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a:rPr>
              <a:t>Identify</a:t>
            </a:r>
            <a:r>
              <a:rPr lang="en-US" sz="1400" b="1">
                <a:solidFill>
                  <a:schemeClr val="bg1"/>
                </a:solidFill>
                <a:latin typeface="Trebuchet MS"/>
              </a:rPr>
              <a:t> defect</a:t>
            </a:r>
            <a:r>
              <a:rPr lang="en-US" sz="1400" b="1" noProof="0">
                <a:solidFill>
                  <a:schemeClr val="bg1"/>
                </a:solidFill>
                <a:latin typeface="Trebuchet MS"/>
              </a:rPr>
              <a:t> opportunities per item</a:t>
            </a:r>
          </a:p>
        </p:txBody>
      </p:sp>
      <p:sp>
        <p:nvSpPr>
          <p:cNvPr id="8" name="Rectangle: Rounded Corners 7">
            <a:extLst>
              <a:ext uri="{FF2B5EF4-FFF2-40B4-BE49-F238E27FC236}">
                <a16:creationId xmlns:a16="http://schemas.microsoft.com/office/drawing/2014/main" id="{2F4092EA-738C-4E36-C37F-6B6EA1624F01}"/>
              </a:ext>
            </a:extLst>
          </p:cNvPr>
          <p:cNvSpPr/>
          <p:nvPr/>
        </p:nvSpPr>
        <p:spPr>
          <a:xfrm>
            <a:off x="5527633" y="2578867"/>
            <a:ext cx="5869236" cy="912152"/>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b="1" noProof="0" dirty="0">
              <a:solidFill>
                <a:schemeClr val="bg1"/>
              </a:solidFill>
              <a:latin typeface="Trebuchet MS" panose="020B0603020202020204" pitchFamily="34" charset="0"/>
            </a:endParaRPr>
          </a:p>
          <a:p>
            <a:pPr algn="ctr"/>
            <a:r>
              <a:rPr lang="en-US" sz="1400" b="1" noProof="0" dirty="0">
                <a:solidFill>
                  <a:schemeClr val="bg1"/>
                </a:solidFill>
                <a:latin typeface="Trebuchet MS" panose="020B0603020202020204" pitchFamily="34" charset="0"/>
              </a:rPr>
              <a:t>Calculate the total opportunities </a:t>
            </a:r>
            <a:r>
              <a:rPr lang="en-US" sz="1400" noProof="0" dirty="0">
                <a:solidFill>
                  <a:schemeClr val="bg1"/>
                </a:solidFill>
                <a:latin typeface="Trebuchet MS" panose="020B0603020202020204" pitchFamily="34" charset="0"/>
              </a:rPr>
              <a:t>(what could go wrong)</a:t>
            </a:r>
          </a:p>
          <a:p>
            <a:pPr algn="ctr"/>
            <a:r>
              <a:rPr lang="en-US" sz="1400" dirty="0">
                <a:solidFill>
                  <a:schemeClr val="bg1"/>
                </a:solidFill>
                <a:latin typeface="Trebuchet MS"/>
              </a:rPr>
              <a:t> 200 new starters </a:t>
            </a:r>
            <a:r>
              <a:rPr lang="en-US" sz="1400" noProof="0" dirty="0">
                <a:solidFill>
                  <a:schemeClr val="bg1"/>
                </a:solidFill>
                <a:latin typeface="Trebuchet MS"/>
              </a:rPr>
              <a:t>x</a:t>
            </a:r>
            <a:r>
              <a:rPr lang="en-US" sz="1400" dirty="0">
                <a:solidFill>
                  <a:schemeClr val="bg1"/>
                </a:solidFill>
                <a:latin typeface="Trebuchet MS"/>
              </a:rPr>
              <a:t> 4 opportunities </a:t>
            </a:r>
            <a:r>
              <a:rPr lang="en-US" sz="1400" noProof="0" dirty="0">
                <a:solidFill>
                  <a:schemeClr val="bg1"/>
                </a:solidFill>
                <a:latin typeface="Trebuchet MS"/>
              </a:rPr>
              <a:t>= </a:t>
            </a:r>
            <a:r>
              <a:rPr lang="en-US" sz="1400" dirty="0">
                <a:solidFill>
                  <a:schemeClr val="bg1"/>
                </a:solidFill>
                <a:latin typeface="Trebuchet MS"/>
              </a:rPr>
              <a:t>800 opportunities</a:t>
            </a:r>
            <a:endParaRPr lang="en-US" sz="1400" noProof="0" dirty="0">
              <a:solidFill>
                <a:schemeClr val="bg1"/>
              </a:solidFill>
              <a:latin typeface="Trebuchet MS" panose="020B0603020202020204" pitchFamily="34" charset="0"/>
            </a:endParaRPr>
          </a:p>
          <a:p>
            <a:pPr algn="ctr"/>
            <a:endParaRPr lang="en-US" sz="1400" noProof="0" dirty="0">
              <a:solidFill>
                <a:schemeClr val="bg1"/>
              </a:solidFill>
              <a:latin typeface="Trebuchet MS" panose="020B0603020202020204" pitchFamily="34" charset="0"/>
            </a:endParaRPr>
          </a:p>
        </p:txBody>
      </p:sp>
      <p:sp>
        <p:nvSpPr>
          <p:cNvPr id="9" name="Rectangle: Rounded Corners 8">
            <a:extLst>
              <a:ext uri="{FF2B5EF4-FFF2-40B4-BE49-F238E27FC236}">
                <a16:creationId xmlns:a16="http://schemas.microsoft.com/office/drawing/2014/main" id="{F7DBD36E-684B-716A-19E8-D923F52A3908}"/>
              </a:ext>
            </a:extLst>
          </p:cNvPr>
          <p:cNvSpPr/>
          <p:nvPr/>
        </p:nvSpPr>
        <p:spPr>
          <a:xfrm>
            <a:off x="5568028" y="3886200"/>
            <a:ext cx="5869236" cy="759000"/>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noProof="0">
                <a:solidFill>
                  <a:schemeClr val="bg1"/>
                </a:solidFill>
                <a:latin typeface="Trebuchet MS" panose="020B0603020202020204" pitchFamily="34" charset="0"/>
              </a:rPr>
              <a:t>Calculate DPU </a:t>
            </a:r>
            <a:r>
              <a:rPr lang="en-US" sz="1400" noProof="0">
                <a:solidFill>
                  <a:schemeClr val="bg1"/>
                </a:solidFill>
                <a:latin typeface="Trebuchet MS" panose="020B0603020202020204" pitchFamily="34" charset="0"/>
              </a:rPr>
              <a:t>(what did go wrong) </a:t>
            </a:r>
          </a:p>
          <a:p>
            <a:pPr algn="ctr"/>
            <a:r>
              <a:rPr lang="en-US" sz="1400" noProof="0">
                <a:solidFill>
                  <a:schemeClr val="bg1"/>
                </a:solidFill>
                <a:latin typeface="Trebuchet MS" panose="020B0603020202020204" pitchFamily="34" charset="0"/>
              </a:rPr>
              <a:t>16 defects/200 families = 0.08 defects per item</a:t>
            </a:r>
          </a:p>
        </p:txBody>
      </p:sp>
      <p:sp>
        <p:nvSpPr>
          <p:cNvPr id="10" name="Rectangle: Rounded Corners 9">
            <a:extLst>
              <a:ext uri="{FF2B5EF4-FFF2-40B4-BE49-F238E27FC236}">
                <a16:creationId xmlns:a16="http://schemas.microsoft.com/office/drawing/2014/main" id="{D25147B9-01B0-6A41-D93B-C43F3E9AC2AC}"/>
              </a:ext>
            </a:extLst>
          </p:cNvPr>
          <p:cNvSpPr/>
          <p:nvPr/>
        </p:nvSpPr>
        <p:spPr>
          <a:xfrm>
            <a:off x="5568028" y="5029200"/>
            <a:ext cx="5869236" cy="1295400"/>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noProof="0" dirty="0">
              <a:solidFill>
                <a:schemeClr val="bg1"/>
              </a:solidFill>
              <a:latin typeface="Trebuchet MS" panose="020B0603020202020204" pitchFamily="34" charset="0"/>
            </a:endParaRPr>
          </a:p>
          <a:p>
            <a:pPr algn="ctr"/>
            <a:r>
              <a:rPr lang="en-US" sz="1400" b="1" noProof="0" dirty="0">
                <a:solidFill>
                  <a:schemeClr val="bg1"/>
                </a:solidFill>
                <a:latin typeface="Trebuchet MS" panose="020B0603020202020204" pitchFamily="34" charset="0"/>
              </a:rPr>
              <a:t>Apply DPMO </a:t>
            </a:r>
          </a:p>
          <a:p>
            <a:pPr algn="ctr"/>
            <a:r>
              <a:rPr lang="en-US" sz="1400" noProof="0" dirty="0">
                <a:solidFill>
                  <a:schemeClr val="bg1"/>
                </a:solidFill>
                <a:latin typeface="Trebuchet MS" panose="020B0603020202020204" pitchFamily="34" charset="0"/>
              </a:rPr>
              <a:t>DPMO = (DPU ÷ Opportunities) × 1,000,000     </a:t>
            </a:r>
          </a:p>
          <a:p>
            <a:pPr algn="ctr"/>
            <a:r>
              <a:rPr lang="en-US" sz="1400" noProof="0" dirty="0">
                <a:solidFill>
                  <a:schemeClr val="bg1"/>
                </a:solidFill>
                <a:latin typeface="Trebuchet MS" panose="020B0603020202020204" pitchFamily="34" charset="0"/>
              </a:rPr>
              <a:t>= (0.08÷ 4 Defects) × 1,000,000     </a:t>
            </a:r>
          </a:p>
          <a:p>
            <a:pPr algn="ctr"/>
            <a:r>
              <a:rPr lang="en-US" sz="1400" noProof="0" dirty="0">
                <a:solidFill>
                  <a:schemeClr val="bg1"/>
                </a:solidFill>
                <a:latin typeface="Trebuchet MS" panose="020B0603020202020204" pitchFamily="34" charset="0"/>
              </a:rPr>
              <a:t>= 20,000 Child Care defects per million opportunities</a:t>
            </a:r>
          </a:p>
          <a:p>
            <a:pPr algn="ctr"/>
            <a:endParaRPr lang="en-US" sz="1400" noProof="0" dirty="0">
              <a:solidFill>
                <a:schemeClr val="bg1"/>
              </a:solidFill>
              <a:latin typeface="Trebuchet MS" panose="020B0603020202020204" pitchFamily="34" charset="0"/>
            </a:endParaRPr>
          </a:p>
        </p:txBody>
      </p:sp>
      <p:sp>
        <p:nvSpPr>
          <p:cNvPr id="11" name="Arrow: Down 10">
            <a:extLst>
              <a:ext uri="{FF2B5EF4-FFF2-40B4-BE49-F238E27FC236}">
                <a16:creationId xmlns:a16="http://schemas.microsoft.com/office/drawing/2014/main" id="{B4657A28-A1B7-0D8D-611D-01DE37AE3166}"/>
              </a:ext>
            </a:extLst>
          </p:cNvPr>
          <p:cNvSpPr/>
          <p:nvPr/>
        </p:nvSpPr>
        <p:spPr>
          <a:xfrm>
            <a:off x="8108444" y="2136029"/>
            <a:ext cx="788404" cy="356237"/>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2" name="Arrow: Down 11">
            <a:extLst>
              <a:ext uri="{FF2B5EF4-FFF2-40B4-BE49-F238E27FC236}">
                <a16:creationId xmlns:a16="http://schemas.microsoft.com/office/drawing/2014/main" id="{A51C3A9F-95CC-7AF6-15B8-26E3FFF2E38F}"/>
              </a:ext>
            </a:extLst>
          </p:cNvPr>
          <p:cNvSpPr/>
          <p:nvPr/>
        </p:nvSpPr>
        <p:spPr>
          <a:xfrm>
            <a:off x="8108444" y="3450425"/>
            <a:ext cx="788404" cy="356237"/>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3" name="Arrow: Down 12">
            <a:extLst>
              <a:ext uri="{FF2B5EF4-FFF2-40B4-BE49-F238E27FC236}">
                <a16:creationId xmlns:a16="http://schemas.microsoft.com/office/drawing/2014/main" id="{E27CAA46-696E-34E6-251B-4CF8BED27E9E}"/>
              </a:ext>
            </a:extLst>
          </p:cNvPr>
          <p:cNvSpPr/>
          <p:nvPr/>
        </p:nvSpPr>
        <p:spPr>
          <a:xfrm>
            <a:off x="8108444" y="4581343"/>
            <a:ext cx="788404" cy="356237"/>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Tree>
    <p:extLst>
      <p:ext uri="{BB962C8B-B14F-4D97-AF65-F5344CB8AC3E}">
        <p14:creationId xmlns:p14="http://schemas.microsoft.com/office/powerpoint/2010/main" val="1971867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3F2C3596-268B-B743-9A90-FAC16A531B56}"/>
              </a:ext>
            </a:extLst>
          </p:cNvPr>
          <p:cNvSpPr>
            <a:spLocks noGrp="1"/>
          </p:cNvSpPr>
          <p:nvPr>
            <p:ph type="body" sz="quarter" idx="10"/>
          </p:nvPr>
        </p:nvSpPr>
        <p:spPr>
          <a:xfrm>
            <a:off x="533400" y="4343400"/>
            <a:ext cx="5562600" cy="492443"/>
          </a:xfrm>
        </p:spPr>
        <p:txBody>
          <a:bodyPr/>
          <a:lstStyle/>
          <a:p>
            <a:r>
              <a:rPr lang="en-US" sz="3200" noProof="0">
                <a:latin typeface="Trebuchet MS" panose="020B0603020202020204" pitchFamily="34" charset="0"/>
              </a:rPr>
              <a:t>Calculating Process Sigma</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t>02</a:t>
            </a:r>
          </a:p>
        </p:txBody>
      </p:sp>
      <p:sp>
        <p:nvSpPr>
          <p:cNvPr id="2" name="Text Placeholder 5">
            <a:extLst>
              <a:ext uri="{FF2B5EF4-FFF2-40B4-BE49-F238E27FC236}">
                <a16:creationId xmlns:a16="http://schemas.microsoft.com/office/drawing/2014/main" id="{1F0C50F8-DEFB-09E8-1CB5-7B963AAD0931}"/>
              </a:ext>
            </a:extLst>
          </p:cNvPr>
          <p:cNvSpPr>
            <a:spLocks noGrp="1"/>
          </p:cNvSpPr>
          <p:nvPr>
            <p:ph type="body" sz="quarter" idx="11"/>
          </p:nvPr>
        </p:nvSpPr>
        <p:spPr>
          <a:xfrm>
            <a:off x="533400" y="5971962"/>
            <a:ext cx="2743200" cy="384721"/>
          </a:xfrm>
        </p:spPr>
        <p:txBody>
          <a:bodyPr/>
          <a:lstStyle/>
          <a:p>
            <a:r>
              <a:rPr lang="en-US" noProof="0">
                <a:latin typeface="Trebuchet MS" panose="020B0603020202020204" pitchFamily="34" charset="0"/>
              </a:rPr>
              <a:t>Summarizing Data</a:t>
            </a:r>
          </a:p>
        </p:txBody>
      </p:sp>
    </p:spTree>
    <p:extLst>
      <p:ext uri="{BB962C8B-B14F-4D97-AF65-F5344CB8AC3E}">
        <p14:creationId xmlns:p14="http://schemas.microsoft.com/office/powerpoint/2010/main" val="32364722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79774FA8-5EDC-0AB7-C4E3-EB9388BBDA73}"/>
              </a:ext>
            </a:extLst>
          </p:cNvPr>
          <p:cNvSpPr>
            <a:spLocks noGrp="1"/>
          </p:cNvSpPr>
          <p:nvPr>
            <p:ph type="body" sz="quarter" idx="10"/>
          </p:nvPr>
        </p:nvSpPr>
        <p:spPr>
          <a:xfrm>
            <a:off x="533400" y="381000"/>
            <a:ext cx="9067800" cy="984885"/>
          </a:xfrm>
        </p:spPr>
        <p:txBody>
          <a:bodyPr/>
          <a:lstStyle/>
          <a:p>
            <a:r>
              <a:rPr lang="en-US" sz="3200" noProof="0">
                <a:latin typeface="Trebuchet MS" panose="020B0603020202020204" pitchFamily="34" charset="0"/>
              </a:rPr>
              <a:t>Process Sigma (σ) Definition</a:t>
            </a:r>
          </a:p>
          <a:p>
            <a:endParaRPr lang="en-US" sz="3200" noProof="0">
              <a:latin typeface="Trebuchet MS" panose="020B0603020202020204" pitchFamily="34" charset="0"/>
            </a:endParaRPr>
          </a:p>
        </p:txBody>
      </p:sp>
      <p:sp>
        <p:nvSpPr>
          <p:cNvPr id="9" name="TextBox 8">
            <a:extLst>
              <a:ext uri="{FF2B5EF4-FFF2-40B4-BE49-F238E27FC236}">
                <a16:creationId xmlns:a16="http://schemas.microsoft.com/office/drawing/2014/main" id="{F13D8560-DB3D-7B12-1241-BC3B5580F15E}"/>
              </a:ext>
            </a:extLst>
          </p:cNvPr>
          <p:cNvSpPr txBox="1"/>
          <p:nvPr/>
        </p:nvSpPr>
        <p:spPr>
          <a:xfrm>
            <a:off x="533400" y="1905000"/>
            <a:ext cx="6705600" cy="3693319"/>
          </a:xfrm>
          <a:prstGeom prst="rect">
            <a:avLst/>
          </a:prstGeom>
          <a:noFill/>
        </p:spPr>
        <p:txBody>
          <a:bodyPr wrap="square">
            <a:spAutoFit/>
          </a:bodyPr>
          <a:lstStyle/>
          <a:p>
            <a:r>
              <a:rPr lang="en-US" noProof="0">
                <a:solidFill>
                  <a:srgbClr val="24408D"/>
                </a:solidFill>
                <a:latin typeface="Trebuchet MS" panose="020B0603020202020204" pitchFamily="34" charset="0"/>
              </a:rPr>
              <a:t>Process Sigma is a measure of how well a process performs by assessing the amount of variation and the number of defects produced. </a:t>
            </a:r>
          </a:p>
          <a:p>
            <a:endParaRPr lang="en-US" noProof="0">
              <a:solidFill>
                <a:srgbClr val="24408D"/>
              </a:solidFill>
              <a:latin typeface="Trebuchet MS" panose="020B0603020202020204" pitchFamily="34" charset="0"/>
            </a:endParaRPr>
          </a:p>
          <a:p>
            <a:r>
              <a:rPr lang="en-US" noProof="0">
                <a:solidFill>
                  <a:srgbClr val="24408D"/>
                </a:solidFill>
                <a:latin typeface="Trebuchet MS" panose="020B0603020202020204" pitchFamily="34" charset="0"/>
              </a:rPr>
              <a:t>It indicates how capable a process is of consistently meeting customer requirements.</a:t>
            </a:r>
          </a:p>
          <a:p>
            <a:endParaRPr lang="en-US" noProof="0">
              <a:solidFill>
                <a:srgbClr val="24408D"/>
              </a:solidFill>
              <a:latin typeface="Trebuchet MS" panose="020B0603020202020204" pitchFamily="34" charset="0"/>
            </a:endParaRPr>
          </a:p>
          <a:p>
            <a:r>
              <a:rPr lang="en-US" noProof="0">
                <a:solidFill>
                  <a:srgbClr val="24408D"/>
                </a:solidFill>
                <a:latin typeface="Trebuchet MS" panose="020B0603020202020204" pitchFamily="34" charset="0"/>
              </a:rPr>
              <a:t>A higher Sigma level means:</a:t>
            </a:r>
          </a:p>
          <a:p>
            <a:endParaRPr lang="en-US" noProof="0">
              <a:solidFill>
                <a:srgbClr val="24408D"/>
              </a:solidFill>
              <a:latin typeface="Trebuchet MS" panose="020B0603020202020204" pitchFamily="34" charset="0"/>
            </a:endParaRPr>
          </a:p>
          <a:p>
            <a:pPr marL="342900" indent="-342900">
              <a:buFont typeface="Arial" panose="020B0604020202020204" pitchFamily="34" charset="0"/>
              <a:buChar char="•"/>
            </a:pPr>
            <a:r>
              <a:rPr lang="en-US" noProof="0">
                <a:solidFill>
                  <a:srgbClr val="24408D"/>
                </a:solidFill>
                <a:latin typeface="Trebuchet MS" panose="020B0603020202020204" pitchFamily="34" charset="0"/>
              </a:rPr>
              <a:t>Fewer defects</a:t>
            </a:r>
          </a:p>
          <a:p>
            <a:pPr marL="342900" indent="-342900">
              <a:buFont typeface="Arial" panose="020B0604020202020204" pitchFamily="34" charset="0"/>
              <a:buChar char="•"/>
            </a:pPr>
            <a:r>
              <a:rPr lang="en-US" noProof="0">
                <a:solidFill>
                  <a:srgbClr val="24408D"/>
                </a:solidFill>
                <a:latin typeface="Trebuchet MS" panose="020B0603020202020204" pitchFamily="34" charset="0"/>
              </a:rPr>
              <a:t>Less variation</a:t>
            </a:r>
          </a:p>
          <a:p>
            <a:pPr marL="342900" indent="-342900">
              <a:buFont typeface="Arial" panose="020B0604020202020204" pitchFamily="34" charset="0"/>
              <a:buChar char="•"/>
            </a:pPr>
            <a:r>
              <a:rPr lang="en-US" noProof="0">
                <a:solidFill>
                  <a:srgbClr val="24408D"/>
                </a:solidFill>
                <a:latin typeface="Trebuchet MS" panose="020B0603020202020204" pitchFamily="34" charset="0"/>
              </a:rPr>
              <a:t>More consistent results</a:t>
            </a:r>
          </a:p>
          <a:p>
            <a:pPr marL="342900" indent="-342900">
              <a:buFont typeface="Arial" panose="020B0604020202020204" pitchFamily="34" charset="0"/>
              <a:buChar char="•"/>
            </a:pPr>
            <a:r>
              <a:rPr lang="en-US" noProof="0">
                <a:solidFill>
                  <a:srgbClr val="24408D"/>
                </a:solidFill>
                <a:latin typeface="Trebuchet MS" panose="020B0603020202020204" pitchFamily="34" charset="0"/>
              </a:rPr>
              <a:t>Better process performance</a:t>
            </a:r>
          </a:p>
        </p:txBody>
      </p:sp>
      <p:pic>
        <p:nvPicPr>
          <p:cNvPr id="11" name="Picture 10">
            <a:extLst>
              <a:ext uri="{FF2B5EF4-FFF2-40B4-BE49-F238E27FC236}">
                <a16:creationId xmlns:a16="http://schemas.microsoft.com/office/drawing/2014/main" id="{A1564004-5514-B93D-04EF-7BC9E04DA37D}"/>
              </a:ext>
            </a:extLst>
          </p:cNvPr>
          <p:cNvPicPr>
            <a:picLocks noChangeAspect="1"/>
          </p:cNvPicPr>
          <p:nvPr/>
        </p:nvPicPr>
        <p:blipFill>
          <a:blip r:embed="rId3"/>
          <a:srcRect l="45000" t="17365"/>
          <a:stretch>
            <a:fillRect/>
          </a:stretch>
        </p:blipFill>
        <p:spPr>
          <a:xfrm>
            <a:off x="8077200" y="2456259"/>
            <a:ext cx="2652886" cy="2590800"/>
          </a:xfrm>
          <a:prstGeom prst="rect">
            <a:avLst/>
          </a:prstGeom>
        </p:spPr>
      </p:pic>
    </p:spTree>
    <p:extLst>
      <p:ext uri="{BB962C8B-B14F-4D97-AF65-F5344CB8AC3E}">
        <p14:creationId xmlns:p14="http://schemas.microsoft.com/office/powerpoint/2010/main" val="2445041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 Placeholder 6">
            <a:extLst>
              <a:ext uri="{FF2B5EF4-FFF2-40B4-BE49-F238E27FC236}">
                <a16:creationId xmlns:a16="http://schemas.microsoft.com/office/drawing/2014/main" id="{B854D7F8-561E-2140-9A6B-F2B28851105D}"/>
              </a:ext>
            </a:extLst>
          </p:cNvPr>
          <p:cNvSpPr>
            <a:spLocks noGrp="1"/>
          </p:cNvSpPr>
          <p:nvPr>
            <p:ph type="body" sz="quarter" idx="12"/>
          </p:nvPr>
        </p:nvSpPr>
        <p:spPr>
          <a:xfrm>
            <a:off x="334618" y="1555612"/>
            <a:ext cx="10820400" cy="246221"/>
          </a:xfrm>
        </p:spPr>
        <p:txBody>
          <a:bodyPr/>
          <a:lstStyle/>
          <a:p>
            <a:r>
              <a:rPr lang="en-US" sz="1600" noProof="0">
                <a:latin typeface="Trebuchet MS" panose="020B0603020202020204" pitchFamily="34" charset="0"/>
              </a:rPr>
              <a:t>Process Sigma focuses on ‘output performance’ and ‘defects’ produced by the process. </a:t>
            </a:r>
          </a:p>
        </p:txBody>
      </p:sp>
      <p:sp>
        <p:nvSpPr>
          <p:cNvPr id="8" name="Text Placeholder 7">
            <a:extLst>
              <a:ext uri="{FF2B5EF4-FFF2-40B4-BE49-F238E27FC236}">
                <a16:creationId xmlns:a16="http://schemas.microsoft.com/office/drawing/2014/main" id="{6B5991D7-DA0E-0341-965F-EEB4346A713C}"/>
              </a:ext>
            </a:extLst>
          </p:cNvPr>
          <p:cNvSpPr>
            <a:spLocks noGrp="1"/>
          </p:cNvSpPr>
          <p:nvPr>
            <p:ph type="body" sz="quarter" idx="13"/>
          </p:nvPr>
        </p:nvSpPr>
        <p:spPr>
          <a:xfrm>
            <a:off x="466976" y="2375715"/>
            <a:ext cx="5376251" cy="3031599"/>
          </a:xfrm>
        </p:spPr>
        <p:txBody>
          <a:bodyPr/>
          <a:lstStyle/>
          <a:p>
            <a:r>
              <a:rPr lang="en-US" sz="1600" noProof="0">
                <a:solidFill>
                  <a:srgbClr val="002060"/>
                </a:solidFill>
                <a:latin typeface="Trebuchet MS" panose="020B0603020202020204" pitchFamily="34" charset="0"/>
              </a:rPr>
              <a:t>Capturing a sigma baseline helps us measure how well a process is performing. It can be represented in graph format.</a:t>
            </a:r>
          </a:p>
          <a:p>
            <a:endParaRPr lang="en-US" sz="1600" noProof="0">
              <a:solidFill>
                <a:srgbClr val="002060"/>
              </a:solidFill>
              <a:latin typeface="Trebuchet MS" panose="020B0603020202020204" pitchFamily="34" charset="0"/>
            </a:endParaRPr>
          </a:p>
          <a:p>
            <a:r>
              <a:rPr lang="en-US" sz="1600" noProof="0">
                <a:solidFill>
                  <a:srgbClr val="002060"/>
                </a:solidFill>
                <a:latin typeface="Trebuchet MS" panose="020B0603020202020204" pitchFamily="34" charset="0"/>
              </a:rPr>
              <a:t>It helps us understand:</a:t>
            </a:r>
          </a:p>
          <a:p>
            <a:endParaRPr lang="en-US" sz="5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How consistently the process meets customer requirements.</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How much variation exists in the process.</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How many defects are being produced.</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Where improvement opportunities exist.</a:t>
            </a:r>
          </a:p>
          <a:p>
            <a:pPr marL="285750" indent="-285750">
              <a:buFont typeface="Arial" panose="020B0604020202020204" pitchFamily="34" charset="0"/>
              <a:buChar char="•"/>
            </a:pPr>
            <a:r>
              <a:rPr lang="en-US" sz="1600" noProof="0">
                <a:solidFill>
                  <a:srgbClr val="002060"/>
                </a:solidFill>
                <a:latin typeface="Trebuchet MS" panose="020B0603020202020204" pitchFamily="34" charset="0"/>
              </a:rPr>
              <a:t>Whether changes made to the process are improving performance.</a:t>
            </a:r>
          </a:p>
        </p:txBody>
      </p:sp>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533400" y="381000"/>
            <a:ext cx="8458200" cy="492443"/>
          </a:xfrm>
        </p:spPr>
        <p:txBody>
          <a:bodyPr/>
          <a:lstStyle/>
          <a:p>
            <a:r>
              <a:rPr lang="en-US" sz="3200" noProof="0">
                <a:solidFill>
                  <a:srgbClr val="FFC000"/>
                </a:solidFill>
                <a:latin typeface="Trebuchet MS" panose="020B0603020202020204" pitchFamily="34" charset="0"/>
              </a:rPr>
              <a:t>Capturing Baselines Using Process Sigma</a:t>
            </a:r>
          </a:p>
        </p:txBody>
      </p:sp>
      <p:sp>
        <p:nvSpPr>
          <p:cNvPr id="2" name="AutoShape 2" descr="Six Sigma – Lean Manufacturing and Six Sigma Definitions">
            <a:extLst>
              <a:ext uri="{FF2B5EF4-FFF2-40B4-BE49-F238E27FC236}">
                <a16:creationId xmlns:a16="http://schemas.microsoft.com/office/drawing/2014/main" id="{DD0EE878-AE93-4779-365C-5C2D0E56D289}"/>
              </a:ext>
            </a:extLst>
          </p:cNvPr>
          <p:cNvSpPr>
            <a:spLocks noChangeAspect="1" noChangeArrowheads="1"/>
          </p:cNvSpPr>
          <p:nvPr/>
        </p:nvSpPr>
        <p:spPr bwMode="auto">
          <a:xfrm>
            <a:off x="6024280" y="324429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noProof="0">
              <a:latin typeface="Trebuchet MS" panose="020B0603020202020204" pitchFamily="34" charset="0"/>
            </a:endParaRPr>
          </a:p>
        </p:txBody>
      </p:sp>
      <p:pic>
        <p:nvPicPr>
          <p:cNvPr id="4" name="Picture 3">
            <a:extLst>
              <a:ext uri="{FF2B5EF4-FFF2-40B4-BE49-F238E27FC236}">
                <a16:creationId xmlns:a16="http://schemas.microsoft.com/office/drawing/2014/main" id="{70579F42-7F70-03C5-08D7-9F27F4C1FD55}"/>
              </a:ext>
            </a:extLst>
          </p:cNvPr>
          <p:cNvPicPr>
            <a:picLocks noChangeAspect="1"/>
          </p:cNvPicPr>
          <p:nvPr/>
        </p:nvPicPr>
        <p:blipFill>
          <a:blip r:embed="rId3"/>
          <a:stretch>
            <a:fillRect/>
          </a:stretch>
        </p:blipFill>
        <p:spPr>
          <a:xfrm>
            <a:off x="5843230" y="2819400"/>
            <a:ext cx="5933008" cy="2705849"/>
          </a:xfrm>
          <a:prstGeom prst="rect">
            <a:avLst/>
          </a:prstGeom>
        </p:spPr>
      </p:pic>
      <p:sp>
        <p:nvSpPr>
          <p:cNvPr id="9" name="Rectangle: Rounded Corners 8">
            <a:extLst>
              <a:ext uri="{FF2B5EF4-FFF2-40B4-BE49-F238E27FC236}">
                <a16:creationId xmlns:a16="http://schemas.microsoft.com/office/drawing/2014/main" id="{45161DE9-F71A-48AF-CE44-CA7F0DF82FBC}"/>
              </a:ext>
            </a:extLst>
          </p:cNvPr>
          <p:cNvSpPr/>
          <p:nvPr/>
        </p:nvSpPr>
        <p:spPr>
          <a:xfrm>
            <a:off x="6642188" y="1999412"/>
            <a:ext cx="4335091" cy="609600"/>
          </a:xfrm>
          <a:prstGeom prst="roundRect">
            <a:avLst/>
          </a:prstGeom>
          <a:solidFill>
            <a:srgbClr val="EC008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a:latin typeface="Trebuchet MS" panose="020B0603020202020204" pitchFamily="34" charset="0"/>
              </a:rPr>
              <a:t>How the process performs most of the time.</a:t>
            </a:r>
          </a:p>
        </p:txBody>
      </p:sp>
      <p:cxnSp>
        <p:nvCxnSpPr>
          <p:cNvPr id="11" name="Straight Arrow Connector 10">
            <a:extLst>
              <a:ext uri="{FF2B5EF4-FFF2-40B4-BE49-F238E27FC236}">
                <a16:creationId xmlns:a16="http://schemas.microsoft.com/office/drawing/2014/main" id="{6C2F385B-2CD3-90C0-DC2D-459C401AD34B}"/>
              </a:ext>
            </a:extLst>
          </p:cNvPr>
          <p:cNvCxnSpPr>
            <a:cxnSpLocks/>
            <a:stCxn id="9" idx="2"/>
            <a:endCxn id="4" idx="0"/>
          </p:cNvCxnSpPr>
          <p:nvPr/>
        </p:nvCxnSpPr>
        <p:spPr>
          <a:xfrm>
            <a:off x="8809734" y="2609012"/>
            <a:ext cx="1" cy="210388"/>
          </a:xfrm>
          <a:prstGeom prst="straightConnector1">
            <a:avLst/>
          </a:prstGeom>
          <a:ln>
            <a:solidFill>
              <a:srgbClr val="EC008C"/>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5C148E51-7C86-A5B8-25B5-639287D34252}"/>
              </a:ext>
            </a:extLst>
          </p:cNvPr>
          <p:cNvSpPr/>
          <p:nvPr/>
        </p:nvSpPr>
        <p:spPr>
          <a:xfrm>
            <a:off x="6470728" y="5730594"/>
            <a:ext cx="4678012" cy="690843"/>
          </a:xfrm>
          <a:prstGeom prst="roundRect">
            <a:avLst/>
          </a:prstGeom>
          <a:solidFill>
            <a:srgbClr val="00AF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a:latin typeface="Trebuchet MS" panose="020B0603020202020204" pitchFamily="34" charset="0"/>
              </a:rPr>
              <a:t>Sigma measures how much variation exists around the process average.</a:t>
            </a:r>
          </a:p>
        </p:txBody>
      </p:sp>
      <p:cxnSp>
        <p:nvCxnSpPr>
          <p:cNvPr id="19" name="Straight Arrow Connector 18">
            <a:extLst>
              <a:ext uri="{FF2B5EF4-FFF2-40B4-BE49-F238E27FC236}">
                <a16:creationId xmlns:a16="http://schemas.microsoft.com/office/drawing/2014/main" id="{E9532D06-8668-E8E8-CEBF-BFC85D432F75}"/>
              </a:ext>
            </a:extLst>
          </p:cNvPr>
          <p:cNvCxnSpPr>
            <a:cxnSpLocks/>
            <a:stCxn id="17" idx="0"/>
          </p:cNvCxnSpPr>
          <p:nvPr/>
        </p:nvCxnSpPr>
        <p:spPr>
          <a:xfrm flipV="1">
            <a:off x="8809734" y="5449049"/>
            <a:ext cx="1" cy="281545"/>
          </a:xfrm>
          <a:prstGeom prst="straightConnector1">
            <a:avLst/>
          </a:prstGeom>
          <a:ln>
            <a:solidFill>
              <a:srgbClr val="00AF7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2835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8296FD2F-E92F-0A98-0FD6-876707FA3024}"/>
              </a:ext>
            </a:extLst>
          </p:cNvPr>
          <p:cNvSpPr>
            <a:spLocks noGrp="1"/>
          </p:cNvSpPr>
          <p:nvPr>
            <p:ph type="body" sz="quarter" idx="10"/>
          </p:nvPr>
        </p:nvSpPr>
        <p:spPr>
          <a:xfrm>
            <a:off x="533400" y="219670"/>
            <a:ext cx="8610600" cy="492443"/>
          </a:xfrm>
        </p:spPr>
        <p:txBody>
          <a:bodyPr/>
          <a:lstStyle/>
          <a:p>
            <a:r>
              <a:rPr lang="en-US" sz="3200" noProof="0">
                <a:latin typeface="Trebuchet MS" panose="020B0603020202020204" pitchFamily="34" charset="0"/>
              </a:rPr>
              <a:t>Examples of Sigma Impact</a:t>
            </a:r>
          </a:p>
        </p:txBody>
      </p:sp>
      <p:sp>
        <p:nvSpPr>
          <p:cNvPr id="9" name="TextBox 8">
            <a:extLst>
              <a:ext uri="{FF2B5EF4-FFF2-40B4-BE49-F238E27FC236}">
                <a16:creationId xmlns:a16="http://schemas.microsoft.com/office/drawing/2014/main" id="{41C834B0-7D62-0C52-3AB1-9AA8BD9234D3}"/>
              </a:ext>
            </a:extLst>
          </p:cNvPr>
          <p:cNvSpPr txBox="1"/>
          <p:nvPr/>
        </p:nvSpPr>
        <p:spPr>
          <a:xfrm>
            <a:off x="5105400" y="2123143"/>
            <a:ext cx="2133600" cy="3600986"/>
          </a:xfrm>
          <a:prstGeom prst="rect">
            <a:avLst/>
          </a:prstGeom>
          <a:solidFill>
            <a:srgbClr val="7030A0"/>
          </a:solidFill>
        </p:spPr>
        <p:txBody>
          <a:bodyPr wrap="square">
            <a:spAutoFit/>
          </a:bodyPr>
          <a:lstStyle/>
          <a:p>
            <a:pPr algn="ctr" fontAlgn="t"/>
            <a:endParaRPr lang="en-US" sz="1400" b="1" noProof="0">
              <a:solidFill>
                <a:schemeClr val="bg1"/>
              </a:solidFill>
              <a:latin typeface="Trebuchet MS" panose="020B0603020202020204" pitchFamily="34" charset="0"/>
            </a:endParaRPr>
          </a:p>
          <a:p>
            <a:pPr algn="ctr" fontAlgn="t"/>
            <a:r>
              <a:rPr lang="en-US" sz="1600" b="1" noProof="0">
                <a:solidFill>
                  <a:schemeClr val="bg1"/>
                </a:solidFill>
                <a:latin typeface="Trebuchet MS" panose="020B0603020202020204" pitchFamily="34" charset="0"/>
              </a:rPr>
              <a:t>Occupational </a:t>
            </a:r>
          </a:p>
          <a:p>
            <a:pPr algn="ctr" fontAlgn="t"/>
            <a:r>
              <a:rPr lang="en-US" sz="1600" b="1" noProof="0">
                <a:solidFill>
                  <a:schemeClr val="bg1"/>
                </a:solidFill>
                <a:latin typeface="Trebuchet MS" panose="020B0603020202020204" pitchFamily="34" charset="0"/>
              </a:rPr>
              <a:t>Health</a:t>
            </a:r>
          </a:p>
          <a:p>
            <a:pPr fontAlgn="t"/>
            <a:endParaRPr lang="en-US" sz="1400" b="1" noProof="0">
              <a:solidFill>
                <a:schemeClr val="bg1"/>
              </a:solidFill>
              <a:latin typeface="Trebuchet MS" panose="020B0603020202020204" pitchFamily="34" charset="0"/>
            </a:endParaRP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Occupational health appointment scheduled incorrectly.</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Medical information missing or recorded inaccurately.</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Return-to-work recommendations not communicated to the manager.</a:t>
            </a:r>
          </a:p>
          <a:p>
            <a:pPr fontAlgn="t"/>
            <a:endParaRPr lang="en-US" sz="1400" noProof="0">
              <a:solidFill>
                <a:schemeClr val="bg1"/>
              </a:solidFill>
              <a:latin typeface="Trebuchet MS" panose="020B0603020202020204" pitchFamily="34" charset="0"/>
            </a:endParaRPr>
          </a:p>
        </p:txBody>
      </p:sp>
      <p:sp>
        <p:nvSpPr>
          <p:cNvPr id="10" name="TextBox 9">
            <a:extLst>
              <a:ext uri="{FF2B5EF4-FFF2-40B4-BE49-F238E27FC236}">
                <a16:creationId xmlns:a16="http://schemas.microsoft.com/office/drawing/2014/main" id="{C2823055-AB99-23BA-B037-303BB54E5B8E}"/>
              </a:ext>
            </a:extLst>
          </p:cNvPr>
          <p:cNvSpPr txBox="1"/>
          <p:nvPr/>
        </p:nvSpPr>
        <p:spPr>
          <a:xfrm>
            <a:off x="2796216" y="2133600"/>
            <a:ext cx="2133600" cy="3600986"/>
          </a:xfrm>
          <a:prstGeom prst="rect">
            <a:avLst/>
          </a:prstGeom>
          <a:solidFill>
            <a:srgbClr val="24408D"/>
          </a:solidFill>
        </p:spPr>
        <p:txBody>
          <a:bodyPr wrap="square">
            <a:spAutoFit/>
          </a:bodyPr>
          <a:lstStyle/>
          <a:p>
            <a:pPr algn="ctr" fontAlgn="t"/>
            <a:endParaRPr lang="en-US" sz="1400" b="1" noProof="0">
              <a:solidFill>
                <a:schemeClr val="bg1"/>
              </a:solidFill>
              <a:latin typeface="Trebuchet MS" panose="020B0603020202020204" pitchFamily="34" charset="0"/>
            </a:endParaRPr>
          </a:p>
          <a:p>
            <a:pPr algn="ctr" fontAlgn="t"/>
            <a:r>
              <a:rPr lang="en-US" sz="1600" b="1" noProof="0">
                <a:solidFill>
                  <a:schemeClr val="bg1"/>
                </a:solidFill>
                <a:latin typeface="Trebuchet MS" panose="020B0603020202020204" pitchFamily="34" charset="0"/>
              </a:rPr>
              <a:t>Housing </a:t>
            </a:r>
          </a:p>
          <a:p>
            <a:pPr algn="ctr" fontAlgn="t"/>
            <a:r>
              <a:rPr lang="en-US" sz="1600" b="1" noProof="0">
                <a:solidFill>
                  <a:schemeClr val="bg1"/>
                </a:solidFill>
                <a:latin typeface="Trebuchet MS" panose="020B0603020202020204" pitchFamily="34" charset="0"/>
              </a:rPr>
              <a:t>Services</a:t>
            </a:r>
          </a:p>
          <a:p>
            <a:pPr fontAlgn="t"/>
            <a:endParaRPr lang="en-US" sz="1400" b="1" noProof="0">
              <a:solidFill>
                <a:schemeClr val="bg1"/>
              </a:solidFill>
              <a:latin typeface="Trebuchet MS" panose="020B0603020202020204" pitchFamily="34" charset="0"/>
            </a:endParaRP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Supporting evidence missing or incomplete.</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Housing application assessed incorrectly.</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Housing decision not communicated within target timescales.</a:t>
            </a: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p:txBody>
      </p:sp>
      <p:sp>
        <p:nvSpPr>
          <p:cNvPr id="11" name="TextBox 10">
            <a:extLst>
              <a:ext uri="{FF2B5EF4-FFF2-40B4-BE49-F238E27FC236}">
                <a16:creationId xmlns:a16="http://schemas.microsoft.com/office/drawing/2014/main" id="{0597708C-07F8-A277-1E88-B72B1F60066F}"/>
              </a:ext>
            </a:extLst>
          </p:cNvPr>
          <p:cNvSpPr txBox="1"/>
          <p:nvPr/>
        </p:nvSpPr>
        <p:spPr>
          <a:xfrm>
            <a:off x="7388106" y="2133600"/>
            <a:ext cx="2232996" cy="3600986"/>
          </a:xfrm>
          <a:prstGeom prst="rect">
            <a:avLst/>
          </a:prstGeom>
          <a:solidFill>
            <a:srgbClr val="00AF74"/>
          </a:solidFill>
        </p:spPr>
        <p:txBody>
          <a:bodyPr wrap="square">
            <a:spAutoFit/>
          </a:bodyPr>
          <a:lstStyle/>
          <a:p>
            <a:pPr algn="ctr" fontAlgn="t"/>
            <a:endParaRPr lang="en-US" sz="1400" b="1" noProof="0">
              <a:solidFill>
                <a:schemeClr val="bg1"/>
              </a:solidFill>
              <a:latin typeface="Trebuchet MS" panose="020B0603020202020204" pitchFamily="34" charset="0"/>
            </a:endParaRPr>
          </a:p>
          <a:p>
            <a:pPr algn="ctr" fontAlgn="t"/>
            <a:r>
              <a:rPr lang="en-US" sz="1600" b="1" noProof="0">
                <a:solidFill>
                  <a:schemeClr val="bg1"/>
                </a:solidFill>
                <a:latin typeface="Trebuchet MS" panose="020B0603020202020204" pitchFamily="34" charset="0"/>
              </a:rPr>
              <a:t>Child Care </a:t>
            </a:r>
          </a:p>
          <a:p>
            <a:pPr algn="ctr" fontAlgn="t"/>
            <a:r>
              <a:rPr lang="en-US" sz="1600" b="1" noProof="0">
                <a:solidFill>
                  <a:schemeClr val="bg1"/>
                </a:solidFill>
                <a:latin typeface="Trebuchet MS" panose="020B0603020202020204" pitchFamily="34" charset="0"/>
              </a:rPr>
              <a:t>Services</a:t>
            </a:r>
          </a:p>
          <a:p>
            <a:pPr fontAlgn="t"/>
            <a:endParaRPr lang="en-US" sz="1400" b="1" noProof="0">
              <a:solidFill>
                <a:schemeClr val="bg1"/>
              </a:solidFill>
              <a:latin typeface="Trebuchet MS" panose="020B0603020202020204" pitchFamily="34" charset="0"/>
            </a:endParaRP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Child placement information recorded incorrectly.</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Required safeguarding documentation missing.</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Care plan review not completed on time.</a:t>
            </a: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p:txBody>
      </p:sp>
      <p:sp>
        <p:nvSpPr>
          <p:cNvPr id="12" name="TextBox 11">
            <a:extLst>
              <a:ext uri="{FF2B5EF4-FFF2-40B4-BE49-F238E27FC236}">
                <a16:creationId xmlns:a16="http://schemas.microsoft.com/office/drawing/2014/main" id="{25840A2D-05E7-7033-DCF1-6112436A38EB}"/>
              </a:ext>
            </a:extLst>
          </p:cNvPr>
          <p:cNvSpPr txBox="1"/>
          <p:nvPr/>
        </p:nvSpPr>
        <p:spPr>
          <a:xfrm>
            <a:off x="453918" y="2133600"/>
            <a:ext cx="2133600" cy="3600986"/>
          </a:xfrm>
          <a:prstGeom prst="rect">
            <a:avLst/>
          </a:prstGeom>
          <a:solidFill>
            <a:srgbClr val="27AAE1"/>
          </a:solidFill>
        </p:spPr>
        <p:txBody>
          <a:bodyPr wrap="square">
            <a:spAutoFit/>
          </a:bodyPr>
          <a:lstStyle/>
          <a:p>
            <a:pPr algn="ctr" fontAlgn="t"/>
            <a:endParaRPr lang="en-US" sz="1400" b="1" noProof="0">
              <a:solidFill>
                <a:schemeClr val="bg1"/>
              </a:solidFill>
              <a:latin typeface="Trebuchet MS" panose="020B0603020202020204" pitchFamily="34" charset="0"/>
            </a:endParaRPr>
          </a:p>
          <a:p>
            <a:pPr algn="ctr" fontAlgn="t"/>
            <a:r>
              <a:rPr lang="en-US" sz="1600" b="1" noProof="0">
                <a:solidFill>
                  <a:schemeClr val="bg1"/>
                </a:solidFill>
                <a:latin typeface="Trebuchet MS" panose="020B0603020202020204" pitchFamily="34" charset="0"/>
              </a:rPr>
              <a:t>Employment Services</a:t>
            </a:r>
          </a:p>
          <a:p>
            <a:pPr algn="ctr" fontAlgn="t"/>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Job seeker assessment not completed.</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Incorrect training or support program assigned.</a:t>
            </a:r>
          </a:p>
          <a:p>
            <a:pPr marL="285750" indent="-285750" fontAlgn="t">
              <a:buFont typeface="Arial" panose="020B0604020202020204" pitchFamily="34" charset="0"/>
              <a:buChar char="•"/>
            </a:pPr>
            <a:r>
              <a:rPr lang="en-US" sz="1400" noProof="0">
                <a:solidFill>
                  <a:schemeClr val="bg1"/>
                </a:solidFill>
                <a:latin typeface="Trebuchet MS" panose="020B0603020202020204" pitchFamily="34" charset="0"/>
              </a:rPr>
              <a:t>Employer referral not submitted on time.</a:t>
            </a: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a:p>
            <a:pPr marL="285750" indent="-285750" fontAlgn="t">
              <a:buFont typeface="Arial" panose="020B0604020202020204" pitchFamily="34" charset="0"/>
              <a:buChar char="•"/>
            </a:pPr>
            <a:endParaRPr lang="en-US" sz="1400" noProof="0">
              <a:solidFill>
                <a:schemeClr val="bg1"/>
              </a:solidFill>
              <a:latin typeface="Trebuchet MS" panose="020B0603020202020204" pitchFamily="34" charset="0"/>
            </a:endParaRPr>
          </a:p>
        </p:txBody>
      </p:sp>
      <p:sp>
        <p:nvSpPr>
          <p:cNvPr id="15" name="TextBox 14">
            <a:extLst>
              <a:ext uri="{FF2B5EF4-FFF2-40B4-BE49-F238E27FC236}">
                <a16:creationId xmlns:a16="http://schemas.microsoft.com/office/drawing/2014/main" id="{42B532EA-BA49-19DF-86AB-18F4E93D53D5}"/>
              </a:ext>
            </a:extLst>
          </p:cNvPr>
          <p:cNvSpPr txBox="1"/>
          <p:nvPr/>
        </p:nvSpPr>
        <p:spPr>
          <a:xfrm>
            <a:off x="9753600" y="2133600"/>
            <a:ext cx="2133600" cy="3600986"/>
          </a:xfrm>
          <a:prstGeom prst="rect">
            <a:avLst/>
          </a:prstGeom>
          <a:solidFill>
            <a:srgbClr val="EC008C"/>
          </a:solidFill>
        </p:spPr>
        <p:txBody>
          <a:bodyPr wrap="square">
            <a:spAutoFit/>
          </a:bodyPr>
          <a:lstStyle>
            <a:defPPr>
              <a:defRPr lang="en-US"/>
            </a:defPPr>
            <a:lvl1pPr algn="ctr" fontAlgn="t">
              <a:defRPr sz="1600" b="1">
                <a:solidFill>
                  <a:schemeClr val="bg1"/>
                </a:solidFill>
                <a:latin typeface="Trebuchet MS" panose="020B0603020202020204" pitchFamily="34" charset="0"/>
              </a:defRPr>
            </a:lvl1pPr>
          </a:lstStyle>
          <a:p>
            <a:endParaRPr lang="en-US" sz="1400" noProof="0"/>
          </a:p>
          <a:p>
            <a:r>
              <a:rPr lang="en-US" noProof="0"/>
              <a:t>Shared </a:t>
            </a:r>
          </a:p>
          <a:p>
            <a:r>
              <a:rPr lang="en-US" noProof="0"/>
              <a:t>Services</a:t>
            </a:r>
          </a:p>
          <a:p>
            <a:endParaRPr lang="en-US" sz="1400" noProof="0"/>
          </a:p>
          <a:p>
            <a:pPr marL="285750" indent="-285750" algn="l">
              <a:buFont typeface="Arial" panose="020B0604020202020204" pitchFamily="34" charset="0"/>
              <a:buChar char="•"/>
            </a:pPr>
            <a:r>
              <a:rPr lang="en-US" sz="1400" b="0" noProof="0"/>
              <a:t>Employee case routed to the wrong team.</a:t>
            </a:r>
          </a:p>
          <a:p>
            <a:pPr marL="285750" indent="-285750" algn="l">
              <a:buFont typeface="Arial" panose="020B0604020202020204" pitchFamily="34" charset="0"/>
              <a:buChar char="•"/>
            </a:pPr>
            <a:r>
              <a:rPr lang="en-US" sz="1400" b="0" noProof="0"/>
              <a:t>Employee request not resolved within service level timescale.</a:t>
            </a:r>
          </a:p>
          <a:p>
            <a:pPr marL="285750" indent="-285750" algn="l">
              <a:buFont typeface="Arial" panose="020B0604020202020204" pitchFamily="34" charset="0"/>
              <a:buChar char="•"/>
            </a:pPr>
            <a:r>
              <a:rPr lang="en-US" sz="1400" b="0" noProof="0"/>
              <a:t>Employee record updated incorrectly.</a:t>
            </a:r>
          </a:p>
          <a:p>
            <a:pPr marL="285750" indent="-285750" algn="l">
              <a:buFont typeface="Arial" panose="020B0604020202020204" pitchFamily="34" charset="0"/>
              <a:buChar char="•"/>
            </a:pPr>
            <a:endParaRPr lang="en-US" sz="1400" b="0" noProof="0"/>
          </a:p>
          <a:p>
            <a:pPr marL="285750" indent="-285750" algn="l">
              <a:buFont typeface="Arial" panose="020B0604020202020204" pitchFamily="34" charset="0"/>
              <a:buChar char="•"/>
            </a:pPr>
            <a:endParaRPr lang="en-US" sz="1400" b="0" noProof="0"/>
          </a:p>
          <a:p>
            <a:pPr marL="285750" indent="-285750" algn="l">
              <a:buFont typeface="Arial" panose="020B0604020202020204" pitchFamily="34" charset="0"/>
              <a:buChar char="•"/>
            </a:pPr>
            <a:endParaRPr lang="en-US" sz="1400" b="0" noProof="0"/>
          </a:p>
        </p:txBody>
      </p:sp>
      <p:sp>
        <p:nvSpPr>
          <p:cNvPr id="17" name="TextBox 16">
            <a:extLst>
              <a:ext uri="{FF2B5EF4-FFF2-40B4-BE49-F238E27FC236}">
                <a16:creationId xmlns:a16="http://schemas.microsoft.com/office/drawing/2014/main" id="{AFAEFD4B-0A72-ECE6-A1E9-8CC587D80776}"/>
              </a:ext>
            </a:extLst>
          </p:cNvPr>
          <p:cNvSpPr txBox="1"/>
          <p:nvPr/>
        </p:nvSpPr>
        <p:spPr>
          <a:xfrm>
            <a:off x="365926" y="1457771"/>
            <a:ext cx="10923104" cy="338554"/>
          </a:xfrm>
          <a:prstGeom prst="rect">
            <a:avLst/>
          </a:prstGeom>
          <a:noFill/>
        </p:spPr>
        <p:txBody>
          <a:bodyPr wrap="square">
            <a:spAutoFit/>
          </a:bodyPr>
          <a:lstStyle/>
          <a:p>
            <a:r>
              <a:rPr lang="en-US" sz="1600" noProof="0">
                <a:solidFill>
                  <a:srgbClr val="24408D"/>
                </a:solidFill>
                <a:latin typeface="Trebuchet MS" panose="020B0603020202020204" pitchFamily="34" charset="0"/>
              </a:rPr>
              <a:t>These defects represent examples of customer-impacting errors that Process Sigma can measure. </a:t>
            </a:r>
          </a:p>
        </p:txBody>
      </p:sp>
      <p:sp>
        <p:nvSpPr>
          <p:cNvPr id="18" name="Flowchart: Connector 17">
            <a:extLst>
              <a:ext uri="{FF2B5EF4-FFF2-40B4-BE49-F238E27FC236}">
                <a16:creationId xmlns:a16="http://schemas.microsoft.com/office/drawing/2014/main" id="{F04337A0-60CC-5D73-C3CD-BF926B029D88}"/>
              </a:ext>
            </a:extLst>
          </p:cNvPr>
          <p:cNvSpPr/>
          <p:nvPr/>
        </p:nvSpPr>
        <p:spPr>
          <a:xfrm>
            <a:off x="326201" y="1824459"/>
            <a:ext cx="540000" cy="540000"/>
          </a:xfrm>
          <a:prstGeom prst="flowChartConnector">
            <a:avLst/>
          </a:prstGeom>
          <a:solidFill>
            <a:srgbClr val="27AAE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Flowchart: Connector 18">
            <a:extLst>
              <a:ext uri="{FF2B5EF4-FFF2-40B4-BE49-F238E27FC236}">
                <a16:creationId xmlns:a16="http://schemas.microsoft.com/office/drawing/2014/main" id="{D5AFB116-3100-714E-62F3-8042C16A66CB}"/>
              </a:ext>
            </a:extLst>
          </p:cNvPr>
          <p:cNvSpPr/>
          <p:nvPr/>
        </p:nvSpPr>
        <p:spPr>
          <a:xfrm>
            <a:off x="2640661" y="1824459"/>
            <a:ext cx="540000" cy="540000"/>
          </a:xfrm>
          <a:prstGeom prst="flowChartConnector">
            <a:avLst/>
          </a:prstGeom>
          <a:solidFill>
            <a:srgbClr val="24408D"/>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0" name="Flowchart: Connector 19">
            <a:extLst>
              <a:ext uri="{FF2B5EF4-FFF2-40B4-BE49-F238E27FC236}">
                <a16:creationId xmlns:a16="http://schemas.microsoft.com/office/drawing/2014/main" id="{1DDC39D2-CE2D-E6F9-B485-5C0C9ECD697B}"/>
              </a:ext>
            </a:extLst>
          </p:cNvPr>
          <p:cNvSpPr/>
          <p:nvPr/>
        </p:nvSpPr>
        <p:spPr>
          <a:xfrm>
            <a:off x="4946400" y="1808060"/>
            <a:ext cx="540000" cy="540000"/>
          </a:xfrm>
          <a:prstGeom prst="flowChartConnector">
            <a:avLst/>
          </a:prstGeom>
          <a:solidFill>
            <a:srgbClr val="7030A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1" name="Flowchart: Connector 20">
            <a:extLst>
              <a:ext uri="{FF2B5EF4-FFF2-40B4-BE49-F238E27FC236}">
                <a16:creationId xmlns:a16="http://schemas.microsoft.com/office/drawing/2014/main" id="{2C5870DC-B86F-9C7B-31AD-C60933A6D3EC}"/>
              </a:ext>
            </a:extLst>
          </p:cNvPr>
          <p:cNvSpPr/>
          <p:nvPr/>
        </p:nvSpPr>
        <p:spPr>
          <a:xfrm>
            <a:off x="7260860" y="1809275"/>
            <a:ext cx="540000" cy="540000"/>
          </a:xfrm>
          <a:prstGeom prst="flowChartConnector">
            <a:avLst/>
          </a:prstGeom>
          <a:solidFill>
            <a:srgbClr val="00AF74"/>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2" name="Flowchart: Connector 21">
            <a:extLst>
              <a:ext uri="{FF2B5EF4-FFF2-40B4-BE49-F238E27FC236}">
                <a16:creationId xmlns:a16="http://schemas.microsoft.com/office/drawing/2014/main" id="{FCFABA9A-6A77-AD9F-4561-4CF28F7F0211}"/>
              </a:ext>
            </a:extLst>
          </p:cNvPr>
          <p:cNvSpPr/>
          <p:nvPr/>
        </p:nvSpPr>
        <p:spPr>
          <a:xfrm>
            <a:off x="9640992" y="1827675"/>
            <a:ext cx="540000" cy="540000"/>
          </a:xfrm>
          <a:prstGeom prst="flowChartConnector">
            <a:avLst/>
          </a:prstGeom>
          <a:solidFill>
            <a:srgbClr val="EC008C"/>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24" name="Graphic 23" descr="Stuffed Toy outline">
            <a:extLst>
              <a:ext uri="{FF2B5EF4-FFF2-40B4-BE49-F238E27FC236}">
                <a16:creationId xmlns:a16="http://schemas.microsoft.com/office/drawing/2014/main" id="{85F9005F-414C-CE7E-041F-6C586554B8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24426" y="1872841"/>
            <a:ext cx="412867" cy="412867"/>
          </a:xfrm>
          <a:prstGeom prst="rect">
            <a:avLst/>
          </a:prstGeom>
        </p:spPr>
      </p:pic>
      <p:pic>
        <p:nvPicPr>
          <p:cNvPr id="26" name="Graphic 25" descr="Stethoscope outline">
            <a:extLst>
              <a:ext uri="{FF2B5EF4-FFF2-40B4-BE49-F238E27FC236}">
                <a16:creationId xmlns:a16="http://schemas.microsoft.com/office/drawing/2014/main" id="{5881BEA8-B215-F8BD-5A3B-4895C20E88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55713" y="1906251"/>
            <a:ext cx="354450" cy="354450"/>
          </a:xfrm>
          <a:prstGeom prst="rect">
            <a:avLst/>
          </a:prstGeom>
        </p:spPr>
      </p:pic>
      <p:pic>
        <p:nvPicPr>
          <p:cNvPr id="28" name="Graphic 27" descr="House outline">
            <a:extLst>
              <a:ext uri="{FF2B5EF4-FFF2-40B4-BE49-F238E27FC236}">
                <a16:creationId xmlns:a16="http://schemas.microsoft.com/office/drawing/2014/main" id="{213621CF-33AF-356E-FF4A-46CE1FAE2A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83726" y="1832236"/>
            <a:ext cx="449205" cy="449205"/>
          </a:xfrm>
          <a:prstGeom prst="rect">
            <a:avLst/>
          </a:prstGeom>
        </p:spPr>
      </p:pic>
      <p:pic>
        <p:nvPicPr>
          <p:cNvPr id="30" name="Graphic 29" descr="Single gear outline">
            <a:extLst>
              <a:ext uri="{FF2B5EF4-FFF2-40B4-BE49-F238E27FC236}">
                <a16:creationId xmlns:a16="http://schemas.microsoft.com/office/drawing/2014/main" id="{DAA32885-AD52-0E52-CDCB-40CF5AA0DE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28258" y="1916272"/>
            <a:ext cx="362805" cy="362805"/>
          </a:xfrm>
          <a:prstGeom prst="rect">
            <a:avLst/>
          </a:prstGeom>
        </p:spPr>
      </p:pic>
      <p:pic>
        <p:nvPicPr>
          <p:cNvPr id="32" name="Graphic 31" descr="Work from home desk outline">
            <a:extLst>
              <a:ext uri="{FF2B5EF4-FFF2-40B4-BE49-F238E27FC236}">
                <a16:creationId xmlns:a16="http://schemas.microsoft.com/office/drawing/2014/main" id="{878854EA-6E3F-95AE-784E-6012032120B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5926" y="1870041"/>
            <a:ext cx="448836" cy="448836"/>
          </a:xfrm>
          <a:prstGeom prst="rect">
            <a:avLst/>
          </a:prstGeom>
        </p:spPr>
      </p:pic>
      <p:sp>
        <p:nvSpPr>
          <p:cNvPr id="33" name="TextBox 32">
            <a:extLst>
              <a:ext uri="{FF2B5EF4-FFF2-40B4-BE49-F238E27FC236}">
                <a16:creationId xmlns:a16="http://schemas.microsoft.com/office/drawing/2014/main" id="{4D491D2F-F910-C014-27DD-BFCC29093E19}"/>
              </a:ext>
            </a:extLst>
          </p:cNvPr>
          <p:cNvSpPr txBox="1"/>
          <p:nvPr/>
        </p:nvSpPr>
        <p:spPr>
          <a:xfrm>
            <a:off x="2718414" y="6089695"/>
            <a:ext cx="7348330" cy="369332"/>
          </a:xfrm>
          <a:prstGeom prst="rect">
            <a:avLst/>
          </a:prstGeom>
          <a:solidFill>
            <a:srgbClr val="27AAE1"/>
          </a:solidFill>
        </p:spPr>
        <p:txBody>
          <a:bodyPr wrap="square" rtlCol="0">
            <a:spAutoFit/>
          </a:bodyPr>
          <a:lstStyle/>
          <a:p>
            <a:pPr algn="ctr"/>
            <a:r>
              <a:rPr lang="en-US" b="1" noProof="0">
                <a:solidFill>
                  <a:schemeClr val="bg1"/>
                </a:solidFill>
              </a:rPr>
              <a:t>Each of these defects moves us further away from the perfect process.</a:t>
            </a:r>
          </a:p>
        </p:txBody>
      </p:sp>
    </p:spTree>
    <p:extLst>
      <p:ext uri="{BB962C8B-B14F-4D97-AF65-F5344CB8AC3E}">
        <p14:creationId xmlns:p14="http://schemas.microsoft.com/office/powerpoint/2010/main" val="2738757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 Placeholder 6">
            <a:extLst>
              <a:ext uri="{FF2B5EF4-FFF2-40B4-BE49-F238E27FC236}">
                <a16:creationId xmlns:a16="http://schemas.microsoft.com/office/drawing/2014/main" id="{B854D7F8-561E-2140-9A6B-F2B28851105D}"/>
              </a:ext>
            </a:extLst>
          </p:cNvPr>
          <p:cNvSpPr>
            <a:spLocks noGrp="1"/>
          </p:cNvSpPr>
          <p:nvPr>
            <p:ph type="body" sz="quarter" idx="12"/>
          </p:nvPr>
        </p:nvSpPr>
        <p:spPr>
          <a:xfrm>
            <a:off x="304800" y="1488829"/>
            <a:ext cx="10820400" cy="276999"/>
          </a:xfrm>
        </p:spPr>
        <p:txBody>
          <a:bodyPr/>
          <a:lstStyle/>
          <a:p>
            <a:r>
              <a:rPr lang="en-US" sz="1800" noProof="0">
                <a:latin typeface="Trebuchet MS" panose="020B0603020202020204" pitchFamily="34" charset="0"/>
              </a:rPr>
              <a:t>The sigma table below is used to convert DPMO data into Sigma Value:</a:t>
            </a:r>
          </a:p>
        </p:txBody>
      </p:sp>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533400" y="381000"/>
            <a:ext cx="8458200" cy="492443"/>
          </a:xfrm>
        </p:spPr>
        <p:txBody>
          <a:bodyPr/>
          <a:lstStyle/>
          <a:p>
            <a:r>
              <a:rPr lang="en-US" sz="3200" noProof="0">
                <a:solidFill>
                  <a:srgbClr val="FFC000"/>
                </a:solidFill>
                <a:latin typeface="Trebuchet MS" panose="020B0603020202020204" pitchFamily="34" charset="0"/>
              </a:rPr>
              <a:t>Process Sigma Table</a:t>
            </a:r>
          </a:p>
        </p:txBody>
      </p:sp>
      <p:pic>
        <p:nvPicPr>
          <p:cNvPr id="4" name="Picture 3">
            <a:extLst>
              <a:ext uri="{FF2B5EF4-FFF2-40B4-BE49-F238E27FC236}">
                <a16:creationId xmlns:a16="http://schemas.microsoft.com/office/drawing/2014/main" id="{D01E3B10-648F-63FF-8C16-2C245E6A7F66}"/>
              </a:ext>
            </a:extLst>
          </p:cNvPr>
          <p:cNvPicPr>
            <a:picLocks noChangeAspect="1"/>
          </p:cNvPicPr>
          <p:nvPr/>
        </p:nvPicPr>
        <p:blipFill>
          <a:blip r:embed="rId3"/>
          <a:stretch>
            <a:fillRect/>
          </a:stretch>
        </p:blipFill>
        <p:spPr>
          <a:xfrm>
            <a:off x="179397" y="1761046"/>
            <a:ext cx="7986452" cy="4407790"/>
          </a:xfrm>
          <a:prstGeom prst="rect">
            <a:avLst/>
          </a:prstGeom>
        </p:spPr>
      </p:pic>
      <p:sp>
        <p:nvSpPr>
          <p:cNvPr id="11" name="Rectangle 10">
            <a:extLst>
              <a:ext uri="{FF2B5EF4-FFF2-40B4-BE49-F238E27FC236}">
                <a16:creationId xmlns:a16="http://schemas.microsoft.com/office/drawing/2014/main" id="{70E9DC96-F111-7891-EE3E-EAA60F7BB93E}"/>
              </a:ext>
            </a:extLst>
          </p:cNvPr>
          <p:cNvSpPr/>
          <p:nvPr/>
        </p:nvSpPr>
        <p:spPr>
          <a:xfrm>
            <a:off x="8331009" y="1610139"/>
            <a:ext cx="3456432" cy="4876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noProof="0">
                <a:solidFill>
                  <a:schemeClr val="tx2"/>
                </a:solidFill>
                <a:latin typeface="Trebuchet MS" panose="020B0603020202020204" pitchFamily="34" charset="0"/>
                <a:cs typeface="Arial" panose="020B0604020202020204" pitchFamily="34" charset="0"/>
              </a:rPr>
              <a:t>Example Sigma Value conversion:</a:t>
            </a:r>
          </a:p>
          <a:p>
            <a:endParaRPr lang="en-US" noProof="0">
              <a:solidFill>
                <a:schemeClr val="tx2"/>
              </a:solidFill>
              <a:latin typeface="Trebuchet MS" panose="020B0603020202020204" pitchFamily="34" charset="0"/>
              <a:cs typeface="Arial" panose="020B0604020202020204" pitchFamily="34" charset="0"/>
            </a:endParaRPr>
          </a:p>
          <a:p>
            <a:r>
              <a:rPr lang="en-US" noProof="0">
                <a:solidFill>
                  <a:schemeClr val="tx2"/>
                </a:solidFill>
                <a:latin typeface="Trebuchet MS" panose="020B0603020202020204" pitchFamily="34" charset="0"/>
                <a:cs typeface="Arial" panose="020B0604020202020204" pitchFamily="34" charset="0"/>
              </a:rPr>
              <a:t>Number of units: 100</a:t>
            </a:r>
          </a:p>
          <a:p>
            <a:r>
              <a:rPr lang="en-US" noProof="0">
                <a:solidFill>
                  <a:schemeClr val="tx2"/>
                </a:solidFill>
                <a:latin typeface="Trebuchet MS" panose="020B0603020202020204" pitchFamily="34" charset="0"/>
                <a:cs typeface="Arial" panose="020B0604020202020204" pitchFamily="34" charset="0"/>
              </a:rPr>
              <a:t>Opportunities per unit: 5</a:t>
            </a:r>
          </a:p>
          <a:p>
            <a:r>
              <a:rPr lang="en-US" noProof="0">
                <a:solidFill>
                  <a:schemeClr val="tx2"/>
                </a:solidFill>
                <a:latin typeface="Trebuchet MS" panose="020B0603020202020204" pitchFamily="34" charset="0"/>
                <a:cs typeface="Arial" panose="020B0604020202020204" pitchFamily="34" charset="0"/>
              </a:rPr>
              <a:t>Total number of defects: 7</a:t>
            </a:r>
          </a:p>
          <a:p>
            <a:endParaRPr lang="en-US" noProof="0">
              <a:solidFill>
                <a:schemeClr val="tx2"/>
              </a:solidFill>
              <a:latin typeface="Trebuchet MS" panose="020B0603020202020204" pitchFamily="34" charset="0"/>
              <a:cs typeface="Arial" panose="020B0604020202020204" pitchFamily="34" charset="0"/>
            </a:endParaRPr>
          </a:p>
          <a:p>
            <a:r>
              <a:rPr lang="en-US" b="1" noProof="0">
                <a:solidFill>
                  <a:schemeClr val="tx2"/>
                </a:solidFill>
                <a:latin typeface="Trebuchet MS" panose="020B0603020202020204" pitchFamily="34" charset="0"/>
                <a:cs typeface="Arial" panose="020B0604020202020204" pitchFamily="34" charset="0"/>
              </a:rPr>
              <a:t>DPU</a:t>
            </a:r>
            <a:r>
              <a:rPr lang="en-US" noProof="0">
                <a:solidFill>
                  <a:schemeClr val="tx2"/>
                </a:solidFill>
                <a:latin typeface="Trebuchet MS" panose="020B0603020202020204" pitchFamily="34" charset="0"/>
                <a:cs typeface="Arial" panose="020B0604020202020204" pitchFamily="34" charset="0"/>
              </a:rPr>
              <a:t> = 7/100 = 0.07</a:t>
            </a:r>
          </a:p>
          <a:p>
            <a:r>
              <a:rPr lang="en-US" b="1" noProof="0">
                <a:solidFill>
                  <a:schemeClr val="tx2"/>
                </a:solidFill>
                <a:latin typeface="Trebuchet MS" panose="020B0603020202020204" pitchFamily="34" charset="0"/>
                <a:cs typeface="Arial" panose="020B0604020202020204" pitchFamily="34" charset="0"/>
              </a:rPr>
              <a:t>DPMO = </a:t>
            </a:r>
            <a:r>
              <a:rPr lang="en-US" noProof="0">
                <a:solidFill>
                  <a:schemeClr val="tx2"/>
                </a:solidFill>
                <a:latin typeface="Trebuchet MS" panose="020B0603020202020204" pitchFamily="34" charset="0"/>
                <a:cs typeface="Arial" panose="020B0604020202020204" pitchFamily="34" charset="0"/>
              </a:rPr>
              <a:t>0.07/5 X 1,000,000 = 14000</a:t>
            </a:r>
          </a:p>
          <a:p>
            <a:endParaRPr lang="en-US" noProof="0">
              <a:solidFill>
                <a:schemeClr val="tx2"/>
              </a:solidFill>
              <a:latin typeface="Trebuchet MS" panose="020B0603020202020204" pitchFamily="34" charset="0"/>
              <a:cs typeface="Arial" panose="020B0604020202020204" pitchFamily="34" charset="0"/>
            </a:endParaRPr>
          </a:p>
          <a:p>
            <a:r>
              <a:rPr lang="en-US" b="1" noProof="0">
                <a:solidFill>
                  <a:schemeClr val="tx2"/>
                </a:solidFill>
                <a:latin typeface="Trebuchet MS" panose="020B0603020202020204" pitchFamily="34" charset="0"/>
                <a:cs typeface="Arial" panose="020B0604020202020204" pitchFamily="34" charset="0"/>
              </a:rPr>
              <a:t>Process Sigma ≈ 3.7 (from table)</a:t>
            </a:r>
          </a:p>
          <a:p>
            <a:endParaRPr lang="en-US" b="1" noProof="0">
              <a:solidFill>
                <a:schemeClr val="tx2"/>
              </a:solidFill>
              <a:latin typeface="Trebuchet MS" panose="020B0603020202020204" pitchFamily="34" charset="0"/>
              <a:cs typeface="Arial" panose="020B0604020202020204" pitchFamily="34" charset="0"/>
            </a:endParaRPr>
          </a:p>
          <a:p>
            <a:r>
              <a:rPr lang="en-US" b="1" noProof="0">
                <a:solidFill>
                  <a:srgbClr val="FF0000"/>
                </a:solidFill>
                <a:latin typeface="Trebuchet MS" panose="020B0603020202020204" pitchFamily="34" charset="0"/>
                <a:cs typeface="Arial" panose="020B0604020202020204" pitchFamily="34" charset="0"/>
              </a:rPr>
              <a:t>*Always go to the nearest DPMO</a:t>
            </a:r>
          </a:p>
        </p:txBody>
      </p:sp>
      <p:sp>
        <p:nvSpPr>
          <p:cNvPr id="13" name="Rectangle 12">
            <a:extLst>
              <a:ext uri="{FF2B5EF4-FFF2-40B4-BE49-F238E27FC236}">
                <a16:creationId xmlns:a16="http://schemas.microsoft.com/office/drawing/2014/main" id="{3E63BE27-61F5-F8BB-9A0D-CF1A84E78EAB}"/>
              </a:ext>
            </a:extLst>
          </p:cNvPr>
          <p:cNvSpPr/>
          <p:nvPr/>
        </p:nvSpPr>
        <p:spPr>
          <a:xfrm>
            <a:off x="1524000" y="5638800"/>
            <a:ext cx="12954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15" name="Rectangle 14">
            <a:extLst>
              <a:ext uri="{FF2B5EF4-FFF2-40B4-BE49-F238E27FC236}">
                <a16:creationId xmlns:a16="http://schemas.microsoft.com/office/drawing/2014/main" id="{BB985BD2-9AF4-A4A3-DFB4-EAEFBBFD8ECC}"/>
              </a:ext>
            </a:extLst>
          </p:cNvPr>
          <p:cNvSpPr/>
          <p:nvPr/>
        </p:nvSpPr>
        <p:spPr>
          <a:xfrm>
            <a:off x="1905000" y="1934453"/>
            <a:ext cx="914400" cy="228601"/>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3" name="TextBox 2">
            <a:extLst>
              <a:ext uri="{FF2B5EF4-FFF2-40B4-BE49-F238E27FC236}">
                <a16:creationId xmlns:a16="http://schemas.microsoft.com/office/drawing/2014/main" id="{DD841B09-665E-8FA3-3559-2662115B3287}"/>
              </a:ext>
            </a:extLst>
          </p:cNvPr>
          <p:cNvSpPr txBox="1"/>
          <p:nvPr/>
        </p:nvSpPr>
        <p:spPr>
          <a:xfrm>
            <a:off x="1828800" y="6292334"/>
            <a:ext cx="6097836" cy="369332"/>
          </a:xfrm>
          <a:prstGeom prst="rect">
            <a:avLst/>
          </a:prstGeom>
          <a:solidFill>
            <a:srgbClr val="27AAE1"/>
          </a:solidFill>
        </p:spPr>
        <p:txBody>
          <a:bodyPr wrap="square">
            <a:spAutoFit/>
          </a:bodyPr>
          <a:lstStyle/>
          <a:p>
            <a:pPr algn="ctr"/>
            <a:r>
              <a:rPr lang="en-US" b="1" noProof="0">
                <a:solidFill>
                  <a:schemeClr val="bg1"/>
                </a:solidFill>
                <a:latin typeface="Trebuchet MS" panose="020B0603020202020204" pitchFamily="34" charset="0"/>
              </a:rPr>
              <a:t>Lower DPMO = Higher Sigma = Better quality</a:t>
            </a:r>
          </a:p>
        </p:txBody>
      </p:sp>
    </p:spTree>
    <p:extLst>
      <p:ext uri="{BB962C8B-B14F-4D97-AF65-F5344CB8AC3E}">
        <p14:creationId xmlns:p14="http://schemas.microsoft.com/office/powerpoint/2010/main" val="3925509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xt Placeholder 6">
            <a:extLst>
              <a:ext uri="{FF2B5EF4-FFF2-40B4-BE49-F238E27FC236}">
                <a16:creationId xmlns:a16="http://schemas.microsoft.com/office/drawing/2014/main" id="{B854D7F8-561E-2140-9A6B-F2B28851105D}"/>
              </a:ext>
            </a:extLst>
          </p:cNvPr>
          <p:cNvSpPr>
            <a:spLocks noGrp="1"/>
          </p:cNvSpPr>
          <p:nvPr>
            <p:ph type="body" sz="quarter" idx="12"/>
          </p:nvPr>
        </p:nvSpPr>
        <p:spPr>
          <a:xfrm>
            <a:off x="435864" y="1588080"/>
            <a:ext cx="10820400" cy="276999"/>
          </a:xfrm>
        </p:spPr>
        <p:txBody>
          <a:bodyPr/>
          <a:lstStyle/>
          <a:p>
            <a:r>
              <a:rPr lang="en-US" sz="1800" noProof="0">
                <a:latin typeface="Trebuchet MS" panose="020B0603020202020204" pitchFamily="34" charset="0"/>
              </a:rPr>
              <a:t>Using the table below and the data provided, calculate the value for the following processes:</a:t>
            </a:r>
          </a:p>
        </p:txBody>
      </p:sp>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533400" y="381000"/>
            <a:ext cx="8458200" cy="492443"/>
          </a:xfrm>
        </p:spPr>
        <p:txBody>
          <a:bodyPr/>
          <a:lstStyle/>
          <a:p>
            <a:r>
              <a:rPr lang="en-US" sz="3200" noProof="0">
                <a:solidFill>
                  <a:srgbClr val="FFC000"/>
                </a:solidFill>
                <a:latin typeface="Trebuchet MS" panose="020B0603020202020204" pitchFamily="34" charset="0"/>
              </a:rPr>
              <a:t>Activity – calculate Sigma value</a:t>
            </a:r>
          </a:p>
        </p:txBody>
      </p:sp>
      <p:sp>
        <p:nvSpPr>
          <p:cNvPr id="11" name="Rectangle: Rounded Corners 10">
            <a:extLst>
              <a:ext uri="{FF2B5EF4-FFF2-40B4-BE49-F238E27FC236}">
                <a16:creationId xmlns:a16="http://schemas.microsoft.com/office/drawing/2014/main" id="{70E9DC96-F111-7891-EE3E-EAA60F7BB93E}"/>
              </a:ext>
            </a:extLst>
          </p:cNvPr>
          <p:cNvSpPr/>
          <p:nvPr/>
        </p:nvSpPr>
        <p:spPr>
          <a:xfrm>
            <a:off x="364616" y="2565047"/>
            <a:ext cx="3551492" cy="2921353"/>
          </a:xfrm>
          <a:prstGeom prst="roundRect">
            <a:avLst/>
          </a:prstGeom>
          <a:noFill/>
          <a:ln w="5715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noProof="0">
                <a:solidFill>
                  <a:schemeClr val="tx2"/>
                </a:solidFill>
                <a:latin typeface="Trebuchet MS" panose="020B0603020202020204" pitchFamily="34" charset="0"/>
                <a:cs typeface="Arial" panose="020B0604020202020204" pitchFamily="34" charset="0"/>
              </a:rPr>
              <a:t>Number of units: 800</a:t>
            </a:r>
          </a:p>
          <a:p>
            <a:r>
              <a:rPr lang="en-US" sz="1800" noProof="0">
                <a:solidFill>
                  <a:schemeClr val="tx2"/>
                </a:solidFill>
                <a:latin typeface="Trebuchet MS" panose="020B0603020202020204" pitchFamily="34" charset="0"/>
                <a:cs typeface="Arial" panose="020B0604020202020204" pitchFamily="34" charset="0"/>
              </a:rPr>
              <a:t>Number of opportunities: 20</a:t>
            </a:r>
          </a:p>
          <a:p>
            <a:r>
              <a:rPr lang="en-US" sz="1800" noProof="0">
                <a:solidFill>
                  <a:schemeClr val="tx2"/>
                </a:solidFill>
                <a:latin typeface="Trebuchet MS" panose="020B0603020202020204" pitchFamily="34" charset="0"/>
                <a:cs typeface="Arial" panose="020B0604020202020204" pitchFamily="34" charset="0"/>
              </a:rPr>
              <a:t>Total number of defects: 12</a:t>
            </a:r>
          </a:p>
          <a:p>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DPU:</a:t>
            </a:r>
            <a:r>
              <a:rPr lang="en-US" sz="1800" noProof="0">
                <a:solidFill>
                  <a:schemeClr val="tx2"/>
                </a:solidFill>
                <a:latin typeface="Trebuchet MS" panose="020B0603020202020204" pitchFamily="34" charset="0"/>
                <a:cs typeface="Arial" panose="020B0604020202020204" pitchFamily="34" charset="0"/>
              </a:rPr>
              <a:t> </a:t>
            </a:r>
          </a:p>
          <a:p>
            <a:r>
              <a:rPr lang="en-US" sz="1800" b="1" noProof="0">
                <a:solidFill>
                  <a:schemeClr val="tx2"/>
                </a:solidFill>
                <a:latin typeface="Trebuchet MS" panose="020B0603020202020204" pitchFamily="34" charset="0"/>
                <a:cs typeface="Arial" panose="020B0604020202020204" pitchFamily="34" charset="0"/>
              </a:rPr>
              <a:t>DPMO:</a:t>
            </a:r>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Process Sigma:</a:t>
            </a:r>
            <a:endParaRPr lang="en-US" b="1" noProof="0">
              <a:solidFill>
                <a:schemeClr val="tx2"/>
              </a:solidFill>
              <a:latin typeface="Trebuchet MS" panose="020B0603020202020204" pitchFamily="34" charset="0"/>
              <a:cs typeface="Arial" panose="020B0604020202020204" pitchFamily="34" charset="0"/>
            </a:endParaRPr>
          </a:p>
        </p:txBody>
      </p:sp>
      <p:sp>
        <p:nvSpPr>
          <p:cNvPr id="8" name="Rectangle: Rounded Corners 7">
            <a:extLst>
              <a:ext uri="{FF2B5EF4-FFF2-40B4-BE49-F238E27FC236}">
                <a16:creationId xmlns:a16="http://schemas.microsoft.com/office/drawing/2014/main" id="{381DA064-912C-97E7-4FC2-944ED10D6BB8}"/>
              </a:ext>
            </a:extLst>
          </p:cNvPr>
          <p:cNvSpPr/>
          <p:nvPr/>
        </p:nvSpPr>
        <p:spPr>
          <a:xfrm>
            <a:off x="4220908" y="2555903"/>
            <a:ext cx="3551492" cy="2921353"/>
          </a:xfrm>
          <a:prstGeom prst="roundRect">
            <a:avLst/>
          </a:prstGeom>
          <a:noFill/>
          <a:ln w="5715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noProof="0" dirty="0">
                <a:solidFill>
                  <a:schemeClr val="tx2"/>
                </a:solidFill>
                <a:latin typeface="Trebuchet MS" panose="020B0603020202020204" pitchFamily="34" charset="0"/>
                <a:cs typeface="Arial" panose="020B0604020202020204" pitchFamily="34" charset="0"/>
              </a:rPr>
              <a:t>Number of units: 150</a:t>
            </a:r>
          </a:p>
          <a:p>
            <a:r>
              <a:rPr lang="en-US" sz="1800" noProof="0" dirty="0">
                <a:solidFill>
                  <a:schemeClr val="tx2"/>
                </a:solidFill>
                <a:latin typeface="Trebuchet MS" panose="020B0603020202020204" pitchFamily="34" charset="0"/>
                <a:cs typeface="Arial" panose="020B0604020202020204" pitchFamily="34" charset="0"/>
              </a:rPr>
              <a:t>Number of opportunities: 7</a:t>
            </a:r>
          </a:p>
          <a:p>
            <a:r>
              <a:rPr lang="en-US" sz="1800" noProof="0" dirty="0">
                <a:solidFill>
                  <a:schemeClr val="tx2"/>
                </a:solidFill>
                <a:latin typeface="Trebuchet MS" panose="020B0603020202020204" pitchFamily="34" charset="0"/>
                <a:cs typeface="Arial" panose="020B0604020202020204" pitchFamily="34" charset="0"/>
              </a:rPr>
              <a:t>Total number of defects 10</a:t>
            </a:r>
          </a:p>
          <a:p>
            <a:endParaRPr lang="en-US" sz="1800" noProof="0" dirty="0">
              <a:solidFill>
                <a:schemeClr val="tx2"/>
              </a:solidFill>
              <a:latin typeface="Trebuchet MS" panose="020B0603020202020204" pitchFamily="34" charset="0"/>
              <a:cs typeface="Arial" panose="020B0604020202020204" pitchFamily="34" charset="0"/>
            </a:endParaRPr>
          </a:p>
          <a:p>
            <a:r>
              <a:rPr lang="en-US" sz="1800" b="1" noProof="0" dirty="0">
                <a:solidFill>
                  <a:schemeClr val="tx2"/>
                </a:solidFill>
                <a:latin typeface="Trebuchet MS" panose="020B0603020202020204" pitchFamily="34" charset="0"/>
                <a:cs typeface="Arial" panose="020B0604020202020204" pitchFamily="34" charset="0"/>
              </a:rPr>
              <a:t>DPU:</a:t>
            </a:r>
            <a:r>
              <a:rPr lang="en-US" sz="1800" noProof="0" dirty="0">
                <a:solidFill>
                  <a:schemeClr val="tx2"/>
                </a:solidFill>
                <a:latin typeface="Trebuchet MS" panose="020B0603020202020204" pitchFamily="34" charset="0"/>
                <a:cs typeface="Arial" panose="020B0604020202020204" pitchFamily="34" charset="0"/>
              </a:rPr>
              <a:t> </a:t>
            </a:r>
          </a:p>
          <a:p>
            <a:r>
              <a:rPr lang="en-US" sz="1800" b="1" noProof="0" dirty="0">
                <a:solidFill>
                  <a:schemeClr val="tx2"/>
                </a:solidFill>
                <a:latin typeface="Trebuchet MS" panose="020B0603020202020204" pitchFamily="34" charset="0"/>
                <a:cs typeface="Arial" panose="020B0604020202020204" pitchFamily="34" charset="0"/>
              </a:rPr>
              <a:t>DPMO: </a:t>
            </a:r>
            <a:endParaRPr lang="en-US" sz="1800" noProof="0" dirty="0">
              <a:solidFill>
                <a:schemeClr val="tx2"/>
              </a:solidFill>
              <a:latin typeface="Trebuchet MS" panose="020B0603020202020204" pitchFamily="34" charset="0"/>
              <a:cs typeface="Arial" panose="020B0604020202020204" pitchFamily="34" charset="0"/>
            </a:endParaRPr>
          </a:p>
          <a:p>
            <a:r>
              <a:rPr lang="en-US" sz="1800" b="1" noProof="0" dirty="0">
                <a:solidFill>
                  <a:schemeClr val="tx2"/>
                </a:solidFill>
                <a:latin typeface="Trebuchet MS" panose="020B0603020202020204" pitchFamily="34" charset="0"/>
                <a:cs typeface="Arial" panose="020B0604020202020204" pitchFamily="34" charset="0"/>
              </a:rPr>
              <a:t>Process Sigma</a:t>
            </a:r>
            <a:r>
              <a:rPr lang="en-US" b="1" noProof="0" dirty="0">
                <a:solidFill>
                  <a:schemeClr val="tx2"/>
                </a:solidFill>
                <a:latin typeface="Trebuchet MS" panose="020B0603020202020204" pitchFamily="34" charset="0"/>
                <a:cs typeface="Arial" panose="020B0604020202020204" pitchFamily="34" charset="0"/>
              </a:rPr>
              <a:t>:</a:t>
            </a:r>
            <a:endParaRPr lang="en-US" sz="1800" b="1" noProof="0" dirty="0">
              <a:solidFill>
                <a:schemeClr val="tx2"/>
              </a:solidFill>
              <a:latin typeface="Trebuchet MS" panose="020B0603020202020204" pitchFamily="34" charset="0"/>
              <a:cs typeface="Arial" panose="020B0604020202020204" pitchFamily="34" charset="0"/>
            </a:endParaRPr>
          </a:p>
        </p:txBody>
      </p:sp>
      <p:sp>
        <p:nvSpPr>
          <p:cNvPr id="9" name="Rectangle: Rounded Corners 8">
            <a:extLst>
              <a:ext uri="{FF2B5EF4-FFF2-40B4-BE49-F238E27FC236}">
                <a16:creationId xmlns:a16="http://schemas.microsoft.com/office/drawing/2014/main" id="{2027CC93-0275-3229-BC74-0D03AA20689E}"/>
              </a:ext>
            </a:extLst>
          </p:cNvPr>
          <p:cNvSpPr/>
          <p:nvPr/>
        </p:nvSpPr>
        <p:spPr>
          <a:xfrm>
            <a:off x="7982140" y="2555903"/>
            <a:ext cx="3551492" cy="2921353"/>
          </a:xfrm>
          <a:prstGeom prst="roundRect">
            <a:avLst/>
          </a:prstGeom>
          <a:noFill/>
          <a:ln w="5715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noProof="0">
              <a:solidFill>
                <a:schemeClr val="tx2"/>
              </a:solidFill>
              <a:latin typeface="Trebuchet MS" panose="020B0603020202020204" pitchFamily="34" charset="0"/>
              <a:cs typeface="Arial" panose="020B0604020202020204" pitchFamily="34" charset="0"/>
            </a:endParaRPr>
          </a:p>
          <a:p>
            <a:r>
              <a:rPr lang="en-US" sz="1800" noProof="0">
                <a:solidFill>
                  <a:schemeClr val="tx2"/>
                </a:solidFill>
                <a:latin typeface="Trebuchet MS" panose="020B0603020202020204" pitchFamily="34" charset="0"/>
                <a:cs typeface="Arial" panose="020B0604020202020204" pitchFamily="34" charset="0"/>
              </a:rPr>
              <a:t>Number of units: 75</a:t>
            </a:r>
          </a:p>
          <a:p>
            <a:r>
              <a:rPr lang="en-US" sz="1800" noProof="0">
                <a:solidFill>
                  <a:schemeClr val="tx2"/>
                </a:solidFill>
                <a:latin typeface="Trebuchet MS" panose="020B0603020202020204" pitchFamily="34" charset="0"/>
                <a:cs typeface="Arial" panose="020B0604020202020204" pitchFamily="34" charset="0"/>
              </a:rPr>
              <a:t>Number of opportunities: 9</a:t>
            </a:r>
          </a:p>
          <a:p>
            <a:r>
              <a:rPr lang="en-US" sz="1800" noProof="0">
                <a:solidFill>
                  <a:schemeClr val="tx2"/>
                </a:solidFill>
                <a:latin typeface="Trebuchet MS" panose="020B0603020202020204" pitchFamily="34" charset="0"/>
                <a:cs typeface="Arial" panose="020B0604020202020204" pitchFamily="34" charset="0"/>
              </a:rPr>
              <a:t>Total number of defects 7</a:t>
            </a:r>
          </a:p>
          <a:p>
            <a:endParaRPr lang="en-US" sz="1800" b="1"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DPU:</a:t>
            </a:r>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DPMO: </a:t>
            </a:r>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Process Sigma</a:t>
            </a:r>
            <a:r>
              <a:rPr lang="en-US" b="1" noProof="0">
                <a:solidFill>
                  <a:schemeClr val="tx2"/>
                </a:solidFill>
                <a:latin typeface="Trebuchet MS" panose="020B0603020202020204" pitchFamily="34" charset="0"/>
                <a:cs typeface="Arial" panose="020B0604020202020204" pitchFamily="34" charset="0"/>
              </a:rPr>
              <a:t>:</a:t>
            </a:r>
          </a:p>
          <a:p>
            <a:endParaRPr lang="en-US" sz="1800" b="1" noProof="0">
              <a:solidFill>
                <a:srgbClr val="FF0000"/>
              </a:solidFill>
              <a:latin typeface="Trebuchet MS" panose="020B0603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C794D89-C42A-EA9F-BEC3-DD00B9EDBED6}"/>
              </a:ext>
            </a:extLst>
          </p:cNvPr>
          <p:cNvSpPr txBox="1"/>
          <p:nvPr/>
        </p:nvSpPr>
        <p:spPr>
          <a:xfrm>
            <a:off x="533400" y="6184308"/>
            <a:ext cx="4340924" cy="338554"/>
          </a:xfrm>
          <a:prstGeom prst="rect">
            <a:avLst/>
          </a:prstGeom>
          <a:solidFill>
            <a:srgbClr val="27AAE1"/>
          </a:solidFill>
        </p:spPr>
        <p:txBody>
          <a:bodyPr wrap="square">
            <a:spAutoFit/>
          </a:bodyPr>
          <a:lstStyle>
            <a:defPPr>
              <a:defRPr lang="en-US"/>
            </a:defPPr>
            <a:lvl1pPr>
              <a:defRPr sz="1600" b="1">
                <a:solidFill>
                  <a:schemeClr val="bg1"/>
                </a:solidFill>
                <a:latin typeface="Arial" panose="020B0604020202020204" pitchFamily="34" charset="0"/>
                <a:cs typeface="Arial" panose="020B0604020202020204" pitchFamily="34" charset="0"/>
              </a:defRPr>
            </a:lvl1pPr>
          </a:lstStyle>
          <a:p>
            <a:r>
              <a:rPr lang="en-US" noProof="0">
                <a:latin typeface="Trebuchet MS" panose="020B0603020202020204" pitchFamily="34" charset="0"/>
              </a:rPr>
              <a:t>Reminder: </a:t>
            </a:r>
            <a:r>
              <a:rPr lang="en-US" b="0" noProof="0">
                <a:latin typeface="Trebuchet MS" panose="020B0603020202020204" pitchFamily="34" charset="0"/>
              </a:rPr>
              <a:t>Always go to the nearest DPMO.</a:t>
            </a:r>
          </a:p>
        </p:txBody>
      </p:sp>
    </p:spTree>
    <p:extLst>
      <p:ext uri="{BB962C8B-B14F-4D97-AF65-F5344CB8AC3E}">
        <p14:creationId xmlns:p14="http://schemas.microsoft.com/office/powerpoint/2010/main" val="2647509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6" name="Text Placeholder 5">
            <a:extLst>
              <a:ext uri="{FF2B5EF4-FFF2-40B4-BE49-F238E27FC236}">
                <a16:creationId xmlns:a16="http://schemas.microsoft.com/office/drawing/2014/main" id="{CF801EC0-0F2F-D947-87B6-8120222C609A}"/>
              </a:ext>
            </a:extLst>
          </p:cNvPr>
          <p:cNvSpPr>
            <a:spLocks noGrp="1"/>
          </p:cNvSpPr>
          <p:nvPr>
            <p:ph type="body" sz="quarter" idx="10"/>
          </p:nvPr>
        </p:nvSpPr>
        <p:spPr>
          <a:xfrm>
            <a:off x="533400" y="381000"/>
            <a:ext cx="8458200" cy="492443"/>
          </a:xfrm>
        </p:spPr>
        <p:txBody>
          <a:bodyPr/>
          <a:lstStyle/>
          <a:p>
            <a:r>
              <a:rPr lang="en-US" sz="3200" noProof="0">
                <a:solidFill>
                  <a:srgbClr val="FFC000"/>
                </a:solidFill>
                <a:latin typeface="Trebuchet MS" panose="020B0603020202020204" pitchFamily="34" charset="0"/>
              </a:rPr>
              <a:t>Activity – solutions</a:t>
            </a:r>
          </a:p>
        </p:txBody>
      </p:sp>
      <p:sp>
        <p:nvSpPr>
          <p:cNvPr id="11" name="Rectangle: Rounded Corners 10">
            <a:extLst>
              <a:ext uri="{FF2B5EF4-FFF2-40B4-BE49-F238E27FC236}">
                <a16:creationId xmlns:a16="http://schemas.microsoft.com/office/drawing/2014/main" id="{70E9DC96-F111-7891-EE3E-EAA60F7BB93E}"/>
              </a:ext>
            </a:extLst>
          </p:cNvPr>
          <p:cNvSpPr/>
          <p:nvPr/>
        </p:nvSpPr>
        <p:spPr>
          <a:xfrm>
            <a:off x="277368" y="2095203"/>
            <a:ext cx="3685032" cy="3238797"/>
          </a:xfrm>
          <a:prstGeom prst="roundRect">
            <a:avLst/>
          </a:prstGeom>
          <a:noFill/>
          <a:ln w="3810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noProof="0">
                <a:solidFill>
                  <a:schemeClr val="tx2"/>
                </a:solidFill>
                <a:latin typeface="Trebuchet MS" panose="020B0603020202020204" pitchFamily="34" charset="0"/>
                <a:cs typeface="Arial" panose="020B0604020202020204" pitchFamily="34" charset="0"/>
              </a:rPr>
              <a:t>Number of units: 800</a:t>
            </a:r>
          </a:p>
          <a:p>
            <a:r>
              <a:rPr lang="en-US" sz="1800" noProof="0">
                <a:solidFill>
                  <a:schemeClr val="tx2"/>
                </a:solidFill>
                <a:latin typeface="Trebuchet MS" panose="020B0603020202020204" pitchFamily="34" charset="0"/>
                <a:cs typeface="Arial" panose="020B0604020202020204" pitchFamily="34" charset="0"/>
              </a:rPr>
              <a:t>Number of opportunities: 20</a:t>
            </a:r>
          </a:p>
          <a:p>
            <a:r>
              <a:rPr lang="en-US" sz="1800" noProof="0">
                <a:solidFill>
                  <a:schemeClr val="tx2"/>
                </a:solidFill>
                <a:latin typeface="Trebuchet MS" panose="020B0603020202020204" pitchFamily="34" charset="0"/>
                <a:cs typeface="Arial" panose="020B0604020202020204" pitchFamily="34" charset="0"/>
              </a:rPr>
              <a:t>Total number of defects:12</a:t>
            </a:r>
          </a:p>
          <a:p>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DPU</a:t>
            </a:r>
            <a:r>
              <a:rPr lang="en-US" b="1" noProof="0">
                <a:solidFill>
                  <a:schemeClr val="tx2"/>
                </a:solidFill>
                <a:latin typeface="Trebuchet MS" panose="020B0603020202020204" pitchFamily="34" charset="0"/>
                <a:cs typeface="Arial" panose="020B0604020202020204" pitchFamily="34" charset="0"/>
              </a:rPr>
              <a:t>: </a:t>
            </a:r>
            <a:r>
              <a:rPr lang="en-US" sz="1800" noProof="0">
                <a:solidFill>
                  <a:schemeClr val="tx2"/>
                </a:solidFill>
                <a:latin typeface="Trebuchet MS" panose="020B0603020202020204" pitchFamily="34" charset="0"/>
                <a:cs typeface="Arial" panose="020B0604020202020204" pitchFamily="34" charset="0"/>
              </a:rPr>
              <a:t>12/800 = </a:t>
            </a:r>
            <a:r>
              <a:rPr lang="en-US" sz="1800" b="1" noProof="0">
                <a:solidFill>
                  <a:schemeClr val="tx2"/>
                </a:solidFill>
                <a:latin typeface="Trebuchet MS" panose="020B0603020202020204" pitchFamily="34" charset="0"/>
                <a:cs typeface="Arial" panose="020B0604020202020204" pitchFamily="34" charset="0"/>
              </a:rPr>
              <a:t>0.015</a:t>
            </a:r>
          </a:p>
          <a:p>
            <a:r>
              <a:rPr lang="en-US" sz="1800" b="1" noProof="0">
                <a:solidFill>
                  <a:schemeClr val="tx2"/>
                </a:solidFill>
                <a:latin typeface="Trebuchet MS" panose="020B0603020202020204" pitchFamily="34" charset="0"/>
                <a:cs typeface="Arial" panose="020B0604020202020204" pitchFamily="34" charset="0"/>
              </a:rPr>
              <a:t>DPMO:</a:t>
            </a:r>
            <a:r>
              <a:rPr lang="en-US" sz="1800" noProof="0">
                <a:solidFill>
                  <a:schemeClr val="tx2"/>
                </a:solidFill>
                <a:latin typeface="Trebuchet MS" panose="020B0603020202020204" pitchFamily="34" charset="0"/>
                <a:cs typeface="Arial" panose="020B0604020202020204" pitchFamily="34" charset="0"/>
              </a:rPr>
              <a:t> 0.015/20 x 1,000,000 = </a:t>
            </a:r>
            <a:r>
              <a:rPr lang="en-US" sz="1800" b="1" noProof="0">
                <a:solidFill>
                  <a:schemeClr val="tx2"/>
                </a:solidFill>
                <a:latin typeface="Trebuchet MS" panose="020B0603020202020204" pitchFamily="34" charset="0"/>
                <a:cs typeface="Arial" panose="020B0604020202020204" pitchFamily="34" charset="0"/>
              </a:rPr>
              <a:t>750</a:t>
            </a:r>
          </a:p>
          <a:p>
            <a:r>
              <a:rPr lang="en-US" sz="1800" b="1" noProof="0">
                <a:solidFill>
                  <a:schemeClr val="tx2"/>
                </a:solidFill>
                <a:latin typeface="Trebuchet MS" panose="020B0603020202020204" pitchFamily="34" charset="0"/>
                <a:cs typeface="Arial" panose="020B0604020202020204" pitchFamily="34" charset="0"/>
              </a:rPr>
              <a:t>Process Sigma: </a:t>
            </a:r>
            <a:r>
              <a:rPr lang="en-US" sz="1800" b="1" noProof="0">
                <a:solidFill>
                  <a:srgbClr val="27AAE1"/>
                </a:solidFill>
                <a:latin typeface="Trebuchet MS" panose="020B0603020202020204" pitchFamily="34" charset="0"/>
                <a:cs typeface="Arial" panose="020B0604020202020204" pitchFamily="34" charset="0"/>
              </a:rPr>
              <a:t>4.7</a:t>
            </a:r>
            <a:endParaRPr lang="en-US" b="1" noProof="0">
              <a:solidFill>
                <a:srgbClr val="27AAE1"/>
              </a:solidFill>
              <a:latin typeface="Trebuchet MS" panose="020B0603020202020204" pitchFamily="34" charset="0"/>
              <a:cs typeface="Arial" panose="020B0604020202020204" pitchFamily="34" charset="0"/>
            </a:endParaRPr>
          </a:p>
          <a:p>
            <a:endParaRPr lang="en-US" sz="1800" b="1" noProof="0">
              <a:solidFill>
                <a:srgbClr val="FF0000"/>
              </a:solidFill>
              <a:latin typeface="Trebuchet MS" panose="020B0603020202020204" pitchFamily="34" charset="0"/>
              <a:cs typeface="Arial" panose="020B0604020202020204" pitchFamily="34" charset="0"/>
            </a:endParaRPr>
          </a:p>
        </p:txBody>
      </p:sp>
      <p:sp>
        <p:nvSpPr>
          <p:cNvPr id="8" name="Rectangle: Rounded Corners 7">
            <a:extLst>
              <a:ext uri="{FF2B5EF4-FFF2-40B4-BE49-F238E27FC236}">
                <a16:creationId xmlns:a16="http://schemas.microsoft.com/office/drawing/2014/main" id="{381DA064-912C-97E7-4FC2-944ED10D6BB8}"/>
              </a:ext>
            </a:extLst>
          </p:cNvPr>
          <p:cNvSpPr/>
          <p:nvPr/>
        </p:nvSpPr>
        <p:spPr>
          <a:xfrm>
            <a:off x="4110036" y="2086059"/>
            <a:ext cx="3586163" cy="3238797"/>
          </a:xfrm>
          <a:prstGeom prst="roundRect">
            <a:avLst/>
          </a:prstGeom>
          <a:noFill/>
          <a:ln w="3810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noProof="0" dirty="0">
                <a:solidFill>
                  <a:schemeClr val="tx2"/>
                </a:solidFill>
                <a:latin typeface="Trebuchet MS" panose="020B0603020202020204" pitchFamily="34" charset="0"/>
                <a:cs typeface="Arial" panose="020B0604020202020204" pitchFamily="34" charset="0"/>
              </a:rPr>
              <a:t>Number of units: 150</a:t>
            </a:r>
          </a:p>
          <a:p>
            <a:r>
              <a:rPr lang="en-US" sz="1800" noProof="0" dirty="0">
                <a:solidFill>
                  <a:schemeClr val="tx2"/>
                </a:solidFill>
                <a:latin typeface="Trebuchet MS" panose="020B0603020202020204" pitchFamily="34" charset="0"/>
                <a:cs typeface="Arial" panose="020B0604020202020204" pitchFamily="34" charset="0"/>
              </a:rPr>
              <a:t>Number of opportunities: 7</a:t>
            </a:r>
          </a:p>
          <a:p>
            <a:r>
              <a:rPr lang="en-US" sz="1800" noProof="0" dirty="0">
                <a:solidFill>
                  <a:schemeClr val="tx2"/>
                </a:solidFill>
                <a:latin typeface="Trebuchet MS" panose="020B0603020202020204" pitchFamily="34" charset="0"/>
                <a:cs typeface="Arial" panose="020B0604020202020204" pitchFamily="34" charset="0"/>
              </a:rPr>
              <a:t>Total number of defects: 10</a:t>
            </a:r>
          </a:p>
          <a:p>
            <a:endParaRPr lang="en-US" sz="1800" noProof="0" dirty="0">
              <a:solidFill>
                <a:schemeClr val="tx2"/>
              </a:solidFill>
              <a:latin typeface="Trebuchet MS" panose="020B0603020202020204" pitchFamily="34" charset="0"/>
              <a:cs typeface="Arial" panose="020B0604020202020204" pitchFamily="34" charset="0"/>
            </a:endParaRPr>
          </a:p>
          <a:p>
            <a:r>
              <a:rPr lang="en-US" sz="1800" b="1" noProof="0" dirty="0">
                <a:solidFill>
                  <a:schemeClr val="tx2"/>
                </a:solidFill>
                <a:latin typeface="Trebuchet MS" panose="020B0603020202020204" pitchFamily="34" charset="0"/>
                <a:cs typeface="Arial" panose="020B0604020202020204" pitchFamily="34" charset="0"/>
              </a:rPr>
              <a:t>DPU:</a:t>
            </a:r>
            <a:r>
              <a:rPr lang="en-US" sz="1800" noProof="0" dirty="0">
                <a:solidFill>
                  <a:schemeClr val="tx2"/>
                </a:solidFill>
                <a:latin typeface="Trebuchet MS" panose="020B0603020202020204" pitchFamily="34" charset="0"/>
                <a:cs typeface="Arial" panose="020B0604020202020204" pitchFamily="34" charset="0"/>
              </a:rPr>
              <a:t> 10/150 – 0.066</a:t>
            </a:r>
          </a:p>
          <a:p>
            <a:r>
              <a:rPr lang="en-US" sz="1800" b="1" noProof="0" dirty="0">
                <a:solidFill>
                  <a:schemeClr val="tx2"/>
                </a:solidFill>
                <a:latin typeface="Trebuchet MS" panose="020B0603020202020204" pitchFamily="34" charset="0"/>
                <a:cs typeface="Arial" panose="020B0604020202020204" pitchFamily="34" charset="0"/>
              </a:rPr>
              <a:t>DPMO: </a:t>
            </a:r>
            <a:r>
              <a:rPr lang="en-US" sz="1800" noProof="0" dirty="0">
                <a:solidFill>
                  <a:schemeClr val="tx2"/>
                </a:solidFill>
                <a:latin typeface="Trebuchet MS" panose="020B0603020202020204" pitchFamily="34" charset="0"/>
                <a:cs typeface="Arial" panose="020B0604020202020204" pitchFamily="34" charset="0"/>
              </a:rPr>
              <a:t>0.066/7 x 1,000,000 = </a:t>
            </a:r>
            <a:r>
              <a:rPr lang="en-US" sz="1800" b="1" noProof="0" dirty="0">
                <a:solidFill>
                  <a:schemeClr val="tx2"/>
                </a:solidFill>
                <a:latin typeface="Trebuchet MS" panose="020B0603020202020204" pitchFamily="34" charset="0"/>
                <a:cs typeface="Arial" panose="020B0604020202020204" pitchFamily="34" charset="0"/>
              </a:rPr>
              <a:t>9,524</a:t>
            </a:r>
            <a:endParaRPr lang="en-US" sz="1800" noProof="0" dirty="0">
              <a:solidFill>
                <a:schemeClr val="tx2"/>
              </a:solidFill>
              <a:latin typeface="Trebuchet MS" panose="020B0603020202020204" pitchFamily="34" charset="0"/>
              <a:cs typeface="Arial" panose="020B0604020202020204" pitchFamily="34" charset="0"/>
            </a:endParaRPr>
          </a:p>
          <a:p>
            <a:r>
              <a:rPr lang="en-US" sz="1800" b="1" noProof="0" dirty="0">
                <a:solidFill>
                  <a:schemeClr val="tx2"/>
                </a:solidFill>
                <a:latin typeface="Trebuchet MS" panose="020B0603020202020204" pitchFamily="34" charset="0"/>
                <a:cs typeface="Arial" panose="020B0604020202020204" pitchFamily="34" charset="0"/>
              </a:rPr>
              <a:t>Process Sigma: </a:t>
            </a:r>
            <a:r>
              <a:rPr lang="en-US" b="1" dirty="0">
                <a:solidFill>
                  <a:srgbClr val="27AAE1"/>
                </a:solidFill>
                <a:latin typeface="Trebuchet MS" panose="020B0603020202020204" pitchFamily="34" charset="0"/>
                <a:cs typeface="Arial" panose="020B0604020202020204" pitchFamily="34" charset="0"/>
              </a:rPr>
              <a:t>3.8</a:t>
            </a:r>
            <a:endParaRPr lang="en-US" sz="1800" b="1" noProof="0" dirty="0">
              <a:solidFill>
                <a:srgbClr val="27AAE1"/>
              </a:solidFill>
              <a:latin typeface="Trebuchet MS" panose="020B0603020202020204" pitchFamily="34" charset="0"/>
              <a:cs typeface="Arial" panose="020B0604020202020204" pitchFamily="34" charset="0"/>
            </a:endParaRPr>
          </a:p>
          <a:p>
            <a:endParaRPr lang="en-US" b="1" noProof="0" dirty="0">
              <a:solidFill>
                <a:schemeClr val="tx2"/>
              </a:solidFill>
              <a:latin typeface="Trebuchet MS" panose="020B0603020202020204" pitchFamily="34" charset="0"/>
              <a:cs typeface="Arial" panose="020B0604020202020204" pitchFamily="34" charset="0"/>
            </a:endParaRPr>
          </a:p>
        </p:txBody>
      </p:sp>
      <p:sp>
        <p:nvSpPr>
          <p:cNvPr id="9" name="Rectangle: Rounded Corners 8">
            <a:extLst>
              <a:ext uri="{FF2B5EF4-FFF2-40B4-BE49-F238E27FC236}">
                <a16:creationId xmlns:a16="http://schemas.microsoft.com/office/drawing/2014/main" id="{2027CC93-0275-3229-BC74-0D03AA20689E}"/>
              </a:ext>
            </a:extLst>
          </p:cNvPr>
          <p:cNvSpPr/>
          <p:nvPr/>
        </p:nvSpPr>
        <p:spPr>
          <a:xfrm>
            <a:off x="7799832" y="2086059"/>
            <a:ext cx="3586163" cy="3238797"/>
          </a:xfrm>
          <a:prstGeom prst="roundRect">
            <a:avLst/>
          </a:prstGeom>
          <a:noFill/>
          <a:ln w="38100">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noProof="0">
              <a:solidFill>
                <a:schemeClr val="tx2"/>
              </a:solidFill>
              <a:latin typeface="Trebuchet MS" panose="020B0603020202020204" pitchFamily="34" charset="0"/>
              <a:cs typeface="Arial" panose="020B0604020202020204" pitchFamily="34" charset="0"/>
            </a:endParaRPr>
          </a:p>
          <a:p>
            <a:endParaRPr lang="en-US" noProof="0">
              <a:solidFill>
                <a:schemeClr val="tx2"/>
              </a:solidFill>
              <a:latin typeface="Trebuchet MS" panose="020B0603020202020204" pitchFamily="34" charset="0"/>
              <a:cs typeface="Arial" panose="020B0604020202020204" pitchFamily="34" charset="0"/>
            </a:endParaRPr>
          </a:p>
          <a:p>
            <a:r>
              <a:rPr lang="en-US" sz="1800" noProof="0">
                <a:solidFill>
                  <a:schemeClr val="tx2"/>
                </a:solidFill>
                <a:latin typeface="Trebuchet MS" panose="020B0603020202020204" pitchFamily="34" charset="0"/>
                <a:cs typeface="Arial" panose="020B0604020202020204" pitchFamily="34" charset="0"/>
              </a:rPr>
              <a:t>Number of units: 75</a:t>
            </a:r>
          </a:p>
          <a:p>
            <a:r>
              <a:rPr lang="en-US" sz="1800" noProof="0">
                <a:solidFill>
                  <a:schemeClr val="tx2"/>
                </a:solidFill>
                <a:latin typeface="Trebuchet MS" panose="020B0603020202020204" pitchFamily="34" charset="0"/>
                <a:cs typeface="Arial" panose="020B0604020202020204" pitchFamily="34" charset="0"/>
              </a:rPr>
              <a:t>Number of opportunities: 9</a:t>
            </a:r>
          </a:p>
          <a:p>
            <a:r>
              <a:rPr lang="en-US" sz="1800" noProof="0">
                <a:solidFill>
                  <a:schemeClr val="tx2"/>
                </a:solidFill>
                <a:latin typeface="Trebuchet MS" panose="020B0603020202020204" pitchFamily="34" charset="0"/>
                <a:cs typeface="Arial" panose="020B0604020202020204" pitchFamily="34" charset="0"/>
              </a:rPr>
              <a:t>Total number of defects: 7</a:t>
            </a:r>
          </a:p>
          <a:p>
            <a:endParaRPr lang="en-US" sz="1800" b="1"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DPU:</a:t>
            </a:r>
            <a:r>
              <a:rPr lang="en-US" sz="1800" noProof="0">
                <a:solidFill>
                  <a:schemeClr val="tx2"/>
                </a:solidFill>
                <a:latin typeface="Trebuchet MS" panose="020B0603020202020204" pitchFamily="34" charset="0"/>
                <a:cs typeface="Arial" panose="020B0604020202020204" pitchFamily="34" charset="0"/>
              </a:rPr>
              <a:t> 7/75 = 0.093</a:t>
            </a:r>
          </a:p>
          <a:p>
            <a:r>
              <a:rPr lang="en-US" sz="1800" b="1" noProof="0">
                <a:solidFill>
                  <a:schemeClr val="tx2"/>
                </a:solidFill>
                <a:latin typeface="Trebuchet MS" panose="020B0603020202020204" pitchFamily="34" charset="0"/>
                <a:cs typeface="Arial" panose="020B0604020202020204" pitchFamily="34" charset="0"/>
              </a:rPr>
              <a:t>DPMO: </a:t>
            </a:r>
            <a:r>
              <a:rPr lang="en-US" sz="1800" noProof="0">
                <a:solidFill>
                  <a:schemeClr val="tx2"/>
                </a:solidFill>
                <a:latin typeface="Trebuchet MS" panose="020B0603020202020204" pitchFamily="34" charset="0"/>
                <a:cs typeface="Arial" panose="020B0604020202020204" pitchFamily="34" charset="0"/>
              </a:rPr>
              <a:t>0.093/9 x 1,000,000 = </a:t>
            </a:r>
          </a:p>
          <a:p>
            <a:r>
              <a:rPr lang="en-US" sz="1800" b="1" noProof="0">
                <a:solidFill>
                  <a:schemeClr val="tx2"/>
                </a:solidFill>
                <a:latin typeface="Trebuchet MS" panose="020B0603020202020204" pitchFamily="34" charset="0"/>
                <a:cs typeface="Arial" panose="020B0604020202020204" pitchFamily="34" charset="0"/>
              </a:rPr>
              <a:t>10,370</a:t>
            </a:r>
            <a:endParaRPr lang="en-US" sz="1800" noProof="0">
              <a:solidFill>
                <a:schemeClr val="tx2"/>
              </a:solidFill>
              <a:latin typeface="Trebuchet MS" panose="020B0603020202020204" pitchFamily="34" charset="0"/>
              <a:cs typeface="Arial" panose="020B0604020202020204" pitchFamily="34" charset="0"/>
            </a:endParaRPr>
          </a:p>
          <a:p>
            <a:r>
              <a:rPr lang="en-US" sz="1800" b="1" noProof="0">
                <a:solidFill>
                  <a:schemeClr val="tx2"/>
                </a:solidFill>
                <a:latin typeface="Trebuchet MS" panose="020B0603020202020204" pitchFamily="34" charset="0"/>
                <a:cs typeface="Arial" panose="020B0604020202020204" pitchFamily="34" charset="0"/>
              </a:rPr>
              <a:t>Process Sigma: </a:t>
            </a:r>
            <a:r>
              <a:rPr lang="en-US" sz="1800" b="1" noProof="0">
                <a:solidFill>
                  <a:srgbClr val="27AAE1"/>
                </a:solidFill>
                <a:latin typeface="Trebuchet MS" panose="020B0603020202020204" pitchFamily="34" charset="0"/>
                <a:cs typeface="Arial" panose="020B0604020202020204" pitchFamily="34" charset="0"/>
              </a:rPr>
              <a:t>3.8</a:t>
            </a:r>
          </a:p>
          <a:p>
            <a:endParaRPr lang="en-US" sz="1800" noProof="0">
              <a:solidFill>
                <a:schemeClr val="tx2"/>
              </a:solidFill>
              <a:latin typeface="Trebuchet MS" panose="020B0603020202020204" pitchFamily="34" charset="0"/>
              <a:cs typeface="Arial" panose="020B0604020202020204" pitchFamily="34" charset="0"/>
            </a:endParaRPr>
          </a:p>
          <a:p>
            <a:endParaRPr lang="en-US" b="1" noProof="0">
              <a:solidFill>
                <a:schemeClr val="tx2"/>
              </a:solidFill>
              <a:latin typeface="Trebuchet MS" panose="020B0603020202020204" pitchFamily="34" charset="0"/>
              <a:cs typeface="Arial" panose="020B0604020202020204" pitchFamily="34" charset="0"/>
            </a:endParaRPr>
          </a:p>
          <a:p>
            <a:endParaRPr lang="en-US" sz="1800" b="1" noProof="0">
              <a:solidFill>
                <a:srgbClr val="FF0000"/>
              </a:solidFill>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432638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3F2C3596-268B-B743-9A90-FAC16A531B56}"/>
              </a:ext>
            </a:extLst>
          </p:cNvPr>
          <p:cNvSpPr>
            <a:spLocks noGrp="1"/>
          </p:cNvSpPr>
          <p:nvPr>
            <p:ph type="body" sz="quarter" idx="10"/>
          </p:nvPr>
        </p:nvSpPr>
        <p:spPr>
          <a:xfrm>
            <a:off x="533400" y="4343400"/>
            <a:ext cx="5562600" cy="984885"/>
          </a:xfrm>
        </p:spPr>
        <p:txBody>
          <a:bodyPr/>
          <a:lstStyle/>
          <a:p>
            <a:r>
              <a:rPr lang="en-US" sz="3200" noProof="0"/>
              <a:t>Exploring Opportunities for Improvement</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t>3</a:t>
            </a:r>
          </a:p>
        </p:txBody>
      </p:sp>
      <p:sp>
        <p:nvSpPr>
          <p:cNvPr id="2" name="Text Placeholder 5">
            <a:extLst>
              <a:ext uri="{FF2B5EF4-FFF2-40B4-BE49-F238E27FC236}">
                <a16:creationId xmlns:a16="http://schemas.microsoft.com/office/drawing/2014/main" id="{B78AE2FA-45C2-C348-0751-5F56ED7908E9}"/>
              </a:ext>
            </a:extLst>
          </p:cNvPr>
          <p:cNvSpPr>
            <a:spLocks noGrp="1"/>
          </p:cNvSpPr>
          <p:nvPr>
            <p:ph type="body" sz="quarter" idx="11"/>
          </p:nvPr>
        </p:nvSpPr>
        <p:spPr>
          <a:xfrm>
            <a:off x="533400" y="5971962"/>
            <a:ext cx="2743200" cy="384721"/>
          </a:xfrm>
        </p:spPr>
        <p:txBody>
          <a:bodyPr/>
          <a:lstStyle/>
          <a:p>
            <a:r>
              <a:rPr lang="en-US" noProof="0"/>
              <a:t>Summarizing Data</a:t>
            </a:r>
          </a:p>
        </p:txBody>
      </p:sp>
    </p:spTree>
    <p:extLst>
      <p:ext uri="{BB962C8B-B14F-4D97-AF65-F5344CB8AC3E}">
        <p14:creationId xmlns:p14="http://schemas.microsoft.com/office/powerpoint/2010/main" val="2606706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5B93B2F-2908-50C2-F779-0B1BCB8CAD01}"/>
              </a:ext>
            </a:extLst>
          </p:cNvPr>
          <p:cNvSpPr>
            <a:spLocks noGrp="1"/>
          </p:cNvSpPr>
          <p:nvPr>
            <p:ph type="body" sz="quarter" idx="10"/>
          </p:nvPr>
        </p:nvSpPr>
        <p:spPr>
          <a:xfrm>
            <a:off x="406952" y="380112"/>
            <a:ext cx="8686800" cy="492443"/>
          </a:xfrm>
        </p:spPr>
        <p:txBody>
          <a:bodyPr/>
          <a:lstStyle/>
          <a:p>
            <a:r>
              <a:rPr lang="en-US" sz="3200" noProof="0">
                <a:latin typeface="Trebuchet MS" panose="020B0603020202020204" pitchFamily="34" charset="0"/>
              </a:rPr>
              <a:t>Activity - Opportunity for Improvement</a:t>
            </a:r>
          </a:p>
        </p:txBody>
      </p:sp>
      <p:sp>
        <p:nvSpPr>
          <p:cNvPr id="12" name="Rectangle: Rounded Corners 11">
            <a:extLst>
              <a:ext uri="{FF2B5EF4-FFF2-40B4-BE49-F238E27FC236}">
                <a16:creationId xmlns:a16="http://schemas.microsoft.com/office/drawing/2014/main" id="{869C4A9D-F73F-74B5-F31C-77F250C86D0C}"/>
              </a:ext>
            </a:extLst>
          </p:cNvPr>
          <p:cNvSpPr/>
          <p:nvPr/>
        </p:nvSpPr>
        <p:spPr>
          <a:xfrm>
            <a:off x="7543800" y="2681431"/>
            <a:ext cx="3886198" cy="2158257"/>
          </a:xfrm>
          <a:prstGeom prst="roundRect">
            <a:avLst/>
          </a:prstGeom>
          <a:solidFill>
            <a:srgbClr val="27AA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latin typeface="Trebuchet MS" panose="020B0603020202020204" pitchFamily="34" charset="0"/>
                <a:cs typeface="Arial" panose="020B0604020202020204" pitchFamily="34" charset="0"/>
              </a:rPr>
              <a:t>Opportunities</a:t>
            </a:r>
          </a:p>
          <a:p>
            <a:pPr algn="ctr"/>
            <a:endParaRPr lang="en-US"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Each information pack has: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20 Pages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15 high resolution images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5 printing &amp; finishing process steps</a:t>
            </a:r>
          </a:p>
          <a:p>
            <a:r>
              <a:rPr lang="en-US" sz="1400" noProof="0">
                <a:solidFill>
                  <a:schemeClr val="bg1"/>
                </a:solidFill>
                <a:latin typeface="Trebuchet MS" panose="020B0603020202020204" pitchFamily="34" charset="0"/>
                <a:cs typeface="Arial" panose="020B0604020202020204" pitchFamily="34" charset="0"/>
              </a:rPr>
              <a:t>= 40 opportunities for defect</a:t>
            </a:r>
          </a:p>
        </p:txBody>
      </p:sp>
      <p:sp>
        <p:nvSpPr>
          <p:cNvPr id="9" name="Rectangle: Rounded Corners 8">
            <a:extLst>
              <a:ext uri="{FF2B5EF4-FFF2-40B4-BE49-F238E27FC236}">
                <a16:creationId xmlns:a16="http://schemas.microsoft.com/office/drawing/2014/main" id="{436AD0DB-5005-2597-0E02-109C163FEF73}"/>
              </a:ext>
            </a:extLst>
          </p:cNvPr>
          <p:cNvSpPr/>
          <p:nvPr/>
        </p:nvSpPr>
        <p:spPr>
          <a:xfrm>
            <a:off x="444163" y="2286000"/>
            <a:ext cx="5906450" cy="3129933"/>
          </a:xfrm>
          <a:prstGeom prst="roundRect">
            <a:avLst/>
          </a:prstGeom>
          <a:solidFill>
            <a:srgbClr val="2440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Our Communications Team sampled 100 updated information packs and found 5 defects.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These included:</a:t>
            </a:r>
          </a:p>
          <a:p>
            <a:endParaRPr lang="en-US" sz="1400" noProof="0">
              <a:solidFill>
                <a:schemeClr val="bg1"/>
              </a:solidFill>
              <a:latin typeface="Trebuchet MS" panose="020B0603020202020204" pitchFamily="34" charset="0"/>
              <a:cs typeface="Arial" panose="020B0604020202020204" pitchFamily="34" charset="0"/>
            </a:endParaRP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Spelling errors</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Incorrect color palette</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Missing content</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Image distortion</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Missing staples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DPU: Defects per unit (DPU) was 0.05 (5/100)</a:t>
            </a:r>
          </a:p>
          <a:p>
            <a:r>
              <a:rPr lang="en-US" sz="1400" noProof="0">
                <a:solidFill>
                  <a:schemeClr val="bg1"/>
                </a:solidFill>
                <a:latin typeface="Trebuchet MS" panose="020B0603020202020204" pitchFamily="34" charset="0"/>
                <a:cs typeface="Arial" panose="020B0604020202020204" pitchFamily="34" charset="0"/>
              </a:rPr>
              <a:t>DPMO: DPU/Opportunities x by 1,000,000 = 1,250 </a:t>
            </a:r>
          </a:p>
          <a:p>
            <a:endParaRPr lang="en-US" sz="1400"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p:txBody>
      </p:sp>
      <p:sp>
        <p:nvSpPr>
          <p:cNvPr id="13" name="Rectangle: Rounded Corners 12">
            <a:extLst>
              <a:ext uri="{FF2B5EF4-FFF2-40B4-BE49-F238E27FC236}">
                <a16:creationId xmlns:a16="http://schemas.microsoft.com/office/drawing/2014/main" id="{65E38915-155C-D01E-0EB3-2F7925DCE2F8}"/>
              </a:ext>
            </a:extLst>
          </p:cNvPr>
          <p:cNvSpPr/>
          <p:nvPr/>
        </p:nvSpPr>
        <p:spPr>
          <a:xfrm>
            <a:off x="1327456" y="5554576"/>
            <a:ext cx="38862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noProof="0">
                <a:solidFill>
                  <a:schemeClr val="tx2">
                    <a:lumMod val="50000"/>
                  </a:schemeClr>
                </a:solidFill>
                <a:latin typeface="Trebuchet MS" panose="020B0603020202020204" pitchFamily="34" charset="0"/>
                <a:cs typeface="Arial" panose="020B0604020202020204" pitchFamily="34" charset="0"/>
              </a:rPr>
              <a:t>Using the table - what is the Sigma?</a:t>
            </a:r>
          </a:p>
        </p:txBody>
      </p:sp>
      <p:sp>
        <p:nvSpPr>
          <p:cNvPr id="14" name="Rectangle: Rounded Corners 13">
            <a:extLst>
              <a:ext uri="{FF2B5EF4-FFF2-40B4-BE49-F238E27FC236}">
                <a16:creationId xmlns:a16="http://schemas.microsoft.com/office/drawing/2014/main" id="{7918BAE7-964F-2442-7C5B-54EDA4CA26D0}"/>
              </a:ext>
            </a:extLst>
          </p:cNvPr>
          <p:cNvSpPr/>
          <p:nvPr/>
        </p:nvSpPr>
        <p:spPr>
          <a:xfrm>
            <a:off x="7962899" y="5050351"/>
            <a:ext cx="304800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noProof="0">
                <a:solidFill>
                  <a:schemeClr val="tx2">
                    <a:lumMod val="50000"/>
                  </a:schemeClr>
                </a:solidFill>
                <a:latin typeface="Trebuchet MS" panose="020B0603020202020204" pitchFamily="34" charset="0"/>
                <a:cs typeface="Arial" panose="020B0604020202020204" pitchFamily="34" charset="0"/>
              </a:rPr>
              <a:t>Using the table - what is the Sigma now?</a:t>
            </a:r>
          </a:p>
        </p:txBody>
      </p:sp>
      <p:sp>
        <p:nvSpPr>
          <p:cNvPr id="2" name="Arrow: Right 1">
            <a:extLst>
              <a:ext uri="{FF2B5EF4-FFF2-40B4-BE49-F238E27FC236}">
                <a16:creationId xmlns:a16="http://schemas.microsoft.com/office/drawing/2014/main" id="{023784DA-04E2-345A-97FF-EEFE917DD535}"/>
              </a:ext>
            </a:extLst>
          </p:cNvPr>
          <p:cNvSpPr/>
          <p:nvPr/>
        </p:nvSpPr>
        <p:spPr>
          <a:xfrm>
            <a:off x="6528074" y="3362887"/>
            <a:ext cx="838264" cy="795344"/>
          </a:xfrm>
          <a:prstGeom prst="rightArrow">
            <a:avLst/>
          </a:prstGeom>
          <a:solidFill>
            <a:srgbClr val="FDBA13"/>
          </a:solidFill>
          <a:ln>
            <a:solidFill>
              <a:srgbClr val="FD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3" name="Rectangle: Rounded Corners 2">
            <a:extLst>
              <a:ext uri="{FF2B5EF4-FFF2-40B4-BE49-F238E27FC236}">
                <a16:creationId xmlns:a16="http://schemas.microsoft.com/office/drawing/2014/main" id="{5A551FA2-6C1D-7E5B-601E-EEB678EE396F}"/>
              </a:ext>
            </a:extLst>
          </p:cNvPr>
          <p:cNvSpPr/>
          <p:nvPr/>
        </p:nvSpPr>
        <p:spPr>
          <a:xfrm flipH="1">
            <a:off x="355875" y="1461556"/>
            <a:ext cx="11480249" cy="685801"/>
          </a:xfrm>
          <a:prstGeom prst="roundRect">
            <a:avLst/>
          </a:prstGeom>
          <a:noFill/>
          <a:ln>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noProof="0">
                <a:solidFill>
                  <a:srgbClr val="002060"/>
                </a:solidFill>
                <a:latin typeface="Trebuchet MS" panose="020B0603020202020204" pitchFamily="34" charset="0"/>
                <a:cs typeface="Arial"/>
              </a:rPr>
              <a:t>The business has recently launched an employee information pack and has arranged for printing with its new supplier.</a:t>
            </a:r>
            <a:endParaRPr lang="en-US" sz="1600" b="1" noProof="0">
              <a:solidFill>
                <a:srgbClr val="002060"/>
              </a:solidFill>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909381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P spid="13" grpId="0" animBg="1"/>
      <p:bldP spid="14" grpId="0" animBg="1"/>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A3017-599B-11B3-8682-A5C260737241}"/>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BCF45E42-AE76-5268-95E7-290F0C55AEF8}"/>
              </a:ext>
            </a:extLst>
          </p:cNvPr>
          <p:cNvSpPr>
            <a:spLocks noGrp="1"/>
          </p:cNvSpPr>
          <p:nvPr>
            <p:ph type="body" sz="quarter" idx="10"/>
          </p:nvPr>
        </p:nvSpPr>
        <p:spPr>
          <a:xfrm>
            <a:off x="406952" y="380112"/>
            <a:ext cx="8686800" cy="492443"/>
          </a:xfrm>
        </p:spPr>
        <p:txBody>
          <a:bodyPr/>
          <a:lstStyle/>
          <a:p>
            <a:r>
              <a:rPr lang="en-US" sz="3200" noProof="0">
                <a:latin typeface="Trebuchet MS" panose="020B0603020202020204" pitchFamily="34" charset="0"/>
              </a:rPr>
              <a:t>Activity - Opportunity for Improvement</a:t>
            </a:r>
          </a:p>
        </p:txBody>
      </p:sp>
      <p:sp>
        <p:nvSpPr>
          <p:cNvPr id="12" name="Rectangle: Rounded Corners 11">
            <a:extLst>
              <a:ext uri="{FF2B5EF4-FFF2-40B4-BE49-F238E27FC236}">
                <a16:creationId xmlns:a16="http://schemas.microsoft.com/office/drawing/2014/main" id="{D1F000F1-5C43-BB43-10CE-37360EFC368C}"/>
              </a:ext>
            </a:extLst>
          </p:cNvPr>
          <p:cNvSpPr/>
          <p:nvPr/>
        </p:nvSpPr>
        <p:spPr>
          <a:xfrm>
            <a:off x="7543800" y="2681431"/>
            <a:ext cx="3886198" cy="2158257"/>
          </a:xfrm>
          <a:prstGeom prst="roundRect">
            <a:avLst/>
          </a:prstGeom>
          <a:solidFill>
            <a:srgbClr val="27AA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latin typeface="Trebuchet MS" panose="020B0603020202020204" pitchFamily="34" charset="0"/>
                <a:cs typeface="Arial" panose="020B0604020202020204" pitchFamily="34" charset="0"/>
              </a:rPr>
              <a:t>Opportunities</a:t>
            </a:r>
          </a:p>
          <a:p>
            <a:pPr algn="ctr"/>
            <a:endParaRPr lang="en-US"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Each information pack has: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20 pages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15 high resolution images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5 printing &amp; finishing process steps</a:t>
            </a:r>
          </a:p>
          <a:p>
            <a:r>
              <a:rPr lang="en-US" sz="1400" noProof="0">
                <a:solidFill>
                  <a:schemeClr val="bg1"/>
                </a:solidFill>
                <a:latin typeface="Trebuchet MS" panose="020B0603020202020204" pitchFamily="34" charset="0"/>
                <a:cs typeface="Arial" panose="020B0604020202020204" pitchFamily="34" charset="0"/>
              </a:rPr>
              <a:t>= 40 opportunities for defect</a:t>
            </a:r>
          </a:p>
        </p:txBody>
      </p:sp>
      <p:sp>
        <p:nvSpPr>
          <p:cNvPr id="10" name="Rectangle: Rounded Corners 9">
            <a:extLst>
              <a:ext uri="{FF2B5EF4-FFF2-40B4-BE49-F238E27FC236}">
                <a16:creationId xmlns:a16="http://schemas.microsoft.com/office/drawing/2014/main" id="{8E471116-629B-625C-7046-8299256BF3FC}"/>
              </a:ext>
            </a:extLst>
          </p:cNvPr>
          <p:cNvSpPr/>
          <p:nvPr/>
        </p:nvSpPr>
        <p:spPr>
          <a:xfrm flipH="1">
            <a:off x="406949" y="1442067"/>
            <a:ext cx="11480249" cy="685801"/>
          </a:xfrm>
          <a:prstGeom prst="roundRect">
            <a:avLst/>
          </a:prstGeom>
          <a:noFill/>
          <a:ln>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noProof="0">
                <a:solidFill>
                  <a:srgbClr val="002060"/>
                </a:solidFill>
                <a:latin typeface="Trebuchet MS" panose="020B0603020202020204" pitchFamily="34" charset="0"/>
                <a:cs typeface="Arial"/>
              </a:rPr>
              <a:t>The business has recently launched an employee information pack and has arranged for printing with its new supplier.</a:t>
            </a:r>
            <a:endParaRPr lang="en-US" sz="1600" b="1" noProof="0">
              <a:solidFill>
                <a:srgbClr val="002060"/>
              </a:solidFill>
              <a:latin typeface="Trebuchet MS" panose="020B0603020202020204" pitchFamily="34" charset="0"/>
              <a:cs typeface="Arial" panose="020B0604020202020204" pitchFamily="34" charset="0"/>
            </a:endParaRPr>
          </a:p>
        </p:txBody>
      </p:sp>
      <p:sp>
        <p:nvSpPr>
          <p:cNvPr id="2" name="Arrow: Right 1">
            <a:extLst>
              <a:ext uri="{FF2B5EF4-FFF2-40B4-BE49-F238E27FC236}">
                <a16:creationId xmlns:a16="http://schemas.microsoft.com/office/drawing/2014/main" id="{CB463BEF-D612-965A-676D-04FB9BDFCA42}"/>
              </a:ext>
            </a:extLst>
          </p:cNvPr>
          <p:cNvSpPr/>
          <p:nvPr/>
        </p:nvSpPr>
        <p:spPr>
          <a:xfrm>
            <a:off x="6528074" y="3362887"/>
            <a:ext cx="838264" cy="795344"/>
          </a:xfrm>
          <a:prstGeom prst="rightArrow">
            <a:avLst/>
          </a:prstGeom>
          <a:solidFill>
            <a:srgbClr val="FDBA13"/>
          </a:solidFill>
          <a:ln>
            <a:solidFill>
              <a:srgbClr val="FD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3" name="Rectangle: Rounded Corners 2">
            <a:extLst>
              <a:ext uri="{FF2B5EF4-FFF2-40B4-BE49-F238E27FC236}">
                <a16:creationId xmlns:a16="http://schemas.microsoft.com/office/drawing/2014/main" id="{E6EEE501-3CB0-1CEC-0195-18AE21159FDD}"/>
              </a:ext>
            </a:extLst>
          </p:cNvPr>
          <p:cNvSpPr/>
          <p:nvPr/>
        </p:nvSpPr>
        <p:spPr>
          <a:xfrm>
            <a:off x="8001000" y="5589899"/>
            <a:ext cx="3200147"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noProof="0">
                <a:solidFill>
                  <a:srgbClr val="24408D"/>
                </a:solidFill>
                <a:latin typeface="Trebuchet MS" panose="020B0603020202020204" pitchFamily="34" charset="0"/>
                <a:cs typeface="Arial" panose="020B0604020202020204" pitchFamily="34" charset="0"/>
              </a:rPr>
              <a:t>Sigma based on DPMO = 4.5-4.6</a:t>
            </a:r>
          </a:p>
        </p:txBody>
      </p:sp>
      <p:sp>
        <p:nvSpPr>
          <p:cNvPr id="4" name="Rectangle: Rounded Corners 3">
            <a:extLst>
              <a:ext uri="{FF2B5EF4-FFF2-40B4-BE49-F238E27FC236}">
                <a16:creationId xmlns:a16="http://schemas.microsoft.com/office/drawing/2014/main" id="{5B5BD27A-907D-8EC4-E951-B88B851BA9FC}"/>
              </a:ext>
            </a:extLst>
          </p:cNvPr>
          <p:cNvSpPr/>
          <p:nvPr/>
        </p:nvSpPr>
        <p:spPr>
          <a:xfrm>
            <a:off x="990853" y="5589899"/>
            <a:ext cx="4569628"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noProof="0" dirty="0">
                <a:solidFill>
                  <a:srgbClr val="24408D"/>
                </a:solidFill>
                <a:latin typeface="Trebuchet MS" panose="020B0603020202020204" pitchFamily="34" charset="0"/>
                <a:cs typeface="Arial" panose="020B0604020202020204" pitchFamily="34" charset="0"/>
              </a:rPr>
              <a:t>Sigma based on DPU and no opportunities = </a:t>
            </a:r>
            <a:r>
              <a:rPr lang="en-US" sz="1600" noProof="0" dirty="0">
                <a:solidFill>
                  <a:srgbClr val="24408D"/>
                </a:solidFill>
                <a:latin typeface="Trebuchet MS" panose="020B0603020202020204" pitchFamily="34" charset="0"/>
              </a:rPr>
              <a:t>3.1 –3.2</a:t>
            </a:r>
          </a:p>
        </p:txBody>
      </p:sp>
      <p:sp>
        <p:nvSpPr>
          <p:cNvPr id="6" name="Rectangle: Rounded Corners 5">
            <a:extLst>
              <a:ext uri="{FF2B5EF4-FFF2-40B4-BE49-F238E27FC236}">
                <a16:creationId xmlns:a16="http://schemas.microsoft.com/office/drawing/2014/main" id="{394EE6F5-D5BB-A564-9C18-406A9D09A525}"/>
              </a:ext>
            </a:extLst>
          </p:cNvPr>
          <p:cNvSpPr/>
          <p:nvPr/>
        </p:nvSpPr>
        <p:spPr>
          <a:xfrm>
            <a:off x="444163" y="2286000"/>
            <a:ext cx="5906450" cy="3129933"/>
          </a:xfrm>
          <a:prstGeom prst="roundRect">
            <a:avLst/>
          </a:prstGeom>
          <a:solidFill>
            <a:srgbClr val="2440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noProof="0" dirty="0">
              <a:solidFill>
                <a:schemeClr val="bg1"/>
              </a:solidFill>
              <a:latin typeface="Trebuchet MS" panose="020B0603020202020204" pitchFamily="34" charset="0"/>
              <a:cs typeface="Arial" panose="020B0604020202020204" pitchFamily="34" charset="0"/>
            </a:endParaRPr>
          </a:p>
          <a:p>
            <a:endParaRPr lang="en-US" sz="1200" b="1" noProof="0" dirty="0">
              <a:solidFill>
                <a:schemeClr val="bg1"/>
              </a:solidFill>
              <a:latin typeface="Trebuchet MS" panose="020B0603020202020204" pitchFamily="34" charset="0"/>
              <a:cs typeface="Arial" panose="020B0604020202020204" pitchFamily="34" charset="0"/>
            </a:endParaRPr>
          </a:p>
          <a:p>
            <a:endParaRPr lang="en-US" sz="1200" b="1" noProof="0" dirty="0">
              <a:solidFill>
                <a:schemeClr val="bg1"/>
              </a:solidFill>
              <a:latin typeface="Trebuchet MS" panose="020B0603020202020204" pitchFamily="34" charset="0"/>
              <a:cs typeface="Arial" panose="020B0604020202020204" pitchFamily="34" charset="0"/>
            </a:endParaRPr>
          </a:p>
          <a:p>
            <a:r>
              <a:rPr lang="en-US" sz="1400" noProof="0" dirty="0">
                <a:solidFill>
                  <a:schemeClr val="bg1"/>
                </a:solidFill>
                <a:latin typeface="Trebuchet MS" panose="020B0603020202020204" pitchFamily="34" charset="0"/>
                <a:cs typeface="Arial" panose="020B0604020202020204" pitchFamily="34" charset="0"/>
              </a:rPr>
              <a:t>Our Communications Team sampled 100 updated information packs and found 5 defects.</a:t>
            </a:r>
          </a:p>
          <a:p>
            <a:endParaRPr lang="en-US" sz="1400" noProof="0" dirty="0">
              <a:solidFill>
                <a:schemeClr val="bg1"/>
              </a:solidFill>
              <a:latin typeface="Trebuchet MS" panose="020B0603020202020204" pitchFamily="34" charset="0"/>
              <a:cs typeface="Arial" panose="020B0604020202020204" pitchFamily="34" charset="0"/>
            </a:endParaRPr>
          </a:p>
          <a:p>
            <a:r>
              <a:rPr lang="en-US" sz="1400" noProof="0" dirty="0">
                <a:solidFill>
                  <a:schemeClr val="bg1"/>
                </a:solidFill>
                <a:latin typeface="Trebuchet MS" panose="020B0603020202020204" pitchFamily="34" charset="0"/>
                <a:cs typeface="Arial" panose="020B0604020202020204" pitchFamily="34" charset="0"/>
              </a:rPr>
              <a:t>These included:</a:t>
            </a:r>
          </a:p>
          <a:p>
            <a:endParaRPr lang="en-US" sz="1400" noProof="0" dirty="0">
              <a:solidFill>
                <a:schemeClr val="bg1"/>
              </a:solidFill>
              <a:latin typeface="Trebuchet MS" panose="020B0603020202020204" pitchFamily="34" charset="0"/>
              <a:cs typeface="Arial" panose="020B0604020202020204" pitchFamily="34" charset="0"/>
            </a:endParaRPr>
          </a:p>
          <a:p>
            <a:pPr marL="228600" indent="-228600">
              <a:buFont typeface="+mj-lt"/>
              <a:buAutoNum type="arabicPeriod"/>
            </a:pPr>
            <a:r>
              <a:rPr lang="en-US" sz="1400" noProof="0" dirty="0">
                <a:solidFill>
                  <a:schemeClr val="bg1"/>
                </a:solidFill>
                <a:latin typeface="Trebuchet MS" panose="020B0603020202020204" pitchFamily="34" charset="0"/>
                <a:cs typeface="Arial" panose="020B0604020202020204" pitchFamily="34" charset="0"/>
              </a:rPr>
              <a:t>Spelling errors</a:t>
            </a:r>
          </a:p>
          <a:p>
            <a:pPr marL="228600" indent="-228600">
              <a:buFont typeface="+mj-lt"/>
              <a:buAutoNum type="arabicPeriod"/>
            </a:pPr>
            <a:r>
              <a:rPr lang="en-US" sz="1400" noProof="0" dirty="0">
                <a:solidFill>
                  <a:schemeClr val="bg1"/>
                </a:solidFill>
                <a:latin typeface="Trebuchet MS" panose="020B0603020202020204" pitchFamily="34" charset="0"/>
                <a:cs typeface="Arial" panose="020B0604020202020204" pitchFamily="34" charset="0"/>
              </a:rPr>
              <a:t>Incorrect color palette</a:t>
            </a:r>
          </a:p>
          <a:p>
            <a:pPr marL="228600" indent="-228600">
              <a:buFont typeface="+mj-lt"/>
              <a:buAutoNum type="arabicPeriod"/>
            </a:pPr>
            <a:r>
              <a:rPr lang="en-US" sz="1400" noProof="0" dirty="0">
                <a:solidFill>
                  <a:schemeClr val="bg1"/>
                </a:solidFill>
                <a:latin typeface="Trebuchet MS" panose="020B0603020202020204" pitchFamily="34" charset="0"/>
                <a:cs typeface="Arial" panose="020B0604020202020204" pitchFamily="34" charset="0"/>
              </a:rPr>
              <a:t>Missing content</a:t>
            </a:r>
          </a:p>
          <a:p>
            <a:pPr marL="228600" indent="-228600">
              <a:buFont typeface="+mj-lt"/>
              <a:buAutoNum type="arabicPeriod"/>
            </a:pPr>
            <a:r>
              <a:rPr lang="en-US" sz="1400" noProof="0" dirty="0">
                <a:solidFill>
                  <a:schemeClr val="bg1"/>
                </a:solidFill>
                <a:latin typeface="Trebuchet MS" panose="020B0603020202020204" pitchFamily="34" charset="0"/>
                <a:cs typeface="Arial" panose="020B0604020202020204" pitchFamily="34" charset="0"/>
              </a:rPr>
              <a:t>Image distortion</a:t>
            </a:r>
          </a:p>
          <a:p>
            <a:pPr marL="228600" indent="-228600">
              <a:buFont typeface="+mj-lt"/>
              <a:buAutoNum type="arabicPeriod"/>
            </a:pPr>
            <a:r>
              <a:rPr lang="en-US" sz="1400" noProof="0" dirty="0">
                <a:solidFill>
                  <a:schemeClr val="bg1"/>
                </a:solidFill>
                <a:latin typeface="Trebuchet MS" panose="020B0603020202020204" pitchFamily="34" charset="0"/>
                <a:cs typeface="Arial" panose="020B0604020202020204" pitchFamily="34" charset="0"/>
              </a:rPr>
              <a:t>Missing staples</a:t>
            </a:r>
          </a:p>
          <a:p>
            <a:endParaRPr lang="en-US" sz="1400" noProof="0" dirty="0">
              <a:solidFill>
                <a:schemeClr val="bg1"/>
              </a:solidFill>
              <a:latin typeface="Trebuchet MS" panose="020B0603020202020204" pitchFamily="34" charset="0"/>
              <a:cs typeface="Arial" panose="020B0604020202020204" pitchFamily="34" charset="0"/>
            </a:endParaRPr>
          </a:p>
          <a:p>
            <a:r>
              <a:rPr lang="en-US" sz="1400" noProof="0" dirty="0">
                <a:solidFill>
                  <a:schemeClr val="bg1"/>
                </a:solidFill>
                <a:latin typeface="Trebuchet MS" panose="020B0603020202020204" pitchFamily="34" charset="0"/>
                <a:cs typeface="Arial" panose="020B0604020202020204" pitchFamily="34" charset="0"/>
              </a:rPr>
              <a:t>DPU: Defects per unit (DPU) was 0.05 (5/100)</a:t>
            </a:r>
          </a:p>
          <a:p>
            <a:r>
              <a:rPr lang="en-US" sz="1400" noProof="0" dirty="0">
                <a:solidFill>
                  <a:schemeClr val="bg1"/>
                </a:solidFill>
                <a:latin typeface="Trebuchet MS" panose="020B0603020202020204" pitchFamily="34" charset="0"/>
                <a:cs typeface="Arial" panose="020B0604020202020204" pitchFamily="34" charset="0"/>
              </a:rPr>
              <a:t>DPMO: DPU/Opportunities x 1,000,000 = 1,250 </a:t>
            </a:r>
          </a:p>
          <a:p>
            <a:endParaRPr lang="en-US" sz="1400" noProof="0" dirty="0">
              <a:solidFill>
                <a:schemeClr val="bg1"/>
              </a:solidFill>
              <a:latin typeface="Trebuchet MS" panose="020B0603020202020204" pitchFamily="34" charset="0"/>
              <a:cs typeface="Arial" panose="020B0604020202020204" pitchFamily="34" charset="0"/>
            </a:endParaRPr>
          </a:p>
          <a:p>
            <a:endParaRPr lang="en-US" sz="1200" b="1" noProof="0" dirty="0">
              <a:solidFill>
                <a:schemeClr val="bg1"/>
              </a:solidFill>
              <a:latin typeface="Trebuchet MS" panose="020B0603020202020204" pitchFamily="34" charset="0"/>
              <a:cs typeface="Arial" panose="020B0604020202020204" pitchFamily="34" charset="0"/>
            </a:endParaRPr>
          </a:p>
          <a:p>
            <a:endParaRPr lang="en-US" sz="1200" b="1" noProof="0" dirty="0">
              <a:solidFill>
                <a:schemeClr val="bg1"/>
              </a:solidFill>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3341986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animBg="1"/>
      <p:bldP spid="3" grpId="0" animBg="1"/>
      <p:bldP spid="4"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8F39605-5937-C30E-1953-26D6DFACF61B}"/>
              </a:ext>
            </a:extLst>
          </p:cNvPr>
          <p:cNvSpPr>
            <a:spLocks noGrp="1"/>
          </p:cNvSpPr>
          <p:nvPr>
            <p:ph type="body" sz="quarter" idx="10"/>
          </p:nvPr>
        </p:nvSpPr>
        <p:spPr>
          <a:xfrm>
            <a:off x="533400" y="407692"/>
            <a:ext cx="8915400" cy="492443"/>
          </a:xfrm>
        </p:spPr>
        <p:txBody>
          <a:bodyPr/>
          <a:lstStyle/>
          <a:p>
            <a:r>
              <a:rPr lang="en-US" sz="3200" noProof="0"/>
              <a:t>Let’s check the table</a:t>
            </a:r>
          </a:p>
        </p:txBody>
      </p:sp>
      <p:pic>
        <p:nvPicPr>
          <p:cNvPr id="6" name="Picture 5">
            <a:extLst>
              <a:ext uri="{FF2B5EF4-FFF2-40B4-BE49-F238E27FC236}">
                <a16:creationId xmlns:a16="http://schemas.microsoft.com/office/drawing/2014/main" id="{8FEB04A3-A8FF-DF6C-F7C1-10C2154D87EF}"/>
              </a:ext>
            </a:extLst>
          </p:cNvPr>
          <p:cNvPicPr>
            <a:picLocks noChangeAspect="1"/>
          </p:cNvPicPr>
          <p:nvPr/>
        </p:nvPicPr>
        <p:blipFill>
          <a:blip r:embed="rId3"/>
          <a:stretch>
            <a:fillRect/>
          </a:stretch>
        </p:blipFill>
        <p:spPr>
          <a:xfrm>
            <a:off x="1965849" y="1676399"/>
            <a:ext cx="7986452" cy="4407790"/>
          </a:xfrm>
          <a:prstGeom prst="rect">
            <a:avLst/>
          </a:prstGeom>
          <a:ln>
            <a:solidFill>
              <a:srgbClr val="27AAE1"/>
            </a:solidFill>
          </a:ln>
        </p:spPr>
      </p:pic>
      <p:sp>
        <p:nvSpPr>
          <p:cNvPr id="7" name="Rectangle 6">
            <a:extLst>
              <a:ext uri="{FF2B5EF4-FFF2-40B4-BE49-F238E27FC236}">
                <a16:creationId xmlns:a16="http://schemas.microsoft.com/office/drawing/2014/main" id="{88B75F0B-77DF-9571-0BC7-8B40A335A32E}"/>
              </a:ext>
            </a:extLst>
          </p:cNvPr>
          <p:cNvSpPr/>
          <p:nvPr/>
        </p:nvSpPr>
        <p:spPr>
          <a:xfrm>
            <a:off x="6076507" y="2514600"/>
            <a:ext cx="3724940" cy="381000"/>
          </a:xfrm>
          <a:prstGeom prst="rect">
            <a:avLst/>
          </a:prstGeom>
          <a:no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TextBox 7">
            <a:extLst>
              <a:ext uri="{FF2B5EF4-FFF2-40B4-BE49-F238E27FC236}">
                <a16:creationId xmlns:a16="http://schemas.microsoft.com/office/drawing/2014/main" id="{3813434A-65F5-B327-D9D1-FCAD3E0AE260}"/>
              </a:ext>
            </a:extLst>
          </p:cNvPr>
          <p:cNvSpPr txBox="1"/>
          <p:nvPr/>
        </p:nvSpPr>
        <p:spPr>
          <a:xfrm>
            <a:off x="10142801" y="1871364"/>
            <a:ext cx="1855525" cy="2246769"/>
          </a:xfrm>
          <a:prstGeom prst="rect">
            <a:avLst/>
          </a:prstGeom>
          <a:solidFill>
            <a:srgbClr val="24408D"/>
          </a:solidFill>
        </p:spPr>
        <p:txBody>
          <a:bodyPr wrap="square" rtlCol="0">
            <a:spAutoFit/>
          </a:bodyPr>
          <a:lstStyle/>
          <a:p>
            <a:endParaRPr lang="en-US" sz="1400" noProof="0">
              <a:solidFill>
                <a:schemeClr val="bg1"/>
              </a:solidFill>
              <a:latin typeface="Trebuchet MS" panose="020B0603020202020204" pitchFamily="34" charset="0"/>
            </a:endParaRPr>
          </a:p>
          <a:p>
            <a:r>
              <a:rPr lang="en-US" sz="1400" noProof="0">
                <a:solidFill>
                  <a:schemeClr val="bg1"/>
                </a:solidFill>
                <a:latin typeface="Trebuchet MS" panose="020B0603020202020204" pitchFamily="34" charset="0"/>
              </a:rPr>
              <a:t>Based on just defects per 100. You can see there were 5 defects. Giving the process a:</a:t>
            </a:r>
          </a:p>
          <a:p>
            <a:endParaRPr lang="en-US" sz="1400" noProof="0">
              <a:solidFill>
                <a:schemeClr val="bg1"/>
              </a:solidFill>
              <a:latin typeface="Trebuchet MS" panose="020B0603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95% yield</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rPr>
              <a:t>Sigma of 3.1 – 3.2</a:t>
            </a:r>
          </a:p>
        </p:txBody>
      </p:sp>
      <p:sp>
        <p:nvSpPr>
          <p:cNvPr id="9" name="Flowchart: Connector 8">
            <a:extLst>
              <a:ext uri="{FF2B5EF4-FFF2-40B4-BE49-F238E27FC236}">
                <a16:creationId xmlns:a16="http://schemas.microsoft.com/office/drawing/2014/main" id="{E8300D09-132F-FCAF-F4B8-2D6E3DAC4DB1}"/>
              </a:ext>
            </a:extLst>
          </p:cNvPr>
          <p:cNvSpPr/>
          <p:nvPr/>
        </p:nvSpPr>
        <p:spPr>
          <a:xfrm>
            <a:off x="9952301" y="1676399"/>
            <a:ext cx="381000" cy="389929"/>
          </a:xfrm>
          <a:prstGeom prst="flowChartConnector">
            <a:avLst/>
          </a:prstGeom>
          <a:solidFill>
            <a:srgbClr val="24408D"/>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a:latin typeface="Trebuchet MS" panose="020B0603020202020204" pitchFamily="34" charset="0"/>
              </a:rPr>
              <a:t>1</a:t>
            </a:r>
          </a:p>
        </p:txBody>
      </p:sp>
      <p:sp>
        <p:nvSpPr>
          <p:cNvPr id="10" name="TextBox 9">
            <a:extLst>
              <a:ext uri="{FF2B5EF4-FFF2-40B4-BE49-F238E27FC236}">
                <a16:creationId xmlns:a16="http://schemas.microsoft.com/office/drawing/2014/main" id="{364DEE18-9CD8-D31D-C9BD-63AC93410B06}"/>
              </a:ext>
            </a:extLst>
          </p:cNvPr>
          <p:cNvSpPr txBox="1"/>
          <p:nvPr/>
        </p:nvSpPr>
        <p:spPr>
          <a:xfrm>
            <a:off x="193674" y="3276600"/>
            <a:ext cx="1855525" cy="2031325"/>
          </a:xfrm>
          <a:prstGeom prst="rect">
            <a:avLst/>
          </a:prstGeom>
          <a:solidFill>
            <a:srgbClr val="27AAE1"/>
          </a:solidFill>
        </p:spPr>
        <p:txBody>
          <a:bodyPr wrap="square" rtlCol="0">
            <a:spAutoFit/>
          </a:bodyPr>
          <a:lstStyle/>
          <a:p>
            <a:endParaRPr lang="en-US" sz="1400" noProof="0">
              <a:solidFill>
                <a:schemeClr val="bg1"/>
              </a:solidFill>
              <a:latin typeface="Trebuchet MS" panose="020B0603020202020204" pitchFamily="34" charset="0"/>
            </a:endParaRPr>
          </a:p>
          <a:p>
            <a:r>
              <a:rPr lang="en-US" sz="1400" noProof="0">
                <a:solidFill>
                  <a:schemeClr val="bg1"/>
                </a:solidFill>
                <a:latin typeface="Trebuchet MS" panose="020B0603020202020204" pitchFamily="34" charset="0"/>
              </a:rPr>
              <a:t>Including opportunities for defects per million (DPMO)</a:t>
            </a:r>
          </a:p>
          <a:p>
            <a:endParaRPr lang="en-US" sz="1400" noProof="0">
              <a:solidFill>
                <a:schemeClr val="bg1"/>
              </a:solidFill>
              <a:latin typeface="Trebuchet MS" panose="020B0603020202020204" pitchFamily="34" charset="0"/>
            </a:endParaRPr>
          </a:p>
          <a:p>
            <a:r>
              <a:rPr lang="en-US" sz="1400" noProof="0">
                <a:solidFill>
                  <a:schemeClr val="bg1"/>
                </a:solidFill>
                <a:latin typeface="Trebuchet MS" panose="020B0603020202020204" pitchFamily="34" charset="0"/>
              </a:rPr>
              <a:t>DPMO sits between 4.5 – 4.6</a:t>
            </a:r>
          </a:p>
          <a:p>
            <a:endParaRPr lang="en-US" sz="1400" noProof="0">
              <a:solidFill>
                <a:schemeClr val="bg1"/>
              </a:solidFill>
              <a:latin typeface="Trebuchet MS" panose="020B0603020202020204" pitchFamily="34" charset="0"/>
            </a:endParaRPr>
          </a:p>
        </p:txBody>
      </p:sp>
      <p:sp>
        <p:nvSpPr>
          <p:cNvPr id="11" name="Rectangle 10">
            <a:extLst>
              <a:ext uri="{FF2B5EF4-FFF2-40B4-BE49-F238E27FC236}">
                <a16:creationId xmlns:a16="http://schemas.microsoft.com/office/drawing/2014/main" id="{2796AC00-3066-1207-C08A-99DFD0A8943F}"/>
              </a:ext>
            </a:extLst>
          </p:cNvPr>
          <p:cNvSpPr/>
          <p:nvPr/>
        </p:nvSpPr>
        <p:spPr>
          <a:xfrm>
            <a:off x="2205782" y="4255786"/>
            <a:ext cx="3585418" cy="316214"/>
          </a:xfrm>
          <a:prstGeom prst="rect">
            <a:avLst/>
          </a:prstGeom>
          <a:no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Flowchart: Connector 11">
            <a:extLst>
              <a:ext uri="{FF2B5EF4-FFF2-40B4-BE49-F238E27FC236}">
                <a16:creationId xmlns:a16="http://schemas.microsoft.com/office/drawing/2014/main" id="{C2A58D86-853D-3D5E-05B7-FBE143A2810C}"/>
              </a:ext>
            </a:extLst>
          </p:cNvPr>
          <p:cNvSpPr/>
          <p:nvPr/>
        </p:nvSpPr>
        <p:spPr>
          <a:xfrm>
            <a:off x="1775349" y="3081635"/>
            <a:ext cx="381000" cy="389929"/>
          </a:xfrm>
          <a:prstGeom prst="flowChartConnector">
            <a:avLst/>
          </a:prstGeom>
          <a:solidFill>
            <a:srgbClr val="27AAE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a:latin typeface="Trebuchet MS" panose="020B0603020202020204" pitchFamily="34" charset="0"/>
              </a:rPr>
              <a:t>2</a:t>
            </a:r>
          </a:p>
        </p:txBody>
      </p:sp>
    </p:spTree>
    <p:extLst>
      <p:ext uri="{BB962C8B-B14F-4D97-AF65-F5344CB8AC3E}">
        <p14:creationId xmlns:p14="http://schemas.microsoft.com/office/powerpoint/2010/main" val="206894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6D50B-73C0-1563-4D3F-CFA8EDAFC82F}"/>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B51100CE-3C58-BFA3-F284-B6EA2A501BE4}"/>
              </a:ext>
            </a:extLst>
          </p:cNvPr>
          <p:cNvSpPr>
            <a:spLocks noGrp="1"/>
          </p:cNvSpPr>
          <p:nvPr>
            <p:ph type="body" sz="quarter" idx="10"/>
          </p:nvPr>
        </p:nvSpPr>
        <p:spPr>
          <a:xfrm>
            <a:off x="535858" y="330559"/>
            <a:ext cx="8686800" cy="492443"/>
          </a:xfrm>
        </p:spPr>
        <p:txBody>
          <a:bodyPr/>
          <a:lstStyle/>
          <a:p>
            <a:r>
              <a:rPr lang="en-US" sz="3200" noProof="0">
                <a:latin typeface="Trebuchet MS" panose="020B0603020202020204" pitchFamily="34" charset="0"/>
              </a:rPr>
              <a:t>Activity - opportunities for improvement</a:t>
            </a:r>
          </a:p>
        </p:txBody>
      </p:sp>
      <p:sp>
        <p:nvSpPr>
          <p:cNvPr id="3" name="Rectangle: Rounded Corners 2">
            <a:extLst>
              <a:ext uri="{FF2B5EF4-FFF2-40B4-BE49-F238E27FC236}">
                <a16:creationId xmlns:a16="http://schemas.microsoft.com/office/drawing/2014/main" id="{115A6256-C3F8-8B94-55E4-8A06051C1693}"/>
              </a:ext>
            </a:extLst>
          </p:cNvPr>
          <p:cNvSpPr/>
          <p:nvPr/>
        </p:nvSpPr>
        <p:spPr>
          <a:xfrm>
            <a:off x="7576142" y="2623655"/>
            <a:ext cx="3707218" cy="2367933"/>
          </a:xfrm>
          <a:prstGeom prst="roundRect">
            <a:avLst/>
          </a:prstGeom>
          <a:solidFill>
            <a:srgbClr val="27AA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latin typeface="Trebuchet MS" panose="020B0603020202020204" pitchFamily="34" charset="0"/>
                <a:cs typeface="Arial" panose="020B0604020202020204" pitchFamily="34" charset="0"/>
              </a:rPr>
              <a:t>Opportunities</a:t>
            </a:r>
          </a:p>
          <a:p>
            <a:pPr algn="ctr"/>
            <a:endParaRPr lang="en-US"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Each information pack has:</a:t>
            </a:r>
          </a:p>
          <a:p>
            <a:endParaRPr lang="en-US" sz="1400" noProof="0">
              <a:solidFill>
                <a:schemeClr val="bg1"/>
              </a:solidFill>
              <a:latin typeface="Trebuchet MS" panose="020B0603020202020204" pitchFamily="34" charset="0"/>
              <a:cs typeface="Arial" panose="020B0604020202020204" pitchFamily="34" charset="0"/>
            </a:endParaRP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45 pages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25 high resolution images</a:t>
            </a:r>
          </a:p>
          <a:p>
            <a:pPr marL="285750" indent="-285750">
              <a:buFont typeface="Arial" panose="020B0604020202020204" pitchFamily="34" charset="0"/>
              <a:buChar char="•"/>
            </a:pPr>
            <a:r>
              <a:rPr lang="en-US" sz="1400" noProof="0">
                <a:solidFill>
                  <a:schemeClr val="bg1"/>
                </a:solidFill>
                <a:latin typeface="Trebuchet MS" panose="020B0603020202020204" pitchFamily="34" charset="0"/>
                <a:cs typeface="Arial" panose="020B0604020202020204" pitchFamily="34" charset="0"/>
              </a:rPr>
              <a:t>8 printing and finishing process steps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78 = opportunities for defect</a:t>
            </a:r>
          </a:p>
        </p:txBody>
      </p:sp>
      <p:sp>
        <p:nvSpPr>
          <p:cNvPr id="6" name="Rectangle: Rounded Corners 5">
            <a:extLst>
              <a:ext uri="{FF2B5EF4-FFF2-40B4-BE49-F238E27FC236}">
                <a16:creationId xmlns:a16="http://schemas.microsoft.com/office/drawing/2014/main" id="{D0C8946B-9F1C-1677-35F2-294836A59B42}"/>
              </a:ext>
            </a:extLst>
          </p:cNvPr>
          <p:cNvSpPr/>
          <p:nvPr/>
        </p:nvSpPr>
        <p:spPr>
          <a:xfrm flipH="1">
            <a:off x="406949" y="1442067"/>
            <a:ext cx="11480249" cy="685801"/>
          </a:xfrm>
          <a:prstGeom prst="roundRect">
            <a:avLst/>
          </a:prstGeom>
          <a:noFill/>
          <a:ln>
            <a:solidFill>
              <a:srgbClr val="27AAE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noProof="0">
                <a:solidFill>
                  <a:srgbClr val="002060"/>
                </a:solidFill>
                <a:latin typeface="Trebuchet MS" panose="020B0603020202020204" pitchFamily="34" charset="0"/>
                <a:cs typeface="Arial"/>
              </a:rPr>
              <a:t>Our communications team have decided to redesign the existing pack and design a second version before releasing it to the teams. </a:t>
            </a:r>
          </a:p>
        </p:txBody>
      </p:sp>
      <p:sp>
        <p:nvSpPr>
          <p:cNvPr id="8" name="Rectangle: Rounded Corners 7">
            <a:extLst>
              <a:ext uri="{FF2B5EF4-FFF2-40B4-BE49-F238E27FC236}">
                <a16:creationId xmlns:a16="http://schemas.microsoft.com/office/drawing/2014/main" id="{BD8FF184-D682-24C5-0257-440A7C1B4395}"/>
              </a:ext>
            </a:extLst>
          </p:cNvPr>
          <p:cNvSpPr/>
          <p:nvPr/>
        </p:nvSpPr>
        <p:spPr>
          <a:xfrm>
            <a:off x="7670800" y="5513934"/>
            <a:ext cx="3510960"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600" b="1" noProof="0">
                <a:solidFill>
                  <a:schemeClr val="tx2">
                    <a:lumMod val="50000"/>
                  </a:schemeClr>
                </a:solidFill>
                <a:latin typeface="Trebuchet MS"/>
                <a:cs typeface="Arial"/>
              </a:rPr>
              <a:t>Using the table, what is the new sigma score?</a:t>
            </a:r>
          </a:p>
        </p:txBody>
      </p:sp>
      <p:sp>
        <p:nvSpPr>
          <p:cNvPr id="16" name="Arrow: Right 15">
            <a:extLst>
              <a:ext uri="{FF2B5EF4-FFF2-40B4-BE49-F238E27FC236}">
                <a16:creationId xmlns:a16="http://schemas.microsoft.com/office/drawing/2014/main" id="{9AD0A86B-7A88-6D79-EEDE-DE85F990B086}"/>
              </a:ext>
            </a:extLst>
          </p:cNvPr>
          <p:cNvSpPr/>
          <p:nvPr/>
        </p:nvSpPr>
        <p:spPr>
          <a:xfrm>
            <a:off x="6248400" y="3409949"/>
            <a:ext cx="1193251" cy="795344"/>
          </a:xfrm>
          <a:prstGeom prst="rightArrow">
            <a:avLst/>
          </a:prstGeom>
          <a:solidFill>
            <a:srgbClr val="FDBA13"/>
          </a:solidFill>
          <a:ln>
            <a:solidFill>
              <a:srgbClr val="FD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2" name="Rectangle: Rounded Corners 1">
            <a:extLst>
              <a:ext uri="{FF2B5EF4-FFF2-40B4-BE49-F238E27FC236}">
                <a16:creationId xmlns:a16="http://schemas.microsoft.com/office/drawing/2014/main" id="{08D54A12-CA4F-D733-2709-3CEE785FDFF4}"/>
              </a:ext>
            </a:extLst>
          </p:cNvPr>
          <p:cNvSpPr/>
          <p:nvPr/>
        </p:nvSpPr>
        <p:spPr>
          <a:xfrm>
            <a:off x="347013" y="2289544"/>
            <a:ext cx="5520387" cy="3129933"/>
          </a:xfrm>
          <a:prstGeom prst="roundRect">
            <a:avLst/>
          </a:prstGeom>
          <a:solidFill>
            <a:srgbClr val="2440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Our Communications Team sampled 100 updated information packs and found 3 defects.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These included:</a:t>
            </a:r>
          </a:p>
          <a:p>
            <a:endParaRPr lang="en-US" sz="1400" noProof="0">
              <a:solidFill>
                <a:schemeClr val="bg1"/>
              </a:solidFill>
              <a:latin typeface="Trebuchet MS" panose="020B0603020202020204" pitchFamily="34" charset="0"/>
              <a:cs typeface="Arial" panose="020B0604020202020204" pitchFamily="34" charset="0"/>
            </a:endParaRPr>
          </a:p>
          <a:p>
            <a:pPr marL="228600" indent="-228600">
              <a:buFont typeface="+mj-lt"/>
              <a:buAutoNum type="arabicPeriod"/>
            </a:pPr>
            <a:r>
              <a:rPr lang="en-US" sz="1400" noProof="0">
                <a:solidFill>
                  <a:schemeClr val="bg1"/>
                </a:solidFill>
                <a:latin typeface="Trebuchet MS"/>
                <a:cs typeface="Arial"/>
              </a:rPr>
              <a:t>Spelling errors</a:t>
            </a:r>
            <a:endParaRPr lang="en-US" sz="1400" noProof="0">
              <a:solidFill>
                <a:schemeClr val="bg1"/>
              </a:solidFill>
              <a:latin typeface="Trebuchet MS" panose="020B0603020202020204" pitchFamily="34" charset="0"/>
              <a:cs typeface="Arial" panose="020B0604020202020204" pitchFamily="34" charset="0"/>
            </a:endParaRP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Missing content</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Incorrect numbering</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DPU: Defects per unit (DPU) was 0.03 (3/100)</a:t>
            </a:r>
          </a:p>
          <a:p>
            <a:r>
              <a:rPr lang="en-US" sz="1400" noProof="0">
                <a:solidFill>
                  <a:schemeClr val="bg1"/>
                </a:solidFill>
                <a:latin typeface="Trebuchet MS" panose="020B0603020202020204" pitchFamily="34" charset="0"/>
                <a:cs typeface="Arial" panose="020B0604020202020204" pitchFamily="34" charset="0"/>
              </a:rPr>
              <a:t>DPMO: DPU/Opportunities x 1,000,000 = 0.03/78 x 1,000,000 = 384.6 (385)</a:t>
            </a: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p:txBody>
      </p:sp>
      <p:sp>
        <p:nvSpPr>
          <p:cNvPr id="9" name="Rectangle: Rounded Corners 8">
            <a:extLst>
              <a:ext uri="{FF2B5EF4-FFF2-40B4-BE49-F238E27FC236}">
                <a16:creationId xmlns:a16="http://schemas.microsoft.com/office/drawing/2014/main" id="{ED6A7455-EAE4-2AD5-31F5-8E8E6F0B05F4}"/>
              </a:ext>
            </a:extLst>
          </p:cNvPr>
          <p:cNvSpPr/>
          <p:nvPr/>
        </p:nvSpPr>
        <p:spPr>
          <a:xfrm>
            <a:off x="384787" y="5515429"/>
            <a:ext cx="5406414" cy="67854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US" sz="1600" b="1" noProof="0">
              <a:solidFill>
                <a:schemeClr val="tx2">
                  <a:lumMod val="50000"/>
                </a:schemeClr>
              </a:solidFill>
              <a:latin typeface="Trebuchet MS"/>
              <a:cs typeface="Arial"/>
            </a:endParaRPr>
          </a:p>
          <a:p>
            <a:r>
              <a:rPr lang="en-US" sz="1600" b="1" noProof="0">
                <a:solidFill>
                  <a:schemeClr val="tx2">
                    <a:lumMod val="50000"/>
                  </a:schemeClr>
                </a:solidFill>
                <a:latin typeface="Trebuchet MS"/>
                <a:cs typeface="Arial"/>
              </a:rPr>
              <a:t>Process sigma based on DPU and no opportunities </a:t>
            </a:r>
            <a:endParaRPr lang="en-US" noProof="0">
              <a:solidFill>
                <a:schemeClr val="tx2">
                  <a:lumMod val="50000"/>
                </a:schemeClr>
              </a:solidFill>
              <a:ea typeface="Calibri"/>
              <a:cs typeface="Calibri"/>
            </a:endParaRPr>
          </a:p>
          <a:p>
            <a:r>
              <a:rPr lang="en-US" sz="1600" b="1" noProof="0">
                <a:solidFill>
                  <a:schemeClr val="tx2">
                    <a:lumMod val="50000"/>
                  </a:schemeClr>
                </a:solidFill>
                <a:latin typeface="Trebuchet MS"/>
                <a:cs typeface="Arial"/>
              </a:rPr>
              <a:t>= 3.3–3.4</a:t>
            </a:r>
            <a:endParaRPr lang="en-US" noProof="0">
              <a:solidFill>
                <a:schemeClr val="tx2">
                  <a:lumMod val="50000"/>
                </a:schemeClr>
              </a:solidFill>
            </a:endParaRPr>
          </a:p>
          <a:p>
            <a:endParaRPr lang="en-US" sz="1600" b="1" noProof="0">
              <a:solidFill>
                <a:schemeClr val="tx2">
                  <a:lumMod val="50000"/>
                </a:schemeClr>
              </a:solidFill>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1754417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1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5B93B2F-2908-50C2-F779-0B1BCB8CAD01}"/>
              </a:ext>
            </a:extLst>
          </p:cNvPr>
          <p:cNvSpPr>
            <a:spLocks noGrp="1"/>
          </p:cNvSpPr>
          <p:nvPr>
            <p:ph type="body" sz="quarter" idx="10"/>
          </p:nvPr>
        </p:nvSpPr>
        <p:spPr>
          <a:xfrm>
            <a:off x="533400" y="350473"/>
            <a:ext cx="8686800" cy="492443"/>
          </a:xfrm>
        </p:spPr>
        <p:txBody>
          <a:bodyPr/>
          <a:lstStyle/>
          <a:p>
            <a:r>
              <a:rPr lang="en-US" sz="3200" noProof="0">
                <a:latin typeface="Trebuchet MS" panose="020B0603020202020204" pitchFamily="34" charset="0"/>
              </a:rPr>
              <a:t>Activity- Answer</a:t>
            </a:r>
          </a:p>
        </p:txBody>
      </p:sp>
      <p:sp>
        <p:nvSpPr>
          <p:cNvPr id="6" name="Rectangle: Rounded Corners 5">
            <a:extLst>
              <a:ext uri="{FF2B5EF4-FFF2-40B4-BE49-F238E27FC236}">
                <a16:creationId xmlns:a16="http://schemas.microsoft.com/office/drawing/2014/main" id="{F0ABEC0D-A505-9873-18D0-C68EDA606A39}"/>
              </a:ext>
            </a:extLst>
          </p:cNvPr>
          <p:cNvSpPr/>
          <p:nvPr/>
        </p:nvSpPr>
        <p:spPr>
          <a:xfrm>
            <a:off x="7620000" y="5041504"/>
            <a:ext cx="3576416"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noProof="0">
                <a:solidFill>
                  <a:schemeClr val="tx2">
                    <a:lumMod val="50000"/>
                  </a:schemeClr>
                </a:solidFill>
                <a:latin typeface="Trebuchet MS" panose="020B0603020202020204" pitchFamily="34" charset="0"/>
                <a:cs typeface="Arial" panose="020B0604020202020204" pitchFamily="34" charset="0"/>
              </a:rPr>
              <a:t>Sigma with opportunities 4.8 - 4.9</a:t>
            </a:r>
          </a:p>
        </p:txBody>
      </p:sp>
      <p:sp>
        <p:nvSpPr>
          <p:cNvPr id="9" name="Arrow: Right 8">
            <a:extLst>
              <a:ext uri="{FF2B5EF4-FFF2-40B4-BE49-F238E27FC236}">
                <a16:creationId xmlns:a16="http://schemas.microsoft.com/office/drawing/2014/main" id="{8EAFBB9D-855B-41D2-B81C-79F8061EDD1A}"/>
              </a:ext>
            </a:extLst>
          </p:cNvPr>
          <p:cNvSpPr/>
          <p:nvPr/>
        </p:nvSpPr>
        <p:spPr>
          <a:xfrm>
            <a:off x="6400800" y="2633656"/>
            <a:ext cx="804863" cy="795344"/>
          </a:xfrm>
          <a:prstGeom prst="rightArrow">
            <a:avLst/>
          </a:prstGeom>
          <a:solidFill>
            <a:srgbClr val="FDBA13"/>
          </a:solidFill>
          <a:ln>
            <a:solidFill>
              <a:srgbClr val="FD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Trebuchet MS" panose="020B0603020202020204" pitchFamily="34" charset="0"/>
            </a:endParaRPr>
          </a:p>
        </p:txBody>
      </p:sp>
      <p:sp>
        <p:nvSpPr>
          <p:cNvPr id="10" name="Rectangle: Rounded Corners 9">
            <a:extLst>
              <a:ext uri="{FF2B5EF4-FFF2-40B4-BE49-F238E27FC236}">
                <a16:creationId xmlns:a16="http://schemas.microsoft.com/office/drawing/2014/main" id="{52E067FC-E5F1-A526-D5F3-E8B8363C773D}"/>
              </a:ext>
            </a:extLst>
          </p:cNvPr>
          <p:cNvSpPr/>
          <p:nvPr/>
        </p:nvSpPr>
        <p:spPr>
          <a:xfrm>
            <a:off x="460601" y="5041504"/>
            <a:ext cx="5522128"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noProof="0">
                <a:solidFill>
                  <a:schemeClr val="tx2">
                    <a:lumMod val="50000"/>
                  </a:schemeClr>
                </a:solidFill>
                <a:latin typeface="Trebuchet MS" panose="020B0603020202020204" pitchFamily="34" charset="0"/>
                <a:cs typeface="Arial" panose="020B0604020202020204" pitchFamily="34" charset="0"/>
              </a:rPr>
              <a:t>Sigma based on DPU and no opportunities = 3.3–3.4</a:t>
            </a:r>
          </a:p>
        </p:txBody>
      </p:sp>
      <p:sp>
        <p:nvSpPr>
          <p:cNvPr id="11" name="Rectangle: Rounded Corners 10">
            <a:extLst>
              <a:ext uri="{FF2B5EF4-FFF2-40B4-BE49-F238E27FC236}">
                <a16:creationId xmlns:a16="http://schemas.microsoft.com/office/drawing/2014/main" id="{3DE7A20C-60B7-EE96-7F85-C9C336A33168}"/>
              </a:ext>
            </a:extLst>
          </p:cNvPr>
          <p:cNvSpPr/>
          <p:nvPr/>
        </p:nvSpPr>
        <p:spPr>
          <a:xfrm>
            <a:off x="7489198" y="1981200"/>
            <a:ext cx="3707218" cy="2367933"/>
          </a:xfrm>
          <a:prstGeom prst="roundRect">
            <a:avLst/>
          </a:prstGeom>
          <a:solidFill>
            <a:srgbClr val="27AA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latin typeface="Trebuchet MS" panose="020B0603020202020204" pitchFamily="34" charset="0"/>
                <a:cs typeface="Arial" panose="020B0604020202020204" pitchFamily="34" charset="0"/>
              </a:rPr>
              <a:t>Opportunities</a:t>
            </a:r>
          </a:p>
          <a:p>
            <a:pPr algn="ctr"/>
            <a:endParaRPr lang="en-US"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Each information pack has:</a:t>
            </a:r>
          </a:p>
          <a:p>
            <a:endParaRPr lang="en-US" sz="1400" noProof="0">
              <a:solidFill>
                <a:schemeClr val="bg1"/>
              </a:solidFill>
              <a:latin typeface="Trebuchet MS" panose="020B0603020202020204" pitchFamily="34" charset="0"/>
              <a:cs typeface="Arial" panose="020B0604020202020204" pitchFamily="34" charset="0"/>
            </a:endParaRP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45 Pages</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25 high resolution images</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8 printing and finishing process steps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78 = opportunities for defect</a:t>
            </a:r>
          </a:p>
        </p:txBody>
      </p:sp>
      <p:sp>
        <p:nvSpPr>
          <p:cNvPr id="12" name="Rectangle: Rounded Corners 11">
            <a:extLst>
              <a:ext uri="{FF2B5EF4-FFF2-40B4-BE49-F238E27FC236}">
                <a16:creationId xmlns:a16="http://schemas.microsoft.com/office/drawing/2014/main" id="{0259D103-5233-5901-F407-94CB984AC8F3}"/>
              </a:ext>
            </a:extLst>
          </p:cNvPr>
          <p:cNvSpPr/>
          <p:nvPr/>
        </p:nvSpPr>
        <p:spPr>
          <a:xfrm>
            <a:off x="326065" y="1676400"/>
            <a:ext cx="5791200" cy="3129933"/>
          </a:xfrm>
          <a:prstGeom prst="roundRect">
            <a:avLst/>
          </a:prstGeom>
          <a:solidFill>
            <a:srgbClr val="2440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Our Communications Team sampled 100 updated information packs and found 3 defects.</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These included:</a:t>
            </a:r>
          </a:p>
          <a:p>
            <a:endParaRPr lang="en-US" sz="1400" noProof="0">
              <a:solidFill>
                <a:schemeClr val="bg1"/>
              </a:solidFill>
              <a:latin typeface="Trebuchet MS" panose="020B0603020202020204" pitchFamily="34" charset="0"/>
              <a:cs typeface="Arial" panose="020B0604020202020204" pitchFamily="34" charset="0"/>
            </a:endParaRP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Spelling errors</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Missing content</a:t>
            </a:r>
          </a:p>
          <a:p>
            <a:pPr marL="228600" indent="-228600">
              <a:buFont typeface="+mj-lt"/>
              <a:buAutoNum type="arabicPeriod"/>
            </a:pPr>
            <a:r>
              <a:rPr lang="en-US" sz="1400" noProof="0">
                <a:solidFill>
                  <a:schemeClr val="bg1"/>
                </a:solidFill>
                <a:latin typeface="Trebuchet MS" panose="020B0603020202020204" pitchFamily="34" charset="0"/>
                <a:cs typeface="Arial" panose="020B0604020202020204" pitchFamily="34" charset="0"/>
              </a:rPr>
              <a:t>Incorrect numbering</a:t>
            </a:r>
          </a:p>
          <a:p>
            <a:endParaRPr lang="en-US" sz="1400" noProof="0">
              <a:solidFill>
                <a:schemeClr val="bg1"/>
              </a:solidFill>
              <a:latin typeface="Trebuchet MS" panose="020B0603020202020204" pitchFamily="34" charset="0"/>
              <a:cs typeface="Arial" panose="020B0604020202020204" pitchFamily="34" charset="0"/>
            </a:endParaRPr>
          </a:p>
          <a:p>
            <a:r>
              <a:rPr lang="en-US" sz="1400" noProof="0">
                <a:solidFill>
                  <a:schemeClr val="bg1"/>
                </a:solidFill>
                <a:latin typeface="Trebuchet MS" panose="020B0603020202020204" pitchFamily="34" charset="0"/>
                <a:cs typeface="Arial" panose="020B0604020202020204" pitchFamily="34" charset="0"/>
              </a:rPr>
              <a:t>DPU: Defects per unit (DPU) was 0.03 (3/100)</a:t>
            </a:r>
          </a:p>
          <a:p>
            <a:r>
              <a:rPr lang="en-US" sz="1400" noProof="0">
                <a:solidFill>
                  <a:schemeClr val="bg1"/>
                </a:solidFill>
                <a:latin typeface="Trebuchet MS" panose="020B0603020202020204" pitchFamily="34" charset="0"/>
                <a:cs typeface="Arial" panose="020B0604020202020204" pitchFamily="34" charset="0"/>
              </a:rPr>
              <a:t>DPMO: DPU/Opportunities x 1,000,000 = 0.03/78 x 1,000,000 = 384.6 (385)</a:t>
            </a:r>
          </a:p>
          <a:p>
            <a:endParaRPr lang="en-US" sz="1200" b="1" noProof="0">
              <a:solidFill>
                <a:schemeClr val="bg1"/>
              </a:solidFill>
              <a:latin typeface="Trebuchet MS" panose="020B0603020202020204" pitchFamily="34" charset="0"/>
              <a:cs typeface="Arial" panose="020B0604020202020204" pitchFamily="34" charset="0"/>
            </a:endParaRPr>
          </a:p>
          <a:p>
            <a:endParaRPr lang="en-US" sz="1200" b="1" noProof="0">
              <a:solidFill>
                <a:schemeClr val="bg1"/>
              </a:solidFill>
              <a:latin typeface="Trebuchet MS" panose="020B0603020202020204" pitchFamily="34" charset="0"/>
              <a:cs typeface="Arial" panose="020B0604020202020204" pitchFamily="34" charset="0"/>
            </a:endParaRPr>
          </a:p>
        </p:txBody>
      </p:sp>
    </p:spTree>
    <p:extLst>
      <p:ext uri="{BB962C8B-B14F-4D97-AF65-F5344CB8AC3E}">
        <p14:creationId xmlns:p14="http://schemas.microsoft.com/office/powerpoint/2010/main" val="1251121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1712D-FBEA-E99A-F9D7-F036513EDE04}"/>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411A252C-A172-34AA-6149-04CA8A44F8AE}"/>
              </a:ext>
            </a:extLst>
          </p:cNvPr>
          <p:cNvSpPr>
            <a:spLocks noGrp="1"/>
          </p:cNvSpPr>
          <p:nvPr>
            <p:ph type="body" sz="quarter" idx="10"/>
          </p:nvPr>
        </p:nvSpPr>
        <p:spPr>
          <a:xfrm>
            <a:off x="533400" y="383944"/>
            <a:ext cx="8915400" cy="492443"/>
          </a:xfrm>
        </p:spPr>
        <p:txBody>
          <a:bodyPr/>
          <a:lstStyle/>
          <a:p>
            <a:r>
              <a:rPr lang="en-US" sz="3200" noProof="0">
                <a:latin typeface="Trebuchet MS" panose="020B0603020202020204" pitchFamily="34" charset="0"/>
              </a:rPr>
              <a:t>Let’s check the table</a:t>
            </a:r>
          </a:p>
        </p:txBody>
      </p:sp>
      <p:pic>
        <p:nvPicPr>
          <p:cNvPr id="6" name="Picture 5">
            <a:extLst>
              <a:ext uri="{FF2B5EF4-FFF2-40B4-BE49-F238E27FC236}">
                <a16:creationId xmlns:a16="http://schemas.microsoft.com/office/drawing/2014/main" id="{407BCCD2-8B1F-5618-EB75-E7652EB9EAE9}"/>
              </a:ext>
            </a:extLst>
          </p:cNvPr>
          <p:cNvPicPr>
            <a:picLocks noChangeAspect="1"/>
          </p:cNvPicPr>
          <p:nvPr/>
        </p:nvPicPr>
        <p:blipFill>
          <a:blip r:embed="rId3"/>
          <a:stretch>
            <a:fillRect/>
          </a:stretch>
        </p:blipFill>
        <p:spPr>
          <a:xfrm>
            <a:off x="1965849" y="1846554"/>
            <a:ext cx="7986452" cy="4407790"/>
          </a:xfrm>
          <a:prstGeom prst="rect">
            <a:avLst/>
          </a:prstGeom>
        </p:spPr>
      </p:pic>
      <p:sp>
        <p:nvSpPr>
          <p:cNvPr id="7" name="Rectangle 6">
            <a:extLst>
              <a:ext uri="{FF2B5EF4-FFF2-40B4-BE49-F238E27FC236}">
                <a16:creationId xmlns:a16="http://schemas.microsoft.com/office/drawing/2014/main" id="{6938661D-9CC4-9D1C-947D-A02923C91780}"/>
              </a:ext>
            </a:extLst>
          </p:cNvPr>
          <p:cNvSpPr/>
          <p:nvPr/>
        </p:nvSpPr>
        <p:spPr>
          <a:xfrm>
            <a:off x="6096000" y="2387026"/>
            <a:ext cx="3724940" cy="381000"/>
          </a:xfrm>
          <a:prstGeom prst="rect">
            <a:avLst/>
          </a:prstGeom>
          <a:no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TextBox 7">
            <a:extLst>
              <a:ext uri="{FF2B5EF4-FFF2-40B4-BE49-F238E27FC236}">
                <a16:creationId xmlns:a16="http://schemas.microsoft.com/office/drawing/2014/main" id="{B30A25BB-AFF7-23BF-73A6-8395B0174D74}"/>
              </a:ext>
            </a:extLst>
          </p:cNvPr>
          <p:cNvSpPr txBox="1"/>
          <p:nvPr/>
        </p:nvSpPr>
        <p:spPr>
          <a:xfrm>
            <a:off x="10142801" y="1871364"/>
            <a:ext cx="1855525" cy="2031325"/>
          </a:xfrm>
          <a:prstGeom prst="rect">
            <a:avLst/>
          </a:prstGeom>
          <a:solidFill>
            <a:srgbClr val="24408D"/>
          </a:solidFill>
        </p:spPr>
        <p:txBody>
          <a:bodyPr wrap="square" rtlCol="0">
            <a:spAutoFit/>
          </a:bodyPr>
          <a:lstStyle/>
          <a:p>
            <a:endParaRPr lang="en-US" sz="1400" noProof="0" dirty="0">
              <a:solidFill>
                <a:schemeClr val="bg1"/>
              </a:solidFill>
              <a:latin typeface="Trebuchet MS" panose="020B0603020202020204" pitchFamily="34" charset="0"/>
            </a:endParaRPr>
          </a:p>
          <a:p>
            <a:r>
              <a:rPr lang="en-US" sz="1400" noProof="0" dirty="0">
                <a:solidFill>
                  <a:schemeClr val="bg1"/>
                </a:solidFill>
                <a:latin typeface="Trebuchet MS" panose="020B0603020202020204" pitchFamily="34" charset="0"/>
              </a:rPr>
              <a:t>Based on defects per 100. You can see there were 3 defects. </a:t>
            </a:r>
          </a:p>
          <a:p>
            <a:endParaRPr lang="en-US" sz="1400" noProof="0" dirty="0">
              <a:solidFill>
                <a:schemeClr val="bg1"/>
              </a:solidFill>
              <a:latin typeface="Trebuchet MS" panose="020B0603020202020204" pitchFamily="34" charset="0"/>
            </a:endParaRPr>
          </a:p>
          <a:p>
            <a:r>
              <a:rPr lang="en-US" sz="1400" noProof="0" dirty="0">
                <a:solidFill>
                  <a:schemeClr val="bg1"/>
                </a:solidFill>
                <a:latin typeface="Trebuchet MS" panose="020B0603020202020204" pitchFamily="34" charset="0"/>
              </a:rPr>
              <a:t>Giving the process a:</a:t>
            </a:r>
          </a:p>
          <a:p>
            <a:pPr marL="285750" indent="-285750">
              <a:buFont typeface="Arial" panose="020B0604020202020204" pitchFamily="34" charset="0"/>
              <a:buChar char="•"/>
            </a:pPr>
            <a:r>
              <a:rPr lang="en-US" sz="1400" noProof="0" dirty="0">
                <a:solidFill>
                  <a:schemeClr val="bg1"/>
                </a:solidFill>
                <a:latin typeface="Trebuchet MS" panose="020B0603020202020204" pitchFamily="34" charset="0"/>
              </a:rPr>
              <a:t>97% yield</a:t>
            </a:r>
          </a:p>
          <a:p>
            <a:pPr marL="285750" indent="-285750">
              <a:buFont typeface="Arial" panose="020B0604020202020204" pitchFamily="34" charset="0"/>
              <a:buChar char="•"/>
            </a:pPr>
            <a:r>
              <a:rPr lang="en-US" sz="1400" noProof="0" dirty="0">
                <a:solidFill>
                  <a:schemeClr val="bg1"/>
                </a:solidFill>
                <a:latin typeface="Trebuchet MS" panose="020B0603020202020204" pitchFamily="34" charset="0"/>
              </a:rPr>
              <a:t>Sigma of 3.3–3.4</a:t>
            </a:r>
          </a:p>
        </p:txBody>
      </p:sp>
      <p:sp>
        <p:nvSpPr>
          <p:cNvPr id="9" name="Flowchart: Connector 8">
            <a:extLst>
              <a:ext uri="{FF2B5EF4-FFF2-40B4-BE49-F238E27FC236}">
                <a16:creationId xmlns:a16="http://schemas.microsoft.com/office/drawing/2014/main" id="{08EEE88E-BA65-BACC-9AC1-32671C84B10B}"/>
              </a:ext>
            </a:extLst>
          </p:cNvPr>
          <p:cNvSpPr/>
          <p:nvPr/>
        </p:nvSpPr>
        <p:spPr>
          <a:xfrm>
            <a:off x="9952301" y="1676399"/>
            <a:ext cx="381000" cy="389929"/>
          </a:xfrm>
          <a:prstGeom prst="flowChartConnector">
            <a:avLst/>
          </a:prstGeom>
          <a:solidFill>
            <a:srgbClr val="24408D"/>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a:latin typeface="Trebuchet MS" panose="020B0603020202020204" pitchFamily="34" charset="0"/>
              </a:rPr>
              <a:t>1</a:t>
            </a:r>
          </a:p>
        </p:txBody>
      </p:sp>
      <p:sp>
        <p:nvSpPr>
          <p:cNvPr id="10" name="TextBox 9">
            <a:extLst>
              <a:ext uri="{FF2B5EF4-FFF2-40B4-BE49-F238E27FC236}">
                <a16:creationId xmlns:a16="http://schemas.microsoft.com/office/drawing/2014/main" id="{8D51A0A2-B19A-1A01-6D9A-70BB3775B840}"/>
              </a:ext>
            </a:extLst>
          </p:cNvPr>
          <p:cNvSpPr txBox="1"/>
          <p:nvPr/>
        </p:nvSpPr>
        <p:spPr>
          <a:xfrm>
            <a:off x="193674" y="3276600"/>
            <a:ext cx="1855525" cy="2031325"/>
          </a:xfrm>
          <a:prstGeom prst="rect">
            <a:avLst/>
          </a:prstGeom>
          <a:solidFill>
            <a:srgbClr val="27AAE1"/>
          </a:solidFill>
        </p:spPr>
        <p:txBody>
          <a:bodyPr wrap="square" rtlCol="0">
            <a:spAutoFit/>
          </a:bodyPr>
          <a:lstStyle/>
          <a:p>
            <a:endParaRPr lang="en-US" sz="1400" noProof="0" dirty="0">
              <a:solidFill>
                <a:schemeClr val="bg1"/>
              </a:solidFill>
              <a:latin typeface="Trebuchet MS" panose="020B0603020202020204" pitchFamily="34" charset="0"/>
            </a:endParaRPr>
          </a:p>
          <a:p>
            <a:r>
              <a:rPr lang="en-US" sz="1400" noProof="0" dirty="0">
                <a:solidFill>
                  <a:schemeClr val="bg1"/>
                </a:solidFill>
                <a:latin typeface="Trebuchet MS" panose="020B0603020202020204" pitchFamily="34" charset="0"/>
              </a:rPr>
              <a:t>Including opportunities for defects per million (DPMO).</a:t>
            </a:r>
          </a:p>
          <a:p>
            <a:endParaRPr lang="en-US" sz="1400" noProof="0" dirty="0">
              <a:solidFill>
                <a:schemeClr val="bg1"/>
              </a:solidFill>
              <a:latin typeface="Trebuchet MS" panose="020B0603020202020204" pitchFamily="34" charset="0"/>
            </a:endParaRPr>
          </a:p>
          <a:p>
            <a:r>
              <a:rPr lang="en-US" sz="1400" noProof="0" dirty="0">
                <a:solidFill>
                  <a:schemeClr val="bg1"/>
                </a:solidFill>
                <a:latin typeface="Trebuchet MS" panose="020B0603020202020204" pitchFamily="34" charset="0"/>
              </a:rPr>
              <a:t>DPMO of 385 sits between 4.8-4.9</a:t>
            </a:r>
          </a:p>
          <a:p>
            <a:endParaRPr lang="en-US" sz="1400" noProof="0" dirty="0">
              <a:solidFill>
                <a:schemeClr val="bg1"/>
              </a:solidFill>
              <a:latin typeface="Trebuchet MS" panose="020B0603020202020204" pitchFamily="34" charset="0"/>
            </a:endParaRPr>
          </a:p>
        </p:txBody>
      </p:sp>
      <p:sp>
        <p:nvSpPr>
          <p:cNvPr id="11" name="Rectangle 10">
            <a:extLst>
              <a:ext uri="{FF2B5EF4-FFF2-40B4-BE49-F238E27FC236}">
                <a16:creationId xmlns:a16="http://schemas.microsoft.com/office/drawing/2014/main" id="{4AD53A11-DD76-A941-A122-A77C36678A0B}"/>
              </a:ext>
            </a:extLst>
          </p:cNvPr>
          <p:cNvSpPr/>
          <p:nvPr/>
        </p:nvSpPr>
        <p:spPr>
          <a:xfrm>
            <a:off x="2156349" y="3968178"/>
            <a:ext cx="3585418" cy="316214"/>
          </a:xfrm>
          <a:prstGeom prst="rect">
            <a:avLst/>
          </a:prstGeom>
          <a:no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Flowchart: Connector 11">
            <a:extLst>
              <a:ext uri="{FF2B5EF4-FFF2-40B4-BE49-F238E27FC236}">
                <a16:creationId xmlns:a16="http://schemas.microsoft.com/office/drawing/2014/main" id="{564C3D6F-7832-4D48-D6FA-E1BBC4DE82C6}"/>
              </a:ext>
            </a:extLst>
          </p:cNvPr>
          <p:cNvSpPr/>
          <p:nvPr/>
        </p:nvSpPr>
        <p:spPr>
          <a:xfrm>
            <a:off x="17779" y="3078600"/>
            <a:ext cx="396000" cy="396000"/>
          </a:xfrm>
          <a:prstGeom prst="flowChartConnector">
            <a:avLst/>
          </a:prstGeom>
          <a:solidFill>
            <a:srgbClr val="27AAE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a:latin typeface="Trebuchet MS" panose="020B0603020202020204" pitchFamily="34" charset="0"/>
              </a:rPr>
              <a:t>2</a:t>
            </a:r>
          </a:p>
        </p:txBody>
      </p:sp>
    </p:spTree>
    <p:extLst>
      <p:ext uri="{BB962C8B-B14F-4D97-AF65-F5344CB8AC3E}">
        <p14:creationId xmlns:p14="http://schemas.microsoft.com/office/powerpoint/2010/main" val="405005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5B93B2F-2908-50C2-F779-0B1BCB8CAD01}"/>
              </a:ext>
            </a:extLst>
          </p:cNvPr>
          <p:cNvSpPr>
            <a:spLocks noGrp="1"/>
          </p:cNvSpPr>
          <p:nvPr>
            <p:ph type="body" sz="quarter" idx="10"/>
          </p:nvPr>
        </p:nvSpPr>
        <p:spPr>
          <a:xfrm>
            <a:off x="487856" y="335299"/>
            <a:ext cx="8686800" cy="492443"/>
          </a:xfrm>
        </p:spPr>
        <p:txBody>
          <a:bodyPr/>
          <a:lstStyle/>
          <a:p>
            <a:r>
              <a:rPr lang="en-US" sz="3200" noProof="0">
                <a:latin typeface="Trebuchet MS" panose="020B0603020202020204" pitchFamily="34" charset="0"/>
              </a:rPr>
              <a:t>Which Information Pack format is better?</a:t>
            </a:r>
          </a:p>
        </p:txBody>
      </p:sp>
      <p:sp>
        <p:nvSpPr>
          <p:cNvPr id="14" name="Rectangle: Rounded Corners 13">
            <a:extLst>
              <a:ext uri="{FF2B5EF4-FFF2-40B4-BE49-F238E27FC236}">
                <a16:creationId xmlns:a16="http://schemas.microsoft.com/office/drawing/2014/main" id="{7918BAE7-964F-2442-7C5B-54EDA4CA26D0}"/>
              </a:ext>
            </a:extLst>
          </p:cNvPr>
          <p:cNvSpPr/>
          <p:nvPr/>
        </p:nvSpPr>
        <p:spPr>
          <a:xfrm>
            <a:off x="8153400" y="5116475"/>
            <a:ext cx="2598243" cy="6858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tx2">
                    <a:lumMod val="50000"/>
                  </a:schemeClr>
                </a:solidFill>
                <a:latin typeface="Trebuchet MS" panose="020B0603020202020204" pitchFamily="34" charset="0"/>
              </a:rPr>
              <a:t>385 = 4.8 - 4.9 Sigma</a:t>
            </a:r>
          </a:p>
        </p:txBody>
      </p:sp>
      <p:sp>
        <p:nvSpPr>
          <p:cNvPr id="2" name="Rectangle: Rounded Corners 1">
            <a:extLst>
              <a:ext uri="{FF2B5EF4-FFF2-40B4-BE49-F238E27FC236}">
                <a16:creationId xmlns:a16="http://schemas.microsoft.com/office/drawing/2014/main" id="{1160C03D-2345-8199-5B75-4917E7A8E105}"/>
              </a:ext>
            </a:extLst>
          </p:cNvPr>
          <p:cNvSpPr/>
          <p:nvPr/>
        </p:nvSpPr>
        <p:spPr>
          <a:xfrm>
            <a:off x="7292126" y="1532942"/>
            <a:ext cx="3765057" cy="656106"/>
          </a:xfrm>
          <a:prstGeom prst="roundRect">
            <a:avLst>
              <a:gd name="adj" fmla="val 16667"/>
            </a:avLst>
          </a:prstGeom>
          <a:solidFill>
            <a:srgbClr val="FDBA13"/>
          </a:solidFill>
          <a:ln>
            <a:solidFill>
              <a:srgbClr val="FDBA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latin typeface="Trebuchet MS" panose="020B0603020202020204" pitchFamily="34" charset="0"/>
                <a:cs typeface="Arial" panose="020B0604020202020204" pitchFamily="34" charset="0"/>
              </a:rPr>
              <a:t>Info Pack Version 2</a:t>
            </a:r>
          </a:p>
        </p:txBody>
      </p:sp>
      <p:sp>
        <p:nvSpPr>
          <p:cNvPr id="16" name="Rectangle: Rounded Corners 15">
            <a:extLst>
              <a:ext uri="{FF2B5EF4-FFF2-40B4-BE49-F238E27FC236}">
                <a16:creationId xmlns:a16="http://schemas.microsoft.com/office/drawing/2014/main" id="{58B9575B-DB02-991B-93E9-D90FB7B4300D}"/>
              </a:ext>
            </a:extLst>
          </p:cNvPr>
          <p:cNvSpPr/>
          <p:nvPr/>
        </p:nvSpPr>
        <p:spPr>
          <a:xfrm>
            <a:off x="1271589" y="1525798"/>
            <a:ext cx="3765051" cy="670393"/>
          </a:xfrm>
          <a:prstGeom prst="roundRect">
            <a:avLst/>
          </a:prstGeom>
          <a:solidFill>
            <a:srgbClr val="FDBA13"/>
          </a:solidFill>
          <a:ln>
            <a:solidFill>
              <a:srgbClr val="FDBA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bg1"/>
                </a:solidFill>
                <a:latin typeface="Trebuchet MS" panose="020B0603020202020204" pitchFamily="34" charset="0"/>
                <a:cs typeface="Arial" panose="020B0604020202020204" pitchFamily="34" charset="0"/>
              </a:rPr>
              <a:t>Info pack Version 1</a:t>
            </a:r>
          </a:p>
        </p:txBody>
      </p:sp>
      <p:sp>
        <p:nvSpPr>
          <p:cNvPr id="22" name="Rectangle: Rounded Corners 21">
            <a:extLst>
              <a:ext uri="{FF2B5EF4-FFF2-40B4-BE49-F238E27FC236}">
                <a16:creationId xmlns:a16="http://schemas.microsoft.com/office/drawing/2014/main" id="{6A994EFB-86AB-206B-4B26-2786BBF95997}"/>
              </a:ext>
            </a:extLst>
          </p:cNvPr>
          <p:cNvSpPr/>
          <p:nvPr/>
        </p:nvSpPr>
        <p:spPr>
          <a:xfrm>
            <a:off x="1795462" y="5076762"/>
            <a:ext cx="3005137" cy="72551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a:solidFill>
                  <a:schemeClr val="tx2">
                    <a:lumMod val="50000"/>
                  </a:schemeClr>
                </a:solidFill>
                <a:latin typeface="Trebuchet MS" panose="020B0603020202020204" pitchFamily="34" charset="0"/>
              </a:rPr>
              <a:t>1250 = 4.5 - 4.6 Sigma </a:t>
            </a:r>
          </a:p>
        </p:txBody>
      </p:sp>
      <p:cxnSp>
        <p:nvCxnSpPr>
          <p:cNvPr id="4" name="Straight Connector 3">
            <a:extLst>
              <a:ext uri="{FF2B5EF4-FFF2-40B4-BE49-F238E27FC236}">
                <a16:creationId xmlns:a16="http://schemas.microsoft.com/office/drawing/2014/main" id="{63B8DC2D-C790-A6E9-812C-59CDFD6A4A1E}"/>
              </a:ext>
            </a:extLst>
          </p:cNvPr>
          <p:cNvCxnSpPr>
            <a:cxnSpLocks/>
          </p:cNvCxnSpPr>
          <p:nvPr/>
        </p:nvCxnSpPr>
        <p:spPr>
          <a:xfrm>
            <a:off x="6096000" y="1391440"/>
            <a:ext cx="1" cy="462836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C7AA8E0-8648-A507-67EE-6BA20A5361BF}"/>
              </a:ext>
            </a:extLst>
          </p:cNvPr>
          <p:cNvSpPr txBox="1"/>
          <p:nvPr/>
        </p:nvSpPr>
        <p:spPr>
          <a:xfrm>
            <a:off x="351690" y="6366954"/>
            <a:ext cx="11488620" cy="369332"/>
          </a:xfrm>
          <a:prstGeom prst="rect">
            <a:avLst/>
          </a:prstGeom>
          <a:solidFill>
            <a:srgbClr val="27AAE1"/>
          </a:solidFill>
          <a:ln>
            <a:solidFill>
              <a:srgbClr val="27AAE1"/>
            </a:solidFill>
          </a:ln>
        </p:spPr>
        <p:txBody>
          <a:bodyPr wrap="square">
            <a:spAutoFit/>
          </a:bodyPr>
          <a:lstStyle/>
          <a:p>
            <a:r>
              <a:rPr lang="en-US" sz="1800" i="0" u="none" strike="noStrike" noProof="0">
                <a:solidFill>
                  <a:schemeClr val="bg1"/>
                </a:solidFill>
                <a:effectLst/>
                <a:latin typeface="Trebuchet MS" panose="020B0603020202020204" pitchFamily="34" charset="0"/>
              </a:rPr>
              <a:t>The higher the sigma level the better the quality of the product or service and the fewer the defects. </a:t>
            </a:r>
            <a:r>
              <a:rPr lang="en-US" sz="1800" i="0" noProof="0">
                <a:solidFill>
                  <a:schemeClr val="bg1"/>
                </a:solidFill>
                <a:effectLst/>
                <a:latin typeface="Trebuchet MS" panose="020B0603020202020204" pitchFamily="34" charset="0"/>
              </a:rPr>
              <a:t>​</a:t>
            </a:r>
            <a:endParaRPr lang="en-US" noProof="0">
              <a:solidFill>
                <a:schemeClr val="bg1"/>
              </a:solidFill>
              <a:latin typeface="Trebuchet MS" panose="020B0603020202020204" pitchFamily="34" charset="0"/>
            </a:endParaRPr>
          </a:p>
        </p:txBody>
      </p:sp>
      <p:pic>
        <p:nvPicPr>
          <p:cNvPr id="6" name="Graphic 5" descr="Open book outline">
            <a:extLst>
              <a:ext uri="{FF2B5EF4-FFF2-40B4-BE49-F238E27FC236}">
                <a16:creationId xmlns:a16="http://schemas.microsoft.com/office/drawing/2014/main" id="{BD26EAE9-9C64-DA3A-589F-3CA639A265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24713" y="1466365"/>
            <a:ext cx="832470" cy="832470"/>
          </a:xfrm>
          <a:prstGeom prst="rect">
            <a:avLst/>
          </a:prstGeom>
        </p:spPr>
      </p:pic>
      <p:pic>
        <p:nvPicPr>
          <p:cNvPr id="17" name="Graphic 16" descr="Open book outline">
            <a:extLst>
              <a:ext uri="{FF2B5EF4-FFF2-40B4-BE49-F238E27FC236}">
                <a16:creationId xmlns:a16="http://schemas.microsoft.com/office/drawing/2014/main" id="{9F9D05B1-4B40-366D-AE4D-7D7DA9A6E5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33640" y="1500283"/>
            <a:ext cx="777847" cy="777847"/>
          </a:xfrm>
          <a:prstGeom prst="rect">
            <a:avLst/>
          </a:prstGeom>
        </p:spPr>
      </p:pic>
      <p:sp>
        <p:nvSpPr>
          <p:cNvPr id="28" name="TextBox 27">
            <a:extLst>
              <a:ext uri="{FF2B5EF4-FFF2-40B4-BE49-F238E27FC236}">
                <a16:creationId xmlns:a16="http://schemas.microsoft.com/office/drawing/2014/main" id="{BF216C01-AB61-C7BE-3E02-D4838E1C7BEF}"/>
              </a:ext>
            </a:extLst>
          </p:cNvPr>
          <p:cNvSpPr txBox="1"/>
          <p:nvPr/>
        </p:nvSpPr>
        <p:spPr>
          <a:xfrm>
            <a:off x="6888416" y="2552754"/>
            <a:ext cx="1918568" cy="646331"/>
          </a:xfrm>
          <a:prstGeom prst="rect">
            <a:avLst/>
          </a:prstGeom>
          <a:noFill/>
        </p:spPr>
        <p:txBody>
          <a:bodyPr wrap="square">
            <a:spAutoFit/>
          </a:bodyPr>
          <a:lstStyle/>
          <a:p>
            <a:r>
              <a:rPr lang="en-US" sz="1200" b="1" noProof="0">
                <a:solidFill>
                  <a:schemeClr val="bg1"/>
                </a:solidFill>
                <a:latin typeface="Trebuchet MS" panose="020B0603020202020204" pitchFamily="34" charset="0"/>
                <a:cs typeface="Arial" panose="020B0604020202020204" pitchFamily="34" charset="0"/>
              </a:rPr>
              <a:t>Our Marcoms teams sampled 100 packs and found :</a:t>
            </a:r>
          </a:p>
        </p:txBody>
      </p:sp>
      <p:pic>
        <p:nvPicPr>
          <p:cNvPr id="7" name="Picture 6">
            <a:extLst>
              <a:ext uri="{FF2B5EF4-FFF2-40B4-BE49-F238E27FC236}">
                <a16:creationId xmlns:a16="http://schemas.microsoft.com/office/drawing/2014/main" id="{7514867F-2045-4241-3613-E22270F39F2B}"/>
              </a:ext>
            </a:extLst>
          </p:cNvPr>
          <p:cNvPicPr>
            <a:picLocks noChangeAspect="1"/>
          </p:cNvPicPr>
          <p:nvPr/>
        </p:nvPicPr>
        <p:blipFill>
          <a:blip r:embed="rId4"/>
          <a:stretch>
            <a:fillRect/>
          </a:stretch>
        </p:blipFill>
        <p:spPr>
          <a:xfrm>
            <a:off x="6281703" y="2935463"/>
            <a:ext cx="5702217" cy="1691516"/>
          </a:xfrm>
          <a:prstGeom prst="rect">
            <a:avLst/>
          </a:prstGeom>
        </p:spPr>
      </p:pic>
      <p:pic>
        <p:nvPicPr>
          <p:cNvPr id="9" name="Picture 8">
            <a:extLst>
              <a:ext uri="{FF2B5EF4-FFF2-40B4-BE49-F238E27FC236}">
                <a16:creationId xmlns:a16="http://schemas.microsoft.com/office/drawing/2014/main" id="{012AE3B4-EE68-CCE3-94C9-0B05B4CC17F7}"/>
              </a:ext>
            </a:extLst>
          </p:cNvPr>
          <p:cNvPicPr>
            <a:picLocks noChangeAspect="1"/>
          </p:cNvPicPr>
          <p:nvPr/>
        </p:nvPicPr>
        <p:blipFill>
          <a:blip r:embed="rId5"/>
          <a:stretch>
            <a:fillRect/>
          </a:stretch>
        </p:blipFill>
        <p:spPr>
          <a:xfrm>
            <a:off x="158861" y="2976186"/>
            <a:ext cx="5891811" cy="1650793"/>
          </a:xfrm>
          <a:prstGeom prst="rect">
            <a:avLst/>
          </a:prstGeom>
        </p:spPr>
      </p:pic>
    </p:spTree>
    <p:extLst>
      <p:ext uri="{BB962C8B-B14F-4D97-AF65-F5344CB8AC3E}">
        <p14:creationId xmlns:p14="http://schemas.microsoft.com/office/powerpoint/2010/main" val="3992690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3E2DE-91A6-ACA3-3FE4-4425BFF1720F}"/>
            </a:ext>
          </a:extLst>
        </p:cNvPr>
        <p:cNvGrpSpPr/>
        <p:nvPr/>
      </p:nvGrpSpPr>
      <p:grpSpPr>
        <a:xfrm>
          <a:off x="0" y="0"/>
          <a:ext cx="1" cy="1"/>
          <a:chOff x="0" y="0"/>
          <a:chExt cx="1" cy="1"/>
        </a:xfrm>
      </p:grpSpPr>
      <p:sp>
        <p:nvSpPr>
          <p:cNvPr id="2" name="Text Placeholder 1">
            <a:extLst>
              <a:ext uri="{FF2B5EF4-FFF2-40B4-BE49-F238E27FC236}">
                <a16:creationId xmlns:a16="http://schemas.microsoft.com/office/drawing/2014/main" id="{2076E882-7483-23BC-7AF5-AF4770B29507}"/>
              </a:ext>
            </a:extLst>
          </p:cNvPr>
          <p:cNvSpPr>
            <a:spLocks noGrp="1"/>
          </p:cNvSpPr>
          <p:nvPr>
            <p:ph type="body" sz="quarter" idx="10"/>
          </p:nvPr>
        </p:nvSpPr>
        <p:spPr>
          <a:xfrm>
            <a:off x="333983" y="497940"/>
            <a:ext cx="8763000" cy="492443"/>
          </a:xfrm>
        </p:spPr>
        <p:txBody>
          <a:bodyPr/>
          <a:lstStyle/>
          <a:p>
            <a:r>
              <a:rPr lang="en-US" sz="3200" noProof="0">
                <a:latin typeface="Trebuchet MS" panose="020B0603020202020204" pitchFamily="34" charset="0"/>
              </a:rPr>
              <a:t>Activity: Process Sigma</a:t>
            </a:r>
          </a:p>
        </p:txBody>
      </p:sp>
      <p:sp>
        <p:nvSpPr>
          <p:cNvPr id="6" name="TextBox 5">
            <a:extLst>
              <a:ext uri="{FF2B5EF4-FFF2-40B4-BE49-F238E27FC236}">
                <a16:creationId xmlns:a16="http://schemas.microsoft.com/office/drawing/2014/main" id="{EAE4410E-CDFF-614C-EF4E-FA02F050136C}"/>
              </a:ext>
            </a:extLst>
          </p:cNvPr>
          <p:cNvSpPr txBox="1"/>
          <p:nvPr/>
        </p:nvSpPr>
        <p:spPr>
          <a:xfrm>
            <a:off x="304800" y="1524000"/>
            <a:ext cx="487680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2060"/>
                </a:solidFill>
                <a:effectLst/>
                <a:uLnTx/>
                <a:uFillTx/>
                <a:latin typeface="Trebuchet MS" panose="020B0603020202020204" pitchFamily="34" charset="0"/>
              </a:rPr>
              <a:t>Based on the DPMO we previously created, what is the Sigma for this process?</a:t>
            </a:r>
          </a:p>
        </p:txBody>
      </p:sp>
      <p:sp>
        <p:nvSpPr>
          <p:cNvPr id="7" name="Rectangle: Rounded Corners 6">
            <a:extLst>
              <a:ext uri="{FF2B5EF4-FFF2-40B4-BE49-F238E27FC236}">
                <a16:creationId xmlns:a16="http://schemas.microsoft.com/office/drawing/2014/main" id="{5A176980-3488-F2C4-E3B0-1C681517701A}"/>
              </a:ext>
            </a:extLst>
          </p:cNvPr>
          <p:cNvSpPr/>
          <p:nvPr/>
        </p:nvSpPr>
        <p:spPr>
          <a:xfrm>
            <a:off x="5956214" y="1676400"/>
            <a:ext cx="5869236" cy="454765"/>
          </a:xfrm>
          <a:prstGeom prst="roundRect">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Trebuchet MS" panose="020B0603020202020204" pitchFamily="34" charset="0"/>
                <a:ea typeface="+mn-ea"/>
                <a:cs typeface="+mn-cs"/>
              </a:rPr>
              <a:t>Identify Opportunities per item</a:t>
            </a:r>
          </a:p>
        </p:txBody>
      </p:sp>
      <p:sp>
        <p:nvSpPr>
          <p:cNvPr id="8" name="Rectangle: Rounded Corners 7">
            <a:extLst>
              <a:ext uri="{FF2B5EF4-FFF2-40B4-BE49-F238E27FC236}">
                <a16:creationId xmlns:a16="http://schemas.microsoft.com/office/drawing/2014/main" id="{AAD30017-CB68-A987-FED5-AD3B76A07E3C}"/>
              </a:ext>
            </a:extLst>
          </p:cNvPr>
          <p:cNvSpPr/>
          <p:nvPr/>
        </p:nvSpPr>
        <p:spPr>
          <a:xfrm>
            <a:off x="5977569" y="2401707"/>
            <a:ext cx="5869236" cy="912152"/>
          </a:xfrm>
          <a:prstGeom prst="roundRect">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rPr>
              <a:t>Calculate the total opportunities </a:t>
            </a:r>
            <a:r>
              <a:rPr kumimoji="0" lang="en-US" sz="14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rPr>
              <a:t>(what could go wrong)</a:t>
            </a:r>
          </a:p>
          <a:p>
            <a:pPr algn="ctr">
              <a:defRPr/>
            </a:pPr>
            <a:r>
              <a:rPr lang="en-US" sz="1400" dirty="0">
                <a:solidFill>
                  <a:prstClr val="white"/>
                </a:solidFill>
                <a:latin typeface="Trebuchet MS"/>
              </a:rPr>
              <a:t>200 new starters </a:t>
            </a:r>
            <a:r>
              <a:rPr kumimoji="0" lang="en-US" sz="1400" b="0" i="0" u="none" strike="noStrike" kern="1200" cap="none" spc="0" normalizeH="0" baseline="0" noProof="0" dirty="0">
                <a:ln>
                  <a:noFill/>
                </a:ln>
                <a:solidFill>
                  <a:prstClr val="white"/>
                </a:solidFill>
                <a:effectLst/>
                <a:uLnTx/>
                <a:uFillTx/>
                <a:latin typeface="Trebuchet MS"/>
              </a:rPr>
              <a:t>x </a:t>
            </a:r>
            <a:r>
              <a:rPr lang="en-US" sz="1400" dirty="0">
                <a:solidFill>
                  <a:prstClr val="white"/>
                </a:solidFill>
                <a:latin typeface="Trebuchet MS"/>
              </a:rPr>
              <a:t>4 opportunities </a:t>
            </a:r>
            <a:r>
              <a:rPr kumimoji="0" lang="en-US" sz="1400" b="0" i="0" u="none" strike="noStrike" kern="1200" cap="none" spc="0" normalizeH="0" baseline="0" noProof="0" dirty="0">
                <a:ln>
                  <a:noFill/>
                </a:ln>
                <a:solidFill>
                  <a:prstClr val="white"/>
                </a:solidFill>
                <a:effectLst/>
                <a:uLnTx/>
                <a:uFillTx/>
                <a:latin typeface="Trebuchet MS"/>
              </a:rPr>
              <a:t>= </a:t>
            </a:r>
            <a:r>
              <a:rPr lang="en-US" sz="1400" dirty="0">
                <a:solidFill>
                  <a:prstClr val="white"/>
                </a:solidFill>
                <a:latin typeface="Trebuchet MS"/>
              </a:rPr>
              <a:t>800 opportunities</a:t>
            </a:r>
            <a:endParaRPr lang="en-US" sz="1400" b="0" i="0" u="none" strike="noStrike" kern="1200" cap="none" spc="0" normalizeH="0" baseline="0" noProof="0" dirty="0">
              <a:ln>
                <a:noFill/>
              </a:ln>
              <a:solidFill>
                <a:prstClr val="white"/>
              </a:solidFill>
              <a:effectLst/>
              <a:uLnTx/>
              <a:uFillTx/>
              <a:latin typeface="Trebuchet MS" panose="020B0603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sp>
        <p:nvSpPr>
          <p:cNvPr id="9" name="Rectangle: Rounded Corners 8">
            <a:extLst>
              <a:ext uri="{FF2B5EF4-FFF2-40B4-BE49-F238E27FC236}">
                <a16:creationId xmlns:a16="http://schemas.microsoft.com/office/drawing/2014/main" id="{1B2ECF89-CD03-66BD-D8B9-0BFC51D6C864}"/>
              </a:ext>
            </a:extLst>
          </p:cNvPr>
          <p:cNvSpPr/>
          <p:nvPr/>
        </p:nvSpPr>
        <p:spPr>
          <a:xfrm>
            <a:off x="5956214" y="3671522"/>
            <a:ext cx="5869236" cy="759000"/>
          </a:xfrm>
          <a:prstGeom prst="round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Trebuchet MS" panose="020B0603020202020204" pitchFamily="34" charset="0"/>
                <a:ea typeface="+mn-ea"/>
                <a:cs typeface="+mn-cs"/>
              </a:rPr>
              <a:t>Calculate DPU </a:t>
            </a:r>
            <a:r>
              <a:rPr kumimoji="0" lang="en-US" sz="1400" b="0" i="0" u="none" strike="noStrike" kern="1200" cap="none" spc="0" normalizeH="0" baseline="0" noProof="0">
                <a:ln>
                  <a:noFill/>
                </a:ln>
                <a:solidFill>
                  <a:prstClr val="white"/>
                </a:solidFill>
                <a:effectLst/>
                <a:uLnTx/>
                <a:uFillTx/>
                <a:latin typeface="Trebuchet MS" panose="020B0603020202020204" pitchFamily="34" charset="0"/>
                <a:ea typeface="+mn-ea"/>
                <a:cs typeface="+mn-cs"/>
              </a:rPr>
              <a:t>(what did go wrong)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Trebuchet MS"/>
                <a:ea typeface="+mn-ea"/>
                <a:cs typeface="+mn-cs"/>
              </a:rPr>
              <a:t>16 defects/200 families = 0.08 defects per item</a:t>
            </a:r>
          </a:p>
        </p:txBody>
      </p:sp>
      <p:sp>
        <p:nvSpPr>
          <p:cNvPr id="10" name="Rectangle: Rounded Corners 9">
            <a:extLst>
              <a:ext uri="{FF2B5EF4-FFF2-40B4-BE49-F238E27FC236}">
                <a16:creationId xmlns:a16="http://schemas.microsoft.com/office/drawing/2014/main" id="{D405222D-6C0A-29AF-6861-8BB095DD0630}"/>
              </a:ext>
            </a:extLst>
          </p:cNvPr>
          <p:cNvSpPr/>
          <p:nvPr/>
        </p:nvSpPr>
        <p:spPr>
          <a:xfrm>
            <a:off x="5982433" y="4702881"/>
            <a:ext cx="5869236" cy="1295400"/>
          </a:xfrm>
          <a:prstGeom prst="roundRect">
            <a:avLst/>
          </a:prstGeom>
          <a:solidFill>
            <a:srgbClr val="27AAE1"/>
          </a:solidFill>
          <a:ln>
            <a:solidFill>
              <a:srgbClr val="27A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rPr>
              <a:t>Apply DPMO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rPr>
              <a:t>DPMO = (DPU ÷ Opportunities) × 1,000,000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rPr>
              <a:t>= (0.08÷ 4 Defects) × 1,000,000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rPr>
              <a:t>= 20,000 Child Care defects per million opportunities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Trebuchet MS" panose="020B0603020202020204" pitchFamily="34" charset="0"/>
              <a:ea typeface="+mn-ea"/>
              <a:cs typeface="+mn-cs"/>
            </a:endParaRPr>
          </a:p>
        </p:txBody>
      </p:sp>
      <p:sp>
        <p:nvSpPr>
          <p:cNvPr id="11" name="Arrow: Down 10">
            <a:extLst>
              <a:ext uri="{FF2B5EF4-FFF2-40B4-BE49-F238E27FC236}">
                <a16:creationId xmlns:a16="http://schemas.microsoft.com/office/drawing/2014/main" id="{5CC2A0A9-07E9-231E-8D75-AFB68C47E67E}"/>
              </a:ext>
            </a:extLst>
          </p:cNvPr>
          <p:cNvSpPr/>
          <p:nvPr/>
        </p:nvSpPr>
        <p:spPr>
          <a:xfrm>
            <a:off x="8494794" y="2053851"/>
            <a:ext cx="788404" cy="356237"/>
          </a:xfrm>
          <a:prstGeom prst="downArrow">
            <a:avLst/>
          </a:prstGeom>
          <a:solidFill>
            <a:srgbClr val="00AF74"/>
          </a:solidFill>
          <a:ln>
            <a:solidFill>
              <a:srgbClr val="00AF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Trebuchet MS" panose="020B0603020202020204" pitchFamily="34" charset="0"/>
              <a:ea typeface="+mn-ea"/>
              <a:cs typeface="+mn-cs"/>
            </a:endParaRPr>
          </a:p>
        </p:txBody>
      </p:sp>
      <p:sp>
        <p:nvSpPr>
          <p:cNvPr id="12" name="Arrow: Down 11">
            <a:extLst>
              <a:ext uri="{FF2B5EF4-FFF2-40B4-BE49-F238E27FC236}">
                <a16:creationId xmlns:a16="http://schemas.microsoft.com/office/drawing/2014/main" id="{1E1EA0A6-C244-5868-2360-0699248DA08E}"/>
              </a:ext>
            </a:extLst>
          </p:cNvPr>
          <p:cNvSpPr/>
          <p:nvPr/>
        </p:nvSpPr>
        <p:spPr>
          <a:xfrm>
            <a:off x="8558380" y="3273265"/>
            <a:ext cx="788404" cy="356237"/>
          </a:xfrm>
          <a:prstGeom prst="down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Trebuchet MS" panose="020B0603020202020204" pitchFamily="34" charset="0"/>
              <a:ea typeface="+mn-ea"/>
              <a:cs typeface="+mn-cs"/>
            </a:endParaRPr>
          </a:p>
        </p:txBody>
      </p:sp>
      <p:sp>
        <p:nvSpPr>
          <p:cNvPr id="13" name="Arrow: Down 12">
            <a:extLst>
              <a:ext uri="{FF2B5EF4-FFF2-40B4-BE49-F238E27FC236}">
                <a16:creationId xmlns:a16="http://schemas.microsoft.com/office/drawing/2014/main" id="{152B0242-8397-157B-FD22-30A1813FD882}"/>
              </a:ext>
            </a:extLst>
          </p:cNvPr>
          <p:cNvSpPr/>
          <p:nvPr/>
        </p:nvSpPr>
        <p:spPr>
          <a:xfrm>
            <a:off x="8558380" y="4343402"/>
            <a:ext cx="788404" cy="356237"/>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Trebuchet MS" panose="020B0603020202020204" pitchFamily="34" charset="0"/>
              <a:ea typeface="+mn-ea"/>
              <a:cs typeface="+mn-cs"/>
            </a:endParaRPr>
          </a:p>
        </p:txBody>
      </p:sp>
      <p:pic>
        <p:nvPicPr>
          <p:cNvPr id="3" name="Picture 2">
            <a:extLst>
              <a:ext uri="{FF2B5EF4-FFF2-40B4-BE49-F238E27FC236}">
                <a16:creationId xmlns:a16="http://schemas.microsoft.com/office/drawing/2014/main" id="{D448E0A4-E8C4-B5E3-CB92-F7609F5791E4}"/>
              </a:ext>
            </a:extLst>
          </p:cNvPr>
          <p:cNvPicPr>
            <a:picLocks noChangeAspect="1"/>
          </p:cNvPicPr>
          <p:nvPr/>
        </p:nvPicPr>
        <p:blipFill>
          <a:blip r:embed="rId3"/>
          <a:stretch>
            <a:fillRect/>
          </a:stretch>
        </p:blipFill>
        <p:spPr>
          <a:xfrm>
            <a:off x="228600" y="2339994"/>
            <a:ext cx="5700958" cy="3146406"/>
          </a:xfrm>
          <a:prstGeom prst="rect">
            <a:avLst/>
          </a:prstGeom>
        </p:spPr>
      </p:pic>
    </p:spTree>
    <p:extLst>
      <p:ext uri="{BB962C8B-B14F-4D97-AF65-F5344CB8AC3E}">
        <p14:creationId xmlns:p14="http://schemas.microsoft.com/office/powerpoint/2010/main" val="5197454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3F2C3596-268B-B743-9A90-FAC16A531B56}"/>
              </a:ext>
            </a:extLst>
          </p:cNvPr>
          <p:cNvSpPr>
            <a:spLocks noGrp="1"/>
          </p:cNvSpPr>
          <p:nvPr>
            <p:ph type="body" sz="quarter" idx="10"/>
          </p:nvPr>
        </p:nvSpPr>
        <p:spPr>
          <a:xfrm>
            <a:off x="533400" y="4343400"/>
            <a:ext cx="5562600" cy="492443"/>
          </a:xfrm>
        </p:spPr>
        <p:txBody>
          <a:bodyPr/>
          <a:lstStyle/>
          <a:p>
            <a:r>
              <a:rPr lang="en-US" sz="3200" noProof="0">
                <a:latin typeface="Trebuchet MS" panose="020B0603020202020204" pitchFamily="34" charset="0"/>
              </a:rPr>
              <a:t>Rolled Throughput Yield</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t>4</a:t>
            </a:r>
          </a:p>
        </p:txBody>
      </p:sp>
      <p:sp>
        <p:nvSpPr>
          <p:cNvPr id="2" name="Text Placeholder 5">
            <a:extLst>
              <a:ext uri="{FF2B5EF4-FFF2-40B4-BE49-F238E27FC236}">
                <a16:creationId xmlns:a16="http://schemas.microsoft.com/office/drawing/2014/main" id="{B0296B77-53C2-2FE4-4A7D-1C8310293B54}"/>
              </a:ext>
            </a:extLst>
          </p:cNvPr>
          <p:cNvSpPr txBox="1">
            <a:spLocks/>
          </p:cNvSpPr>
          <p:nvPr/>
        </p:nvSpPr>
        <p:spPr>
          <a:xfrm>
            <a:off x="530280" y="6019800"/>
            <a:ext cx="2743200" cy="384721"/>
          </a:xfrm>
          <a:prstGeom prst="rect">
            <a:avLst/>
          </a:prstGeom>
        </p:spPr>
        <p:txBody>
          <a:bodyPr wrap="square" lIns="0" tIns="0" rIns="0" bIns="0">
            <a:spAutoFit/>
          </a:bodyPr>
          <a:lstStyle>
            <a:lvl1pPr marL="0">
              <a:defRPr sz="2500" b="0" i="0">
                <a:solidFill>
                  <a:schemeClr val="bg1"/>
                </a:solidFill>
                <a:latin typeface="Arial" panose="020B0604020202020204" pitchFamily="34" charset="0"/>
                <a:ea typeface="+mn-ea"/>
                <a:cs typeface="Arial" panose="020B0604020202020204" pitchFamily="34" charset="0"/>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kern="0" noProof="0">
                <a:latin typeface="Trebuchet MS" panose="020B0603020202020204" pitchFamily="34" charset="0"/>
              </a:rPr>
              <a:t>Summarizing Data</a:t>
            </a:r>
          </a:p>
        </p:txBody>
      </p:sp>
    </p:spTree>
    <p:extLst>
      <p:ext uri="{BB962C8B-B14F-4D97-AF65-F5344CB8AC3E}">
        <p14:creationId xmlns:p14="http://schemas.microsoft.com/office/powerpoint/2010/main" val="483135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5B93B2F-2908-50C2-F779-0B1BCB8CAD01}"/>
              </a:ext>
            </a:extLst>
          </p:cNvPr>
          <p:cNvSpPr>
            <a:spLocks noGrp="1"/>
          </p:cNvSpPr>
          <p:nvPr>
            <p:ph type="body" sz="quarter" idx="10"/>
          </p:nvPr>
        </p:nvSpPr>
        <p:spPr>
          <a:xfrm>
            <a:off x="598004" y="381000"/>
            <a:ext cx="8686800" cy="492443"/>
          </a:xfrm>
        </p:spPr>
        <p:txBody>
          <a:bodyPr/>
          <a:lstStyle/>
          <a:p>
            <a:r>
              <a:rPr lang="en-US" sz="3200" noProof="0">
                <a:latin typeface="Trebuchet MS" panose="020B0603020202020204" pitchFamily="34" charset="0"/>
              </a:rPr>
              <a:t>What is Rolled Throughput Yield (RTY)?</a:t>
            </a:r>
          </a:p>
        </p:txBody>
      </p:sp>
      <p:sp>
        <p:nvSpPr>
          <p:cNvPr id="3" name="TextBox 2">
            <a:extLst>
              <a:ext uri="{FF2B5EF4-FFF2-40B4-BE49-F238E27FC236}">
                <a16:creationId xmlns:a16="http://schemas.microsoft.com/office/drawing/2014/main" id="{0263DE7B-32C7-DF5C-C910-81BFBBCEDD72}"/>
              </a:ext>
            </a:extLst>
          </p:cNvPr>
          <p:cNvSpPr txBox="1"/>
          <p:nvPr/>
        </p:nvSpPr>
        <p:spPr>
          <a:xfrm>
            <a:off x="339127" y="6155200"/>
            <a:ext cx="7569743" cy="307777"/>
          </a:xfrm>
          <a:prstGeom prst="rect">
            <a:avLst/>
          </a:prstGeom>
          <a:solidFill>
            <a:srgbClr val="24408D"/>
          </a:solidFill>
        </p:spPr>
        <p:txBody>
          <a:bodyPr wrap="square">
            <a:spAutoFit/>
          </a:bodyPr>
          <a:lstStyle/>
          <a:p>
            <a:r>
              <a:rPr lang="en-US" sz="1400" b="1" noProof="0">
                <a:solidFill>
                  <a:schemeClr val="bg1"/>
                </a:solidFill>
                <a:latin typeface="Trebuchet MS" panose="020B0603020202020204" pitchFamily="34" charset="0"/>
              </a:rPr>
              <a:t>Key Takeaway: </a:t>
            </a:r>
            <a:r>
              <a:rPr lang="en-US" sz="1400" noProof="0">
                <a:solidFill>
                  <a:schemeClr val="bg1"/>
                </a:solidFill>
                <a:latin typeface="Trebuchet MS" panose="020B0603020202020204" pitchFamily="34" charset="0"/>
              </a:rPr>
              <a:t>Final Yield can be misleading because it hides rework and inefficiencies.</a:t>
            </a:r>
          </a:p>
        </p:txBody>
      </p:sp>
      <p:sp>
        <p:nvSpPr>
          <p:cNvPr id="4" name="TextBox 3">
            <a:extLst>
              <a:ext uri="{FF2B5EF4-FFF2-40B4-BE49-F238E27FC236}">
                <a16:creationId xmlns:a16="http://schemas.microsoft.com/office/drawing/2014/main" id="{350D34F9-DFE7-8723-AD65-00C052A655E8}"/>
              </a:ext>
            </a:extLst>
          </p:cNvPr>
          <p:cNvSpPr txBox="1"/>
          <p:nvPr/>
        </p:nvSpPr>
        <p:spPr>
          <a:xfrm>
            <a:off x="7108591" y="2989714"/>
            <a:ext cx="1752600" cy="2800767"/>
          </a:xfrm>
          <a:prstGeom prst="rect">
            <a:avLst/>
          </a:prstGeom>
          <a:solidFill>
            <a:schemeClr val="bg1"/>
          </a:solidFill>
          <a:ln w="38100">
            <a:solidFill>
              <a:srgbClr val="00AF74"/>
            </a:solidFill>
          </a:ln>
        </p:spPr>
        <p:txBody>
          <a:bodyPr wrap="square">
            <a:spAutoFit/>
          </a:bodyPr>
          <a:lstStyle/>
          <a:p>
            <a:r>
              <a:rPr lang="en-US" sz="1600" b="1" noProof="0">
                <a:solidFill>
                  <a:srgbClr val="00AF74"/>
                </a:solidFill>
                <a:latin typeface="Trebuchet MS" panose="020B0603020202020204" pitchFamily="34" charset="0"/>
              </a:rPr>
              <a:t>Final Yield</a:t>
            </a:r>
          </a:p>
          <a:p>
            <a:endParaRPr lang="en-US" sz="1600" noProof="0">
              <a:solidFill>
                <a:srgbClr val="00AF74"/>
              </a:solidFill>
              <a:latin typeface="Trebuchet MS" panose="020B0603020202020204" pitchFamily="34" charset="0"/>
            </a:endParaRPr>
          </a:p>
          <a:p>
            <a:pPr marL="285750" indent="-285750">
              <a:buFont typeface="Arial" panose="020B0604020202020204" pitchFamily="34" charset="0"/>
              <a:buChar char="•"/>
            </a:pPr>
            <a:r>
              <a:rPr lang="en-US" sz="1600" b="0" i="0" noProof="0">
                <a:solidFill>
                  <a:srgbClr val="00AF74"/>
                </a:solidFill>
                <a:effectLst/>
                <a:latin typeface="Trebuchet MS" panose="020B0603020202020204" pitchFamily="34" charset="0"/>
              </a:rPr>
              <a:t>Shows the final output only.</a:t>
            </a:r>
          </a:p>
          <a:p>
            <a:pPr marL="285750" indent="-285750">
              <a:buFont typeface="Arial" panose="020B0604020202020204" pitchFamily="34" charset="0"/>
              <a:buChar char="•"/>
            </a:pPr>
            <a:endParaRPr lang="en-US" sz="1600" b="0" i="0" noProof="0">
              <a:solidFill>
                <a:srgbClr val="00AF74"/>
              </a:solidFill>
              <a:effectLst/>
              <a:latin typeface="Trebuchet MS" panose="020B0603020202020204" pitchFamily="34" charset="0"/>
            </a:endParaRPr>
          </a:p>
          <a:p>
            <a:pPr marL="285750" indent="-285750">
              <a:buFont typeface="Arial" panose="020B0604020202020204" pitchFamily="34" charset="0"/>
              <a:buChar char="•"/>
            </a:pPr>
            <a:r>
              <a:rPr lang="en-US" sz="1600" noProof="0">
                <a:solidFill>
                  <a:srgbClr val="00AF74"/>
                </a:solidFill>
                <a:latin typeface="Trebuchet MS" panose="020B0603020202020204" pitchFamily="34" charset="0"/>
              </a:rPr>
              <a:t>Shows what reaches the customer.</a:t>
            </a:r>
          </a:p>
          <a:p>
            <a:pPr algn="ctr"/>
            <a:endParaRPr lang="en-US" sz="1600" noProof="0">
              <a:solidFill>
                <a:srgbClr val="27AAE1"/>
              </a:solidFill>
              <a:latin typeface="Trebuchet MS" panose="020B0603020202020204" pitchFamily="34" charset="0"/>
            </a:endParaRPr>
          </a:p>
          <a:p>
            <a:pPr algn="ctr"/>
            <a:r>
              <a:rPr lang="en-US" sz="1600" noProof="0">
                <a:solidFill>
                  <a:srgbClr val="00AF74"/>
                </a:solidFill>
                <a:latin typeface="Trebuchet MS" panose="020B0603020202020204" pitchFamily="34" charset="0"/>
              </a:rPr>
              <a:t>Final = 77/100</a:t>
            </a:r>
          </a:p>
        </p:txBody>
      </p:sp>
      <p:sp>
        <p:nvSpPr>
          <p:cNvPr id="8" name="Rectangle: Rounded Corners 7">
            <a:extLst>
              <a:ext uri="{FF2B5EF4-FFF2-40B4-BE49-F238E27FC236}">
                <a16:creationId xmlns:a16="http://schemas.microsoft.com/office/drawing/2014/main" id="{66947840-983F-E878-AEFE-6F0C99C24070}"/>
              </a:ext>
            </a:extLst>
          </p:cNvPr>
          <p:cNvSpPr/>
          <p:nvPr/>
        </p:nvSpPr>
        <p:spPr>
          <a:xfrm>
            <a:off x="7092681" y="2039925"/>
            <a:ext cx="1752600" cy="762000"/>
          </a:xfrm>
          <a:prstGeom prst="roundRect">
            <a:avLst/>
          </a:prstGeom>
          <a:solidFill>
            <a:srgbClr val="00AF74"/>
          </a:solidFill>
          <a:ln w="38100">
            <a:solidFill>
              <a:srgbClr val="00AF74"/>
            </a:solid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600" b="1" noProof="0">
                <a:solidFill>
                  <a:srgbClr val="FFFFFF"/>
                </a:solidFill>
                <a:latin typeface="Arial" panose="020B0604020202020204" pitchFamily="34" charset="0"/>
                <a:cs typeface="Arial" panose="020B0604020202020204" pitchFamily="34" charset="0"/>
              </a:rPr>
              <a:t>Output </a:t>
            </a:r>
          </a:p>
          <a:p>
            <a:pPr algn="ctr"/>
            <a:r>
              <a:rPr lang="en-US" sz="1600" b="1" noProof="0">
                <a:solidFill>
                  <a:srgbClr val="FFFFFF"/>
                </a:solidFill>
                <a:latin typeface="Arial" panose="020B0604020202020204" pitchFamily="34" charset="0"/>
                <a:cs typeface="Arial" panose="020B0604020202020204" pitchFamily="34" charset="0"/>
              </a:rPr>
              <a:t> 76.7%</a:t>
            </a:r>
          </a:p>
        </p:txBody>
      </p:sp>
      <p:grpSp>
        <p:nvGrpSpPr>
          <p:cNvPr id="12" name="Group 11">
            <a:extLst>
              <a:ext uri="{FF2B5EF4-FFF2-40B4-BE49-F238E27FC236}">
                <a16:creationId xmlns:a16="http://schemas.microsoft.com/office/drawing/2014/main" id="{757A50B8-60D9-371A-3395-EC82B57213F8}"/>
              </a:ext>
            </a:extLst>
          </p:cNvPr>
          <p:cNvGrpSpPr/>
          <p:nvPr/>
        </p:nvGrpSpPr>
        <p:grpSpPr>
          <a:xfrm>
            <a:off x="339127" y="1981200"/>
            <a:ext cx="6671273" cy="3810560"/>
            <a:chOff x="1206887" y="1679544"/>
            <a:chExt cx="6671273" cy="3427040"/>
          </a:xfrm>
          <a:effectLst/>
        </p:grpSpPr>
        <p:sp>
          <p:nvSpPr>
            <p:cNvPr id="15" name="TextBox 14">
              <a:extLst>
                <a:ext uri="{FF2B5EF4-FFF2-40B4-BE49-F238E27FC236}">
                  <a16:creationId xmlns:a16="http://schemas.microsoft.com/office/drawing/2014/main" id="{4E9A168D-8F74-FFDF-569A-DF077AFFB730}"/>
                </a:ext>
              </a:extLst>
            </p:cNvPr>
            <p:cNvSpPr txBox="1"/>
            <p:nvPr/>
          </p:nvSpPr>
          <p:spPr>
            <a:xfrm>
              <a:off x="1223284" y="2587705"/>
              <a:ext cx="6231776" cy="2518879"/>
            </a:xfrm>
            <a:prstGeom prst="rect">
              <a:avLst/>
            </a:prstGeom>
            <a:solidFill>
              <a:schemeClr val="bg1"/>
            </a:solidFill>
            <a:ln w="38100">
              <a:solidFill>
                <a:srgbClr val="27AAE1"/>
              </a:solidFill>
            </a:ln>
          </p:spPr>
          <p:txBody>
            <a:bodyPr wrap="square">
              <a:spAutoFit/>
            </a:bodyPr>
            <a:lstStyle/>
            <a:p>
              <a:pPr algn="ctr"/>
              <a:r>
                <a:rPr lang="en-US" sz="1600" b="1" noProof="0">
                  <a:solidFill>
                    <a:srgbClr val="002060"/>
                  </a:solidFill>
                  <a:latin typeface="Trebuchet MS" panose="020B0603020202020204" pitchFamily="34" charset="0"/>
                </a:rPr>
                <a:t>Rolled Throughput Yield</a:t>
              </a:r>
            </a:p>
            <a:p>
              <a:endParaRPr lang="en-US" sz="16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600" b="0" i="0" noProof="0">
                  <a:solidFill>
                    <a:srgbClr val="002060"/>
                  </a:solidFill>
                  <a:effectLst/>
                  <a:latin typeface="Trebuchet MS" panose="020B0603020202020204" pitchFamily="34" charset="0"/>
                </a:rPr>
                <a:t>Measures </a:t>
              </a:r>
              <a:r>
                <a:rPr lang="en-US" sz="1600" noProof="0">
                  <a:solidFill>
                    <a:srgbClr val="002060"/>
                  </a:solidFill>
                  <a:latin typeface="Trebuchet MS" panose="020B0603020202020204" pitchFamily="34" charset="0"/>
                </a:rPr>
                <a:t>probability of passing each step defect-free.</a:t>
              </a:r>
            </a:p>
            <a:p>
              <a:pPr marL="285750" indent="-285750">
                <a:buFont typeface="Arial" panose="020B0604020202020204" pitchFamily="34" charset="0"/>
                <a:buChar char="•"/>
              </a:pPr>
              <a:r>
                <a:rPr lang="en-US" sz="1600" b="0" i="0" noProof="0">
                  <a:solidFill>
                    <a:srgbClr val="002060"/>
                  </a:solidFill>
                  <a:effectLst/>
                  <a:latin typeface="Trebuchet MS" panose="020B0603020202020204" pitchFamily="34" charset="0"/>
                </a:rPr>
                <a:t>Shows the true performance of the whole process.</a:t>
              </a:r>
            </a:p>
            <a:p>
              <a:endParaRPr lang="en-US" sz="1600" noProof="0">
                <a:solidFill>
                  <a:srgbClr val="002060"/>
                </a:solidFill>
                <a:latin typeface="Trebuchet MS" panose="020B0603020202020204" pitchFamily="34" charset="0"/>
              </a:endParaRPr>
            </a:p>
            <a:p>
              <a:r>
                <a:rPr lang="en-US" sz="1600" b="0" i="0" noProof="0">
                  <a:solidFill>
                    <a:srgbClr val="002060"/>
                  </a:solidFill>
                  <a:effectLst/>
                  <a:latin typeface="Trebuchet MS" panose="020B0603020202020204" pitchFamily="34" charset="0"/>
                </a:rPr>
                <a:t> </a:t>
              </a:r>
              <a:r>
                <a:rPr lang="en-US" sz="1600" b="1" i="0" noProof="0">
                  <a:solidFill>
                    <a:srgbClr val="002060"/>
                  </a:solidFill>
                  <a:effectLst/>
                  <a:latin typeface="Trebuchet MS" panose="020B0603020202020204" pitchFamily="34" charset="0"/>
                </a:rPr>
                <a:t>It shows:</a:t>
              </a:r>
            </a:p>
            <a:p>
              <a:pPr marL="285750" indent="-285750">
                <a:buFont typeface="Arial" panose="020B0604020202020204" pitchFamily="34" charset="0"/>
                <a:buChar char="•"/>
              </a:pPr>
              <a:r>
                <a:rPr lang="en-US" sz="1600" b="0" i="0" noProof="0">
                  <a:solidFill>
                    <a:srgbClr val="002060"/>
                  </a:solidFill>
                  <a:effectLst/>
                  <a:latin typeface="Trebuchet MS" panose="020B0603020202020204" pitchFamily="34" charset="0"/>
                </a:rPr>
                <a:t>The cumulative impact of defects across all steps.</a:t>
              </a:r>
            </a:p>
            <a:p>
              <a:pPr marL="285750" indent="-285750">
                <a:buFont typeface="Arial" panose="020B0604020202020204" pitchFamily="34" charset="0"/>
                <a:buChar char="•"/>
              </a:pPr>
              <a:r>
                <a:rPr lang="en-US" sz="1600" b="0" i="0" noProof="0">
                  <a:solidFill>
                    <a:srgbClr val="002060"/>
                  </a:solidFill>
                  <a:effectLst/>
                  <a:latin typeface="Trebuchet MS" panose="020B0603020202020204" pitchFamily="34" charset="0"/>
                </a:rPr>
                <a:t>Where quality is lost within the process.</a:t>
              </a:r>
            </a:p>
            <a:p>
              <a:pPr marL="285750" indent="-285750">
                <a:buFont typeface="Arial" panose="020B0604020202020204" pitchFamily="34" charset="0"/>
                <a:buChar char="•"/>
              </a:pPr>
              <a:endParaRPr lang="en-US" sz="1600" noProof="0">
                <a:solidFill>
                  <a:srgbClr val="002060"/>
                </a:solidFill>
                <a:latin typeface="Trebuchet MS" panose="020B0603020202020204" pitchFamily="34" charset="0"/>
              </a:endParaRPr>
            </a:p>
            <a:p>
              <a:pPr algn="ctr"/>
              <a:r>
                <a:rPr lang="en-US" sz="1600" b="0" i="0" noProof="0">
                  <a:solidFill>
                    <a:srgbClr val="002060"/>
                  </a:solidFill>
                  <a:effectLst/>
                  <a:latin typeface="Trebuchet MS" panose="020B0603020202020204" pitchFamily="34" charset="0"/>
                </a:rPr>
                <a:t>RTY (All steps) = 0.95 x 0.95 x 0.85 x100 = 77%</a:t>
              </a:r>
            </a:p>
            <a:p>
              <a:pPr algn="ctr"/>
              <a:endParaRPr lang="en-US" sz="1600" b="0" i="0" noProof="0">
                <a:solidFill>
                  <a:srgbClr val="002060"/>
                </a:solidFill>
                <a:effectLst/>
                <a:latin typeface="Trebuchet MS" panose="020B0603020202020204" pitchFamily="34" charset="0"/>
              </a:endParaRPr>
            </a:p>
          </p:txBody>
        </p:sp>
        <p:sp>
          <p:nvSpPr>
            <p:cNvPr id="9" name="Arrow: Right 8">
              <a:extLst>
                <a:ext uri="{FF2B5EF4-FFF2-40B4-BE49-F238E27FC236}">
                  <a16:creationId xmlns:a16="http://schemas.microsoft.com/office/drawing/2014/main" id="{03DCF2E7-8A27-A05A-B521-106CAE2CECE8}"/>
                </a:ext>
              </a:extLst>
            </p:cNvPr>
            <p:cNvSpPr/>
            <p:nvPr/>
          </p:nvSpPr>
          <p:spPr>
            <a:xfrm>
              <a:off x="2942848" y="1864085"/>
              <a:ext cx="457200" cy="381000"/>
            </a:xfrm>
            <a:prstGeom prst="rightArrow">
              <a:avLst/>
            </a:prstGeom>
            <a:solidFill>
              <a:srgbClr val="24408D"/>
            </a:solid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0" name="Arrow: Right 9">
              <a:extLst>
                <a:ext uri="{FF2B5EF4-FFF2-40B4-BE49-F238E27FC236}">
                  <a16:creationId xmlns:a16="http://schemas.microsoft.com/office/drawing/2014/main" id="{29352A34-88E2-A579-8319-C93C6FA0BBE3}"/>
                </a:ext>
              </a:extLst>
            </p:cNvPr>
            <p:cNvSpPr/>
            <p:nvPr/>
          </p:nvSpPr>
          <p:spPr>
            <a:xfrm>
              <a:off x="5192106" y="1864085"/>
              <a:ext cx="457200" cy="381000"/>
            </a:xfrm>
            <a:prstGeom prst="rightArrow">
              <a:avLst/>
            </a:prstGeom>
            <a:solidFill>
              <a:srgbClr val="24408D"/>
            </a:solid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11" name="Arrow: Right 10">
              <a:extLst>
                <a:ext uri="{FF2B5EF4-FFF2-40B4-BE49-F238E27FC236}">
                  <a16:creationId xmlns:a16="http://schemas.microsoft.com/office/drawing/2014/main" id="{285E495C-3343-E9A2-0083-DA80BAAFB5BE}"/>
                </a:ext>
              </a:extLst>
            </p:cNvPr>
            <p:cNvSpPr/>
            <p:nvPr/>
          </p:nvSpPr>
          <p:spPr>
            <a:xfrm>
              <a:off x="7420960" y="1885136"/>
              <a:ext cx="457200" cy="381000"/>
            </a:xfrm>
            <a:prstGeom prst="rightArrow">
              <a:avLst/>
            </a:prstGeom>
            <a:solidFill>
              <a:srgbClr val="24408D"/>
            </a:solid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noProof="0">
                <a:latin typeface="Trebuchet MS" panose="020B0603020202020204" pitchFamily="34" charset="0"/>
              </a:endParaRPr>
            </a:p>
          </p:txBody>
        </p:sp>
        <p:sp>
          <p:nvSpPr>
            <p:cNvPr id="2" name="Rectangle: Rounded Corners 1">
              <a:extLst>
                <a:ext uri="{FF2B5EF4-FFF2-40B4-BE49-F238E27FC236}">
                  <a16:creationId xmlns:a16="http://schemas.microsoft.com/office/drawing/2014/main" id="{D554D742-0985-E452-B3BA-26AF6E13C13B}"/>
                </a:ext>
              </a:extLst>
            </p:cNvPr>
            <p:cNvSpPr/>
            <p:nvPr/>
          </p:nvSpPr>
          <p:spPr>
            <a:xfrm>
              <a:off x="1206887" y="1679544"/>
              <a:ext cx="1752600" cy="762000"/>
            </a:xfrm>
            <a:prstGeom prst="roundRect">
              <a:avLst/>
            </a:prstGeom>
            <a:solidFill>
              <a:srgbClr val="27AAE1"/>
            </a:solidFill>
            <a:ln w="38100">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b="1" noProof="0">
                  <a:solidFill>
                    <a:srgbClr val="FFFFFF"/>
                  </a:solidFill>
                  <a:latin typeface="Trebuchet MS" panose="020B0603020202020204" pitchFamily="34" charset="0"/>
                  <a:cs typeface="Arial" panose="020B0604020202020204" pitchFamily="34" charset="0"/>
                </a:rPr>
                <a:t>Step 1</a:t>
              </a:r>
            </a:p>
            <a:p>
              <a:pPr algn="ctr"/>
              <a:endParaRPr lang="en-US" sz="1400" b="1" noProof="0">
                <a:solidFill>
                  <a:srgbClr val="FFFFFF"/>
                </a:solidFill>
                <a:latin typeface="Trebuchet MS" panose="020B0603020202020204" pitchFamily="34" charset="0"/>
                <a:cs typeface="Arial" panose="020B0604020202020204" pitchFamily="34" charset="0"/>
              </a:endParaRPr>
            </a:p>
            <a:p>
              <a:pPr algn="ctr"/>
              <a:r>
                <a:rPr lang="en-US" sz="1400" b="1" noProof="0">
                  <a:solidFill>
                    <a:srgbClr val="FFFFFF"/>
                  </a:solidFill>
                  <a:latin typeface="Trebuchet MS" panose="020B0603020202020204" pitchFamily="34" charset="0"/>
                  <a:cs typeface="Arial" panose="020B0604020202020204" pitchFamily="34" charset="0"/>
                </a:rPr>
                <a:t>95% Yield</a:t>
              </a:r>
            </a:p>
          </p:txBody>
        </p:sp>
        <p:sp>
          <p:nvSpPr>
            <p:cNvPr id="6" name="Rectangle: Rounded Corners 5">
              <a:extLst>
                <a:ext uri="{FF2B5EF4-FFF2-40B4-BE49-F238E27FC236}">
                  <a16:creationId xmlns:a16="http://schemas.microsoft.com/office/drawing/2014/main" id="{8117D458-5739-112E-8B0B-EED2739694C0}"/>
                </a:ext>
              </a:extLst>
            </p:cNvPr>
            <p:cNvSpPr/>
            <p:nvPr/>
          </p:nvSpPr>
          <p:spPr>
            <a:xfrm>
              <a:off x="3429979" y="1679544"/>
              <a:ext cx="1752600" cy="762000"/>
            </a:xfrm>
            <a:prstGeom prst="roundRect">
              <a:avLst/>
            </a:prstGeom>
            <a:solidFill>
              <a:srgbClr val="27AAE1"/>
            </a:solidFill>
            <a:ln w="38100">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b="1" noProof="0">
                  <a:solidFill>
                    <a:srgbClr val="FFFFFF"/>
                  </a:solidFill>
                  <a:latin typeface="Trebuchet MS" panose="020B0603020202020204" pitchFamily="34" charset="0"/>
                  <a:cs typeface="Arial" panose="020B0604020202020204" pitchFamily="34" charset="0"/>
                </a:rPr>
                <a:t>Step 2</a:t>
              </a:r>
            </a:p>
            <a:p>
              <a:pPr algn="ctr"/>
              <a:endParaRPr lang="en-US" sz="1400" b="1" noProof="0">
                <a:solidFill>
                  <a:srgbClr val="FFFFFF"/>
                </a:solidFill>
                <a:latin typeface="Trebuchet MS" panose="020B0603020202020204" pitchFamily="34" charset="0"/>
                <a:cs typeface="Arial" panose="020B0604020202020204" pitchFamily="34" charset="0"/>
              </a:endParaRPr>
            </a:p>
            <a:p>
              <a:pPr algn="ctr"/>
              <a:r>
                <a:rPr lang="en-US" sz="1400" b="1" noProof="0">
                  <a:solidFill>
                    <a:srgbClr val="FFFFFF"/>
                  </a:solidFill>
                  <a:latin typeface="Trebuchet MS" panose="020B0603020202020204" pitchFamily="34" charset="0"/>
                  <a:cs typeface="Arial" panose="020B0604020202020204" pitchFamily="34" charset="0"/>
                </a:rPr>
                <a:t>95% Yield</a:t>
              </a:r>
            </a:p>
          </p:txBody>
        </p:sp>
        <p:sp>
          <p:nvSpPr>
            <p:cNvPr id="7" name="Rectangle: Rounded Corners 6">
              <a:extLst>
                <a:ext uri="{FF2B5EF4-FFF2-40B4-BE49-F238E27FC236}">
                  <a16:creationId xmlns:a16="http://schemas.microsoft.com/office/drawing/2014/main" id="{EB397BC8-8F8D-11DD-27D2-9221997CAA55}"/>
                </a:ext>
              </a:extLst>
            </p:cNvPr>
            <p:cNvSpPr/>
            <p:nvPr/>
          </p:nvSpPr>
          <p:spPr>
            <a:xfrm>
              <a:off x="5668360" y="1679544"/>
              <a:ext cx="1752600" cy="762000"/>
            </a:xfrm>
            <a:prstGeom prst="roundRect">
              <a:avLst/>
            </a:prstGeom>
            <a:solidFill>
              <a:srgbClr val="27AAE1"/>
            </a:solidFill>
            <a:ln w="38100">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b="1" noProof="0">
                  <a:solidFill>
                    <a:srgbClr val="FFFFFF"/>
                  </a:solidFill>
                  <a:latin typeface="Trebuchet MS" panose="020B0603020202020204" pitchFamily="34" charset="0"/>
                  <a:cs typeface="Arial" panose="020B0604020202020204" pitchFamily="34" charset="0"/>
                </a:rPr>
                <a:t>Step 3</a:t>
              </a:r>
            </a:p>
            <a:p>
              <a:pPr algn="ctr"/>
              <a:endParaRPr lang="en-US" sz="1400" b="1" noProof="0">
                <a:solidFill>
                  <a:srgbClr val="FFFFFF"/>
                </a:solidFill>
                <a:latin typeface="Trebuchet MS" panose="020B0603020202020204" pitchFamily="34" charset="0"/>
                <a:cs typeface="Arial" panose="020B0604020202020204" pitchFamily="34" charset="0"/>
              </a:endParaRPr>
            </a:p>
            <a:p>
              <a:pPr algn="ctr"/>
              <a:r>
                <a:rPr lang="en-US" sz="1400" b="1" noProof="0">
                  <a:solidFill>
                    <a:srgbClr val="FFFFFF"/>
                  </a:solidFill>
                  <a:latin typeface="Trebuchet MS" panose="020B0603020202020204" pitchFamily="34" charset="0"/>
                  <a:cs typeface="Arial" panose="020B0604020202020204" pitchFamily="34" charset="0"/>
                </a:rPr>
                <a:t>85% Yield</a:t>
              </a:r>
            </a:p>
          </p:txBody>
        </p:sp>
      </p:grpSp>
      <p:sp>
        <p:nvSpPr>
          <p:cNvPr id="13" name="TextBox 12">
            <a:extLst>
              <a:ext uri="{FF2B5EF4-FFF2-40B4-BE49-F238E27FC236}">
                <a16:creationId xmlns:a16="http://schemas.microsoft.com/office/drawing/2014/main" id="{15AC0A64-C8EC-C9EF-AB95-52BF2D72BFC6}"/>
              </a:ext>
            </a:extLst>
          </p:cNvPr>
          <p:cNvSpPr txBox="1"/>
          <p:nvPr/>
        </p:nvSpPr>
        <p:spPr>
          <a:xfrm>
            <a:off x="9152794" y="2989714"/>
            <a:ext cx="2810605" cy="2800767"/>
          </a:xfrm>
          <a:prstGeom prst="rect">
            <a:avLst/>
          </a:prstGeom>
          <a:noFill/>
          <a:ln w="38100">
            <a:solidFill>
              <a:srgbClr val="24408D"/>
            </a:solidFill>
          </a:ln>
        </p:spPr>
        <p:txBody>
          <a:bodyPr wrap="square" rtlCol="0">
            <a:spAutoFit/>
          </a:bodyPr>
          <a:lstStyle/>
          <a:p>
            <a:r>
              <a:rPr lang="en-US" sz="1600" b="1" noProof="0">
                <a:solidFill>
                  <a:srgbClr val="002060"/>
                </a:solidFill>
                <a:latin typeface="Trebuchet MS" panose="020B0603020202020204" pitchFamily="34" charset="0"/>
              </a:rPr>
              <a:t>What this shows:</a:t>
            </a:r>
          </a:p>
          <a:p>
            <a:endParaRPr lang="en-US" noProof="0">
              <a:solidFill>
                <a:srgbClr val="002060"/>
              </a:solidFill>
              <a:latin typeface="Trebuchet MS" panose="020B0603020202020204" pitchFamily="34" charset="0"/>
            </a:endParaRPr>
          </a:p>
          <a:p>
            <a:r>
              <a:rPr lang="en-US" sz="1400" noProof="0">
                <a:solidFill>
                  <a:srgbClr val="002060"/>
                </a:solidFill>
                <a:latin typeface="Trebuchet MS" panose="020B0603020202020204" pitchFamily="34" charset="0"/>
              </a:rPr>
              <a:t>77% of units passed through all steps without any defects (RTY).</a:t>
            </a:r>
          </a:p>
          <a:p>
            <a:endParaRPr lang="en-US" sz="1400" noProof="0">
              <a:solidFill>
                <a:srgbClr val="002060"/>
              </a:solidFill>
              <a:latin typeface="Trebuchet MS" panose="020B0603020202020204" pitchFamily="34" charset="0"/>
            </a:endParaRPr>
          </a:p>
          <a:p>
            <a:r>
              <a:rPr lang="en-US" sz="1400" noProof="0">
                <a:solidFill>
                  <a:srgbClr val="002060"/>
                </a:solidFill>
                <a:latin typeface="Trebuchet MS" panose="020B0603020202020204" pitchFamily="34" charset="0"/>
              </a:rPr>
              <a:t>77% were delivered to the customer (Final Yield).</a:t>
            </a:r>
          </a:p>
          <a:p>
            <a:endParaRPr lang="en-US" sz="1400" noProof="0">
              <a:solidFill>
                <a:srgbClr val="002060"/>
              </a:solidFill>
              <a:latin typeface="Trebuchet MS" panose="020B0603020202020204" pitchFamily="34" charset="0"/>
            </a:endParaRPr>
          </a:p>
          <a:p>
            <a:r>
              <a:rPr lang="en-US" sz="1400" noProof="0">
                <a:solidFill>
                  <a:srgbClr val="002060"/>
                </a:solidFill>
                <a:latin typeface="Trebuchet MS" panose="020B0603020202020204" pitchFamily="34" charset="0"/>
              </a:rPr>
              <a:t>It means the process is performing cleanly, with no hidden rework or inefficiency.</a:t>
            </a:r>
          </a:p>
          <a:p>
            <a:endParaRPr lang="en-US" sz="1400" noProof="0">
              <a:solidFill>
                <a:srgbClr val="002060"/>
              </a:solidFill>
              <a:latin typeface="Trebuchet MS" panose="020B0603020202020204" pitchFamily="34" charset="0"/>
            </a:endParaRPr>
          </a:p>
        </p:txBody>
      </p:sp>
      <p:sp>
        <p:nvSpPr>
          <p:cNvPr id="19" name="TextBox 18">
            <a:extLst>
              <a:ext uri="{FF2B5EF4-FFF2-40B4-BE49-F238E27FC236}">
                <a16:creationId xmlns:a16="http://schemas.microsoft.com/office/drawing/2014/main" id="{DFAB8725-AB19-465A-C2B0-039B70EDC63A}"/>
              </a:ext>
            </a:extLst>
          </p:cNvPr>
          <p:cNvSpPr txBox="1"/>
          <p:nvPr/>
        </p:nvSpPr>
        <p:spPr>
          <a:xfrm>
            <a:off x="343609" y="1447800"/>
            <a:ext cx="11522116" cy="298159"/>
          </a:xfrm>
          <a:prstGeom prst="rect">
            <a:avLst/>
          </a:prstGeom>
          <a:noFill/>
        </p:spPr>
        <p:txBody>
          <a:bodyPr wrap="square">
            <a:spAutoFit/>
          </a:bodyPr>
          <a:lstStyle/>
          <a:p>
            <a:pPr fontAlgn="t">
              <a:lnSpc>
                <a:spcPts val="1500"/>
              </a:lnSpc>
              <a:buNone/>
            </a:pPr>
            <a:r>
              <a:rPr lang="en-US" sz="1600" noProof="0">
                <a:solidFill>
                  <a:srgbClr val="002060"/>
                </a:solidFill>
                <a:latin typeface="Trebuchet MS" panose="020B0603020202020204" pitchFamily="34" charset="0"/>
              </a:rPr>
              <a:t>Each step has a probability of defects, and these yields represent first-time pass performance.</a:t>
            </a:r>
          </a:p>
        </p:txBody>
      </p:sp>
    </p:spTree>
    <p:extLst>
      <p:ext uri="{BB962C8B-B14F-4D97-AF65-F5344CB8AC3E}">
        <p14:creationId xmlns:p14="http://schemas.microsoft.com/office/powerpoint/2010/main" val="528623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97C32-568E-0DA5-FB29-93C3E44F98EE}"/>
            </a:ext>
          </a:extLst>
        </p:cNvPr>
        <p:cNvGrpSpPr/>
        <p:nvPr/>
      </p:nvGrpSpPr>
      <p:grpSpPr>
        <a:xfrm>
          <a:off x="0" y="0"/>
          <a:ext cx="1" cy="1"/>
          <a:chOff x="0" y="0"/>
          <a:chExt cx="1" cy="1"/>
        </a:xfrm>
      </p:grpSpPr>
      <p:sp>
        <p:nvSpPr>
          <p:cNvPr id="5" name="Text Placeholder 4">
            <a:extLst>
              <a:ext uri="{FF2B5EF4-FFF2-40B4-BE49-F238E27FC236}">
                <a16:creationId xmlns:a16="http://schemas.microsoft.com/office/drawing/2014/main" id="{BB88B6AD-E84A-4CCB-070C-51F8392881CE}"/>
              </a:ext>
            </a:extLst>
          </p:cNvPr>
          <p:cNvSpPr>
            <a:spLocks noGrp="1"/>
          </p:cNvSpPr>
          <p:nvPr>
            <p:ph type="body" sz="quarter" idx="10"/>
          </p:nvPr>
        </p:nvSpPr>
        <p:spPr>
          <a:xfrm>
            <a:off x="598004" y="381000"/>
            <a:ext cx="8686800" cy="492443"/>
          </a:xfrm>
        </p:spPr>
        <p:txBody>
          <a:bodyPr/>
          <a:lstStyle/>
          <a:p>
            <a:r>
              <a:rPr lang="en-US" sz="3200" noProof="0">
                <a:latin typeface="Trebuchet MS" panose="020B0603020202020204" pitchFamily="34" charset="0"/>
              </a:rPr>
              <a:t> Example: RTY - IT Service Desk Requests</a:t>
            </a:r>
          </a:p>
        </p:txBody>
      </p:sp>
      <p:sp>
        <p:nvSpPr>
          <p:cNvPr id="3" name="TextBox 2">
            <a:extLst>
              <a:ext uri="{FF2B5EF4-FFF2-40B4-BE49-F238E27FC236}">
                <a16:creationId xmlns:a16="http://schemas.microsoft.com/office/drawing/2014/main" id="{8CAF1439-FB18-3D06-DD1C-59277076725A}"/>
              </a:ext>
            </a:extLst>
          </p:cNvPr>
          <p:cNvSpPr txBox="1"/>
          <p:nvPr/>
        </p:nvSpPr>
        <p:spPr>
          <a:xfrm>
            <a:off x="292260" y="6399934"/>
            <a:ext cx="8518694" cy="338554"/>
          </a:xfrm>
          <a:prstGeom prst="rect">
            <a:avLst/>
          </a:prstGeom>
          <a:solidFill>
            <a:srgbClr val="24408D"/>
          </a:solidFill>
        </p:spPr>
        <p:txBody>
          <a:bodyPr wrap="square">
            <a:spAutoFit/>
          </a:bodyPr>
          <a:lstStyle/>
          <a:p>
            <a:r>
              <a:rPr lang="en-US" sz="1600" b="1" noProof="0">
                <a:solidFill>
                  <a:schemeClr val="bg1"/>
                </a:solidFill>
                <a:latin typeface="Trebuchet MS" panose="020B0603020202020204" pitchFamily="34" charset="0"/>
              </a:rPr>
              <a:t>Key Takeaway: </a:t>
            </a:r>
            <a:r>
              <a:rPr lang="en-US" sz="1600" noProof="0">
                <a:solidFill>
                  <a:schemeClr val="bg1"/>
                </a:solidFill>
                <a:latin typeface="Trebuchet MS" panose="020B0603020202020204" pitchFamily="34" charset="0"/>
              </a:rPr>
              <a:t>Final Yield can be misleading because it hides rework and inefficiencies.</a:t>
            </a:r>
          </a:p>
        </p:txBody>
      </p:sp>
      <p:sp>
        <p:nvSpPr>
          <p:cNvPr id="4" name="TextBox 3">
            <a:extLst>
              <a:ext uri="{FF2B5EF4-FFF2-40B4-BE49-F238E27FC236}">
                <a16:creationId xmlns:a16="http://schemas.microsoft.com/office/drawing/2014/main" id="{E1551DA6-6318-C162-409E-D5D556FE146B}"/>
              </a:ext>
            </a:extLst>
          </p:cNvPr>
          <p:cNvSpPr txBox="1"/>
          <p:nvPr/>
        </p:nvSpPr>
        <p:spPr>
          <a:xfrm>
            <a:off x="7119465" y="3083698"/>
            <a:ext cx="1638508" cy="3139321"/>
          </a:xfrm>
          <a:prstGeom prst="rect">
            <a:avLst/>
          </a:prstGeom>
          <a:solidFill>
            <a:schemeClr val="bg1"/>
          </a:solidFill>
          <a:ln w="38100">
            <a:solidFill>
              <a:srgbClr val="00AF74"/>
            </a:solidFill>
          </a:ln>
        </p:spPr>
        <p:txBody>
          <a:bodyPr wrap="square">
            <a:spAutoFit/>
          </a:bodyPr>
          <a:lstStyle/>
          <a:p>
            <a:r>
              <a:rPr lang="en-US" sz="1600" b="1" noProof="0">
                <a:solidFill>
                  <a:srgbClr val="00AF74"/>
                </a:solidFill>
                <a:latin typeface="Trebuchet MS" panose="020B0603020202020204" pitchFamily="34" charset="0"/>
              </a:rPr>
              <a:t>Final Yield</a:t>
            </a:r>
          </a:p>
          <a:p>
            <a:endParaRPr lang="en-US" sz="1400" noProof="0">
              <a:solidFill>
                <a:srgbClr val="00AF74"/>
              </a:solidFill>
              <a:latin typeface="Trebuchet MS" panose="020B0603020202020204" pitchFamily="34" charset="0"/>
            </a:endParaRPr>
          </a:p>
          <a:p>
            <a:pPr marL="285750" indent="-285750">
              <a:buFont typeface="Arial" panose="020B0604020202020204" pitchFamily="34" charset="0"/>
              <a:buChar char="•"/>
            </a:pPr>
            <a:r>
              <a:rPr lang="en-US" sz="1400" b="0" i="0" noProof="0">
                <a:solidFill>
                  <a:srgbClr val="00AF74"/>
                </a:solidFill>
                <a:effectLst/>
                <a:latin typeface="Trebuchet MS" panose="020B0603020202020204" pitchFamily="34" charset="0"/>
              </a:rPr>
              <a:t>Shows the final output only.</a:t>
            </a:r>
          </a:p>
          <a:p>
            <a:pPr marL="285750" indent="-285750">
              <a:buFont typeface="Arial" panose="020B0604020202020204" pitchFamily="34" charset="0"/>
              <a:buChar char="•"/>
            </a:pPr>
            <a:endParaRPr lang="en-US" sz="1400" b="0" i="0" noProof="0">
              <a:solidFill>
                <a:srgbClr val="00AF74"/>
              </a:solidFill>
              <a:effectLst/>
              <a:latin typeface="Trebuchet MS" panose="020B0603020202020204" pitchFamily="34" charset="0"/>
            </a:endParaRPr>
          </a:p>
          <a:p>
            <a:pPr marL="285750" indent="-285750">
              <a:buFont typeface="Arial" panose="020B0604020202020204" pitchFamily="34" charset="0"/>
              <a:buChar char="•"/>
            </a:pPr>
            <a:r>
              <a:rPr lang="en-US" sz="1400" noProof="0">
                <a:solidFill>
                  <a:srgbClr val="00AF74"/>
                </a:solidFill>
                <a:latin typeface="Trebuchet MS" panose="020B0603020202020204" pitchFamily="34" charset="0"/>
              </a:rPr>
              <a:t>Shows what reaches the customer.</a:t>
            </a:r>
          </a:p>
          <a:p>
            <a:endParaRPr lang="en-US" sz="1400" b="0" i="0" noProof="0">
              <a:solidFill>
                <a:srgbClr val="27AAE1"/>
              </a:solidFill>
              <a:effectLst/>
              <a:latin typeface="Trebuchet MS" panose="020B0603020202020204" pitchFamily="34" charset="0"/>
            </a:endParaRPr>
          </a:p>
          <a:p>
            <a:pPr algn="ctr"/>
            <a:r>
              <a:rPr lang="en-US" sz="1400" noProof="0">
                <a:solidFill>
                  <a:srgbClr val="00AF74"/>
                </a:solidFill>
                <a:latin typeface="Trebuchet MS" panose="020B0603020202020204" pitchFamily="34" charset="0"/>
              </a:rPr>
              <a:t>Final = 95/100</a:t>
            </a:r>
          </a:p>
          <a:p>
            <a:pPr algn="ctr"/>
            <a:endParaRPr lang="en-US" sz="1400" noProof="0">
              <a:solidFill>
                <a:srgbClr val="00AF74"/>
              </a:solidFill>
              <a:latin typeface="Trebuchet MS" panose="020B0603020202020204" pitchFamily="34" charset="0"/>
            </a:endParaRPr>
          </a:p>
          <a:p>
            <a:pPr algn="ctr"/>
            <a:endParaRPr lang="en-US" sz="1400" noProof="0">
              <a:solidFill>
                <a:srgbClr val="00AF74"/>
              </a:solidFill>
              <a:latin typeface="Trebuchet MS" panose="020B0603020202020204" pitchFamily="34" charset="0"/>
            </a:endParaRPr>
          </a:p>
          <a:p>
            <a:pPr algn="ctr"/>
            <a:endParaRPr lang="en-US" sz="1400" noProof="0">
              <a:solidFill>
                <a:srgbClr val="00AF74"/>
              </a:solidFill>
              <a:latin typeface="Trebuchet MS" panose="020B0603020202020204" pitchFamily="34" charset="0"/>
            </a:endParaRPr>
          </a:p>
        </p:txBody>
      </p:sp>
      <p:sp>
        <p:nvSpPr>
          <p:cNvPr id="8" name="Rectangle: Rounded Corners 7">
            <a:extLst>
              <a:ext uri="{FF2B5EF4-FFF2-40B4-BE49-F238E27FC236}">
                <a16:creationId xmlns:a16="http://schemas.microsoft.com/office/drawing/2014/main" id="{53DD7EF3-83B9-B1F5-003E-00D3A36415FF}"/>
              </a:ext>
            </a:extLst>
          </p:cNvPr>
          <p:cNvSpPr/>
          <p:nvPr/>
        </p:nvSpPr>
        <p:spPr>
          <a:xfrm>
            <a:off x="7048708" y="2106962"/>
            <a:ext cx="1752600" cy="762000"/>
          </a:xfrm>
          <a:prstGeom prst="roundRect">
            <a:avLst/>
          </a:prstGeom>
          <a:solidFill>
            <a:srgbClr val="00AF74"/>
          </a:solidFill>
          <a:ln w="38100">
            <a:solidFill>
              <a:srgbClr val="00AF74"/>
            </a:solid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600" b="1" noProof="0">
                <a:solidFill>
                  <a:srgbClr val="FFFFFF"/>
                </a:solidFill>
                <a:latin typeface="Arial" panose="020B0604020202020204" pitchFamily="34" charset="0"/>
                <a:cs typeface="Arial" panose="020B0604020202020204" pitchFamily="34" charset="0"/>
              </a:rPr>
              <a:t>Output </a:t>
            </a:r>
          </a:p>
          <a:p>
            <a:pPr algn="ctr"/>
            <a:r>
              <a:rPr lang="en-US" sz="1600" b="1" noProof="0">
                <a:solidFill>
                  <a:srgbClr val="FFFFFF"/>
                </a:solidFill>
                <a:latin typeface="Arial" panose="020B0604020202020204" pitchFamily="34" charset="0"/>
                <a:cs typeface="Arial" panose="020B0604020202020204" pitchFamily="34" charset="0"/>
              </a:rPr>
              <a:t> 95%</a:t>
            </a:r>
          </a:p>
        </p:txBody>
      </p:sp>
      <p:grpSp>
        <p:nvGrpSpPr>
          <p:cNvPr id="12" name="Group 11">
            <a:extLst>
              <a:ext uri="{FF2B5EF4-FFF2-40B4-BE49-F238E27FC236}">
                <a16:creationId xmlns:a16="http://schemas.microsoft.com/office/drawing/2014/main" id="{7E1DB71F-6A69-9284-77F4-E95B53755A65}"/>
              </a:ext>
            </a:extLst>
          </p:cNvPr>
          <p:cNvGrpSpPr/>
          <p:nvPr/>
        </p:nvGrpSpPr>
        <p:grpSpPr>
          <a:xfrm>
            <a:off x="278528" y="2050944"/>
            <a:ext cx="6731645" cy="4172076"/>
            <a:chOff x="1180615" y="1673830"/>
            <a:chExt cx="6731645" cy="3691829"/>
          </a:xfrm>
        </p:grpSpPr>
        <p:sp>
          <p:nvSpPr>
            <p:cNvPr id="15" name="TextBox 14">
              <a:extLst>
                <a:ext uri="{FF2B5EF4-FFF2-40B4-BE49-F238E27FC236}">
                  <a16:creationId xmlns:a16="http://schemas.microsoft.com/office/drawing/2014/main" id="{4F327C68-21AE-F01B-E494-6AC6CC56BC07}"/>
                </a:ext>
              </a:extLst>
            </p:cNvPr>
            <p:cNvSpPr txBox="1"/>
            <p:nvPr/>
          </p:nvSpPr>
          <p:spPr>
            <a:xfrm>
              <a:off x="1223284" y="2587705"/>
              <a:ext cx="6231776" cy="2777954"/>
            </a:xfrm>
            <a:prstGeom prst="rect">
              <a:avLst/>
            </a:prstGeom>
            <a:solidFill>
              <a:schemeClr val="bg1"/>
            </a:solidFill>
            <a:ln w="38100">
              <a:solidFill>
                <a:srgbClr val="27AAE1"/>
              </a:solidFill>
            </a:ln>
          </p:spPr>
          <p:txBody>
            <a:bodyPr wrap="square">
              <a:spAutoFit/>
            </a:bodyPr>
            <a:lstStyle/>
            <a:p>
              <a:pPr algn="ctr"/>
              <a:r>
                <a:rPr lang="en-US" sz="1600" b="1" noProof="0">
                  <a:solidFill>
                    <a:srgbClr val="002060"/>
                  </a:solidFill>
                  <a:latin typeface="Trebuchet MS" panose="020B0603020202020204" pitchFamily="34" charset="0"/>
                </a:rPr>
                <a:t>Rolled Throughput Yield</a:t>
              </a:r>
            </a:p>
            <a:p>
              <a:endParaRPr lang="en-US" sz="14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400" b="0" i="0" noProof="0">
                  <a:solidFill>
                    <a:srgbClr val="002060"/>
                  </a:solidFill>
                  <a:effectLst/>
                  <a:latin typeface="Trebuchet MS" panose="020B0603020202020204" pitchFamily="34" charset="0"/>
                </a:rPr>
                <a:t>Measures </a:t>
              </a:r>
              <a:r>
                <a:rPr lang="en-US" sz="1400" noProof="0">
                  <a:solidFill>
                    <a:srgbClr val="002060"/>
                  </a:solidFill>
                  <a:latin typeface="Trebuchet MS" panose="020B0603020202020204" pitchFamily="34" charset="0"/>
                </a:rPr>
                <a:t>probability of passing each step defect-free.</a:t>
              </a:r>
            </a:p>
            <a:p>
              <a:pPr marL="285750" indent="-285750">
                <a:buFont typeface="Arial" panose="020B0604020202020204" pitchFamily="34" charset="0"/>
                <a:buChar char="•"/>
              </a:pPr>
              <a:r>
                <a:rPr lang="en-US" sz="1400" b="0" i="0" noProof="0">
                  <a:solidFill>
                    <a:srgbClr val="002060"/>
                  </a:solidFill>
                  <a:effectLst/>
                  <a:latin typeface="Trebuchet MS" panose="020B0603020202020204" pitchFamily="34" charset="0"/>
                </a:rPr>
                <a:t>Shows the true performance of the whole process.</a:t>
              </a:r>
            </a:p>
            <a:p>
              <a:endParaRPr lang="en-US" sz="1400" noProof="0">
                <a:solidFill>
                  <a:srgbClr val="002060"/>
                </a:solidFill>
                <a:latin typeface="Trebuchet MS" panose="020B0603020202020204" pitchFamily="34" charset="0"/>
              </a:endParaRPr>
            </a:p>
            <a:p>
              <a:r>
                <a:rPr lang="en-US" sz="1400" b="0" i="0" noProof="0">
                  <a:solidFill>
                    <a:srgbClr val="002060"/>
                  </a:solidFill>
                  <a:effectLst/>
                  <a:latin typeface="Trebuchet MS" panose="020B0603020202020204" pitchFamily="34" charset="0"/>
                </a:rPr>
                <a:t> </a:t>
              </a:r>
              <a:r>
                <a:rPr lang="en-US" sz="1400" b="1" i="0" noProof="0">
                  <a:solidFill>
                    <a:srgbClr val="002060"/>
                  </a:solidFill>
                  <a:effectLst/>
                  <a:latin typeface="Trebuchet MS" panose="020B0603020202020204" pitchFamily="34" charset="0"/>
                </a:rPr>
                <a:t>It shows:</a:t>
              </a:r>
            </a:p>
            <a:p>
              <a:endParaRPr lang="en-US" sz="14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sz="1400" b="0" i="0" noProof="0">
                  <a:solidFill>
                    <a:srgbClr val="002060"/>
                  </a:solidFill>
                  <a:effectLst/>
                  <a:latin typeface="Trebuchet MS" panose="020B0603020202020204" pitchFamily="34" charset="0"/>
                </a:rPr>
                <a:t>The cumulative impact of defects across all steps.</a:t>
              </a:r>
            </a:p>
            <a:p>
              <a:pPr marL="285750" indent="-285750">
                <a:buFont typeface="Arial" panose="020B0604020202020204" pitchFamily="34" charset="0"/>
                <a:buChar char="•"/>
              </a:pPr>
              <a:r>
                <a:rPr lang="en-US" sz="1400" b="0" i="0" noProof="0">
                  <a:solidFill>
                    <a:srgbClr val="002060"/>
                  </a:solidFill>
                  <a:effectLst/>
                  <a:latin typeface="Trebuchet MS" panose="020B0603020202020204" pitchFamily="34" charset="0"/>
                </a:rPr>
                <a:t>Where quality is lost within the process.</a:t>
              </a:r>
            </a:p>
            <a:p>
              <a:pPr marL="285750" indent="-285750">
                <a:buFont typeface="Arial" panose="020B0604020202020204" pitchFamily="34" charset="0"/>
                <a:buChar char="•"/>
              </a:pPr>
              <a:endParaRPr lang="en-US" sz="1400" noProof="0">
                <a:solidFill>
                  <a:srgbClr val="002060"/>
                </a:solidFill>
                <a:latin typeface="Trebuchet MS" panose="020B0603020202020204" pitchFamily="34" charset="0"/>
              </a:endParaRPr>
            </a:p>
            <a:p>
              <a:r>
                <a:rPr lang="en-US" sz="1400" b="0" i="0" noProof="0">
                  <a:solidFill>
                    <a:srgbClr val="002060"/>
                  </a:solidFill>
                  <a:effectLst/>
                  <a:latin typeface="Trebuchet MS" panose="020B0603020202020204" pitchFamily="34" charset="0"/>
                </a:rPr>
                <a:t>RTY (All steps</a:t>
              </a:r>
              <a:r>
                <a:rPr lang="en-US" sz="1400" noProof="0">
                  <a:solidFill>
                    <a:srgbClr val="002060"/>
                  </a:solidFill>
                  <a:latin typeface="Trebuchet MS" panose="020B0603020202020204" pitchFamily="34" charset="0"/>
                </a:rPr>
                <a:t>) 0.90 × 0.80 × 0.95 = 0.684 x 100  = 68.4%</a:t>
              </a:r>
            </a:p>
            <a:p>
              <a:endParaRPr lang="en-US" sz="1400" noProof="0">
                <a:solidFill>
                  <a:srgbClr val="002060"/>
                </a:solidFill>
                <a:latin typeface="Trebuchet MS" panose="020B0603020202020204" pitchFamily="34" charset="0"/>
              </a:endParaRPr>
            </a:p>
            <a:p>
              <a:endParaRPr lang="en-US" sz="1400" noProof="0">
                <a:solidFill>
                  <a:srgbClr val="002060"/>
                </a:solidFill>
                <a:latin typeface="Trebuchet MS" panose="020B0603020202020204" pitchFamily="34" charset="0"/>
              </a:endParaRPr>
            </a:p>
            <a:p>
              <a:endParaRPr lang="en-US" sz="1400" noProof="0">
                <a:solidFill>
                  <a:srgbClr val="002060"/>
                </a:solidFill>
                <a:latin typeface="Trebuchet MS" panose="020B0603020202020204" pitchFamily="34" charset="0"/>
              </a:endParaRPr>
            </a:p>
          </p:txBody>
        </p:sp>
        <p:sp>
          <p:nvSpPr>
            <p:cNvPr id="9" name="Arrow: Right 8">
              <a:extLst>
                <a:ext uri="{FF2B5EF4-FFF2-40B4-BE49-F238E27FC236}">
                  <a16:creationId xmlns:a16="http://schemas.microsoft.com/office/drawing/2014/main" id="{C1B84FA4-1274-384E-18EF-8EFA08D52E31}"/>
                </a:ext>
              </a:extLst>
            </p:cNvPr>
            <p:cNvSpPr/>
            <p:nvPr/>
          </p:nvSpPr>
          <p:spPr>
            <a:xfrm>
              <a:off x="2942372" y="1870044"/>
              <a:ext cx="457200" cy="381000"/>
            </a:xfrm>
            <a:prstGeom prst="rightArrow">
              <a:avLst/>
            </a:prstGeom>
            <a:solidFill>
              <a:srgbClr val="24408D"/>
            </a:solid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sp>
          <p:nvSpPr>
            <p:cNvPr id="10" name="Arrow: Right 9">
              <a:extLst>
                <a:ext uri="{FF2B5EF4-FFF2-40B4-BE49-F238E27FC236}">
                  <a16:creationId xmlns:a16="http://schemas.microsoft.com/office/drawing/2014/main" id="{6DEEA8D4-F2FF-B1B0-B58F-188F0C6CE33A}"/>
                </a:ext>
              </a:extLst>
            </p:cNvPr>
            <p:cNvSpPr/>
            <p:nvPr/>
          </p:nvSpPr>
          <p:spPr>
            <a:xfrm>
              <a:off x="5207179" y="1864330"/>
              <a:ext cx="457200" cy="381000"/>
            </a:xfrm>
            <a:prstGeom prst="rightArrow">
              <a:avLst/>
            </a:prstGeom>
            <a:solidFill>
              <a:srgbClr val="24408D"/>
            </a:solid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sp>
          <p:nvSpPr>
            <p:cNvPr id="11" name="Arrow: Right 10">
              <a:extLst>
                <a:ext uri="{FF2B5EF4-FFF2-40B4-BE49-F238E27FC236}">
                  <a16:creationId xmlns:a16="http://schemas.microsoft.com/office/drawing/2014/main" id="{5EC9D960-880D-2D82-C749-CE8B91AE51C5}"/>
                </a:ext>
              </a:extLst>
            </p:cNvPr>
            <p:cNvSpPr/>
            <p:nvPr/>
          </p:nvSpPr>
          <p:spPr>
            <a:xfrm>
              <a:off x="7455060" y="1864330"/>
              <a:ext cx="457200" cy="381000"/>
            </a:xfrm>
            <a:prstGeom prst="rightArrow">
              <a:avLst/>
            </a:prstGeom>
            <a:solidFill>
              <a:srgbClr val="24408D"/>
            </a:solidFill>
            <a:ln>
              <a:solidFill>
                <a:srgbClr val="2440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a:p>
          </p:txBody>
        </p:sp>
        <p:sp>
          <p:nvSpPr>
            <p:cNvPr id="2" name="Rectangle: Rounded Corners 1">
              <a:extLst>
                <a:ext uri="{FF2B5EF4-FFF2-40B4-BE49-F238E27FC236}">
                  <a16:creationId xmlns:a16="http://schemas.microsoft.com/office/drawing/2014/main" id="{9E576B2C-8C22-DACF-3399-CB4137A22495}"/>
                </a:ext>
              </a:extLst>
            </p:cNvPr>
            <p:cNvSpPr/>
            <p:nvPr/>
          </p:nvSpPr>
          <p:spPr>
            <a:xfrm>
              <a:off x="1180615" y="1679544"/>
              <a:ext cx="1752600" cy="762000"/>
            </a:xfrm>
            <a:prstGeom prst="roundRect">
              <a:avLst/>
            </a:prstGeom>
            <a:solidFill>
              <a:srgbClr val="27AAE1"/>
            </a:solidFill>
            <a:ln w="38100">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b="1" noProof="0">
                  <a:solidFill>
                    <a:srgbClr val="FFFFFF"/>
                  </a:solidFill>
                  <a:latin typeface="Arial" panose="020B0604020202020204" pitchFamily="34" charset="0"/>
                  <a:cs typeface="Arial" panose="020B0604020202020204" pitchFamily="34" charset="0"/>
                </a:rPr>
                <a:t>Step 1</a:t>
              </a:r>
            </a:p>
            <a:p>
              <a:pPr algn="ctr"/>
              <a:endParaRPr lang="en-US" sz="1400" b="1" noProof="0">
                <a:solidFill>
                  <a:srgbClr val="FFFFFF"/>
                </a:solidFill>
                <a:latin typeface="Arial" panose="020B0604020202020204" pitchFamily="34" charset="0"/>
                <a:cs typeface="Arial" panose="020B0604020202020204" pitchFamily="34" charset="0"/>
              </a:endParaRPr>
            </a:p>
            <a:p>
              <a:pPr algn="ctr"/>
              <a:r>
                <a:rPr lang="en-US" sz="1400" b="1" noProof="0">
                  <a:solidFill>
                    <a:srgbClr val="FFFFFF"/>
                  </a:solidFill>
                  <a:latin typeface="Arial" panose="020B0604020202020204" pitchFamily="34" charset="0"/>
                  <a:cs typeface="Arial" panose="020B0604020202020204" pitchFamily="34" charset="0"/>
                </a:rPr>
                <a:t>90% Yield</a:t>
              </a:r>
            </a:p>
          </p:txBody>
        </p:sp>
        <p:sp>
          <p:nvSpPr>
            <p:cNvPr id="6" name="Rectangle: Rounded Corners 5">
              <a:extLst>
                <a:ext uri="{FF2B5EF4-FFF2-40B4-BE49-F238E27FC236}">
                  <a16:creationId xmlns:a16="http://schemas.microsoft.com/office/drawing/2014/main" id="{158385BD-4835-988B-0CA0-A01A09377723}"/>
                </a:ext>
              </a:extLst>
            </p:cNvPr>
            <p:cNvSpPr/>
            <p:nvPr/>
          </p:nvSpPr>
          <p:spPr>
            <a:xfrm>
              <a:off x="3446601" y="1679544"/>
              <a:ext cx="1752600" cy="762000"/>
            </a:xfrm>
            <a:prstGeom prst="roundRect">
              <a:avLst/>
            </a:prstGeom>
            <a:solidFill>
              <a:srgbClr val="27AAE1"/>
            </a:solidFill>
            <a:ln w="38100">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b="1" noProof="0">
                  <a:solidFill>
                    <a:srgbClr val="FFFFFF"/>
                  </a:solidFill>
                  <a:latin typeface="Arial" panose="020B0604020202020204" pitchFamily="34" charset="0"/>
                  <a:cs typeface="Arial" panose="020B0604020202020204" pitchFamily="34" charset="0"/>
                </a:rPr>
                <a:t>Step 2</a:t>
              </a:r>
            </a:p>
            <a:p>
              <a:pPr algn="ctr"/>
              <a:endParaRPr lang="en-US" sz="1400" b="1" noProof="0">
                <a:solidFill>
                  <a:srgbClr val="FFFFFF"/>
                </a:solidFill>
                <a:latin typeface="Arial" panose="020B0604020202020204" pitchFamily="34" charset="0"/>
                <a:cs typeface="Arial" panose="020B0604020202020204" pitchFamily="34" charset="0"/>
              </a:endParaRPr>
            </a:p>
            <a:p>
              <a:pPr algn="ctr"/>
              <a:r>
                <a:rPr lang="en-US" sz="1400" b="1" noProof="0">
                  <a:solidFill>
                    <a:srgbClr val="FFFFFF"/>
                  </a:solidFill>
                  <a:latin typeface="Arial" panose="020B0604020202020204" pitchFamily="34" charset="0"/>
                  <a:cs typeface="Arial" panose="020B0604020202020204" pitchFamily="34" charset="0"/>
                </a:rPr>
                <a:t>80% Yield</a:t>
              </a:r>
            </a:p>
          </p:txBody>
        </p:sp>
        <p:sp>
          <p:nvSpPr>
            <p:cNvPr id="7" name="Rectangle: Rounded Corners 6">
              <a:extLst>
                <a:ext uri="{FF2B5EF4-FFF2-40B4-BE49-F238E27FC236}">
                  <a16:creationId xmlns:a16="http://schemas.microsoft.com/office/drawing/2014/main" id="{C21208A1-776F-94B3-A920-33DB1BD086DC}"/>
                </a:ext>
              </a:extLst>
            </p:cNvPr>
            <p:cNvSpPr/>
            <p:nvPr/>
          </p:nvSpPr>
          <p:spPr>
            <a:xfrm>
              <a:off x="5702687" y="1673830"/>
              <a:ext cx="1752600" cy="762000"/>
            </a:xfrm>
            <a:prstGeom prst="roundRect">
              <a:avLst/>
            </a:prstGeom>
            <a:solidFill>
              <a:srgbClr val="27AAE1"/>
            </a:solidFill>
            <a:ln w="38100">
              <a:noFill/>
            </a:ln>
            <a:effectLst/>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b="1" noProof="0">
                  <a:solidFill>
                    <a:srgbClr val="FFFFFF"/>
                  </a:solidFill>
                  <a:latin typeface="Arial" panose="020B0604020202020204" pitchFamily="34" charset="0"/>
                  <a:cs typeface="Arial" panose="020B0604020202020204" pitchFamily="34" charset="0"/>
                </a:rPr>
                <a:t>Step 3</a:t>
              </a:r>
            </a:p>
            <a:p>
              <a:pPr algn="ctr"/>
              <a:endParaRPr lang="en-US" sz="1400" b="1" noProof="0">
                <a:solidFill>
                  <a:srgbClr val="FFFFFF"/>
                </a:solidFill>
                <a:latin typeface="Arial" panose="020B0604020202020204" pitchFamily="34" charset="0"/>
                <a:cs typeface="Arial" panose="020B0604020202020204" pitchFamily="34" charset="0"/>
              </a:endParaRPr>
            </a:p>
            <a:p>
              <a:pPr algn="ctr"/>
              <a:r>
                <a:rPr lang="en-US" sz="1400" b="1" noProof="0">
                  <a:solidFill>
                    <a:srgbClr val="FFFFFF"/>
                  </a:solidFill>
                  <a:latin typeface="Arial" panose="020B0604020202020204" pitchFamily="34" charset="0"/>
                  <a:cs typeface="Arial" panose="020B0604020202020204" pitchFamily="34" charset="0"/>
                </a:rPr>
                <a:t>95% Yield</a:t>
              </a:r>
            </a:p>
          </p:txBody>
        </p:sp>
      </p:grpSp>
      <p:sp>
        <p:nvSpPr>
          <p:cNvPr id="13" name="TextBox 12">
            <a:extLst>
              <a:ext uri="{FF2B5EF4-FFF2-40B4-BE49-F238E27FC236}">
                <a16:creationId xmlns:a16="http://schemas.microsoft.com/office/drawing/2014/main" id="{679EEB55-A205-5C3B-E1A9-D8305E606308}"/>
              </a:ext>
            </a:extLst>
          </p:cNvPr>
          <p:cNvSpPr txBox="1"/>
          <p:nvPr/>
        </p:nvSpPr>
        <p:spPr>
          <a:xfrm>
            <a:off x="8991600" y="3083698"/>
            <a:ext cx="2971800" cy="3139321"/>
          </a:xfrm>
          <a:prstGeom prst="rect">
            <a:avLst/>
          </a:prstGeom>
          <a:noFill/>
          <a:ln w="38100">
            <a:solidFill>
              <a:srgbClr val="002060"/>
            </a:solidFill>
          </a:ln>
        </p:spPr>
        <p:txBody>
          <a:bodyPr wrap="square" lIns="91440" tIns="45720" rIns="91440" bIns="45720" rtlCol="0" anchor="t">
            <a:spAutoFit/>
          </a:bodyPr>
          <a:lstStyle/>
          <a:p>
            <a:r>
              <a:rPr lang="en-US" sz="1600" b="1" noProof="0">
                <a:solidFill>
                  <a:srgbClr val="002060"/>
                </a:solidFill>
                <a:latin typeface="Trebuchet MS" panose="020B0603020202020204" pitchFamily="34" charset="0"/>
              </a:rPr>
              <a:t>What this shows:</a:t>
            </a:r>
          </a:p>
          <a:p>
            <a:endParaRPr lang="en-US" sz="1400" noProof="0">
              <a:solidFill>
                <a:srgbClr val="002060"/>
              </a:solidFill>
              <a:latin typeface="Trebuchet MS" panose="020B0603020202020204" pitchFamily="34" charset="0"/>
            </a:endParaRPr>
          </a:p>
          <a:p>
            <a:r>
              <a:rPr lang="en-US" sz="1400" noProof="0">
                <a:solidFill>
                  <a:srgbClr val="002060"/>
                </a:solidFill>
                <a:latin typeface="Trebuchet MS"/>
              </a:rPr>
              <a:t>Although 95% of requests</a:t>
            </a:r>
            <a:r>
              <a:rPr lang="en-US" sz="1400">
                <a:solidFill>
                  <a:srgbClr val="002060"/>
                </a:solidFill>
                <a:latin typeface="Trebuchet MS"/>
              </a:rPr>
              <a:t> or outcomes</a:t>
            </a:r>
            <a:r>
              <a:rPr lang="en-US" sz="1400" noProof="0">
                <a:solidFill>
                  <a:srgbClr val="002060"/>
                </a:solidFill>
                <a:latin typeface="Trebuchet MS"/>
              </a:rPr>
              <a:t> reach the customer correctly completed, only 68.4% made it through the process without any problems.</a:t>
            </a:r>
          </a:p>
          <a:p>
            <a:endParaRPr lang="en-US" sz="1400" noProof="0">
              <a:solidFill>
                <a:srgbClr val="002060"/>
              </a:solidFill>
              <a:latin typeface="Trebuchet MS" panose="020B0603020202020204" pitchFamily="34" charset="0"/>
            </a:endParaRPr>
          </a:p>
          <a:p>
            <a:r>
              <a:rPr lang="en-US" sz="1400" noProof="0">
                <a:solidFill>
                  <a:srgbClr val="002060"/>
                </a:solidFill>
                <a:latin typeface="Trebuchet MS" panose="020B0603020202020204" pitchFamily="34" charset="0"/>
              </a:rPr>
              <a:t>Means: Lots of fixing, reprocessing, or rework happening. This shows the process is inefficient.</a:t>
            </a:r>
          </a:p>
          <a:p>
            <a:endParaRPr lang="en-US" sz="1400" noProof="0">
              <a:solidFill>
                <a:srgbClr val="002060"/>
              </a:solidFill>
              <a:latin typeface="Trebuchet MS" panose="020B0603020202020204" pitchFamily="34" charset="0"/>
            </a:endParaRPr>
          </a:p>
          <a:p>
            <a:r>
              <a:rPr lang="en-US" sz="1400" b="1" noProof="0">
                <a:solidFill>
                  <a:srgbClr val="002060"/>
                </a:solidFill>
                <a:latin typeface="Trebuchet MS" panose="020B0603020202020204" pitchFamily="34" charset="0"/>
              </a:rPr>
              <a:t>Step 2 is the weak point.</a:t>
            </a:r>
          </a:p>
        </p:txBody>
      </p:sp>
      <p:sp>
        <p:nvSpPr>
          <p:cNvPr id="19" name="TextBox 18">
            <a:extLst>
              <a:ext uri="{FF2B5EF4-FFF2-40B4-BE49-F238E27FC236}">
                <a16:creationId xmlns:a16="http://schemas.microsoft.com/office/drawing/2014/main" id="{591B90A3-B61D-8720-71FA-5E75AA0B3C63}"/>
              </a:ext>
            </a:extLst>
          </p:cNvPr>
          <p:cNvSpPr txBox="1"/>
          <p:nvPr/>
        </p:nvSpPr>
        <p:spPr>
          <a:xfrm>
            <a:off x="292260" y="1358982"/>
            <a:ext cx="11899740" cy="646331"/>
          </a:xfrm>
          <a:prstGeom prst="rect">
            <a:avLst/>
          </a:prstGeom>
          <a:noFill/>
        </p:spPr>
        <p:txBody>
          <a:bodyPr wrap="square">
            <a:spAutoFit/>
          </a:bodyPr>
          <a:lstStyle/>
          <a:p>
            <a:r>
              <a:rPr lang="en-US" noProof="0">
                <a:solidFill>
                  <a:srgbClr val="002060"/>
                </a:solidFill>
              </a:rPr>
              <a:t>An IT service desk is handling requests through three steps, but issues along the way mean many requests require rework before being completed.</a:t>
            </a:r>
          </a:p>
        </p:txBody>
      </p:sp>
    </p:spTree>
    <p:extLst>
      <p:ext uri="{BB962C8B-B14F-4D97-AF65-F5344CB8AC3E}">
        <p14:creationId xmlns:p14="http://schemas.microsoft.com/office/powerpoint/2010/main" val="30794228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5B93B2F-2908-50C2-F779-0B1BCB8CAD01}"/>
              </a:ext>
            </a:extLst>
          </p:cNvPr>
          <p:cNvSpPr>
            <a:spLocks noGrp="1"/>
          </p:cNvSpPr>
          <p:nvPr>
            <p:ph type="body" sz="quarter" idx="10"/>
          </p:nvPr>
        </p:nvSpPr>
        <p:spPr>
          <a:xfrm>
            <a:off x="228601" y="292271"/>
            <a:ext cx="9144000" cy="492443"/>
          </a:xfrm>
        </p:spPr>
        <p:txBody>
          <a:bodyPr/>
          <a:lstStyle/>
          <a:p>
            <a:r>
              <a:rPr lang="en-US" sz="3200" noProof="0">
                <a:latin typeface="Trebuchet MS" panose="020B0603020202020204" pitchFamily="34" charset="0"/>
              </a:rPr>
              <a:t>The Hidden Factory: The Cost of Poor Quality </a:t>
            </a:r>
          </a:p>
        </p:txBody>
      </p:sp>
      <p:sp>
        <p:nvSpPr>
          <p:cNvPr id="3" name="Callout: Down Arrow 2">
            <a:extLst>
              <a:ext uri="{FF2B5EF4-FFF2-40B4-BE49-F238E27FC236}">
                <a16:creationId xmlns:a16="http://schemas.microsoft.com/office/drawing/2014/main" id="{EE415F4E-DE1D-D24F-D2EB-C1E411A828D0}"/>
              </a:ext>
            </a:extLst>
          </p:cNvPr>
          <p:cNvSpPr/>
          <p:nvPr/>
        </p:nvSpPr>
        <p:spPr>
          <a:xfrm>
            <a:off x="2109164" y="3057286"/>
            <a:ext cx="3600633" cy="1845129"/>
          </a:xfrm>
          <a:prstGeom prst="downArrowCallout">
            <a:avLst/>
          </a:prstGeom>
          <a:solidFill>
            <a:srgbClr val="27AA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noProof="0">
                <a:solidFill>
                  <a:schemeClr val="bg1"/>
                </a:solidFill>
                <a:latin typeface="Trebuchet MS" panose="020B0603020202020204" pitchFamily="34" charset="0"/>
                <a:cs typeface="Arial" panose="020B0604020202020204" pitchFamily="34" charset="0"/>
              </a:rPr>
              <a:t>5 requests failed/cancelled/escalated.</a:t>
            </a:r>
          </a:p>
        </p:txBody>
      </p:sp>
      <p:sp>
        <p:nvSpPr>
          <p:cNvPr id="7" name="Callout: Down Arrow 6">
            <a:extLst>
              <a:ext uri="{FF2B5EF4-FFF2-40B4-BE49-F238E27FC236}">
                <a16:creationId xmlns:a16="http://schemas.microsoft.com/office/drawing/2014/main" id="{5FB73860-E552-0DC1-1A0C-29AD19D0D2DA}"/>
              </a:ext>
            </a:extLst>
          </p:cNvPr>
          <p:cNvSpPr/>
          <p:nvPr/>
        </p:nvSpPr>
        <p:spPr>
          <a:xfrm>
            <a:off x="5987727" y="3057286"/>
            <a:ext cx="3435852" cy="1866901"/>
          </a:xfrm>
          <a:prstGeom prst="downArrowCallout">
            <a:avLst/>
          </a:prstGeom>
          <a:solidFill>
            <a:srgbClr val="7030A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noProof="0">
                <a:solidFill>
                  <a:schemeClr val="bg1"/>
                </a:solidFill>
                <a:latin typeface="Trebuchet MS" panose="020B0603020202020204" pitchFamily="34" charset="0"/>
                <a:cs typeface="Arial" panose="020B0604020202020204" pitchFamily="34" charset="0"/>
              </a:rPr>
              <a:t>26.6 requests require time and resource</a:t>
            </a:r>
          </a:p>
          <a:p>
            <a:pPr algn="ctr"/>
            <a:r>
              <a:rPr lang="en-US" sz="1600" b="1" noProof="0">
                <a:solidFill>
                  <a:schemeClr val="bg1"/>
                </a:solidFill>
                <a:latin typeface="Trebuchet MS" panose="020B0603020202020204" pitchFamily="34" charset="0"/>
                <a:cs typeface="Arial" panose="020B0604020202020204" pitchFamily="34" charset="0"/>
              </a:rPr>
              <a:t>(Hidden effort).</a:t>
            </a:r>
          </a:p>
        </p:txBody>
      </p:sp>
      <p:sp>
        <p:nvSpPr>
          <p:cNvPr id="8" name="Rectangle: Rounded Corners 7">
            <a:extLst>
              <a:ext uri="{FF2B5EF4-FFF2-40B4-BE49-F238E27FC236}">
                <a16:creationId xmlns:a16="http://schemas.microsoft.com/office/drawing/2014/main" id="{C46C21B9-577B-E652-9A6C-A1604C80FA8D}"/>
              </a:ext>
            </a:extLst>
          </p:cNvPr>
          <p:cNvSpPr/>
          <p:nvPr/>
        </p:nvSpPr>
        <p:spPr>
          <a:xfrm>
            <a:off x="1805426" y="5178313"/>
            <a:ext cx="7846423" cy="1011199"/>
          </a:xfrm>
          <a:prstGeom prst="roundRect">
            <a:avLst/>
          </a:prstGeom>
          <a:solidFill>
            <a:srgbClr val="24408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noProof="0">
                <a:solidFill>
                  <a:schemeClr val="bg1"/>
                </a:solidFill>
                <a:latin typeface="Trebuchet MS" panose="020B0603020202020204" pitchFamily="34" charset="0"/>
                <a:cs typeface="Arial" panose="020B0604020202020204" pitchFamily="34" charset="0"/>
              </a:rPr>
              <a:t>‘</a:t>
            </a:r>
            <a:r>
              <a:rPr lang="en-US" sz="2400" noProof="0">
                <a:solidFill>
                  <a:schemeClr val="bg1"/>
                </a:solidFill>
                <a:latin typeface="Trebuchet MS" panose="020B0603020202020204" pitchFamily="34" charset="0"/>
                <a:cs typeface="Arial" panose="020B0604020202020204" pitchFamily="34" charset="0"/>
              </a:rPr>
              <a:t>THE HIDDEN FACTORY’</a:t>
            </a:r>
          </a:p>
          <a:p>
            <a:pPr algn="ctr"/>
            <a:r>
              <a:rPr lang="en-US" sz="1600" noProof="0">
                <a:solidFill>
                  <a:schemeClr val="bg1"/>
                </a:solidFill>
                <a:latin typeface="Trebuchet MS" panose="020B0603020202020204" pitchFamily="34" charset="0"/>
                <a:cs typeface="Arial" panose="020B0604020202020204" pitchFamily="34" charset="0"/>
              </a:rPr>
              <a:t>Work the customer does not see - fixing, redoing, and correcting errors.</a:t>
            </a:r>
          </a:p>
        </p:txBody>
      </p:sp>
      <p:pic>
        <p:nvPicPr>
          <p:cNvPr id="10" name="Graphic 9" descr="Garbage with solid fill">
            <a:extLst>
              <a:ext uri="{FF2B5EF4-FFF2-40B4-BE49-F238E27FC236}">
                <a16:creationId xmlns:a16="http://schemas.microsoft.com/office/drawing/2014/main" id="{31004C60-D025-5011-3030-7876A6AFA2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83388" y="5283432"/>
            <a:ext cx="480059" cy="480059"/>
          </a:xfrm>
          <a:prstGeom prst="rect">
            <a:avLst/>
          </a:prstGeom>
        </p:spPr>
      </p:pic>
      <p:sp>
        <p:nvSpPr>
          <p:cNvPr id="20" name="Rectangle: Rounded Corners 19">
            <a:extLst>
              <a:ext uri="{FF2B5EF4-FFF2-40B4-BE49-F238E27FC236}">
                <a16:creationId xmlns:a16="http://schemas.microsoft.com/office/drawing/2014/main" id="{B57175F5-6082-C4A2-2E3F-71D3E7D104A5}"/>
              </a:ext>
            </a:extLst>
          </p:cNvPr>
          <p:cNvSpPr/>
          <p:nvPr/>
        </p:nvSpPr>
        <p:spPr>
          <a:xfrm>
            <a:off x="10006804" y="2194462"/>
            <a:ext cx="1675311" cy="858960"/>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lnSpc>
                <a:spcPts val="1500"/>
              </a:lnSpc>
              <a:buNone/>
            </a:pPr>
            <a:r>
              <a:rPr lang="en-US" sz="1600" b="1" noProof="0">
                <a:solidFill>
                  <a:srgbClr val="002060"/>
                </a:solidFill>
                <a:latin typeface="Segoe UI" panose="020B0502040204020203" pitchFamily="34" charset="0"/>
              </a:rPr>
              <a:t>10</a:t>
            </a:r>
            <a:r>
              <a:rPr lang="en-US" sz="1600" b="1" i="0" noProof="0">
                <a:solidFill>
                  <a:srgbClr val="002060"/>
                </a:solidFill>
                <a:effectLst/>
                <a:latin typeface="Segoe UI" panose="020B0502040204020203" pitchFamily="34" charset="0"/>
              </a:rPr>
              <a:t> </a:t>
            </a:r>
            <a:r>
              <a:rPr lang="en-US" sz="1600" b="1" noProof="0">
                <a:solidFill>
                  <a:srgbClr val="002060"/>
                </a:solidFill>
                <a:latin typeface="Segoe UI" panose="020B0502040204020203" pitchFamily="34" charset="0"/>
              </a:rPr>
              <a:t>missing information</a:t>
            </a:r>
            <a:endParaRPr lang="en-US" sz="1600" b="1" i="0" noProof="0">
              <a:solidFill>
                <a:srgbClr val="002060"/>
              </a:solidFill>
              <a:effectLst/>
              <a:latin typeface="Segoe UI" panose="020B0502040204020203" pitchFamily="34" charset="0"/>
            </a:endParaRPr>
          </a:p>
        </p:txBody>
      </p:sp>
      <p:sp>
        <p:nvSpPr>
          <p:cNvPr id="21" name="Rectangle: Rounded Corners 20">
            <a:extLst>
              <a:ext uri="{FF2B5EF4-FFF2-40B4-BE49-F238E27FC236}">
                <a16:creationId xmlns:a16="http://schemas.microsoft.com/office/drawing/2014/main" id="{3F6B8AD4-32E3-58A1-9B05-3159276309A0}"/>
              </a:ext>
            </a:extLst>
          </p:cNvPr>
          <p:cNvSpPr/>
          <p:nvPr/>
        </p:nvSpPr>
        <p:spPr>
          <a:xfrm>
            <a:off x="10045000" y="3234334"/>
            <a:ext cx="1637757" cy="858960"/>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lnSpc>
                <a:spcPts val="1500"/>
              </a:lnSpc>
            </a:pPr>
            <a:r>
              <a:rPr lang="en-US" sz="1600" b="1" noProof="0">
                <a:solidFill>
                  <a:srgbClr val="002060"/>
                </a:solidFill>
                <a:latin typeface="Segoe UI" panose="020B0502040204020203" pitchFamily="34" charset="0"/>
              </a:rPr>
              <a:t>18 wrong routing</a:t>
            </a:r>
          </a:p>
        </p:txBody>
      </p:sp>
      <p:sp>
        <p:nvSpPr>
          <p:cNvPr id="22" name="Rectangle: Rounded Corners 21">
            <a:extLst>
              <a:ext uri="{FF2B5EF4-FFF2-40B4-BE49-F238E27FC236}">
                <a16:creationId xmlns:a16="http://schemas.microsoft.com/office/drawing/2014/main" id="{1F64937A-FC6C-EF6D-E2FC-419EBA7A7D32}"/>
              </a:ext>
            </a:extLst>
          </p:cNvPr>
          <p:cNvSpPr/>
          <p:nvPr/>
        </p:nvSpPr>
        <p:spPr>
          <a:xfrm>
            <a:off x="10045000" y="4191844"/>
            <a:ext cx="1637757" cy="1047932"/>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lnSpc>
                <a:spcPts val="1500"/>
              </a:lnSpc>
            </a:pPr>
            <a:r>
              <a:rPr lang="en-US" sz="1600" b="1" noProof="0">
                <a:solidFill>
                  <a:srgbClr val="002060"/>
                </a:solidFill>
                <a:latin typeface="Segoe UI" panose="020B0502040204020203" pitchFamily="34" charset="0"/>
              </a:rPr>
              <a:t>3.6 incorrect resolution - reopened</a:t>
            </a:r>
          </a:p>
        </p:txBody>
      </p:sp>
      <p:cxnSp>
        <p:nvCxnSpPr>
          <p:cNvPr id="24" name="Straight Arrow Connector 23">
            <a:extLst>
              <a:ext uri="{FF2B5EF4-FFF2-40B4-BE49-F238E27FC236}">
                <a16:creationId xmlns:a16="http://schemas.microsoft.com/office/drawing/2014/main" id="{E1333421-589E-E392-B8D7-4D69414126E7}"/>
              </a:ext>
            </a:extLst>
          </p:cNvPr>
          <p:cNvCxnSpPr>
            <a:cxnSpLocks/>
            <a:stCxn id="20" idx="1"/>
          </p:cNvCxnSpPr>
          <p:nvPr/>
        </p:nvCxnSpPr>
        <p:spPr>
          <a:xfrm flipH="1">
            <a:off x="9461775" y="2623942"/>
            <a:ext cx="545029" cy="88117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6A6F085-8DFA-945D-F2A6-9285449E905C}"/>
              </a:ext>
            </a:extLst>
          </p:cNvPr>
          <p:cNvCxnSpPr>
            <a:cxnSpLocks/>
            <a:stCxn id="21" idx="1"/>
            <a:endCxn id="7" idx="3"/>
          </p:cNvCxnSpPr>
          <p:nvPr/>
        </p:nvCxnSpPr>
        <p:spPr>
          <a:xfrm flipH="1">
            <a:off x="9423579" y="3663814"/>
            <a:ext cx="621421" cy="1"/>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A3AC6BD-6A4E-6261-4232-C3AC7342A189}"/>
              </a:ext>
            </a:extLst>
          </p:cNvPr>
          <p:cNvCxnSpPr>
            <a:cxnSpLocks/>
          </p:cNvCxnSpPr>
          <p:nvPr/>
        </p:nvCxnSpPr>
        <p:spPr>
          <a:xfrm flipH="1" flipV="1">
            <a:off x="9461775" y="3822517"/>
            <a:ext cx="569530" cy="848248"/>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6BCD569-4409-F7D3-3F04-350F61B1BCD7}"/>
              </a:ext>
            </a:extLst>
          </p:cNvPr>
          <p:cNvSpPr txBox="1"/>
          <p:nvPr/>
        </p:nvSpPr>
        <p:spPr>
          <a:xfrm>
            <a:off x="381000" y="1560923"/>
            <a:ext cx="11430000" cy="369332"/>
          </a:xfrm>
          <a:prstGeom prst="rect">
            <a:avLst/>
          </a:prstGeom>
          <a:noFill/>
        </p:spPr>
        <p:txBody>
          <a:bodyPr wrap="square">
            <a:spAutoFit/>
          </a:bodyPr>
          <a:lstStyle/>
          <a:p>
            <a:r>
              <a:rPr lang="en-US" b="1" noProof="0">
                <a:solidFill>
                  <a:srgbClr val="002060"/>
                </a:solidFill>
              </a:rPr>
              <a:t>Using the previous example, let’s now look at the extra effort that goes into the process. </a:t>
            </a:r>
          </a:p>
        </p:txBody>
      </p:sp>
      <p:sp>
        <p:nvSpPr>
          <p:cNvPr id="13" name="Rectangle 12">
            <a:extLst>
              <a:ext uri="{FF2B5EF4-FFF2-40B4-BE49-F238E27FC236}">
                <a16:creationId xmlns:a16="http://schemas.microsoft.com/office/drawing/2014/main" id="{904FAEF2-E86B-D81C-9B33-E2092519D248}"/>
              </a:ext>
            </a:extLst>
          </p:cNvPr>
          <p:cNvSpPr/>
          <p:nvPr/>
        </p:nvSpPr>
        <p:spPr>
          <a:xfrm>
            <a:off x="2123418" y="2063751"/>
            <a:ext cx="7210441" cy="591182"/>
          </a:xfrm>
          <a:prstGeom prst="rect">
            <a:avLst/>
          </a:prstGeom>
          <a:solidFill>
            <a:schemeClr val="bg1">
              <a:lumMod val="9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noProof="0">
                <a:solidFill>
                  <a:srgbClr val="002060"/>
                </a:solidFill>
              </a:rPr>
              <a:t>31.6% of work (31.6 out of 100 requests) is waste or rework. That means more than third </a:t>
            </a:r>
            <a:r>
              <a:rPr lang="en-US" b="1">
                <a:solidFill>
                  <a:srgbClr val="002060"/>
                </a:solidFill>
              </a:rPr>
              <a:t>of the</a:t>
            </a:r>
            <a:r>
              <a:rPr lang="en-US" b="1" noProof="0">
                <a:solidFill>
                  <a:srgbClr val="002060"/>
                </a:solidFill>
              </a:rPr>
              <a:t> effort creates no value for the customer.</a:t>
            </a:r>
          </a:p>
        </p:txBody>
      </p:sp>
    </p:spTree>
    <p:extLst>
      <p:ext uri="{BB962C8B-B14F-4D97-AF65-F5344CB8AC3E}">
        <p14:creationId xmlns:p14="http://schemas.microsoft.com/office/powerpoint/2010/main" val="41560323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65B93B2F-2908-50C2-F779-0B1BCB8CAD01}"/>
              </a:ext>
            </a:extLst>
          </p:cNvPr>
          <p:cNvSpPr>
            <a:spLocks noGrp="1"/>
          </p:cNvSpPr>
          <p:nvPr>
            <p:ph type="body" sz="quarter" idx="10"/>
          </p:nvPr>
        </p:nvSpPr>
        <p:spPr>
          <a:xfrm>
            <a:off x="569529" y="327689"/>
            <a:ext cx="8686800" cy="492443"/>
          </a:xfrm>
        </p:spPr>
        <p:txBody>
          <a:bodyPr/>
          <a:lstStyle/>
          <a:p>
            <a:r>
              <a:rPr lang="en-US" sz="3200" noProof="0">
                <a:latin typeface="Trebuchet MS" panose="020B0603020202020204" pitchFamily="34" charset="0"/>
              </a:rPr>
              <a:t>Overview of Rolled Throughput Yield</a:t>
            </a:r>
          </a:p>
        </p:txBody>
      </p:sp>
      <p:sp>
        <p:nvSpPr>
          <p:cNvPr id="4" name="Rectangle: Rounded Corners 3">
            <a:extLst>
              <a:ext uri="{FF2B5EF4-FFF2-40B4-BE49-F238E27FC236}">
                <a16:creationId xmlns:a16="http://schemas.microsoft.com/office/drawing/2014/main" id="{C75223C6-48B5-AA52-4435-BB460206E699}"/>
              </a:ext>
            </a:extLst>
          </p:cNvPr>
          <p:cNvSpPr/>
          <p:nvPr/>
        </p:nvSpPr>
        <p:spPr>
          <a:xfrm>
            <a:off x="173960" y="3016510"/>
            <a:ext cx="1419225" cy="1673787"/>
          </a:xfrm>
          <a:prstGeom prst="roundRect">
            <a:avLst/>
          </a:prstGeom>
          <a:solidFill>
            <a:srgbClr val="27AA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noProof="0">
                <a:solidFill>
                  <a:schemeClr val="bg1"/>
                </a:solidFill>
                <a:latin typeface="Trebuchet MS" panose="020B0603020202020204" pitchFamily="34" charset="0"/>
                <a:cs typeface="Arial" panose="020B0604020202020204" pitchFamily="34" charset="0"/>
              </a:rPr>
              <a:t>100 IT requests scheduled</a:t>
            </a:r>
          </a:p>
        </p:txBody>
      </p:sp>
      <p:sp>
        <p:nvSpPr>
          <p:cNvPr id="3" name="Arrow: Right 2">
            <a:extLst>
              <a:ext uri="{FF2B5EF4-FFF2-40B4-BE49-F238E27FC236}">
                <a16:creationId xmlns:a16="http://schemas.microsoft.com/office/drawing/2014/main" id="{5C0A49C0-5AAA-793B-7092-3C0996839AE7}"/>
              </a:ext>
            </a:extLst>
          </p:cNvPr>
          <p:cNvSpPr/>
          <p:nvPr/>
        </p:nvSpPr>
        <p:spPr>
          <a:xfrm>
            <a:off x="1828318" y="2163087"/>
            <a:ext cx="2260513" cy="3380634"/>
          </a:xfrm>
          <a:prstGeom prst="rightArrow">
            <a:avLst/>
          </a:prstGeom>
          <a:solidFill>
            <a:srgbClr val="7030A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noProof="0">
                <a:solidFill>
                  <a:schemeClr val="bg1"/>
                </a:solidFill>
                <a:latin typeface="Trebuchet MS" panose="020B0603020202020204" pitchFamily="34" charset="0"/>
                <a:cs typeface="Arial" panose="020B0604020202020204" pitchFamily="34" charset="0"/>
              </a:rPr>
              <a:t>Process - Step 1</a:t>
            </a:r>
          </a:p>
          <a:p>
            <a:pPr algn="ctr"/>
            <a:r>
              <a:rPr lang="en-US" sz="1600" noProof="0">
                <a:solidFill>
                  <a:schemeClr val="bg1"/>
                </a:solidFill>
                <a:latin typeface="Trebuchet MS" panose="020B0603020202020204" pitchFamily="34" charset="0"/>
                <a:cs typeface="Arial" panose="020B0604020202020204" pitchFamily="34" charset="0"/>
              </a:rPr>
              <a:t>(missing info)</a:t>
            </a:r>
            <a:endParaRPr lang="en-US" sz="1600" noProof="0">
              <a:solidFill>
                <a:schemeClr val="bg1"/>
              </a:solidFill>
              <a:latin typeface="Trebuchet MS" panose="020B0603020202020204" pitchFamily="34" charset="0"/>
              <a:ea typeface="Calibri"/>
              <a:cs typeface="Arial" panose="020B0604020202020204" pitchFamily="34" charset="0"/>
            </a:endParaRPr>
          </a:p>
          <a:p>
            <a:pPr algn="ctr"/>
            <a:r>
              <a:rPr lang="en-US" sz="1600" b="1" noProof="0">
                <a:solidFill>
                  <a:schemeClr val="bg1"/>
                </a:solidFill>
                <a:latin typeface="Trebuchet MS" panose="020B0603020202020204" pitchFamily="34" charset="0"/>
                <a:cs typeface="Arial" panose="020B0604020202020204" pitchFamily="34" charset="0"/>
              </a:rPr>
              <a:t>90/100 = 0.90</a:t>
            </a:r>
          </a:p>
          <a:p>
            <a:pPr algn="ctr"/>
            <a:r>
              <a:rPr lang="en-US" sz="1600" b="1" noProof="0">
                <a:solidFill>
                  <a:schemeClr val="bg1"/>
                </a:solidFill>
                <a:latin typeface="Trebuchet MS" panose="020B0603020202020204" pitchFamily="34" charset="0"/>
                <a:ea typeface="Calibri"/>
                <a:cs typeface="Arial" panose="020B0604020202020204" pitchFamily="34" charset="0"/>
              </a:rPr>
              <a:t>90% Yield</a:t>
            </a:r>
          </a:p>
        </p:txBody>
      </p:sp>
      <p:sp>
        <p:nvSpPr>
          <p:cNvPr id="9" name="Arrow: Right 8">
            <a:extLst>
              <a:ext uri="{FF2B5EF4-FFF2-40B4-BE49-F238E27FC236}">
                <a16:creationId xmlns:a16="http://schemas.microsoft.com/office/drawing/2014/main" id="{C15BDDED-EFDD-469D-9B37-4DE4B1D4ACEC}"/>
              </a:ext>
            </a:extLst>
          </p:cNvPr>
          <p:cNvSpPr/>
          <p:nvPr/>
        </p:nvSpPr>
        <p:spPr>
          <a:xfrm>
            <a:off x="4164549" y="2163087"/>
            <a:ext cx="2845851" cy="3380634"/>
          </a:xfrm>
          <a:prstGeom prst="rightArrow">
            <a:avLst/>
          </a:prstGeom>
          <a:solidFill>
            <a:srgbClr val="7030A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noProof="0">
              <a:solidFill>
                <a:schemeClr val="bg1"/>
              </a:solidFill>
              <a:latin typeface="Trebuchet MS" panose="020B0603020202020204" pitchFamily="34" charset="0"/>
              <a:cs typeface="Arial" panose="020B0604020202020204" pitchFamily="34" charset="0"/>
            </a:endParaRPr>
          </a:p>
          <a:p>
            <a:pPr algn="ctr"/>
            <a:r>
              <a:rPr lang="en-US" sz="1600" noProof="0">
                <a:solidFill>
                  <a:schemeClr val="bg1"/>
                </a:solidFill>
                <a:latin typeface="Trebuchet MS" panose="020B0603020202020204" pitchFamily="34" charset="0"/>
                <a:cs typeface="Arial" panose="020B0604020202020204" pitchFamily="34" charset="0"/>
              </a:rPr>
              <a:t>Process Step 2</a:t>
            </a:r>
          </a:p>
          <a:p>
            <a:pPr algn="ctr"/>
            <a:r>
              <a:rPr lang="en-US" sz="1600" noProof="0">
                <a:solidFill>
                  <a:schemeClr val="bg1"/>
                </a:solidFill>
                <a:latin typeface="Trebuchet MS" panose="020B0603020202020204" pitchFamily="34" charset="0"/>
                <a:cs typeface="Arial" panose="020B0604020202020204" pitchFamily="34" charset="0"/>
              </a:rPr>
              <a:t>(Routing) 72/90</a:t>
            </a:r>
            <a:r>
              <a:rPr lang="en-US" sz="1600" b="1" noProof="0">
                <a:solidFill>
                  <a:schemeClr val="bg1"/>
                </a:solidFill>
                <a:latin typeface="Trebuchet MS" panose="020B0603020202020204" pitchFamily="34" charset="0"/>
                <a:cs typeface="Arial" panose="020B0604020202020204" pitchFamily="34" charset="0"/>
              </a:rPr>
              <a:t>=0.80</a:t>
            </a:r>
          </a:p>
          <a:p>
            <a:pPr algn="ctr"/>
            <a:r>
              <a:rPr lang="en-US" sz="1600" b="1" noProof="0">
                <a:solidFill>
                  <a:schemeClr val="bg1"/>
                </a:solidFill>
                <a:latin typeface="Trebuchet MS" panose="020B0603020202020204" pitchFamily="34" charset="0"/>
                <a:cs typeface="Arial" panose="020B0604020202020204" pitchFamily="34" charset="0"/>
              </a:rPr>
              <a:t>80% yield</a:t>
            </a:r>
            <a:endParaRPr lang="en-US" sz="1600" b="1" noProof="0">
              <a:solidFill>
                <a:schemeClr val="bg1"/>
              </a:solidFill>
              <a:latin typeface="Trebuchet MS" panose="020B0603020202020204" pitchFamily="34" charset="0"/>
              <a:ea typeface="Calibri"/>
              <a:cs typeface="Arial" panose="020B0604020202020204" pitchFamily="34" charset="0"/>
            </a:endParaRPr>
          </a:p>
          <a:p>
            <a:pPr algn="ctr"/>
            <a:endParaRPr lang="en-US" sz="1600" noProof="0">
              <a:solidFill>
                <a:schemeClr val="bg1"/>
              </a:solidFill>
              <a:latin typeface="Trebuchet MS" panose="020B0603020202020204" pitchFamily="34" charset="0"/>
              <a:cs typeface="Arial" panose="020B0604020202020204" pitchFamily="34" charset="0"/>
            </a:endParaRPr>
          </a:p>
        </p:txBody>
      </p:sp>
      <p:sp>
        <p:nvSpPr>
          <p:cNvPr id="10" name="Arrow: Right 9">
            <a:extLst>
              <a:ext uri="{FF2B5EF4-FFF2-40B4-BE49-F238E27FC236}">
                <a16:creationId xmlns:a16="http://schemas.microsoft.com/office/drawing/2014/main" id="{9B6BC703-A35F-964F-A364-D58A94647F18}"/>
              </a:ext>
            </a:extLst>
          </p:cNvPr>
          <p:cNvSpPr/>
          <p:nvPr/>
        </p:nvSpPr>
        <p:spPr>
          <a:xfrm>
            <a:off x="7073874" y="2163087"/>
            <a:ext cx="2451303" cy="3380634"/>
          </a:xfrm>
          <a:prstGeom prst="rightArrow">
            <a:avLst/>
          </a:prstGeom>
          <a:solidFill>
            <a:srgbClr val="7030A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noProof="0">
                <a:solidFill>
                  <a:schemeClr val="bg1"/>
                </a:solidFill>
                <a:latin typeface="Trebuchet MS" panose="020B0603020202020204" pitchFamily="34" charset="0"/>
                <a:cs typeface="Arial" panose="020B0604020202020204" pitchFamily="34" charset="0"/>
              </a:rPr>
              <a:t>Step 3 </a:t>
            </a:r>
          </a:p>
          <a:p>
            <a:pPr algn="ctr"/>
            <a:r>
              <a:rPr lang="en-US" sz="1600" noProof="0">
                <a:solidFill>
                  <a:schemeClr val="bg1"/>
                </a:solidFill>
                <a:latin typeface="Trebuchet MS" panose="020B0603020202020204" pitchFamily="34" charset="0"/>
                <a:cs typeface="Arial" panose="020B0604020202020204" pitchFamily="34" charset="0"/>
              </a:rPr>
              <a:t>(Resolution)</a:t>
            </a:r>
          </a:p>
          <a:p>
            <a:pPr algn="ctr"/>
            <a:r>
              <a:rPr lang="en-US" sz="1600" b="1" noProof="0">
                <a:solidFill>
                  <a:schemeClr val="bg1"/>
                </a:solidFill>
                <a:latin typeface="Trebuchet MS" panose="020B0603020202020204" pitchFamily="34" charset="0"/>
                <a:cs typeface="Arial" panose="020B0604020202020204" pitchFamily="34" charset="0"/>
              </a:rPr>
              <a:t>68.4/72 =0.95</a:t>
            </a:r>
          </a:p>
          <a:p>
            <a:pPr algn="ctr"/>
            <a:r>
              <a:rPr lang="en-US" sz="1600" b="1" noProof="0">
                <a:solidFill>
                  <a:schemeClr val="bg1"/>
                </a:solidFill>
                <a:latin typeface="Trebuchet MS" panose="020B0603020202020204" pitchFamily="34" charset="0"/>
                <a:cs typeface="Arial" panose="020B0604020202020204" pitchFamily="34" charset="0"/>
              </a:rPr>
              <a:t>95% yield</a:t>
            </a:r>
          </a:p>
        </p:txBody>
      </p:sp>
      <p:sp>
        <p:nvSpPr>
          <p:cNvPr id="11" name="Rectangle: Rounded Corners 10">
            <a:extLst>
              <a:ext uri="{FF2B5EF4-FFF2-40B4-BE49-F238E27FC236}">
                <a16:creationId xmlns:a16="http://schemas.microsoft.com/office/drawing/2014/main" id="{34FA3B60-C937-DFBC-D80B-DDB714292307}"/>
              </a:ext>
            </a:extLst>
          </p:cNvPr>
          <p:cNvSpPr/>
          <p:nvPr/>
        </p:nvSpPr>
        <p:spPr>
          <a:xfrm>
            <a:off x="9609987" y="2780739"/>
            <a:ext cx="2188240" cy="1789931"/>
          </a:xfrm>
          <a:prstGeom prst="roundRect">
            <a:avLst/>
          </a:prstGeom>
          <a:solidFill>
            <a:srgbClr val="00AF7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noProof="0">
                <a:solidFill>
                  <a:schemeClr val="bg1"/>
                </a:solidFill>
                <a:latin typeface="Trebuchet MS" panose="020B0603020202020204" pitchFamily="34" charset="0"/>
                <a:cs typeface="Arial" panose="020B0604020202020204" pitchFamily="34" charset="0"/>
              </a:rPr>
              <a:t>RTY = </a:t>
            </a:r>
          </a:p>
          <a:p>
            <a:pPr algn="ctr"/>
            <a:endParaRPr lang="en-US" sz="1600" b="1" noProof="0">
              <a:solidFill>
                <a:schemeClr val="bg1"/>
              </a:solidFill>
              <a:latin typeface="Trebuchet MS" panose="020B0603020202020204" pitchFamily="34" charset="0"/>
              <a:cs typeface="Arial" panose="020B0604020202020204" pitchFamily="34" charset="0"/>
            </a:endParaRPr>
          </a:p>
          <a:p>
            <a:pPr algn="ctr"/>
            <a:r>
              <a:rPr lang="en-US" sz="1600" b="1" noProof="0">
                <a:solidFill>
                  <a:schemeClr val="bg1"/>
                </a:solidFill>
                <a:latin typeface="Trebuchet MS" panose="020B0603020202020204" pitchFamily="34" charset="0"/>
                <a:cs typeface="Arial" panose="020B0604020202020204" pitchFamily="34" charset="0"/>
              </a:rPr>
              <a:t>0.90 × 0.80 × 0.95</a:t>
            </a:r>
          </a:p>
          <a:p>
            <a:pPr algn="ctr"/>
            <a:r>
              <a:rPr lang="en-US" sz="1600" b="1" noProof="0">
                <a:solidFill>
                  <a:schemeClr val="bg1"/>
                </a:solidFill>
                <a:latin typeface="Trebuchet MS" panose="020B0603020202020204" pitchFamily="34" charset="0"/>
                <a:cs typeface="Arial" panose="020B0604020202020204" pitchFamily="34" charset="0"/>
              </a:rPr>
              <a:t>=0.684</a:t>
            </a:r>
          </a:p>
          <a:p>
            <a:pPr algn="ctr"/>
            <a:r>
              <a:rPr lang="en-US" sz="1600" b="1" noProof="0">
                <a:solidFill>
                  <a:schemeClr val="bg1"/>
                </a:solidFill>
                <a:latin typeface="Trebuchet MS" panose="020B0603020202020204" pitchFamily="34" charset="0"/>
                <a:cs typeface="Arial" panose="020B0604020202020204" pitchFamily="34" charset="0"/>
              </a:rPr>
              <a:t>=68.4%</a:t>
            </a:r>
          </a:p>
        </p:txBody>
      </p:sp>
      <p:sp>
        <p:nvSpPr>
          <p:cNvPr id="16" name="Left Brace 15">
            <a:extLst>
              <a:ext uri="{FF2B5EF4-FFF2-40B4-BE49-F238E27FC236}">
                <a16:creationId xmlns:a16="http://schemas.microsoft.com/office/drawing/2014/main" id="{6B55FB47-DEF3-3038-6319-B8D74F7CCE52}"/>
              </a:ext>
            </a:extLst>
          </p:cNvPr>
          <p:cNvSpPr/>
          <p:nvPr/>
        </p:nvSpPr>
        <p:spPr>
          <a:xfrm rot="5400000">
            <a:off x="5244574" y="-1669299"/>
            <a:ext cx="685800" cy="7607336"/>
          </a:xfrm>
          <a:prstGeom prst="leftBrace">
            <a:avLst>
              <a:gd name="adj1" fmla="val 10416"/>
              <a:gd name="adj2" fmla="val 50000"/>
            </a:avLst>
          </a:prstGeom>
          <a:ln w="28575"/>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latin typeface="Trebuchet MS" panose="020B0603020202020204" pitchFamily="34" charset="0"/>
            </a:endParaRPr>
          </a:p>
        </p:txBody>
      </p:sp>
      <p:sp>
        <p:nvSpPr>
          <p:cNvPr id="17" name="Rectangle: Rounded Corners 16">
            <a:extLst>
              <a:ext uri="{FF2B5EF4-FFF2-40B4-BE49-F238E27FC236}">
                <a16:creationId xmlns:a16="http://schemas.microsoft.com/office/drawing/2014/main" id="{C5DC9542-B582-2D49-A18B-F4FA6F39F9EA}"/>
              </a:ext>
            </a:extLst>
          </p:cNvPr>
          <p:cNvSpPr/>
          <p:nvPr/>
        </p:nvSpPr>
        <p:spPr>
          <a:xfrm>
            <a:off x="4242428" y="1406816"/>
            <a:ext cx="3200400" cy="354661"/>
          </a:xfrm>
          <a:prstGeom prst="roundRect">
            <a:avLst/>
          </a:prstGeom>
          <a:noFill/>
          <a:ln>
            <a:solidFill>
              <a:srgbClr val="27AAE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noProof="0">
                <a:solidFill>
                  <a:srgbClr val="002060"/>
                </a:solidFill>
                <a:latin typeface="Trebuchet MS" panose="020B0603020202020204" pitchFamily="34" charset="0"/>
                <a:cs typeface="Arial" panose="020B0604020202020204" pitchFamily="34" charset="0"/>
              </a:rPr>
              <a:t>31.6 reworked IT Requests</a:t>
            </a:r>
          </a:p>
        </p:txBody>
      </p:sp>
      <p:sp>
        <p:nvSpPr>
          <p:cNvPr id="12" name="Rectangle: Rounded Corners 11">
            <a:extLst>
              <a:ext uri="{FF2B5EF4-FFF2-40B4-BE49-F238E27FC236}">
                <a16:creationId xmlns:a16="http://schemas.microsoft.com/office/drawing/2014/main" id="{49B29FD4-1468-03FA-D3CF-DD68DFD1A2C5}"/>
              </a:ext>
            </a:extLst>
          </p:cNvPr>
          <p:cNvSpPr/>
          <p:nvPr/>
        </p:nvSpPr>
        <p:spPr>
          <a:xfrm>
            <a:off x="1793572" y="5603704"/>
            <a:ext cx="2225767" cy="85896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lnSpc>
                <a:spcPts val="1500"/>
              </a:lnSpc>
              <a:buNone/>
            </a:pPr>
            <a:r>
              <a:rPr lang="en-US" sz="1600" b="1" noProof="0">
                <a:solidFill>
                  <a:srgbClr val="002060"/>
                </a:solidFill>
                <a:latin typeface="Segoe UI" panose="020B0502040204020203" pitchFamily="34" charset="0"/>
              </a:rPr>
              <a:t>10</a:t>
            </a:r>
            <a:r>
              <a:rPr lang="en-US" sz="1600" b="1" i="0" noProof="0">
                <a:solidFill>
                  <a:srgbClr val="002060"/>
                </a:solidFill>
                <a:effectLst/>
                <a:latin typeface="Segoe UI" panose="020B0502040204020203" pitchFamily="34" charset="0"/>
              </a:rPr>
              <a:t> </a:t>
            </a:r>
            <a:r>
              <a:rPr lang="en-US" sz="1600" b="1" noProof="0">
                <a:solidFill>
                  <a:srgbClr val="002060"/>
                </a:solidFill>
                <a:latin typeface="Segoe UI" panose="020B0502040204020203" pitchFamily="34" charset="0"/>
              </a:rPr>
              <a:t>missing information</a:t>
            </a:r>
            <a:endParaRPr lang="en-US" sz="1600" b="1" i="0" noProof="0">
              <a:solidFill>
                <a:srgbClr val="002060"/>
              </a:solidFill>
              <a:effectLst/>
              <a:latin typeface="Segoe UI" panose="020B0502040204020203" pitchFamily="34" charset="0"/>
            </a:endParaRPr>
          </a:p>
        </p:txBody>
      </p:sp>
      <p:sp>
        <p:nvSpPr>
          <p:cNvPr id="13" name="Rectangle: Rounded Corners 12">
            <a:extLst>
              <a:ext uri="{FF2B5EF4-FFF2-40B4-BE49-F238E27FC236}">
                <a16:creationId xmlns:a16="http://schemas.microsoft.com/office/drawing/2014/main" id="{2242070A-0233-2DA3-34AB-F7306AF1638B}"/>
              </a:ext>
            </a:extLst>
          </p:cNvPr>
          <p:cNvSpPr/>
          <p:nvPr/>
        </p:nvSpPr>
        <p:spPr>
          <a:xfrm>
            <a:off x="4242428" y="5603704"/>
            <a:ext cx="2589819" cy="85896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lnSpc>
                <a:spcPts val="1500"/>
              </a:lnSpc>
            </a:pPr>
            <a:r>
              <a:rPr lang="en-US" sz="1600" b="1" noProof="0">
                <a:solidFill>
                  <a:srgbClr val="002060"/>
                </a:solidFill>
                <a:latin typeface="Segoe UI" panose="020B0502040204020203" pitchFamily="34" charset="0"/>
              </a:rPr>
              <a:t>18 wrong routing</a:t>
            </a:r>
          </a:p>
        </p:txBody>
      </p:sp>
      <p:sp>
        <p:nvSpPr>
          <p:cNvPr id="14" name="Rectangle: Rounded Corners 13">
            <a:extLst>
              <a:ext uri="{FF2B5EF4-FFF2-40B4-BE49-F238E27FC236}">
                <a16:creationId xmlns:a16="http://schemas.microsoft.com/office/drawing/2014/main" id="{BB1CE91F-43BE-2F1D-36FE-6045A2A40738}"/>
              </a:ext>
            </a:extLst>
          </p:cNvPr>
          <p:cNvSpPr/>
          <p:nvPr/>
        </p:nvSpPr>
        <p:spPr>
          <a:xfrm>
            <a:off x="7015783" y="5603704"/>
            <a:ext cx="2451303" cy="85896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lnSpc>
                <a:spcPts val="1500"/>
              </a:lnSpc>
            </a:pPr>
            <a:r>
              <a:rPr lang="en-US" sz="1600" b="1" noProof="0">
                <a:solidFill>
                  <a:srgbClr val="002060"/>
                </a:solidFill>
                <a:latin typeface="Segoe UI" panose="020B0502040204020203" pitchFamily="34" charset="0"/>
              </a:rPr>
              <a:t>3.6 incorrect resolution. Reopened.</a:t>
            </a:r>
          </a:p>
        </p:txBody>
      </p:sp>
    </p:spTree>
    <p:extLst>
      <p:ext uri="{BB962C8B-B14F-4D97-AF65-F5344CB8AC3E}">
        <p14:creationId xmlns:p14="http://schemas.microsoft.com/office/powerpoint/2010/main" val="23977425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 name="Text Placeholder 4">
            <a:extLst>
              <a:ext uri="{FF2B5EF4-FFF2-40B4-BE49-F238E27FC236}">
                <a16:creationId xmlns:a16="http://schemas.microsoft.com/office/drawing/2014/main" id="{A48BBE82-CB77-8193-445D-F746042D4350}"/>
              </a:ext>
            </a:extLst>
          </p:cNvPr>
          <p:cNvSpPr>
            <a:spLocks noGrp="1"/>
          </p:cNvSpPr>
          <p:nvPr>
            <p:ph type="body" sz="quarter" idx="10"/>
          </p:nvPr>
        </p:nvSpPr>
        <p:spPr>
          <a:xfrm>
            <a:off x="533400" y="445493"/>
            <a:ext cx="5562600" cy="492443"/>
          </a:xfrm>
        </p:spPr>
        <p:txBody>
          <a:bodyPr/>
          <a:lstStyle/>
          <a:p>
            <a:r>
              <a:rPr lang="en-US" sz="3200" noProof="0">
                <a:latin typeface="Trebuchet MS" panose="020B0603020202020204" pitchFamily="34" charset="0"/>
              </a:rPr>
              <a:t>Summary</a:t>
            </a:r>
          </a:p>
        </p:txBody>
      </p:sp>
      <p:sp>
        <p:nvSpPr>
          <p:cNvPr id="7" name="TextBox 6">
            <a:extLst>
              <a:ext uri="{FF2B5EF4-FFF2-40B4-BE49-F238E27FC236}">
                <a16:creationId xmlns:a16="http://schemas.microsoft.com/office/drawing/2014/main" id="{BA8B0892-082E-7A60-5A8B-AB52A801A244}"/>
              </a:ext>
            </a:extLst>
          </p:cNvPr>
          <p:cNvSpPr txBox="1"/>
          <p:nvPr/>
        </p:nvSpPr>
        <p:spPr>
          <a:xfrm>
            <a:off x="529590" y="1600200"/>
            <a:ext cx="8233410" cy="3216265"/>
          </a:xfrm>
          <a:prstGeom prst="rect">
            <a:avLst/>
          </a:prstGeom>
          <a:noFill/>
        </p:spPr>
        <p:txBody>
          <a:bodyPr wrap="square">
            <a:spAutoFit/>
          </a:bodyPr>
          <a:lstStyle/>
          <a:p>
            <a:r>
              <a:rPr lang="en-US" b="1" noProof="0">
                <a:solidFill>
                  <a:srgbClr val="002060"/>
                </a:solidFill>
                <a:latin typeface="Trebuchet MS" panose="020B0603020202020204" pitchFamily="34" charset="0"/>
              </a:rPr>
              <a:t>What Have We Learned?</a:t>
            </a:r>
          </a:p>
          <a:p>
            <a:endParaRPr lang="en-US" b="1" noProof="0">
              <a:solidFill>
                <a:srgbClr val="002060"/>
              </a:solidFill>
              <a:latin typeface="Trebuchet MS" panose="020B0603020202020204" pitchFamily="34" charset="0"/>
            </a:endParaRPr>
          </a:p>
          <a:p>
            <a:r>
              <a:rPr lang="en-US" b="1" noProof="0">
                <a:solidFill>
                  <a:srgbClr val="002060"/>
                </a:solidFill>
                <a:latin typeface="Trebuchet MS" panose="020B0603020202020204" pitchFamily="34" charset="0"/>
              </a:rPr>
              <a:t>In this module we have learned:</a:t>
            </a:r>
          </a:p>
          <a:p>
            <a:endParaRPr lang="en-US" sz="500" noProof="0">
              <a:solidFill>
                <a:srgbClr val="002060"/>
              </a:solidFill>
              <a:latin typeface="Trebuchet MS" panose="020B0603020202020204" pitchFamily="34" charset="0"/>
            </a:endParaRPr>
          </a:p>
          <a:p>
            <a:pPr marL="285750" indent="-285750">
              <a:buFont typeface="Arial" panose="020B0604020202020204" pitchFamily="34" charset="0"/>
              <a:buChar char="•"/>
            </a:pPr>
            <a:r>
              <a:rPr lang="en-US" noProof="0">
                <a:solidFill>
                  <a:srgbClr val="002060"/>
                </a:solidFill>
                <a:latin typeface="Trebuchet MS" panose="020B0603020202020204" pitchFamily="34" charset="0"/>
              </a:rPr>
              <a:t>Defects are outputs that do not meet customer requirements.</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Yield measures how often we get things right first time.</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DPU measures how many defects exist within each unit.</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Opportunities are points where defects could occur.</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DPMO standardizes defect rates so processes can be compared.</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Process Sigma converts DPMO into a measure of process capability.</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RTY shows the true performance of a process across multiple steps.</a:t>
            </a:r>
          </a:p>
          <a:p>
            <a:pPr marL="285750" indent="-285750">
              <a:buFont typeface="Arial" panose="020B0604020202020204" pitchFamily="34" charset="0"/>
              <a:buChar char="•"/>
            </a:pPr>
            <a:r>
              <a:rPr lang="en-US" noProof="0">
                <a:solidFill>
                  <a:srgbClr val="002060"/>
                </a:solidFill>
                <a:latin typeface="Trebuchet MS" panose="020B0603020202020204" pitchFamily="34" charset="0"/>
              </a:rPr>
              <a:t>Hidden Factory reveals the cost of rework, delays and corrections.</a:t>
            </a:r>
          </a:p>
        </p:txBody>
      </p:sp>
      <p:sp>
        <p:nvSpPr>
          <p:cNvPr id="9" name="TextBox 8">
            <a:extLst>
              <a:ext uri="{FF2B5EF4-FFF2-40B4-BE49-F238E27FC236}">
                <a16:creationId xmlns:a16="http://schemas.microsoft.com/office/drawing/2014/main" id="{BABAFEBA-F515-1264-F29A-C55DE6783FED}"/>
              </a:ext>
            </a:extLst>
          </p:cNvPr>
          <p:cNvSpPr txBox="1"/>
          <p:nvPr/>
        </p:nvSpPr>
        <p:spPr>
          <a:xfrm>
            <a:off x="529590" y="6016505"/>
            <a:ext cx="11433810" cy="369332"/>
          </a:xfrm>
          <a:prstGeom prst="rect">
            <a:avLst/>
          </a:prstGeom>
          <a:solidFill>
            <a:srgbClr val="24408D"/>
          </a:solidFill>
        </p:spPr>
        <p:txBody>
          <a:bodyPr wrap="square">
            <a:spAutoFit/>
          </a:bodyPr>
          <a:lstStyle/>
          <a:p>
            <a:r>
              <a:rPr lang="en-US" b="1" noProof="0">
                <a:solidFill>
                  <a:schemeClr val="bg1"/>
                </a:solidFill>
                <a:latin typeface="Trebuchet MS" panose="020B0603020202020204" pitchFamily="34" charset="0"/>
              </a:rPr>
              <a:t>Key Takeaway: </a:t>
            </a:r>
            <a:r>
              <a:rPr lang="en-US" noProof="0">
                <a:solidFill>
                  <a:schemeClr val="bg1"/>
                </a:solidFill>
                <a:latin typeface="Trebuchet MS" panose="020B0603020202020204" pitchFamily="34" charset="0"/>
              </a:rPr>
              <a:t>Better processes create fewer defects, less rework and better outcomes for customers.</a:t>
            </a:r>
          </a:p>
        </p:txBody>
      </p:sp>
    </p:spTree>
    <p:extLst>
      <p:ext uri="{BB962C8B-B14F-4D97-AF65-F5344CB8AC3E}">
        <p14:creationId xmlns:p14="http://schemas.microsoft.com/office/powerpoint/2010/main" val="21359815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8" name="Text Placeholder 3">
            <a:extLst>
              <a:ext uri="{FF2B5EF4-FFF2-40B4-BE49-F238E27FC236}">
                <a16:creationId xmlns:a16="http://schemas.microsoft.com/office/drawing/2014/main" id="{5929FFDE-4C44-0072-37D5-58A8811E8E39}"/>
              </a:ext>
            </a:extLst>
          </p:cNvPr>
          <p:cNvSpPr>
            <a:spLocks noGrp="1"/>
          </p:cNvSpPr>
          <p:nvPr>
            <p:ph type="body" sz="quarter" idx="10"/>
          </p:nvPr>
        </p:nvSpPr>
        <p:spPr>
          <a:xfrm>
            <a:off x="533400" y="1534622"/>
            <a:ext cx="5562600" cy="4216539"/>
          </a:xfrm>
        </p:spPr>
        <p:txBody>
          <a:bodyPr/>
          <a:lstStyle/>
          <a:p>
            <a:r>
              <a:rPr lang="en-US" noProof="0"/>
              <a:t>Thank you</a:t>
            </a:r>
          </a:p>
          <a:p>
            <a:endParaRPr lang="en-US" sz="2400" b="0" noProof="0"/>
          </a:p>
          <a:p>
            <a:r>
              <a:rPr lang="en-US" sz="2400" b="0" noProof="0"/>
              <a:t>Thank you for your participation. You have now completed the learning for this module. </a:t>
            </a:r>
          </a:p>
          <a:p>
            <a:endParaRPr lang="en-US" sz="2400" b="0" noProof="0"/>
          </a:p>
          <a:p>
            <a:r>
              <a:rPr lang="en-US" sz="2400" b="0" noProof="0"/>
              <a:t>Once your attendance has been captured, your module end test will be available. Slides for this session will also be available for review. </a:t>
            </a:r>
          </a:p>
        </p:txBody>
      </p:sp>
      <p:sp>
        <p:nvSpPr>
          <p:cNvPr id="9" name="Rectangle 8">
            <a:extLst>
              <a:ext uri="{FF2B5EF4-FFF2-40B4-BE49-F238E27FC236}">
                <a16:creationId xmlns:a16="http://schemas.microsoft.com/office/drawing/2014/main" id="{72EB1EB9-1A66-238B-FD32-6769E73F0A07}"/>
              </a:ext>
            </a:extLst>
          </p:cNvPr>
          <p:cNvSpPr/>
          <p:nvPr/>
        </p:nvSpPr>
        <p:spPr>
          <a:xfrm>
            <a:off x="213756" y="5652655"/>
            <a:ext cx="2458192" cy="926275"/>
          </a:xfrm>
          <a:prstGeom prst="rect">
            <a:avLst/>
          </a:prstGeom>
          <a:solidFill>
            <a:srgbClr val="244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520509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ngeus Generic">
  <a:themeElements>
    <a:clrScheme name="Custom 5">
      <a:dk1>
        <a:srgbClr val="6B635B"/>
      </a:dk1>
      <a:lt1>
        <a:srgbClr val="FFFFFF"/>
      </a:lt1>
      <a:dk2>
        <a:srgbClr val="F58233"/>
      </a:dk2>
      <a:lt2>
        <a:srgbClr val="FBBA00"/>
      </a:lt2>
      <a:accent1>
        <a:srgbClr val="EC008C"/>
      </a:accent1>
      <a:accent2>
        <a:srgbClr val="8DC63F"/>
      </a:accent2>
      <a:accent3>
        <a:srgbClr val="00AF74"/>
      </a:accent3>
      <a:accent4>
        <a:srgbClr val="27AAE1"/>
      </a:accent4>
      <a:accent5>
        <a:srgbClr val="2B3990"/>
      </a:accent5>
      <a:accent6>
        <a:srgbClr val="9FA1A2"/>
      </a:accent6>
      <a:hlink>
        <a:srgbClr val="6B635B"/>
      </a:hlink>
      <a:folHlink>
        <a:srgbClr val="6B635B"/>
      </a:folHlink>
    </a:clrScheme>
    <a:fontScheme name="Custom 7">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5D28FA20BD2FE48BF0090F2482EA240" ma:contentTypeVersion="12" ma:contentTypeDescription="Create a new document." ma:contentTypeScope="" ma:versionID="2fa18cf9dfb3640b544f21b035a49950">
  <xsd:schema xmlns:xsd="http://www.w3.org/2001/XMLSchema" xmlns:xs="http://www.w3.org/2001/XMLSchema" xmlns:p="http://schemas.microsoft.com/office/2006/metadata/properties" xmlns:ns2="c8982c3a-aa8a-40f4-beae-7464567f5c95" xmlns:ns3="5f2719aa-8549-4aa0-9718-54854450c270" targetNamespace="http://schemas.microsoft.com/office/2006/metadata/properties" ma:root="true" ma:fieldsID="1514f7be33d9c2f3fc87f8d7868ccd8c" ns2:_="" ns3:_="">
    <xsd:import namespace="c8982c3a-aa8a-40f4-beae-7464567f5c95"/>
    <xsd:import namespace="5f2719aa-8549-4aa0-9718-54854450c27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982c3a-aa8a-40f4-beae-7464567f5c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e537eb2-d2b7-44a8-833a-5538858146a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f2719aa-8549-4aa0-9718-54854450c27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53a8935-bef3-42e8-a216-44c478a2c40c}" ma:internalName="TaxCatchAll" ma:showField="CatchAllData" ma:web="5f2719aa-8549-4aa0-9718-54854450c2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982c3a-aa8a-40f4-beae-7464567f5c95">
      <Terms xmlns="http://schemas.microsoft.com/office/infopath/2007/PartnerControls"/>
    </lcf76f155ced4ddcb4097134ff3c332f>
    <TaxCatchAll xmlns="5f2719aa-8549-4aa0-9718-54854450c270" xsi:nil="true"/>
  </documentManagement>
</p:properties>
</file>

<file path=customXml/itemProps1.xml><?xml version="1.0" encoding="utf-8"?>
<ds:datastoreItem xmlns:ds="http://schemas.openxmlformats.org/officeDocument/2006/customXml" ds:itemID="{0B7FBBA7-3BC0-42DF-B211-108479B1D335}">
  <ds:schemaRefs>
    <ds:schemaRef ds:uri="http://schemas.microsoft.com/sharepoint/v3/contenttype/forms"/>
  </ds:schemaRefs>
</ds:datastoreItem>
</file>

<file path=customXml/itemProps2.xml><?xml version="1.0" encoding="utf-8"?>
<ds:datastoreItem xmlns:ds="http://schemas.openxmlformats.org/officeDocument/2006/customXml" ds:itemID="{83EBF431-62CD-4636-B4D4-9D6572B03F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982c3a-aa8a-40f4-beae-7464567f5c95"/>
    <ds:schemaRef ds:uri="5f2719aa-8549-4aa0-9718-54854450c2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76C3FCD-FE07-4824-ACB5-2E96F2C7E097}">
  <ds:schemaRefs>
    <ds:schemaRef ds:uri="4867e260-efc0-4c04-89a7-fe69bd504a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c8982c3a-aa8a-40f4-beae-7464567f5c95"/>
    <ds:schemaRef ds:uri="5f2719aa-8549-4aa0-9718-54854450c270"/>
  </ds:schemaRefs>
</ds:datastoreItem>
</file>

<file path=docProps/app.xml><?xml version="1.0" encoding="utf-8"?>
<Properties xmlns="http://schemas.openxmlformats.org/officeDocument/2006/extended-properties" xmlns:vt="http://schemas.openxmlformats.org/officeDocument/2006/docPropsVTypes">
  <Template/>
  <TotalTime>81</TotalTime>
  <Words>10011</Words>
  <Application>Microsoft Office PowerPoint</Application>
  <PresentationFormat>Widescreen</PresentationFormat>
  <Paragraphs>1285</Paragraphs>
  <Slides>47</Slides>
  <Notes>47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47</vt:i4>
      </vt:variant>
    </vt:vector>
  </HeadingPairs>
  <TitlesOfParts>
    <vt:vector size="55" baseType="lpstr">
      <vt:lpstr>Arial</vt:lpstr>
      <vt:lpstr>Calibri</vt:lpstr>
      <vt:lpstr>Courier New</vt:lpstr>
      <vt:lpstr>Segoe UI</vt:lpstr>
      <vt:lpstr>Trebuchet MS</vt:lpstr>
      <vt:lpstr>Wingdings</vt:lpstr>
      <vt:lpstr>Office Theme</vt:lpstr>
      <vt:lpstr>Ingeus Generic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 Foster</dc:creator>
  <cp:lastModifiedBy>Steven Foster</cp:lastModifiedBy>
  <cp:revision>7</cp:revision>
  <dcterms:created xsi:type="dcterms:W3CDTF">2026-09-08T11:36:45Z</dcterms:created>
  <dcterms:modified xsi:type="dcterms:W3CDTF">2026-10-05T12:48:23Z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2022-03-24T00:00:00Z</vt:filetime>
  </property>
  <property fmtid="{D5CDD505-2E9C-101B-9397-08002B2CF9AE}" pid="3" name="Creator">
    <vt:lpwstr>Adobe InDesign 17.0 (Macintosh)</vt:lpwstr>
  </property>
  <property fmtid="{D5CDD505-2E9C-101B-9397-08002B2CF9AE}" pid="4" name="LastSaved">
    <vt:filetime>2022-03-24T00:00:00Z</vt:filetime>
  </property>
  <property fmtid="{D5CDD505-2E9C-101B-9397-08002B2CF9AE}" pid="5" name="ContentTypeId">
    <vt:lpwstr>0x01010035D28FA20BD2FE48BF0090F2482EA240</vt:lpwstr>
  </property>
  <property fmtid="{D5CDD505-2E9C-101B-9397-08002B2CF9AE}" pid="6" name="MSIP_Label_38690661-9364-435b-84bb-8b996a311eb8_Enabled">
    <vt:lpwstr>true</vt:lpwstr>
  </property>
  <property fmtid="{D5CDD505-2E9C-101B-9397-08002B2CF9AE}" pid="7" name="MSIP_Label_38690661-9364-435b-84bb-8b996a311eb8_SetDate">
    <vt:lpwstr>2022-04-16T06:02:40Z</vt:lpwstr>
  </property>
  <property fmtid="{D5CDD505-2E9C-101B-9397-08002B2CF9AE}" pid="8" name="MSIP_Label_38690661-9364-435b-84bb-8b996a311eb8_Method">
    <vt:lpwstr>Privileged</vt:lpwstr>
  </property>
  <property fmtid="{D5CDD505-2E9C-101B-9397-08002B2CF9AE}" pid="9" name="MSIP_Label_38690661-9364-435b-84bb-8b996a311eb8_Name">
    <vt:lpwstr>Confidential</vt:lpwstr>
  </property>
  <property fmtid="{D5CDD505-2E9C-101B-9397-08002B2CF9AE}" pid="10" name="MSIP_Label_38690661-9364-435b-84bb-8b996a311eb8_SiteId">
    <vt:lpwstr>5090ac83-b577-4b0b-9a7d-be03f24a6c0c</vt:lpwstr>
  </property>
  <property fmtid="{D5CDD505-2E9C-101B-9397-08002B2CF9AE}" pid="11" name="MSIP_Label_38690661-9364-435b-84bb-8b996a311eb8_ActionId">
    <vt:lpwstr>a18cf829-39ac-45dc-a456-4eb81b230210</vt:lpwstr>
  </property>
  <property fmtid="{D5CDD505-2E9C-101B-9397-08002B2CF9AE}" pid="12" name="MSIP_Label_38690661-9364-435b-84bb-8b996a311eb8_ContentBits">
    <vt:lpwstr>0</vt:lpwstr>
  </property>
  <property fmtid="{D5CDD505-2E9C-101B-9397-08002B2CF9AE}" pid="13" name="MediaServiceImageTags">
    <vt:lpwstr/>
  </property>
</Properties>
</file>