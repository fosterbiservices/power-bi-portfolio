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4"/>
  </p:notesMasterIdLst>
  <p:handoutMasterIdLst>
    <p:handoutMasterId r:id="rId45"/>
  </p:handoutMasterIdLst>
  <p:sldIdLst>
    <p:sldId id="291" r:id="rId5"/>
    <p:sldId id="292" r:id="rId6"/>
    <p:sldId id="308" r:id="rId7"/>
    <p:sldId id="296" r:id="rId8"/>
    <p:sldId id="261" r:id="rId9"/>
    <p:sldId id="1568" r:id="rId10"/>
    <p:sldId id="1571" r:id="rId11"/>
    <p:sldId id="1616" r:id="rId12"/>
    <p:sldId id="1595" r:id="rId13"/>
    <p:sldId id="1605" r:id="rId14"/>
    <p:sldId id="1572" r:id="rId15"/>
    <p:sldId id="1574" r:id="rId16"/>
    <p:sldId id="1617" r:id="rId17"/>
    <p:sldId id="1618" r:id="rId18"/>
    <p:sldId id="1598" r:id="rId19"/>
    <p:sldId id="1619" r:id="rId20"/>
    <p:sldId id="1578" r:id="rId21"/>
    <p:sldId id="1591" r:id="rId22"/>
    <p:sldId id="1585" r:id="rId23"/>
    <p:sldId id="1609" r:id="rId24"/>
    <p:sldId id="1576" r:id="rId25"/>
    <p:sldId id="1580" r:id="rId26"/>
    <p:sldId id="1583" r:id="rId27"/>
    <p:sldId id="1586" r:id="rId28"/>
    <p:sldId id="1587" r:id="rId29"/>
    <p:sldId id="1584" r:id="rId30"/>
    <p:sldId id="1610" r:id="rId31"/>
    <p:sldId id="1599" r:id="rId32"/>
    <p:sldId id="1611" r:id="rId33"/>
    <p:sldId id="1620" r:id="rId34"/>
    <p:sldId id="1626" r:id="rId35"/>
    <p:sldId id="1624" r:id="rId36"/>
    <p:sldId id="1588" r:id="rId37"/>
    <p:sldId id="1622" r:id="rId38"/>
    <p:sldId id="1600" r:id="rId39"/>
    <p:sldId id="1594" r:id="rId40"/>
    <p:sldId id="1602" r:id="rId41"/>
    <p:sldId id="1627" r:id="rId42"/>
    <p:sldId id="1567" r:id="rId43"/>
  </p:sldIdLst>
  <p:sldSz cx="12192000" cy="6858000"/>
  <p:notesSz cx="6889750" cy="100187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149683-A68B-4F83-83B3-BC913093FF34}">
          <p14:sldIdLst>
            <p14:sldId id="291"/>
            <p14:sldId id="292"/>
            <p14:sldId id="308"/>
            <p14:sldId id="296"/>
            <p14:sldId id="261"/>
            <p14:sldId id="1568"/>
            <p14:sldId id="1571"/>
            <p14:sldId id="1616"/>
            <p14:sldId id="1595"/>
            <p14:sldId id="1605"/>
            <p14:sldId id="1572"/>
            <p14:sldId id="1574"/>
            <p14:sldId id="1617"/>
            <p14:sldId id="1618"/>
            <p14:sldId id="1598"/>
            <p14:sldId id="1619"/>
            <p14:sldId id="1578"/>
            <p14:sldId id="1591"/>
            <p14:sldId id="1585"/>
            <p14:sldId id="1609"/>
            <p14:sldId id="1576"/>
            <p14:sldId id="1580"/>
            <p14:sldId id="1583"/>
            <p14:sldId id="1586"/>
            <p14:sldId id="1587"/>
            <p14:sldId id="1584"/>
            <p14:sldId id="1610"/>
            <p14:sldId id="1599"/>
            <p14:sldId id="1611"/>
            <p14:sldId id="1620"/>
            <p14:sldId id="1626"/>
            <p14:sldId id="1624"/>
            <p14:sldId id="1588"/>
            <p14:sldId id="1622"/>
            <p14:sldId id="1600"/>
            <p14:sldId id="1594"/>
            <p14:sldId id="1602"/>
            <p14:sldId id="1627"/>
            <p14:sldId id="1567"/>
          </p14:sldIdLst>
        </p14:section>
        <p14:section name="Icons" id="{CAE39AE5-07B9-4F1B-8A07-53CFBF1F674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C282253-4FD2-1AE3-E96E-B1DC47324813}" name="Collette Westerman" initials="CW" userId="S::CWesterman@ingeus.co.uk::a207cbfe-ed5d-43cc-8115-c956b16f173a" providerId="AD"/>
  <p188:author id="{09F2ECA0-26A8-7578-492D-90B644F47049}" name="Kathryn Hunter" initials="KH" userId="S::kathryn.hunter@apmnet.us::839972a9-d21b-428c-87ba-d117b348d05a" providerId="AD"/>
  <p188:author id="{7AA3CCF1-E87F-3F46-B17E-34944D2B5A29}" name="Collette Westerman" initials="CW" userId="S::cwesterman_ingeus.co.uk#ext#@apmus.onmicrosoft.com::1ef6c9bd-e098-4ef7-9b85-2b445f24a84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D"/>
    <a:srgbClr val="BF95DF"/>
    <a:srgbClr val="FBBA00"/>
    <a:srgbClr val="CE1E87"/>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9049" autoAdjust="0"/>
  </p:normalViewPr>
  <p:slideViewPr>
    <p:cSldViewPr snapToGrid="0">
      <p:cViewPr varScale="1">
        <p:scale>
          <a:sx n="93" d="100"/>
          <a:sy n="93" d="100"/>
        </p:scale>
        <p:origin x="1128" y="9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400" dirty="0">
                <a:solidFill>
                  <a:srgbClr val="002060"/>
                </a:solidFill>
              </a:rPr>
              <a:t>I Chart – Individual</a:t>
            </a:r>
            <a:r>
              <a:rPr lang="en-US" sz="1400" baseline="0" dirty="0">
                <a:solidFill>
                  <a:srgbClr val="002060"/>
                </a:solidFill>
              </a:rPr>
              <a:t> IT Ticket Resolution Times</a:t>
            </a:r>
            <a:endParaRPr lang="en-US" sz="1400" dirty="0">
              <a:solidFill>
                <a:srgbClr val="002060"/>
              </a:solidFill>
            </a:endParaRPr>
          </a:p>
        </c:rich>
      </c:tx>
      <c:layout>
        <c:manualLayout>
          <c:xMode val="edge"/>
          <c:yMode val="edge"/>
          <c:x val="0.34946019723089794"/>
          <c:y val="7.8490286173396498E-2"/>
        </c:manualLayout>
      </c:layout>
      <c:overlay val="1"/>
    </c:title>
    <c:autoTitleDeleted val="0"/>
    <c:plotArea>
      <c:layout/>
      <c:lineChart>
        <c:grouping val="standard"/>
        <c:varyColors val="1"/>
        <c:ser>
          <c:idx val="0"/>
          <c:order val="0"/>
          <c:tx>
            <c:strRef>
              <c:f>'IMR IT Tickets'!$B$1</c:f>
              <c:strCache>
                <c:ptCount val="1"/>
                <c:pt idx="0">
                  <c:v>Days to Resolve IT Ticket</c:v>
                </c:pt>
              </c:strCache>
            </c:strRef>
          </c:tx>
          <c:spPr>
            <a:ln>
              <a:prstDash val="solid"/>
            </a:ln>
          </c:spPr>
          <c:marker>
            <c:symbol val="none"/>
          </c:marker>
          <c:dLbls>
            <c:delete val="1"/>
          </c:dLbls>
          <c:trendline>
            <c:trendlineType val="linear"/>
            <c:dispRSqr val="0"/>
            <c:dispEq val="0"/>
          </c:trendline>
          <c:cat>
            <c:numRef>
              <c:f>'IMR IT Tickets'!$A$2:$A$21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'IMR IT Tickets'!$B$2:$B$21</c:f>
              <c:numCache>
                <c:formatCode>General</c:formatCode>
                <c:ptCount val="20"/>
                <c:pt idx="0">
                  <c:v>2.2999999999999998</c:v>
                </c:pt>
                <c:pt idx="1">
                  <c:v>3.3</c:v>
                </c:pt>
                <c:pt idx="2">
                  <c:v>2.6</c:v>
                </c:pt>
                <c:pt idx="3">
                  <c:v>2.4</c:v>
                </c:pt>
                <c:pt idx="4">
                  <c:v>3.1</c:v>
                </c:pt>
                <c:pt idx="5">
                  <c:v>5</c:v>
                </c:pt>
                <c:pt idx="6">
                  <c:v>2.9</c:v>
                </c:pt>
                <c:pt idx="7">
                  <c:v>2.9</c:v>
                </c:pt>
                <c:pt idx="8">
                  <c:v>3</c:v>
                </c:pt>
                <c:pt idx="9">
                  <c:v>2.5</c:v>
                </c:pt>
                <c:pt idx="10">
                  <c:v>2.6</c:v>
                </c:pt>
                <c:pt idx="11">
                  <c:v>2.8</c:v>
                </c:pt>
                <c:pt idx="12">
                  <c:v>3</c:v>
                </c:pt>
                <c:pt idx="13">
                  <c:v>3.1</c:v>
                </c:pt>
                <c:pt idx="14">
                  <c:v>3.2</c:v>
                </c:pt>
                <c:pt idx="15">
                  <c:v>2.5</c:v>
                </c:pt>
                <c:pt idx="16">
                  <c:v>2.6</c:v>
                </c:pt>
                <c:pt idx="17">
                  <c:v>2.5</c:v>
                </c:pt>
                <c:pt idx="18">
                  <c:v>2.9</c:v>
                </c:pt>
                <c:pt idx="19">
                  <c:v>3.1</c:v>
                </c:pt>
              </c:numCache>
            </c:numRef>
          </c:val>
          <c:smooth val="1"/>
          <c:extLst>
            <c:ext xmlns:c16="http://schemas.microsoft.com/office/drawing/2014/chart" uri="{C3380CC4-5D6E-409C-BE32-E72D297353CC}">
              <c16:uniqueId val="{00000001-AF73-4F2E-8B91-1BBCC56BC9BC}"/>
            </c:ext>
          </c:extLst>
        </c:ser>
        <c:ser>
          <c:idx val="1"/>
          <c:order val="1"/>
          <c:tx>
            <c:strRef>
              <c:f>'IMR IT Tickets'!$C$1</c:f>
              <c:strCache>
                <c:ptCount val="1"/>
                <c:pt idx="0">
                  <c:v>CL</c:v>
                </c:pt>
              </c:strCache>
            </c:strRef>
          </c:tx>
          <c:spPr>
            <a:ln>
              <a:prstDash val="solid"/>
            </a:ln>
          </c:spPr>
          <c:marker>
            <c:symbol val="none"/>
          </c:marker>
          <c:dLbls>
            <c:delete val="1"/>
          </c:dLbls>
          <c:cat>
            <c:numRef>
              <c:f>'IMR IT Tickets'!$A$2:$A$21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'IMR IT Tickets'!$C$2:$C$21</c:f>
              <c:numCache>
                <c:formatCode>General</c:formatCode>
                <c:ptCount val="20"/>
                <c:pt idx="0">
                  <c:v>2.92</c:v>
                </c:pt>
                <c:pt idx="1">
                  <c:v>2.92</c:v>
                </c:pt>
                <c:pt idx="2">
                  <c:v>2.92</c:v>
                </c:pt>
                <c:pt idx="3">
                  <c:v>2.92</c:v>
                </c:pt>
                <c:pt idx="4">
                  <c:v>2.92</c:v>
                </c:pt>
                <c:pt idx="5">
                  <c:v>2.92</c:v>
                </c:pt>
                <c:pt idx="6">
                  <c:v>2.92</c:v>
                </c:pt>
                <c:pt idx="7">
                  <c:v>2.92</c:v>
                </c:pt>
                <c:pt idx="8">
                  <c:v>2.92</c:v>
                </c:pt>
                <c:pt idx="9">
                  <c:v>2.92</c:v>
                </c:pt>
                <c:pt idx="10">
                  <c:v>2.92</c:v>
                </c:pt>
                <c:pt idx="11">
                  <c:v>2.92</c:v>
                </c:pt>
                <c:pt idx="12">
                  <c:v>2.92</c:v>
                </c:pt>
                <c:pt idx="13">
                  <c:v>2.92</c:v>
                </c:pt>
                <c:pt idx="14">
                  <c:v>2.92</c:v>
                </c:pt>
                <c:pt idx="15">
                  <c:v>2.92</c:v>
                </c:pt>
                <c:pt idx="16">
                  <c:v>2.92</c:v>
                </c:pt>
                <c:pt idx="17">
                  <c:v>2.92</c:v>
                </c:pt>
                <c:pt idx="18">
                  <c:v>2.92</c:v>
                </c:pt>
                <c:pt idx="19">
                  <c:v>2.92</c:v>
                </c:pt>
              </c:numCache>
            </c:numRef>
          </c:val>
          <c:smooth val="1"/>
          <c:extLst>
            <c:ext xmlns:c16="http://schemas.microsoft.com/office/drawing/2014/chart" uri="{C3380CC4-5D6E-409C-BE32-E72D297353CC}">
              <c16:uniqueId val="{00000002-AF73-4F2E-8B91-1BBCC56BC9BC}"/>
            </c:ext>
          </c:extLst>
        </c:ser>
        <c:ser>
          <c:idx val="2"/>
          <c:order val="2"/>
          <c:tx>
            <c:strRef>
              <c:f>'IMR IT Tickets'!$D$1</c:f>
              <c:strCache>
                <c:ptCount val="1"/>
                <c:pt idx="0">
                  <c:v>UCL</c:v>
                </c:pt>
              </c:strCache>
            </c:strRef>
          </c:tx>
          <c:spPr>
            <a:ln>
              <a:prstDash val="solid"/>
            </a:ln>
          </c:spPr>
          <c:marker>
            <c:symbol val="none"/>
          </c:marker>
          <c:dLbls>
            <c:delete val="1"/>
          </c:dLbls>
          <c:cat>
            <c:numRef>
              <c:f>'IMR IT Tickets'!$A$2:$A$21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'IMR IT Tickets'!$D$2:$D$21</c:f>
              <c:numCache>
                <c:formatCode>General</c:formatCode>
                <c:ptCount val="20"/>
                <c:pt idx="0">
                  <c:v>4.32</c:v>
                </c:pt>
                <c:pt idx="1">
                  <c:v>4.32</c:v>
                </c:pt>
                <c:pt idx="2">
                  <c:v>4.32</c:v>
                </c:pt>
                <c:pt idx="3">
                  <c:v>4.32</c:v>
                </c:pt>
                <c:pt idx="4">
                  <c:v>4.32</c:v>
                </c:pt>
                <c:pt idx="5">
                  <c:v>4.32</c:v>
                </c:pt>
                <c:pt idx="6">
                  <c:v>4.32</c:v>
                </c:pt>
                <c:pt idx="7">
                  <c:v>4.32</c:v>
                </c:pt>
                <c:pt idx="8">
                  <c:v>4.32</c:v>
                </c:pt>
                <c:pt idx="9">
                  <c:v>4.32</c:v>
                </c:pt>
                <c:pt idx="10">
                  <c:v>4.32</c:v>
                </c:pt>
                <c:pt idx="11">
                  <c:v>4.32</c:v>
                </c:pt>
                <c:pt idx="12">
                  <c:v>4.32</c:v>
                </c:pt>
                <c:pt idx="13">
                  <c:v>4.32</c:v>
                </c:pt>
                <c:pt idx="14">
                  <c:v>4.32</c:v>
                </c:pt>
                <c:pt idx="15">
                  <c:v>4.32</c:v>
                </c:pt>
                <c:pt idx="16">
                  <c:v>4.32</c:v>
                </c:pt>
                <c:pt idx="17">
                  <c:v>4.32</c:v>
                </c:pt>
                <c:pt idx="18">
                  <c:v>4.32</c:v>
                </c:pt>
                <c:pt idx="19">
                  <c:v>4.32</c:v>
                </c:pt>
              </c:numCache>
            </c:numRef>
          </c:val>
          <c:smooth val="1"/>
          <c:extLst>
            <c:ext xmlns:c16="http://schemas.microsoft.com/office/drawing/2014/chart" uri="{C3380CC4-5D6E-409C-BE32-E72D297353CC}">
              <c16:uniqueId val="{00000003-AF73-4F2E-8B91-1BBCC56BC9BC}"/>
            </c:ext>
          </c:extLst>
        </c:ser>
        <c:ser>
          <c:idx val="3"/>
          <c:order val="3"/>
          <c:tx>
            <c:strRef>
              <c:f>'IMR IT Tickets'!$E$1</c:f>
              <c:strCache>
                <c:ptCount val="1"/>
                <c:pt idx="0">
                  <c:v>LCL</c:v>
                </c:pt>
              </c:strCache>
            </c:strRef>
          </c:tx>
          <c:spPr>
            <a:ln>
              <a:prstDash val="solid"/>
            </a:ln>
          </c:spPr>
          <c:marker>
            <c:symbol val="none"/>
          </c:marker>
          <c:dLbls>
            <c:delete val="1"/>
          </c:dLbls>
          <c:cat>
            <c:numRef>
              <c:f>'IMR IT Tickets'!$A$2:$A$21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'IMR IT Tickets'!$E$2:$E$21</c:f>
              <c:numCache>
                <c:formatCode>General</c:formatCode>
                <c:ptCount val="20"/>
                <c:pt idx="0">
                  <c:v>1.52</c:v>
                </c:pt>
                <c:pt idx="1">
                  <c:v>1.52</c:v>
                </c:pt>
                <c:pt idx="2">
                  <c:v>1.52</c:v>
                </c:pt>
                <c:pt idx="3">
                  <c:v>1.52</c:v>
                </c:pt>
                <c:pt idx="4">
                  <c:v>1.52</c:v>
                </c:pt>
                <c:pt idx="5">
                  <c:v>1.52</c:v>
                </c:pt>
                <c:pt idx="6">
                  <c:v>1.52</c:v>
                </c:pt>
                <c:pt idx="7">
                  <c:v>1.52</c:v>
                </c:pt>
                <c:pt idx="8">
                  <c:v>1.52</c:v>
                </c:pt>
                <c:pt idx="9">
                  <c:v>1.52</c:v>
                </c:pt>
                <c:pt idx="10">
                  <c:v>1.52</c:v>
                </c:pt>
                <c:pt idx="11">
                  <c:v>1.52</c:v>
                </c:pt>
                <c:pt idx="12">
                  <c:v>1.52</c:v>
                </c:pt>
                <c:pt idx="13">
                  <c:v>1.52</c:v>
                </c:pt>
                <c:pt idx="14">
                  <c:v>1.52</c:v>
                </c:pt>
                <c:pt idx="15">
                  <c:v>1.52</c:v>
                </c:pt>
                <c:pt idx="16">
                  <c:v>1.52</c:v>
                </c:pt>
                <c:pt idx="17">
                  <c:v>1.52</c:v>
                </c:pt>
                <c:pt idx="18">
                  <c:v>1.52</c:v>
                </c:pt>
                <c:pt idx="19">
                  <c:v>1.52</c:v>
                </c:pt>
              </c:numCache>
            </c:numRef>
          </c:val>
          <c:smooth val="1"/>
          <c:extLst>
            <c:ext xmlns:c16="http://schemas.microsoft.com/office/drawing/2014/chart" uri="{C3380CC4-5D6E-409C-BE32-E72D297353CC}">
              <c16:uniqueId val="{00000004-AF73-4F2E-8B91-1BBCC56BC9BC}"/>
            </c:ext>
          </c:extLst>
        </c:ser>
        <c:dLbls>
          <c:dLblPos val="ctr"/>
          <c:showLegendKey val="0"/>
          <c:showVal val="1"/>
          <c:showCatName val="0"/>
          <c:showSerName val="0"/>
          <c:showPercent val="0"/>
          <c:showBubbleSize val="0"/>
        </c:dLbls>
        <c:smooth val="0"/>
        <c:axId val="10"/>
        <c:axId val="100"/>
      </c:lineChart>
      <c:catAx>
        <c:axId val="10"/>
        <c:scaling>
          <c:orientation val="minMax"/>
        </c:scaling>
        <c:delete val="0"/>
        <c:axPos val="b"/>
        <c:numFmt formatCode="General" sourceLinked="1"/>
        <c:majorTickMark val="out"/>
        <c:minorTickMark val="none"/>
        <c:tickLblPos val="nextTo"/>
        <c:txPr>
          <a:bodyPr/>
          <a:lstStyle/>
          <a:p>
            <a:pPr>
              <a:defRPr b="1">
                <a:solidFill>
                  <a:srgbClr val="002060"/>
                </a:solidFill>
              </a:defRPr>
            </a:pPr>
            <a:endParaRPr lang="en-US"/>
          </a:p>
        </c:txPr>
        <c:crossAx val="100"/>
        <c:crosses val="autoZero"/>
        <c:auto val="1"/>
        <c:lblAlgn val="ctr"/>
        <c:lblOffset val="100"/>
        <c:noMultiLvlLbl val="1"/>
      </c:catAx>
      <c:valAx>
        <c:axId val="100"/>
        <c:scaling>
          <c:orientation val="minMax"/>
        </c:scaling>
        <c:delete val="0"/>
        <c:axPos val="l"/>
        <c:title>
          <c:tx>
            <c:rich>
              <a:bodyPr/>
              <a:lstStyle/>
              <a:p>
                <a:pPr>
                  <a:defRPr>
                    <a:solidFill>
                      <a:srgbClr val="002060"/>
                    </a:solidFill>
                  </a:defRPr>
                </a:pPr>
                <a:r>
                  <a:rPr lang="en-US" dirty="0">
                    <a:solidFill>
                      <a:srgbClr val="002060"/>
                    </a:solidFill>
                  </a:rPr>
                  <a:t>Days</a:t>
                </a:r>
              </a:p>
            </c:rich>
          </c:tx>
          <c:layout>
            <c:manualLayout>
              <c:xMode val="edge"/>
              <c:yMode val="edge"/>
              <c:x val="3.5563242530936644E-2"/>
              <c:y val="0.3769511444321102"/>
            </c:manualLayout>
          </c:layout>
          <c:overlay val="1"/>
        </c:title>
        <c:numFmt formatCode="General" sourceLinked="1"/>
        <c:majorTickMark val="out"/>
        <c:minorTickMark val="none"/>
        <c:tickLblPos val="nextTo"/>
        <c:txPr>
          <a:bodyPr/>
          <a:lstStyle/>
          <a:p>
            <a:pPr>
              <a:defRPr b="1">
                <a:solidFill>
                  <a:srgbClr val="002060"/>
                </a:solidFill>
              </a:defRPr>
            </a:pPr>
            <a:endParaRPr lang="en-US"/>
          </a:p>
        </c:txPr>
        <c:crossAx val="10"/>
        <c:crosses val="autoZero"/>
        <c:crossBetween val="between"/>
      </c:valAx>
      <c:spPr>
        <a:solidFill>
          <a:schemeClr val="bg1"/>
        </a:solidFill>
      </c:spPr>
    </c:plotArea>
    <c:plotVisOnly val="1"/>
    <c:dispBlanksAs val="gap"/>
    <c:showDLblsOverMax val="1"/>
  </c:chart>
  <c:spPr>
    <a:solidFill>
      <a:schemeClr val="bg1">
        <a:lumMod val="95000"/>
      </a:schemeClr>
    </a:solidFill>
    <a:ln>
      <a:solidFill>
        <a:srgbClr val="002060"/>
      </a:solid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rtl="0">
              <a:defRPr lang="en-US" sz="1400" b="1" i="0" u="none" strike="noStrike" kern="1200" baseline="0">
                <a:solidFill>
                  <a:srgbClr val="002060"/>
                </a:solidFill>
                <a:latin typeface="+mn-lt"/>
                <a:ea typeface="+mn-ea"/>
                <a:cs typeface="+mn-cs"/>
              </a:defRPr>
            </a:pPr>
            <a:r>
              <a:rPr lang="en-US" sz="1400" b="1" i="0" u="none" strike="noStrike" kern="1200" baseline="0" dirty="0">
                <a:solidFill>
                  <a:srgbClr val="002060"/>
                </a:solidFill>
                <a:latin typeface="+mn-lt"/>
                <a:ea typeface="+mn-ea"/>
                <a:cs typeface="+mn-cs"/>
              </a:rPr>
              <a:t>MR Chart – Average Resolve Ticket Time</a:t>
            </a:r>
          </a:p>
        </c:rich>
      </c:tx>
      <c:layout>
        <c:manualLayout>
          <c:xMode val="edge"/>
          <c:yMode val="edge"/>
          <c:x val="0.34167621601339021"/>
          <c:y val="9.570159188671544E-2"/>
        </c:manualLayout>
      </c:layout>
      <c:overlay val="1"/>
    </c:title>
    <c:autoTitleDeleted val="0"/>
    <c:plotArea>
      <c:layout/>
      <c:lineChart>
        <c:grouping val="standard"/>
        <c:varyColors val="1"/>
        <c:ser>
          <c:idx val="0"/>
          <c:order val="0"/>
          <c:tx>
            <c:strRef>
              <c:f>'IMR IT Tickets'!$H$1</c:f>
              <c:strCache>
                <c:ptCount val="1"/>
                <c:pt idx="0">
                  <c:v>Moving Range</c:v>
                </c:pt>
              </c:strCache>
            </c:strRef>
          </c:tx>
          <c:spPr>
            <a:ln>
              <a:prstDash val="solid"/>
            </a:ln>
          </c:spPr>
          <c:marker>
            <c:symbol val="none"/>
          </c:marker>
          <c:cat>
            <c:numRef>
              <c:f>'IMR IT Tickets'!$G$2:$G$20</c:f>
              <c:numCache>
                <c:formatCode>General</c:formatCode>
                <c:ptCount val="19"/>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numCache>
            </c:numRef>
          </c:cat>
          <c:val>
            <c:numRef>
              <c:f>'IMR IT Tickets'!$H$2:$H$20</c:f>
              <c:numCache>
                <c:formatCode>General</c:formatCode>
                <c:ptCount val="19"/>
                <c:pt idx="0">
                  <c:v>1</c:v>
                </c:pt>
                <c:pt idx="1">
                  <c:v>0.69999999999999973</c:v>
                </c:pt>
                <c:pt idx="2">
                  <c:v>0.20000000000000021</c:v>
                </c:pt>
                <c:pt idx="3">
                  <c:v>0.70000000000000018</c:v>
                </c:pt>
                <c:pt idx="4">
                  <c:v>1.9</c:v>
                </c:pt>
                <c:pt idx="5">
                  <c:v>2.1</c:v>
                </c:pt>
                <c:pt idx="6">
                  <c:v>0</c:v>
                </c:pt>
                <c:pt idx="7">
                  <c:v>0.1000000000000001</c:v>
                </c:pt>
                <c:pt idx="8">
                  <c:v>0.5</c:v>
                </c:pt>
                <c:pt idx="9">
                  <c:v>0.1000000000000001</c:v>
                </c:pt>
                <c:pt idx="10">
                  <c:v>0.19999999999999971</c:v>
                </c:pt>
                <c:pt idx="11">
                  <c:v>0.20000000000000021</c:v>
                </c:pt>
                <c:pt idx="12">
                  <c:v>0.1000000000000001</c:v>
                </c:pt>
                <c:pt idx="13">
                  <c:v>0.1000000000000001</c:v>
                </c:pt>
                <c:pt idx="14">
                  <c:v>0.70000000000000018</c:v>
                </c:pt>
                <c:pt idx="15">
                  <c:v>0.1000000000000001</c:v>
                </c:pt>
                <c:pt idx="16">
                  <c:v>0.1000000000000001</c:v>
                </c:pt>
                <c:pt idx="17">
                  <c:v>0.39999999999999991</c:v>
                </c:pt>
                <c:pt idx="18">
                  <c:v>0.20000000000000021</c:v>
                </c:pt>
              </c:numCache>
            </c:numRef>
          </c:val>
          <c:smooth val="1"/>
          <c:extLst>
            <c:ext xmlns:c16="http://schemas.microsoft.com/office/drawing/2014/chart" uri="{C3380CC4-5D6E-409C-BE32-E72D297353CC}">
              <c16:uniqueId val="{00000000-B04B-43A5-BA5B-A58237B26BE4}"/>
            </c:ext>
          </c:extLst>
        </c:ser>
        <c:ser>
          <c:idx val="1"/>
          <c:order val="1"/>
          <c:tx>
            <c:strRef>
              <c:f>'IMR IT Tickets'!$I$1</c:f>
              <c:strCache>
                <c:ptCount val="1"/>
                <c:pt idx="0">
                  <c:v>MR CL</c:v>
                </c:pt>
              </c:strCache>
            </c:strRef>
          </c:tx>
          <c:spPr>
            <a:ln>
              <a:prstDash val="solid"/>
            </a:ln>
          </c:spPr>
          <c:marker>
            <c:symbol val="none"/>
          </c:marker>
          <c:cat>
            <c:numRef>
              <c:f>'IMR IT Tickets'!$G$2:$G$20</c:f>
              <c:numCache>
                <c:formatCode>General</c:formatCode>
                <c:ptCount val="19"/>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numCache>
            </c:numRef>
          </c:cat>
          <c:val>
            <c:numRef>
              <c:f>'IMR IT Tickets'!$I$2:$I$20</c:f>
              <c:numCache>
                <c:formatCode>General</c:formatCode>
                <c:ptCount val="19"/>
                <c:pt idx="0">
                  <c:v>0.52600000000000002</c:v>
                </c:pt>
                <c:pt idx="1">
                  <c:v>0.52600000000000002</c:v>
                </c:pt>
                <c:pt idx="2">
                  <c:v>0.52600000000000002</c:v>
                </c:pt>
                <c:pt idx="3">
                  <c:v>0.52600000000000002</c:v>
                </c:pt>
                <c:pt idx="4">
                  <c:v>0.52600000000000002</c:v>
                </c:pt>
                <c:pt idx="5">
                  <c:v>0.52600000000000002</c:v>
                </c:pt>
                <c:pt idx="6">
                  <c:v>0.52600000000000002</c:v>
                </c:pt>
                <c:pt idx="7">
                  <c:v>0.52600000000000002</c:v>
                </c:pt>
                <c:pt idx="8">
                  <c:v>0.52600000000000002</c:v>
                </c:pt>
                <c:pt idx="9">
                  <c:v>0.52600000000000002</c:v>
                </c:pt>
                <c:pt idx="10">
                  <c:v>0.52600000000000002</c:v>
                </c:pt>
                <c:pt idx="11">
                  <c:v>0.52600000000000002</c:v>
                </c:pt>
                <c:pt idx="12">
                  <c:v>0.52600000000000002</c:v>
                </c:pt>
                <c:pt idx="13">
                  <c:v>0.52600000000000002</c:v>
                </c:pt>
                <c:pt idx="14">
                  <c:v>0.52600000000000002</c:v>
                </c:pt>
                <c:pt idx="15">
                  <c:v>0.52600000000000002</c:v>
                </c:pt>
                <c:pt idx="16">
                  <c:v>0.52600000000000002</c:v>
                </c:pt>
                <c:pt idx="17">
                  <c:v>0.52600000000000002</c:v>
                </c:pt>
                <c:pt idx="18">
                  <c:v>0.52600000000000002</c:v>
                </c:pt>
              </c:numCache>
            </c:numRef>
          </c:val>
          <c:smooth val="1"/>
          <c:extLst>
            <c:ext xmlns:c16="http://schemas.microsoft.com/office/drawing/2014/chart" uri="{C3380CC4-5D6E-409C-BE32-E72D297353CC}">
              <c16:uniqueId val="{00000001-B04B-43A5-BA5B-A58237B26BE4}"/>
            </c:ext>
          </c:extLst>
        </c:ser>
        <c:ser>
          <c:idx val="2"/>
          <c:order val="2"/>
          <c:tx>
            <c:strRef>
              <c:f>'IMR IT Tickets'!$J$1</c:f>
              <c:strCache>
                <c:ptCount val="1"/>
                <c:pt idx="0">
                  <c:v>MR UCL</c:v>
                </c:pt>
              </c:strCache>
            </c:strRef>
          </c:tx>
          <c:spPr>
            <a:ln>
              <a:prstDash val="solid"/>
            </a:ln>
          </c:spPr>
          <c:marker>
            <c:symbol val="none"/>
          </c:marker>
          <c:cat>
            <c:numRef>
              <c:f>'IMR IT Tickets'!$G$2:$G$20</c:f>
              <c:numCache>
                <c:formatCode>General</c:formatCode>
                <c:ptCount val="19"/>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numCache>
            </c:numRef>
          </c:cat>
          <c:val>
            <c:numRef>
              <c:f>'IMR IT Tickets'!$J$2:$J$20</c:f>
              <c:numCache>
                <c:formatCode>General</c:formatCode>
                <c:ptCount val="19"/>
                <c:pt idx="0">
                  <c:v>1.72</c:v>
                </c:pt>
                <c:pt idx="1">
                  <c:v>1.72</c:v>
                </c:pt>
                <c:pt idx="2">
                  <c:v>1.72</c:v>
                </c:pt>
                <c:pt idx="3">
                  <c:v>1.72</c:v>
                </c:pt>
                <c:pt idx="4">
                  <c:v>1.72</c:v>
                </c:pt>
                <c:pt idx="5">
                  <c:v>1.72</c:v>
                </c:pt>
                <c:pt idx="6">
                  <c:v>1.72</c:v>
                </c:pt>
                <c:pt idx="7">
                  <c:v>1.72</c:v>
                </c:pt>
                <c:pt idx="8">
                  <c:v>1.72</c:v>
                </c:pt>
                <c:pt idx="9">
                  <c:v>1.72</c:v>
                </c:pt>
                <c:pt idx="10">
                  <c:v>1.72</c:v>
                </c:pt>
                <c:pt idx="11">
                  <c:v>1.72</c:v>
                </c:pt>
                <c:pt idx="12">
                  <c:v>1.72</c:v>
                </c:pt>
                <c:pt idx="13">
                  <c:v>1.72</c:v>
                </c:pt>
                <c:pt idx="14">
                  <c:v>1.72</c:v>
                </c:pt>
                <c:pt idx="15">
                  <c:v>1.72</c:v>
                </c:pt>
                <c:pt idx="16">
                  <c:v>1.72</c:v>
                </c:pt>
                <c:pt idx="17">
                  <c:v>1.72</c:v>
                </c:pt>
                <c:pt idx="18">
                  <c:v>1.72</c:v>
                </c:pt>
              </c:numCache>
            </c:numRef>
          </c:val>
          <c:smooth val="1"/>
          <c:extLst>
            <c:ext xmlns:c16="http://schemas.microsoft.com/office/drawing/2014/chart" uri="{C3380CC4-5D6E-409C-BE32-E72D297353CC}">
              <c16:uniqueId val="{00000002-B04B-43A5-BA5B-A58237B26BE4}"/>
            </c:ext>
          </c:extLst>
        </c:ser>
        <c:ser>
          <c:idx val="3"/>
          <c:order val="3"/>
          <c:tx>
            <c:strRef>
              <c:f>'IMR IT Tickets'!$K$1</c:f>
              <c:strCache>
                <c:ptCount val="1"/>
                <c:pt idx="0">
                  <c:v>MR LCL</c:v>
                </c:pt>
              </c:strCache>
            </c:strRef>
          </c:tx>
          <c:spPr>
            <a:ln>
              <a:prstDash val="solid"/>
            </a:ln>
          </c:spPr>
          <c:marker>
            <c:symbol val="none"/>
          </c:marker>
          <c:cat>
            <c:numRef>
              <c:f>'IMR IT Tickets'!$G$2:$G$20</c:f>
              <c:numCache>
                <c:formatCode>General</c:formatCode>
                <c:ptCount val="19"/>
                <c:pt idx="0">
                  <c:v>2</c:v>
                </c:pt>
                <c:pt idx="1">
                  <c:v>3</c:v>
                </c:pt>
                <c:pt idx="2">
                  <c:v>4</c:v>
                </c:pt>
                <c:pt idx="3">
                  <c:v>5</c:v>
                </c:pt>
                <c:pt idx="4">
                  <c:v>6</c:v>
                </c:pt>
                <c:pt idx="5">
                  <c:v>7</c:v>
                </c:pt>
                <c:pt idx="6">
                  <c:v>8</c:v>
                </c:pt>
                <c:pt idx="7">
                  <c:v>9</c:v>
                </c:pt>
                <c:pt idx="8">
                  <c:v>10</c:v>
                </c:pt>
                <c:pt idx="9">
                  <c:v>11</c:v>
                </c:pt>
                <c:pt idx="10">
                  <c:v>12</c:v>
                </c:pt>
                <c:pt idx="11">
                  <c:v>13</c:v>
                </c:pt>
                <c:pt idx="12">
                  <c:v>14</c:v>
                </c:pt>
                <c:pt idx="13">
                  <c:v>15</c:v>
                </c:pt>
                <c:pt idx="14">
                  <c:v>16</c:v>
                </c:pt>
                <c:pt idx="15">
                  <c:v>17</c:v>
                </c:pt>
                <c:pt idx="16">
                  <c:v>18</c:v>
                </c:pt>
                <c:pt idx="17">
                  <c:v>19</c:v>
                </c:pt>
                <c:pt idx="18">
                  <c:v>20</c:v>
                </c:pt>
              </c:numCache>
            </c:numRef>
          </c:cat>
          <c:val>
            <c:numRef>
              <c:f>'IMR IT Tickets'!$K$2:$K$20</c:f>
              <c:numCache>
                <c:formatCode>General</c:formatCode>
                <c:ptCount val="1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numCache>
            </c:numRef>
          </c:val>
          <c:smooth val="1"/>
          <c:extLst>
            <c:ext xmlns:c16="http://schemas.microsoft.com/office/drawing/2014/chart" uri="{C3380CC4-5D6E-409C-BE32-E72D297353CC}">
              <c16:uniqueId val="{00000003-B04B-43A5-BA5B-A58237B26BE4}"/>
            </c:ext>
          </c:extLst>
        </c:ser>
        <c:dLbls>
          <c:showLegendKey val="0"/>
          <c:showVal val="0"/>
          <c:showCatName val="0"/>
          <c:showSerName val="0"/>
          <c:showPercent val="0"/>
          <c:showBubbleSize val="0"/>
        </c:dLbls>
        <c:smooth val="0"/>
        <c:axId val="10"/>
        <c:axId val="100"/>
      </c:lineChart>
      <c:catAx>
        <c:axId val="10"/>
        <c:scaling>
          <c:orientation val="minMax"/>
        </c:scaling>
        <c:delete val="0"/>
        <c:axPos val="b"/>
        <c:numFmt formatCode="General" sourceLinked="1"/>
        <c:majorTickMark val="out"/>
        <c:minorTickMark val="none"/>
        <c:tickLblPos val="nextTo"/>
        <c:txPr>
          <a:bodyPr/>
          <a:lstStyle/>
          <a:p>
            <a:pPr>
              <a:defRPr b="1">
                <a:solidFill>
                  <a:srgbClr val="002060"/>
                </a:solidFill>
              </a:defRPr>
            </a:pPr>
            <a:endParaRPr lang="en-US"/>
          </a:p>
        </c:txPr>
        <c:crossAx val="100"/>
        <c:crosses val="autoZero"/>
        <c:auto val="1"/>
        <c:lblAlgn val="ctr"/>
        <c:lblOffset val="100"/>
        <c:noMultiLvlLbl val="1"/>
      </c:catAx>
      <c:valAx>
        <c:axId val="100"/>
        <c:scaling>
          <c:orientation val="minMax"/>
        </c:scaling>
        <c:delete val="0"/>
        <c:axPos val="l"/>
        <c:title>
          <c:tx>
            <c:rich>
              <a:bodyPr/>
              <a:lstStyle/>
              <a:p>
                <a:pPr>
                  <a:defRPr>
                    <a:solidFill>
                      <a:srgbClr val="002060"/>
                    </a:solidFill>
                  </a:defRPr>
                </a:pPr>
                <a:r>
                  <a:rPr lang="en-US" dirty="0">
                    <a:solidFill>
                      <a:srgbClr val="002060"/>
                    </a:solidFill>
                  </a:rPr>
                  <a:t>Range</a:t>
                </a:r>
              </a:p>
            </c:rich>
          </c:tx>
          <c:overlay val="1"/>
        </c:title>
        <c:numFmt formatCode="General" sourceLinked="1"/>
        <c:majorTickMark val="out"/>
        <c:minorTickMark val="none"/>
        <c:tickLblPos val="nextTo"/>
        <c:txPr>
          <a:bodyPr/>
          <a:lstStyle/>
          <a:p>
            <a:pPr>
              <a:defRPr>
                <a:solidFill>
                  <a:srgbClr val="002060"/>
                </a:solidFill>
              </a:defRPr>
            </a:pPr>
            <a:endParaRPr lang="en-US"/>
          </a:p>
        </c:txPr>
        <c:crossAx val="10"/>
        <c:crosses val="autoZero"/>
        <c:crossBetween val="between"/>
      </c:valAx>
      <c:spPr>
        <a:solidFill>
          <a:schemeClr val="bg1"/>
        </a:solidFill>
      </c:spPr>
    </c:plotArea>
    <c:plotVisOnly val="1"/>
    <c:dispBlanksAs val="gap"/>
    <c:showDLblsOverMax val="1"/>
  </c:chart>
  <c:spPr>
    <a:solidFill>
      <a:schemeClr val="bg1">
        <a:lumMod val="95000"/>
      </a:schemeClr>
    </a:solidFill>
    <a:ln>
      <a:solidFill>
        <a:srgbClr val="002060"/>
      </a:solidFill>
    </a:ln>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D369AA-59C0-49E1-B55E-B70432456B9A}" type="doc">
      <dgm:prSet loTypeId="urn:microsoft.com/office/officeart/2005/8/layout/cycle8" loCatId="cycle" qsTypeId="urn:microsoft.com/office/officeart/2005/8/quickstyle/simple1" qsCatId="simple" csTypeId="urn:microsoft.com/office/officeart/2005/8/colors/accent1_2" csCatId="accent1" phldr="1"/>
      <dgm:spPr/>
      <dgm:t>
        <a:bodyPr/>
        <a:lstStyle/>
        <a:p>
          <a:endParaRPr lang="en-GB"/>
        </a:p>
      </dgm:t>
    </dgm:pt>
    <dgm:pt modelId="{D6618069-B0EC-4200-9E36-A2D5FA553F52}">
      <dgm:prSet phldrT="[Text]"/>
      <dgm:spPr>
        <a:xfrm>
          <a:off x="1062917" y="134435"/>
          <a:ext cx="1824320" cy="1824320"/>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dirty="0">
              <a:solidFill>
                <a:srgbClr val="FFFFFF"/>
              </a:solidFill>
              <a:latin typeface="Arial" panose="020B0604020202020204" pitchFamily="34" charset="0"/>
              <a:ea typeface="+mn-ea"/>
              <a:cs typeface="Arial" panose="020B0604020202020204" pitchFamily="34" charset="0"/>
            </a:rPr>
            <a:t>Define</a:t>
          </a:r>
        </a:p>
      </dgm:t>
    </dgm:pt>
    <dgm:pt modelId="{893EE6D8-CE80-42FD-B96D-4B0C4CCFFA5F}" type="parTrans" cxnId="{804081B6-634C-48F7-BE19-0675DFCD041F}">
      <dgm:prSet/>
      <dgm:spPr/>
      <dgm:t>
        <a:bodyPr/>
        <a:lstStyle/>
        <a:p>
          <a:endParaRPr lang="en-GB">
            <a:latin typeface="Arial" panose="020B0604020202020204" pitchFamily="34" charset="0"/>
            <a:cs typeface="Arial" panose="020B0604020202020204" pitchFamily="34" charset="0"/>
          </a:endParaRPr>
        </a:p>
      </dgm:t>
    </dgm:pt>
    <dgm:pt modelId="{E2E703FF-F63F-4A79-96BF-A0500BFFB256}" type="sibTrans" cxnId="{804081B6-634C-48F7-BE19-0675DFCD041F}">
      <dgm:prSet/>
      <dgm:spPr/>
      <dgm:t>
        <a:bodyPr/>
        <a:lstStyle/>
        <a:p>
          <a:endParaRPr lang="en-GB">
            <a:latin typeface="Arial" panose="020B0604020202020204" pitchFamily="34" charset="0"/>
            <a:cs typeface="Arial" panose="020B0604020202020204" pitchFamily="34" charset="0"/>
          </a:endParaRPr>
        </a:p>
      </dgm:t>
    </dgm:pt>
    <dgm:pt modelId="{43434F5F-A1D0-4D7B-93B7-E3D3DB8C0F0B}">
      <dgm:prSet phldrT="[Text]"/>
      <dgm:spPr>
        <a:xfrm>
          <a:off x="1078554" y="183083"/>
          <a:ext cx="1824320" cy="1824320"/>
        </a:xfrm>
        <a:prstGeom prst="pie">
          <a:avLst>
            <a:gd name="adj1" fmla="val 20520000"/>
            <a:gd name="adj2" fmla="val 3240000"/>
          </a:avLst>
        </a:prstGeom>
        <a:solidFill>
          <a:srgbClr val="27AAE1"/>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dirty="0">
              <a:solidFill>
                <a:srgbClr val="FFFFFF"/>
              </a:solidFill>
              <a:latin typeface="Arial" panose="020B0604020202020204" pitchFamily="34" charset="0"/>
              <a:ea typeface="+mn-ea"/>
              <a:cs typeface="Arial" panose="020B0604020202020204" pitchFamily="34" charset="0"/>
            </a:rPr>
            <a:t>Measure</a:t>
          </a:r>
        </a:p>
      </dgm:t>
    </dgm:pt>
    <dgm:pt modelId="{CC653188-7757-47F5-980D-2F580D5D046C}" type="parTrans" cxnId="{65D8C6C9-1A10-491C-9E4D-E64E01660637}">
      <dgm:prSet/>
      <dgm:spPr/>
      <dgm:t>
        <a:bodyPr/>
        <a:lstStyle/>
        <a:p>
          <a:endParaRPr lang="en-GB">
            <a:latin typeface="Arial" panose="020B0604020202020204" pitchFamily="34" charset="0"/>
            <a:cs typeface="Arial" panose="020B0604020202020204" pitchFamily="34" charset="0"/>
          </a:endParaRPr>
        </a:p>
      </dgm:t>
    </dgm:pt>
    <dgm:pt modelId="{BAD65EFA-967E-4883-AE14-C7953EF71C1F}" type="sibTrans" cxnId="{65D8C6C9-1A10-491C-9E4D-E64E01660637}">
      <dgm:prSet/>
      <dgm:spPr/>
      <dgm:t>
        <a:bodyPr/>
        <a:lstStyle/>
        <a:p>
          <a:endParaRPr lang="en-GB">
            <a:latin typeface="Arial" panose="020B0604020202020204" pitchFamily="34" charset="0"/>
            <a:cs typeface="Arial" panose="020B0604020202020204" pitchFamily="34" charset="0"/>
          </a:endParaRPr>
        </a:p>
      </dgm:t>
    </dgm:pt>
    <dgm:pt modelId="{27BF821D-2F3E-49CD-9B37-04D0FA768287}">
      <dgm:prSet phldrT="[Text]"/>
      <dgm:spPr>
        <a:xfrm>
          <a:off x="1037289" y="213054"/>
          <a:ext cx="1824320" cy="1824320"/>
        </a:xfrm>
        <a:prstGeom prst="pie">
          <a:avLst>
            <a:gd name="adj1" fmla="val 3240000"/>
            <a:gd name="adj2" fmla="val 7560000"/>
          </a:avLst>
        </a:prstGeom>
        <a:solidFill>
          <a:srgbClr val="EC008C"/>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dirty="0">
              <a:solidFill>
                <a:srgbClr val="FFFFFF"/>
              </a:solidFill>
              <a:latin typeface="Arial" panose="020B0604020202020204" pitchFamily="34" charset="0"/>
              <a:ea typeface="+mn-ea"/>
              <a:cs typeface="Arial" panose="020B0604020202020204" pitchFamily="34" charset="0"/>
            </a:rPr>
            <a:t>Analyze</a:t>
          </a:r>
        </a:p>
        <a:p>
          <a:pPr>
            <a:buNone/>
          </a:pPr>
          <a:endParaRPr lang="en-US" noProof="0" dirty="0">
            <a:solidFill>
              <a:srgbClr val="FFFFFF"/>
            </a:solidFill>
            <a:latin typeface="Arial" panose="020B0604020202020204" pitchFamily="34" charset="0"/>
            <a:ea typeface="+mn-ea"/>
            <a:cs typeface="Arial" panose="020B0604020202020204" pitchFamily="34" charset="0"/>
          </a:endParaRPr>
        </a:p>
      </dgm:t>
    </dgm:pt>
    <dgm:pt modelId="{D1698C79-E725-47CC-941A-190C96E6E135}" type="parTrans" cxnId="{F2C731B1-6208-471C-8AA5-21AEAFEA8436}">
      <dgm:prSet/>
      <dgm:spPr/>
      <dgm:t>
        <a:bodyPr/>
        <a:lstStyle/>
        <a:p>
          <a:endParaRPr lang="en-GB">
            <a:latin typeface="Arial" panose="020B0604020202020204" pitchFamily="34" charset="0"/>
            <a:cs typeface="Arial" panose="020B0604020202020204" pitchFamily="34" charset="0"/>
          </a:endParaRPr>
        </a:p>
      </dgm:t>
    </dgm:pt>
    <dgm:pt modelId="{66444982-89CC-4ADF-9DDF-851D4855A8D8}" type="sibTrans" cxnId="{F2C731B1-6208-471C-8AA5-21AEAFEA8436}">
      <dgm:prSet/>
      <dgm:spPr/>
      <dgm:t>
        <a:bodyPr/>
        <a:lstStyle/>
        <a:p>
          <a:endParaRPr lang="en-GB">
            <a:latin typeface="Arial" panose="020B0604020202020204" pitchFamily="34" charset="0"/>
            <a:cs typeface="Arial" panose="020B0604020202020204" pitchFamily="34" charset="0"/>
          </a:endParaRPr>
        </a:p>
      </dgm:t>
    </dgm:pt>
    <dgm:pt modelId="{17623FF4-83D1-409E-B2C9-D3BD0C35F949}">
      <dgm:prSet/>
      <dgm:spPr>
        <a:xfrm>
          <a:off x="1062917" y="134435"/>
          <a:ext cx="1824320" cy="1824320"/>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gm:spPr>
      <dgm:t>
        <a:bodyPr/>
        <a:lstStyle/>
        <a:p>
          <a:pPr>
            <a:buChar char="•"/>
          </a:pPr>
          <a:endParaRPr lang="en-US" noProof="0" dirty="0">
            <a:solidFill>
              <a:srgbClr val="FFFFFF"/>
            </a:solidFill>
            <a:latin typeface="Arial" panose="020B0604020202020204" pitchFamily="34" charset="0"/>
            <a:ea typeface="+mn-ea"/>
            <a:cs typeface="Arial" panose="020B0604020202020204" pitchFamily="34" charset="0"/>
          </a:endParaRPr>
        </a:p>
      </dgm:t>
    </dgm:pt>
    <dgm:pt modelId="{C5298539-7CF6-43EF-ACF5-4ED8AC1B4A67}" type="parTrans" cxnId="{E02ACA6B-C3D3-4D90-B61C-6E8277B25FF2}">
      <dgm:prSet/>
      <dgm:spPr/>
      <dgm:t>
        <a:bodyPr/>
        <a:lstStyle/>
        <a:p>
          <a:endParaRPr lang="en-GB">
            <a:latin typeface="Arial" panose="020B0604020202020204" pitchFamily="34" charset="0"/>
            <a:cs typeface="Arial" panose="020B0604020202020204" pitchFamily="34" charset="0"/>
          </a:endParaRPr>
        </a:p>
      </dgm:t>
    </dgm:pt>
    <dgm:pt modelId="{A170FA3D-9235-415D-8D21-809B23642B3F}" type="sibTrans" cxnId="{E02ACA6B-C3D3-4D90-B61C-6E8277B25FF2}">
      <dgm:prSet/>
      <dgm:spPr/>
      <dgm:t>
        <a:bodyPr/>
        <a:lstStyle/>
        <a:p>
          <a:endParaRPr lang="en-GB">
            <a:latin typeface="Arial" panose="020B0604020202020204" pitchFamily="34" charset="0"/>
            <a:cs typeface="Arial" panose="020B0604020202020204" pitchFamily="34" charset="0"/>
          </a:endParaRPr>
        </a:p>
      </dgm:t>
    </dgm:pt>
    <dgm:pt modelId="{61F0A2E3-1D9E-4CEC-86A0-B0FE6E70E7B1}">
      <dgm:prSet/>
      <dgm:spPr>
        <a:xfrm>
          <a:off x="996025" y="183083"/>
          <a:ext cx="1824320" cy="1824320"/>
        </a:xfrm>
        <a:prstGeom prst="pie">
          <a:avLst>
            <a:gd name="adj1" fmla="val 7560000"/>
            <a:gd name="adj2" fmla="val 11880000"/>
          </a:avLst>
        </a:prstGeom>
        <a:solidFill>
          <a:srgbClr val="FBBA00"/>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dirty="0">
              <a:solidFill>
                <a:srgbClr val="FFFFFF"/>
              </a:solidFill>
              <a:latin typeface="Arial" panose="020B0604020202020204" pitchFamily="34" charset="0"/>
              <a:ea typeface="+mn-ea"/>
              <a:cs typeface="Arial" panose="020B0604020202020204" pitchFamily="34" charset="0"/>
            </a:rPr>
            <a:t>Improve</a:t>
          </a:r>
        </a:p>
      </dgm:t>
    </dgm:pt>
    <dgm:pt modelId="{13F9578B-8F2E-4E59-AA8C-9F45715DF7BE}" type="parTrans" cxnId="{49807935-D82D-4A28-9444-CF41A811697A}">
      <dgm:prSet/>
      <dgm:spPr/>
      <dgm:t>
        <a:bodyPr/>
        <a:lstStyle/>
        <a:p>
          <a:endParaRPr lang="en-GB">
            <a:latin typeface="Arial" panose="020B0604020202020204" pitchFamily="34" charset="0"/>
            <a:cs typeface="Arial" panose="020B0604020202020204" pitchFamily="34" charset="0"/>
          </a:endParaRPr>
        </a:p>
      </dgm:t>
    </dgm:pt>
    <dgm:pt modelId="{5B0F3261-B8F3-4EF6-8025-08F245E8EF09}" type="sibTrans" cxnId="{49807935-D82D-4A28-9444-CF41A811697A}">
      <dgm:prSet/>
      <dgm:spPr/>
      <dgm:t>
        <a:bodyPr/>
        <a:lstStyle/>
        <a:p>
          <a:endParaRPr lang="en-GB">
            <a:latin typeface="Arial" panose="020B0604020202020204" pitchFamily="34" charset="0"/>
            <a:cs typeface="Arial" panose="020B0604020202020204" pitchFamily="34" charset="0"/>
          </a:endParaRPr>
        </a:p>
      </dgm:t>
    </dgm:pt>
    <dgm:pt modelId="{3607FCD8-6657-4836-95A4-7A279A1F256B}">
      <dgm:prSet/>
      <dgm:spPr>
        <a:xfrm>
          <a:off x="1011662" y="134435"/>
          <a:ext cx="1824320" cy="1824320"/>
        </a:xfrm>
        <a:prstGeom prst="pie">
          <a:avLst>
            <a:gd name="adj1" fmla="val 11880000"/>
            <a:gd name="adj2" fmla="val 16200000"/>
          </a:avLst>
        </a:prstGeom>
        <a:solidFill>
          <a:srgbClr val="7030A0"/>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dirty="0">
              <a:solidFill>
                <a:srgbClr val="FFFFFF"/>
              </a:solidFill>
              <a:latin typeface="Arial" panose="020B0604020202020204" pitchFamily="34" charset="0"/>
              <a:ea typeface="+mn-ea"/>
              <a:cs typeface="Arial" panose="020B0604020202020204" pitchFamily="34" charset="0"/>
            </a:rPr>
            <a:t>Control</a:t>
          </a:r>
        </a:p>
        <a:p>
          <a:pPr>
            <a:buNone/>
          </a:pPr>
          <a:endParaRPr lang="en-US" noProof="0" dirty="0">
            <a:solidFill>
              <a:srgbClr val="FFFFFF"/>
            </a:solidFill>
            <a:latin typeface="Arial" panose="020B0604020202020204" pitchFamily="34" charset="0"/>
            <a:ea typeface="+mn-ea"/>
            <a:cs typeface="Arial" panose="020B0604020202020204" pitchFamily="34" charset="0"/>
          </a:endParaRPr>
        </a:p>
      </dgm:t>
    </dgm:pt>
    <dgm:pt modelId="{E598C32C-35DB-47E0-A1F6-E475AD071A4B}" type="parTrans" cxnId="{956A859B-4D0E-406D-A476-6E0872DFC719}">
      <dgm:prSet/>
      <dgm:spPr/>
      <dgm:t>
        <a:bodyPr/>
        <a:lstStyle/>
        <a:p>
          <a:endParaRPr lang="en-GB">
            <a:latin typeface="Arial" panose="020B0604020202020204" pitchFamily="34" charset="0"/>
            <a:cs typeface="Arial" panose="020B0604020202020204" pitchFamily="34" charset="0"/>
          </a:endParaRPr>
        </a:p>
      </dgm:t>
    </dgm:pt>
    <dgm:pt modelId="{69B2B37B-26AE-4264-84DC-19FA2B13C444}" type="sibTrans" cxnId="{956A859B-4D0E-406D-A476-6E0872DFC719}">
      <dgm:prSet/>
      <dgm:spPr/>
      <dgm:t>
        <a:bodyPr/>
        <a:lstStyle/>
        <a:p>
          <a:endParaRPr lang="en-GB">
            <a:latin typeface="Arial" panose="020B0604020202020204" pitchFamily="34" charset="0"/>
            <a:cs typeface="Arial" panose="020B0604020202020204" pitchFamily="34" charset="0"/>
          </a:endParaRPr>
        </a:p>
      </dgm:t>
    </dgm:pt>
    <dgm:pt modelId="{50B73C20-8720-412A-ABE2-B41B774F189B}" type="pres">
      <dgm:prSet presAssocID="{52D369AA-59C0-49E1-B55E-B70432456B9A}" presName="compositeShape" presStyleCnt="0">
        <dgm:presLayoutVars>
          <dgm:chMax val="7"/>
          <dgm:dir/>
          <dgm:resizeHandles val="exact"/>
        </dgm:presLayoutVars>
      </dgm:prSet>
      <dgm:spPr/>
    </dgm:pt>
    <dgm:pt modelId="{8C235FE3-3F71-44C2-A46B-539B833DE24C}" type="pres">
      <dgm:prSet presAssocID="{52D369AA-59C0-49E1-B55E-B70432456B9A}" presName="wedge1" presStyleLbl="node1" presStyleIdx="0" presStyleCnt="5"/>
      <dgm:spPr/>
    </dgm:pt>
    <dgm:pt modelId="{90038AF1-24CC-43B0-9B1B-D923A7B56C3C}" type="pres">
      <dgm:prSet presAssocID="{52D369AA-59C0-49E1-B55E-B70432456B9A}" presName="dummy1a" presStyleCnt="0"/>
      <dgm:spPr/>
    </dgm:pt>
    <dgm:pt modelId="{71E81969-F2BB-4CC9-867D-9E0708DF02FF}" type="pres">
      <dgm:prSet presAssocID="{52D369AA-59C0-49E1-B55E-B70432456B9A}" presName="dummy1b" presStyleCnt="0"/>
      <dgm:spPr/>
    </dgm:pt>
    <dgm:pt modelId="{DCE22BBA-999E-458F-ADE2-6AD635E0B027}" type="pres">
      <dgm:prSet presAssocID="{52D369AA-59C0-49E1-B55E-B70432456B9A}" presName="wedge1Tx" presStyleLbl="node1" presStyleIdx="0" presStyleCnt="5">
        <dgm:presLayoutVars>
          <dgm:chMax val="0"/>
          <dgm:chPref val="0"/>
          <dgm:bulletEnabled val="1"/>
        </dgm:presLayoutVars>
      </dgm:prSet>
      <dgm:spPr/>
    </dgm:pt>
    <dgm:pt modelId="{EDCE5F9B-1D88-4D8D-9083-55DD36D07A64}" type="pres">
      <dgm:prSet presAssocID="{52D369AA-59C0-49E1-B55E-B70432456B9A}" presName="wedge2" presStyleLbl="node1" presStyleIdx="1" presStyleCnt="5"/>
      <dgm:spPr/>
    </dgm:pt>
    <dgm:pt modelId="{CF151D6C-DD1F-432A-9488-CEF8ED585BC2}" type="pres">
      <dgm:prSet presAssocID="{52D369AA-59C0-49E1-B55E-B70432456B9A}" presName="dummy2a" presStyleCnt="0"/>
      <dgm:spPr/>
    </dgm:pt>
    <dgm:pt modelId="{94572E03-695E-4870-97D9-5D3958380E35}" type="pres">
      <dgm:prSet presAssocID="{52D369AA-59C0-49E1-B55E-B70432456B9A}" presName="dummy2b" presStyleCnt="0"/>
      <dgm:spPr/>
    </dgm:pt>
    <dgm:pt modelId="{9A004783-E531-48C1-8181-A872C2478DAA}" type="pres">
      <dgm:prSet presAssocID="{52D369AA-59C0-49E1-B55E-B70432456B9A}" presName="wedge2Tx" presStyleLbl="node1" presStyleIdx="1" presStyleCnt="5">
        <dgm:presLayoutVars>
          <dgm:chMax val="0"/>
          <dgm:chPref val="0"/>
          <dgm:bulletEnabled val="1"/>
        </dgm:presLayoutVars>
      </dgm:prSet>
      <dgm:spPr/>
    </dgm:pt>
    <dgm:pt modelId="{A5E52B60-80D4-45E8-AB32-72C8832C4F04}" type="pres">
      <dgm:prSet presAssocID="{52D369AA-59C0-49E1-B55E-B70432456B9A}" presName="wedge3" presStyleLbl="node1" presStyleIdx="2" presStyleCnt="5"/>
      <dgm:spPr/>
    </dgm:pt>
    <dgm:pt modelId="{5206D377-FF06-4A93-85A7-58B4AD85BDAC}" type="pres">
      <dgm:prSet presAssocID="{52D369AA-59C0-49E1-B55E-B70432456B9A}" presName="dummy3a" presStyleCnt="0"/>
      <dgm:spPr/>
    </dgm:pt>
    <dgm:pt modelId="{F113BEB2-4F0E-4611-BCBE-814660A4A7D5}" type="pres">
      <dgm:prSet presAssocID="{52D369AA-59C0-49E1-B55E-B70432456B9A}" presName="dummy3b" presStyleCnt="0"/>
      <dgm:spPr/>
    </dgm:pt>
    <dgm:pt modelId="{54C2283A-AC5E-45E9-B06B-8E6497C8CC06}" type="pres">
      <dgm:prSet presAssocID="{52D369AA-59C0-49E1-B55E-B70432456B9A}" presName="wedge3Tx" presStyleLbl="node1" presStyleIdx="2" presStyleCnt="5">
        <dgm:presLayoutVars>
          <dgm:chMax val="0"/>
          <dgm:chPref val="0"/>
          <dgm:bulletEnabled val="1"/>
        </dgm:presLayoutVars>
      </dgm:prSet>
      <dgm:spPr/>
    </dgm:pt>
    <dgm:pt modelId="{45CD1A6F-7DD7-4DE4-B175-D658CA85DBBD}" type="pres">
      <dgm:prSet presAssocID="{52D369AA-59C0-49E1-B55E-B70432456B9A}" presName="wedge4" presStyleLbl="node1" presStyleIdx="3" presStyleCnt="5"/>
      <dgm:spPr/>
    </dgm:pt>
    <dgm:pt modelId="{BADB538E-E5E0-42D9-8D41-A1BA0A54E760}" type="pres">
      <dgm:prSet presAssocID="{52D369AA-59C0-49E1-B55E-B70432456B9A}" presName="dummy4a" presStyleCnt="0"/>
      <dgm:spPr/>
    </dgm:pt>
    <dgm:pt modelId="{91C2630D-E657-4FDB-80ED-2B152AB0CF09}" type="pres">
      <dgm:prSet presAssocID="{52D369AA-59C0-49E1-B55E-B70432456B9A}" presName="dummy4b" presStyleCnt="0"/>
      <dgm:spPr/>
    </dgm:pt>
    <dgm:pt modelId="{49429826-AA5F-47CA-B11A-ABD6DE54C821}" type="pres">
      <dgm:prSet presAssocID="{52D369AA-59C0-49E1-B55E-B70432456B9A}" presName="wedge4Tx" presStyleLbl="node1" presStyleIdx="3" presStyleCnt="5">
        <dgm:presLayoutVars>
          <dgm:chMax val="0"/>
          <dgm:chPref val="0"/>
          <dgm:bulletEnabled val="1"/>
        </dgm:presLayoutVars>
      </dgm:prSet>
      <dgm:spPr/>
    </dgm:pt>
    <dgm:pt modelId="{3B487735-59B4-41E9-BDAB-5D244BF18F68}" type="pres">
      <dgm:prSet presAssocID="{52D369AA-59C0-49E1-B55E-B70432456B9A}" presName="wedge5" presStyleLbl="node1" presStyleIdx="4" presStyleCnt="5"/>
      <dgm:spPr/>
    </dgm:pt>
    <dgm:pt modelId="{939A2975-E45D-4D75-835C-838DA7CA4783}" type="pres">
      <dgm:prSet presAssocID="{52D369AA-59C0-49E1-B55E-B70432456B9A}" presName="dummy5a" presStyleCnt="0"/>
      <dgm:spPr/>
    </dgm:pt>
    <dgm:pt modelId="{76229039-77BD-4536-8D9F-CEC0D2D14777}" type="pres">
      <dgm:prSet presAssocID="{52D369AA-59C0-49E1-B55E-B70432456B9A}" presName="dummy5b" presStyleCnt="0"/>
      <dgm:spPr/>
    </dgm:pt>
    <dgm:pt modelId="{85604DE5-89B7-4180-B562-F4BF7B9539D2}" type="pres">
      <dgm:prSet presAssocID="{52D369AA-59C0-49E1-B55E-B70432456B9A}" presName="wedge5Tx" presStyleLbl="node1" presStyleIdx="4" presStyleCnt="5">
        <dgm:presLayoutVars>
          <dgm:chMax val="0"/>
          <dgm:chPref val="0"/>
          <dgm:bulletEnabled val="1"/>
        </dgm:presLayoutVars>
      </dgm:prSet>
      <dgm:spPr/>
    </dgm:pt>
    <dgm:pt modelId="{1B3C0182-CF0B-417D-8862-5551CF080ABD}" type="pres">
      <dgm:prSet presAssocID="{E2E703FF-F63F-4A79-96BF-A0500BFFB256}" presName="arrowWedge1" presStyleLbl="fgSibTrans2D1" presStyleIdx="0" presStyleCnt="5"/>
      <dgm:spPr>
        <a:xfrm>
          <a:off x="949897" y="21500"/>
          <a:ext cx="2050188" cy="2050188"/>
        </a:xfrm>
        <a:prstGeom prst="circularArrow">
          <a:avLst>
            <a:gd name="adj1" fmla="val 5085"/>
            <a:gd name="adj2" fmla="val 327528"/>
            <a:gd name="adj3" fmla="val 20192361"/>
            <a:gd name="adj4" fmla="val 16200324"/>
            <a:gd name="adj5" fmla="val 5932"/>
          </a:avLst>
        </a:prstGeom>
        <a:solidFill>
          <a:srgbClr val="6B635B"/>
        </a:solidFill>
        <a:ln>
          <a:noFill/>
        </a:ln>
        <a:effectLst/>
      </dgm:spPr>
    </dgm:pt>
    <dgm:pt modelId="{943B39FA-B7B3-4946-B395-D611843A2FD5}" type="pres">
      <dgm:prSet presAssocID="{BAD65EFA-967E-4883-AE14-C7953EF71C1F}" presName="arrowWedge2" presStyleLbl="fgSibTrans2D1" presStyleIdx="1" presStyleCnt="5"/>
      <dgm:spPr>
        <a:xfrm>
          <a:off x="965746" y="70133"/>
          <a:ext cx="2050188" cy="2050188"/>
        </a:xfrm>
        <a:prstGeom prst="circularArrow">
          <a:avLst>
            <a:gd name="adj1" fmla="val 5085"/>
            <a:gd name="adj2" fmla="val 327528"/>
            <a:gd name="adj3" fmla="val 2912753"/>
            <a:gd name="adj4" fmla="val 20519953"/>
            <a:gd name="adj5" fmla="val 5932"/>
          </a:avLst>
        </a:prstGeom>
        <a:solidFill>
          <a:srgbClr val="6B635B"/>
        </a:solidFill>
        <a:ln>
          <a:noFill/>
        </a:ln>
        <a:effectLst/>
      </dgm:spPr>
    </dgm:pt>
    <dgm:pt modelId="{F382579C-1F35-4CBE-B203-942B20126A0F}" type="pres">
      <dgm:prSet presAssocID="{66444982-89CC-4ADF-9DDF-851D4855A8D8}" presName="arrowWedge3" presStyleLbl="fgSibTrans2D1" presStyleIdx="2" presStyleCnt="5"/>
      <dgm:spPr>
        <a:xfrm>
          <a:off x="924355" y="100196"/>
          <a:ext cx="2050188" cy="2050188"/>
        </a:xfrm>
        <a:prstGeom prst="circularArrow">
          <a:avLst>
            <a:gd name="adj1" fmla="val 5085"/>
            <a:gd name="adj2" fmla="val 327528"/>
            <a:gd name="adj3" fmla="val 7232777"/>
            <a:gd name="adj4" fmla="val 3239695"/>
            <a:gd name="adj5" fmla="val 5932"/>
          </a:avLst>
        </a:prstGeom>
        <a:solidFill>
          <a:srgbClr val="6B635B"/>
        </a:solidFill>
        <a:ln>
          <a:noFill/>
        </a:ln>
        <a:effectLst/>
      </dgm:spPr>
    </dgm:pt>
    <dgm:pt modelId="{CDF1F5E0-2273-4303-AC97-73925993329B}" type="pres">
      <dgm:prSet presAssocID="{5B0F3261-B8F3-4EF6-8025-08F245E8EF09}" presName="arrowWedge4" presStyleLbl="fgSibTrans2D1" presStyleIdx="3" presStyleCnt="5"/>
      <dgm:spPr>
        <a:xfrm>
          <a:off x="882965" y="70133"/>
          <a:ext cx="2050188" cy="2050188"/>
        </a:xfrm>
        <a:prstGeom prst="circularArrow">
          <a:avLst>
            <a:gd name="adj1" fmla="val 5085"/>
            <a:gd name="adj2" fmla="val 327528"/>
            <a:gd name="adj3" fmla="val 11552519"/>
            <a:gd name="adj4" fmla="val 7559718"/>
            <a:gd name="adj5" fmla="val 5932"/>
          </a:avLst>
        </a:prstGeom>
        <a:solidFill>
          <a:srgbClr val="6B635B"/>
        </a:solidFill>
        <a:ln>
          <a:noFill/>
        </a:ln>
        <a:effectLst/>
      </dgm:spPr>
    </dgm:pt>
    <dgm:pt modelId="{578C926A-45BB-4DF8-A8E0-D69C701E431E}" type="pres">
      <dgm:prSet presAssocID="{69B2B37B-26AE-4264-84DC-19FA2B13C444}" presName="arrowWedge5" presStyleLbl="fgSibTrans2D1" presStyleIdx="4" presStyleCnt="5"/>
      <dgm:spPr>
        <a:xfrm>
          <a:off x="898814" y="21500"/>
          <a:ext cx="2050188" cy="2050188"/>
        </a:xfrm>
        <a:prstGeom prst="circularArrow">
          <a:avLst>
            <a:gd name="adj1" fmla="val 5085"/>
            <a:gd name="adj2" fmla="val 327528"/>
            <a:gd name="adj3" fmla="val 15872148"/>
            <a:gd name="adj4" fmla="val 11880111"/>
            <a:gd name="adj5" fmla="val 5932"/>
          </a:avLst>
        </a:prstGeom>
        <a:solidFill>
          <a:srgbClr val="6B635B"/>
        </a:solidFill>
        <a:ln>
          <a:noFill/>
        </a:ln>
        <a:effectLst/>
      </dgm:spPr>
    </dgm:pt>
  </dgm:ptLst>
  <dgm:cxnLst>
    <dgm:cxn modelId="{80E0BF16-C569-4180-B274-29A4561BD76A}" type="presOf" srcId="{27BF821D-2F3E-49CD-9B37-04D0FA768287}" destId="{54C2283A-AC5E-45E9-B06B-8E6497C8CC06}" srcOrd="1" destOrd="0" presId="urn:microsoft.com/office/officeart/2005/8/layout/cycle8"/>
    <dgm:cxn modelId="{31770029-1BAD-49B4-A767-7516DFF61D5B}" type="presOf" srcId="{17623FF4-83D1-409E-B2C9-D3BD0C35F949}" destId="{8C235FE3-3F71-44C2-A46B-539B833DE24C}" srcOrd="0" destOrd="1" presId="urn:microsoft.com/office/officeart/2005/8/layout/cycle8"/>
    <dgm:cxn modelId="{49807935-D82D-4A28-9444-CF41A811697A}" srcId="{52D369AA-59C0-49E1-B55E-B70432456B9A}" destId="{61F0A2E3-1D9E-4CEC-86A0-B0FE6E70E7B1}" srcOrd="3" destOrd="0" parTransId="{13F9578B-8F2E-4E59-AA8C-9F45715DF7BE}" sibTransId="{5B0F3261-B8F3-4EF6-8025-08F245E8EF09}"/>
    <dgm:cxn modelId="{77886068-65C1-4DE8-90B9-36CAC78D28B5}" type="presOf" srcId="{17623FF4-83D1-409E-B2C9-D3BD0C35F949}" destId="{DCE22BBA-999E-458F-ADE2-6AD635E0B027}" srcOrd="1" destOrd="1" presId="urn:microsoft.com/office/officeart/2005/8/layout/cycle8"/>
    <dgm:cxn modelId="{E02ACA6B-C3D3-4D90-B61C-6E8277B25FF2}" srcId="{D6618069-B0EC-4200-9E36-A2D5FA553F52}" destId="{17623FF4-83D1-409E-B2C9-D3BD0C35F949}" srcOrd="0" destOrd="0" parTransId="{C5298539-7CF6-43EF-ACF5-4ED8AC1B4A67}" sibTransId="{A170FA3D-9235-415D-8D21-809B23642B3F}"/>
    <dgm:cxn modelId="{CD5B734D-355E-4F53-BDB3-B027EB54C335}" type="presOf" srcId="{61F0A2E3-1D9E-4CEC-86A0-B0FE6E70E7B1}" destId="{49429826-AA5F-47CA-B11A-ABD6DE54C821}" srcOrd="1" destOrd="0" presId="urn:microsoft.com/office/officeart/2005/8/layout/cycle8"/>
    <dgm:cxn modelId="{3321FE52-A8B8-4A6C-AC9C-6F68280E5C1A}" type="presOf" srcId="{43434F5F-A1D0-4D7B-93B7-E3D3DB8C0F0B}" destId="{9A004783-E531-48C1-8181-A872C2478DAA}" srcOrd="1" destOrd="0" presId="urn:microsoft.com/office/officeart/2005/8/layout/cycle8"/>
    <dgm:cxn modelId="{80EA788F-BC8B-445D-9DE6-5E1576DBBAB1}" type="presOf" srcId="{3607FCD8-6657-4836-95A4-7A279A1F256B}" destId="{3B487735-59B4-41E9-BDAB-5D244BF18F68}" srcOrd="0" destOrd="0" presId="urn:microsoft.com/office/officeart/2005/8/layout/cycle8"/>
    <dgm:cxn modelId="{956A859B-4D0E-406D-A476-6E0872DFC719}" srcId="{52D369AA-59C0-49E1-B55E-B70432456B9A}" destId="{3607FCD8-6657-4836-95A4-7A279A1F256B}" srcOrd="4" destOrd="0" parTransId="{E598C32C-35DB-47E0-A1F6-E475AD071A4B}" sibTransId="{69B2B37B-26AE-4264-84DC-19FA2B13C444}"/>
    <dgm:cxn modelId="{851BA8A4-9B3D-48C7-9A10-E466CFA74B4A}" type="presOf" srcId="{D6618069-B0EC-4200-9E36-A2D5FA553F52}" destId="{8C235FE3-3F71-44C2-A46B-539B833DE24C}" srcOrd="0" destOrd="0" presId="urn:microsoft.com/office/officeart/2005/8/layout/cycle8"/>
    <dgm:cxn modelId="{40525CA9-711A-4555-8430-04F5EC60DCDF}" type="presOf" srcId="{3607FCD8-6657-4836-95A4-7A279A1F256B}" destId="{85604DE5-89B7-4180-B562-F4BF7B9539D2}" srcOrd="1" destOrd="0" presId="urn:microsoft.com/office/officeart/2005/8/layout/cycle8"/>
    <dgm:cxn modelId="{F2C731B1-6208-471C-8AA5-21AEAFEA8436}" srcId="{52D369AA-59C0-49E1-B55E-B70432456B9A}" destId="{27BF821D-2F3E-49CD-9B37-04D0FA768287}" srcOrd="2" destOrd="0" parTransId="{D1698C79-E725-47CC-941A-190C96E6E135}" sibTransId="{66444982-89CC-4ADF-9DDF-851D4855A8D8}"/>
    <dgm:cxn modelId="{804081B6-634C-48F7-BE19-0675DFCD041F}" srcId="{52D369AA-59C0-49E1-B55E-B70432456B9A}" destId="{D6618069-B0EC-4200-9E36-A2D5FA553F52}" srcOrd="0" destOrd="0" parTransId="{893EE6D8-CE80-42FD-B96D-4B0C4CCFFA5F}" sibTransId="{E2E703FF-F63F-4A79-96BF-A0500BFFB256}"/>
    <dgm:cxn modelId="{0A828DC2-5466-4E4B-8B06-DC2AF9159DE7}" type="presOf" srcId="{61F0A2E3-1D9E-4CEC-86A0-B0FE6E70E7B1}" destId="{45CD1A6F-7DD7-4DE4-B175-D658CA85DBBD}" srcOrd="0" destOrd="0" presId="urn:microsoft.com/office/officeart/2005/8/layout/cycle8"/>
    <dgm:cxn modelId="{78276EC5-638E-4FB2-ACB7-01621011D25E}" type="presOf" srcId="{27BF821D-2F3E-49CD-9B37-04D0FA768287}" destId="{A5E52B60-80D4-45E8-AB32-72C8832C4F04}" srcOrd="0" destOrd="0" presId="urn:microsoft.com/office/officeart/2005/8/layout/cycle8"/>
    <dgm:cxn modelId="{65D8C6C9-1A10-491C-9E4D-E64E01660637}" srcId="{52D369AA-59C0-49E1-B55E-B70432456B9A}" destId="{43434F5F-A1D0-4D7B-93B7-E3D3DB8C0F0B}" srcOrd="1" destOrd="0" parTransId="{CC653188-7757-47F5-980D-2F580D5D046C}" sibTransId="{BAD65EFA-967E-4883-AE14-C7953EF71C1F}"/>
    <dgm:cxn modelId="{10D097CA-E7CD-4428-8B11-E9F7EA003D0A}" type="presOf" srcId="{D6618069-B0EC-4200-9E36-A2D5FA553F52}" destId="{DCE22BBA-999E-458F-ADE2-6AD635E0B027}" srcOrd="1" destOrd="0" presId="urn:microsoft.com/office/officeart/2005/8/layout/cycle8"/>
    <dgm:cxn modelId="{952FC0D1-ACC3-489B-9B7D-E2B9EC3D23F4}" type="presOf" srcId="{52D369AA-59C0-49E1-B55E-B70432456B9A}" destId="{50B73C20-8720-412A-ABE2-B41B774F189B}" srcOrd="0" destOrd="0" presId="urn:microsoft.com/office/officeart/2005/8/layout/cycle8"/>
    <dgm:cxn modelId="{6A173FDB-54F1-4B5C-AC26-42035B875450}" type="presOf" srcId="{43434F5F-A1D0-4D7B-93B7-E3D3DB8C0F0B}" destId="{EDCE5F9B-1D88-4D8D-9083-55DD36D07A64}" srcOrd="0" destOrd="0" presId="urn:microsoft.com/office/officeart/2005/8/layout/cycle8"/>
    <dgm:cxn modelId="{F0697471-CBB1-4158-933D-B4B3F75E0604}" type="presParOf" srcId="{50B73C20-8720-412A-ABE2-B41B774F189B}" destId="{8C235FE3-3F71-44C2-A46B-539B833DE24C}" srcOrd="0" destOrd="0" presId="urn:microsoft.com/office/officeart/2005/8/layout/cycle8"/>
    <dgm:cxn modelId="{168EB40C-5A6D-4F3F-BF2C-FCF94CCE2D39}" type="presParOf" srcId="{50B73C20-8720-412A-ABE2-B41B774F189B}" destId="{90038AF1-24CC-43B0-9B1B-D923A7B56C3C}" srcOrd="1" destOrd="0" presId="urn:microsoft.com/office/officeart/2005/8/layout/cycle8"/>
    <dgm:cxn modelId="{569908DA-43D7-45B1-8009-0FA68FF133C5}" type="presParOf" srcId="{50B73C20-8720-412A-ABE2-B41B774F189B}" destId="{71E81969-F2BB-4CC9-867D-9E0708DF02FF}" srcOrd="2" destOrd="0" presId="urn:microsoft.com/office/officeart/2005/8/layout/cycle8"/>
    <dgm:cxn modelId="{120B6D63-67B5-4651-89B8-2F4AFC748633}" type="presParOf" srcId="{50B73C20-8720-412A-ABE2-B41B774F189B}" destId="{DCE22BBA-999E-458F-ADE2-6AD635E0B027}" srcOrd="3" destOrd="0" presId="urn:microsoft.com/office/officeart/2005/8/layout/cycle8"/>
    <dgm:cxn modelId="{84303F93-7770-4778-B60E-02E295CCDB18}" type="presParOf" srcId="{50B73C20-8720-412A-ABE2-B41B774F189B}" destId="{EDCE5F9B-1D88-4D8D-9083-55DD36D07A64}" srcOrd="4" destOrd="0" presId="urn:microsoft.com/office/officeart/2005/8/layout/cycle8"/>
    <dgm:cxn modelId="{10C0342C-209A-4EE1-BB67-4E82BD92DDB7}" type="presParOf" srcId="{50B73C20-8720-412A-ABE2-B41B774F189B}" destId="{CF151D6C-DD1F-432A-9488-CEF8ED585BC2}" srcOrd="5" destOrd="0" presId="urn:microsoft.com/office/officeart/2005/8/layout/cycle8"/>
    <dgm:cxn modelId="{D088F9FD-84AC-4D71-B185-0A3300C456C8}" type="presParOf" srcId="{50B73C20-8720-412A-ABE2-B41B774F189B}" destId="{94572E03-695E-4870-97D9-5D3958380E35}" srcOrd="6" destOrd="0" presId="urn:microsoft.com/office/officeart/2005/8/layout/cycle8"/>
    <dgm:cxn modelId="{876BFD5D-E2AD-4F6B-9D62-8D6CA971713B}" type="presParOf" srcId="{50B73C20-8720-412A-ABE2-B41B774F189B}" destId="{9A004783-E531-48C1-8181-A872C2478DAA}" srcOrd="7" destOrd="0" presId="urn:microsoft.com/office/officeart/2005/8/layout/cycle8"/>
    <dgm:cxn modelId="{B9611131-DF8C-44CB-96EC-2C6187ABC38E}" type="presParOf" srcId="{50B73C20-8720-412A-ABE2-B41B774F189B}" destId="{A5E52B60-80D4-45E8-AB32-72C8832C4F04}" srcOrd="8" destOrd="0" presId="urn:microsoft.com/office/officeart/2005/8/layout/cycle8"/>
    <dgm:cxn modelId="{490646F5-EF01-44D1-947D-C692A4CDBA66}" type="presParOf" srcId="{50B73C20-8720-412A-ABE2-B41B774F189B}" destId="{5206D377-FF06-4A93-85A7-58B4AD85BDAC}" srcOrd="9" destOrd="0" presId="urn:microsoft.com/office/officeart/2005/8/layout/cycle8"/>
    <dgm:cxn modelId="{ECCF5117-1E10-477D-9559-5C5ECCAC164D}" type="presParOf" srcId="{50B73C20-8720-412A-ABE2-B41B774F189B}" destId="{F113BEB2-4F0E-4611-BCBE-814660A4A7D5}" srcOrd="10" destOrd="0" presId="urn:microsoft.com/office/officeart/2005/8/layout/cycle8"/>
    <dgm:cxn modelId="{15C2D79C-91A3-47CD-8374-199DEC331890}" type="presParOf" srcId="{50B73C20-8720-412A-ABE2-B41B774F189B}" destId="{54C2283A-AC5E-45E9-B06B-8E6497C8CC06}" srcOrd="11" destOrd="0" presId="urn:microsoft.com/office/officeart/2005/8/layout/cycle8"/>
    <dgm:cxn modelId="{D6E4223E-9B2A-4E44-AEAB-45457981423F}" type="presParOf" srcId="{50B73C20-8720-412A-ABE2-B41B774F189B}" destId="{45CD1A6F-7DD7-4DE4-B175-D658CA85DBBD}" srcOrd="12" destOrd="0" presId="urn:microsoft.com/office/officeart/2005/8/layout/cycle8"/>
    <dgm:cxn modelId="{816B34C5-1FCC-4A31-9A69-5F5054EF6618}" type="presParOf" srcId="{50B73C20-8720-412A-ABE2-B41B774F189B}" destId="{BADB538E-E5E0-42D9-8D41-A1BA0A54E760}" srcOrd="13" destOrd="0" presId="urn:microsoft.com/office/officeart/2005/8/layout/cycle8"/>
    <dgm:cxn modelId="{E58EBEFA-592C-400E-B377-C856EA82807F}" type="presParOf" srcId="{50B73C20-8720-412A-ABE2-B41B774F189B}" destId="{91C2630D-E657-4FDB-80ED-2B152AB0CF09}" srcOrd="14" destOrd="0" presId="urn:microsoft.com/office/officeart/2005/8/layout/cycle8"/>
    <dgm:cxn modelId="{CCD18F65-0485-48C6-909E-7BCBB943D79E}" type="presParOf" srcId="{50B73C20-8720-412A-ABE2-B41B774F189B}" destId="{49429826-AA5F-47CA-B11A-ABD6DE54C821}" srcOrd="15" destOrd="0" presId="urn:microsoft.com/office/officeart/2005/8/layout/cycle8"/>
    <dgm:cxn modelId="{63846FA1-5D85-42C9-933E-037704582F50}" type="presParOf" srcId="{50B73C20-8720-412A-ABE2-B41B774F189B}" destId="{3B487735-59B4-41E9-BDAB-5D244BF18F68}" srcOrd="16" destOrd="0" presId="urn:microsoft.com/office/officeart/2005/8/layout/cycle8"/>
    <dgm:cxn modelId="{D4A25B8E-ECDA-4E18-8745-075786C360BE}" type="presParOf" srcId="{50B73C20-8720-412A-ABE2-B41B774F189B}" destId="{939A2975-E45D-4D75-835C-838DA7CA4783}" srcOrd="17" destOrd="0" presId="urn:microsoft.com/office/officeart/2005/8/layout/cycle8"/>
    <dgm:cxn modelId="{D9F9CDC3-0A72-4389-BC90-F9E89F90FB55}" type="presParOf" srcId="{50B73C20-8720-412A-ABE2-B41B774F189B}" destId="{76229039-77BD-4536-8D9F-CEC0D2D14777}" srcOrd="18" destOrd="0" presId="urn:microsoft.com/office/officeart/2005/8/layout/cycle8"/>
    <dgm:cxn modelId="{B6377646-4E5F-4A6C-8830-F8F204A6839B}" type="presParOf" srcId="{50B73C20-8720-412A-ABE2-B41B774F189B}" destId="{85604DE5-89B7-4180-B562-F4BF7B9539D2}" srcOrd="19" destOrd="0" presId="urn:microsoft.com/office/officeart/2005/8/layout/cycle8"/>
    <dgm:cxn modelId="{6F3AA099-86CA-4C4C-A96A-80F24A60A4FF}" type="presParOf" srcId="{50B73C20-8720-412A-ABE2-B41B774F189B}" destId="{1B3C0182-CF0B-417D-8862-5551CF080ABD}" srcOrd="20" destOrd="0" presId="urn:microsoft.com/office/officeart/2005/8/layout/cycle8"/>
    <dgm:cxn modelId="{5A889218-F07E-4117-9BF5-4D3C479D9E0F}" type="presParOf" srcId="{50B73C20-8720-412A-ABE2-B41B774F189B}" destId="{943B39FA-B7B3-4946-B395-D611843A2FD5}" srcOrd="21" destOrd="0" presId="urn:microsoft.com/office/officeart/2005/8/layout/cycle8"/>
    <dgm:cxn modelId="{DF53E29A-B27D-4573-A778-472B14395646}" type="presParOf" srcId="{50B73C20-8720-412A-ABE2-B41B774F189B}" destId="{F382579C-1F35-4CBE-B203-942B20126A0F}" srcOrd="22" destOrd="0" presId="urn:microsoft.com/office/officeart/2005/8/layout/cycle8"/>
    <dgm:cxn modelId="{5AC306C3-10BC-426E-8737-A1813C15BCD0}" type="presParOf" srcId="{50B73C20-8720-412A-ABE2-B41B774F189B}" destId="{CDF1F5E0-2273-4303-AC97-73925993329B}" srcOrd="23" destOrd="0" presId="urn:microsoft.com/office/officeart/2005/8/layout/cycle8"/>
    <dgm:cxn modelId="{F6E7CDAB-577A-4E47-87DF-7F49B00FF327}" type="presParOf" srcId="{50B73C20-8720-412A-ABE2-B41B774F189B}" destId="{578C926A-45BB-4DF8-A8E0-D69C701E431E}" srcOrd="2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D369AA-59C0-49E1-B55E-B70432456B9A}" type="doc">
      <dgm:prSet loTypeId="urn:microsoft.com/office/officeart/2005/8/layout/cycle8" loCatId="cycle" qsTypeId="urn:microsoft.com/office/officeart/2005/8/quickstyle/simple1" qsCatId="simple" csTypeId="urn:microsoft.com/office/officeart/2005/8/colors/accent0_1" csCatId="mainScheme" phldr="1"/>
      <dgm:spPr/>
      <dgm:t>
        <a:bodyPr/>
        <a:lstStyle/>
        <a:p>
          <a:endParaRPr lang="en-GB"/>
        </a:p>
      </dgm:t>
    </dgm:pt>
    <dgm:pt modelId="{D6618069-B0EC-4200-9E36-A2D5FA553F52}">
      <dgm:prSet phldrT="[Text]"/>
      <dgm:spPr>
        <a:xfrm>
          <a:off x="1062917" y="134435"/>
          <a:ext cx="1824320" cy="1824320"/>
        </a:xfrm>
        <a:prstGeom prst="pie">
          <a:avLst>
            <a:gd name="adj1" fmla="val 16200000"/>
            <a:gd name="adj2" fmla="val 20520000"/>
          </a:avLst>
        </a:prstGeom>
      </dgm:spPr>
      <dgm:t>
        <a:bodyPr/>
        <a:lstStyle/>
        <a:p>
          <a:pPr>
            <a:buNone/>
          </a:pPr>
          <a:r>
            <a:rPr lang="en-US" noProof="0" dirty="0">
              <a:solidFill>
                <a:schemeClr val="accent5"/>
              </a:solidFill>
              <a:latin typeface="Trebuchet MS"/>
              <a:ea typeface="+mn-ea"/>
              <a:cs typeface="+mn-cs"/>
            </a:rPr>
            <a:t>Define</a:t>
          </a:r>
        </a:p>
      </dgm:t>
    </dgm:pt>
    <dgm:pt modelId="{893EE6D8-CE80-42FD-B96D-4B0C4CCFFA5F}" type="parTrans" cxnId="{804081B6-634C-48F7-BE19-0675DFCD041F}">
      <dgm:prSet/>
      <dgm:spPr/>
      <dgm:t>
        <a:bodyPr/>
        <a:lstStyle/>
        <a:p>
          <a:endParaRPr lang="en-GB"/>
        </a:p>
      </dgm:t>
    </dgm:pt>
    <dgm:pt modelId="{E2E703FF-F63F-4A79-96BF-A0500BFFB256}" type="sibTrans" cxnId="{804081B6-634C-48F7-BE19-0675DFCD041F}">
      <dgm:prSet/>
      <dgm:spPr/>
      <dgm:t>
        <a:bodyPr/>
        <a:lstStyle/>
        <a:p>
          <a:endParaRPr lang="en-GB"/>
        </a:p>
      </dgm:t>
    </dgm:pt>
    <dgm:pt modelId="{43434F5F-A1D0-4D7B-93B7-E3D3DB8C0F0B}">
      <dgm:prSet phldrT="[Text]"/>
      <dgm:spPr>
        <a:xfrm>
          <a:off x="1078554" y="183083"/>
          <a:ext cx="1824320" cy="1824320"/>
        </a:xfrm>
        <a:prstGeom prst="pie">
          <a:avLst>
            <a:gd name="adj1" fmla="val 20520000"/>
            <a:gd name="adj2" fmla="val 3240000"/>
          </a:avLst>
        </a:prstGeom>
      </dgm:spPr>
      <dgm:t>
        <a:bodyPr/>
        <a:lstStyle/>
        <a:p>
          <a:pPr>
            <a:buNone/>
          </a:pPr>
          <a:r>
            <a:rPr lang="en-US" b="0" noProof="0" dirty="0">
              <a:solidFill>
                <a:schemeClr val="accent5"/>
              </a:solidFill>
              <a:latin typeface="Trebuchet MS"/>
              <a:ea typeface="+mn-ea"/>
              <a:cs typeface="+mn-cs"/>
            </a:rPr>
            <a:t>Measure</a:t>
          </a:r>
        </a:p>
      </dgm:t>
    </dgm:pt>
    <dgm:pt modelId="{CC653188-7757-47F5-980D-2F580D5D046C}" type="parTrans" cxnId="{65D8C6C9-1A10-491C-9E4D-E64E01660637}">
      <dgm:prSet/>
      <dgm:spPr/>
      <dgm:t>
        <a:bodyPr/>
        <a:lstStyle/>
        <a:p>
          <a:endParaRPr lang="en-GB"/>
        </a:p>
      </dgm:t>
    </dgm:pt>
    <dgm:pt modelId="{BAD65EFA-967E-4883-AE14-C7953EF71C1F}" type="sibTrans" cxnId="{65D8C6C9-1A10-491C-9E4D-E64E01660637}">
      <dgm:prSet/>
      <dgm:spPr/>
      <dgm:t>
        <a:bodyPr/>
        <a:lstStyle/>
        <a:p>
          <a:endParaRPr lang="en-GB"/>
        </a:p>
      </dgm:t>
    </dgm:pt>
    <dgm:pt modelId="{27BF821D-2F3E-49CD-9B37-04D0FA768287}">
      <dgm:prSet phldrT="[Text]"/>
      <dgm:spPr>
        <a:xfrm>
          <a:off x="1037289" y="213054"/>
          <a:ext cx="1824320" cy="1824320"/>
        </a:xfrm>
        <a:prstGeom prst="pie">
          <a:avLst>
            <a:gd name="adj1" fmla="val 3240000"/>
            <a:gd name="adj2" fmla="val 7560000"/>
          </a:avLst>
        </a:prstGeom>
      </dgm:spPr>
      <dgm:t>
        <a:bodyPr/>
        <a:lstStyle/>
        <a:p>
          <a:pPr>
            <a:buNone/>
          </a:pPr>
          <a:r>
            <a:rPr lang="en-US" b="0" noProof="0" dirty="0">
              <a:solidFill>
                <a:schemeClr val="accent5"/>
              </a:solidFill>
              <a:latin typeface="Trebuchet MS"/>
              <a:ea typeface="+mn-ea"/>
              <a:cs typeface="+mn-cs"/>
            </a:rPr>
            <a:t>Analyze</a:t>
          </a:r>
        </a:p>
        <a:p>
          <a:pPr>
            <a:buNone/>
          </a:pPr>
          <a:endParaRPr lang="en-US" noProof="0" dirty="0">
            <a:solidFill>
              <a:schemeClr val="accent5"/>
            </a:solidFill>
            <a:latin typeface="Trebuchet MS"/>
            <a:ea typeface="+mn-ea"/>
            <a:cs typeface="+mn-cs"/>
          </a:endParaRPr>
        </a:p>
      </dgm:t>
    </dgm:pt>
    <dgm:pt modelId="{D1698C79-E725-47CC-941A-190C96E6E135}" type="parTrans" cxnId="{F2C731B1-6208-471C-8AA5-21AEAFEA8436}">
      <dgm:prSet/>
      <dgm:spPr/>
      <dgm:t>
        <a:bodyPr/>
        <a:lstStyle/>
        <a:p>
          <a:endParaRPr lang="en-GB"/>
        </a:p>
      </dgm:t>
    </dgm:pt>
    <dgm:pt modelId="{66444982-89CC-4ADF-9DDF-851D4855A8D8}" type="sibTrans" cxnId="{F2C731B1-6208-471C-8AA5-21AEAFEA8436}">
      <dgm:prSet/>
      <dgm:spPr/>
      <dgm:t>
        <a:bodyPr/>
        <a:lstStyle/>
        <a:p>
          <a:endParaRPr lang="en-GB"/>
        </a:p>
      </dgm:t>
    </dgm:pt>
    <dgm:pt modelId="{17623FF4-83D1-409E-B2C9-D3BD0C35F949}">
      <dgm:prSet/>
      <dgm:spPr>
        <a:xfrm>
          <a:off x="1062917" y="134435"/>
          <a:ext cx="1824320" cy="1824320"/>
        </a:xfrm>
        <a:prstGeom prst="pie">
          <a:avLst>
            <a:gd name="adj1" fmla="val 16200000"/>
            <a:gd name="adj2" fmla="val 20520000"/>
          </a:avLst>
        </a:prstGeom>
      </dgm:spPr>
      <dgm:t>
        <a:bodyPr/>
        <a:lstStyle/>
        <a:p>
          <a:pPr>
            <a:buChar char="•"/>
          </a:pPr>
          <a:endParaRPr lang="en-US" noProof="0" dirty="0">
            <a:solidFill>
              <a:schemeClr val="accent5"/>
            </a:solidFill>
            <a:latin typeface="Trebuchet MS"/>
            <a:ea typeface="+mn-ea"/>
            <a:cs typeface="+mn-cs"/>
          </a:endParaRPr>
        </a:p>
      </dgm:t>
    </dgm:pt>
    <dgm:pt modelId="{C5298539-7CF6-43EF-ACF5-4ED8AC1B4A67}" type="parTrans" cxnId="{E02ACA6B-C3D3-4D90-B61C-6E8277B25FF2}">
      <dgm:prSet/>
      <dgm:spPr/>
      <dgm:t>
        <a:bodyPr/>
        <a:lstStyle/>
        <a:p>
          <a:endParaRPr lang="en-GB"/>
        </a:p>
      </dgm:t>
    </dgm:pt>
    <dgm:pt modelId="{A170FA3D-9235-415D-8D21-809B23642B3F}" type="sibTrans" cxnId="{E02ACA6B-C3D3-4D90-B61C-6E8277B25FF2}">
      <dgm:prSet/>
      <dgm:spPr/>
      <dgm:t>
        <a:bodyPr/>
        <a:lstStyle/>
        <a:p>
          <a:endParaRPr lang="en-GB"/>
        </a:p>
      </dgm:t>
    </dgm:pt>
    <dgm:pt modelId="{61F0A2E3-1D9E-4CEC-86A0-B0FE6E70E7B1}">
      <dgm:prSet/>
      <dgm:spPr>
        <a:xfrm>
          <a:off x="996025" y="183083"/>
          <a:ext cx="1824320" cy="1824320"/>
        </a:xfrm>
        <a:prstGeom prst="pie">
          <a:avLst>
            <a:gd name="adj1" fmla="val 7560000"/>
            <a:gd name="adj2" fmla="val 11880000"/>
          </a:avLst>
        </a:prstGeom>
      </dgm:spPr>
      <dgm:t>
        <a:bodyPr/>
        <a:lstStyle/>
        <a:p>
          <a:pPr>
            <a:buNone/>
          </a:pPr>
          <a:r>
            <a:rPr lang="en-US" b="0" noProof="0" dirty="0">
              <a:solidFill>
                <a:schemeClr val="accent5"/>
              </a:solidFill>
              <a:latin typeface="Trebuchet MS"/>
              <a:ea typeface="+mn-ea"/>
              <a:cs typeface="+mn-cs"/>
            </a:rPr>
            <a:t>Improve</a:t>
          </a:r>
        </a:p>
      </dgm:t>
    </dgm:pt>
    <dgm:pt modelId="{13F9578B-8F2E-4E59-AA8C-9F45715DF7BE}" type="parTrans" cxnId="{49807935-D82D-4A28-9444-CF41A811697A}">
      <dgm:prSet/>
      <dgm:spPr/>
      <dgm:t>
        <a:bodyPr/>
        <a:lstStyle/>
        <a:p>
          <a:endParaRPr lang="en-GB"/>
        </a:p>
      </dgm:t>
    </dgm:pt>
    <dgm:pt modelId="{5B0F3261-B8F3-4EF6-8025-08F245E8EF09}" type="sibTrans" cxnId="{49807935-D82D-4A28-9444-CF41A811697A}">
      <dgm:prSet/>
      <dgm:spPr/>
      <dgm:t>
        <a:bodyPr/>
        <a:lstStyle/>
        <a:p>
          <a:endParaRPr lang="en-GB"/>
        </a:p>
      </dgm:t>
    </dgm:pt>
    <dgm:pt modelId="{3607FCD8-6657-4836-95A4-7A279A1F256B}">
      <dgm:prSet/>
      <dgm:spPr>
        <a:xfrm>
          <a:off x="1011662" y="134435"/>
          <a:ext cx="1824320" cy="1824320"/>
        </a:xfrm>
        <a:prstGeom prst="pie">
          <a:avLst>
            <a:gd name="adj1" fmla="val 11880000"/>
            <a:gd name="adj2" fmla="val 16200000"/>
          </a:avLst>
        </a:prstGeom>
        <a:solidFill>
          <a:srgbClr val="7030A0"/>
        </a:solidFill>
      </dgm:spPr>
      <dgm:t>
        <a:bodyPr/>
        <a:lstStyle/>
        <a:p>
          <a:pPr>
            <a:buNone/>
          </a:pPr>
          <a:r>
            <a:rPr lang="en-US" b="1" noProof="0" dirty="0">
              <a:solidFill>
                <a:schemeClr val="bg1"/>
              </a:solidFill>
              <a:latin typeface="Trebuchet MS"/>
              <a:ea typeface="+mn-ea"/>
              <a:cs typeface="+mn-cs"/>
            </a:rPr>
            <a:t>Control</a:t>
          </a:r>
        </a:p>
        <a:p>
          <a:pPr>
            <a:buNone/>
          </a:pPr>
          <a:endParaRPr lang="en-US" noProof="0" dirty="0">
            <a:solidFill>
              <a:schemeClr val="bg1"/>
            </a:solidFill>
            <a:latin typeface="Trebuchet MS"/>
            <a:ea typeface="+mn-ea"/>
            <a:cs typeface="+mn-cs"/>
          </a:endParaRPr>
        </a:p>
      </dgm:t>
    </dgm:pt>
    <dgm:pt modelId="{E598C32C-35DB-47E0-A1F6-E475AD071A4B}" type="parTrans" cxnId="{956A859B-4D0E-406D-A476-6E0872DFC719}">
      <dgm:prSet/>
      <dgm:spPr/>
      <dgm:t>
        <a:bodyPr/>
        <a:lstStyle/>
        <a:p>
          <a:endParaRPr lang="en-GB"/>
        </a:p>
      </dgm:t>
    </dgm:pt>
    <dgm:pt modelId="{69B2B37B-26AE-4264-84DC-19FA2B13C444}" type="sibTrans" cxnId="{956A859B-4D0E-406D-A476-6E0872DFC719}">
      <dgm:prSet/>
      <dgm:spPr/>
      <dgm:t>
        <a:bodyPr/>
        <a:lstStyle/>
        <a:p>
          <a:endParaRPr lang="en-GB"/>
        </a:p>
      </dgm:t>
    </dgm:pt>
    <dgm:pt modelId="{50B73C20-8720-412A-ABE2-B41B774F189B}" type="pres">
      <dgm:prSet presAssocID="{52D369AA-59C0-49E1-B55E-B70432456B9A}" presName="compositeShape" presStyleCnt="0">
        <dgm:presLayoutVars>
          <dgm:chMax val="7"/>
          <dgm:dir/>
          <dgm:resizeHandles val="exact"/>
        </dgm:presLayoutVars>
      </dgm:prSet>
      <dgm:spPr/>
    </dgm:pt>
    <dgm:pt modelId="{8C235FE3-3F71-44C2-A46B-539B833DE24C}" type="pres">
      <dgm:prSet presAssocID="{52D369AA-59C0-49E1-B55E-B70432456B9A}" presName="wedge1" presStyleLbl="node1" presStyleIdx="0" presStyleCnt="5" custLinFactNeighborX="260" custLinFactNeighborY="-591"/>
      <dgm:spPr/>
    </dgm:pt>
    <dgm:pt modelId="{90038AF1-24CC-43B0-9B1B-D923A7B56C3C}" type="pres">
      <dgm:prSet presAssocID="{52D369AA-59C0-49E1-B55E-B70432456B9A}" presName="dummy1a" presStyleCnt="0"/>
      <dgm:spPr/>
    </dgm:pt>
    <dgm:pt modelId="{71E81969-F2BB-4CC9-867D-9E0708DF02FF}" type="pres">
      <dgm:prSet presAssocID="{52D369AA-59C0-49E1-B55E-B70432456B9A}" presName="dummy1b" presStyleCnt="0"/>
      <dgm:spPr/>
    </dgm:pt>
    <dgm:pt modelId="{DCE22BBA-999E-458F-ADE2-6AD635E0B027}" type="pres">
      <dgm:prSet presAssocID="{52D369AA-59C0-49E1-B55E-B70432456B9A}" presName="wedge1Tx" presStyleLbl="node1" presStyleIdx="0" presStyleCnt="5">
        <dgm:presLayoutVars>
          <dgm:chMax val="0"/>
          <dgm:chPref val="0"/>
          <dgm:bulletEnabled val="1"/>
        </dgm:presLayoutVars>
      </dgm:prSet>
      <dgm:spPr/>
    </dgm:pt>
    <dgm:pt modelId="{EDCE5F9B-1D88-4D8D-9083-55DD36D07A64}" type="pres">
      <dgm:prSet presAssocID="{52D369AA-59C0-49E1-B55E-B70432456B9A}" presName="wedge2" presStyleLbl="node1" presStyleIdx="1" presStyleCnt="5" custLinFactNeighborX="485" custLinFactNeighborY="576"/>
      <dgm:spPr/>
    </dgm:pt>
    <dgm:pt modelId="{CF151D6C-DD1F-432A-9488-CEF8ED585BC2}" type="pres">
      <dgm:prSet presAssocID="{52D369AA-59C0-49E1-B55E-B70432456B9A}" presName="dummy2a" presStyleCnt="0"/>
      <dgm:spPr/>
    </dgm:pt>
    <dgm:pt modelId="{94572E03-695E-4870-97D9-5D3958380E35}" type="pres">
      <dgm:prSet presAssocID="{52D369AA-59C0-49E1-B55E-B70432456B9A}" presName="dummy2b" presStyleCnt="0"/>
      <dgm:spPr/>
    </dgm:pt>
    <dgm:pt modelId="{9A004783-E531-48C1-8181-A872C2478DAA}" type="pres">
      <dgm:prSet presAssocID="{52D369AA-59C0-49E1-B55E-B70432456B9A}" presName="wedge2Tx" presStyleLbl="node1" presStyleIdx="1" presStyleCnt="5">
        <dgm:presLayoutVars>
          <dgm:chMax val="0"/>
          <dgm:chPref val="0"/>
          <dgm:bulletEnabled val="1"/>
        </dgm:presLayoutVars>
      </dgm:prSet>
      <dgm:spPr/>
    </dgm:pt>
    <dgm:pt modelId="{A5E52B60-80D4-45E8-AB32-72C8832C4F04}" type="pres">
      <dgm:prSet presAssocID="{52D369AA-59C0-49E1-B55E-B70432456B9A}" presName="wedge3" presStyleLbl="node1" presStyleIdx="2" presStyleCnt="5" custLinFactNeighborX="0" custLinFactNeighborY="-61"/>
      <dgm:spPr/>
    </dgm:pt>
    <dgm:pt modelId="{5206D377-FF06-4A93-85A7-58B4AD85BDAC}" type="pres">
      <dgm:prSet presAssocID="{52D369AA-59C0-49E1-B55E-B70432456B9A}" presName="dummy3a" presStyleCnt="0"/>
      <dgm:spPr/>
    </dgm:pt>
    <dgm:pt modelId="{F113BEB2-4F0E-4611-BCBE-814660A4A7D5}" type="pres">
      <dgm:prSet presAssocID="{52D369AA-59C0-49E1-B55E-B70432456B9A}" presName="dummy3b" presStyleCnt="0"/>
      <dgm:spPr/>
    </dgm:pt>
    <dgm:pt modelId="{54C2283A-AC5E-45E9-B06B-8E6497C8CC06}" type="pres">
      <dgm:prSet presAssocID="{52D369AA-59C0-49E1-B55E-B70432456B9A}" presName="wedge3Tx" presStyleLbl="node1" presStyleIdx="2" presStyleCnt="5">
        <dgm:presLayoutVars>
          <dgm:chMax val="0"/>
          <dgm:chPref val="0"/>
          <dgm:bulletEnabled val="1"/>
        </dgm:presLayoutVars>
      </dgm:prSet>
      <dgm:spPr/>
    </dgm:pt>
    <dgm:pt modelId="{45CD1A6F-7DD7-4DE4-B175-D658CA85DBBD}" type="pres">
      <dgm:prSet presAssocID="{52D369AA-59C0-49E1-B55E-B70432456B9A}" presName="wedge4" presStyleLbl="node1" presStyleIdx="3" presStyleCnt="5" custLinFactNeighborX="-457" custLinFactNeighborY="103"/>
      <dgm:spPr/>
    </dgm:pt>
    <dgm:pt modelId="{BADB538E-E5E0-42D9-8D41-A1BA0A54E760}" type="pres">
      <dgm:prSet presAssocID="{52D369AA-59C0-49E1-B55E-B70432456B9A}" presName="dummy4a" presStyleCnt="0"/>
      <dgm:spPr/>
    </dgm:pt>
    <dgm:pt modelId="{91C2630D-E657-4FDB-80ED-2B152AB0CF09}" type="pres">
      <dgm:prSet presAssocID="{52D369AA-59C0-49E1-B55E-B70432456B9A}" presName="dummy4b" presStyleCnt="0"/>
      <dgm:spPr/>
    </dgm:pt>
    <dgm:pt modelId="{49429826-AA5F-47CA-B11A-ABD6DE54C821}" type="pres">
      <dgm:prSet presAssocID="{52D369AA-59C0-49E1-B55E-B70432456B9A}" presName="wedge4Tx" presStyleLbl="node1" presStyleIdx="3" presStyleCnt="5">
        <dgm:presLayoutVars>
          <dgm:chMax val="0"/>
          <dgm:chPref val="0"/>
          <dgm:bulletEnabled val="1"/>
        </dgm:presLayoutVars>
      </dgm:prSet>
      <dgm:spPr/>
    </dgm:pt>
    <dgm:pt modelId="{3B487735-59B4-41E9-BDAB-5D244BF18F68}" type="pres">
      <dgm:prSet presAssocID="{52D369AA-59C0-49E1-B55E-B70432456B9A}" presName="wedge5" presStyleLbl="node1" presStyleIdx="4" presStyleCnt="5" custLinFactNeighborX="-5510" custLinFactNeighborY="-5459"/>
      <dgm:spPr/>
    </dgm:pt>
    <dgm:pt modelId="{939A2975-E45D-4D75-835C-838DA7CA4783}" type="pres">
      <dgm:prSet presAssocID="{52D369AA-59C0-49E1-B55E-B70432456B9A}" presName="dummy5a" presStyleCnt="0"/>
      <dgm:spPr/>
    </dgm:pt>
    <dgm:pt modelId="{76229039-77BD-4536-8D9F-CEC0D2D14777}" type="pres">
      <dgm:prSet presAssocID="{52D369AA-59C0-49E1-B55E-B70432456B9A}" presName="dummy5b" presStyleCnt="0"/>
      <dgm:spPr/>
    </dgm:pt>
    <dgm:pt modelId="{85604DE5-89B7-4180-B562-F4BF7B9539D2}" type="pres">
      <dgm:prSet presAssocID="{52D369AA-59C0-49E1-B55E-B70432456B9A}" presName="wedge5Tx" presStyleLbl="node1" presStyleIdx="4" presStyleCnt="5">
        <dgm:presLayoutVars>
          <dgm:chMax val="0"/>
          <dgm:chPref val="0"/>
          <dgm:bulletEnabled val="1"/>
        </dgm:presLayoutVars>
      </dgm:prSet>
      <dgm:spPr/>
    </dgm:pt>
    <dgm:pt modelId="{1B3C0182-CF0B-417D-8862-5551CF080ABD}" type="pres">
      <dgm:prSet presAssocID="{E2E703FF-F63F-4A79-96BF-A0500BFFB256}" presName="arrowWedge1" presStyleLbl="fgSibTrans2D1" presStyleIdx="0" presStyleCnt="5"/>
      <dgm:spPr>
        <a:xfrm>
          <a:off x="949897" y="21500"/>
          <a:ext cx="2050188" cy="2050188"/>
        </a:xfrm>
        <a:prstGeom prst="circularArrow">
          <a:avLst>
            <a:gd name="adj1" fmla="val 5085"/>
            <a:gd name="adj2" fmla="val 327528"/>
            <a:gd name="adj3" fmla="val 20192361"/>
            <a:gd name="adj4" fmla="val 16200324"/>
            <a:gd name="adj5" fmla="val 5932"/>
          </a:avLst>
        </a:prstGeom>
      </dgm:spPr>
    </dgm:pt>
    <dgm:pt modelId="{943B39FA-B7B3-4946-B395-D611843A2FD5}" type="pres">
      <dgm:prSet presAssocID="{BAD65EFA-967E-4883-AE14-C7953EF71C1F}" presName="arrowWedge2" presStyleLbl="fgSibTrans2D1" presStyleIdx="1" presStyleCnt="5"/>
      <dgm:spPr>
        <a:xfrm>
          <a:off x="965746" y="70133"/>
          <a:ext cx="2050188" cy="2050188"/>
        </a:xfrm>
        <a:prstGeom prst="circularArrow">
          <a:avLst>
            <a:gd name="adj1" fmla="val 5085"/>
            <a:gd name="adj2" fmla="val 327528"/>
            <a:gd name="adj3" fmla="val 2912753"/>
            <a:gd name="adj4" fmla="val 20519953"/>
            <a:gd name="adj5" fmla="val 5932"/>
          </a:avLst>
        </a:prstGeom>
      </dgm:spPr>
    </dgm:pt>
    <dgm:pt modelId="{F382579C-1F35-4CBE-B203-942B20126A0F}" type="pres">
      <dgm:prSet presAssocID="{66444982-89CC-4ADF-9DDF-851D4855A8D8}" presName="arrowWedge3" presStyleLbl="fgSibTrans2D1" presStyleIdx="2" presStyleCnt="5"/>
      <dgm:spPr>
        <a:xfrm>
          <a:off x="924355" y="100196"/>
          <a:ext cx="2050188" cy="2050188"/>
        </a:xfrm>
        <a:prstGeom prst="circularArrow">
          <a:avLst>
            <a:gd name="adj1" fmla="val 5085"/>
            <a:gd name="adj2" fmla="val 327528"/>
            <a:gd name="adj3" fmla="val 7232777"/>
            <a:gd name="adj4" fmla="val 3239695"/>
            <a:gd name="adj5" fmla="val 5932"/>
          </a:avLst>
        </a:prstGeom>
      </dgm:spPr>
    </dgm:pt>
    <dgm:pt modelId="{CDF1F5E0-2273-4303-AC97-73925993329B}" type="pres">
      <dgm:prSet presAssocID="{5B0F3261-B8F3-4EF6-8025-08F245E8EF09}" presName="arrowWedge4" presStyleLbl="fgSibTrans2D1" presStyleIdx="3" presStyleCnt="5"/>
      <dgm:spPr>
        <a:xfrm>
          <a:off x="882965" y="70133"/>
          <a:ext cx="2050188" cy="2050188"/>
        </a:xfrm>
        <a:prstGeom prst="circularArrow">
          <a:avLst>
            <a:gd name="adj1" fmla="val 5085"/>
            <a:gd name="adj2" fmla="val 327528"/>
            <a:gd name="adj3" fmla="val 11552519"/>
            <a:gd name="adj4" fmla="val 7559718"/>
            <a:gd name="adj5" fmla="val 5932"/>
          </a:avLst>
        </a:prstGeom>
      </dgm:spPr>
    </dgm:pt>
    <dgm:pt modelId="{578C926A-45BB-4DF8-A8E0-D69C701E431E}" type="pres">
      <dgm:prSet presAssocID="{69B2B37B-26AE-4264-84DC-19FA2B13C444}" presName="arrowWedge5" presStyleLbl="fgSibTrans2D1" presStyleIdx="4" presStyleCnt="5"/>
      <dgm:spPr>
        <a:xfrm>
          <a:off x="898814" y="21500"/>
          <a:ext cx="2050188" cy="2050188"/>
        </a:xfrm>
        <a:prstGeom prst="circularArrow">
          <a:avLst>
            <a:gd name="adj1" fmla="val 5085"/>
            <a:gd name="adj2" fmla="val 327528"/>
            <a:gd name="adj3" fmla="val 15872148"/>
            <a:gd name="adj4" fmla="val 11880111"/>
            <a:gd name="adj5" fmla="val 5932"/>
          </a:avLst>
        </a:prstGeom>
      </dgm:spPr>
    </dgm:pt>
  </dgm:ptLst>
  <dgm:cxnLst>
    <dgm:cxn modelId="{80E0BF16-C569-4180-B274-29A4561BD76A}" type="presOf" srcId="{27BF821D-2F3E-49CD-9B37-04D0FA768287}" destId="{54C2283A-AC5E-45E9-B06B-8E6497C8CC06}" srcOrd="1" destOrd="0" presId="urn:microsoft.com/office/officeart/2005/8/layout/cycle8"/>
    <dgm:cxn modelId="{31770029-1BAD-49B4-A767-7516DFF61D5B}" type="presOf" srcId="{17623FF4-83D1-409E-B2C9-D3BD0C35F949}" destId="{8C235FE3-3F71-44C2-A46B-539B833DE24C}" srcOrd="0" destOrd="1" presId="urn:microsoft.com/office/officeart/2005/8/layout/cycle8"/>
    <dgm:cxn modelId="{49807935-D82D-4A28-9444-CF41A811697A}" srcId="{52D369AA-59C0-49E1-B55E-B70432456B9A}" destId="{61F0A2E3-1D9E-4CEC-86A0-B0FE6E70E7B1}" srcOrd="3" destOrd="0" parTransId="{13F9578B-8F2E-4E59-AA8C-9F45715DF7BE}" sibTransId="{5B0F3261-B8F3-4EF6-8025-08F245E8EF09}"/>
    <dgm:cxn modelId="{77886068-65C1-4DE8-90B9-36CAC78D28B5}" type="presOf" srcId="{17623FF4-83D1-409E-B2C9-D3BD0C35F949}" destId="{DCE22BBA-999E-458F-ADE2-6AD635E0B027}" srcOrd="1" destOrd="1" presId="urn:microsoft.com/office/officeart/2005/8/layout/cycle8"/>
    <dgm:cxn modelId="{E02ACA6B-C3D3-4D90-B61C-6E8277B25FF2}" srcId="{D6618069-B0EC-4200-9E36-A2D5FA553F52}" destId="{17623FF4-83D1-409E-B2C9-D3BD0C35F949}" srcOrd="0" destOrd="0" parTransId="{C5298539-7CF6-43EF-ACF5-4ED8AC1B4A67}" sibTransId="{A170FA3D-9235-415D-8D21-809B23642B3F}"/>
    <dgm:cxn modelId="{CD5B734D-355E-4F53-BDB3-B027EB54C335}" type="presOf" srcId="{61F0A2E3-1D9E-4CEC-86A0-B0FE6E70E7B1}" destId="{49429826-AA5F-47CA-B11A-ABD6DE54C821}" srcOrd="1" destOrd="0" presId="urn:microsoft.com/office/officeart/2005/8/layout/cycle8"/>
    <dgm:cxn modelId="{3321FE52-A8B8-4A6C-AC9C-6F68280E5C1A}" type="presOf" srcId="{43434F5F-A1D0-4D7B-93B7-E3D3DB8C0F0B}" destId="{9A004783-E531-48C1-8181-A872C2478DAA}" srcOrd="1" destOrd="0" presId="urn:microsoft.com/office/officeart/2005/8/layout/cycle8"/>
    <dgm:cxn modelId="{80EA788F-BC8B-445D-9DE6-5E1576DBBAB1}" type="presOf" srcId="{3607FCD8-6657-4836-95A4-7A279A1F256B}" destId="{3B487735-59B4-41E9-BDAB-5D244BF18F68}" srcOrd="0" destOrd="0" presId="urn:microsoft.com/office/officeart/2005/8/layout/cycle8"/>
    <dgm:cxn modelId="{956A859B-4D0E-406D-A476-6E0872DFC719}" srcId="{52D369AA-59C0-49E1-B55E-B70432456B9A}" destId="{3607FCD8-6657-4836-95A4-7A279A1F256B}" srcOrd="4" destOrd="0" parTransId="{E598C32C-35DB-47E0-A1F6-E475AD071A4B}" sibTransId="{69B2B37B-26AE-4264-84DC-19FA2B13C444}"/>
    <dgm:cxn modelId="{851BA8A4-9B3D-48C7-9A10-E466CFA74B4A}" type="presOf" srcId="{D6618069-B0EC-4200-9E36-A2D5FA553F52}" destId="{8C235FE3-3F71-44C2-A46B-539B833DE24C}" srcOrd="0" destOrd="0" presId="urn:microsoft.com/office/officeart/2005/8/layout/cycle8"/>
    <dgm:cxn modelId="{40525CA9-711A-4555-8430-04F5EC60DCDF}" type="presOf" srcId="{3607FCD8-6657-4836-95A4-7A279A1F256B}" destId="{85604DE5-89B7-4180-B562-F4BF7B9539D2}" srcOrd="1" destOrd="0" presId="urn:microsoft.com/office/officeart/2005/8/layout/cycle8"/>
    <dgm:cxn modelId="{F2C731B1-6208-471C-8AA5-21AEAFEA8436}" srcId="{52D369AA-59C0-49E1-B55E-B70432456B9A}" destId="{27BF821D-2F3E-49CD-9B37-04D0FA768287}" srcOrd="2" destOrd="0" parTransId="{D1698C79-E725-47CC-941A-190C96E6E135}" sibTransId="{66444982-89CC-4ADF-9DDF-851D4855A8D8}"/>
    <dgm:cxn modelId="{804081B6-634C-48F7-BE19-0675DFCD041F}" srcId="{52D369AA-59C0-49E1-B55E-B70432456B9A}" destId="{D6618069-B0EC-4200-9E36-A2D5FA553F52}" srcOrd="0" destOrd="0" parTransId="{893EE6D8-CE80-42FD-B96D-4B0C4CCFFA5F}" sibTransId="{E2E703FF-F63F-4A79-96BF-A0500BFFB256}"/>
    <dgm:cxn modelId="{0A828DC2-5466-4E4B-8B06-DC2AF9159DE7}" type="presOf" srcId="{61F0A2E3-1D9E-4CEC-86A0-B0FE6E70E7B1}" destId="{45CD1A6F-7DD7-4DE4-B175-D658CA85DBBD}" srcOrd="0" destOrd="0" presId="urn:microsoft.com/office/officeart/2005/8/layout/cycle8"/>
    <dgm:cxn modelId="{78276EC5-638E-4FB2-ACB7-01621011D25E}" type="presOf" srcId="{27BF821D-2F3E-49CD-9B37-04D0FA768287}" destId="{A5E52B60-80D4-45E8-AB32-72C8832C4F04}" srcOrd="0" destOrd="0" presId="urn:microsoft.com/office/officeart/2005/8/layout/cycle8"/>
    <dgm:cxn modelId="{65D8C6C9-1A10-491C-9E4D-E64E01660637}" srcId="{52D369AA-59C0-49E1-B55E-B70432456B9A}" destId="{43434F5F-A1D0-4D7B-93B7-E3D3DB8C0F0B}" srcOrd="1" destOrd="0" parTransId="{CC653188-7757-47F5-980D-2F580D5D046C}" sibTransId="{BAD65EFA-967E-4883-AE14-C7953EF71C1F}"/>
    <dgm:cxn modelId="{10D097CA-E7CD-4428-8B11-E9F7EA003D0A}" type="presOf" srcId="{D6618069-B0EC-4200-9E36-A2D5FA553F52}" destId="{DCE22BBA-999E-458F-ADE2-6AD635E0B027}" srcOrd="1" destOrd="0" presId="urn:microsoft.com/office/officeart/2005/8/layout/cycle8"/>
    <dgm:cxn modelId="{952FC0D1-ACC3-489B-9B7D-E2B9EC3D23F4}" type="presOf" srcId="{52D369AA-59C0-49E1-B55E-B70432456B9A}" destId="{50B73C20-8720-412A-ABE2-B41B774F189B}" srcOrd="0" destOrd="0" presId="urn:microsoft.com/office/officeart/2005/8/layout/cycle8"/>
    <dgm:cxn modelId="{6A173FDB-54F1-4B5C-AC26-42035B875450}" type="presOf" srcId="{43434F5F-A1D0-4D7B-93B7-E3D3DB8C0F0B}" destId="{EDCE5F9B-1D88-4D8D-9083-55DD36D07A64}" srcOrd="0" destOrd="0" presId="urn:microsoft.com/office/officeart/2005/8/layout/cycle8"/>
    <dgm:cxn modelId="{F0697471-CBB1-4158-933D-B4B3F75E0604}" type="presParOf" srcId="{50B73C20-8720-412A-ABE2-B41B774F189B}" destId="{8C235FE3-3F71-44C2-A46B-539B833DE24C}" srcOrd="0" destOrd="0" presId="urn:microsoft.com/office/officeart/2005/8/layout/cycle8"/>
    <dgm:cxn modelId="{168EB40C-5A6D-4F3F-BF2C-FCF94CCE2D39}" type="presParOf" srcId="{50B73C20-8720-412A-ABE2-B41B774F189B}" destId="{90038AF1-24CC-43B0-9B1B-D923A7B56C3C}" srcOrd="1" destOrd="0" presId="urn:microsoft.com/office/officeart/2005/8/layout/cycle8"/>
    <dgm:cxn modelId="{569908DA-43D7-45B1-8009-0FA68FF133C5}" type="presParOf" srcId="{50B73C20-8720-412A-ABE2-B41B774F189B}" destId="{71E81969-F2BB-4CC9-867D-9E0708DF02FF}" srcOrd="2" destOrd="0" presId="urn:microsoft.com/office/officeart/2005/8/layout/cycle8"/>
    <dgm:cxn modelId="{120B6D63-67B5-4651-89B8-2F4AFC748633}" type="presParOf" srcId="{50B73C20-8720-412A-ABE2-B41B774F189B}" destId="{DCE22BBA-999E-458F-ADE2-6AD635E0B027}" srcOrd="3" destOrd="0" presId="urn:microsoft.com/office/officeart/2005/8/layout/cycle8"/>
    <dgm:cxn modelId="{84303F93-7770-4778-B60E-02E295CCDB18}" type="presParOf" srcId="{50B73C20-8720-412A-ABE2-B41B774F189B}" destId="{EDCE5F9B-1D88-4D8D-9083-55DD36D07A64}" srcOrd="4" destOrd="0" presId="urn:microsoft.com/office/officeart/2005/8/layout/cycle8"/>
    <dgm:cxn modelId="{10C0342C-209A-4EE1-BB67-4E82BD92DDB7}" type="presParOf" srcId="{50B73C20-8720-412A-ABE2-B41B774F189B}" destId="{CF151D6C-DD1F-432A-9488-CEF8ED585BC2}" srcOrd="5" destOrd="0" presId="urn:microsoft.com/office/officeart/2005/8/layout/cycle8"/>
    <dgm:cxn modelId="{D088F9FD-84AC-4D71-B185-0A3300C456C8}" type="presParOf" srcId="{50B73C20-8720-412A-ABE2-B41B774F189B}" destId="{94572E03-695E-4870-97D9-5D3958380E35}" srcOrd="6" destOrd="0" presId="urn:microsoft.com/office/officeart/2005/8/layout/cycle8"/>
    <dgm:cxn modelId="{876BFD5D-E2AD-4F6B-9D62-8D6CA971713B}" type="presParOf" srcId="{50B73C20-8720-412A-ABE2-B41B774F189B}" destId="{9A004783-E531-48C1-8181-A872C2478DAA}" srcOrd="7" destOrd="0" presId="urn:microsoft.com/office/officeart/2005/8/layout/cycle8"/>
    <dgm:cxn modelId="{B9611131-DF8C-44CB-96EC-2C6187ABC38E}" type="presParOf" srcId="{50B73C20-8720-412A-ABE2-B41B774F189B}" destId="{A5E52B60-80D4-45E8-AB32-72C8832C4F04}" srcOrd="8" destOrd="0" presId="urn:microsoft.com/office/officeart/2005/8/layout/cycle8"/>
    <dgm:cxn modelId="{490646F5-EF01-44D1-947D-C692A4CDBA66}" type="presParOf" srcId="{50B73C20-8720-412A-ABE2-B41B774F189B}" destId="{5206D377-FF06-4A93-85A7-58B4AD85BDAC}" srcOrd="9" destOrd="0" presId="urn:microsoft.com/office/officeart/2005/8/layout/cycle8"/>
    <dgm:cxn modelId="{ECCF5117-1E10-477D-9559-5C5ECCAC164D}" type="presParOf" srcId="{50B73C20-8720-412A-ABE2-B41B774F189B}" destId="{F113BEB2-4F0E-4611-BCBE-814660A4A7D5}" srcOrd="10" destOrd="0" presId="urn:microsoft.com/office/officeart/2005/8/layout/cycle8"/>
    <dgm:cxn modelId="{15C2D79C-91A3-47CD-8374-199DEC331890}" type="presParOf" srcId="{50B73C20-8720-412A-ABE2-B41B774F189B}" destId="{54C2283A-AC5E-45E9-B06B-8E6497C8CC06}" srcOrd="11" destOrd="0" presId="urn:microsoft.com/office/officeart/2005/8/layout/cycle8"/>
    <dgm:cxn modelId="{D6E4223E-9B2A-4E44-AEAB-45457981423F}" type="presParOf" srcId="{50B73C20-8720-412A-ABE2-B41B774F189B}" destId="{45CD1A6F-7DD7-4DE4-B175-D658CA85DBBD}" srcOrd="12" destOrd="0" presId="urn:microsoft.com/office/officeart/2005/8/layout/cycle8"/>
    <dgm:cxn modelId="{816B34C5-1FCC-4A31-9A69-5F5054EF6618}" type="presParOf" srcId="{50B73C20-8720-412A-ABE2-B41B774F189B}" destId="{BADB538E-E5E0-42D9-8D41-A1BA0A54E760}" srcOrd="13" destOrd="0" presId="urn:microsoft.com/office/officeart/2005/8/layout/cycle8"/>
    <dgm:cxn modelId="{E58EBEFA-592C-400E-B377-C856EA82807F}" type="presParOf" srcId="{50B73C20-8720-412A-ABE2-B41B774F189B}" destId="{91C2630D-E657-4FDB-80ED-2B152AB0CF09}" srcOrd="14" destOrd="0" presId="urn:microsoft.com/office/officeart/2005/8/layout/cycle8"/>
    <dgm:cxn modelId="{CCD18F65-0485-48C6-909E-7BCBB943D79E}" type="presParOf" srcId="{50B73C20-8720-412A-ABE2-B41B774F189B}" destId="{49429826-AA5F-47CA-B11A-ABD6DE54C821}" srcOrd="15" destOrd="0" presId="urn:microsoft.com/office/officeart/2005/8/layout/cycle8"/>
    <dgm:cxn modelId="{63846FA1-5D85-42C9-933E-037704582F50}" type="presParOf" srcId="{50B73C20-8720-412A-ABE2-B41B774F189B}" destId="{3B487735-59B4-41E9-BDAB-5D244BF18F68}" srcOrd="16" destOrd="0" presId="urn:microsoft.com/office/officeart/2005/8/layout/cycle8"/>
    <dgm:cxn modelId="{D4A25B8E-ECDA-4E18-8745-075786C360BE}" type="presParOf" srcId="{50B73C20-8720-412A-ABE2-B41B774F189B}" destId="{939A2975-E45D-4D75-835C-838DA7CA4783}" srcOrd="17" destOrd="0" presId="urn:microsoft.com/office/officeart/2005/8/layout/cycle8"/>
    <dgm:cxn modelId="{D9F9CDC3-0A72-4389-BC90-F9E89F90FB55}" type="presParOf" srcId="{50B73C20-8720-412A-ABE2-B41B774F189B}" destId="{76229039-77BD-4536-8D9F-CEC0D2D14777}" srcOrd="18" destOrd="0" presId="urn:microsoft.com/office/officeart/2005/8/layout/cycle8"/>
    <dgm:cxn modelId="{B6377646-4E5F-4A6C-8830-F8F204A6839B}" type="presParOf" srcId="{50B73C20-8720-412A-ABE2-B41B774F189B}" destId="{85604DE5-89B7-4180-B562-F4BF7B9539D2}" srcOrd="19" destOrd="0" presId="urn:microsoft.com/office/officeart/2005/8/layout/cycle8"/>
    <dgm:cxn modelId="{6F3AA099-86CA-4C4C-A96A-80F24A60A4FF}" type="presParOf" srcId="{50B73C20-8720-412A-ABE2-B41B774F189B}" destId="{1B3C0182-CF0B-417D-8862-5551CF080ABD}" srcOrd="20" destOrd="0" presId="urn:microsoft.com/office/officeart/2005/8/layout/cycle8"/>
    <dgm:cxn modelId="{5A889218-F07E-4117-9BF5-4D3C479D9E0F}" type="presParOf" srcId="{50B73C20-8720-412A-ABE2-B41B774F189B}" destId="{943B39FA-B7B3-4946-B395-D611843A2FD5}" srcOrd="21" destOrd="0" presId="urn:microsoft.com/office/officeart/2005/8/layout/cycle8"/>
    <dgm:cxn modelId="{DF53E29A-B27D-4573-A778-472B14395646}" type="presParOf" srcId="{50B73C20-8720-412A-ABE2-B41B774F189B}" destId="{F382579C-1F35-4CBE-B203-942B20126A0F}" srcOrd="22" destOrd="0" presId="urn:microsoft.com/office/officeart/2005/8/layout/cycle8"/>
    <dgm:cxn modelId="{5AC306C3-10BC-426E-8737-A1813C15BCD0}" type="presParOf" srcId="{50B73C20-8720-412A-ABE2-B41B774F189B}" destId="{CDF1F5E0-2273-4303-AC97-73925993329B}" srcOrd="23" destOrd="0" presId="urn:microsoft.com/office/officeart/2005/8/layout/cycle8"/>
    <dgm:cxn modelId="{F6E7CDAB-577A-4E47-87DF-7F49B00FF327}" type="presParOf" srcId="{50B73C20-8720-412A-ABE2-B41B774F189B}" destId="{578C926A-45BB-4DF8-A8E0-D69C701E431E}" srcOrd="2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35FE3-3F71-44C2-A46B-539B833DE24C}">
      <dsp:nvSpPr>
        <dsp:cNvPr id="0" name=""/>
        <dsp:cNvSpPr/>
      </dsp:nvSpPr>
      <dsp:spPr>
        <a:xfrm>
          <a:off x="307888" y="153664"/>
          <a:ext cx="2085273" cy="2085273"/>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t" anchorCtr="0">
          <a:noAutofit/>
        </a:bodyPr>
        <a:lstStyle/>
        <a:p>
          <a:pPr marL="0" lvl="0" indent="0" algn="l" defTabSz="355600">
            <a:lnSpc>
              <a:spcPct val="90000"/>
            </a:lnSpc>
            <a:spcBef>
              <a:spcPct val="0"/>
            </a:spcBef>
            <a:spcAft>
              <a:spcPct val="35000"/>
            </a:spcAft>
            <a:buNone/>
          </a:pPr>
          <a:r>
            <a:rPr lang="en-US" sz="800" kern="1200" noProof="0" dirty="0">
              <a:solidFill>
                <a:srgbClr val="FFFFFF"/>
              </a:solidFill>
              <a:latin typeface="Arial" panose="020B0604020202020204" pitchFamily="34" charset="0"/>
              <a:ea typeface="+mn-ea"/>
              <a:cs typeface="Arial" panose="020B0604020202020204" pitchFamily="34" charset="0"/>
            </a:rPr>
            <a:t>Define</a:t>
          </a:r>
        </a:p>
        <a:p>
          <a:pPr marL="57150" lvl="1" indent="-57150" algn="l" defTabSz="266700">
            <a:lnSpc>
              <a:spcPct val="90000"/>
            </a:lnSpc>
            <a:spcBef>
              <a:spcPct val="0"/>
            </a:spcBef>
            <a:spcAft>
              <a:spcPct val="15000"/>
            </a:spcAft>
            <a:buChar char="•"/>
          </a:pPr>
          <a:endParaRPr lang="en-US" sz="600" kern="1200" noProof="0" dirty="0">
            <a:solidFill>
              <a:srgbClr val="FFFFFF"/>
            </a:solidFill>
            <a:latin typeface="Arial" panose="020B0604020202020204" pitchFamily="34" charset="0"/>
            <a:ea typeface="+mn-ea"/>
            <a:cs typeface="Arial" panose="020B0604020202020204" pitchFamily="34" charset="0"/>
          </a:endParaRPr>
        </a:p>
      </dsp:txBody>
      <dsp:txXfrm>
        <a:off x="1493864" y="569628"/>
        <a:ext cx="473950" cy="315966"/>
      </dsp:txXfrm>
    </dsp:sp>
    <dsp:sp modelId="{EDCE5F9B-1D88-4D8D-9083-55DD36D07A64}">
      <dsp:nvSpPr>
        <dsp:cNvPr id="0" name=""/>
        <dsp:cNvSpPr/>
      </dsp:nvSpPr>
      <dsp:spPr>
        <a:xfrm>
          <a:off x="325762" y="209272"/>
          <a:ext cx="2085273" cy="2085273"/>
        </a:xfrm>
        <a:prstGeom prst="pie">
          <a:avLst>
            <a:gd name="adj1" fmla="val 20520000"/>
            <a:gd name="adj2" fmla="val 3240000"/>
          </a:avLst>
        </a:prstGeom>
        <a:solidFill>
          <a:srgbClr val="27AAE1"/>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dirty="0">
              <a:solidFill>
                <a:srgbClr val="FFFFFF"/>
              </a:solidFill>
              <a:latin typeface="Arial" panose="020B0604020202020204" pitchFamily="34" charset="0"/>
              <a:ea typeface="+mn-ea"/>
              <a:cs typeface="Arial" panose="020B0604020202020204" pitchFamily="34" charset="0"/>
            </a:rPr>
            <a:t>Measure</a:t>
          </a:r>
        </a:p>
      </dsp:txBody>
      <dsp:txXfrm>
        <a:off x="1759664" y="1234753"/>
        <a:ext cx="438843" cy="351073"/>
      </dsp:txXfrm>
    </dsp:sp>
    <dsp:sp modelId="{A5E52B60-80D4-45E8-AB32-72C8832C4F04}">
      <dsp:nvSpPr>
        <dsp:cNvPr id="0" name=""/>
        <dsp:cNvSpPr/>
      </dsp:nvSpPr>
      <dsp:spPr>
        <a:xfrm>
          <a:off x="278595" y="243530"/>
          <a:ext cx="2085273" cy="2085273"/>
        </a:xfrm>
        <a:prstGeom prst="pie">
          <a:avLst>
            <a:gd name="adj1" fmla="val 3240000"/>
            <a:gd name="adj2" fmla="val 7560000"/>
          </a:avLst>
        </a:prstGeom>
        <a:solidFill>
          <a:srgbClr val="EC008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dirty="0">
              <a:solidFill>
                <a:srgbClr val="FFFFFF"/>
              </a:solidFill>
              <a:latin typeface="Arial" panose="020B0604020202020204" pitchFamily="34" charset="0"/>
              <a:ea typeface="+mn-ea"/>
              <a:cs typeface="Arial" panose="020B0604020202020204" pitchFamily="34" charset="0"/>
            </a:rPr>
            <a:t>Analyze</a:t>
          </a:r>
        </a:p>
        <a:p>
          <a:pPr marL="0" lvl="0" indent="0" algn="ctr" defTabSz="355600">
            <a:lnSpc>
              <a:spcPct val="90000"/>
            </a:lnSpc>
            <a:spcBef>
              <a:spcPct val="0"/>
            </a:spcBef>
            <a:spcAft>
              <a:spcPct val="35000"/>
            </a:spcAft>
            <a:buNone/>
          </a:pPr>
          <a:endParaRPr lang="en-US" sz="800" kern="1200" noProof="0" dirty="0">
            <a:solidFill>
              <a:srgbClr val="FFFFFF"/>
            </a:solidFill>
            <a:latin typeface="Arial" panose="020B0604020202020204" pitchFamily="34" charset="0"/>
            <a:ea typeface="+mn-ea"/>
            <a:cs typeface="Arial" panose="020B0604020202020204" pitchFamily="34" charset="0"/>
          </a:endParaRPr>
        </a:p>
      </dsp:txBody>
      <dsp:txXfrm>
        <a:off x="1110587" y="1788167"/>
        <a:ext cx="421288" cy="386180"/>
      </dsp:txXfrm>
    </dsp:sp>
    <dsp:sp modelId="{45CD1A6F-7DD7-4DE4-B175-D658CA85DBBD}">
      <dsp:nvSpPr>
        <dsp:cNvPr id="0" name=""/>
        <dsp:cNvSpPr/>
      </dsp:nvSpPr>
      <dsp:spPr>
        <a:xfrm>
          <a:off x="231428" y="209272"/>
          <a:ext cx="2085273" cy="2085273"/>
        </a:xfrm>
        <a:prstGeom prst="pie">
          <a:avLst>
            <a:gd name="adj1" fmla="val 7560000"/>
            <a:gd name="adj2" fmla="val 11880000"/>
          </a:avLst>
        </a:prstGeom>
        <a:solidFill>
          <a:srgbClr val="FBBA00"/>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dirty="0">
              <a:solidFill>
                <a:srgbClr val="FFFFFF"/>
              </a:solidFill>
              <a:latin typeface="Arial" panose="020B0604020202020204" pitchFamily="34" charset="0"/>
              <a:ea typeface="+mn-ea"/>
              <a:cs typeface="Arial" panose="020B0604020202020204" pitchFamily="34" charset="0"/>
            </a:rPr>
            <a:t>Improve</a:t>
          </a:r>
        </a:p>
      </dsp:txBody>
      <dsp:txXfrm>
        <a:off x="443956" y="1234753"/>
        <a:ext cx="438843" cy="351073"/>
      </dsp:txXfrm>
    </dsp:sp>
    <dsp:sp modelId="{3B487735-59B4-41E9-BDAB-5D244BF18F68}">
      <dsp:nvSpPr>
        <dsp:cNvPr id="0" name=""/>
        <dsp:cNvSpPr/>
      </dsp:nvSpPr>
      <dsp:spPr>
        <a:xfrm>
          <a:off x="249302" y="153664"/>
          <a:ext cx="2085273" cy="2085273"/>
        </a:xfrm>
        <a:prstGeom prst="pie">
          <a:avLst>
            <a:gd name="adj1" fmla="val 11880000"/>
            <a:gd name="adj2" fmla="val 16200000"/>
          </a:avLst>
        </a:prstGeom>
        <a:solidFill>
          <a:srgbClr val="7030A0"/>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dirty="0">
              <a:solidFill>
                <a:srgbClr val="FFFFFF"/>
              </a:solidFill>
              <a:latin typeface="Arial" panose="020B0604020202020204" pitchFamily="34" charset="0"/>
              <a:ea typeface="+mn-ea"/>
              <a:cs typeface="Arial" panose="020B0604020202020204" pitchFamily="34" charset="0"/>
            </a:rPr>
            <a:t>Control</a:t>
          </a:r>
        </a:p>
        <a:p>
          <a:pPr marL="0" lvl="0" indent="0" algn="ctr" defTabSz="355600">
            <a:lnSpc>
              <a:spcPct val="90000"/>
            </a:lnSpc>
            <a:spcBef>
              <a:spcPct val="0"/>
            </a:spcBef>
            <a:spcAft>
              <a:spcPct val="35000"/>
            </a:spcAft>
            <a:buNone/>
          </a:pPr>
          <a:endParaRPr lang="en-US" sz="800" kern="1200" noProof="0" dirty="0">
            <a:solidFill>
              <a:srgbClr val="FFFFFF"/>
            </a:solidFill>
            <a:latin typeface="Arial" panose="020B0604020202020204" pitchFamily="34" charset="0"/>
            <a:ea typeface="+mn-ea"/>
            <a:cs typeface="Arial" panose="020B0604020202020204" pitchFamily="34" charset="0"/>
          </a:endParaRPr>
        </a:p>
      </dsp:txBody>
      <dsp:txXfrm>
        <a:off x="674649" y="569628"/>
        <a:ext cx="473950" cy="315966"/>
      </dsp:txXfrm>
    </dsp:sp>
    <dsp:sp modelId="{1B3C0182-CF0B-417D-8862-5551CF080ABD}">
      <dsp:nvSpPr>
        <dsp:cNvPr id="0" name=""/>
        <dsp:cNvSpPr/>
      </dsp:nvSpPr>
      <dsp:spPr>
        <a:xfrm>
          <a:off x="178702" y="24576"/>
          <a:ext cx="2343449" cy="2343449"/>
        </a:xfrm>
        <a:prstGeom prst="circularArrow">
          <a:avLst>
            <a:gd name="adj1" fmla="val 5085"/>
            <a:gd name="adj2" fmla="val 327528"/>
            <a:gd name="adj3" fmla="val 20192361"/>
            <a:gd name="adj4" fmla="val 16200324"/>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943B39FA-B7B3-4946-B395-D611843A2FD5}">
      <dsp:nvSpPr>
        <dsp:cNvPr id="0" name=""/>
        <dsp:cNvSpPr/>
      </dsp:nvSpPr>
      <dsp:spPr>
        <a:xfrm>
          <a:off x="196818" y="80165"/>
          <a:ext cx="2343449" cy="2343449"/>
        </a:xfrm>
        <a:prstGeom prst="circularArrow">
          <a:avLst>
            <a:gd name="adj1" fmla="val 5085"/>
            <a:gd name="adj2" fmla="val 327528"/>
            <a:gd name="adj3" fmla="val 2912753"/>
            <a:gd name="adj4" fmla="val 20519953"/>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F382579C-1F35-4CBE-B203-942B20126A0F}">
      <dsp:nvSpPr>
        <dsp:cNvPr id="0" name=""/>
        <dsp:cNvSpPr/>
      </dsp:nvSpPr>
      <dsp:spPr>
        <a:xfrm>
          <a:off x="149507" y="114528"/>
          <a:ext cx="2343449" cy="2343449"/>
        </a:xfrm>
        <a:prstGeom prst="circularArrow">
          <a:avLst>
            <a:gd name="adj1" fmla="val 5085"/>
            <a:gd name="adj2" fmla="val 327528"/>
            <a:gd name="adj3" fmla="val 7232777"/>
            <a:gd name="adj4" fmla="val 3239695"/>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CDF1F5E0-2273-4303-AC97-73925993329B}">
      <dsp:nvSpPr>
        <dsp:cNvPr id="0" name=""/>
        <dsp:cNvSpPr/>
      </dsp:nvSpPr>
      <dsp:spPr>
        <a:xfrm>
          <a:off x="102196" y="80165"/>
          <a:ext cx="2343449" cy="2343449"/>
        </a:xfrm>
        <a:prstGeom prst="circularArrow">
          <a:avLst>
            <a:gd name="adj1" fmla="val 5085"/>
            <a:gd name="adj2" fmla="val 327528"/>
            <a:gd name="adj3" fmla="val 11552519"/>
            <a:gd name="adj4" fmla="val 7559718"/>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578C926A-45BB-4DF8-A8E0-D69C701E431E}">
      <dsp:nvSpPr>
        <dsp:cNvPr id="0" name=""/>
        <dsp:cNvSpPr/>
      </dsp:nvSpPr>
      <dsp:spPr>
        <a:xfrm>
          <a:off x="120312" y="24576"/>
          <a:ext cx="2343449" cy="2343449"/>
        </a:xfrm>
        <a:prstGeom prst="circularArrow">
          <a:avLst>
            <a:gd name="adj1" fmla="val 5085"/>
            <a:gd name="adj2" fmla="val 327528"/>
            <a:gd name="adj3" fmla="val 15872148"/>
            <a:gd name="adj4" fmla="val 11880111"/>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35FE3-3F71-44C2-A46B-539B833DE24C}">
      <dsp:nvSpPr>
        <dsp:cNvPr id="0" name=""/>
        <dsp:cNvSpPr/>
      </dsp:nvSpPr>
      <dsp:spPr>
        <a:xfrm>
          <a:off x="982810" y="257544"/>
          <a:ext cx="3799690" cy="3799690"/>
        </a:xfrm>
        <a:prstGeom prst="pie">
          <a:avLst>
            <a:gd name="adj1" fmla="val 16200000"/>
            <a:gd name="adj2" fmla="val 2052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t" anchorCtr="0">
          <a:noAutofit/>
        </a:bodyPr>
        <a:lstStyle/>
        <a:p>
          <a:pPr marL="0" lvl="0" indent="0" algn="l" defTabSz="711200">
            <a:lnSpc>
              <a:spcPct val="90000"/>
            </a:lnSpc>
            <a:spcBef>
              <a:spcPct val="0"/>
            </a:spcBef>
            <a:spcAft>
              <a:spcPct val="35000"/>
            </a:spcAft>
            <a:buNone/>
          </a:pPr>
          <a:r>
            <a:rPr lang="en-US" sz="1600" kern="1200" noProof="0" dirty="0">
              <a:solidFill>
                <a:schemeClr val="accent5"/>
              </a:solidFill>
              <a:latin typeface="Trebuchet MS"/>
              <a:ea typeface="+mn-ea"/>
              <a:cs typeface="+mn-cs"/>
            </a:rPr>
            <a:t>Define</a:t>
          </a:r>
        </a:p>
        <a:p>
          <a:pPr marL="114300" lvl="1" indent="-114300" algn="l" defTabSz="533400">
            <a:lnSpc>
              <a:spcPct val="90000"/>
            </a:lnSpc>
            <a:spcBef>
              <a:spcPct val="0"/>
            </a:spcBef>
            <a:spcAft>
              <a:spcPct val="15000"/>
            </a:spcAft>
            <a:buChar char="•"/>
          </a:pPr>
          <a:endParaRPr lang="en-US" sz="1200" kern="1200" noProof="0" dirty="0">
            <a:solidFill>
              <a:schemeClr val="accent5"/>
            </a:solidFill>
            <a:latin typeface="Trebuchet MS"/>
            <a:ea typeface="+mn-ea"/>
            <a:cs typeface="+mn-cs"/>
          </a:endParaRPr>
        </a:p>
      </dsp:txBody>
      <dsp:txXfrm>
        <a:off x="3143841" y="1015494"/>
        <a:ext cx="863611" cy="575739"/>
      </dsp:txXfrm>
    </dsp:sp>
    <dsp:sp modelId="{EDCE5F9B-1D88-4D8D-9083-55DD36D07A64}">
      <dsp:nvSpPr>
        <dsp:cNvPr id="0" name=""/>
        <dsp:cNvSpPr/>
      </dsp:nvSpPr>
      <dsp:spPr>
        <a:xfrm>
          <a:off x="1023928" y="403212"/>
          <a:ext cx="3799690" cy="3799690"/>
        </a:xfrm>
        <a:prstGeom prst="pie">
          <a:avLst>
            <a:gd name="adj1" fmla="val 20520000"/>
            <a:gd name="adj2" fmla="val 324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accent5"/>
              </a:solidFill>
              <a:latin typeface="Trebuchet MS"/>
              <a:ea typeface="+mn-ea"/>
              <a:cs typeface="+mn-cs"/>
            </a:rPr>
            <a:t>Measure</a:t>
          </a:r>
        </a:p>
      </dsp:txBody>
      <dsp:txXfrm>
        <a:off x="3636721" y="2271796"/>
        <a:ext cx="799638" cy="639712"/>
      </dsp:txXfrm>
    </dsp:sp>
    <dsp:sp modelId="{A5E52B60-80D4-45E8-AB32-72C8832C4F04}">
      <dsp:nvSpPr>
        <dsp:cNvPr id="0" name=""/>
        <dsp:cNvSpPr/>
      </dsp:nvSpPr>
      <dsp:spPr>
        <a:xfrm>
          <a:off x="919554" y="441431"/>
          <a:ext cx="3799690" cy="3799690"/>
        </a:xfrm>
        <a:prstGeom prst="pie">
          <a:avLst>
            <a:gd name="adj1" fmla="val 3240000"/>
            <a:gd name="adj2" fmla="val 756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accent5"/>
              </a:solidFill>
              <a:latin typeface="Trebuchet MS"/>
              <a:ea typeface="+mn-ea"/>
              <a:cs typeface="+mn-cs"/>
            </a:rPr>
            <a:t>Analyze</a:t>
          </a:r>
        </a:p>
        <a:p>
          <a:pPr marL="0" lvl="0" indent="0" algn="ctr" defTabSz="711200">
            <a:lnSpc>
              <a:spcPct val="90000"/>
            </a:lnSpc>
            <a:spcBef>
              <a:spcPct val="0"/>
            </a:spcBef>
            <a:spcAft>
              <a:spcPct val="35000"/>
            </a:spcAft>
            <a:buNone/>
          </a:pPr>
          <a:endParaRPr lang="en-US" sz="1600" kern="1200" noProof="0" dirty="0">
            <a:solidFill>
              <a:schemeClr val="accent5"/>
            </a:solidFill>
            <a:latin typeface="Trebuchet MS"/>
            <a:ea typeface="+mn-ea"/>
            <a:cs typeface="+mn-cs"/>
          </a:endParaRPr>
        </a:p>
      </dsp:txBody>
      <dsp:txXfrm>
        <a:off x="2435573" y="3255998"/>
        <a:ext cx="767653" cy="703683"/>
      </dsp:txXfrm>
    </dsp:sp>
    <dsp:sp modelId="{45CD1A6F-7DD7-4DE4-B175-D658CA85DBBD}">
      <dsp:nvSpPr>
        <dsp:cNvPr id="0" name=""/>
        <dsp:cNvSpPr/>
      </dsp:nvSpPr>
      <dsp:spPr>
        <a:xfrm>
          <a:off x="816244" y="385239"/>
          <a:ext cx="3799690" cy="3799690"/>
        </a:xfrm>
        <a:prstGeom prst="pie">
          <a:avLst>
            <a:gd name="adj1" fmla="val 7560000"/>
            <a:gd name="adj2" fmla="val 1188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solidFill>
                <a:schemeClr val="accent5"/>
              </a:solidFill>
              <a:latin typeface="Trebuchet MS"/>
              <a:ea typeface="+mn-ea"/>
              <a:cs typeface="+mn-cs"/>
            </a:rPr>
            <a:t>Improve</a:t>
          </a:r>
        </a:p>
      </dsp:txBody>
      <dsp:txXfrm>
        <a:off x="1203504" y="2253824"/>
        <a:ext cx="799638" cy="639712"/>
      </dsp:txXfrm>
    </dsp:sp>
    <dsp:sp modelId="{3B487735-59B4-41E9-BDAB-5D244BF18F68}">
      <dsp:nvSpPr>
        <dsp:cNvPr id="0" name=""/>
        <dsp:cNvSpPr/>
      </dsp:nvSpPr>
      <dsp:spPr>
        <a:xfrm>
          <a:off x="656815" y="72575"/>
          <a:ext cx="3799690" cy="3799690"/>
        </a:xfrm>
        <a:prstGeom prst="pie">
          <a:avLst>
            <a:gd name="adj1" fmla="val 11880000"/>
            <a:gd name="adj2" fmla="val 16200000"/>
          </a:avLst>
        </a:prstGeom>
        <a:solidFill>
          <a:srgbClr val="7030A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bg1"/>
              </a:solidFill>
              <a:latin typeface="Trebuchet MS"/>
              <a:ea typeface="+mn-ea"/>
              <a:cs typeface="+mn-cs"/>
            </a:rPr>
            <a:t>Control</a:t>
          </a:r>
        </a:p>
        <a:p>
          <a:pPr marL="0" lvl="0" indent="0" algn="ctr" defTabSz="711200">
            <a:lnSpc>
              <a:spcPct val="90000"/>
            </a:lnSpc>
            <a:spcBef>
              <a:spcPct val="0"/>
            </a:spcBef>
            <a:spcAft>
              <a:spcPct val="35000"/>
            </a:spcAft>
            <a:buNone/>
          </a:pPr>
          <a:endParaRPr lang="en-US" sz="1600" kern="1200" noProof="0" dirty="0">
            <a:solidFill>
              <a:schemeClr val="bg1"/>
            </a:solidFill>
            <a:latin typeface="Trebuchet MS"/>
            <a:ea typeface="+mn-ea"/>
            <a:cs typeface="+mn-cs"/>
          </a:endParaRPr>
        </a:p>
      </dsp:txBody>
      <dsp:txXfrm>
        <a:off x="1431863" y="830525"/>
        <a:ext cx="863611" cy="575739"/>
      </dsp:txXfrm>
    </dsp:sp>
    <dsp:sp modelId="{1B3C0182-CF0B-417D-8862-5551CF080ABD}">
      <dsp:nvSpPr>
        <dsp:cNvPr id="0" name=""/>
        <dsp:cNvSpPr/>
      </dsp:nvSpPr>
      <dsp:spPr>
        <a:xfrm>
          <a:off x="747412" y="22325"/>
          <a:ext cx="4270128" cy="4270128"/>
        </a:xfrm>
        <a:prstGeom prst="circularArrow">
          <a:avLst>
            <a:gd name="adj1" fmla="val 5085"/>
            <a:gd name="adj2" fmla="val 327528"/>
            <a:gd name="adj3" fmla="val 20192361"/>
            <a:gd name="adj4" fmla="val 16200324"/>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3B39FA-B7B3-4946-B395-D611843A2FD5}">
      <dsp:nvSpPr>
        <dsp:cNvPr id="0" name=""/>
        <dsp:cNvSpPr/>
      </dsp:nvSpPr>
      <dsp:spPr>
        <a:xfrm>
          <a:off x="788972" y="167960"/>
          <a:ext cx="4270128" cy="4270128"/>
        </a:xfrm>
        <a:prstGeom prst="circularArrow">
          <a:avLst>
            <a:gd name="adj1" fmla="val 5085"/>
            <a:gd name="adj2" fmla="val 327528"/>
            <a:gd name="adj3" fmla="val 2912753"/>
            <a:gd name="adj4" fmla="val 20519953"/>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82579C-1F35-4CBE-B203-942B20126A0F}">
      <dsp:nvSpPr>
        <dsp:cNvPr id="0" name=""/>
        <dsp:cNvSpPr/>
      </dsp:nvSpPr>
      <dsp:spPr>
        <a:xfrm>
          <a:off x="684335" y="206370"/>
          <a:ext cx="4270128" cy="4270128"/>
        </a:xfrm>
        <a:prstGeom prst="circularArrow">
          <a:avLst>
            <a:gd name="adj1" fmla="val 5085"/>
            <a:gd name="adj2" fmla="val 327528"/>
            <a:gd name="adj3" fmla="val 7232777"/>
            <a:gd name="adj4" fmla="val 3239695"/>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F1F5E0-2273-4303-AC97-73925993329B}">
      <dsp:nvSpPr>
        <dsp:cNvPr id="0" name=""/>
        <dsp:cNvSpPr/>
      </dsp:nvSpPr>
      <dsp:spPr>
        <a:xfrm>
          <a:off x="580763" y="149987"/>
          <a:ext cx="4270128" cy="4270128"/>
        </a:xfrm>
        <a:prstGeom prst="circularArrow">
          <a:avLst>
            <a:gd name="adj1" fmla="val 5085"/>
            <a:gd name="adj2" fmla="val 327528"/>
            <a:gd name="adj3" fmla="val 11552519"/>
            <a:gd name="adj4" fmla="val 7559718"/>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78C926A-45BB-4DF8-A8E0-D69C701E431E}">
      <dsp:nvSpPr>
        <dsp:cNvPr id="0" name=""/>
        <dsp:cNvSpPr/>
      </dsp:nvSpPr>
      <dsp:spPr>
        <a:xfrm>
          <a:off x="421775" y="-162643"/>
          <a:ext cx="4270128" cy="4270128"/>
        </a:xfrm>
        <a:prstGeom prst="circularArrow">
          <a:avLst>
            <a:gd name="adj1" fmla="val 5085"/>
            <a:gd name="adj2" fmla="val 327528"/>
            <a:gd name="adj3" fmla="val 15872148"/>
            <a:gd name="adj4" fmla="val 11880111"/>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C0E1A3-3AF2-46A2-B51F-FCE8DA824A88}"/>
              </a:ext>
            </a:extLst>
          </p:cNvPr>
          <p:cNvSpPr>
            <a:spLocks noGrp="1"/>
          </p:cNvSpPr>
          <p:nvPr>
            <p:ph type="hdr" sz="quarter"/>
          </p:nvPr>
        </p:nvSpPr>
        <p:spPr>
          <a:xfrm>
            <a:off x="0" y="0"/>
            <a:ext cx="2985558" cy="502676"/>
          </a:xfrm>
          <a:prstGeom prst="rect">
            <a:avLst/>
          </a:prstGeom>
        </p:spPr>
        <p:txBody>
          <a:bodyPr vert="horz" lIns="96616" tIns="48308" rIns="96616" bIns="48308" rtlCol="0"/>
          <a:lstStyle>
            <a:lvl1pPr algn="l">
              <a:defRPr sz="1300"/>
            </a:lvl1pPr>
          </a:lstStyle>
          <a:p>
            <a:endParaRPr lang="en-US" dirty="0"/>
          </a:p>
        </p:txBody>
      </p:sp>
      <p:sp>
        <p:nvSpPr>
          <p:cNvPr id="3" name="Date Placeholder 2">
            <a:extLst>
              <a:ext uri="{FF2B5EF4-FFF2-40B4-BE49-F238E27FC236}">
                <a16:creationId xmlns:a16="http://schemas.microsoft.com/office/drawing/2014/main" id="{5509515F-BC01-4AE6-A364-F50A61B20761}"/>
              </a:ext>
            </a:extLst>
          </p:cNvPr>
          <p:cNvSpPr>
            <a:spLocks noGrp="1"/>
          </p:cNvSpPr>
          <p:nvPr>
            <p:ph type="dt" sz="quarter" idx="1"/>
          </p:nvPr>
        </p:nvSpPr>
        <p:spPr>
          <a:xfrm>
            <a:off x="3902597" y="0"/>
            <a:ext cx="2985558" cy="502676"/>
          </a:xfrm>
          <a:prstGeom prst="rect">
            <a:avLst/>
          </a:prstGeom>
        </p:spPr>
        <p:txBody>
          <a:bodyPr vert="horz" lIns="96616" tIns="48308" rIns="96616" bIns="48308" rtlCol="0"/>
          <a:lstStyle>
            <a:lvl1pPr algn="r">
              <a:defRPr sz="1300"/>
            </a:lvl1pPr>
          </a:lstStyle>
          <a:p>
            <a:fld id="{7AA2B7B0-EA51-457B-B65B-60441B325367}" type="datetimeFigureOut">
              <a:rPr lang="en-US" smtClean="0"/>
              <a:t>9/8/2026</a:t>
            </a:fld>
            <a:endParaRPr lang="en-US" dirty="0"/>
          </a:p>
        </p:txBody>
      </p:sp>
      <p:sp>
        <p:nvSpPr>
          <p:cNvPr id="4" name="Footer Placeholder 3">
            <a:extLst>
              <a:ext uri="{FF2B5EF4-FFF2-40B4-BE49-F238E27FC236}">
                <a16:creationId xmlns:a16="http://schemas.microsoft.com/office/drawing/2014/main" id="{EEEFE268-722F-42B0-8946-BA0AA1460191}"/>
              </a:ext>
            </a:extLst>
          </p:cNvPr>
          <p:cNvSpPr>
            <a:spLocks noGrp="1"/>
          </p:cNvSpPr>
          <p:nvPr>
            <p:ph type="ftr" sz="quarter" idx="2"/>
          </p:nvPr>
        </p:nvSpPr>
        <p:spPr>
          <a:xfrm>
            <a:off x="0" y="9516039"/>
            <a:ext cx="2985558" cy="502674"/>
          </a:xfrm>
          <a:prstGeom prst="rect">
            <a:avLst/>
          </a:prstGeom>
        </p:spPr>
        <p:txBody>
          <a:bodyPr vert="horz" lIns="96616" tIns="48308" rIns="96616" bIns="48308" rtlCol="0" anchor="b"/>
          <a:lstStyle>
            <a:lvl1pPr algn="l">
              <a:defRPr sz="1300"/>
            </a:lvl1pPr>
          </a:lstStyle>
          <a:p>
            <a:endParaRPr lang="en-US" dirty="0"/>
          </a:p>
        </p:txBody>
      </p:sp>
      <p:sp>
        <p:nvSpPr>
          <p:cNvPr id="5" name="Slide Number Placeholder 4">
            <a:extLst>
              <a:ext uri="{FF2B5EF4-FFF2-40B4-BE49-F238E27FC236}">
                <a16:creationId xmlns:a16="http://schemas.microsoft.com/office/drawing/2014/main" id="{B2E2B599-41FB-4652-A34A-CCA1781F5D62}"/>
              </a:ext>
            </a:extLst>
          </p:cNvPr>
          <p:cNvSpPr>
            <a:spLocks noGrp="1"/>
          </p:cNvSpPr>
          <p:nvPr>
            <p:ph type="sldNum" sz="quarter" idx="3"/>
          </p:nvPr>
        </p:nvSpPr>
        <p:spPr>
          <a:xfrm>
            <a:off x="3902597" y="9516039"/>
            <a:ext cx="2985558" cy="502674"/>
          </a:xfrm>
          <a:prstGeom prst="rect">
            <a:avLst/>
          </a:prstGeom>
        </p:spPr>
        <p:txBody>
          <a:bodyPr vert="horz" lIns="96616" tIns="48308" rIns="96616" bIns="48308" rtlCol="0" anchor="b"/>
          <a:lstStyle>
            <a:lvl1pPr algn="r">
              <a:defRPr sz="1300"/>
            </a:lvl1pPr>
          </a:lstStyle>
          <a:p>
            <a:fld id="{90E6CD02-EB1A-456A-A757-6B43469EF050}" type="slidenum">
              <a:rPr lang="en-US" smtClean="0"/>
              <a:t>‹#›</a:t>
            </a:fld>
            <a:endParaRPr lang="en-US" dirty="0"/>
          </a:p>
        </p:txBody>
      </p:sp>
    </p:spTree>
    <p:extLst>
      <p:ext uri="{BB962C8B-B14F-4D97-AF65-F5344CB8AC3E}">
        <p14:creationId xmlns:p14="http://schemas.microsoft.com/office/powerpoint/2010/main" val="23397436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5558" cy="502676"/>
          </a:xfrm>
          <a:prstGeom prst="rect">
            <a:avLst/>
          </a:prstGeom>
        </p:spPr>
        <p:txBody>
          <a:bodyPr vert="horz" lIns="96616" tIns="48308" rIns="96616" bIns="48308" rtlCol="0"/>
          <a:lstStyle>
            <a:lvl1pPr algn="l">
              <a:defRPr sz="1300"/>
            </a:lvl1pPr>
          </a:lstStyle>
          <a:p>
            <a:endParaRPr lang="en-GB" dirty="0"/>
          </a:p>
        </p:txBody>
      </p:sp>
      <p:sp>
        <p:nvSpPr>
          <p:cNvPr id="3" name="Date Placeholder 2"/>
          <p:cNvSpPr>
            <a:spLocks noGrp="1"/>
          </p:cNvSpPr>
          <p:nvPr>
            <p:ph type="dt" idx="1"/>
          </p:nvPr>
        </p:nvSpPr>
        <p:spPr>
          <a:xfrm>
            <a:off x="3902597" y="0"/>
            <a:ext cx="2985558" cy="502676"/>
          </a:xfrm>
          <a:prstGeom prst="rect">
            <a:avLst/>
          </a:prstGeom>
        </p:spPr>
        <p:txBody>
          <a:bodyPr vert="horz" lIns="96616" tIns="48308" rIns="96616" bIns="48308" rtlCol="0"/>
          <a:lstStyle>
            <a:lvl1pPr algn="r">
              <a:defRPr sz="1300"/>
            </a:lvl1pPr>
          </a:lstStyle>
          <a:p>
            <a:fld id="{10D46F84-1E2D-454C-BECC-D993D2FB15B4}" type="datetimeFigureOut">
              <a:rPr lang="en-GB" smtClean="0"/>
              <a:t>08/09/2026</a:t>
            </a:fld>
            <a:endParaRPr lang="en-GB" dirty="0"/>
          </a:p>
        </p:txBody>
      </p:sp>
      <p:sp>
        <p:nvSpPr>
          <p:cNvPr id="4" name="Slide Image Placeholder 3"/>
          <p:cNvSpPr>
            <a:spLocks noGrp="1" noRot="1" noChangeAspect="1"/>
          </p:cNvSpPr>
          <p:nvPr>
            <p:ph type="sldImg" idx="2"/>
          </p:nvPr>
        </p:nvSpPr>
        <p:spPr>
          <a:xfrm>
            <a:off x="439738" y="1252538"/>
            <a:ext cx="6010275" cy="3381375"/>
          </a:xfrm>
          <a:prstGeom prst="rect">
            <a:avLst/>
          </a:prstGeom>
          <a:noFill/>
          <a:ln w="12700">
            <a:solidFill>
              <a:prstClr val="black"/>
            </a:solidFill>
          </a:ln>
        </p:spPr>
        <p:txBody>
          <a:bodyPr vert="horz" lIns="96616" tIns="48308" rIns="96616" bIns="48308" rtlCol="0" anchor="ctr"/>
          <a:lstStyle/>
          <a:p>
            <a:endParaRPr lang="en-GB" dirty="0"/>
          </a:p>
        </p:txBody>
      </p:sp>
      <p:sp>
        <p:nvSpPr>
          <p:cNvPr id="5" name="Notes Placeholder 4"/>
          <p:cNvSpPr>
            <a:spLocks noGrp="1"/>
          </p:cNvSpPr>
          <p:nvPr>
            <p:ph type="body" sz="quarter" idx="3"/>
          </p:nvPr>
        </p:nvSpPr>
        <p:spPr>
          <a:xfrm>
            <a:off x="688975" y="4821506"/>
            <a:ext cx="5511800" cy="3944868"/>
          </a:xfrm>
          <a:prstGeom prst="rect">
            <a:avLst/>
          </a:prstGeom>
        </p:spPr>
        <p:txBody>
          <a:bodyPr vert="horz" lIns="96616" tIns="48308" rIns="96616" bIns="4830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516039"/>
            <a:ext cx="2985558" cy="502674"/>
          </a:xfrm>
          <a:prstGeom prst="rect">
            <a:avLst/>
          </a:prstGeom>
        </p:spPr>
        <p:txBody>
          <a:bodyPr vert="horz" lIns="96616" tIns="48308" rIns="96616" bIns="48308" rtlCol="0" anchor="b"/>
          <a:lstStyle>
            <a:lvl1pPr algn="l">
              <a:defRPr sz="1300"/>
            </a:lvl1pPr>
          </a:lstStyle>
          <a:p>
            <a:endParaRPr lang="en-GB" dirty="0"/>
          </a:p>
        </p:txBody>
      </p:sp>
      <p:sp>
        <p:nvSpPr>
          <p:cNvPr id="7" name="Slide Number Placeholder 6"/>
          <p:cNvSpPr>
            <a:spLocks noGrp="1"/>
          </p:cNvSpPr>
          <p:nvPr>
            <p:ph type="sldNum" sz="quarter" idx="5"/>
          </p:nvPr>
        </p:nvSpPr>
        <p:spPr>
          <a:xfrm>
            <a:off x="3902597" y="9516039"/>
            <a:ext cx="2985558" cy="502674"/>
          </a:xfrm>
          <a:prstGeom prst="rect">
            <a:avLst/>
          </a:prstGeom>
        </p:spPr>
        <p:txBody>
          <a:bodyPr vert="horz" lIns="96616" tIns="48308" rIns="96616" bIns="48308" rtlCol="0" anchor="b"/>
          <a:lstStyle>
            <a:lvl1pPr algn="r">
              <a:defRPr sz="1300"/>
            </a:lvl1pPr>
          </a:lstStyle>
          <a:p>
            <a:fld id="{644357A5-A22A-4334-8DF8-ABA91039FDEB}" type="slidenum">
              <a:rPr lang="en-GB" smtClean="0"/>
              <a:t>‹#›</a:t>
            </a:fld>
            <a:endParaRPr lang="en-GB" dirty="0"/>
          </a:p>
        </p:txBody>
      </p:sp>
    </p:spTree>
    <p:extLst>
      <p:ext uri="{BB962C8B-B14F-4D97-AF65-F5344CB8AC3E}">
        <p14:creationId xmlns:p14="http://schemas.microsoft.com/office/powerpoint/2010/main" val="2628401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Welcome to Statistical Process Control, the second module in the Control phase of Lean Six Sigma.</a:t>
            </a:r>
          </a:p>
          <a:p>
            <a:pPr>
              <a:lnSpc>
                <a:spcPct val="90000"/>
              </a:lnSpc>
            </a:pPr>
            <a:endParaRPr lang="en-US" dirty="0"/>
          </a:p>
          <a:p>
            <a:pPr>
              <a:lnSpc>
                <a:spcPct val="90000"/>
              </a:lnSpc>
            </a:pPr>
            <a:r>
              <a:rPr lang="en-US" dirty="0"/>
              <a:t>Today we will focus on how to use process data to tell the difference between normal day-to-day variation and a meaningful change that deserves investigation. Throughout the session, I will connect the concepts to workforce services so the examples feel practical and relevant to Equus projects.</a:t>
            </a:r>
          </a:p>
          <a:p>
            <a:pPr>
              <a:lnSpc>
                <a:spcPct val="90000"/>
              </a:lnSpc>
            </a:pPr>
            <a:endParaRPr lang="en-US" dirty="0"/>
          </a:p>
          <a:p>
            <a:pPr>
              <a:lnSpc>
                <a:spcPct val="90000"/>
              </a:lnSpc>
            </a:pPr>
            <a:r>
              <a:rPr lang="en-US" dirty="0"/>
              <a:t>By the end, you should be able to look at a control chart and explain what the process is telling you, without reacting to every individual result.</a:t>
            </a:r>
          </a:p>
          <a:p>
            <a:pPr>
              <a:lnSpc>
                <a:spcPct val="90000"/>
              </a:lnSpc>
            </a:pPr>
            <a:endParaRPr lang="en-US" dirty="0"/>
          </a:p>
          <a:p>
            <a:pPr>
              <a:lnSpc>
                <a:spcPct val="90000"/>
              </a:lnSpc>
            </a:pPr>
            <a:r>
              <a:rPr lang="en-US" dirty="0"/>
              <a:t>Transition: Let’s begin with a few quick expectations for our virtual session.</a:t>
            </a:r>
          </a:p>
        </p:txBody>
      </p:sp>
      <p:sp>
        <p:nvSpPr>
          <p:cNvPr id="4" name="Slide Number Placeholder 3"/>
          <p:cNvSpPr>
            <a:spLocks noGrp="1"/>
          </p:cNvSpPr>
          <p:nvPr>
            <p:ph type="sldNum" sz="quarter" idx="5"/>
          </p:nvPr>
        </p:nvSpPr>
        <p:spPr/>
        <p:txBody>
          <a:bodyPr/>
          <a:lstStyle/>
          <a:p>
            <a:fld id="{644357A5-A22A-4334-8DF8-ABA91039FDEB}" type="slidenum">
              <a:rPr lang="en-GB" smtClean="0"/>
              <a:t>1</a:t>
            </a:fld>
            <a:endParaRPr lang="en-GB" dirty="0"/>
          </a:p>
        </p:txBody>
      </p:sp>
    </p:spTree>
    <p:extLst>
      <p:ext uri="{BB962C8B-B14F-4D97-AF65-F5344CB8AC3E}">
        <p14:creationId xmlns:p14="http://schemas.microsoft.com/office/powerpoint/2010/main" val="1412409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Before we get started, a few quick housekeeping items. We have 90 minutes together. Please mute your microphone when you are not speaking so everyone can hear clearly.</a:t>
            </a:r>
          </a:p>
          <a:p>
            <a:pPr>
              <a:lnSpc>
                <a:spcPct val="90000"/>
              </a:lnSpc>
            </a:pPr>
            <a:endParaRPr lang="en-US" dirty="0"/>
          </a:p>
          <a:p>
            <a:pPr>
              <a:lnSpc>
                <a:spcPct val="90000"/>
              </a:lnSpc>
            </a:pPr>
            <a:r>
              <a:rPr lang="en-US" dirty="0"/>
              <a:t>Questions are welcome throughout the session. You can add them to the chat as they come up, and I will pause at key points to address them. There will also be opportunities to work through examples together.</a:t>
            </a:r>
          </a:p>
          <a:p>
            <a:pPr>
              <a:lnSpc>
                <a:spcPct val="90000"/>
              </a:lnSpc>
            </a:pPr>
            <a:endParaRPr lang="en-US" dirty="0"/>
          </a:p>
          <a:p>
            <a:pPr>
              <a:lnSpc>
                <a:spcPct val="90000"/>
              </a:lnSpc>
            </a:pPr>
            <a:r>
              <a:rPr lang="en-US" dirty="0"/>
              <a:t>This module sits in the Control phase of the Lean Six Sigma method. The focus is not just on making an improvement, but on making sure the improvement lasts.</a:t>
            </a:r>
          </a:p>
          <a:p>
            <a:pPr>
              <a:lnSpc>
                <a:spcPct val="90000"/>
              </a:lnSpc>
            </a:pPr>
            <a:endParaRPr lang="en-US" dirty="0"/>
          </a:p>
          <a:p>
            <a:pPr>
              <a:lnSpc>
                <a:spcPct val="90000"/>
              </a:lnSpc>
            </a:pPr>
            <a:r>
              <a:rPr lang="en-US" dirty="0"/>
              <a:t>Transition: Let’s place today’s session within the overall Control curriculum.</a:t>
            </a:r>
          </a:p>
        </p:txBody>
      </p:sp>
      <p:sp>
        <p:nvSpPr>
          <p:cNvPr id="4" name="Slide Number Placeholder 3"/>
          <p:cNvSpPr>
            <a:spLocks noGrp="1"/>
          </p:cNvSpPr>
          <p:nvPr>
            <p:ph type="sldNum" sz="quarter" idx="5"/>
          </p:nvPr>
        </p:nvSpPr>
        <p:spPr/>
        <p:txBody>
          <a:bodyPr/>
          <a:lstStyle/>
          <a:p>
            <a:fld id="{336F8861-7D18-944D-B836-A484A82765AD}" type="slidenum">
              <a:rPr lang="en-US" smtClean="0"/>
              <a:t>2</a:t>
            </a:fld>
            <a:endParaRPr lang="en-US" dirty="0"/>
          </a:p>
        </p:txBody>
      </p:sp>
    </p:spTree>
    <p:extLst>
      <p:ext uri="{BB962C8B-B14F-4D97-AF65-F5344CB8AC3E}">
        <p14:creationId xmlns:p14="http://schemas.microsoft.com/office/powerpoint/2010/main" val="903863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The Control phase includes two modules. The first introduces the purpose and activities of Control. This module, LSS27, builds on that foundation by focusing on Statistical Process Control.</a:t>
            </a:r>
          </a:p>
          <a:p>
            <a:pPr>
              <a:lnSpc>
                <a:spcPct val="90000"/>
              </a:lnSpc>
            </a:pPr>
            <a:endParaRPr lang="en-US" dirty="0"/>
          </a:p>
          <a:p>
            <a:pPr>
              <a:lnSpc>
                <a:spcPct val="90000"/>
              </a:lnSpc>
            </a:pPr>
            <a:r>
              <a:rPr lang="en-US" dirty="0"/>
              <a:t>SPC gives us a structured way to monitor performance after an improvement has been implemented. For an Equus project, that might mean watching participant enrollment time, referral-to-service time, employer response time, or the number of incomplete case records.</a:t>
            </a:r>
          </a:p>
          <a:p>
            <a:pPr>
              <a:lnSpc>
                <a:spcPct val="90000"/>
              </a:lnSpc>
            </a:pPr>
            <a:endParaRPr lang="en-US" dirty="0"/>
          </a:p>
          <a:p>
            <a:pPr>
              <a:lnSpc>
                <a:spcPct val="90000"/>
              </a:lnSpc>
            </a:pPr>
            <a:r>
              <a:rPr lang="en-US" dirty="0"/>
              <a:t>The important point is that Control is active. We do not simply close a project and hope the results continue. We put measures in place so the Process Owner can see whether the new process remains stable.</a:t>
            </a:r>
          </a:p>
          <a:p>
            <a:pPr>
              <a:lnSpc>
                <a:spcPct val="90000"/>
              </a:lnSpc>
            </a:pPr>
            <a:endParaRPr lang="en-US" dirty="0"/>
          </a:p>
          <a:p>
            <a:pPr>
              <a:lnSpc>
                <a:spcPct val="90000"/>
              </a:lnSpc>
            </a:pPr>
            <a:r>
              <a:rPr lang="en-US" dirty="0"/>
              <a:t>Transition: Here is what you should be able to do by the end of the session.</a:t>
            </a:r>
          </a:p>
        </p:txBody>
      </p:sp>
      <p:sp>
        <p:nvSpPr>
          <p:cNvPr id="4" name="Slide Number Placeholder 3"/>
          <p:cNvSpPr>
            <a:spLocks noGrp="1"/>
          </p:cNvSpPr>
          <p:nvPr>
            <p:ph type="sldNum" sz="quarter" idx="5"/>
          </p:nvPr>
        </p:nvSpPr>
        <p:spPr/>
        <p:txBody>
          <a:bodyPr/>
          <a:lstStyle/>
          <a:p>
            <a:fld id="{336F8861-7D18-944D-B836-A484A82765AD}" type="slidenum">
              <a:rPr lang="en-US" smtClean="0"/>
              <a:t>3</a:t>
            </a:fld>
            <a:endParaRPr lang="en-US" dirty="0"/>
          </a:p>
        </p:txBody>
      </p:sp>
    </p:spTree>
    <p:extLst>
      <p:ext uri="{BB962C8B-B14F-4D97-AF65-F5344CB8AC3E}">
        <p14:creationId xmlns:p14="http://schemas.microsoft.com/office/powerpoint/2010/main" val="13902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By the end of this module, you should be able to do two things.</a:t>
            </a:r>
          </a:p>
          <a:p>
            <a:pPr>
              <a:lnSpc>
                <a:spcPct val="90000"/>
              </a:lnSpc>
            </a:pPr>
            <a:endParaRPr lang="en-US" dirty="0"/>
          </a:p>
          <a:p>
            <a:pPr>
              <a:lnSpc>
                <a:spcPct val="90000"/>
              </a:lnSpc>
            </a:pPr>
            <a:r>
              <a:rPr lang="en-US" dirty="0"/>
              <a:t>First, select meaningful measures for monitoring an improved process. The measure should tell us whether the outcome that mattered to the project is being sustained.</a:t>
            </a:r>
          </a:p>
          <a:p>
            <a:pPr>
              <a:lnSpc>
                <a:spcPct val="90000"/>
              </a:lnSpc>
            </a:pPr>
            <a:endParaRPr lang="en-US" dirty="0"/>
          </a:p>
          <a:p>
            <a:pPr>
              <a:lnSpc>
                <a:spcPct val="90000"/>
              </a:lnSpc>
            </a:pPr>
            <a:r>
              <a:rPr lang="en-US" dirty="0"/>
              <a:t>Second, use an SPC chart to monitor performance and recognize warning signs that the process may have changed.</a:t>
            </a:r>
          </a:p>
          <a:p>
            <a:pPr>
              <a:lnSpc>
                <a:spcPct val="90000"/>
              </a:lnSpc>
            </a:pPr>
            <a:endParaRPr lang="en-US" dirty="0"/>
          </a:p>
          <a:p>
            <a:pPr>
              <a:lnSpc>
                <a:spcPct val="90000"/>
              </a:lnSpc>
            </a:pPr>
            <a:r>
              <a:rPr lang="en-US" dirty="0"/>
              <a:t>For example, if an Equus team improves the time from participant referral to first appointment, the team needs a clear measure, a consistent method of collecting it, and a way to recognize when performance is no longer following the expected pattern.</a:t>
            </a:r>
          </a:p>
          <a:p>
            <a:pPr>
              <a:lnSpc>
                <a:spcPct val="90000"/>
              </a:lnSpc>
            </a:pPr>
            <a:endParaRPr lang="en-US" dirty="0"/>
          </a:p>
          <a:p>
            <a:pPr>
              <a:lnSpc>
                <a:spcPct val="90000"/>
              </a:lnSpc>
            </a:pPr>
            <a:r>
              <a:rPr lang="en-US" dirty="0"/>
              <a:t>We are not trying to turn everyone into a statistician. The goal is to make confident, evidence-based operational decisions.</a:t>
            </a:r>
          </a:p>
          <a:p>
            <a:pPr>
              <a:lnSpc>
                <a:spcPct val="90000"/>
              </a:lnSpc>
            </a:pPr>
            <a:endParaRPr lang="en-US" dirty="0"/>
          </a:p>
          <a:p>
            <a:pPr>
              <a:lnSpc>
                <a:spcPct val="90000"/>
              </a:lnSpc>
            </a:pPr>
            <a:r>
              <a:rPr lang="en-US" dirty="0"/>
              <a:t>Transition: Let’s start by defining Statistical Process Control.</a:t>
            </a:r>
          </a:p>
        </p:txBody>
      </p:sp>
      <p:sp>
        <p:nvSpPr>
          <p:cNvPr id="4" name="Slide Number Placeholder 3"/>
          <p:cNvSpPr>
            <a:spLocks noGrp="1"/>
          </p:cNvSpPr>
          <p:nvPr>
            <p:ph type="sldNum" sz="quarter" idx="5"/>
          </p:nvPr>
        </p:nvSpPr>
        <p:spPr/>
        <p:txBody>
          <a:bodyPr/>
          <a:lstStyle/>
          <a:p>
            <a:fld id="{336F8861-7D18-944D-B836-A484A82765AD}" type="slidenum">
              <a:rPr lang="en-US" smtClean="0"/>
              <a:t>4</a:t>
            </a:fld>
            <a:endParaRPr lang="en-US" dirty="0"/>
          </a:p>
        </p:txBody>
      </p:sp>
    </p:spTree>
    <p:extLst>
      <p:ext uri="{BB962C8B-B14F-4D97-AF65-F5344CB8AC3E}">
        <p14:creationId xmlns:p14="http://schemas.microsoft.com/office/powerpoint/2010/main" val="2698159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Now we are moving into our first section: defining Statistical Process Control, or SPC.</a:t>
            </a:r>
          </a:p>
          <a:p>
            <a:pPr>
              <a:lnSpc>
                <a:spcPct val="90000"/>
              </a:lnSpc>
            </a:pPr>
            <a:endParaRPr lang="en-US" dirty="0"/>
          </a:p>
          <a:p>
            <a:pPr>
              <a:lnSpc>
                <a:spcPct val="90000"/>
              </a:lnSpc>
            </a:pPr>
            <a:r>
              <a:rPr lang="en-US" dirty="0"/>
              <a:t>The term can sound technical, but the idea is straightforward. SPC is a way of using data over time to understand how a process normally behaves and to highlight when something meaningful has changed.</a:t>
            </a:r>
          </a:p>
          <a:p>
            <a:pPr>
              <a:lnSpc>
                <a:spcPct val="90000"/>
              </a:lnSpc>
            </a:pPr>
            <a:endParaRPr lang="en-US" dirty="0"/>
          </a:p>
          <a:p>
            <a:pPr>
              <a:lnSpc>
                <a:spcPct val="90000"/>
              </a:lnSpc>
            </a:pPr>
            <a:r>
              <a:rPr lang="en-US" dirty="0"/>
              <a:t>In workforce services, that could mean monitoring how long eligibility verification takes, how quickly a participant moves from referral to enrollment, or how consistently follow-up contacts are completed.</a:t>
            </a:r>
          </a:p>
          <a:p>
            <a:pPr>
              <a:lnSpc>
                <a:spcPct val="90000"/>
              </a:lnSpc>
            </a:pPr>
            <a:endParaRPr lang="en-US" dirty="0"/>
          </a:p>
          <a:p>
            <a:pPr>
              <a:lnSpc>
                <a:spcPct val="90000"/>
              </a:lnSpc>
            </a:pPr>
            <a:r>
              <a:rPr lang="en-US" dirty="0"/>
              <a:t>As we work through this section, focus on the decisions the chart helps us make, not just the calculations behind it.</a:t>
            </a:r>
          </a:p>
          <a:p>
            <a:pPr>
              <a:lnSpc>
                <a:spcPct val="90000"/>
              </a:lnSpc>
            </a:pPr>
            <a:endParaRPr lang="en-US" dirty="0"/>
          </a:p>
          <a:p>
            <a:pPr>
              <a:lnSpc>
                <a:spcPct val="90000"/>
              </a:lnSpc>
            </a:pPr>
            <a:r>
              <a:rPr lang="en-US" dirty="0"/>
              <a:t>Transition: First, let’s briefly recap how SPC fits into the Control phase.</a:t>
            </a:r>
          </a:p>
        </p:txBody>
      </p:sp>
      <p:sp>
        <p:nvSpPr>
          <p:cNvPr id="4" name="Slide Number Placeholder 3"/>
          <p:cNvSpPr>
            <a:spLocks noGrp="1"/>
          </p:cNvSpPr>
          <p:nvPr>
            <p:ph type="sldNum" sz="quarter" idx="5"/>
          </p:nvPr>
        </p:nvSpPr>
        <p:spPr/>
        <p:txBody>
          <a:bodyPr/>
          <a:lstStyle/>
          <a:p>
            <a:fld id="{336F8861-7D18-944D-B836-A484A82765AD}" type="slidenum">
              <a:rPr lang="en-US" smtClean="0"/>
              <a:t>5</a:t>
            </a:fld>
            <a:endParaRPr lang="en-US" dirty="0"/>
          </a:p>
        </p:txBody>
      </p:sp>
    </p:spTree>
    <p:extLst>
      <p:ext uri="{BB962C8B-B14F-4D97-AF65-F5344CB8AC3E}">
        <p14:creationId xmlns:p14="http://schemas.microsoft.com/office/powerpoint/2010/main" val="3244594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The purpose of the Control phase is to sustain the improvement and make it part of normal day-to-day operations. A project is not truly successful if performance improves for a few weeks and then returns to the old pattern.</a:t>
            </a:r>
          </a:p>
          <a:p>
            <a:pPr>
              <a:lnSpc>
                <a:spcPct val="90000"/>
              </a:lnSpc>
            </a:pPr>
            <a:endParaRPr lang="en-US" dirty="0"/>
          </a:p>
          <a:p>
            <a:pPr>
              <a:lnSpc>
                <a:spcPct val="90000"/>
              </a:lnSpc>
            </a:pPr>
            <a:r>
              <a:rPr lang="en-US" dirty="0"/>
              <a:t>There are three connected parts. First are the inputs: the improved process, pilot results, critical measures, and current process documentation. Second are the Control activities: standardizing the change, creating a control plan, monitoring performance, and transitioning the work into business as usual. Third are the outputs: updated measures, documentation, training materials, the control plan, and the closure report.</a:t>
            </a:r>
          </a:p>
          <a:p>
            <a:pPr>
              <a:lnSpc>
                <a:spcPct val="90000"/>
              </a:lnSpc>
            </a:pPr>
            <a:endParaRPr lang="en-US" dirty="0"/>
          </a:p>
          <a:p>
            <a:pPr>
              <a:lnSpc>
                <a:spcPct val="90000"/>
              </a:lnSpc>
            </a:pPr>
            <a:r>
              <a:rPr lang="en-US" dirty="0"/>
              <a:t>For an Equus example, imagine a project reduced the average time from referral to first service from ten days to six. The Control phase establishes who owns that measure, how often it is reviewed, what signals require action, and where the updated process is documented.</a:t>
            </a:r>
          </a:p>
          <a:p>
            <a:pPr>
              <a:lnSpc>
                <a:spcPct val="90000"/>
              </a:lnSpc>
            </a:pPr>
            <a:endParaRPr lang="en-US" dirty="0"/>
          </a:p>
          <a:p>
            <a:pPr>
              <a:lnSpc>
                <a:spcPct val="90000"/>
              </a:lnSpc>
            </a:pPr>
            <a:r>
              <a:rPr lang="en-US" dirty="0"/>
              <a:t>Transition: One of the most important Control activities is monitoring process performance, and that is where SPC comes in.</a:t>
            </a:r>
          </a:p>
        </p:txBody>
      </p:sp>
      <p:sp>
        <p:nvSpPr>
          <p:cNvPr id="4" name="Slide Number Placeholder 3"/>
          <p:cNvSpPr>
            <a:spLocks noGrp="1"/>
          </p:cNvSpPr>
          <p:nvPr>
            <p:ph type="sldNum" sz="quarter" idx="5"/>
          </p:nvPr>
        </p:nvSpPr>
        <p:spPr/>
        <p:txBody>
          <a:bodyPr/>
          <a:lstStyle/>
          <a:p>
            <a:fld id="{336F8861-7D18-944D-B836-A484A82765AD}" type="slidenum">
              <a:rPr lang="en-US" smtClean="0"/>
              <a:t>6</a:t>
            </a:fld>
            <a:endParaRPr lang="en-US" dirty="0"/>
          </a:p>
        </p:txBody>
      </p:sp>
    </p:spTree>
    <p:extLst>
      <p:ext uri="{BB962C8B-B14F-4D97-AF65-F5344CB8AC3E}">
        <p14:creationId xmlns:p14="http://schemas.microsoft.com/office/powerpoint/2010/main" val="4091452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Statistical Process Control uses control charts to show how a process performs over time. It helps us see variation, judge whether the process is behaving consistently, and recognize early warning signals.</a:t>
            </a:r>
          </a:p>
          <a:p>
            <a:pPr>
              <a:lnSpc>
                <a:spcPct val="90000"/>
              </a:lnSpc>
            </a:pPr>
            <a:endParaRPr lang="en-US" dirty="0"/>
          </a:p>
          <a:p>
            <a:pPr>
              <a:lnSpc>
                <a:spcPct val="90000"/>
              </a:lnSpc>
            </a:pPr>
            <a:r>
              <a:rPr lang="en-US" dirty="0"/>
              <a:t>Look at the chart. Most points sit between the upper and lower control limits. That suggests the process is operating within its expected pattern. One point is above the upper limit. That point does not tell us the cause, and it does not automatically prove the whole process has failed. It tells us that something unusual may have happened and that we should investigate.</a:t>
            </a:r>
          </a:p>
          <a:p>
            <a:pPr>
              <a:lnSpc>
                <a:spcPct val="90000"/>
              </a:lnSpc>
            </a:pPr>
            <a:endParaRPr lang="en-US" dirty="0"/>
          </a:p>
          <a:p>
            <a:pPr>
              <a:lnSpc>
                <a:spcPct val="90000"/>
              </a:lnSpc>
            </a:pPr>
            <a:r>
              <a:rPr lang="en-US" dirty="0"/>
              <a:t>Imagine this chart represents days from eligibility approval to service enrollment. A point outside the limit might be connected to a system outage, delayed documentation, an unusually complex case, or a staffing disruption. We use evidence to find out which explanation, if any, is correct.</a:t>
            </a:r>
          </a:p>
          <a:p>
            <a:pPr>
              <a:lnSpc>
                <a:spcPct val="90000"/>
              </a:lnSpc>
            </a:pPr>
            <a:endParaRPr lang="en-US" dirty="0"/>
          </a:p>
          <a:p>
            <a:pPr>
              <a:lnSpc>
                <a:spcPct val="90000"/>
              </a:lnSpc>
            </a:pPr>
            <a:r>
              <a:rPr lang="en-US" dirty="0"/>
              <a:t>Key message: SPC tells us where to ask questions. It does not replace investigation.</a:t>
            </a:r>
          </a:p>
          <a:p>
            <a:pPr>
              <a:lnSpc>
                <a:spcPct val="90000"/>
              </a:lnSpc>
            </a:pPr>
            <a:endParaRPr lang="en-US" dirty="0"/>
          </a:p>
          <a:p>
            <a:pPr>
              <a:lnSpc>
                <a:spcPct val="90000"/>
              </a:lnSpc>
            </a:pPr>
            <a:r>
              <a:rPr lang="en-US" dirty="0"/>
              <a:t>Transition: Let’s apply that idea to a simple example.</a:t>
            </a:r>
          </a:p>
        </p:txBody>
      </p:sp>
      <p:sp>
        <p:nvSpPr>
          <p:cNvPr id="4" name="Slide Number Placeholder 3"/>
          <p:cNvSpPr>
            <a:spLocks noGrp="1"/>
          </p:cNvSpPr>
          <p:nvPr>
            <p:ph type="sldNum" sz="quarter" idx="5"/>
          </p:nvPr>
        </p:nvSpPr>
        <p:spPr/>
        <p:txBody>
          <a:bodyPr/>
          <a:lstStyle/>
          <a:p>
            <a:fld id="{336F8861-7D18-944D-B836-A484A82765AD}" type="slidenum">
              <a:rPr lang="en-US" smtClean="0"/>
              <a:t>7</a:t>
            </a:fld>
            <a:endParaRPr lang="en-US" dirty="0"/>
          </a:p>
        </p:txBody>
      </p:sp>
    </p:spTree>
    <p:extLst>
      <p:ext uri="{BB962C8B-B14F-4D97-AF65-F5344CB8AC3E}">
        <p14:creationId xmlns:p14="http://schemas.microsoft.com/office/powerpoint/2010/main" val="2105746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a:lnSpc>
                <a:spcPct val="90000"/>
              </a:lnSpc>
            </a:pPr>
            <a:r>
              <a:rPr lang="en-US" dirty="0"/>
              <a:t>In this scenario, a team tracks the time required to complete a routine process. The average is 26 minutes, and most results fall within the expected limits. On Day 10, the result reaches 54 minutes.</a:t>
            </a:r>
          </a:p>
          <a:p>
            <a:pPr>
              <a:lnSpc>
                <a:spcPct val="90000"/>
              </a:lnSpc>
            </a:pPr>
            <a:endParaRPr lang="en-US" dirty="0"/>
          </a:p>
          <a:p>
            <a:pPr>
              <a:lnSpc>
                <a:spcPct val="90000"/>
              </a:lnSpc>
            </a:pPr>
            <a:r>
              <a:rPr lang="en-US" dirty="0"/>
              <a:t>What should the team do: change the process immediately, or investigate why Day 10 was different? The best answer is to investigate.</a:t>
            </a:r>
          </a:p>
          <a:p>
            <a:pPr>
              <a:lnSpc>
                <a:spcPct val="90000"/>
              </a:lnSpc>
            </a:pPr>
            <a:endParaRPr lang="en-US" dirty="0"/>
          </a:p>
          <a:p>
            <a:pPr>
              <a:lnSpc>
                <a:spcPct val="90000"/>
              </a:lnSpc>
            </a:pPr>
            <a:r>
              <a:rPr lang="en-US" dirty="0"/>
              <a:t>For an Equus example, suppose participant intake normally takes around 30 minutes, but one day the average rises sharply. Before redesigning the intake process, we would check what changed. Was the case management system slow? Were more participants completing complex program eligibility steps? Was required documentation unavailable? Did a new compliance requirement take effect?</a:t>
            </a:r>
          </a:p>
          <a:p>
            <a:pPr>
              <a:lnSpc>
                <a:spcPct val="90000"/>
              </a:lnSpc>
            </a:pPr>
            <a:endParaRPr lang="en-US" dirty="0"/>
          </a:p>
          <a:p>
            <a:pPr>
              <a:lnSpc>
                <a:spcPct val="90000"/>
              </a:lnSpc>
            </a:pPr>
            <a:r>
              <a:rPr lang="en-US" dirty="0"/>
              <a:t>SPC prevents us from reacting to one result without understanding the context. It directs our attention to a signal and helps us ask better questions.</a:t>
            </a:r>
          </a:p>
          <a:p>
            <a:pPr>
              <a:lnSpc>
                <a:spcPct val="90000"/>
              </a:lnSpc>
            </a:pPr>
            <a:endParaRPr lang="en-US" dirty="0"/>
          </a:p>
          <a:p>
            <a:pPr>
              <a:lnSpc>
                <a:spcPct val="90000"/>
              </a:lnSpc>
            </a:pPr>
            <a:r>
              <a:rPr lang="en-US" dirty="0"/>
              <a:t>Transition: To interpret that signal correctly, we need to understand process variation.</a:t>
            </a:r>
          </a:p>
        </p:txBody>
      </p:sp>
      <p:sp>
        <p:nvSpPr>
          <p:cNvPr id="4" name="Slide Number Placeholder 3"/>
          <p:cNvSpPr>
            <a:spLocks noGrp="1"/>
          </p:cNvSpPr>
          <p:nvPr>
            <p:ph type="sldNum" sz="quarter" idx="5"/>
          </p:nvPr>
        </p:nvSpPr>
        <p:spPr/>
        <p:txBody>
          <a:bodyPr/>
          <a:lstStyle/>
          <a:p>
            <a:fld id="{644357A5-A22A-4334-8DF8-ABA91039FDEB}" type="slidenum">
              <a:rPr lang="en-GB" smtClean="0"/>
              <a:t>8</a:t>
            </a:fld>
            <a:endParaRPr lang="en-GB" dirty="0"/>
          </a:p>
        </p:txBody>
      </p:sp>
    </p:spTree>
    <p:extLst>
      <p:ext uri="{BB962C8B-B14F-4D97-AF65-F5344CB8AC3E}">
        <p14:creationId xmlns:p14="http://schemas.microsoft.com/office/powerpoint/2010/main" val="2254562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This section focuses on process variation.</a:t>
            </a:r>
          </a:p>
          <a:p>
            <a:pPr>
              <a:lnSpc>
                <a:spcPct val="90000"/>
              </a:lnSpc>
            </a:pPr>
            <a:endParaRPr lang="en-US" dirty="0"/>
          </a:p>
          <a:p>
            <a:pPr>
              <a:lnSpc>
                <a:spcPct val="90000"/>
              </a:lnSpc>
            </a:pPr>
            <a:r>
              <a:rPr lang="en-US" dirty="0"/>
              <a:t>Every process varies. Two participants can follow the same service pathway and still take different amounts of time to complete eligibility, assessment, or enrollment. That does not automatically mean someone made a mistake.</a:t>
            </a:r>
          </a:p>
          <a:p>
            <a:pPr>
              <a:lnSpc>
                <a:spcPct val="90000"/>
              </a:lnSpc>
            </a:pPr>
            <a:endParaRPr lang="en-US" dirty="0"/>
          </a:p>
          <a:p>
            <a:pPr>
              <a:lnSpc>
                <a:spcPct val="90000"/>
              </a:lnSpc>
            </a:pPr>
            <a:r>
              <a:rPr lang="en-US" dirty="0"/>
              <a:t>Our goal is not to eliminate every difference. Our goal is to separate normal variation from variation that suggests the process has changed.</a:t>
            </a:r>
          </a:p>
          <a:p>
            <a:pPr>
              <a:lnSpc>
                <a:spcPct val="90000"/>
              </a:lnSpc>
            </a:pPr>
            <a:endParaRPr lang="en-US" dirty="0"/>
          </a:p>
          <a:p>
            <a:pPr>
              <a:lnSpc>
                <a:spcPct val="90000"/>
              </a:lnSpc>
            </a:pPr>
            <a:r>
              <a:rPr lang="en-US" dirty="0"/>
              <a:t>Transition: A bowling analogy makes this easier to visualize.</a:t>
            </a:r>
          </a:p>
        </p:txBody>
      </p:sp>
      <p:sp>
        <p:nvSpPr>
          <p:cNvPr id="4" name="Slide Number Placeholder 3"/>
          <p:cNvSpPr>
            <a:spLocks noGrp="1"/>
          </p:cNvSpPr>
          <p:nvPr>
            <p:ph type="sldNum" sz="quarter" idx="5"/>
          </p:nvPr>
        </p:nvSpPr>
        <p:spPr/>
        <p:txBody>
          <a:bodyPr/>
          <a:lstStyle/>
          <a:p>
            <a:fld id="{336F8861-7D18-944D-B836-A484A82765AD}" type="slidenum">
              <a:rPr lang="en-US" smtClean="0"/>
              <a:t>9</a:t>
            </a:fld>
            <a:endParaRPr lang="en-US" dirty="0"/>
          </a:p>
        </p:txBody>
      </p:sp>
    </p:spTree>
    <p:extLst>
      <p:ext uri="{BB962C8B-B14F-4D97-AF65-F5344CB8AC3E}">
        <p14:creationId xmlns:p14="http://schemas.microsoft.com/office/powerpoint/2010/main" val="285997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a:lnSpc>
                <a:spcPct val="90000"/>
              </a:lnSpc>
            </a:pPr>
            <a:r>
              <a:rPr lang="en-US" dirty="0"/>
              <a:t>Think of a bowling lane as a process. The ball is the work moving through the process, and the pins represent the outcome we want.</a:t>
            </a:r>
          </a:p>
          <a:p>
            <a:pPr>
              <a:lnSpc>
                <a:spcPct val="90000"/>
              </a:lnSpc>
            </a:pPr>
            <a:endParaRPr lang="en-US" dirty="0"/>
          </a:p>
          <a:p>
            <a:pPr>
              <a:lnSpc>
                <a:spcPct val="90000"/>
              </a:lnSpc>
            </a:pPr>
            <a:r>
              <a:rPr lang="en-US" dirty="0"/>
              <a:t>A bowler can use the same general approach several times and still get different results. Small changes in speed, release, direction, or conditions affect where the ball goes. Some variation is naturally present, even when the process is followed consistently.</a:t>
            </a:r>
          </a:p>
          <a:p>
            <a:pPr>
              <a:lnSpc>
                <a:spcPct val="90000"/>
              </a:lnSpc>
            </a:pPr>
            <a:endParaRPr lang="en-US" dirty="0"/>
          </a:p>
          <a:p>
            <a:pPr>
              <a:lnSpc>
                <a:spcPct val="90000"/>
              </a:lnSpc>
            </a:pPr>
            <a:r>
              <a:rPr lang="en-US" dirty="0"/>
              <a:t>The same is true at Equus. A Career Coach may complete the same review process with two participants, but one conversation takes longer because the participant has additional questions or needs more documentation. That difference may be normal. A very different result, such as a long delay caused by a system outage, may signal something unusual.</a:t>
            </a:r>
          </a:p>
          <a:p>
            <a:pPr>
              <a:lnSpc>
                <a:spcPct val="90000"/>
              </a:lnSpc>
            </a:pPr>
            <a:endParaRPr lang="en-US" dirty="0"/>
          </a:p>
          <a:p>
            <a:pPr>
              <a:lnSpc>
                <a:spcPct val="90000"/>
              </a:lnSpc>
            </a:pPr>
            <a:r>
              <a:rPr lang="en-US" dirty="0"/>
              <a:t>SPC helps us tell the difference.</a:t>
            </a:r>
          </a:p>
          <a:p>
            <a:pPr>
              <a:lnSpc>
                <a:spcPct val="90000"/>
              </a:lnSpc>
            </a:pPr>
            <a:endParaRPr lang="en-US" dirty="0"/>
          </a:p>
          <a:p>
            <a:pPr>
              <a:lnSpc>
                <a:spcPct val="90000"/>
              </a:lnSpc>
            </a:pPr>
            <a:r>
              <a:rPr lang="en-US" dirty="0"/>
              <a:t>Transition: In Lean Six Sigma, we describe those two kinds of variation as common cause and special cause.</a:t>
            </a:r>
          </a:p>
        </p:txBody>
      </p:sp>
      <p:sp>
        <p:nvSpPr>
          <p:cNvPr id="4" name="Slide Number Placeholder 3"/>
          <p:cNvSpPr>
            <a:spLocks noGrp="1"/>
          </p:cNvSpPr>
          <p:nvPr>
            <p:ph type="sldNum" sz="quarter" idx="5"/>
          </p:nvPr>
        </p:nvSpPr>
        <p:spPr/>
        <p:txBody>
          <a:bodyPr/>
          <a:lstStyle/>
          <a:p>
            <a:fld id="{644357A5-A22A-4334-8DF8-ABA91039FDEB}" type="slidenum">
              <a:rPr lang="en-GB" smtClean="0"/>
              <a:t>10</a:t>
            </a:fld>
            <a:endParaRPr lang="en-GB" dirty="0"/>
          </a:p>
        </p:txBody>
      </p:sp>
    </p:spTree>
    <p:extLst>
      <p:ext uri="{BB962C8B-B14F-4D97-AF65-F5344CB8AC3E}">
        <p14:creationId xmlns:p14="http://schemas.microsoft.com/office/powerpoint/2010/main" val="1719722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Common cause variation is the natural variation built into a process. It is expected, generally predictable, and created by many small influences.</a:t>
            </a:r>
          </a:p>
          <a:p>
            <a:pPr>
              <a:lnSpc>
                <a:spcPct val="90000"/>
              </a:lnSpc>
            </a:pPr>
            <a:endParaRPr lang="en-US" dirty="0"/>
          </a:p>
          <a:p>
            <a:pPr>
              <a:lnSpc>
                <a:spcPct val="90000"/>
              </a:lnSpc>
            </a:pPr>
            <a:r>
              <a:rPr lang="en-US" dirty="0"/>
              <a:t>For example, if participant reviews usually take between four and six days, results within that range may reflect normal differences in case complexity, scheduling, documentation, or workload.</a:t>
            </a:r>
          </a:p>
          <a:p>
            <a:pPr>
              <a:lnSpc>
                <a:spcPct val="90000"/>
              </a:lnSpc>
            </a:pPr>
            <a:endParaRPr lang="en-US" dirty="0"/>
          </a:p>
          <a:p>
            <a:pPr>
              <a:lnSpc>
                <a:spcPct val="90000"/>
              </a:lnSpc>
            </a:pPr>
            <a:r>
              <a:rPr lang="en-US" dirty="0"/>
              <a:t>Special cause variation comes from a specific event or change that is not part of the usual process. If the case management system becomes unavailable and review time increases to 20 days, that is a signal requiring investigation.</a:t>
            </a:r>
          </a:p>
          <a:p>
            <a:pPr>
              <a:lnSpc>
                <a:spcPct val="90000"/>
              </a:lnSpc>
            </a:pPr>
            <a:endParaRPr lang="en-US" dirty="0"/>
          </a:p>
          <a:p>
            <a:pPr>
              <a:lnSpc>
                <a:spcPct val="90000"/>
              </a:lnSpc>
            </a:pPr>
            <a:r>
              <a:rPr lang="en-US" dirty="0"/>
              <a:t>One of the biggest mistakes teams make is treating every fluctuation as a special cause. That leads to unnecessary firefighting and can put pressure on employees for variation that actually comes from the system. The opposite mistake is ignoring a genuine signal.</a:t>
            </a:r>
          </a:p>
          <a:p>
            <a:pPr>
              <a:lnSpc>
                <a:spcPct val="90000"/>
              </a:lnSpc>
            </a:pPr>
            <a:endParaRPr lang="en-US" dirty="0"/>
          </a:p>
          <a:p>
            <a:pPr>
              <a:lnSpc>
                <a:spcPct val="90000"/>
              </a:lnSpc>
            </a:pPr>
            <a:r>
              <a:rPr lang="en-US" dirty="0"/>
              <a:t>Key message: common cause is the routine pattern of the process. Special cause tells us something unusual may have changed.</a:t>
            </a:r>
          </a:p>
          <a:p>
            <a:pPr>
              <a:lnSpc>
                <a:spcPct val="90000"/>
              </a:lnSpc>
            </a:pPr>
            <a:endParaRPr lang="en-US" dirty="0"/>
          </a:p>
          <a:p>
            <a:pPr>
              <a:lnSpc>
                <a:spcPct val="90000"/>
              </a:lnSpc>
            </a:pPr>
            <a:r>
              <a:rPr lang="en-US" dirty="0"/>
              <a:t>Transition: The response should be different depending on the type of variation.</a:t>
            </a:r>
          </a:p>
        </p:txBody>
      </p:sp>
      <p:sp>
        <p:nvSpPr>
          <p:cNvPr id="4" name="Slide Number Placeholder 3"/>
          <p:cNvSpPr>
            <a:spLocks noGrp="1"/>
          </p:cNvSpPr>
          <p:nvPr>
            <p:ph type="sldNum" sz="quarter" idx="5"/>
          </p:nvPr>
        </p:nvSpPr>
        <p:spPr/>
        <p:txBody>
          <a:bodyPr/>
          <a:lstStyle/>
          <a:p>
            <a:fld id="{336F8861-7D18-944D-B836-A484A82765AD}" type="slidenum">
              <a:rPr lang="en-US" smtClean="0"/>
              <a:t>11</a:t>
            </a:fld>
            <a:endParaRPr lang="en-US" dirty="0"/>
          </a:p>
        </p:txBody>
      </p:sp>
    </p:spTree>
    <p:extLst>
      <p:ext uri="{BB962C8B-B14F-4D97-AF65-F5344CB8AC3E}">
        <p14:creationId xmlns:p14="http://schemas.microsoft.com/office/powerpoint/2010/main" val="4142984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W. Edwards Deming emphasized that most variation comes from the system rather than from individual employees. The percentages on the slide illustrate that most performance variation should be addressed through management and process improvement, while a smaller portion comes from specific events.</a:t>
            </a:r>
          </a:p>
          <a:p>
            <a:pPr>
              <a:lnSpc>
                <a:spcPct val="90000"/>
              </a:lnSpc>
            </a:pPr>
            <a:endParaRPr lang="en-US" dirty="0"/>
          </a:p>
          <a:p>
            <a:pPr>
              <a:lnSpc>
                <a:spcPct val="90000"/>
              </a:lnSpc>
            </a:pPr>
            <a:r>
              <a:rPr lang="en-US" dirty="0"/>
              <a:t>For common cause variation, improve the process. That might mean simplifying participant intake, clarifying standard work, balancing caseloads, improving data quality, or removing repeated handoffs.</a:t>
            </a:r>
          </a:p>
          <a:p>
            <a:pPr>
              <a:lnSpc>
                <a:spcPct val="90000"/>
              </a:lnSpc>
            </a:pPr>
            <a:endParaRPr lang="en-US" dirty="0"/>
          </a:p>
          <a:p>
            <a:pPr>
              <a:lnSpc>
                <a:spcPct val="90000"/>
              </a:lnSpc>
            </a:pPr>
            <a:r>
              <a:rPr lang="en-US" dirty="0"/>
              <a:t>For special cause variation, investigate the event. Speak with the employees closest to the work, review the facts, identify what changed, and determine the appropriate response.</a:t>
            </a:r>
          </a:p>
          <a:p>
            <a:pPr>
              <a:lnSpc>
                <a:spcPct val="90000"/>
              </a:lnSpc>
            </a:pPr>
            <a:endParaRPr lang="en-US" dirty="0"/>
          </a:p>
          <a:p>
            <a:pPr>
              <a:lnSpc>
                <a:spcPct val="90000"/>
              </a:lnSpc>
            </a:pPr>
            <a:r>
              <a:rPr lang="en-US" dirty="0"/>
              <a:t>For example, if referral-to-enrollment time is consistently too long but stable, the process itself needs improvement. If results are normally stable and then rise sharply during a state system outage, investigate and address that specific disruption.</a:t>
            </a:r>
          </a:p>
          <a:p>
            <a:pPr>
              <a:lnSpc>
                <a:spcPct val="90000"/>
              </a:lnSpc>
            </a:pPr>
            <a:endParaRPr lang="en-US" dirty="0"/>
          </a:p>
          <a:p>
            <a:pPr>
              <a:lnSpc>
                <a:spcPct val="90000"/>
              </a:lnSpc>
            </a:pPr>
            <a:r>
              <a:rPr lang="en-US" dirty="0"/>
              <a:t>Remember the simple distinction: common cause means improve the process. Special cause means investigate the cause.</a:t>
            </a:r>
          </a:p>
          <a:p>
            <a:pPr>
              <a:lnSpc>
                <a:spcPct val="90000"/>
              </a:lnSpc>
            </a:pPr>
            <a:endParaRPr lang="en-US" dirty="0"/>
          </a:p>
          <a:p>
            <a:pPr>
              <a:lnSpc>
                <a:spcPct val="90000"/>
              </a:lnSpc>
            </a:pPr>
            <a:r>
              <a:rPr lang="en-US" dirty="0"/>
              <a:t>Transition: Let’s test that distinction with several workforce services scenarios.</a:t>
            </a:r>
          </a:p>
        </p:txBody>
      </p:sp>
      <p:sp>
        <p:nvSpPr>
          <p:cNvPr id="4" name="Slide Number Placeholder 3"/>
          <p:cNvSpPr>
            <a:spLocks noGrp="1"/>
          </p:cNvSpPr>
          <p:nvPr>
            <p:ph type="sldNum" sz="quarter" idx="5"/>
          </p:nvPr>
        </p:nvSpPr>
        <p:spPr/>
        <p:txBody>
          <a:bodyPr/>
          <a:lstStyle/>
          <a:p>
            <a:fld id="{336F8861-7D18-944D-B836-A484A82765AD}" type="slidenum">
              <a:rPr lang="en-US" smtClean="0"/>
              <a:t>12</a:t>
            </a:fld>
            <a:endParaRPr lang="en-US" dirty="0"/>
          </a:p>
        </p:txBody>
      </p:sp>
    </p:spTree>
    <p:extLst>
      <p:ext uri="{BB962C8B-B14F-4D97-AF65-F5344CB8AC3E}">
        <p14:creationId xmlns:p14="http://schemas.microsoft.com/office/powerpoint/2010/main" val="3690000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a:lnSpc>
                <a:spcPct val="90000"/>
              </a:lnSpc>
            </a:pPr>
            <a:r>
              <a:rPr lang="en-US" dirty="0"/>
              <a:t>For this activity, read each scenario and decide whether it represents common cause variation or special cause variation.</a:t>
            </a:r>
          </a:p>
          <a:p>
            <a:pPr>
              <a:lnSpc>
                <a:spcPct val="90000"/>
              </a:lnSpc>
            </a:pPr>
            <a:endParaRPr lang="en-US" dirty="0"/>
          </a:p>
          <a:p>
            <a:pPr>
              <a:lnSpc>
                <a:spcPct val="90000"/>
              </a:lnSpc>
            </a:pPr>
            <a:r>
              <a:rPr lang="en-US" dirty="0"/>
              <a:t>Common cause means the result fits the normal pattern of the process. Special cause means something unusual has occurred and the result deserves investigation.</a:t>
            </a:r>
          </a:p>
          <a:p>
            <a:pPr>
              <a:lnSpc>
                <a:spcPct val="90000"/>
              </a:lnSpc>
            </a:pPr>
            <a:endParaRPr lang="en-US" dirty="0"/>
          </a:p>
          <a:p>
            <a:pPr>
              <a:lnSpc>
                <a:spcPct val="90000"/>
              </a:lnSpc>
            </a:pPr>
            <a:r>
              <a:rPr lang="en-US" dirty="0"/>
              <a:t>For each example, do not focus only on whether the result is good or bad. Ask two questions: Is the result within the expected pattern, and is there evidence of a specific event?</a:t>
            </a:r>
          </a:p>
          <a:p>
            <a:pPr>
              <a:lnSpc>
                <a:spcPct val="90000"/>
              </a:lnSpc>
            </a:pPr>
            <a:endParaRPr lang="en-US" dirty="0"/>
          </a:p>
          <a:p>
            <a:pPr>
              <a:lnSpc>
                <a:spcPct val="90000"/>
              </a:lnSpc>
            </a:pPr>
            <a:r>
              <a:rPr lang="en-US" dirty="0"/>
              <a:t>Pause after each scenario and invite responses in the chat. Ask participants to include a short reason, not just the classification.</a:t>
            </a:r>
          </a:p>
          <a:p>
            <a:pPr>
              <a:lnSpc>
                <a:spcPct val="90000"/>
              </a:lnSpc>
            </a:pPr>
            <a:endParaRPr lang="en-US" dirty="0"/>
          </a:p>
          <a:p>
            <a:pPr>
              <a:lnSpc>
                <a:spcPct val="90000"/>
              </a:lnSpc>
            </a:pPr>
            <a:r>
              <a:rPr lang="en-US" dirty="0"/>
              <a:t>Facilitator prompts: What evidence supports your answer? What additional information would you want before taking action? Would this require process improvement or investigation?</a:t>
            </a:r>
          </a:p>
          <a:p>
            <a:pPr>
              <a:lnSpc>
                <a:spcPct val="90000"/>
              </a:lnSpc>
            </a:pPr>
            <a:endParaRPr lang="en-US" dirty="0"/>
          </a:p>
          <a:p>
            <a:pPr>
              <a:lnSpc>
                <a:spcPct val="90000"/>
              </a:lnSpc>
            </a:pPr>
            <a:r>
              <a:rPr lang="en-US" dirty="0"/>
              <a:t>Transition: Let’s compare our reasoning with the answers.</a:t>
            </a:r>
          </a:p>
        </p:txBody>
      </p:sp>
      <p:sp>
        <p:nvSpPr>
          <p:cNvPr id="4" name="Slide Number Placeholder 3"/>
          <p:cNvSpPr>
            <a:spLocks noGrp="1"/>
          </p:cNvSpPr>
          <p:nvPr>
            <p:ph type="sldNum" sz="quarter" idx="5"/>
          </p:nvPr>
        </p:nvSpPr>
        <p:spPr/>
        <p:txBody>
          <a:bodyPr/>
          <a:lstStyle/>
          <a:p>
            <a:fld id="{644357A5-A22A-4334-8DF8-ABA91039FDEB}" type="slidenum">
              <a:rPr lang="en-GB" smtClean="0"/>
              <a:t>13</a:t>
            </a:fld>
            <a:endParaRPr lang="en-GB" dirty="0"/>
          </a:p>
        </p:txBody>
      </p:sp>
    </p:spTree>
    <p:extLst>
      <p:ext uri="{BB962C8B-B14F-4D97-AF65-F5344CB8AC3E}">
        <p14:creationId xmlns:p14="http://schemas.microsoft.com/office/powerpoint/2010/main" val="1474157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662C3-5E10-9631-B6DF-F96DF232F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EAF61-60D2-FC4D-7B88-7B43D682552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4765C0F-CABA-CAB8-253B-DFECB85A1858}"/>
              </a:ext>
            </a:extLst>
          </p:cNvPr>
          <p:cNvSpPr>
            <a:spLocks noGrp="1"/>
          </p:cNvSpPr>
          <p:nvPr>
            <p:ph type="body" idx="1"/>
          </p:nvPr>
        </p:nvSpPr>
        <p:spPr/>
        <p:txBody>
          <a:bodyPr/>
          <a:lstStyle/>
          <a:p>
            <a:pPr>
              <a:lnSpc>
                <a:spcPct val="90000"/>
              </a:lnSpc>
            </a:pPr>
            <a:r>
              <a:rPr lang="en-US" dirty="0"/>
              <a:t>Let’s review the answers.</a:t>
            </a:r>
          </a:p>
          <a:p>
            <a:pPr>
              <a:lnSpc>
                <a:spcPct val="90000"/>
              </a:lnSpc>
            </a:pPr>
            <a:endParaRPr lang="en-US" dirty="0"/>
          </a:p>
          <a:p>
            <a:pPr>
              <a:lnSpc>
                <a:spcPct val="90000"/>
              </a:lnSpc>
            </a:pPr>
            <a:r>
              <a:rPr lang="en-US" dirty="0"/>
              <a:t>The Career Coach scenario is special cause because the case management system outage is a specific unusual event. The housing assessment completed in four days is common cause because it falls inside the normal three-to-five-day range.</a:t>
            </a:r>
          </a:p>
          <a:p>
            <a:pPr>
              <a:lnSpc>
                <a:spcPct val="90000"/>
              </a:lnSpc>
            </a:pPr>
            <a:endParaRPr lang="en-US" dirty="0"/>
          </a:p>
          <a:p>
            <a:pPr>
              <a:lnSpc>
                <a:spcPct val="90000"/>
              </a:lnSpc>
            </a:pPr>
            <a:r>
              <a:rPr lang="en-US" dirty="0"/>
              <a:t>The Childcare Advisor completing ten verifications is common cause because ten fits the normal range of eight to twelve. Completing only four may be a special cause signal, but in practice we would still investigate before deciding why it occurred.</a:t>
            </a:r>
          </a:p>
          <a:p>
            <a:pPr>
              <a:lnSpc>
                <a:spcPct val="90000"/>
              </a:lnSpc>
            </a:pPr>
            <a:endParaRPr lang="en-US" dirty="0"/>
          </a:p>
          <a:p>
            <a:pPr>
              <a:lnSpc>
                <a:spcPct val="90000"/>
              </a:lnSpc>
            </a:pPr>
            <a:r>
              <a:rPr lang="en-US" dirty="0"/>
              <a:t>The occupational health referral taking 25 days due to staff absence is treated here as special cause because a specific disruption is identified. The payroll system error is also special cause and needs immediate investigation.</a:t>
            </a:r>
          </a:p>
          <a:p>
            <a:pPr>
              <a:lnSpc>
                <a:spcPct val="90000"/>
              </a:lnSpc>
            </a:pPr>
            <a:endParaRPr lang="en-US" dirty="0"/>
          </a:p>
          <a:p>
            <a:pPr>
              <a:lnSpc>
                <a:spcPct val="90000"/>
              </a:lnSpc>
            </a:pPr>
            <a:r>
              <a:rPr lang="en-US" dirty="0"/>
              <a:t>The key is not to label a person as the cause. We classify the pattern, gather evidence, and respond to the process or event appropriately.</a:t>
            </a:r>
          </a:p>
          <a:p>
            <a:pPr>
              <a:lnSpc>
                <a:spcPct val="90000"/>
              </a:lnSpc>
            </a:pPr>
            <a:endParaRPr lang="en-US" dirty="0"/>
          </a:p>
          <a:p>
            <a:pPr>
              <a:lnSpc>
                <a:spcPct val="90000"/>
              </a:lnSpc>
            </a:pPr>
            <a:r>
              <a:rPr lang="en-US" dirty="0"/>
              <a:t>Transition: Now that we can distinguish the two types of variation, let’s look more closely at the control chart itself.</a:t>
            </a:r>
          </a:p>
        </p:txBody>
      </p:sp>
      <p:sp>
        <p:nvSpPr>
          <p:cNvPr id="4" name="Slide Number Placeholder 3">
            <a:extLst>
              <a:ext uri="{FF2B5EF4-FFF2-40B4-BE49-F238E27FC236}">
                <a16:creationId xmlns:a16="http://schemas.microsoft.com/office/drawing/2014/main" id="{96C30965-2F18-37F6-9983-644DC5376597}"/>
              </a:ext>
            </a:extLst>
          </p:cNvPr>
          <p:cNvSpPr>
            <a:spLocks noGrp="1"/>
          </p:cNvSpPr>
          <p:nvPr>
            <p:ph type="sldNum" sz="quarter" idx="5"/>
          </p:nvPr>
        </p:nvSpPr>
        <p:spPr/>
        <p:txBody>
          <a:bodyPr/>
          <a:lstStyle/>
          <a:p>
            <a:fld id="{644357A5-A22A-4334-8DF8-ABA91039FDEB}" type="slidenum">
              <a:rPr lang="en-GB" smtClean="0"/>
              <a:t>14</a:t>
            </a:fld>
            <a:endParaRPr lang="en-GB" dirty="0"/>
          </a:p>
        </p:txBody>
      </p:sp>
    </p:spTree>
    <p:extLst>
      <p:ext uri="{BB962C8B-B14F-4D97-AF65-F5344CB8AC3E}">
        <p14:creationId xmlns:p14="http://schemas.microsoft.com/office/powerpoint/2010/main" val="71725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We are beginning the next section: using control charts.</a:t>
            </a:r>
          </a:p>
          <a:p>
            <a:pPr>
              <a:lnSpc>
                <a:spcPct val="90000"/>
              </a:lnSpc>
            </a:pPr>
            <a:endParaRPr lang="en-US" dirty="0"/>
          </a:p>
          <a:p>
            <a:pPr>
              <a:lnSpc>
                <a:spcPct val="90000"/>
              </a:lnSpc>
            </a:pPr>
            <a:r>
              <a:rPr lang="en-US" dirty="0"/>
              <a:t>We have established that every process contains variation. Now we will look at the chart features that help us decide whether that variation appears normal or unusual.</a:t>
            </a:r>
          </a:p>
          <a:p>
            <a:pPr>
              <a:lnSpc>
                <a:spcPct val="90000"/>
              </a:lnSpc>
            </a:pPr>
            <a:endParaRPr lang="en-US" dirty="0"/>
          </a:p>
          <a:p>
            <a:pPr>
              <a:lnSpc>
                <a:spcPct val="90000"/>
              </a:lnSpc>
            </a:pPr>
            <a:r>
              <a:rPr lang="en-US" dirty="0"/>
              <a:t>As we continue, keep an Equus measure in mind, such as days from referral to enrollment, assessment completion time, customer wait time, or incomplete case records. Consider how a control chart could help a Process Owner monitor that measure over time.</a:t>
            </a:r>
          </a:p>
          <a:p>
            <a:pPr>
              <a:lnSpc>
                <a:spcPct val="90000"/>
              </a:lnSpc>
            </a:pPr>
            <a:endParaRPr lang="en-US" dirty="0"/>
          </a:p>
          <a:p>
            <a:pPr>
              <a:lnSpc>
                <a:spcPct val="90000"/>
              </a:lnSpc>
            </a:pPr>
            <a:r>
              <a:rPr lang="en-US" dirty="0"/>
              <a:t>Transition: Let’s define the basic parts of a control chart.</a:t>
            </a:r>
          </a:p>
        </p:txBody>
      </p:sp>
      <p:sp>
        <p:nvSpPr>
          <p:cNvPr id="4" name="Slide Number Placeholder 3"/>
          <p:cNvSpPr>
            <a:spLocks noGrp="1"/>
          </p:cNvSpPr>
          <p:nvPr>
            <p:ph type="sldNum" sz="quarter" idx="5"/>
          </p:nvPr>
        </p:nvSpPr>
        <p:spPr/>
        <p:txBody>
          <a:bodyPr/>
          <a:lstStyle/>
          <a:p>
            <a:fld id="{336F8861-7D18-944D-B836-A484A82765AD}" type="slidenum">
              <a:rPr lang="en-US" smtClean="0"/>
              <a:t>15</a:t>
            </a:fld>
            <a:endParaRPr lang="en-US" dirty="0"/>
          </a:p>
        </p:txBody>
      </p:sp>
    </p:spTree>
    <p:extLst>
      <p:ext uri="{BB962C8B-B14F-4D97-AF65-F5344CB8AC3E}">
        <p14:creationId xmlns:p14="http://schemas.microsoft.com/office/powerpoint/2010/main" val="28845744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A control chart is a graph of process results in time order. It contains three main elements.</a:t>
            </a:r>
          </a:p>
          <a:p>
            <a:pPr>
              <a:lnSpc>
                <a:spcPct val="90000"/>
              </a:lnSpc>
            </a:pPr>
            <a:endParaRPr lang="en-US" dirty="0"/>
          </a:p>
          <a:p>
            <a:pPr>
              <a:lnSpc>
                <a:spcPct val="90000"/>
              </a:lnSpc>
            </a:pPr>
            <a:r>
              <a:rPr lang="en-US" dirty="0"/>
              <a:t>The data points are the measurements collected over time. The center line represents the process average. The upper and lower control limits represent the expected boundaries of normal process variation.</a:t>
            </a:r>
          </a:p>
          <a:p>
            <a:pPr>
              <a:lnSpc>
                <a:spcPct val="90000"/>
              </a:lnSpc>
            </a:pPr>
            <a:endParaRPr lang="en-US" dirty="0"/>
          </a:p>
          <a:p>
            <a:pPr>
              <a:lnSpc>
                <a:spcPct val="90000"/>
              </a:lnSpc>
            </a:pPr>
            <a:r>
              <a:rPr lang="en-US" dirty="0"/>
              <a:t>Control charts help us monitor stability, identify unusual changes or patterns, detect signals early, and check whether an improvement is sustained.</a:t>
            </a:r>
          </a:p>
          <a:p>
            <a:pPr>
              <a:lnSpc>
                <a:spcPct val="90000"/>
              </a:lnSpc>
            </a:pPr>
            <a:endParaRPr lang="en-US" dirty="0"/>
          </a:p>
          <a:p>
            <a:pPr>
              <a:lnSpc>
                <a:spcPct val="90000"/>
              </a:lnSpc>
            </a:pPr>
            <a:r>
              <a:rPr lang="en-US" dirty="0"/>
              <a:t>For example, after an Equus team improves orientation scheduling, a chart of days from enrollment to orientation can show whether the new performance remains stable. We should not react to every small increase or decrease. We look for meaningful signals.</a:t>
            </a:r>
          </a:p>
          <a:p>
            <a:pPr>
              <a:lnSpc>
                <a:spcPct val="90000"/>
              </a:lnSpc>
            </a:pPr>
            <a:endParaRPr lang="en-US" dirty="0"/>
          </a:p>
          <a:p>
            <a:pPr>
              <a:lnSpc>
                <a:spcPct val="90000"/>
              </a:lnSpc>
            </a:pPr>
            <a:r>
              <a:rPr lang="en-US" dirty="0"/>
              <a:t>Key message: the chart helps separate signal from noise.</a:t>
            </a:r>
          </a:p>
          <a:p>
            <a:pPr>
              <a:lnSpc>
                <a:spcPct val="90000"/>
              </a:lnSpc>
            </a:pPr>
            <a:endParaRPr lang="en-US" dirty="0"/>
          </a:p>
          <a:p>
            <a:pPr>
              <a:lnSpc>
                <a:spcPct val="90000"/>
              </a:lnSpc>
            </a:pPr>
            <a:r>
              <a:rPr lang="en-US" dirty="0"/>
              <a:t>Transition: Let’s label the three reference lines and see how they guide interpretation.</a:t>
            </a:r>
          </a:p>
        </p:txBody>
      </p:sp>
      <p:sp>
        <p:nvSpPr>
          <p:cNvPr id="4" name="Slide Number Placeholder 3"/>
          <p:cNvSpPr>
            <a:spLocks noGrp="1"/>
          </p:cNvSpPr>
          <p:nvPr>
            <p:ph type="sldNum" sz="quarter" idx="5"/>
          </p:nvPr>
        </p:nvSpPr>
        <p:spPr/>
        <p:txBody>
          <a:bodyPr/>
          <a:lstStyle/>
          <a:p>
            <a:fld id="{644357A5-A22A-4334-8DF8-ABA91039FDEB}" type="slidenum">
              <a:rPr lang="en-GB" smtClean="0"/>
              <a:t>16</a:t>
            </a:fld>
            <a:endParaRPr lang="en-GB" dirty="0"/>
          </a:p>
        </p:txBody>
      </p:sp>
    </p:spTree>
    <p:extLst>
      <p:ext uri="{BB962C8B-B14F-4D97-AF65-F5344CB8AC3E}">
        <p14:creationId xmlns:p14="http://schemas.microsoft.com/office/powerpoint/2010/main" val="896286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Every control chart includes an upper control limit, a center line, and a lower control limit.</a:t>
            </a:r>
          </a:p>
          <a:p>
            <a:pPr>
              <a:lnSpc>
                <a:spcPct val="90000"/>
              </a:lnSpc>
            </a:pPr>
            <a:endParaRPr lang="en-US" dirty="0"/>
          </a:p>
          <a:p>
            <a:pPr>
              <a:lnSpc>
                <a:spcPct val="90000"/>
              </a:lnSpc>
            </a:pPr>
            <a:r>
              <a:rPr lang="en-US" dirty="0"/>
              <a:t>The center line is the process average. The upper and lower limits show the range we would expect from normal process variation. On this slide, the limits are described as three standard deviations above and below the mean.</a:t>
            </a:r>
          </a:p>
          <a:p>
            <a:pPr>
              <a:lnSpc>
                <a:spcPct val="90000"/>
              </a:lnSpc>
            </a:pPr>
            <a:endParaRPr lang="en-US" dirty="0"/>
          </a:p>
          <a:p>
            <a:pPr>
              <a:lnSpc>
                <a:spcPct val="90000"/>
              </a:lnSpc>
            </a:pPr>
            <a:r>
              <a:rPr lang="en-US" dirty="0"/>
              <a:t>Most results in a stable process should fall inside the limits. A point outside a limit is a potential special cause signal and should be investigated.</a:t>
            </a:r>
          </a:p>
          <a:p>
            <a:pPr>
              <a:lnSpc>
                <a:spcPct val="90000"/>
              </a:lnSpc>
            </a:pPr>
            <a:endParaRPr lang="en-US" dirty="0"/>
          </a:p>
          <a:p>
            <a:pPr>
              <a:lnSpc>
                <a:spcPct val="90000"/>
              </a:lnSpc>
            </a:pPr>
            <a:r>
              <a:rPr lang="en-US" dirty="0"/>
              <a:t>It is important not to confuse control limits with customer requirements or contractual targets. Control limits describe what the process is currently capable of producing. A process can be statistically stable and still perform below the level customers or funders require.</a:t>
            </a:r>
          </a:p>
          <a:p>
            <a:pPr>
              <a:lnSpc>
                <a:spcPct val="90000"/>
              </a:lnSpc>
            </a:pPr>
            <a:endParaRPr lang="en-US" dirty="0"/>
          </a:p>
          <a:p>
            <a:pPr>
              <a:lnSpc>
                <a:spcPct val="90000"/>
              </a:lnSpc>
            </a:pPr>
            <a:r>
              <a:rPr lang="en-US" dirty="0"/>
              <a:t>For an Equus project, enrollment time might remain stable between seven and ten days even when the contract target is five days. That stable pattern still requires process improvement.</a:t>
            </a:r>
          </a:p>
          <a:p>
            <a:pPr>
              <a:lnSpc>
                <a:spcPct val="90000"/>
              </a:lnSpc>
            </a:pPr>
            <a:endParaRPr lang="en-US" dirty="0"/>
          </a:p>
          <a:p>
            <a:pPr>
              <a:lnSpc>
                <a:spcPct val="90000"/>
              </a:lnSpc>
            </a:pPr>
            <a:r>
              <a:rPr lang="en-US" dirty="0"/>
              <a:t>Transition: So why are these charts worth using in day-to-day management?</a:t>
            </a:r>
          </a:p>
        </p:txBody>
      </p:sp>
      <p:sp>
        <p:nvSpPr>
          <p:cNvPr id="4" name="Slide Number Placeholder 3"/>
          <p:cNvSpPr>
            <a:spLocks noGrp="1"/>
          </p:cNvSpPr>
          <p:nvPr>
            <p:ph type="sldNum" sz="quarter" idx="5"/>
          </p:nvPr>
        </p:nvSpPr>
        <p:spPr/>
        <p:txBody>
          <a:bodyPr/>
          <a:lstStyle/>
          <a:p>
            <a:fld id="{336F8861-7D18-944D-B836-A484A82765AD}" type="slidenum">
              <a:rPr lang="en-US" smtClean="0"/>
              <a:t>17</a:t>
            </a:fld>
            <a:endParaRPr lang="en-US" dirty="0"/>
          </a:p>
        </p:txBody>
      </p:sp>
    </p:spTree>
    <p:extLst>
      <p:ext uri="{BB962C8B-B14F-4D97-AF65-F5344CB8AC3E}">
        <p14:creationId xmlns:p14="http://schemas.microsoft.com/office/powerpoint/2010/main" val="1068969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Control charts are important because they help us separate real signals from routine fluctuation.</a:t>
            </a:r>
          </a:p>
          <a:p>
            <a:pPr>
              <a:lnSpc>
                <a:spcPct val="90000"/>
              </a:lnSpc>
            </a:pPr>
            <a:endParaRPr lang="en-US" dirty="0"/>
          </a:p>
          <a:p>
            <a:pPr>
              <a:lnSpc>
                <a:spcPct val="90000"/>
              </a:lnSpc>
            </a:pPr>
            <a:r>
              <a:rPr lang="en-US" dirty="0"/>
              <a:t>That supports better decisions. Instead of changing staffing, coaching an employee, or redesigning a workflow because of one ordinary result, leaders can focus on evidence that the process has actually changed.</a:t>
            </a:r>
          </a:p>
          <a:p>
            <a:pPr>
              <a:lnSpc>
                <a:spcPct val="90000"/>
              </a:lnSpc>
            </a:pPr>
            <a:endParaRPr lang="en-US" dirty="0"/>
          </a:p>
          <a:p>
            <a:pPr>
              <a:lnSpc>
                <a:spcPct val="90000"/>
              </a:lnSpc>
            </a:pPr>
            <a:r>
              <a:rPr lang="en-US" dirty="0"/>
              <a:t>They also help us verify improvement. If a new participant reminder process appears to reduce missed appointments, the control chart helps us judge whether performance shifted and stayed at the new level, rather than improving briefly by chance.</a:t>
            </a:r>
          </a:p>
          <a:p>
            <a:pPr>
              <a:lnSpc>
                <a:spcPct val="90000"/>
              </a:lnSpc>
            </a:pPr>
            <a:endParaRPr lang="en-US" dirty="0"/>
          </a:p>
          <a:p>
            <a:pPr>
              <a:lnSpc>
                <a:spcPct val="90000"/>
              </a:lnSpc>
            </a:pPr>
            <a:r>
              <a:rPr lang="en-US" dirty="0"/>
              <a:t>This reduces firefighting. Teams spend less time chasing every high or low point and more time investigating genuine signals or improving a consistently underperforming process.</a:t>
            </a:r>
          </a:p>
          <a:p>
            <a:pPr>
              <a:lnSpc>
                <a:spcPct val="90000"/>
              </a:lnSpc>
            </a:pPr>
            <a:endParaRPr lang="en-US" dirty="0"/>
          </a:p>
          <a:p>
            <a:pPr>
              <a:lnSpc>
                <a:spcPct val="90000"/>
              </a:lnSpc>
            </a:pPr>
            <a:r>
              <a:rPr lang="en-US" dirty="0"/>
              <a:t>Transition: Another way to describe this is listening to the voice of the process.</a:t>
            </a:r>
          </a:p>
        </p:txBody>
      </p:sp>
      <p:sp>
        <p:nvSpPr>
          <p:cNvPr id="4" name="Slide Number Placeholder 3"/>
          <p:cNvSpPr>
            <a:spLocks noGrp="1"/>
          </p:cNvSpPr>
          <p:nvPr>
            <p:ph type="sldNum" sz="quarter" idx="5"/>
          </p:nvPr>
        </p:nvSpPr>
        <p:spPr/>
        <p:txBody>
          <a:bodyPr/>
          <a:lstStyle/>
          <a:p>
            <a:fld id="{336F8861-7D18-944D-B836-A484A82765AD}" type="slidenum">
              <a:rPr lang="en-US" smtClean="0"/>
              <a:t>18</a:t>
            </a:fld>
            <a:endParaRPr lang="en-US" dirty="0"/>
          </a:p>
        </p:txBody>
      </p:sp>
    </p:spTree>
    <p:extLst>
      <p:ext uri="{BB962C8B-B14F-4D97-AF65-F5344CB8AC3E}">
        <p14:creationId xmlns:p14="http://schemas.microsoft.com/office/powerpoint/2010/main" val="4249224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A control chart is often described as showing the Voice of the Process. In plain language, it shows what the process is actually producing over time.</a:t>
            </a:r>
          </a:p>
          <a:p>
            <a:pPr>
              <a:lnSpc>
                <a:spcPct val="90000"/>
              </a:lnSpc>
            </a:pPr>
            <a:endParaRPr lang="en-US" dirty="0"/>
          </a:p>
          <a:p>
            <a:pPr>
              <a:lnSpc>
                <a:spcPct val="90000"/>
              </a:lnSpc>
            </a:pPr>
            <a:r>
              <a:rPr lang="en-US" dirty="0"/>
              <a:t>That voice may agree with our expectations, or it may challenge them. A team may feel that participant intake is unpredictable, while the data shows a stable pattern. Another team may feel that a new workflow is working well, while the chart shows repeated unusual signals.</a:t>
            </a:r>
          </a:p>
          <a:p>
            <a:pPr>
              <a:lnSpc>
                <a:spcPct val="90000"/>
              </a:lnSpc>
            </a:pPr>
            <a:endParaRPr lang="en-US" dirty="0"/>
          </a:p>
          <a:p>
            <a:pPr>
              <a:lnSpc>
                <a:spcPct val="90000"/>
              </a:lnSpc>
            </a:pPr>
            <a:r>
              <a:rPr lang="en-US" dirty="0"/>
              <a:t>Before making changes, we listen to the data and then combine it with operational knowledge from the people doing the work.</a:t>
            </a:r>
          </a:p>
          <a:p>
            <a:pPr>
              <a:lnSpc>
                <a:spcPct val="90000"/>
              </a:lnSpc>
            </a:pPr>
            <a:endParaRPr lang="en-US" dirty="0"/>
          </a:p>
          <a:p>
            <a:pPr>
              <a:lnSpc>
                <a:spcPct val="90000"/>
              </a:lnSpc>
            </a:pPr>
            <a:r>
              <a:rPr lang="en-US" dirty="0"/>
              <a:t>For Equus teams, this means pairing the chart with frontline context. The data identifies the signal. Career Coaches, Workforce Specialists, Program Managers, and support teams help explain what changed.</a:t>
            </a:r>
          </a:p>
          <a:p>
            <a:pPr>
              <a:lnSpc>
                <a:spcPct val="90000"/>
              </a:lnSpc>
            </a:pPr>
            <a:endParaRPr lang="en-US" dirty="0"/>
          </a:p>
          <a:p>
            <a:pPr>
              <a:lnSpc>
                <a:spcPct val="90000"/>
              </a:lnSpc>
            </a:pPr>
            <a:r>
              <a:rPr lang="en-US" dirty="0"/>
              <a:t>Transition: Let’s return to the bowling analogy and connect it to the chart lines.</a:t>
            </a:r>
          </a:p>
        </p:txBody>
      </p:sp>
      <p:sp>
        <p:nvSpPr>
          <p:cNvPr id="4" name="Slide Number Placeholder 3"/>
          <p:cNvSpPr>
            <a:spLocks noGrp="1"/>
          </p:cNvSpPr>
          <p:nvPr>
            <p:ph type="sldNum" sz="quarter" idx="5"/>
          </p:nvPr>
        </p:nvSpPr>
        <p:spPr/>
        <p:txBody>
          <a:bodyPr/>
          <a:lstStyle/>
          <a:p>
            <a:fld id="{336F8861-7D18-944D-B836-A484A82765AD}" type="slidenum">
              <a:rPr lang="en-US" smtClean="0"/>
              <a:t>19</a:t>
            </a:fld>
            <a:endParaRPr lang="en-US" dirty="0"/>
          </a:p>
        </p:txBody>
      </p:sp>
    </p:spTree>
    <p:extLst>
      <p:ext uri="{BB962C8B-B14F-4D97-AF65-F5344CB8AC3E}">
        <p14:creationId xmlns:p14="http://schemas.microsoft.com/office/powerpoint/2010/main" val="35603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a:lnSpc>
                <a:spcPct val="90000"/>
              </a:lnSpc>
            </a:pPr>
            <a:r>
              <a:rPr lang="en-US" dirty="0"/>
              <a:t>Imagine the center of the bowling lane as the process average and the gutters as the control limits.</a:t>
            </a:r>
          </a:p>
          <a:p>
            <a:pPr>
              <a:lnSpc>
                <a:spcPct val="90000"/>
              </a:lnSpc>
            </a:pPr>
            <a:endParaRPr lang="en-US" dirty="0"/>
          </a:p>
          <a:p>
            <a:pPr>
              <a:lnSpc>
                <a:spcPct val="90000"/>
              </a:lnSpc>
            </a:pPr>
            <a:r>
              <a:rPr lang="en-US" dirty="0"/>
              <a:t>The ball does not travel down the exact center every time. Small movements from side to side are normal, just as service times or daily workload naturally rise and fall.</a:t>
            </a:r>
          </a:p>
          <a:p>
            <a:pPr>
              <a:lnSpc>
                <a:spcPct val="90000"/>
              </a:lnSpc>
            </a:pPr>
            <a:endParaRPr lang="en-US" dirty="0"/>
          </a:p>
          <a:p>
            <a:pPr>
              <a:lnSpc>
                <a:spcPct val="90000"/>
              </a:lnSpc>
            </a:pPr>
            <a:r>
              <a:rPr lang="en-US" dirty="0"/>
              <a:t>If the ball stays within the lane, the process is behaving within its expected pattern. If the ball enters the gutter, it signals that something unusual happened, such as a slip, a poor release, or a distraction.</a:t>
            </a:r>
          </a:p>
          <a:p>
            <a:pPr>
              <a:lnSpc>
                <a:spcPct val="90000"/>
              </a:lnSpc>
            </a:pPr>
            <a:endParaRPr lang="en-US" dirty="0"/>
          </a:p>
          <a:p>
            <a:pPr>
              <a:lnSpc>
                <a:spcPct val="90000"/>
              </a:lnSpc>
            </a:pPr>
            <a:r>
              <a:rPr lang="en-US" dirty="0"/>
              <a:t>We would not rebuild the bowling lane after one ordinary throw. In the same way, we should not redesign an Equus process because of one result that sits within normal variation. When a genuine special cause signal appears, we investigate what was different.</a:t>
            </a:r>
          </a:p>
          <a:p>
            <a:pPr>
              <a:lnSpc>
                <a:spcPct val="90000"/>
              </a:lnSpc>
            </a:pPr>
            <a:endParaRPr lang="en-US" dirty="0"/>
          </a:p>
          <a:p>
            <a:pPr>
              <a:lnSpc>
                <a:spcPct val="90000"/>
              </a:lnSpc>
            </a:pPr>
            <a:r>
              <a:rPr lang="en-US" dirty="0"/>
              <a:t>Key takeaway: common cause variation calls for improvement to the system. Special cause variation calls for investigation of a specific change.</a:t>
            </a:r>
          </a:p>
          <a:p>
            <a:pPr>
              <a:lnSpc>
                <a:spcPct val="90000"/>
              </a:lnSpc>
            </a:pPr>
            <a:endParaRPr lang="en-US" dirty="0"/>
          </a:p>
          <a:p>
            <a:pPr>
              <a:lnSpc>
                <a:spcPct val="90000"/>
              </a:lnSpc>
            </a:pPr>
            <a:r>
              <a:rPr lang="en-US" dirty="0"/>
              <a:t>Transition: A point beyond a limit is one special cause rule, but it is not the only pattern to watch for.</a:t>
            </a:r>
          </a:p>
        </p:txBody>
      </p:sp>
      <p:sp>
        <p:nvSpPr>
          <p:cNvPr id="4" name="Slide Number Placeholder 3"/>
          <p:cNvSpPr>
            <a:spLocks noGrp="1"/>
          </p:cNvSpPr>
          <p:nvPr>
            <p:ph type="sldNum" sz="quarter" idx="5"/>
          </p:nvPr>
        </p:nvSpPr>
        <p:spPr/>
        <p:txBody>
          <a:bodyPr/>
          <a:lstStyle/>
          <a:p>
            <a:fld id="{644357A5-A22A-4334-8DF8-ABA91039FDEB}" type="slidenum">
              <a:rPr lang="en-GB" smtClean="0"/>
              <a:t>20</a:t>
            </a:fld>
            <a:endParaRPr lang="en-GB" dirty="0"/>
          </a:p>
        </p:txBody>
      </p:sp>
    </p:spTree>
    <p:extLst>
      <p:ext uri="{BB962C8B-B14F-4D97-AF65-F5344CB8AC3E}">
        <p14:creationId xmlns:p14="http://schemas.microsoft.com/office/powerpoint/2010/main" val="14493637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Special cause rules help us recognize patterns that are unlikely to be part of normal process behavior.</a:t>
            </a:r>
          </a:p>
          <a:p>
            <a:pPr>
              <a:lnSpc>
                <a:spcPct val="90000"/>
              </a:lnSpc>
            </a:pPr>
            <a:endParaRPr lang="en-US" dirty="0"/>
          </a:p>
          <a:p>
            <a:pPr>
              <a:lnSpc>
                <a:spcPct val="90000"/>
              </a:lnSpc>
            </a:pPr>
            <a:r>
              <a:rPr lang="en-US" dirty="0"/>
              <a:t>The clearest signal is a point beyond the upper or lower control limit. We can also look for patterns such as several consecutive points on the same side of the center line or a sustained upward or downward trend.</a:t>
            </a:r>
          </a:p>
          <a:p>
            <a:pPr>
              <a:lnSpc>
                <a:spcPct val="90000"/>
              </a:lnSpc>
            </a:pPr>
            <a:endParaRPr lang="en-US" dirty="0"/>
          </a:p>
          <a:p>
            <a:pPr>
              <a:lnSpc>
                <a:spcPct val="90000"/>
              </a:lnSpc>
            </a:pPr>
            <a:r>
              <a:rPr lang="en-US" dirty="0"/>
              <a:t>A single point might reflect a one-time disruption. A run of points on one side of the center line may suggest the whole process has shifted to a new level.</a:t>
            </a:r>
          </a:p>
          <a:p>
            <a:pPr>
              <a:lnSpc>
                <a:spcPct val="90000"/>
              </a:lnSpc>
            </a:pPr>
            <a:endParaRPr lang="en-US" dirty="0"/>
          </a:p>
          <a:p>
            <a:pPr>
              <a:lnSpc>
                <a:spcPct val="90000"/>
              </a:lnSpc>
            </a:pPr>
            <a:r>
              <a:rPr lang="en-US" dirty="0"/>
              <a:t>For example, if participant assessment time remains below the center line for several consecutive periods after a simplified form is introduced, the improvement may have shifted the process. If the same pattern appears after a policy change added steps, the process may have shifted in the wrong direction.</a:t>
            </a:r>
          </a:p>
          <a:p>
            <a:pPr>
              <a:lnSpc>
                <a:spcPct val="90000"/>
              </a:lnSpc>
            </a:pPr>
            <a:endParaRPr lang="en-US" dirty="0"/>
          </a:p>
          <a:p>
            <a:pPr>
              <a:lnSpc>
                <a:spcPct val="90000"/>
              </a:lnSpc>
            </a:pPr>
            <a:r>
              <a:rPr lang="en-US" dirty="0"/>
              <a:t>Transition: Here is another everyday example of common and special cause variation.</a:t>
            </a:r>
          </a:p>
        </p:txBody>
      </p:sp>
      <p:sp>
        <p:nvSpPr>
          <p:cNvPr id="4" name="Slide Number Placeholder 3"/>
          <p:cNvSpPr>
            <a:spLocks noGrp="1"/>
          </p:cNvSpPr>
          <p:nvPr>
            <p:ph type="sldNum" sz="quarter" idx="5"/>
          </p:nvPr>
        </p:nvSpPr>
        <p:spPr/>
        <p:txBody>
          <a:bodyPr/>
          <a:lstStyle/>
          <a:p>
            <a:fld id="{336F8861-7D18-944D-B836-A484A82765AD}" type="slidenum">
              <a:rPr lang="en-US" smtClean="0"/>
              <a:t>21</a:t>
            </a:fld>
            <a:endParaRPr lang="en-US" dirty="0"/>
          </a:p>
        </p:txBody>
      </p:sp>
    </p:spTree>
    <p:extLst>
      <p:ext uri="{BB962C8B-B14F-4D97-AF65-F5344CB8AC3E}">
        <p14:creationId xmlns:p14="http://schemas.microsoft.com/office/powerpoint/2010/main" val="30987469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Think about a daily commute. Most days the journey varies within a familiar range because of normal traffic volume, traffic lights, weather, and road activity. Those small differences are common cause variation.</a:t>
            </a:r>
          </a:p>
          <a:p>
            <a:pPr>
              <a:lnSpc>
                <a:spcPct val="90000"/>
              </a:lnSpc>
            </a:pPr>
            <a:endParaRPr lang="en-US" dirty="0"/>
          </a:p>
          <a:p>
            <a:pPr>
              <a:lnSpc>
                <a:spcPct val="90000"/>
              </a:lnSpc>
            </a:pPr>
            <a:r>
              <a:rPr lang="en-US" dirty="0"/>
              <a:t>One day, the commute takes 54 minutes because a major accident closes part of the route. That result sits outside the expected range and suggests a special cause.</a:t>
            </a:r>
          </a:p>
          <a:p>
            <a:pPr>
              <a:lnSpc>
                <a:spcPct val="90000"/>
              </a:lnSpc>
            </a:pPr>
            <a:endParaRPr lang="en-US" dirty="0"/>
          </a:p>
          <a:p>
            <a:pPr>
              <a:lnSpc>
                <a:spcPct val="90000"/>
              </a:lnSpc>
            </a:pPr>
            <a:r>
              <a:rPr lang="en-US" dirty="0"/>
              <a:t>The same reasoning applies to workforce operations. Daily enrollment volumes may move up and down within a normal range. A sudden, extreme drop connected to a case management outage would be a special cause signal.</a:t>
            </a:r>
          </a:p>
          <a:p>
            <a:pPr>
              <a:lnSpc>
                <a:spcPct val="90000"/>
              </a:lnSpc>
            </a:pPr>
            <a:endParaRPr lang="en-US" dirty="0"/>
          </a:p>
          <a:p>
            <a:pPr>
              <a:lnSpc>
                <a:spcPct val="90000"/>
              </a:lnSpc>
            </a:pPr>
            <a:r>
              <a:rPr lang="en-US" dirty="0"/>
              <a:t>Notice that we still investigate. The chart does not know there was an accident or an outage. It only shows that the result was unusual. Operational evidence explains the cause.</a:t>
            </a:r>
          </a:p>
          <a:p>
            <a:pPr>
              <a:lnSpc>
                <a:spcPct val="90000"/>
              </a:lnSpc>
            </a:pPr>
            <a:endParaRPr lang="en-US" dirty="0"/>
          </a:p>
          <a:p>
            <a:pPr>
              <a:lnSpc>
                <a:spcPct val="90000"/>
              </a:lnSpc>
            </a:pPr>
            <a:r>
              <a:rPr lang="en-US" dirty="0"/>
              <a:t>Transition: For this module, we will focus on two common rules for detecting those signals.</a:t>
            </a:r>
          </a:p>
        </p:txBody>
      </p:sp>
      <p:sp>
        <p:nvSpPr>
          <p:cNvPr id="4" name="Slide Number Placeholder 3"/>
          <p:cNvSpPr>
            <a:spLocks noGrp="1"/>
          </p:cNvSpPr>
          <p:nvPr>
            <p:ph type="sldNum" sz="quarter" idx="5"/>
          </p:nvPr>
        </p:nvSpPr>
        <p:spPr/>
        <p:txBody>
          <a:bodyPr/>
          <a:lstStyle/>
          <a:p>
            <a:fld id="{336F8861-7D18-944D-B836-A484A82765AD}" type="slidenum">
              <a:rPr lang="en-US" smtClean="0"/>
              <a:t>22</a:t>
            </a:fld>
            <a:endParaRPr lang="en-US" dirty="0"/>
          </a:p>
        </p:txBody>
      </p:sp>
    </p:spTree>
    <p:extLst>
      <p:ext uri="{BB962C8B-B14F-4D97-AF65-F5344CB8AC3E}">
        <p14:creationId xmlns:p14="http://schemas.microsoft.com/office/powerpoint/2010/main" val="3237376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There are several formal rules for identifying special cause variation. Today we will focus on two that are easy to recognize and useful in practice.</a:t>
            </a:r>
          </a:p>
          <a:p>
            <a:pPr>
              <a:lnSpc>
                <a:spcPct val="90000"/>
              </a:lnSpc>
            </a:pPr>
            <a:endParaRPr lang="en-US" dirty="0"/>
          </a:p>
          <a:p>
            <a:pPr>
              <a:lnSpc>
                <a:spcPct val="90000"/>
              </a:lnSpc>
            </a:pPr>
            <a:r>
              <a:rPr lang="en-US" dirty="0"/>
              <a:t>Rule 1 is one point outside the control limits. That is a strong signal that the result is not consistent with the current process pattern.</a:t>
            </a:r>
          </a:p>
          <a:p>
            <a:pPr>
              <a:lnSpc>
                <a:spcPct val="90000"/>
              </a:lnSpc>
            </a:pPr>
            <a:endParaRPr lang="en-US" dirty="0"/>
          </a:p>
          <a:p>
            <a:pPr>
              <a:lnSpc>
                <a:spcPct val="90000"/>
              </a:lnSpc>
            </a:pPr>
            <a:r>
              <a:rPr lang="en-US" dirty="0"/>
              <a:t>Rule 2 is eight consecutive points on the same side of the center line. Even though every point may still be inside the limits, the run suggests the process average may have shifted.</a:t>
            </a:r>
          </a:p>
          <a:p>
            <a:pPr>
              <a:lnSpc>
                <a:spcPct val="90000"/>
              </a:lnSpc>
            </a:pPr>
            <a:endParaRPr lang="en-US" dirty="0"/>
          </a:p>
          <a:p>
            <a:pPr>
              <a:lnSpc>
                <a:spcPct val="90000"/>
              </a:lnSpc>
            </a:pPr>
            <a:r>
              <a:rPr lang="en-US" dirty="0"/>
              <a:t>The chart could represent days to complete eligibility, time from referral to enrollment, orientation completion time, or another process measure collected consistently over time.</a:t>
            </a:r>
          </a:p>
          <a:p>
            <a:pPr>
              <a:lnSpc>
                <a:spcPct val="90000"/>
              </a:lnSpc>
            </a:pPr>
            <a:endParaRPr lang="en-US" dirty="0"/>
          </a:p>
          <a:p>
            <a:pPr>
              <a:lnSpc>
                <a:spcPct val="90000"/>
              </a:lnSpc>
            </a:pPr>
            <a:r>
              <a:rPr lang="en-US" dirty="0"/>
              <a:t>For either rule, the response is not to guess. We identify the time period, review what changed, speak with the people closest to the work, and gather evidence.</a:t>
            </a:r>
          </a:p>
          <a:p>
            <a:pPr>
              <a:lnSpc>
                <a:spcPct val="90000"/>
              </a:lnSpc>
            </a:pPr>
            <a:endParaRPr lang="en-US" dirty="0"/>
          </a:p>
          <a:p>
            <a:pPr>
              <a:lnSpc>
                <a:spcPct val="90000"/>
              </a:lnSpc>
            </a:pPr>
            <a:r>
              <a:rPr lang="en-US" dirty="0"/>
              <a:t>Transition: Let’s start with the one-point signal and consider possible causes.</a:t>
            </a:r>
          </a:p>
        </p:txBody>
      </p:sp>
      <p:sp>
        <p:nvSpPr>
          <p:cNvPr id="4" name="Slide Number Placeholder 3"/>
          <p:cNvSpPr>
            <a:spLocks noGrp="1"/>
          </p:cNvSpPr>
          <p:nvPr>
            <p:ph type="sldNum" sz="quarter" idx="5"/>
          </p:nvPr>
        </p:nvSpPr>
        <p:spPr/>
        <p:txBody>
          <a:bodyPr/>
          <a:lstStyle/>
          <a:p>
            <a:fld id="{336F8861-7D18-944D-B836-A484A82765AD}" type="slidenum">
              <a:rPr lang="en-US" smtClean="0"/>
              <a:t>23</a:t>
            </a:fld>
            <a:endParaRPr lang="en-US" dirty="0"/>
          </a:p>
        </p:txBody>
      </p:sp>
    </p:spTree>
    <p:extLst>
      <p:ext uri="{BB962C8B-B14F-4D97-AF65-F5344CB8AC3E}">
        <p14:creationId xmlns:p14="http://schemas.microsoft.com/office/powerpoint/2010/main" val="3523486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This chart contains one point beyond a control limit. Our job is to ask, what was different at that point in time?</a:t>
            </a:r>
          </a:p>
          <a:p>
            <a:pPr>
              <a:lnSpc>
                <a:spcPct val="90000"/>
              </a:lnSpc>
            </a:pPr>
            <a:endParaRPr lang="en-US" dirty="0"/>
          </a:p>
          <a:p>
            <a:pPr>
              <a:lnSpc>
                <a:spcPct val="90000"/>
              </a:lnSpc>
            </a:pPr>
            <a:r>
              <a:rPr lang="en-US" dirty="0"/>
              <a:t>Possible explanations include a system issue, incorrect data, a missed step, an unusually complex case, unexpected staff absence, a policy change, or a technology failure. These are hypotheses, not conclusions.</a:t>
            </a:r>
          </a:p>
          <a:p>
            <a:pPr>
              <a:lnSpc>
                <a:spcPct val="90000"/>
              </a:lnSpc>
            </a:pPr>
            <a:endParaRPr lang="en-US" dirty="0"/>
          </a:p>
          <a:p>
            <a:pPr>
              <a:lnSpc>
                <a:spcPct val="90000"/>
              </a:lnSpc>
            </a:pPr>
            <a:r>
              <a:rPr lang="en-US" dirty="0"/>
              <a:t>In an Equus project, a sharp increase in referral-to-enrollment time might be connected to delayed eligibility documents, a state system outage, an unusual surge in referrals, or a local staffing disruption. A sharp improvement might follow a successful scheduling change or automation.</a:t>
            </a:r>
          </a:p>
          <a:p>
            <a:pPr>
              <a:lnSpc>
                <a:spcPct val="90000"/>
              </a:lnSpc>
            </a:pPr>
            <a:endParaRPr lang="en-US" dirty="0"/>
          </a:p>
          <a:p>
            <a:pPr>
              <a:lnSpc>
                <a:spcPct val="90000"/>
              </a:lnSpc>
            </a:pPr>
            <a:r>
              <a:rPr lang="en-US" dirty="0"/>
              <a:t>A special cause is not automatically negative. It simply means the result differs from the established pattern. If the cause improved performance, we may want to standardize it. If it harmed performance, we may want to remove or prevent it.</a:t>
            </a:r>
          </a:p>
          <a:p>
            <a:pPr>
              <a:lnSpc>
                <a:spcPct val="90000"/>
              </a:lnSpc>
            </a:pPr>
            <a:endParaRPr lang="en-US" dirty="0"/>
          </a:p>
          <a:p>
            <a:pPr>
              <a:lnSpc>
                <a:spcPct val="90000"/>
              </a:lnSpc>
            </a:pPr>
            <a:r>
              <a:rPr lang="en-US" dirty="0"/>
              <a:t>Key question: What evidence shows what was different about this point?</a:t>
            </a:r>
          </a:p>
          <a:p>
            <a:pPr>
              <a:lnSpc>
                <a:spcPct val="90000"/>
              </a:lnSpc>
            </a:pPr>
            <a:endParaRPr lang="en-US" dirty="0"/>
          </a:p>
          <a:p>
            <a:pPr>
              <a:lnSpc>
                <a:spcPct val="90000"/>
              </a:lnSpc>
            </a:pPr>
            <a:r>
              <a:rPr lang="en-US" dirty="0"/>
              <a:t>Transition: A repeated run tells a different story from a single unusual point.</a:t>
            </a:r>
          </a:p>
        </p:txBody>
      </p:sp>
      <p:sp>
        <p:nvSpPr>
          <p:cNvPr id="4" name="Slide Number Placeholder 3"/>
          <p:cNvSpPr>
            <a:spLocks noGrp="1"/>
          </p:cNvSpPr>
          <p:nvPr>
            <p:ph type="sldNum" sz="quarter" idx="5"/>
          </p:nvPr>
        </p:nvSpPr>
        <p:spPr/>
        <p:txBody>
          <a:bodyPr/>
          <a:lstStyle/>
          <a:p>
            <a:fld id="{336F8861-7D18-944D-B836-A484A82765AD}" type="slidenum">
              <a:rPr lang="en-US" smtClean="0"/>
              <a:t>24</a:t>
            </a:fld>
            <a:endParaRPr lang="en-US" dirty="0"/>
          </a:p>
        </p:txBody>
      </p:sp>
    </p:spTree>
    <p:extLst>
      <p:ext uri="{BB962C8B-B14F-4D97-AF65-F5344CB8AC3E}">
        <p14:creationId xmlns:p14="http://schemas.microsoft.com/office/powerpoint/2010/main" val="13450011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Here we have eight consecutive points on the same side of the center line. That pattern suggests the process may have shifted to a new level of performance.</a:t>
            </a:r>
          </a:p>
          <a:p>
            <a:pPr>
              <a:lnSpc>
                <a:spcPct val="90000"/>
              </a:lnSpc>
            </a:pPr>
            <a:endParaRPr lang="en-US" dirty="0"/>
          </a:p>
          <a:p>
            <a:pPr>
              <a:lnSpc>
                <a:spcPct val="90000"/>
              </a:lnSpc>
            </a:pPr>
            <a:r>
              <a:rPr lang="en-US" dirty="0"/>
              <a:t>Unlike a single event, a shift is often connected to a sustained change: a new workflow, policy, training approach, team assignment, system, automation, or change in customer demand.</a:t>
            </a:r>
          </a:p>
          <a:p>
            <a:pPr>
              <a:lnSpc>
                <a:spcPct val="90000"/>
              </a:lnSpc>
            </a:pPr>
            <a:endParaRPr lang="en-US" dirty="0"/>
          </a:p>
          <a:p>
            <a:pPr>
              <a:lnSpc>
                <a:spcPct val="90000"/>
              </a:lnSpc>
            </a:pPr>
            <a:r>
              <a:rPr lang="en-US" dirty="0"/>
              <a:t>Imagine the chart represents average days to complete participant enrollment. Eight points below the center line after a documentation checklist was introduced may indicate a lasting improvement. Eight points above the center line after new approval steps were added may indicate a lasting delay.</a:t>
            </a:r>
          </a:p>
          <a:p>
            <a:pPr>
              <a:lnSpc>
                <a:spcPct val="90000"/>
              </a:lnSpc>
            </a:pPr>
            <a:endParaRPr lang="en-US" dirty="0"/>
          </a:p>
          <a:p>
            <a:pPr>
              <a:lnSpc>
                <a:spcPct val="90000"/>
              </a:lnSpc>
            </a:pPr>
            <a:r>
              <a:rPr lang="en-US" dirty="0"/>
              <a:t>The direction alone does not tell us whether the change is good. For some measures, lower is better; for others, higher is better. We need to understand the measure and the customer requirement.</a:t>
            </a:r>
          </a:p>
          <a:p>
            <a:pPr>
              <a:lnSpc>
                <a:spcPct val="90000"/>
              </a:lnSpc>
            </a:pPr>
            <a:endParaRPr lang="en-US" dirty="0"/>
          </a:p>
          <a:p>
            <a:pPr>
              <a:lnSpc>
                <a:spcPct val="90000"/>
              </a:lnSpc>
            </a:pPr>
            <a:r>
              <a:rPr lang="en-US" dirty="0"/>
              <a:t>Our job is to identify what changed, confirm the relationship with evidence, and decide whether to sustain, improve, or correct the new process.</a:t>
            </a:r>
          </a:p>
          <a:p>
            <a:pPr>
              <a:lnSpc>
                <a:spcPct val="90000"/>
              </a:lnSpc>
            </a:pPr>
            <a:endParaRPr lang="en-US" dirty="0"/>
          </a:p>
          <a:p>
            <a:pPr>
              <a:lnSpc>
                <a:spcPct val="90000"/>
              </a:lnSpc>
            </a:pPr>
            <a:r>
              <a:rPr lang="en-US" dirty="0"/>
              <a:t>Transition: Once we identify a special cause signal, here is the response process.</a:t>
            </a:r>
          </a:p>
        </p:txBody>
      </p:sp>
      <p:sp>
        <p:nvSpPr>
          <p:cNvPr id="4" name="Slide Number Placeholder 3"/>
          <p:cNvSpPr>
            <a:spLocks noGrp="1"/>
          </p:cNvSpPr>
          <p:nvPr>
            <p:ph type="sldNum" sz="quarter" idx="5"/>
          </p:nvPr>
        </p:nvSpPr>
        <p:spPr/>
        <p:txBody>
          <a:bodyPr/>
          <a:lstStyle/>
          <a:p>
            <a:fld id="{336F8861-7D18-944D-B836-A484A82765AD}" type="slidenum">
              <a:rPr lang="en-US" smtClean="0"/>
              <a:t>25</a:t>
            </a:fld>
            <a:endParaRPr lang="en-US" dirty="0"/>
          </a:p>
        </p:txBody>
      </p:sp>
    </p:spTree>
    <p:extLst>
      <p:ext uri="{BB962C8B-B14F-4D97-AF65-F5344CB8AC3E}">
        <p14:creationId xmlns:p14="http://schemas.microsoft.com/office/powerpoint/2010/main" val="18786605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When a special cause signal appears, start by investigating what changed.</a:t>
            </a:r>
          </a:p>
          <a:p>
            <a:pPr>
              <a:lnSpc>
                <a:spcPct val="90000"/>
              </a:lnSpc>
            </a:pPr>
            <a:endParaRPr lang="en-US" dirty="0"/>
          </a:p>
          <a:p>
            <a:pPr>
              <a:lnSpc>
                <a:spcPct val="90000"/>
              </a:lnSpc>
            </a:pPr>
            <a:r>
              <a:rPr lang="en-US" dirty="0"/>
              <a:t>Speak with the employees closest to the work. They often know about system problems, changes in demand, new requirements, workarounds, or improvements that are not obvious in a report.</a:t>
            </a:r>
          </a:p>
          <a:p>
            <a:pPr>
              <a:lnSpc>
                <a:spcPct val="90000"/>
              </a:lnSpc>
            </a:pPr>
            <a:endParaRPr lang="en-US" dirty="0"/>
          </a:p>
          <a:p>
            <a:pPr>
              <a:lnSpc>
                <a:spcPct val="90000"/>
              </a:lnSpc>
            </a:pPr>
            <a:r>
              <a:rPr lang="en-US" dirty="0"/>
              <a:t>Then gather evidence. Review dates, process records, system notices, staffing context, and data quality. Do not assume the first explanation is correct.</a:t>
            </a:r>
          </a:p>
          <a:p>
            <a:pPr>
              <a:lnSpc>
                <a:spcPct val="90000"/>
              </a:lnSpc>
            </a:pPr>
            <a:endParaRPr lang="en-US" dirty="0"/>
          </a:p>
          <a:p>
            <a:pPr>
              <a:lnSpc>
                <a:spcPct val="90000"/>
              </a:lnSpc>
            </a:pPr>
            <a:r>
              <a:rPr lang="en-US" dirty="0"/>
              <a:t>If the cause harmed performance, remove it, reduce its effect, or prevent it from recurring. If the cause improved performance, document it, standardize it, and consider applying it more broadly.</a:t>
            </a:r>
          </a:p>
          <a:p>
            <a:pPr>
              <a:lnSpc>
                <a:spcPct val="90000"/>
              </a:lnSpc>
            </a:pPr>
            <a:endParaRPr lang="en-US" dirty="0"/>
          </a:p>
          <a:p>
            <a:pPr>
              <a:lnSpc>
                <a:spcPct val="90000"/>
              </a:lnSpc>
            </a:pPr>
            <a:r>
              <a:rPr lang="en-US" dirty="0"/>
              <a:t>For example, if appointment completion improves after a text reminder pilot, confirm the timing and results before embedding the practice. If completion drops during a system disruption, address the disruption and update contingency procedures.</a:t>
            </a:r>
          </a:p>
          <a:p>
            <a:pPr>
              <a:lnSpc>
                <a:spcPct val="90000"/>
              </a:lnSpc>
            </a:pPr>
            <a:endParaRPr lang="en-US" dirty="0"/>
          </a:p>
          <a:p>
            <a:pPr>
              <a:lnSpc>
                <a:spcPct val="90000"/>
              </a:lnSpc>
            </a:pPr>
            <a:r>
              <a:rPr lang="en-US" dirty="0"/>
              <a:t>Key message: do not simply react to the signal. Learn from it and take evidence-based action.</a:t>
            </a:r>
          </a:p>
          <a:p>
            <a:pPr>
              <a:lnSpc>
                <a:spcPct val="90000"/>
              </a:lnSpc>
            </a:pPr>
            <a:endParaRPr lang="en-US" dirty="0"/>
          </a:p>
          <a:p>
            <a:pPr>
              <a:lnSpc>
                <a:spcPct val="90000"/>
              </a:lnSpc>
            </a:pPr>
            <a:r>
              <a:rPr lang="en-US" dirty="0"/>
              <a:t>Transition: The goal of all this work is a stable and predictable process.</a:t>
            </a:r>
          </a:p>
        </p:txBody>
      </p:sp>
      <p:sp>
        <p:nvSpPr>
          <p:cNvPr id="4" name="Slide Number Placeholder 3"/>
          <p:cNvSpPr>
            <a:spLocks noGrp="1"/>
          </p:cNvSpPr>
          <p:nvPr>
            <p:ph type="sldNum" sz="quarter" idx="5"/>
          </p:nvPr>
        </p:nvSpPr>
        <p:spPr/>
        <p:txBody>
          <a:bodyPr/>
          <a:lstStyle/>
          <a:p>
            <a:fld id="{336F8861-7D18-944D-B836-A484A82765AD}" type="slidenum">
              <a:rPr lang="en-US" smtClean="0"/>
              <a:t>26</a:t>
            </a:fld>
            <a:endParaRPr lang="en-US" dirty="0"/>
          </a:p>
        </p:txBody>
      </p:sp>
    </p:spTree>
    <p:extLst>
      <p:ext uri="{BB962C8B-B14F-4D97-AF65-F5344CB8AC3E}">
        <p14:creationId xmlns:p14="http://schemas.microsoft.com/office/powerpoint/2010/main" val="26419601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a:lnSpc>
                <a:spcPct val="90000"/>
              </a:lnSpc>
            </a:pPr>
            <a:r>
              <a:rPr lang="en-US" dirty="0"/>
              <a:t>The purpose of SPC is not to create a perfect process with no variation. Some variation will always exist.</a:t>
            </a:r>
          </a:p>
          <a:p>
            <a:pPr>
              <a:lnSpc>
                <a:spcPct val="90000"/>
              </a:lnSpc>
            </a:pPr>
            <a:endParaRPr lang="en-US" dirty="0"/>
          </a:p>
          <a:p>
            <a:pPr>
              <a:lnSpc>
                <a:spcPct val="90000"/>
              </a:lnSpc>
            </a:pPr>
            <a:r>
              <a:rPr lang="en-US" dirty="0"/>
              <a:t>The goal is to understand the variation, identify meaningful changes, and create performance that is stable and predictable.</a:t>
            </a:r>
          </a:p>
          <a:p>
            <a:pPr>
              <a:lnSpc>
                <a:spcPct val="90000"/>
              </a:lnSpc>
            </a:pPr>
            <a:endParaRPr lang="en-US" dirty="0"/>
          </a:p>
          <a:p>
            <a:pPr>
              <a:lnSpc>
                <a:spcPct val="90000"/>
              </a:lnSpc>
            </a:pPr>
            <a:r>
              <a:rPr lang="en-US" dirty="0"/>
              <a:t>A stable Equus process allows teams to plan resources, set realistic expectations for participants and partners, and recognize problems earlier. For example, if referral-to-first-contact time is stable, the Process Owner can predict service capacity. If the pattern shifts, the chart provides an early signal.</a:t>
            </a:r>
          </a:p>
          <a:p>
            <a:pPr>
              <a:lnSpc>
                <a:spcPct val="90000"/>
              </a:lnSpc>
            </a:pPr>
            <a:endParaRPr lang="en-US" dirty="0"/>
          </a:p>
          <a:p>
            <a:pPr>
              <a:lnSpc>
                <a:spcPct val="90000"/>
              </a:lnSpc>
            </a:pPr>
            <a:r>
              <a:rPr lang="en-US" dirty="0"/>
              <a:t>When we see common cause variation, we improve the system. When we see special cause variation, we investigate what changed. Over time, that disciplined response reduces firefighting and supports more reliable customer experiences.</a:t>
            </a:r>
          </a:p>
          <a:p>
            <a:pPr>
              <a:lnSpc>
                <a:spcPct val="90000"/>
              </a:lnSpc>
            </a:pPr>
            <a:endParaRPr lang="en-US" dirty="0"/>
          </a:p>
          <a:p>
            <a:pPr>
              <a:lnSpc>
                <a:spcPct val="90000"/>
              </a:lnSpc>
            </a:pPr>
            <a:r>
              <a:rPr lang="en-US" dirty="0"/>
              <a:t>Transition: Now let’s look at the different chart types available and how the data determines which one to use.</a:t>
            </a:r>
          </a:p>
        </p:txBody>
      </p:sp>
      <p:sp>
        <p:nvSpPr>
          <p:cNvPr id="4" name="Slide Number Placeholder 3"/>
          <p:cNvSpPr>
            <a:spLocks noGrp="1"/>
          </p:cNvSpPr>
          <p:nvPr>
            <p:ph type="sldNum" sz="quarter" idx="5"/>
          </p:nvPr>
        </p:nvSpPr>
        <p:spPr/>
        <p:txBody>
          <a:bodyPr/>
          <a:lstStyle/>
          <a:p>
            <a:fld id="{644357A5-A22A-4334-8DF8-ABA91039FDEB}" type="slidenum">
              <a:rPr lang="en-GB" smtClean="0"/>
              <a:t>27</a:t>
            </a:fld>
            <a:endParaRPr lang="en-GB" dirty="0"/>
          </a:p>
        </p:txBody>
      </p:sp>
    </p:spTree>
    <p:extLst>
      <p:ext uri="{BB962C8B-B14F-4D97-AF65-F5344CB8AC3E}">
        <p14:creationId xmlns:p14="http://schemas.microsoft.com/office/powerpoint/2010/main" val="7430284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We are beginning the section on types of control charts.</a:t>
            </a:r>
          </a:p>
          <a:p>
            <a:pPr>
              <a:lnSpc>
                <a:spcPct val="90000"/>
              </a:lnSpc>
            </a:pPr>
            <a:endParaRPr lang="en-US" dirty="0"/>
          </a:p>
          <a:p>
            <a:pPr>
              <a:lnSpc>
                <a:spcPct val="90000"/>
              </a:lnSpc>
            </a:pPr>
            <a:r>
              <a:rPr lang="en-US" dirty="0"/>
              <a:t>Different charts are designed for different types of data and collection methods. Choosing the wrong chart can produce misleading limits and lead to the wrong conclusion.</a:t>
            </a:r>
          </a:p>
          <a:p>
            <a:pPr>
              <a:lnSpc>
                <a:spcPct val="90000"/>
              </a:lnSpc>
            </a:pPr>
            <a:endParaRPr lang="en-US" dirty="0"/>
          </a:p>
          <a:p>
            <a:pPr>
              <a:lnSpc>
                <a:spcPct val="90000"/>
              </a:lnSpc>
            </a:pPr>
            <a:r>
              <a:rPr lang="en-US" dirty="0"/>
              <a:t>We will focus on the chart types most relevant to the examples in this module, particularly individual measurements and small groups of continuous measurements.</a:t>
            </a:r>
          </a:p>
          <a:p>
            <a:pPr>
              <a:lnSpc>
                <a:spcPct val="90000"/>
              </a:lnSpc>
            </a:pPr>
            <a:endParaRPr lang="en-US" dirty="0"/>
          </a:p>
          <a:p>
            <a:pPr>
              <a:lnSpc>
                <a:spcPct val="90000"/>
              </a:lnSpc>
            </a:pPr>
            <a:r>
              <a:rPr lang="en-US" dirty="0"/>
              <a:t>Transition: The first decision is whether the data is measured on a scale or counted as whole events.</a:t>
            </a:r>
          </a:p>
        </p:txBody>
      </p:sp>
      <p:sp>
        <p:nvSpPr>
          <p:cNvPr id="4" name="Slide Number Placeholder 3"/>
          <p:cNvSpPr>
            <a:spLocks noGrp="1"/>
          </p:cNvSpPr>
          <p:nvPr>
            <p:ph type="sldNum" sz="quarter" idx="5"/>
          </p:nvPr>
        </p:nvSpPr>
        <p:spPr/>
        <p:txBody>
          <a:bodyPr/>
          <a:lstStyle/>
          <a:p>
            <a:fld id="{336F8861-7D18-944D-B836-A484A82765AD}" type="slidenum">
              <a:rPr lang="en-US" smtClean="0"/>
              <a:t>28</a:t>
            </a:fld>
            <a:endParaRPr lang="en-US" dirty="0"/>
          </a:p>
        </p:txBody>
      </p:sp>
    </p:spTree>
    <p:extLst>
      <p:ext uri="{BB962C8B-B14F-4D97-AF65-F5344CB8AC3E}">
        <p14:creationId xmlns:p14="http://schemas.microsoft.com/office/powerpoint/2010/main" val="4734422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Control chart selection starts with the type of data.</a:t>
            </a:r>
          </a:p>
          <a:p>
            <a:pPr>
              <a:lnSpc>
                <a:spcPct val="90000"/>
              </a:lnSpc>
            </a:pPr>
            <a:endParaRPr lang="en-US" dirty="0"/>
          </a:p>
          <a:p>
            <a:pPr>
              <a:lnSpc>
                <a:spcPct val="90000"/>
              </a:lnSpc>
            </a:pPr>
            <a:r>
              <a:rPr lang="en-US" dirty="0"/>
              <a:t>Continuous data is measured on a scale and can include values such as minutes, hours, days, dollars, or distance. Equus examples include days from referral to enrollment, minutes spent waiting for service, or time to complete an eligibility assessment.</a:t>
            </a:r>
          </a:p>
          <a:p>
            <a:pPr>
              <a:lnSpc>
                <a:spcPct val="90000"/>
              </a:lnSpc>
            </a:pPr>
            <a:endParaRPr lang="en-US" dirty="0"/>
          </a:p>
          <a:p>
            <a:pPr>
              <a:lnSpc>
                <a:spcPct val="90000"/>
              </a:lnSpc>
            </a:pPr>
            <a:r>
              <a:rPr lang="en-US" dirty="0"/>
              <a:t>Discrete data is counted in whole numbers. Examples include customer complaints, data-entry errors, missed appointments, or incomplete records.</a:t>
            </a:r>
          </a:p>
          <a:p>
            <a:pPr>
              <a:lnSpc>
                <a:spcPct val="90000"/>
              </a:lnSpc>
            </a:pPr>
            <a:endParaRPr lang="en-US" dirty="0"/>
          </a:p>
          <a:p>
            <a:pPr>
              <a:lnSpc>
                <a:spcPct val="90000"/>
              </a:lnSpc>
            </a:pPr>
            <a:r>
              <a:rPr lang="en-US" dirty="0"/>
              <a:t>An I-MR chart is used for individual continuous measurements collected one at a time. An X-bar and R chart is used when continuous measurements are collected in consistent small groups. A c-chart is used for counts of events or defects under appropriate, consistent conditions.</a:t>
            </a:r>
          </a:p>
          <a:p>
            <a:pPr>
              <a:lnSpc>
                <a:spcPct val="90000"/>
              </a:lnSpc>
            </a:pPr>
            <a:endParaRPr lang="en-US" dirty="0"/>
          </a:p>
          <a:p>
            <a:pPr>
              <a:lnSpc>
                <a:spcPct val="90000"/>
              </a:lnSpc>
            </a:pPr>
            <a:r>
              <a:rPr lang="en-US" dirty="0"/>
              <a:t>Chart selection matters because the control limits are calculated differently. We need a clear measure, consistent definitions, and reliable data before interpreting the result.</a:t>
            </a:r>
          </a:p>
          <a:p>
            <a:pPr>
              <a:lnSpc>
                <a:spcPct val="90000"/>
              </a:lnSpc>
            </a:pPr>
            <a:endParaRPr lang="en-US" dirty="0"/>
          </a:p>
          <a:p>
            <a:pPr>
              <a:lnSpc>
                <a:spcPct val="90000"/>
              </a:lnSpc>
            </a:pPr>
            <a:r>
              <a:rPr lang="en-US" dirty="0"/>
              <a:t>Transition: Let’s start with the I-MR chart.</a:t>
            </a:r>
          </a:p>
        </p:txBody>
      </p:sp>
      <p:sp>
        <p:nvSpPr>
          <p:cNvPr id="4" name="Slide Number Placeholder 3"/>
          <p:cNvSpPr>
            <a:spLocks noGrp="1"/>
          </p:cNvSpPr>
          <p:nvPr>
            <p:ph type="sldNum" sz="quarter" idx="5"/>
          </p:nvPr>
        </p:nvSpPr>
        <p:spPr/>
        <p:txBody>
          <a:bodyPr/>
          <a:lstStyle/>
          <a:p>
            <a:fld id="{336F8861-7D18-944D-B836-A484A82765AD}" type="slidenum">
              <a:rPr lang="en-US" smtClean="0"/>
              <a:t>29</a:t>
            </a:fld>
            <a:endParaRPr lang="en-US" dirty="0"/>
          </a:p>
        </p:txBody>
      </p:sp>
    </p:spTree>
    <p:extLst>
      <p:ext uri="{BB962C8B-B14F-4D97-AF65-F5344CB8AC3E}">
        <p14:creationId xmlns:p14="http://schemas.microsoft.com/office/powerpoint/2010/main" val="17416712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a:lnSpc>
                <a:spcPct val="90000"/>
              </a:lnSpc>
            </a:pPr>
            <a:r>
              <a:rPr lang="en-US" dirty="0"/>
              <a:t>I-MR stands for Individuals and Moving Range. This chart is useful when observations are collected one at a time.</a:t>
            </a:r>
          </a:p>
          <a:p>
            <a:pPr>
              <a:lnSpc>
                <a:spcPct val="90000"/>
              </a:lnSpc>
            </a:pPr>
            <a:endParaRPr lang="en-US" dirty="0"/>
          </a:p>
          <a:p>
            <a:pPr>
              <a:lnSpc>
                <a:spcPct val="90000"/>
              </a:lnSpc>
            </a:pPr>
            <a:r>
              <a:rPr lang="en-US" dirty="0"/>
              <a:t>The Individuals chart shows each actual result over time. For example, each point could represent the number of days required to complete one participant assessment or resolve one support ticket.</a:t>
            </a:r>
          </a:p>
          <a:p>
            <a:pPr>
              <a:lnSpc>
                <a:spcPct val="90000"/>
              </a:lnSpc>
            </a:pPr>
            <a:endParaRPr lang="en-US" dirty="0"/>
          </a:p>
          <a:p>
            <a:pPr>
              <a:lnSpc>
                <a:spcPct val="90000"/>
              </a:lnSpc>
            </a:pPr>
            <a:r>
              <a:rPr lang="en-US" dirty="0"/>
              <a:t>The Moving Range chart shows the absolute difference between one observation and the next. If Day 1 is five days and Day 2 is seven days, the moving range for Day 2 is two days.</a:t>
            </a:r>
          </a:p>
          <a:p>
            <a:pPr>
              <a:lnSpc>
                <a:spcPct val="90000"/>
              </a:lnSpc>
            </a:pPr>
            <a:endParaRPr lang="en-US" dirty="0"/>
          </a:p>
          <a:p>
            <a:pPr>
              <a:lnSpc>
                <a:spcPct val="90000"/>
              </a:lnSpc>
            </a:pPr>
            <a:r>
              <a:rPr lang="en-US" dirty="0"/>
              <a:t>The two charts answer different questions. The Individuals chart shows whether the actual results are stable. The Moving Range chart shows whether the amount of change between consecutive results is stable.</a:t>
            </a:r>
          </a:p>
          <a:p>
            <a:pPr>
              <a:lnSpc>
                <a:spcPct val="90000"/>
              </a:lnSpc>
            </a:pPr>
            <a:endParaRPr lang="en-US" dirty="0"/>
          </a:p>
          <a:p>
            <a:pPr>
              <a:lnSpc>
                <a:spcPct val="90000"/>
              </a:lnSpc>
            </a:pPr>
            <a:r>
              <a:rPr lang="en-US" dirty="0"/>
              <a:t>There is no moving range for the first observation because there is no earlier result to compare with it.</a:t>
            </a:r>
          </a:p>
          <a:p>
            <a:pPr>
              <a:lnSpc>
                <a:spcPct val="90000"/>
              </a:lnSpc>
            </a:pPr>
            <a:endParaRPr lang="en-US" dirty="0"/>
          </a:p>
          <a:p>
            <a:pPr>
              <a:lnSpc>
                <a:spcPct val="90000"/>
              </a:lnSpc>
            </a:pPr>
            <a:r>
              <a:rPr lang="en-US" dirty="0"/>
              <a:t>Transition: The next slide walks through both charts using ticket resolution time.</a:t>
            </a:r>
          </a:p>
        </p:txBody>
      </p:sp>
      <p:sp>
        <p:nvSpPr>
          <p:cNvPr id="4" name="Slide Number Placeholder 3"/>
          <p:cNvSpPr>
            <a:spLocks noGrp="1"/>
          </p:cNvSpPr>
          <p:nvPr>
            <p:ph type="sldNum" sz="quarter" idx="5"/>
          </p:nvPr>
        </p:nvSpPr>
        <p:spPr/>
        <p:txBody>
          <a:bodyPr/>
          <a:lstStyle/>
          <a:p>
            <a:fld id="{644357A5-A22A-4334-8DF8-ABA91039FDEB}" type="slidenum">
              <a:rPr lang="en-GB" smtClean="0"/>
              <a:t>30</a:t>
            </a:fld>
            <a:endParaRPr lang="en-GB" dirty="0"/>
          </a:p>
        </p:txBody>
      </p:sp>
    </p:spTree>
    <p:extLst>
      <p:ext uri="{BB962C8B-B14F-4D97-AF65-F5344CB8AC3E}">
        <p14:creationId xmlns:p14="http://schemas.microsoft.com/office/powerpoint/2010/main" val="40496841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1BAE-A699-E015-A208-3713FFC5A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70282-C149-3488-7B01-5607523A836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3E679EA-0881-770D-FDC9-8C58D667F141}"/>
              </a:ext>
            </a:extLst>
          </p:cNvPr>
          <p:cNvSpPr>
            <a:spLocks noGrp="1"/>
          </p:cNvSpPr>
          <p:nvPr>
            <p:ph type="body" idx="1"/>
          </p:nvPr>
        </p:nvSpPr>
        <p:spPr/>
        <p:txBody>
          <a:bodyPr/>
          <a:lstStyle/>
          <a:p>
            <a:pPr>
              <a:lnSpc>
                <a:spcPct val="90000"/>
              </a:lnSpc>
            </a:pPr>
            <a:r>
              <a:rPr lang="en-US" dirty="0"/>
              <a:t>The top chart shows the individual ticket resolution times. Most tickets are resolved in about three days, close to the center line of 2.92 days. Ticket 6 takes approximately five days, which is above the upper control limit of 4.32. That is a special cause signal.</a:t>
            </a:r>
          </a:p>
          <a:p>
            <a:pPr>
              <a:lnSpc>
                <a:spcPct val="90000"/>
              </a:lnSpc>
            </a:pPr>
            <a:endParaRPr lang="en-US" dirty="0"/>
          </a:p>
          <a:p>
            <a:pPr>
              <a:lnSpc>
                <a:spcPct val="90000"/>
              </a:lnSpc>
            </a:pPr>
            <a:r>
              <a:rPr lang="en-US" dirty="0"/>
              <a:t>The bottom chart shows the moving range between consecutive tickets. The change into Ticket 6 and the change out of Ticket 6 are unusually large and exceed the moving-range limit. Both charts tell us that something different happened around that observation.</a:t>
            </a:r>
          </a:p>
          <a:p>
            <a:pPr>
              <a:lnSpc>
                <a:spcPct val="90000"/>
              </a:lnSpc>
            </a:pPr>
            <a:endParaRPr lang="en-US" dirty="0"/>
          </a:p>
          <a:p>
            <a:pPr>
              <a:lnSpc>
                <a:spcPct val="90000"/>
              </a:lnSpc>
            </a:pPr>
            <a:r>
              <a:rPr lang="en-US" dirty="0"/>
              <a:t>We would investigate possibilities such as a complex technical issue, vendor dependency, system outage, staffing availability, or a data-entry error. We would not select a cause without evidence.</a:t>
            </a:r>
          </a:p>
          <a:p>
            <a:pPr>
              <a:lnSpc>
                <a:spcPct val="90000"/>
              </a:lnSpc>
            </a:pPr>
            <a:endParaRPr lang="en-US" dirty="0"/>
          </a:p>
          <a:p>
            <a:pPr>
              <a:lnSpc>
                <a:spcPct val="90000"/>
              </a:lnSpc>
            </a:pPr>
            <a:r>
              <a:rPr lang="en-US" dirty="0"/>
              <a:t>To calculate a moving range, subtract consecutive values and use the absolute difference. Ticket 2 is 3.3 days and Ticket 1 is 2.3 days, so the range is 1.0 day. Ticket 3 is 2.6 days, so the absolute difference from Ticket 2 is 0.7 day.</a:t>
            </a:r>
          </a:p>
          <a:p>
            <a:pPr>
              <a:lnSpc>
                <a:spcPct val="90000"/>
              </a:lnSpc>
            </a:pPr>
            <a:endParaRPr lang="en-US" dirty="0"/>
          </a:p>
          <a:p>
            <a:pPr>
              <a:lnSpc>
                <a:spcPct val="90000"/>
              </a:lnSpc>
            </a:pPr>
            <a:r>
              <a:rPr lang="en-US" dirty="0"/>
              <a:t>Equus connection: the same chart could monitor individual eligibility completion times or days from referral to first service.</a:t>
            </a:r>
          </a:p>
          <a:p>
            <a:pPr>
              <a:lnSpc>
                <a:spcPct val="90000"/>
              </a:lnSpc>
            </a:pPr>
            <a:endParaRPr lang="en-US" dirty="0"/>
          </a:p>
          <a:p>
            <a:pPr>
              <a:lnSpc>
                <a:spcPct val="90000"/>
              </a:lnSpc>
            </a:pPr>
            <a:r>
              <a:rPr lang="en-US" dirty="0"/>
              <a:t>Transition: When data is collected in consistent groups, we use a different pair of charts.</a:t>
            </a:r>
          </a:p>
        </p:txBody>
      </p:sp>
      <p:sp>
        <p:nvSpPr>
          <p:cNvPr id="4" name="Slide Number Placeholder 3">
            <a:extLst>
              <a:ext uri="{FF2B5EF4-FFF2-40B4-BE49-F238E27FC236}">
                <a16:creationId xmlns:a16="http://schemas.microsoft.com/office/drawing/2014/main" id="{D3FEE39D-D900-C758-F885-0188ED8123FA}"/>
              </a:ext>
            </a:extLst>
          </p:cNvPr>
          <p:cNvSpPr>
            <a:spLocks noGrp="1"/>
          </p:cNvSpPr>
          <p:nvPr>
            <p:ph type="sldNum" sz="quarter" idx="5"/>
          </p:nvPr>
        </p:nvSpPr>
        <p:spPr/>
        <p:txBody>
          <a:bodyPr/>
          <a:lstStyle/>
          <a:p>
            <a:fld id="{644357A5-A22A-4334-8DF8-ABA91039FDEB}" type="slidenum">
              <a:rPr lang="en-GB" smtClean="0"/>
              <a:t>31</a:t>
            </a:fld>
            <a:endParaRPr lang="en-GB" dirty="0"/>
          </a:p>
        </p:txBody>
      </p:sp>
    </p:spTree>
    <p:extLst>
      <p:ext uri="{BB962C8B-B14F-4D97-AF65-F5344CB8AC3E}">
        <p14:creationId xmlns:p14="http://schemas.microsoft.com/office/powerpoint/2010/main" val="20388355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10D55-16B9-1679-8833-04A60ABB9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E3350-C504-C722-D1BE-BA4ED12D42B7}"/>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0A36D7C9-6E3D-FB7B-F3CD-36891C0AB464}"/>
              </a:ext>
            </a:extLst>
          </p:cNvPr>
          <p:cNvSpPr>
            <a:spLocks noGrp="1"/>
          </p:cNvSpPr>
          <p:nvPr>
            <p:ph type="body" idx="1"/>
          </p:nvPr>
        </p:nvSpPr>
        <p:spPr/>
        <p:txBody>
          <a:bodyPr/>
          <a:lstStyle/>
          <a:p>
            <a:pPr>
              <a:lnSpc>
                <a:spcPct val="90000"/>
              </a:lnSpc>
            </a:pPr>
            <a:r>
              <a:rPr lang="en-US" dirty="0"/>
              <a:t>The X-bar and R charts work together when we collect continuous data in small, consistent groups.</a:t>
            </a:r>
          </a:p>
          <a:p>
            <a:pPr>
              <a:lnSpc>
                <a:spcPct val="90000"/>
              </a:lnSpc>
            </a:pPr>
            <a:endParaRPr lang="en-US" dirty="0"/>
          </a:p>
          <a:p>
            <a:pPr>
              <a:lnSpc>
                <a:spcPct val="90000"/>
              </a:lnSpc>
            </a:pPr>
            <a:r>
              <a:rPr lang="en-US" dirty="0"/>
              <a:t>The X-bar chart monitors the average result for each sample. In this example, each sample contains five employees, and the measure is average onboarding time. The chart answers: Has the average process performance changed?</a:t>
            </a:r>
          </a:p>
          <a:p>
            <a:pPr>
              <a:lnSpc>
                <a:spcPct val="90000"/>
              </a:lnSpc>
            </a:pPr>
            <a:endParaRPr lang="en-US" dirty="0"/>
          </a:p>
          <a:p>
            <a:pPr>
              <a:lnSpc>
                <a:spcPct val="90000"/>
              </a:lnSpc>
            </a:pPr>
            <a:r>
              <a:rPr lang="en-US" dirty="0"/>
              <a:t>The R chart monitors the range within each sample, which is the difference between the shortest and longest result. It answers: Has the consistency of the process changed?</a:t>
            </a:r>
          </a:p>
          <a:p>
            <a:pPr>
              <a:lnSpc>
                <a:spcPct val="90000"/>
              </a:lnSpc>
            </a:pPr>
            <a:endParaRPr lang="en-US" dirty="0"/>
          </a:p>
          <a:p>
            <a:pPr>
              <a:lnSpc>
                <a:spcPct val="90000"/>
              </a:lnSpc>
            </a:pPr>
            <a:r>
              <a:rPr lang="en-US" dirty="0"/>
              <a:t>We need both charts because an average can remain stable while variation grows. For an Equus example, two offices might have the same average enrollment time, but one office may have much less consistent participant experiences.</a:t>
            </a:r>
          </a:p>
          <a:p>
            <a:pPr>
              <a:lnSpc>
                <a:spcPct val="90000"/>
              </a:lnSpc>
            </a:pPr>
            <a:endParaRPr lang="en-US" dirty="0"/>
          </a:p>
          <a:p>
            <a:pPr>
              <a:lnSpc>
                <a:spcPct val="90000"/>
              </a:lnSpc>
            </a:pPr>
            <a:r>
              <a:rPr lang="en-US" dirty="0"/>
              <a:t>Always interpret the R chart and the X-bar chart together. Stable averages do not guarantee stable variation.</a:t>
            </a:r>
          </a:p>
          <a:p>
            <a:pPr>
              <a:lnSpc>
                <a:spcPct val="90000"/>
              </a:lnSpc>
            </a:pPr>
            <a:endParaRPr lang="en-US" dirty="0"/>
          </a:p>
          <a:p>
            <a:pPr>
              <a:lnSpc>
                <a:spcPct val="90000"/>
              </a:lnSpc>
            </a:pPr>
            <a:r>
              <a:rPr lang="en-US" dirty="0"/>
              <a:t>Transition: Let’s calculate the average and range for one sample.</a:t>
            </a:r>
          </a:p>
        </p:txBody>
      </p:sp>
      <p:sp>
        <p:nvSpPr>
          <p:cNvPr id="4" name="Slide Number Placeholder 3">
            <a:extLst>
              <a:ext uri="{FF2B5EF4-FFF2-40B4-BE49-F238E27FC236}">
                <a16:creationId xmlns:a16="http://schemas.microsoft.com/office/drawing/2014/main" id="{61B58698-9582-E0D2-29BE-A69069909788}"/>
              </a:ext>
            </a:extLst>
          </p:cNvPr>
          <p:cNvSpPr>
            <a:spLocks noGrp="1"/>
          </p:cNvSpPr>
          <p:nvPr>
            <p:ph type="sldNum" sz="quarter" idx="5"/>
          </p:nvPr>
        </p:nvSpPr>
        <p:spPr/>
        <p:txBody>
          <a:bodyPr/>
          <a:lstStyle/>
          <a:p>
            <a:fld id="{336F8861-7D18-944D-B836-A484A82765AD}" type="slidenum">
              <a:rPr lang="en-US" smtClean="0"/>
              <a:t>32</a:t>
            </a:fld>
            <a:endParaRPr lang="en-US" dirty="0"/>
          </a:p>
        </p:txBody>
      </p:sp>
    </p:spTree>
    <p:extLst>
      <p:ext uri="{BB962C8B-B14F-4D97-AF65-F5344CB8AC3E}">
        <p14:creationId xmlns:p14="http://schemas.microsoft.com/office/powerpoint/2010/main" val="25978928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This example uses a sample of five employees with onboarding times of four, five, five, six, and six days.</a:t>
            </a:r>
          </a:p>
          <a:p>
            <a:pPr>
              <a:lnSpc>
                <a:spcPct val="90000"/>
              </a:lnSpc>
            </a:pPr>
            <a:endParaRPr lang="en-US" dirty="0"/>
          </a:p>
          <a:p>
            <a:pPr>
              <a:lnSpc>
                <a:spcPct val="90000"/>
              </a:lnSpc>
            </a:pPr>
            <a:r>
              <a:rPr lang="en-US" dirty="0"/>
              <a:t>To calculate the sample average, add the values to get 26 and divide by five. The X-bar value is 5.2 days.</a:t>
            </a:r>
          </a:p>
          <a:p>
            <a:pPr>
              <a:lnSpc>
                <a:spcPct val="90000"/>
              </a:lnSpc>
            </a:pPr>
            <a:endParaRPr lang="en-US" dirty="0"/>
          </a:p>
          <a:p>
            <a:pPr>
              <a:lnSpc>
                <a:spcPct val="90000"/>
              </a:lnSpc>
            </a:pPr>
            <a:r>
              <a:rPr lang="en-US" dirty="0"/>
              <a:t>To calculate the range, subtract the lowest value from the highest value. Six minus four gives a range of two days.</a:t>
            </a:r>
          </a:p>
          <a:p>
            <a:pPr>
              <a:lnSpc>
                <a:spcPct val="90000"/>
              </a:lnSpc>
            </a:pPr>
            <a:endParaRPr lang="en-US" dirty="0"/>
          </a:p>
          <a:p>
            <a:pPr>
              <a:lnSpc>
                <a:spcPct val="90000"/>
              </a:lnSpc>
            </a:pPr>
            <a:r>
              <a:rPr lang="en-US" dirty="0"/>
              <a:t>The same calculation is completed for each sample group and plotted over time. Every subgroup should use the same sample size and a consistent collection method so the results are comparable.</a:t>
            </a:r>
          </a:p>
          <a:p>
            <a:pPr>
              <a:lnSpc>
                <a:spcPct val="90000"/>
              </a:lnSpc>
            </a:pPr>
            <a:endParaRPr lang="en-US" dirty="0"/>
          </a:p>
          <a:p>
            <a:pPr>
              <a:lnSpc>
                <a:spcPct val="90000"/>
              </a:lnSpc>
            </a:pPr>
            <a:r>
              <a:rPr lang="en-US" dirty="0"/>
              <a:t>For an Equus application, a sample might include five participant enrollments completed each week. The X-bar chart would monitor average completion time, while the R chart would show the spread between the shortest and longest completion times in each sample.</a:t>
            </a:r>
          </a:p>
          <a:p>
            <a:pPr>
              <a:lnSpc>
                <a:spcPct val="90000"/>
              </a:lnSpc>
            </a:pPr>
            <a:endParaRPr lang="en-US" dirty="0"/>
          </a:p>
          <a:p>
            <a:pPr>
              <a:lnSpc>
                <a:spcPct val="90000"/>
              </a:lnSpc>
            </a:pPr>
            <a:r>
              <a:rPr lang="en-US" dirty="0"/>
              <a:t>One correction to note while presenting: the lowest value in this example is four, not two. The range is still two because six minus four equals two.</a:t>
            </a:r>
          </a:p>
          <a:p>
            <a:pPr>
              <a:lnSpc>
                <a:spcPct val="90000"/>
              </a:lnSpc>
            </a:pPr>
            <a:endParaRPr lang="en-US" dirty="0"/>
          </a:p>
          <a:p>
            <a:pPr>
              <a:lnSpc>
                <a:spcPct val="90000"/>
              </a:lnSpc>
            </a:pPr>
            <a:r>
              <a:rPr lang="en-US" dirty="0"/>
              <a:t>Transition: Now let’s interpret what the pair of charts tells us about a full process.</a:t>
            </a:r>
          </a:p>
        </p:txBody>
      </p:sp>
      <p:sp>
        <p:nvSpPr>
          <p:cNvPr id="4" name="Slide Number Placeholder 3"/>
          <p:cNvSpPr>
            <a:spLocks noGrp="1"/>
          </p:cNvSpPr>
          <p:nvPr>
            <p:ph type="sldNum" sz="quarter" idx="5"/>
          </p:nvPr>
        </p:nvSpPr>
        <p:spPr/>
        <p:txBody>
          <a:bodyPr/>
          <a:lstStyle/>
          <a:p>
            <a:fld id="{336F8861-7D18-944D-B836-A484A82765AD}" type="slidenum">
              <a:rPr lang="en-US" smtClean="0"/>
              <a:t>33</a:t>
            </a:fld>
            <a:endParaRPr lang="en-US" dirty="0"/>
          </a:p>
        </p:txBody>
      </p:sp>
    </p:spTree>
    <p:extLst>
      <p:ext uri="{BB962C8B-B14F-4D97-AF65-F5344CB8AC3E}">
        <p14:creationId xmlns:p14="http://schemas.microsoft.com/office/powerpoint/2010/main" val="23971504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6A727-9A55-9099-5ED9-F784563A1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58E75-A912-604C-2340-AE9567B796C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CEABF27-E543-A429-0C17-C737733648CB}"/>
              </a:ext>
            </a:extLst>
          </p:cNvPr>
          <p:cNvSpPr>
            <a:spLocks noGrp="1"/>
          </p:cNvSpPr>
          <p:nvPr>
            <p:ph type="body" idx="1"/>
          </p:nvPr>
        </p:nvSpPr>
        <p:spPr/>
        <p:txBody>
          <a:bodyPr/>
          <a:lstStyle/>
          <a:p>
            <a:pPr>
              <a:lnSpc>
                <a:spcPct val="90000"/>
              </a:lnSpc>
            </a:pPr>
            <a:r>
              <a:rPr lang="en-US" dirty="0"/>
              <a:t>This example applies X-bar and R charts to employee onboarding across six process steps, from collecting new-hire details through completion.</a:t>
            </a:r>
          </a:p>
          <a:p>
            <a:pPr>
              <a:lnSpc>
                <a:spcPct val="90000"/>
              </a:lnSpc>
            </a:pPr>
            <a:endParaRPr lang="en-US" dirty="0"/>
          </a:p>
          <a:p>
            <a:pPr>
              <a:lnSpc>
                <a:spcPct val="90000"/>
              </a:lnSpc>
            </a:pPr>
            <a:r>
              <a:rPr lang="en-US" dirty="0"/>
              <a:t>The X-bar chart shows that the average onboarding time is not stable. The overall average is 5.36 days, and several samples fall beyond the control limits. That means we should investigate what changed during those sample periods.</a:t>
            </a:r>
          </a:p>
          <a:p>
            <a:pPr>
              <a:lnSpc>
                <a:spcPct val="90000"/>
              </a:lnSpc>
            </a:pPr>
            <a:endParaRPr lang="en-US" dirty="0"/>
          </a:p>
          <a:p>
            <a:pPr>
              <a:lnSpc>
                <a:spcPct val="90000"/>
              </a:lnSpc>
            </a:pPr>
            <a:r>
              <a:rPr lang="en-US" dirty="0"/>
              <a:t>Possible areas to examine include equipment delivery, manager approvals, access provisioning, incomplete documentation, and differences in onboarding complexity. These are starting points for investigation, not confirmed causes.</a:t>
            </a:r>
          </a:p>
          <a:p>
            <a:pPr>
              <a:lnSpc>
                <a:spcPct val="90000"/>
              </a:lnSpc>
            </a:pPr>
            <a:endParaRPr lang="en-US" dirty="0"/>
          </a:p>
          <a:p>
            <a:pPr>
              <a:lnSpc>
                <a:spcPct val="90000"/>
              </a:lnSpc>
            </a:pPr>
            <a:r>
              <a:rPr lang="en-US" dirty="0"/>
              <a:t>The R chart tells a different story. The average range is 1.4 days, all points remain inside the limits, and no special cause pattern is identified. The spread within each group appears stable even though the group averages are shifting.</a:t>
            </a:r>
          </a:p>
          <a:p>
            <a:pPr>
              <a:lnSpc>
                <a:spcPct val="90000"/>
              </a:lnSpc>
            </a:pPr>
            <a:endParaRPr lang="en-US" dirty="0"/>
          </a:p>
          <a:p>
            <a:pPr>
              <a:lnSpc>
                <a:spcPct val="90000"/>
              </a:lnSpc>
            </a:pPr>
            <a:r>
              <a:rPr lang="en-US" dirty="0"/>
              <a:t>For Equus, the same approach could examine referral-to-enrollment time across weekly samples. It would help separate a change in the average experience from a change in consistency across participants.</a:t>
            </a:r>
          </a:p>
          <a:p>
            <a:pPr>
              <a:lnSpc>
                <a:spcPct val="90000"/>
              </a:lnSpc>
            </a:pPr>
            <a:endParaRPr lang="en-US" dirty="0"/>
          </a:p>
          <a:p>
            <a:pPr>
              <a:lnSpc>
                <a:spcPct val="90000"/>
              </a:lnSpc>
            </a:pPr>
            <a:r>
              <a:rPr lang="en-US" dirty="0"/>
              <a:t>Transition: After an improved process becomes stable, we establish the new baseline and prepare for closure.</a:t>
            </a:r>
          </a:p>
        </p:txBody>
      </p:sp>
      <p:sp>
        <p:nvSpPr>
          <p:cNvPr id="4" name="Slide Number Placeholder 3">
            <a:extLst>
              <a:ext uri="{FF2B5EF4-FFF2-40B4-BE49-F238E27FC236}">
                <a16:creationId xmlns:a16="http://schemas.microsoft.com/office/drawing/2014/main" id="{BF287C25-C04C-0D15-C343-BB9C5F8A461C}"/>
              </a:ext>
            </a:extLst>
          </p:cNvPr>
          <p:cNvSpPr>
            <a:spLocks noGrp="1"/>
          </p:cNvSpPr>
          <p:nvPr>
            <p:ph type="sldNum" sz="quarter" idx="5"/>
          </p:nvPr>
        </p:nvSpPr>
        <p:spPr/>
        <p:txBody>
          <a:bodyPr/>
          <a:lstStyle/>
          <a:p>
            <a:fld id="{644357A5-A22A-4334-8DF8-ABA91039FDEB}" type="slidenum">
              <a:rPr lang="en-GB" smtClean="0"/>
              <a:t>34</a:t>
            </a:fld>
            <a:endParaRPr lang="en-GB" dirty="0"/>
          </a:p>
        </p:txBody>
      </p:sp>
    </p:spTree>
    <p:extLst>
      <p:ext uri="{BB962C8B-B14F-4D97-AF65-F5344CB8AC3E}">
        <p14:creationId xmlns:p14="http://schemas.microsoft.com/office/powerpoint/2010/main" val="14626151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We are entering the final section: re-baselining and project closure.</a:t>
            </a:r>
          </a:p>
          <a:p>
            <a:pPr>
              <a:lnSpc>
                <a:spcPct val="90000"/>
              </a:lnSpc>
            </a:pPr>
            <a:endParaRPr lang="en-US" dirty="0"/>
          </a:p>
          <a:p>
            <a:pPr>
              <a:lnSpc>
                <a:spcPct val="90000"/>
              </a:lnSpc>
            </a:pPr>
            <a:r>
              <a:rPr lang="en-US" dirty="0"/>
              <a:t>Once an improvement has been implemented and shown to be stable, the team needs to define the new expected level of performance. That new baseline becomes the reference point for future monitoring.</a:t>
            </a:r>
          </a:p>
          <a:p>
            <a:pPr>
              <a:lnSpc>
                <a:spcPct val="90000"/>
              </a:lnSpc>
            </a:pPr>
            <a:endParaRPr lang="en-US" dirty="0"/>
          </a:p>
          <a:p>
            <a:pPr>
              <a:lnSpc>
                <a:spcPct val="90000"/>
              </a:lnSpc>
            </a:pPr>
            <a:r>
              <a:rPr lang="en-US" dirty="0"/>
              <a:t>Closure also means transferring ownership. The project team should leave the Process Owner with clear measures, definitions, responsibilities, review routines, and response steps.</a:t>
            </a:r>
          </a:p>
          <a:p>
            <a:pPr>
              <a:lnSpc>
                <a:spcPct val="90000"/>
              </a:lnSpc>
            </a:pPr>
            <a:endParaRPr lang="en-US" dirty="0"/>
          </a:p>
          <a:p>
            <a:pPr>
              <a:lnSpc>
                <a:spcPct val="90000"/>
              </a:lnSpc>
            </a:pPr>
            <a:r>
              <a:rPr lang="en-US" dirty="0"/>
              <a:t>Transition: Let’s review the actions required before the process becomes business as usual.</a:t>
            </a:r>
          </a:p>
        </p:txBody>
      </p:sp>
      <p:sp>
        <p:nvSpPr>
          <p:cNvPr id="4" name="Slide Number Placeholder 3"/>
          <p:cNvSpPr>
            <a:spLocks noGrp="1"/>
          </p:cNvSpPr>
          <p:nvPr>
            <p:ph type="sldNum" sz="quarter" idx="5"/>
          </p:nvPr>
        </p:nvSpPr>
        <p:spPr/>
        <p:txBody>
          <a:bodyPr/>
          <a:lstStyle/>
          <a:p>
            <a:fld id="{336F8861-7D18-944D-B836-A484A82765AD}" type="slidenum">
              <a:rPr lang="en-US" smtClean="0"/>
              <a:t>35</a:t>
            </a:fld>
            <a:endParaRPr lang="en-US" dirty="0"/>
          </a:p>
        </p:txBody>
      </p:sp>
    </p:spTree>
    <p:extLst>
      <p:ext uri="{BB962C8B-B14F-4D97-AF65-F5344CB8AC3E}">
        <p14:creationId xmlns:p14="http://schemas.microsoft.com/office/powerpoint/2010/main" val="16599762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Before releasing the improved process into business as usual, confirm the new baseline and validate the key measures.</a:t>
            </a:r>
          </a:p>
          <a:p>
            <a:pPr>
              <a:lnSpc>
                <a:spcPct val="90000"/>
              </a:lnSpc>
            </a:pPr>
            <a:endParaRPr lang="en-US" dirty="0"/>
          </a:p>
          <a:p>
            <a:pPr>
              <a:lnSpc>
                <a:spcPct val="90000"/>
              </a:lnSpc>
            </a:pPr>
            <a:r>
              <a:rPr lang="en-US" dirty="0"/>
              <a:t>Communicate what changed, why it matters, and what results were achieved. Recognize the contributors who helped design, test, and implement the improvement. Their knowledge and support are important for sustaining it.</a:t>
            </a:r>
          </a:p>
          <a:p>
            <a:pPr>
              <a:lnSpc>
                <a:spcPct val="90000"/>
              </a:lnSpc>
            </a:pPr>
            <a:endParaRPr lang="en-US" dirty="0"/>
          </a:p>
          <a:p>
            <a:pPr>
              <a:lnSpc>
                <a:spcPct val="90000"/>
              </a:lnSpc>
            </a:pPr>
            <a:r>
              <a:rPr lang="en-US" dirty="0"/>
              <a:t>Formally hand over the process to the Process Owner. The handoff should include the control plan, measure definitions, data source, review frequency, expected limits or thresholds, and the action to take when a signal appears.</a:t>
            </a:r>
          </a:p>
          <a:p>
            <a:pPr>
              <a:lnSpc>
                <a:spcPct val="90000"/>
              </a:lnSpc>
            </a:pPr>
            <a:endParaRPr lang="en-US" dirty="0"/>
          </a:p>
          <a:p>
            <a:pPr>
              <a:lnSpc>
                <a:spcPct val="90000"/>
              </a:lnSpc>
            </a:pPr>
            <a:r>
              <a:rPr lang="en-US" dirty="0"/>
              <a:t>For an Equus project that improved participant onboarding, the closure report might document the new average completion time, the monitoring dashboard, ownership of the measure, and escalation steps for unusual variation.</a:t>
            </a:r>
          </a:p>
          <a:p>
            <a:pPr>
              <a:lnSpc>
                <a:spcPct val="90000"/>
              </a:lnSpc>
            </a:pPr>
            <a:endParaRPr lang="en-US" dirty="0"/>
          </a:p>
          <a:p>
            <a:pPr>
              <a:lnSpc>
                <a:spcPct val="90000"/>
              </a:lnSpc>
            </a:pPr>
            <a:r>
              <a:rPr lang="en-US" dirty="0"/>
              <a:t>The new baseline is not the end of improvement. It becomes the benchmark for future performance and the starting point for the next improvement opportunity.</a:t>
            </a:r>
          </a:p>
          <a:p>
            <a:pPr>
              <a:lnSpc>
                <a:spcPct val="90000"/>
              </a:lnSpc>
            </a:pPr>
            <a:endParaRPr lang="en-US" dirty="0"/>
          </a:p>
          <a:p>
            <a:pPr>
              <a:lnSpc>
                <a:spcPct val="90000"/>
              </a:lnSpc>
            </a:pPr>
            <a:r>
              <a:rPr lang="en-US" dirty="0"/>
              <a:t>Transition: Let’s close by bringing the major ideas together.</a:t>
            </a:r>
          </a:p>
        </p:txBody>
      </p:sp>
      <p:sp>
        <p:nvSpPr>
          <p:cNvPr id="4" name="Slide Number Placeholder 3"/>
          <p:cNvSpPr>
            <a:spLocks noGrp="1"/>
          </p:cNvSpPr>
          <p:nvPr>
            <p:ph type="sldNum" sz="quarter" idx="5"/>
          </p:nvPr>
        </p:nvSpPr>
        <p:spPr/>
        <p:txBody>
          <a:bodyPr/>
          <a:lstStyle/>
          <a:p>
            <a:fld id="{336F8861-7D18-944D-B836-A484A82765AD}" type="slidenum">
              <a:rPr lang="en-US" smtClean="0"/>
              <a:t>36</a:t>
            </a:fld>
            <a:endParaRPr lang="en-US" dirty="0"/>
          </a:p>
        </p:txBody>
      </p:sp>
    </p:spTree>
    <p:extLst>
      <p:ext uri="{BB962C8B-B14F-4D97-AF65-F5344CB8AC3E}">
        <p14:creationId xmlns:p14="http://schemas.microsoft.com/office/powerpoint/2010/main" val="21504474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Let’s summarize the key points from the module.</a:t>
            </a:r>
          </a:p>
          <a:p>
            <a:pPr>
              <a:lnSpc>
                <a:spcPct val="90000"/>
              </a:lnSpc>
            </a:pPr>
            <a:endParaRPr lang="en-US" dirty="0"/>
          </a:p>
          <a:p>
            <a:pPr>
              <a:lnSpc>
                <a:spcPct val="90000"/>
              </a:lnSpc>
            </a:pPr>
            <a:r>
              <a:rPr lang="en-US" dirty="0"/>
              <a:t>The Control phase is designed to sustain improvements. Statistical Process Control uses data in time order to monitor process performance and provide early warning signals when the pattern changes.</a:t>
            </a:r>
          </a:p>
          <a:p>
            <a:pPr>
              <a:lnSpc>
                <a:spcPct val="90000"/>
              </a:lnSpc>
            </a:pPr>
            <a:endParaRPr lang="en-US" dirty="0"/>
          </a:p>
          <a:p>
            <a:pPr>
              <a:lnSpc>
                <a:spcPct val="90000"/>
              </a:lnSpc>
            </a:pPr>
            <a:r>
              <a:rPr lang="en-US" dirty="0"/>
              <a:t>Control charts can be built from continuous data, such as minutes or days, and discrete data, such as counts of complaints or errors. The data type and collection method determine the appropriate chart.</a:t>
            </a:r>
          </a:p>
          <a:p>
            <a:pPr>
              <a:lnSpc>
                <a:spcPct val="90000"/>
              </a:lnSpc>
            </a:pPr>
            <a:endParaRPr lang="en-US" dirty="0"/>
          </a:p>
          <a:p>
            <a:pPr>
              <a:lnSpc>
                <a:spcPct val="90000"/>
              </a:lnSpc>
            </a:pPr>
            <a:r>
              <a:rPr lang="en-US" dirty="0"/>
              <a:t>Common cause variation is the normal variation built into the process. When the stable process is not meeting the need, improve the process. Special cause variation suggests something unusual has changed. Investigate the cause before acting.</a:t>
            </a:r>
          </a:p>
          <a:p>
            <a:pPr>
              <a:lnSpc>
                <a:spcPct val="90000"/>
              </a:lnSpc>
            </a:pPr>
            <a:endParaRPr lang="en-US" dirty="0"/>
          </a:p>
          <a:p>
            <a:pPr>
              <a:lnSpc>
                <a:spcPct val="90000"/>
              </a:lnSpc>
            </a:pPr>
            <a:r>
              <a:rPr lang="en-US" dirty="0"/>
              <a:t>For Equus teams, these concepts support more consistent participant experiences, better operational decisions, and more reliable performance monitoring.</a:t>
            </a:r>
          </a:p>
          <a:p>
            <a:pPr>
              <a:lnSpc>
                <a:spcPct val="90000"/>
              </a:lnSpc>
            </a:pPr>
            <a:endParaRPr lang="en-US" dirty="0"/>
          </a:p>
          <a:p>
            <a:pPr>
              <a:lnSpc>
                <a:spcPct val="90000"/>
              </a:lnSpc>
            </a:pPr>
            <a:r>
              <a:rPr lang="en-US" dirty="0"/>
              <a:t>Quick check: What is one measure in your area that would benefit from being viewed over time rather than as a single monthly result?</a:t>
            </a:r>
          </a:p>
          <a:p>
            <a:pPr>
              <a:lnSpc>
                <a:spcPct val="90000"/>
              </a:lnSpc>
            </a:pPr>
            <a:endParaRPr lang="en-US" dirty="0"/>
          </a:p>
          <a:p>
            <a:pPr>
              <a:lnSpc>
                <a:spcPct val="90000"/>
              </a:lnSpc>
            </a:pPr>
            <a:r>
              <a:rPr lang="en-US" dirty="0"/>
              <a:t>Transition: The next slide contains optional resources for continued learning.</a:t>
            </a:r>
          </a:p>
        </p:txBody>
      </p:sp>
      <p:sp>
        <p:nvSpPr>
          <p:cNvPr id="4" name="Slide Number Placeholder 3"/>
          <p:cNvSpPr>
            <a:spLocks noGrp="1"/>
          </p:cNvSpPr>
          <p:nvPr>
            <p:ph type="sldNum" sz="quarter" idx="5"/>
          </p:nvPr>
        </p:nvSpPr>
        <p:spPr/>
        <p:txBody>
          <a:bodyPr/>
          <a:lstStyle/>
          <a:p>
            <a:fld id="{336F8861-7D18-944D-B836-A484A82765AD}" type="slidenum">
              <a:rPr lang="en-US" smtClean="0"/>
              <a:t>37</a:t>
            </a:fld>
            <a:endParaRPr lang="en-US" dirty="0"/>
          </a:p>
        </p:txBody>
      </p:sp>
    </p:spTree>
    <p:extLst>
      <p:ext uri="{BB962C8B-B14F-4D97-AF65-F5344CB8AC3E}">
        <p14:creationId xmlns:p14="http://schemas.microsoft.com/office/powerpoint/2010/main" val="5136162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These resources provide additional support if you want to explore the calculations or practice creating control charts.</a:t>
            </a:r>
          </a:p>
          <a:p>
            <a:pPr>
              <a:lnSpc>
                <a:spcPct val="90000"/>
              </a:lnSpc>
            </a:pPr>
            <a:endParaRPr lang="en-US" dirty="0"/>
          </a:p>
          <a:p>
            <a:pPr>
              <a:lnSpc>
                <a:spcPct val="90000"/>
              </a:lnSpc>
            </a:pPr>
            <a:r>
              <a:rPr lang="en-US" dirty="0"/>
              <a:t>The first resource reviews standard deviation. The remaining resources introduce basic control chart concepts and I-MR chart creation.</a:t>
            </a:r>
          </a:p>
          <a:p>
            <a:pPr>
              <a:lnSpc>
                <a:spcPct val="90000"/>
              </a:lnSpc>
            </a:pPr>
            <a:endParaRPr lang="en-US" dirty="0"/>
          </a:p>
          <a:p>
            <a:pPr>
              <a:lnSpc>
                <a:spcPct val="90000"/>
              </a:lnSpc>
            </a:pPr>
            <a:r>
              <a:rPr lang="en-US" dirty="0"/>
              <a:t>As you use external examples, bring the thinking back to a real process. Start with a clear operational definition, confirm the data is reliable and ordered over time, choose the chart that matches the data, and then interpret signals with the people closest to the work.</a:t>
            </a:r>
          </a:p>
          <a:p>
            <a:pPr>
              <a:lnSpc>
                <a:spcPct val="90000"/>
              </a:lnSpc>
            </a:pPr>
            <a:endParaRPr lang="en-US" dirty="0"/>
          </a:p>
          <a:p>
            <a:pPr>
              <a:lnSpc>
                <a:spcPct val="90000"/>
              </a:lnSpc>
            </a:pPr>
            <a:r>
              <a:rPr lang="en-US" dirty="0"/>
              <a:t>For an Equus application, a good practice exercise would be to chart referral-to-first-contact time, assessment completion time, missed appointments, or case-record errors using a consistent definition and collection period.</a:t>
            </a:r>
          </a:p>
          <a:p>
            <a:pPr>
              <a:lnSpc>
                <a:spcPct val="90000"/>
              </a:lnSpc>
            </a:pPr>
            <a:endParaRPr lang="en-US" dirty="0"/>
          </a:p>
          <a:p>
            <a:pPr>
              <a:lnSpc>
                <a:spcPct val="90000"/>
              </a:lnSpc>
            </a:pPr>
            <a:r>
              <a:rPr lang="en-US" dirty="0"/>
              <a:t>Transition: Let’s close the session.</a:t>
            </a:r>
          </a:p>
        </p:txBody>
      </p:sp>
      <p:sp>
        <p:nvSpPr>
          <p:cNvPr id="4" name="Slide Number Placeholder 3"/>
          <p:cNvSpPr>
            <a:spLocks noGrp="1"/>
          </p:cNvSpPr>
          <p:nvPr>
            <p:ph type="sldNum" sz="quarter" idx="5"/>
          </p:nvPr>
        </p:nvSpPr>
        <p:spPr/>
        <p:txBody>
          <a:bodyPr/>
          <a:lstStyle/>
          <a:p>
            <a:fld id="{336F8861-7D18-944D-B836-A484A82765AD}" type="slidenum">
              <a:rPr lang="en-US" smtClean="0"/>
              <a:t>38</a:t>
            </a:fld>
            <a:endParaRPr lang="en-US" dirty="0"/>
          </a:p>
        </p:txBody>
      </p:sp>
    </p:spTree>
    <p:extLst>
      <p:ext uri="{BB962C8B-B14F-4D97-AF65-F5344CB8AC3E}">
        <p14:creationId xmlns:p14="http://schemas.microsoft.com/office/powerpoint/2010/main" val="25339670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nSpc>
                <a:spcPct val="90000"/>
              </a:lnSpc>
            </a:pPr>
            <a:r>
              <a:rPr lang="en-US" dirty="0"/>
              <a:t>Thank you for your participation today.</a:t>
            </a:r>
          </a:p>
          <a:p>
            <a:pPr>
              <a:lnSpc>
                <a:spcPct val="90000"/>
              </a:lnSpc>
            </a:pPr>
            <a:endParaRPr lang="en-US" dirty="0"/>
          </a:p>
          <a:p>
            <a:pPr>
              <a:lnSpc>
                <a:spcPct val="90000"/>
              </a:lnSpc>
            </a:pPr>
            <a:r>
              <a:rPr lang="en-US" dirty="0"/>
              <a:t>You have now completed the Statistical Process Control learning module. We covered how to distinguish common cause from special cause variation, how to read the main features of a control chart, how I-MR and X-bar and R charts are used, and how SPC supports re-baselining and sustained improvement.</a:t>
            </a:r>
          </a:p>
          <a:p>
            <a:pPr>
              <a:lnSpc>
                <a:spcPct val="90000"/>
              </a:lnSpc>
            </a:pPr>
            <a:endParaRPr lang="en-US" dirty="0"/>
          </a:p>
          <a:p>
            <a:pPr>
              <a:lnSpc>
                <a:spcPct val="90000"/>
              </a:lnSpc>
            </a:pPr>
            <a:r>
              <a:rPr lang="en-US" dirty="0"/>
              <a:t>The most important takeaway is to avoid reacting to every individual result. Listen to the process, investigate genuine signals, and improve the system when routine performance is not meeting the need.</a:t>
            </a:r>
          </a:p>
          <a:p>
            <a:pPr>
              <a:lnSpc>
                <a:spcPct val="90000"/>
              </a:lnSpc>
            </a:pPr>
            <a:endParaRPr lang="en-US" dirty="0"/>
          </a:p>
          <a:p>
            <a:pPr>
              <a:lnSpc>
                <a:spcPct val="90000"/>
              </a:lnSpc>
            </a:pPr>
            <a:r>
              <a:rPr lang="en-US" dirty="0"/>
              <a:t>Once attendance has been recorded, the module-end test will become available, and the slides will be available for review.</a:t>
            </a:r>
          </a:p>
          <a:p>
            <a:pPr>
              <a:lnSpc>
                <a:spcPct val="90000"/>
              </a:lnSpc>
            </a:pPr>
            <a:endParaRPr lang="en-US" dirty="0"/>
          </a:p>
          <a:p>
            <a:pPr>
              <a:lnSpc>
                <a:spcPct val="90000"/>
              </a:lnSpc>
            </a:pPr>
            <a:r>
              <a:rPr lang="en-US" dirty="0"/>
              <a:t>Before we finish, I’m happy to address any final questions in the chat.</a:t>
            </a:r>
          </a:p>
        </p:txBody>
      </p:sp>
      <p:sp>
        <p:nvSpPr>
          <p:cNvPr id="4" name="Slide Number Placeholder 3"/>
          <p:cNvSpPr>
            <a:spLocks noGrp="1"/>
          </p:cNvSpPr>
          <p:nvPr>
            <p:ph type="sldNum" sz="quarter" idx="5"/>
          </p:nvPr>
        </p:nvSpPr>
        <p:spPr/>
        <p:txBody>
          <a:bodyPr/>
          <a:lstStyle/>
          <a:p>
            <a:fld id="{336F8861-7D18-944D-B836-A484A82765AD}" type="slidenum">
              <a:rPr lang="en-US" smtClean="0"/>
              <a:t>39</a:t>
            </a:fld>
            <a:endParaRPr lang="en-US" dirty="0"/>
          </a:p>
        </p:txBody>
      </p:sp>
    </p:spTree>
    <p:extLst>
      <p:ext uri="{BB962C8B-B14F-4D97-AF65-F5344CB8AC3E}">
        <p14:creationId xmlns:p14="http://schemas.microsoft.com/office/powerpoint/2010/main" val="25339670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9.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9.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 name="Picture 4" descr="A picture containing person, clothing, man, indoor&#10;&#10;Description generated with very high confidence">
            <a:extLst>
              <a:ext uri="{FF2B5EF4-FFF2-40B4-BE49-F238E27FC236}">
                <a16:creationId xmlns:a16="http://schemas.microsoft.com/office/drawing/2014/main" id="{5A2AF239-AC0A-4440-93DD-736D00FE7B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1" name="Freeform: Shape 20">
            <a:extLst>
              <a:ext uri="{FF2B5EF4-FFF2-40B4-BE49-F238E27FC236}">
                <a16:creationId xmlns:a16="http://schemas.microsoft.com/office/drawing/2014/main" id="{AFFE477E-4140-491C-B36C-2012D9E86E84}"/>
              </a:ext>
            </a:extLst>
          </p:cNvPr>
          <p:cNvSpPr/>
          <p:nvPr userDrawn="1"/>
        </p:nvSpPr>
        <p:spPr>
          <a:xfrm>
            <a:off x="6845300" y="4191000"/>
            <a:ext cx="5346700" cy="736600"/>
          </a:xfrm>
          <a:custGeom>
            <a:avLst/>
            <a:gdLst>
              <a:gd name="connsiteX0" fmla="*/ 368300 w 5346700"/>
              <a:gd name="connsiteY0" fmla="*/ 0 h 736600"/>
              <a:gd name="connsiteX1" fmla="*/ 5346700 w 5346700"/>
              <a:gd name="connsiteY1" fmla="*/ 0 h 736600"/>
              <a:gd name="connsiteX2" fmla="*/ 5346700 w 5346700"/>
              <a:gd name="connsiteY2" fmla="*/ 736600 h 736600"/>
              <a:gd name="connsiteX3" fmla="*/ 368300 w 5346700"/>
              <a:gd name="connsiteY3" fmla="*/ 736600 h 736600"/>
              <a:gd name="connsiteX4" fmla="*/ 0 w 5346700"/>
              <a:gd name="connsiteY4" fmla="*/ 368300 h 736600"/>
              <a:gd name="connsiteX5" fmla="*/ 368300 w 5346700"/>
              <a:gd name="connsiteY5" fmla="*/ 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6700" h="736600">
                <a:moveTo>
                  <a:pt x="368300" y="0"/>
                </a:moveTo>
                <a:lnTo>
                  <a:pt x="5346700" y="0"/>
                </a:lnTo>
                <a:lnTo>
                  <a:pt x="5346700" y="736600"/>
                </a:lnTo>
                <a:lnTo>
                  <a:pt x="368300" y="736600"/>
                </a:lnTo>
                <a:cubicBezTo>
                  <a:pt x="164894" y="736600"/>
                  <a:pt x="0" y="571706"/>
                  <a:pt x="0" y="368300"/>
                </a:cubicBezTo>
                <a:cubicBezTo>
                  <a:pt x="0" y="164894"/>
                  <a:pt x="164894" y="0"/>
                  <a:pt x="368300"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3FED2B7-789D-48D3-845F-B0EE1A13CFC5}"/>
              </a:ext>
            </a:extLst>
          </p:cNvPr>
          <p:cNvSpPr>
            <a:spLocks noGrp="1"/>
          </p:cNvSpPr>
          <p:nvPr>
            <p:ph type="ctrTitle"/>
          </p:nvPr>
        </p:nvSpPr>
        <p:spPr>
          <a:xfrm>
            <a:off x="7226300" y="1833563"/>
            <a:ext cx="4254500" cy="2128837"/>
          </a:xfrm>
        </p:spPr>
        <p:txBody>
          <a:bodyPr anchor="b">
            <a:normAutofit/>
          </a:bodyPr>
          <a:lstStyle>
            <a:lvl1pPr algn="l">
              <a:lnSpc>
                <a:spcPct val="100000"/>
              </a:lnSpc>
              <a:defRPr sz="3600" b="1" cap="all" baseline="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E7620CC6-2136-4A58-91C3-1A411D2008D8}"/>
              </a:ext>
            </a:extLst>
          </p:cNvPr>
          <p:cNvSpPr>
            <a:spLocks noGrp="1"/>
          </p:cNvSpPr>
          <p:nvPr>
            <p:ph type="subTitle" idx="1"/>
          </p:nvPr>
        </p:nvSpPr>
        <p:spPr>
          <a:xfrm>
            <a:off x="7226300" y="4302919"/>
            <a:ext cx="4254500" cy="512762"/>
          </a:xfrm>
        </p:spPr>
        <p:txBody>
          <a:bodyPr anchor="ctr">
            <a:normAutofit/>
          </a:bodyPr>
          <a:lstStyle>
            <a:lvl1pPr marL="0" indent="0" algn="l">
              <a:lnSpc>
                <a:spcPct val="100000"/>
              </a:lnSpc>
              <a:spcBef>
                <a:spcPts val="0"/>
              </a:spcBef>
              <a:buNone/>
              <a:defRPr sz="2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a:t>
            </a:r>
            <a:endParaRPr lang="en-GB"/>
          </a:p>
        </p:txBody>
      </p:sp>
      <p:grpSp>
        <p:nvGrpSpPr>
          <p:cNvPr id="10" name="Group 9">
            <a:extLst>
              <a:ext uri="{FF2B5EF4-FFF2-40B4-BE49-F238E27FC236}">
                <a16:creationId xmlns:a16="http://schemas.microsoft.com/office/drawing/2014/main" id="{58D6B991-1E19-4811-A1FD-04E9AC08BB88}"/>
              </a:ext>
            </a:extLst>
          </p:cNvPr>
          <p:cNvGrpSpPr/>
          <p:nvPr userDrawn="1"/>
        </p:nvGrpSpPr>
        <p:grpSpPr>
          <a:xfrm>
            <a:off x="9786622" y="508001"/>
            <a:ext cx="1724967" cy="622299"/>
            <a:chOff x="3663950" y="2217738"/>
            <a:chExt cx="2508251" cy="904876"/>
          </a:xfrm>
        </p:grpSpPr>
        <p:sp>
          <p:nvSpPr>
            <p:cNvPr id="11" name="Freeform 5">
              <a:extLst>
                <a:ext uri="{FF2B5EF4-FFF2-40B4-BE49-F238E27FC236}">
                  <a16:creationId xmlns:a16="http://schemas.microsoft.com/office/drawing/2014/main" id="{5BF59F9C-F30F-41E8-A161-AF1A18EAD1F2}"/>
                </a:ext>
              </a:extLst>
            </p:cNvPr>
            <p:cNvSpPr>
              <a:spLocks/>
            </p:cNvSpPr>
            <p:nvPr userDrawn="1"/>
          </p:nvSpPr>
          <p:spPr bwMode="auto">
            <a:xfrm>
              <a:off x="3719513" y="2217738"/>
              <a:ext cx="133350" cy="133350"/>
            </a:xfrm>
            <a:custGeom>
              <a:avLst/>
              <a:gdLst>
                <a:gd name="T0" fmla="*/ 1 w 41"/>
                <a:gd name="T1" fmla="*/ 19 h 41"/>
                <a:gd name="T2" fmla="*/ 22 w 41"/>
                <a:gd name="T3" fmla="*/ 1 h 41"/>
                <a:gd name="T4" fmla="*/ 40 w 41"/>
                <a:gd name="T5" fmla="*/ 23 h 41"/>
                <a:gd name="T6" fmla="*/ 18 w 41"/>
                <a:gd name="T7" fmla="*/ 40 h 41"/>
                <a:gd name="T8" fmla="*/ 1 w 41"/>
                <a:gd name="T9" fmla="*/ 19 h 41"/>
              </a:gdLst>
              <a:ahLst/>
              <a:cxnLst>
                <a:cxn ang="0">
                  <a:pos x="T0" y="T1"/>
                </a:cxn>
                <a:cxn ang="0">
                  <a:pos x="T2" y="T3"/>
                </a:cxn>
                <a:cxn ang="0">
                  <a:pos x="T4" y="T5"/>
                </a:cxn>
                <a:cxn ang="0">
                  <a:pos x="T6" y="T7"/>
                </a:cxn>
                <a:cxn ang="0">
                  <a:pos x="T8" y="T9"/>
                </a:cxn>
              </a:cxnLst>
              <a:rect l="0" t="0" r="r" b="b"/>
              <a:pathLst>
                <a:path w="41" h="41">
                  <a:moveTo>
                    <a:pt x="1" y="19"/>
                  </a:moveTo>
                  <a:cubicBezTo>
                    <a:pt x="2" y="8"/>
                    <a:pt x="12" y="0"/>
                    <a:pt x="22" y="1"/>
                  </a:cubicBezTo>
                  <a:cubicBezTo>
                    <a:pt x="33" y="3"/>
                    <a:pt x="41" y="12"/>
                    <a:pt x="40" y="23"/>
                  </a:cubicBezTo>
                  <a:cubicBezTo>
                    <a:pt x="39" y="34"/>
                    <a:pt x="29" y="41"/>
                    <a:pt x="18" y="40"/>
                  </a:cubicBezTo>
                  <a:cubicBezTo>
                    <a:pt x="8" y="39"/>
                    <a:pt x="0" y="30"/>
                    <a:pt x="1" y="19"/>
                  </a:cubicBezTo>
                </a:path>
              </a:pathLst>
            </a:custGeom>
            <a:solidFill>
              <a:srgbClr val="FB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2" name="Freeform 6">
              <a:extLst>
                <a:ext uri="{FF2B5EF4-FFF2-40B4-BE49-F238E27FC236}">
                  <a16:creationId xmlns:a16="http://schemas.microsoft.com/office/drawing/2014/main" id="{B4D02C02-C1B5-495B-B3A8-BCE8AC690733}"/>
                </a:ext>
              </a:extLst>
            </p:cNvPr>
            <p:cNvSpPr>
              <a:spLocks/>
            </p:cNvSpPr>
            <p:nvPr userDrawn="1"/>
          </p:nvSpPr>
          <p:spPr bwMode="auto">
            <a:xfrm>
              <a:off x="3663950" y="2419351"/>
              <a:ext cx="169863" cy="503238"/>
            </a:xfrm>
            <a:custGeom>
              <a:avLst/>
              <a:gdLst>
                <a:gd name="T0" fmla="*/ 51 w 107"/>
                <a:gd name="T1" fmla="*/ 317 h 317"/>
                <a:gd name="T2" fmla="*/ 51 w 107"/>
                <a:gd name="T3" fmla="*/ 48 h 317"/>
                <a:gd name="T4" fmla="*/ 0 w 107"/>
                <a:gd name="T5" fmla="*/ 48 h 317"/>
                <a:gd name="T6" fmla="*/ 0 w 107"/>
                <a:gd name="T7" fmla="*/ 0 h 317"/>
                <a:gd name="T8" fmla="*/ 107 w 107"/>
                <a:gd name="T9" fmla="*/ 0 h 317"/>
                <a:gd name="T10" fmla="*/ 107 w 107"/>
                <a:gd name="T11" fmla="*/ 317 h 317"/>
                <a:gd name="T12" fmla="*/ 51 w 107"/>
                <a:gd name="T13" fmla="*/ 317 h 317"/>
              </a:gdLst>
              <a:ahLst/>
              <a:cxnLst>
                <a:cxn ang="0">
                  <a:pos x="T0" y="T1"/>
                </a:cxn>
                <a:cxn ang="0">
                  <a:pos x="T2" y="T3"/>
                </a:cxn>
                <a:cxn ang="0">
                  <a:pos x="T4" y="T5"/>
                </a:cxn>
                <a:cxn ang="0">
                  <a:pos x="T6" y="T7"/>
                </a:cxn>
                <a:cxn ang="0">
                  <a:pos x="T8" y="T9"/>
                </a:cxn>
                <a:cxn ang="0">
                  <a:pos x="T10" y="T11"/>
                </a:cxn>
                <a:cxn ang="0">
                  <a:pos x="T12" y="T13"/>
                </a:cxn>
              </a:cxnLst>
              <a:rect l="0" t="0" r="r" b="b"/>
              <a:pathLst>
                <a:path w="107" h="317">
                  <a:moveTo>
                    <a:pt x="51" y="317"/>
                  </a:moveTo>
                  <a:lnTo>
                    <a:pt x="51" y="48"/>
                  </a:lnTo>
                  <a:lnTo>
                    <a:pt x="0" y="48"/>
                  </a:lnTo>
                  <a:lnTo>
                    <a:pt x="0" y="0"/>
                  </a:lnTo>
                  <a:lnTo>
                    <a:pt x="107" y="0"/>
                  </a:lnTo>
                  <a:lnTo>
                    <a:pt x="107" y="317"/>
                  </a:lnTo>
                  <a:lnTo>
                    <a:pt x="51" y="317"/>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3" name="Freeform 7">
              <a:extLst>
                <a:ext uri="{FF2B5EF4-FFF2-40B4-BE49-F238E27FC236}">
                  <a16:creationId xmlns:a16="http://schemas.microsoft.com/office/drawing/2014/main" id="{663A1132-9AF5-424A-B72F-3552BDBAE087}"/>
                </a:ext>
              </a:extLst>
            </p:cNvPr>
            <p:cNvSpPr>
              <a:spLocks/>
            </p:cNvSpPr>
            <p:nvPr userDrawn="1"/>
          </p:nvSpPr>
          <p:spPr bwMode="auto">
            <a:xfrm>
              <a:off x="3917950" y="2409826"/>
              <a:ext cx="398463" cy="512763"/>
            </a:xfrm>
            <a:custGeom>
              <a:avLst/>
              <a:gdLst>
                <a:gd name="T0" fmla="*/ 95 w 122"/>
                <a:gd name="T1" fmla="*/ 157 h 157"/>
                <a:gd name="T2" fmla="*/ 95 w 122"/>
                <a:gd name="T3" fmla="*/ 68 h 157"/>
                <a:gd name="T4" fmla="*/ 88 w 122"/>
                <a:gd name="T5" fmla="*/ 33 h 157"/>
                <a:gd name="T6" fmla="*/ 63 w 122"/>
                <a:gd name="T7" fmla="*/ 23 h 157"/>
                <a:gd name="T8" fmla="*/ 43 w 122"/>
                <a:gd name="T9" fmla="*/ 29 h 157"/>
                <a:gd name="T10" fmla="*/ 27 w 122"/>
                <a:gd name="T11" fmla="*/ 43 h 157"/>
                <a:gd name="T12" fmla="*/ 27 w 122"/>
                <a:gd name="T13" fmla="*/ 157 h 157"/>
                <a:gd name="T14" fmla="*/ 0 w 122"/>
                <a:gd name="T15" fmla="*/ 157 h 157"/>
                <a:gd name="T16" fmla="*/ 0 w 122"/>
                <a:gd name="T17" fmla="*/ 3 h 157"/>
                <a:gd name="T18" fmla="*/ 19 w 122"/>
                <a:gd name="T19" fmla="*/ 3 h 157"/>
                <a:gd name="T20" fmla="*/ 27 w 122"/>
                <a:gd name="T21" fmla="*/ 23 h 157"/>
                <a:gd name="T22" fmla="*/ 72 w 122"/>
                <a:gd name="T23" fmla="*/ 0 h 157"/>
                <a:gd name="T24" fmla="*/ 122 w 122"/>
                <a:gd name="T25" fmla="*/ 62 h 157"/>
                <a:gd name="T26" fmla="*/ 122 w 122"/>
                <a:gd name="T27" fmla="*/ 157 h 157"/>
                <a:gd name="T28" fmla="*/ 95 w 122"/>
                <a:gd name="T29"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57">
                  <a:moveTo>
                    <a:pt x="95" y="157"/>
                  </a:moveTo>
                  <a:cubicBezTo>
                    <a:pt x="95" y="68"/>
                    <a:pt x="95" y="68"/>
                    <a:pt x="95" y="68"/>
                  </a:cubicBezTo>
                  <a:cubicBezTo>
                    <a:pt x="95" y="51"/>
                    <a:pt x="93" y="40"/>
                    <a:pt x="88" y="33"/>
                  </a:cubicBezTo>
                  <a:cubicBezTo>
                    <a:pt x="83" y="26"/>
                    <a:pt x="74" y="23"/>
                    <a:pt x="63" y="23"/>
                  </a:cubicBezTo>
                  <a:cubicBezTo>
                    <a:pt x="56" y="23"/>
                    <a:pt x="50" y="25"/>
                    <a:pt x="43" y="29"/>
                  </a:cubicBezTo>
                  <a:cubicBezTo>
                    <a:pt x="36" y="33"/>
                    <a:pt x="31" y="37"/>
                    <a:pt x="27" y="43"/>
                  </a:cubicBezTo>
                  <a:cubicBezTo>
                    <a:pt x="27" y="157"/>
                    <a:pt x="27" y="157"/>
                    <a:pt x="27" y="157"/>
                  </a:cubicBezTo>
                  <a:cubicBezTo>
                    <a:pt x="0" y="157"/>
                    <a:pt x="0" y="157"/>
                    <a:pt x="0" y="157"/>
                  </a:cubicBezTo>
                  <a:cubicBezTo>
                    <a:pt x="0" y="3"/>
                    <a:pt x="0" y="3"/>
                    <a:pt x="0" y="3"/>
                  </a:cubicBezTo>
                  <a:cubicBezTo>
                    <a:pt x="19" y="3"/>
                    <a:pt x="19" y="3"/>
                    <a:pt x="19" y="3"/>
                  </a:cubicBezTo>
                  <a:cubicBezTo>
                    <a:pt x="27" y="23"/>
                    <a:pt x="27" y="23"/>
                    <a:pt x="27" y="23"/>
                  </a:cubicBezTo>
                  <a:cubicBezTo>
                    <a:pt x="36" y="8"/>
                    <a:pt x="51" y="0"/>
                    <a:pt x="72" y="0"/>
                  </a:cubicBezTo>
                  <a:cubicBezTo>
                    <a:pt x="106" y="0"/>
                    <a:pt x="122" y="21"/>
                    <a:pt x="122" y="62"/>
                  </a:cubicBezTo>
                  <a:cubicBezTo>
                    <a:pt x="122" y="157"/>
                    <a:pt x="122" y="157"/>
                    <a:pt x="122" y="157"/>
                  </a:cubicBezTo>
                  <a:lnTo>
                    <a:pt x="95" y="157"/>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4" name="Freeform 8">
              <a:extLst>
                <a:ext uri="{FF2B5EF4-FFF2-40B4-BE49-F238E27FC236}">
                  <a16:creationId xmlns:a16="http://schemas.microsoft.com/office/drawing/2014/main" id="{57FAD8B9-9F3D-4626-9306-C83F30C3939E}"/>
                </a:ext>
              </a:extLst>
            </p:cNvPr>
            <p:cNvSpPr>
              <a:spLocks noEditPoints="1"/>
            </p:cNvSpPr>
            <p:nvPr userDrawn="1"/>
          </p:nvSpPr>
          <p:spPr bwMode="auto">
            <a:xfrm>
              <a:off x="4384675" y="2387601"/>
              <a:ext cx="417513" cy="735013"/>
            </a:xfrm>
            <a:custGeom>
              <a:avLst/>
              <a:gdLst>
                <a:gd name="T0" fmla="*/ 61 w 128"/>
                <a:gd name="T1" fmla="*/ 29 h 225"/>
                <a:gd name="T2" fmla="*/ 37 w 128"/>
                <a:gd name="T3" fmla="*/ 39 h 225"/>
                <a:gd name="T4" fmla="*/ 28 w 128"/>
                <a:gd name="T5" fmla="*/ 64 h 225"/>
                <a:gd name="T6" fmla="*/ 37 w 128"/>
                <a:gd name="T7" fmla="*/ 91 h 225"/>
                <a:gd name="T8" fmla="*/ 61 w 128"/>
                <a:gd name="T9" fmla="*/ 101 h 225"/>
                <a:gd name="T10" fmla="*/ 84 w 128"/>
                <a:gd name="T11" fmla="*/ 91 h 225"/>
                <a:gd name="T12" fmla="*/ 92 w 128"/>
                <a:gd name="T13" fmla="*/ 64 h 225"/>
                <a:gd name="T14" fmla="*/ 83 w 128"/>
                <a:gd name="T15" fmla="*/ 39 h 225"/>
                <a:gd name="T16" fmla="*/ 61 w 128"/>
                <a:gd name="T17" fmla="*/ 29 h 225"/>
                <a:gd name="T18" fmla="*/ 3 w 128"/>
                <a:gd name="T19" fmla="*/ 207 h 225"/>
                <a:gd name="T20" fmla="*/ 17 w 128"/>
                <a:gd name="T21" fmla="*/ 185 h 225"/>
                <a:gd name="T22" fmla="*/ 62 w 128"/>
                <a:gd name="T23" fmla="*/ 201 h 225"/>
                <a:gd name="T24" fmla="*/ 91 w 128"/>
                <a:gd name="T25" fmla="*/ 194 h 225"/>
                <a:gd name="T26" fmla="*/ 102 w 128"/>
                <a:gd name="T27" fmla="*/ 178 h 225"/>
                <a:gd name="T28" fmla="*/ 75 w 128"/>
                <a:gd name="T29" fmla="*/ 160 h 225"/>
                <a:gd name="T30" fmla="*/ 58 w 128"/>
                <a:gd name="T31" fmla="*/ 162 h 225"/>
                <a:gd name="T32" fmla="*/ 39 w 128"/>
                <a:gd name="T33" fmla="*/ 164 h 225"/>
                <a:gd name="T34" fmla="*/ 6 w 128"/>
                <a:gd name="T35" fmla="*/ 140 h 225"/>
                <a:gd name="T36" fmla="*/ 14 w 128"/>
                <a:gd name="T37" fmla="*/ 126 h 225"/>
                <a:gd name="T38" fmla="*/ 33 w 128"/>
                <a:gd name="T39" fmla="*/ 117 h 225"/>
                <a:gd name="T40" fmla="*/ 0 w 128"/>
                <a:gd name="T41" fmla="*/ 64 h 225"/>
                <a:gd name="T42" fmla="*/ 17 w 128"/>
                <a:gd name="T43" fmla="*/ 23 h 225"/>
                <a:gd name="T44" fmla="*/ 59 w 128"/>
                <a:gd name="T45" fmla="*/ 7 h 225"/>
                <a:gd name="T46" fmla="*/ 95 w 128"/>
                <a:gd name="T47" fmla="*/ 16 h 225"/>
                <a:gd name="T48" fmla="*/ 108 w 128"/>
                <a:gd name="T49" fmla="*/ 0 h 225"/>
                <a:gd name="T50" fmla="*/ 126 w 128"/>
                <a:gd name="T51" fmla="*/ 17 h 225"/>
                <a:gd name="T52" fmla="*/ 110 w 128"/>
                <a:gd name="T53" fmla="*/ 29 h 225"/>
                <a:gd name="T54" fmla="*/ 120 w 128"/>
                <a:gd name="T55" fmla="*/ 65 h 225"/>
                <a:gd name="T56" fmla="*/ 106 w 128"/>
                <a:gd name="T57" fmla="*/ 104 h 225"/>
                <a:gd name="T58" fmla="*/ 67 w 128"/>
                <a:gd name="T59" fmla="*/ 122 h 225"/>
                <a:gd name="T60" fmla="*/ 45 w 128"/>
                <a:gd name="T61" fmla="*/ 125 h 225"/>
                <a:gd name="T62" fmla="*/ 34 w 128"/>
                <a:gd name="T63" fmla="*/ 128 h 225"/>
                <a:gd name="T64" fmla="*/ 27 w 128"/>
                <a:gd name="T65" fmla="*/ 135 h 225"/>
                <a:gd name="T66" fmla="*/ 41 w 128"/>
                <a:gd name="T67" fmla="*/ 141 h 225"/>
                <a:gd name="T68" fmla="*/ 61 w 128"/>
                <a:gd name="T69" fmla="*/ 139 h 225"/>
                <a:gd name="T70" fmla="*/ 80 w 128"/>
                <a:gd name="T71" fmla="*/ 136 h 225"/>
                <a:gd name="T72" fmla="*/ 116 w 128"/>
                <a:gd name="T73" fmla="*/ 147 h 225"/>
                <a:gd name="T74" fmla="*/ 128 w 128"/>
                <a:gd name="T75" fmla="*/ 177 h 225"/>
                <a:gd name="T76" fmla="*/ 109 w 128"/>
                <a:gd name="T77" fmla="*/ 212 h 225"/>
                <a:gd name="T78" fmla="*/ 61 w 128"/>
                <a:gd name="T79" fmla="*/ 225 h 225"/>
                <a:gd name="T80" fmla="*/ 29 w 128"/>
                <a:gd name="T81" fmla="*/ 220 h 225"/>
                <a:gd name="T82" fmla="*/ 3 w 128"/>
                <a:gd name="T83" fmla="*/ 20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225">
                  <a:moveTo>
                    <a:pt x="61" y="29"/>
                  </a:moveTo>
                  <a:cubicBezTo>
                    <a:pt x="51" y="29"/>
                    <a:pt x="43" y="32"/>
                    <a:pt x="37" y="39"/>
                  </a:cubicBezTo>
                  <a:cubicBezTo>
                    <a:pt x="31" y="46"/>
                    <a:pt x="28" y="54"/>
                    <a:pt x="28" y="64"/>
                  </a:cubicBezTo>
                  <a:cubicBezTo>
                    <a:pt x="28" y="75"/>
                    <a:pt x="31" y="83"/>
                    <a:pt x="37" y="91"/>
                  </a:cubicBezTo>
                  <a:cubicBezTo>
                    <a:pt x="43" y="98"/>
                    <a:pt x="51" y="101"/>
                    <a:pt x="61" y="101"/>
                  </a:cubicBezTo>
                  <a:cubicBezTo>
                    <a:pt x="70" y="101"/>
                    <a:pt x="78" y="98"/>
                    <a:pt x="84" y="91"/>
                  </a:cubicBezTo>
                  <a:cubicBezTo>
                    <a:pt x="89" y="84"/>
                    <a:pt x="92" y="75"/>
                    <a:pt x="92" y="64"/>
                  </a:cubicBezTo>
                  <a:cubicBezTo>
                    <a:pt x="92" y="54"/>
                    <a:pt x="89" y="46"/>
                    <a:pt x="83" y="39"/>
                  </a:cubicBezTo>
                  <a:cubicBezTo>
                    <a:pt x="77" y="32"/>
                    <a:pt x="70" y="29"/>
                    <a:pt x="61" y="29"/>
                  </a:cubicBezTo>
                  <a:moveTo>
                    <a:pt x="3" y="207"/>
                  </a:moveTo>
                  <a:cubicBezTo>
                    <a:pt x="17" y="185"/>
                    <a:pt x="17" y="185"/>
                    <a:pt x="17" y="185"/>
                  </a:cubicBezTo>
                  <a:cubicBezTo>
                    <a:pt x="33" y="196"/>
                    <a:pt x="48" y="201"/>
                    <a:pt x="62" y="201"/>
                  </a:cubicBezTo>
                  <a:cubicBezTo>
                    <a:pt x="74" y="201"/>
                    <a:pt x="84" y="199"/>
                    <a:pt x="91" y="194"/>
                  </a:cubicBezTo>
                  <a:cubicBezTo>
                    <a:pt x="98" y="190"/>
                    <a:pt x="102" y="185"/>
                    <a:pt x="102" y="178"/>
                  </a:cubicBezTo>
                  <a:cubicBezTo>
                    <a:pt x="102" y="166"/>
                    <a:pt x="93" y="160"/>
                    <a:pt x="75" y="160"/>
                  </a:cubicBezTo>
                  <a:cubicBezTo>
                    <a:pt x="72" y="160"/>
                    <a:pt x="66" y="161"/>
                    <a:pt x="58" y="162"/>
                  </a:cubicBezTo>
                  <a:cubicBezTo>
                    <a:pt x="50" y="164"/>
                    <a:pt x="43" y="164"/>
                    <a:pt x="39" y="164"/>
                  </a:cubicBezTo>
                  <a:cubicBezTo>
                    <a:pt x="17" y="164"/>
                    <a:pt x="6" y="156"/>
                    <a:pt x="6" y="140"/>
                  </a:cubicBezTo>
                  <a:cubicBezTo>
                    <a:pt x="6" y="134"/>
                    <a:pt x="9" y="130"/>
                    <a:pt x="14" y="126"/>
                  </a:cubicBezTo>
                  <a:cubicBezTo>
                    <a:pt x="19" y="122"/>
                    <a:pt x="25" y="119"/>
                    <a:pt x="33" y="117"/>
                  </a:cubicBezTo>
                  <a:cubicBezTo>
                    <a:pt x="11" y="107"/>
                    <a:pt x="0" y="89"/>
                    <a:pt x="0" y="64"/>
                  </a:cubicBezTo>
                  <a:cubicBezTo>
                    <a:pt x="0" y="47"/>
                    <a:pt x="6" y="34"/>
                    <a:pt x="17" y="23"/>
                  </a:cubicBezTo>
                  <a:cubicBezTo>
                    <a:pt x="28" y="12"/>
                    <a:pt x="42" y="7"/>
                    <a:pt x="59" y="7"/>
                  </a:cubicBezTo>
                  <a:cubicBezTo>
                    <a:pt x="74" y="7"/>
                    <a:pt x="86" y="10"/>
                    <a:pt x="95" y="16"/>
                  </a:cubicBezTo>
                  <a:cubicBezTo>
                    <a:pt x="108" y="0"/>
                    <a:pt x="108" y="0"/>
                    <a:pt x="108" y="0"/>
                  </a:cubicBezTo>
                  <a:cubicBezTo>
                    <a:pt x="126" y="17"/>
                    <a:pt x="126" y="17"/>
                    <a:pt x="126" y="17"/>
                  </a:cubicBezTo>
                  <a:cubicBezTo>
                    <a:pt x="110" y="29"/>
                    <a:pt x="110" y="29"/>
                    <a:pt x="110" y="29"/>
                  </a:cubicBezTo>
                  <a:cubicBezTo>
                    <a:pt x="117" y="38"/>
                    <a:pt x="120" y="50"/>
                    <a:pt x="120" y="65"/>
                  </a:cubicBezTo>
                  <a:cubicBezTo>
                    <a:pt x="120" y="81"/>
                    <a:pt x="115" y="94"/>
                    <a:pt x="106" y="104"/>
                  </a:cubicBezTo>
                  <a:cubicBezTo>
                    <a:pt x="96" y="115"/>
                    <a:pt x="83" y="121"/>
                    <a:pt x="67" y="122"/>
                  </a:cubicBezTo>
                  <a:cubicBezTo>
                    <a:pt x="45" y="125"/>
                    <a:pt x="45" y="125"/>
                    <a:pt x="45" y="125"/>
                  </a:cubicBezTo>
                  <a:cubicBezTo>
                    <a:pt x="42" y="125"/>
                    <a:pt x="38" y="126"/>
                    <a:pt x="34" y="128"/>
                  </a:cubicBezTo>
                  <a:cubicBezTo>
                    <a:pt x="29" y="130"/>
                    <a:pt x="27" y="132"/>
                    <a:pt x="27" y="135"/>
                  </a:cubicBezTo>
                  <a:cubicBezTo>
                    <a:pt x="27" y="139"/>
                    <a:pt x="32" y="141"/>
                    <a:pt x="41" y="141"/>
                  </a:cubicBezTo>
                  <a:cubicBezTo>
                    <a:pt x="45" y="141"/>
                    <a:pt x="52" y="140"/>
                    <a:pt x="61" y="139"/>
                  </a:cubicBezTo>
                  <a:cubicBezTo>
                    <a:pt x="69" y="137"/>
                    <a:pt x="76" y="136"/>
                    <a:pt x="80" y="136"/>
                  </a:cubicBezTo>
                  <a:cubicBezTo>
                    <a:pt x="95" y="136"/>
                    <a:pt x="107" y="140"/>
                    <a:pt x="116" y="147"/>
                  </a:cubicBezTo>
                  <a:cubicBezTo>
                    <a:pt x="124" y="155"/>
                    <a:pt x="128" y="165"/>
                    <a:pt x="128" y="177"/>
                  </a:cubicBezTo>
                  <a:cubicBezTo>
                    <a:pt x="128" y="192"/>
                    <a:pt x="122" y="203"/>
                    <a:pt x="109" y="212"/>
                  </a:cubicBezTo>
                  <a:cubicBezTo>
                    <a:pt x="97" y="221"/>
                    <a:pt x="80" y="225"/>
                    <a:pt x="61" y="225"/>
                  </a:cubicBezTo>
                  <a:cubicBezTo>
                    <a:pt x="51" y="225"/>
                    <a:pt x="40" y="223"/>
                    <a:pt x="29" y="220"/>
                  </a:cubicBezTo>
                  <a:cubicBezTo>
                    <a:pt x="18" y="216"/>
                    <a:pt x="9" y="212"/>
                    <a:pt x="3" y="207"/>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5" name="Freeform 9">
              <a:extLst>
                <a:ext uri="{FF2B5EF4-FFF2-40B4-BE49-F238E27FC236}">
                  <a16:creationId xmlns:a16="http://schemas.microsoft.com/office/drawing/2014/main" id="{DE342850-0900-4272-8122-CC827B67F3B5}"/>
                </a:ext>
              </a:extLst>
            </p:cNvPr>
            <p:cNvSpPr>
              <a:spLocks noEditPoints="1"/>
            </p:cNvSpPr>
            <p:nvPr userDrawn="1"/>
          </p:nvSpPr>
          <p:spPr bwMode="auto">
            <a:xfrm>
              <a:off x="4838700" y="2409826"/>
              <a:ext cx="463550" cy="522288"/>
            </a:xfrm>
            <a:custGeom>
              <a:avLst/>
              <a:gdLst>
                <a:gd name="T0" fmla="*/ 74 w 142"/>
                <a:gd name="T1" fmla="*/ 23 h 160"/>
                <a:gd name="T2" fmla="*/ 43 w 142"/>
                <a:gd name="T3" fmla="*/ 35 h 160"/>
                <a:gd name="T4" fmla="*/ 29 w 142"/>
                <a:gd name="T5" fmla="*/ 63 h 160"/>
                <a:gd name="T6" fmla="*/ 115 w 142"/>
                <a:gd name="T7" fmla="*/ 63 h 160"/>
                <a:gd name="T8" fmla="*/ 105 w 142"/>
                <a:gd name="T9" fmla="*/ 35 h 160"/>
                <a:gd name="T10" fmla="*/ 74 w 142"/>
                <a:gd name="T11" fmla="*/ 23 h 160"/>
                <a:gd name="T12" fmla="*/ 140 w 142"/>
                <a:gd name="T13" fmla="*/ 83 h 160"/>
                <a:gd name="T14" fmla="*/ 29 w 142"/>
                <a:gd name="T15" fmla="*/ 83 h 160"/>
                <a:gd name="T16" fmla="*/ 44 w 142"/>
                <a:gd name="T17" fmla="*/ 125 h 160"/>
                <a:gd name="T18" fmla="*/ 77 w 142"/>
                <a:gd name="T19" fmla="*/ 137 h 160"/>
                <a:gd name="T20" fmla="*/ 117 w 142"/>
                <a:gd name="T21" fmla="*/ 124 h 160"/>
                <a:gd name="T22" fmla="*/ 128 w 142"/>
                <a:gd name="T23" fmla="*/ 143 h 160"/>
                <a:gd name="T24" fmla="*/ 109 w 142"/>
                <a:gd name="T25" fmla="*/ 154 h 160"/>
                <a:gd name="T26" fmla="*/ 72 w 142"/>
                <a:gd name="T27" fmla="*/ 160 h 160"/>
                <a:gd name="T28" fmla="*/ 22 w 142"/>
                <a:gd name="T29" fmla="*/ 141 h 160"/>
                <a:gd name="T30" fmla="*/ 0 w 142"/>
                <a:gd name="T31" fmla="*/ 82 h 160"/>
                <a:gd name="T32" fmla="*/ 23 w 142"/>
                <a:gd name="T33" fmla="*/ 21 h 160"/>
                <a:gd name="T34" fmla="*/ 72 w 142"/>
                <a:gd name="T35" fmla="*/ 0 h 160"/>
                <a:gd name="T36" fmla="*/ 124 w 142"/>
                <a:gd name="T37" fmla="*/ 19 h 160"/>
                <a:gd name="T38" fmla="*/ 142 w 142"/>
                <a:gd name="T39" fmla="*/ 66 h 160"/>
                <a:gd name="T40" fmla="*/ 140 w 142"/>
                <a:gd name="T41" fmla="*/ 8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2" h="160">
                  <a:moveTo>
                    <a:pt x="74" y="23"/>
                  </a:moveTo>
                  <a:cubicBezTo>
                    <a:pt x="61" y="23"/>
                    <a:pt x="51" y="27"/>
                    <a:pt x="43" y="35"/>
                  </a:cubicBezTo>
                  <a:cubicBezTo>
                    <a:pt x="35" y="42"/>
                    <a:pt x="30" y="52"/>
                    <a:pt x="29" y="63"/>
                  </a:cubicBezTo>
                  <a:cubicBezTo>
                    <a:pt x="115" y="63"/>
                    <a:pt x="115" y="63"/>
                    <a:pt x="115" y="63"/>
                  </a:cubicBezTo>
                  <a:cubicBezTo>
                    <a:pt x="115" y="52"/>
                    <a:pt x="112" y="43"/>
                    <a:pt x="105" y="35"/>
                  </a:cubicBezTo>
                  <a:cubicBezTo>
                    <a:pt x="97" y="27"/>
                    <a:pt x="87" y="23"/>
                    <a:pt x="74" y="23"/>
                  </a:cubicBezTo>
                  <a:moveTo>
                    <a:pt x="140" y="83"/>
                  </a:moveTo>
                  <a:cubicBezTo>
                    <a:pt x="29" y="83"/>
                    <a:pt x="29" y="83"/>
                    <a:pt x="29" y="83"/>
                  </a:cubicBezTo>
                  <a:cubicBezTo>
                    <a:pt x="29" y="101"/>
                    <a:pt x="34" y="115"/>
                    <a:pt x="44" y="125"/>
                  </a:cubicBezTo>
                  <a:cubicBezTo>
                    <a:pt x="52" y="133"/>
                    <a:pt x="64" y="137"/>
                    <a:pt x="77" y="137"/>
                  </a:cubicBezTo>
                  <a:cubicBezTo>
                    <a:pt x="93" y="137"/>
                    <a:pt x="106" y="133"/>
                    <a:pt x="117" y="124"/>
                  </a:cubicBezTo>
                  <a:cubicBezTo>
                    <a:pt x="128" y="143"/>
                    <a:pt x="128" y="143"/>
                    <a:pt x="128" y="143"/>
                  </a:cubicBezTo>
                  <a:cubicBezTo>
                    <a:pt x="124" y="148"/>
                    <a:pt x="117" y="151"/>
                    <a:pt x="109" y="154"/>
                  </a:cubicBezTo>
                  <a:cubicBezTo>
                    <a:pt x="98" y="158"/>
                    <a:pt x="85" y="160"/>
                    <a:pt x="72" y="160"/>
                  </a:cubicBezTo>
                  <a:cubicBezTo>
                    <a:pt x="53" y="160"/>
                    <a:pt x="36" y="154"/>
                    <a:pt x="22" y="141"/>
                  </a:cubicBezTo>
                  <a:cubicBezTo>
                    <a:pt x="7" y="126"/>
                    <a:pt x="0" y="107"/>
                    <a:pt x="0" y="82"/>
                  </a:cubicBezTo>
                  <a:cubicBezTo>
                    <a:pt x="0" y="57"/>
                    <a:pt x="8" y="36"/>
                    <a:pt x="23" y="21"/>
                  </a:cubicBezTo>
                  <a:cubicBezTo>
                    <a:pt x="37" y="7"/>
                    <a:pt x="53" y="0"/>
                    <a:pt x="72" y="0"/>
                  </a:cubicBezTo>
                  <a:cubicBezTo>
                    <a:pt x="94" y="0"/>
                    <a:pt x="112" y="6"/>
                    <a:pt x="124" y="19"/>
                  </a:cubicBezTo>
                  <a:cubicBezTo>
                    <a:pt x="136" y="31"/>
                    <a:pt x="142" y="46"/>
                    <a:pt x="142" y="66"/>
                  </a:cubicBezTo>
                  <a:cubicBezTo>
                    <a:pt x="142" y="72"/>
                    <a:pt x="142" y="78"/>
                    <a:pt x="140" y="83"/>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10">
              <a:extLst>
                <a:ext uri="{FF2B5EF4-FFF2-40B4-BE49-F238E27FC236}">
                  <a16:creationId xmlns:a16="http://schemas.microsoft.com/office/drawing/2014/main" id="{06F7DD2B-7643-4151-BEE0-8F66A034CE5A}"/>
                </a:ext>
              </a:extLst>
            </p:cNvPr>
            <p:cNvSpPr>
              <a:spLocks/>
            </p:cNvSpPr>
            <p:nvPr userDrawn="1"/>
          </p:nvSpPr>
          <p:spPr bwMode="auto">
            <a:xfrm>
              <a:off x="5370513" y="2419351"/>
              <a:ext cx="411163" cy="512763"/>
            </a:xfrm>
            <a:custGeom>
              <a:avLst/>
              <a:gdLst>
                <a:gd name="T0" fmla="*/ 28 w 126"/>
                <a:gd name="T1" fmla="*/ 0 h 157"/>
                <a:gd name="T2" fmla="*/ 28 w 126"/>
                <a:gd name="T3" fmla="*/ 98 h 157"/>
                <a:gd name="T4" fmla="*/ 59 w 126"/>
                <a:gd name="T5" fmla="*/ 134 h 157"/>
                <a:gd name="T6" fmla="*/ 84 w 126"/>
                <a:gd name="T7" fmla="*/ 126 h 157"/>
                <a:gd name="T8" fmla="*/ 99 w 126"/>
                <a:gd name="T9" fmla="*/ 108 h 157"/>
                <a:gd name="T10" fmla="*/ 99 w 126"/>
                <a:gd name="T11" fmla="*/ 0 h 157"/>
                <a:gd name="T12" fmla="*/ 126 w 126"/>
                <a:gd name="T13" fmla="*/ 0 h 157"/>
                <a:gd name="T14" fmla="*/ 126 w 126"/>
                <a:gd name="T15" fmla="*/ 154 h 157"/>
                <a:gd name="T16" fmla="*/ 99 w 126"/>
                <a:gd name="T17" fmla="*/ 154 h 157"/>
                <a:gd name="T18" fmla="*/ 99 w 126"/>
                <a:gd name="T19" fmla="*/ 133 h 157"/>
                <a:gd name="T20" fmla="*/ 80 w 126"/>
                <a:gd name="T21" fmla="*/ 150 h 157"/>
                <a:gd name="T22" fmla="*/ 53 w 126"/>
                <a:gd name="T23" fmla="*/ 157 h 157"/>
                <a:gd name="T24" fmla="*/ 14 w 126"/>
                <a:gd name="T25" fmla="*/ 143 h 157"/>
                <a:gd name="T26" fmla="*/ 0 w 126"/>
                <a:gd name="T27" fmla="*/ 101 h 157"/>
                <a:gd name="T28" fmla="*/ 0 w 126"/>
                <a:gd name="T29" fmla="*/ 0 h 157"/>
                <a:gd name="T30" fmla="*/ 28 w 126"/>
                <a:gd name="T3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6" h="157">
                  <a:moveTo>
                    <a:pt x="28" y="0"/>
                  </a:moveTo>
                  <a:cubicBezTo>
                    <a:pt x="28" y="98"/>
                    <a:pt x="28" y="98"/>
                    <a:pt x="28" y="98"/>
                  </a:cubicBezTo>
                  <a:cubicBezTo>
                    <a:pt x="28" y="122"/>
                    <a:pt x="38" y="134"/>
                    <a:pt x="59" y="134"/>
                  </a:cubicBezTo>
                  <a:cubicBezTo>
                    <a:pt x="68" y="134"/>
                    <a:pt x="76" y="132"/>
                    <a:pt x="84" y="126"/>
                  </a:cubicBezTo>
                  <a:cubicBezTo>
                    <a:pt x="91" y="121"/>
                    <a:pt x="96" y="115"/>
                    <a:pt x="99" y="108"/>
                  </a:cubicBezTo>
                  <a:cubicBezTo>
                    <a:pt x="99" y="0"/>
                    <a:pt x="99" y="0"/>
                    <a:pt x="99" y="0"/>
                  </a:cubicBezTo>
                  <a:cubicBezTo>
                    <a:pt x="126" y="0"/>
                    <a:pt x="126" y="0"/>
                    <a:pt x="126" y="0"/>
                  </a:cubicBezTo>
                  <a:cubicBezTo>
                    <a:pt x="126" y="154"/>
                    <a:pt x="126" y="154"/>
                    <a:pt x="126" y="154"/>
                  </a:cubicBezTo>
                  <a:cubicBezTo>
                    <a:pt x="99" y="154"/>
                    <a:pt x="99" y="154"/>
                    <a:pt x="99" y="154"/>
                  </a:cubicBezTo>
                  <a:cubicBezTo>
                    <a:pt x="99" y="133"/>
                    <a:pt x="99" y="133"/>
                    <a:pt x="99" y="133"/>
                  </a:cubicBezTo>
                  <a:cubicBezTo>
                    <a:pt x="95" y="139"/>
                    <a:pt x="89" y="145"/>
                    <a:pt x="80" y="150"/>
                  </a:cubicBezTo>
                  <a:cubicBezTo>
                    <a:pt x="71" y="155"/>
                    <a:pt x="62" y="157"/>
                    <a:pt x="53" y="157"/>
                  </a:cubicBezTo>
                  <a:cubicBezTo>
                    <a:pt x="36" y="157"/>
                    <a:pt x="23" y="153"/>
                    <a:pt x="14" y="143"/>
                  </a:cubicBezTo>
                  <a:cubicBezTo>
                    <a:pt x="5" y="133"/>
                    <a:pt x="0" y="119"/>
                    <a:pt x="0" y="101"/>
                  </a:cubicBezTo>
                  <a:cubicBezTo>
                    <a:pt x="0" y="0"/>
                    <a:pt x="0" y="0"/>
                    <a:pt x="0" y="0"/>
                  </a:cubicBezTo>
                  <a:lnTo>
                    <a:pt x="28" y="0"/>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7" name="Freeform 11">
              <a:extLst>
                <a:ext uri="{FF2B5EF4-FFF2-40B4-BE49-F238E27FC236}">
                  <a16:creationId xmlns:a16="http://schemas.microsoft.com/office/drawing/2014/main" id="{282113B7-B0E1-434E-9A73-59B3FB749986}"/>
                </a:ext>
              </a:extLst>
            </p:cNvPr>
            <p:cNvSpPr>
              <a:spLocks/>
            </p:cNvSpPr>
            <p:nvPr userDrawn="1"/>
          </p:nvSpPr>
          <p:spPr bwMode="auto">
            <a:xfrm>
              <a:off x="5843588" y="2409826"/>
              <a:ext cx="328613" cy="522288"/>
            </a:xfrm>
            <a:custGeom>
              <a:avLst/>
              <a:gdLst>
                <a:gd name="T0" fmla="*/ 0 w 101"/>
                <a:gd name="T1" fmla="*/ 148 h 160"/>
                <a:gd name="T2" fmla="*/ 10 w 101"/>
                <a:gd name="T3" fmla="*/ 122 h 160"/>
                <a:gd name="T4" fmla="*/ 47 w 101"/>
                <a:gd name="T5" fmla="*/ 137 h 160"/>
                <a:gd name="T6" fmla="*/ 72 w 101"/>
                <a:gd name="T7" fmla="*/ 116 h 160"/>
                <a:gd name="T8" fmla="*/ 47 w 101"/>
                <a:gd name="T9" fmla="*/ 90 h 160"/>
                <a:gd name="T10" fmla="*/ 22 w 101"/>
                <a:gd name="T11" fmla="*/ 77 h 160"/>
                <a:gd name="T12" fmla="*/ 10 w 101"/>
                <a:gd name="T13" fmla="*/ 66 h 160"/>
                <a:gd name="T14" fmla="*/ 3 w 101"/>
                <a:gd name="T15" fmla="*/ 54 h 160"/>
                <a:gd name="T16" fmla="*/ 1 w 101"/>
                <a:gd name="T17" fmla="*/ 40 h 160"/>
                <a:gd name="T18" fmla="*/ 15 w 101"/>
                <a:gd name="T19" fmla="*/ 11 h 160"/>
                <a:gd name="T20" fmla="*/ 51 w 101"/>
                <a:gd name="T21" fmla="*/ 0 h 160"/>
                <a:gd name="T22" fmla="*/ 94 w 101"/>
                <a:gd name="T23" fmla="*/ 11 h 160"/>
                <a:gd name="T24" fmla="*/ 86 w 101"/>
                <a:gd name="T25" fmla="*/ 36 h 160"/>
                <a:gd name="T26" fmla="*/ 53 w 101"/>
                <a:gd name="T27" fmla="*/ 23 h 160"/>
                <a:gd name="T28" fmla="*/ 36 w 101"/>
                <a:gd name="T29" fmla="*/ 28 h 160"/>
                <a:gd name="T30" fmla="*/ 30 w 101"/>
                <a:gd name="T31" fmla="*/ 39 h 160"/>
                <a:gd name="T32" fmla="*/ 47 w 101"/>
                <a:gd name="T33" fmla="*/ 62 h 160"/>
                <a:gd name="T34" fmla="*/ 66 w 101"/>
                <a:gd name="T35" fmla="*/ 71 h 160"/>
                <a:gd name="T36" fmla="*/ 93 w 101"/>
                <a:gd name="T37" fmla="*/ 90 h 160"/>
                <a:gd name="T38" fmla="*/ 101 w 101"/>
                <a:gd name="T39" fmla="*/ 116 h 160"/>
                <a:gd name="T40" fmla="*/ 86 w 101"/>
                <a:gd name="T41" fmla="*/ 149 h 160"/>
                <a:gd name="T42" fmla="*/ 46 w 101"/>
                <a:gd name="T43" fmla="*/ 160 h 160"/>
                <a:gd name="T44" fmla="*/ 0 w 101"/>
                <a:gd name="T45" fmla="*/ 14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1" h="160">
                  <a:moveTo>
                    <a:pt x="0" y="148"/>
                  </a:moveTo>
                  <a:cubicBezTo>
                    <a:pt x="10" y="122"/>
                    <a:pt x="10" y="122"/>
                    <a:pt x="10" y="122"/>
                  </a:cubicBezTo>
                  <a:cubicBezTo>
                    <a:pt x="25" y="132"/>
                    <a:pt x="37" y="137"/>
                    <a:pt x="47" y="137"/>
                  </a:cubicBezTo>
                  <a:cubicBezTo>
                    <a:pt x="63" y="137"/>
                    <a:pt x="72" y="130"/>
                    <a:pt x="72" y="116"/>
                  </a:cubicBezTo>
                  <a:cubicBezTo>
                    <a:pt x="72" y="106"/>
                    <a:pt x="64" y="97"/>
                    <a:pt x="47" y="90"/>
                  </a:cubicBezTo>
                  <a:cubicBezTo>
                    <a:pt x="35" y="84"/>
                    <a:pt x="26" y="80"/>
                    <a:pt x="22" y="77"/>
                  </a:cubicBezTo>
                  <a:cubicBezTo>
                    <a:pt x="18" y="74"/>
                    <a:pt x="14" y="70"/>
                    <a:pt x="10" y="66"/>
                  </a:cubicBezTo>
                  <a:cubicBezTo>
                    <a:pt x="7" y="63"/>
                    <a:pt x="5" y="59"/>
                    <a:pt x="3" y="54"/>
                  </a:cubicBezTo>
                  <a:cubicBezTo>
                    <a:pt x="2" y="50"/>
                    <a:pt x="1" y="45"/>
                    <a:pt x="1" y="40"/>
                  </a:cubicBezTo>
                  <a:cubicBezTo>
                    <a:pt x="1" y="28"/>
                    <a:pt x="6" y="18"/>
                    <a:pt x="15" y="11"/>
                  </a:cubicBezTo>
                  <a:cubicBezTo>
                    <a:pt x="24" y="4"/>
                    <a:pt x="36" y="0"/>
                    <a:pt x="51" y="0"/>
                  </a:cubicBezTo>
                  <a:cubicBezTo>
                    <a:pt x="62" y="0"/>
                    <a:pt x="76" y="4"/>
                    <a:pt x="94" y="11"/>
                  </a:cubicBezTo>
                  <a:cubicBezTo>
                    <a:pt x="86" y="36"/>
                    <a:pt x="86" y="36"/>
                    <a:pt x="86" y="36"/>
                  </a:cubicBezTo>
                  <a:cubicBezTo>
                    <a:pt x="75" y="27"/>
                    <a:pt x="64" y="23"/>
                    <a:pt x="53" y="23"/>
                  </a:cubicBezTo>
                  <a:cubicBezTo>
                    <a:pt x="46" y="23"/>
                    <a:pt x="41" y="25"/>
                    <a:pt x="36" y="28"/>
                  </a:cubicBezTo>
                  <a:cubicBezTo>
                    <a:pt x="32" y="31"/>
                    <a:pt x="30" y="35"/>
                    <a:pt x="30" y="39"/>
                  </a:cubicBezTo>
                  <a:cubicBezTo>
                    <a:pt x="30" y="49"/>
                    <a:pt x="35" y="57"/>
                    <a:pt x="47" y="62"/>
                  </a:cubicBezTo>
                  <a:cubicBezTo>
                    <a:pt x="66" y="71"/>
                    <a:pt x="66" y="71"/>
                    <a:pt x="66" y="71"/>
                  </a:cubicBezTo>
                  <a:cubicBezTo>
                    <a:pt x="78" y="76"/>
                    <a:pt x="87" y="83"/>
                    <a:pt x="93" y="90"/>
                  </a:cubicBezTo>
                  <a:cubicBezTo>
                    <a:pt x="98" y="97"/>
                    <a:pt x="101" y="105"/>
                    <a:pt x="101" y="116"/>
                  </a:cubicBezTo>
                  <a:cubicBezTo>
                    <a:pt x="101" y="130"/>
                    <a:pt x="96" y="141"/>
                    <a:pt x="86" y="149"/>
                  </a:cubicBezTo>
                  <a:cubicBezTo>
                    <a:pt x="76" y="156"/>
                    <a:pt x="63" y="160"/>
                    <a:pt x="46" y="160"/>
                  </a:cubicBezTo>
                  <a:cubicBezTo>
                    <a:pt x="30" y="160"/>
                    <a:pt x="14" y="156"/>
                    <a:pt x="0" y="148"/>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312525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p:spTree>
      <p:nvGrpSpPr>
        <p:cNvPr id="1" name=""/>
        <p:cNvGrpSpPr/>
        <p:nvPr/>
      </p:nvGrpSpPr>
      <p:grpSpPr>
        <a:xfrm>
          <a:off x="0" y="0"/>
          <a:ext cx="0" cy="0"/>
          <a:chOff x="0" y="0"/>
          <a:chExt cx="0" cy="0"/>
        </a:xfrm>
      </p:grpSpPr>
      <p:pic>
        <p:nvPicPr>
          <p:cNvPr id="28" name="Picture 27" descr="A picture containing outdoor&#10;&#10;Description generated with very high confidence">
            <a:extLst>
              <a:ext uri="{FF2B5EF4-FFF2-40B4-BE49-F238E27FC236}">
                <a16:creationId xmlns:a16="http://schemas.microsoft.com/office/drawing/2014/main" id="{8BDD3F1A-0226-4133-8200-2BFD2994E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2CC44766-F15A-41E7-A5D3-BF025F156C34}"/>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Freeform: Shape 23">
            <a:extLst>
              <a:ext uri="{FF2B5EF4-FFF2-40B4-BE49-F238E27FC236}">
                <a16:creationId xmlns:a16="http://schemas.microsoft.com/office/drawing/2014/main" id="{9D047DD6-73B3-4C28-B429-327937A6303A}"/>
              </a:ext>
            </a:extLst>
          </p:cNvPr>
          <p:cNvSpPr/>
          <p:nvPr userDrawn="1"/>
        </p:nvSpPr>
        <p:spPr>
          <a:xfrm>
            <a:off x="693556" y="493485"/>
            <a:ext cx="1543020" cy="6364515"/>
          </a:xfrm>
          <a:custGeom>
            <a:avLst/>
            <a:gdLst>
              <a:gd name="connsiteX0" fmla="*/ 771510 w 1543020"/>
              <a:gd name="connsiteY0" fmla="*/ 0 h 6364515"/>
              <a:gd name="connsiteX1" fmla="*/ 1543020 w 1543020"/>
              <a:gd name="connsiteY1" fmla="*/ 771510 h 6364515"/>
              <a:gd name="connsiteX2" fmla="*/ 1543020 w 1543020"/>
              <a:gd name="connsiteY2" fmla="*/ 6364515 h 6364515"/>
              <a:gd name="connsiteX3" fmla="*/ 0 w 1543020"/>
              <a:gd name="connsiteY3" fmla="*/ 6364515 h 6364515"/>
              <a:gd name="connsiteX4" fmla="*/ 0 w 1543020"/>
              <a:gd name="connsiteY4" fmla="*/ 771510 h 6364515"/>
              <a:gd name="connsiteX5" fmla="*/ 771510 w 1543020"/>
              <a:gd name="connsiteY5" fmla="*/ 0 h 636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20" h="6364515">
                <a:moveTo>
                  <a:pt x="771510" y="0"/>
                </a:moveTo>
                <a:cubicBezTo>
                  <a:pt x="1197603" y="0"/>
                  <a:pt x="1543020" y="345417"/>
                  <a:pt x="1543020" y="771510"/>
                </a:cubicBezTo>
                <a:lnTo>
                  <a:pt x="1543020" y="6364515"/>
                </a:lnTo>
                <a:lnTo>
                  <a:pt x="0" y="6364515"/>
                </a:lnTo>
                <a:lnTo>
                  <a:pt x="0" y="771510"/>
                </a:lnTo>
                <a:cubicBezTo>
                  <a:pt x="0" y="345417"/>
                  <a:pt x="345417" y="0"/>
                  <a:pt x="771510"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Oval 24">
            <a:extLst>
              <a:ext uri="{FF2B5EF4-FFF2-40B4-BE49-F238E27FC236}">
                <a16:creationId xmlns:a16="http://schemas.microsoft.com/office/drawing/2014/main" id="{ADAB6006-8FF0-4ECE-9F3A-911691C7A7B3}"/>
              </a:ext>
            </a:extLst>
          </p:cNvPr>
          <p:cNvSpPr/>
          <p:nvPr userDrawn="1"/>
        </p:nvSpPr>
        <p:spPr>
          <a:xfrm>
            <a:off x="837322" y="609601"/>
            <a:ext cx="1255488" cy="125548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dirty="0">
              <a:solidFill>
                <a:schemeClr val="bg1"/>
              </a:solidFill>
            </a:endParaRPr>
          </a:p>
        </p:txBody>
      </p:sp>
      <p:sp>
        <p:nvSpPr>
          <p:cNvPr id="2" name="Title 1">
            <a:extLst>
              <a:ext uri="{FF2B5EF4-FFF2-40B4-BE49-F238E27FC236}">
                <a16:creationId xmlns:a16="http://schemas.microsoft.com/office/drawing/2014/main" id="{0B9ADC4A-720F-46B1-98A1-87DAD495DC1B}"/>
              </a:ext>
            </a:extLst>
          </p:cNvPr>
          <p:cNvSpPr>
            <a:spLocks noGrp="1"/>
          </p:cNvSpPr>
          <p:nvPr>
            <p:ph type="title"/>
          </p:nvPr>
        </p:nvSpPr>
        <p:spPr>
          <a:xfrm>
            <a:off x="3048000" y="795338"/>
            <a:ext cx="4229100" cy="2852737"/>
          </a:xfrm>
        </p:spPr>
        <p:txBody>
          <a:bodyPr anchor="b">
            <a:normAutofit/>
          </a:bodyPr>
          <a:lstStyle>
            <a:lvl1pPr>
              <a:defRPr sz="3600" b="1" cap="all" baseline="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6739A5-7B29-4322-8DEC-B816DF173FEF}"/>
              </a:ext>
            </a:extLst>
          </p:cNvPr>
          <p:cNvSpPr>
            <a:spLocks noGrp="1"/>
          </p:cNvSpPr>
          <p:nvPr>
            <p:ph type="body" idx="1"/>
          </p:nvPr>
        </p:nvSpPr>
        <p:spPr>
          <a:xfrm>
            <a:off x="3048000" y="3789364"/>
            <a:ext cx="4229100" cy="552450"/>
          </a:xfrm>
        </p:spPr>
        <p:txBody>
          <a:bodyPr anchor="ctr">
            <a:normAutofit/>
          </a:bodyPr>
          <a:lstStyle>
            <a:lvl1pPr marL="0" indent="0">
              <a:lnSpc>
                <a:spcPct val="100000"/>
              </a:lnSpc>
              <a:spcBef>
                <a:spcPts val="0"/>
              </a:spcBef>
              <a:buNone/>
              <a:defRPr sz="2800" b="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35" name="Freeform: Shape 34">
            <a:extLst>
              <a:ext uri="{FF2B5EF4-FFF2-40B4-BE49-F238E27FC236}">
                <a16:creationId xmlns:a16="http://schemas.microsoft.com/office/drawing/2014/main" id="{4071DF3E-A139-4B83-B575-BC1867577449}"/>
              </a:ext>
            </a:extLst>
          </p:cNvPr>
          <p:cNvSpPr/>
          <p:nvPr userDrawn="1"/>
        </p:nvSpPr>
        <p:spPr>
          <a:xfrm rot="5400000">
            <a:off x="2486478" y="5543550"/>
            <a:ext cx="1892300" cy="736600"/>
          </a:xfrm>
          <a:custGeom>
            <a:avLst/>
            <a:gdLst>
              <a:gd name="connsiteX0" fmla="*/ 0 w 1892300"/>
              <a:gd name="connsiteY0" fmla="*/ 368300 h 736600"/>
              <a:gd name="connsiteX1" fmla="*/ 368300 w 1892300"/>
              <a:gd name="connsiteY1" fmla="*/ 0 h 736600"/>
              <a:gd name="connsiteX2" fmla="*/ 1892300 w 1892300"/>
              <a:gd name="connsiteY2" fmla="*/ 0 h 736600"/>
              <a:gd name="connsiteX3" fmla="*/ 1892300 w 1892300"/>
              <a:gd name="connsiteY3" fmla="*/ 736600 h 736600"/>
              <a:gd name="connsiteX4" fmla="*/ 368300 w 1892300"/>
              <a:gd name="connsiteY4" fmla="*/ 736600 h 736600"/>
              <a:gd name="connsiteX5" fmla="*/ 0 w 18923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300" h="736600">
                <a:moveTo>
                  <a:pt x="0" y="368300"/>
                </a:moveTo>
                <a:cubicBezTo>
                  <a:pt x="0" y="164894"/>
                  <a:pt x="164894" y="0"/>
                  <a:pt x="368300" y="0"/>
                </a:cubicBezTo>
                <a:lnTo>
                  <a:pt x="1892300" y="0"/>
                </a:lnTo>
                <a:lnTo>
                  <a:pt x="18923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Freeform: Shape 31">
            <a:extLst>
              <a:ext uri="{FF2B5EF4-FFF2-40B4-BE49-F238E27FC236}">
                <a16:creationId xmlns:a16="http://schemas.microsoft.com/office/drawing/2014/main" id="{282668F5-FEFD-49FC-A2DA-9EFBBC585DF3}"/>
              </a:ext>
            </a:extLst>
          </p:cNvPr>
          <p:cNvSpPr/>
          <p:nvPr userDrawn="1"/>
        </p:nvSpPr>
        <p:spPr>
          <a:xfrm rot="5400000">
            <a:off x="6965950" y="730250"/>
            <a:ext cx="2197100" cy="736600"/>
          </a:xfrm>
          <a:custGeom>
            <a:avLst/>
            <a:gdLst>
              <a:gd name="connsiteX0" fmla="*/ 0 w 2197100"/>
              <a:gd name="connsiteY0" fmla="*/ 736600 h 736600"/>
              <a:gd name="connsiteX1" fmla="*/ 0 w 2197100"/>
              <a:gd name="connsiteY1" fmla="*/ 0 h 736600"/>
              <a:gd name="connsiteX2" fmla="*/ 1828800 w 2197100"/>
              <a:gd name="connsiteY2" fmla="*/ 0 h 736600"/>
              <a:gd name="connsiteX3" fmla="*/ 2197100 w 2197100"/>
              <a:gd name="connsiteY3" fmla="*/ 368300 h 736600"/>
              <a:gd name="connsiteX4" fmla="*/ 1828800 w 2197100"/>
              <a:gd name="connsiteY4" fmla="*/ 73660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100" h="736600">
                <a:moveTo>
                  <a:pt x="0" y="736600"/>
                </a:moveTo>
                <a:lnTo>
                  <a:pt x="0" y="0"/>
                </a:lnTo>
                <a:lnTo>
                  <a:pt x="1828800" y="0"/>
                </a:lnTo>
                <a:cubicBezTo>
                  <a:pt x="2032206" y="0"/>
                  <a:pt x="2197100" y="164894"/>
                  <a:pt x="2197100" y="368300"/>
                </a:cubicBezTo>
                <a:cubicBezTo>
                  <a:pt x="2197100" y="571706"/>
                  <a:pt x="2032206" y="736600"/>
                  <a:pt x="1828800" y="7366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Text Placeholder 9">
            <a:extLst>
              <a:ext uri="{FF2B5EF4-FFF2-40B4-BE49-F238E27FC236}">
                <a16:creationId xmlns:a16="http://schemas.microsoft.com/office/drawing/2014/main" id="{98ED0577-7CE6-4271-BE86-1FC4E49AD44C}"/>
              </a:ext>
            </a:extLst>
          </p:cNvPr>
          <p:cNvSpPr>
            <a:spLocks noGrp="1"/>
          </p:cNvSpPr>
          <p:nvPr>
            <p:ph type="body" sz="quarter" idx="10" hasCustomPrompt="1"/>
          </p:nvPr>
        </p:nvSpPr>
        <p:spPr>
          <a:xfrm>
            <a:off x="836410" y="609601"/>
            <a:ext cx="1256400" cy="1256400"/>
          </a:xfrm>
        </p:spPr>
        <p:txBody>
          <a:bodyPr anchor="ctr">
            <a:normAutofit/>
          </a:bodyPr>
          <a:lstStyle>
            <a:lvl1pPr algn="ctr">
              <a:lnSpc>
                <a:spcPct val="100000"/>
              </a:lnSpc>
              <a:spcBef>
                <a:spcPts val="0"/>
              </a:spcBef>
              <a:defRPr sz="4400">
                <a:solidFill>
                  <a:schemeClr val="bg1"/>
                </a:solidFill>
              </a:defRPr>
            </a:lvl1pPr>
          </a:lstStyle>
          <a:p>
            <a:pPr lvl="0"/>
            <a:r>
              <a:rPr lang="en-US"/>
              <a:t>##</a:t>
            </a:r>
            <a:endParaRPr lang="en-GB"/>
          </a:p>
        </p:txBody>
      </p:sp>
      <p:sp>
        <p:nvSpPr>
          <p:cNvPr id="43" name="Freeform: Shape 42">
            <a:extLst>
              <a:ext uri="{FF2B5EF4-FFF2-40B4-BE49-F238E27FC236}">
                <a16:creationId xmlns:a16="http://schemas.microsoft.com/office/drawing/2014/main" id="{33C8BA43-3B9B-4D2C-A1CB-6E3CE971B31C}"/>
              </a:ext>
            </a:extLst>
          </p:cNvPr>
          <p:cNvSpPr/>
          <p:nvPr userDrawn="1"/>
        </p:nvSpPr>
        <p:spPr>
          <a:xfrm rot="5400000">
            <a:off x="8648700" y="4013200"/>
            <a:ext cx="4953000" cy="736600"/>
          </a:xfrm>
          <a:custGeom>
            <a:avLst/>
            <a:gdLst>
              <a:gd name="connsiteX0" fmla="*/ 0 w 4953000"/>
              <a:gd name="connsiteY0" fmla="*/ 368300 h 736600"/>
              <a:gd name="connsiteX1" fmla="*/ 368300 w 4953000"/>
              <a:gd name="connsiteY1" fmla="*/ 0 h 736600"/>
              <a:gd name="connsiteX2" fmla="*/ 4953000 w 4953000"/>
              <a:gd name="connsiteY2" fmla="*/ 0 h 736600"/>
              <a:gd name="connsiteX3" fmla="*/ 4953000 w 4953000"/>
              <a:gd name="connsiteY3" fmla="*/ 736600 h 736600"/>
              <a:gd name="connsiteX4" fmla="*/ 368300 w 4953000"/>
              <a:gd name="connsiteY4" fmla="*/ 736600 h 736600"/>
              <a:gd name="connsiteX5" fmla="*/ 0 w 49530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0" h="736600">
                <a:moveTo>
                  <a:pt x="0" y="368300"/>
                </a:moveTo>
                <a:cubicBezTo>
                  <a:pt x="0" y="164894"/>
                  <a:pt x="164894" y="0"/>
                  <a:pt x="368300" y="0"/>
                </a:cubicBezTo>
                <a:lnTo>
                  <a:pt x="4953000" y="0"/>
                </a:lnTo>
                <a:lnTo>
                  <a:pt x="49530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4" name="Group 43">
            <a:extLst>
              <a:ext uri="{FF2B5EF4-FFF2-40B4-BE49-F238E27FC236}">
                <a16:creationId xmlns:a16="http://schemas.microsoft.com/office/drawing/2014/main" id="{0D9CC793-7332-4F1C-9139-C5AADEE66B67}"/>
              </a:ext>
            </a:extLst>
          </p:cNvPr>
          <p:cNvGrpSpPr/>
          <p:nvPr userDrawn="1"/>
        </p:nvGrpSpPr>
        <p:grpSpPr>
          <a:xfrm>
            <a:off x="10817037" y="1965137"/>
            <a:ext cx="617726" cy="617726"/>
            <a:chOff x="10131237" y="1965137"/>
            <a:chExt cx="617726" cy="617726"/>
          </a:xfrm>
        </p:grpSpPr>
        <p:sp>
          <p:nvSpPr>
            <p:cNvPr id="45" name="Oval 44">
              <a:extLst>
                <a:ext uri="{FF2B5EF4-FFF2-40B4-BE49-F238E27FC236}">
                  <a16:creationId xmlns:a16="http://schemas.microsoft.com/office/drawing/2014/main" id="{104B4FF7-1B5E-4389-BBB5-CF129712E3F8}"/>
                </a:ext>
              </a:extLst>
            </p:cNvPr>
            <p:cNvSpPr>
              <a:spLocks noChangeAspect="1"/>
            </p:cNvSpPr>
            <p:nvPr userDrawn="1"/>
          </p:nvSpPr>
          <p:spPr>
            <a:xfrm>
              <a:off x="10131237" y="1965137"/>
              <a:ext cx="617726" cy="6177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grpSp>
          <p:nvGrpSpPr>
            <p:cNvPr id="46" name="Group 45">
              <a:extLst>
                <a:ext uri="{FF2B5EF4-FFF2-40B4-BE49-F238E27FC236}">
                  <a16:creationId xmlns:a16="http://schemas.microsoft.com/office/drawing/2014/main" id="{73DB47BB-4CAB-4613-BD5A-879D595B0618}"/>
                </a:ext>
              </a:extLst>
            </p:cNvPr>
            <p:cNvGrpSpPr/>
            <p:nvPr/>
          </p:nvGrpSpPr>
          <p:grpSpPr>
            <a:xfrm>
              <a:off x="10379250" y="2093262"/>
              <a:ext cx="121701" cy="361477"/>
              <a:chOff x="-12442" y="1663700"/>
              <a:chExt cx="1761630" cy="5232400"/>
            </a:xfrm>
            <a:solidFill>
              <a:schemeClr val="tx2"/>
            </a:solidFill>
          </p:grpSpPr>
          <p:sp>
            <p:nvSpPr>
              <p:cNvPr id="47" name="Freeform 5">
                <a:extLst>
                  <a:ext uri="{FF2B5EF4-FFF2-40B4-BE49-F238E27FC236}">
                    <a16:creationId xmlns:a16="http://schemas.microsoft.com/office/drawing/2014/main" id="{CD97D5F9-8577-4E55-A370-E70B9ED773B1}"/>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tx1"/>
                  </a:solidFill>
                </a:endParaRPr>
              </a:p>
            </p:txBody>
          </p:sp>
          <p:sp>
            <p:nvSpPr>
              <p:cNvPr id="48" name="Freeform 6">
                <a:extLst>
                  <a:ext uri="{FF2B5EF4-FFF2-40B4-BE49-F238E27FC236}">
                    <a16:creationId xmlns:a16="http://schemas.microsoft.com/office/drawing/2014/main" id="{538CA225-9D4A-41EA-8C13-07EACEF994DC}"/>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tx1"/>
                  </a:solidFill>
                </a:endParaRPr>
              </a:p>
            </p:txBody>
          </p:sp>
        </p:grpSp>
      </p:grpSp>
    </p:spTree>
    <p:extLst>
      <p:ext uri="{BB962C8B-B14F-4D97-AF65-F5344CB8AC3E}">
        <p14:creationId xmlns:p14="http://schemas.microsoft.com/office/powerpoint/2010/main" val="7833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con Divider">
    <p:spTree>
      <p:nvGrpSpPr>
        <p:cNvPr id="1" name=""/>
        <p:cNvGrpSpPr/>
        <p:nvPr/>
      </p:nvGrpSpPr>
      <p:grpSpPr>
        <a:xfrm>
          <a:off x="0" y="0"/>
          <a:ext cx="0" cy="0"/>
          <a:chOff x="0" y="0"/>
          <a:chExt cx="0" cy="0"/>
        </a:xfrm>
      </p:grpSpPr>
      <p:pic>
        <p:nvPicPr>
          <p:cNvPr id="28" name="Picture 27" descr="A picture containing outdoor&#10;&#10;Description generated with very high confidence">
            <a:extLst>
              <a:ext uri="{FF2B5EF4-FFF2-40B4-BE49-F238E27FC236}">
                <a16:creationId xmlns:a16="http://schemas.microsoft.com/office/drawing/2014/main" id="{8BDD3F1A-0226-4133-8200-2BFD2994E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2CC44766-F15A-41E7-A5D3-BF025F156C34}"/>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Freeform: Shape 23">
            <a:extLst>
              <a:ext uri="{FF2B5EF4-FFF2-40B4-BE49-F238E27FC236}">
                <a16:creationId xmlns:a16="http://schemas.microsoft.com/office/drawing/2014/main" id="{9D047DD6-73B3-4C28-B429-327937A6303A}"/>
              </a:ext>
            </a:extLst>
          </p:cNvPr>
          <p:cNvSpPr/>
          <p:nvPr userDrawn="1"/>
        </p:nvSpPr>
        <p:spPr>
          <a:xfrm>
            <a:off x="693556" y="493485"/>
            <a:ext cx="1543020" cy="6364515"/>
          </a:xfrm>
          <a:custGeom>
            <a:avLst/>
            <a:gdLst>
              <a:gd name="connsiteX0" fmla="*/ 771510 w 1543020"/>
              <a:gd name="connsiteY0" fmla="*/ 0 h 6364515"/>
              <a:gd name="connsiteX1" fmla="*/ 1543020 w 1543020"/>
              <a:gd name="connsiteY1" fmla="*/ 771510 h 6364515"/>
              <a:gd name="connsiteX2" fmla="*/ 1543020 w 1543020"/>
              <a:gd name="connsiteY2" fmla="*/ 6364515 h 6364515"/>
              <a:gd name="connsiteX3" fmla="*/ 0 w 1543020"/>
              <a:gd name="connsiteY3" fmla="*/ 6364515 h 6364515"/>
              <a:gd name="connsiteX4" fmla="*/ 0 w 1543020"/>
              <a:gd name="connsiteY4" fmla="*/ 771510 h 6364515"/>
              <a:gd name="connsiteX5" fmla="*/ 771510 w 1543020"/>
              <a:gd name="connsiteY5" fmla="*/ 0 h 636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20" h="6364515">
                <a:moveTo>
                  <a:pt x="771510" y="0"/>
                </a:moveTo>
                <a:cubicBezTo>
                  <a:pt x="1197603" y="0"/>
                  <a:pt x="1543020" y="345417"/>
                  <a:pt x="1543020" y="771510"/>
                </a:cubicBezTo>
                <a:lnTo>
                  <a:pt x="1543020" y="6364515"/>
                </a:lnTo>
                <a:lnTo>
                  <a:pt x="0" y="6364515"/>
                </a:lnTo>
                <a:lnTo>
                  <a:pt x="0" y="771510"/>
                </a:lnTo>
                <a:cubicBezTo>
                  <a:pt x="0" y="345417"/>
                  <a:pt x="345417" y="0"/>
                  <a:pt x="771510"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Oval 24">
            <a:extLst>
              <a:ext uri="{FF2B5EF4-FFF2-40B4-BE49-F238E27FC236}">
                <a16:creationId xmlns:a16="http://schemas.microsoft.com/office/drawing/2014/main" id="{ADAB6006-8FF0-4ECE-9F3A-911691C7A7B3}"/>
              </a:ext>
            </a:extLst>
          </p:cNvPr>
          <p:cNvSpPr/>
          <p:nvPr userDrawn="1"/>
        </p:nvSpPr>
        <p:spPr>
          <a:xfrm>
            <a:off x="837322" y="609601"/>
            <a:ext cx="1255488" cy="12554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dirty="0">
              <a:solidFill>
                <a:schemeClr val="bg1"/>
              </a:solidFill>
            </a:endParaRPr>
          </a:p>
        </p:txBody>
      </p:sp>
      <p:sp>
        <p:nvSpPr>
          <p:cNvPr id="2" name="Title 1">
            <a:extLst>
              <a:ext uri="{FF2B5EF4-FFF2-40B4-BE49-F238E27FC236}">
                <a16:creationId xmlns:a16="http://schemas.microsoft.com/office/drawing/2014/main" id="{0B9ADC4A-720F-46B1-98A1-87DAD495DC1B}"/>
              </a:ext>
            </a:extLst>
          </p:cNvPr>
          <p:cNvSpPr>
            <a:spLocks noGrp="1"/>
          </p:cNvSpPr>
          <p:nvPr>
            <p:ph type="title"/>
          </p:nvPr>
        </p:nvSpPr>
        <p:spPr>
          <a:xfrm>
            <a:off x="3048000" y="795338"/>
            <a:ext cx="4229100" cy="2852737"/>
          </a:xfrm>
        </p:spPr>
        <p:txBody>
          <a:bodyPr anchor="b">
            <a:normAutofit/>
          </a:bodyPr>
          <a:lstStyle>
            <a:lvl1pPr>
              <a:defRPr sz="3600" b="1" cap="all" baseline="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6739A5-7B29-4322-8DEC-B816DF173FEF}"/>
              </a:ext>
            </a:extLst>
          </p:cNvPr>
          <p:cNvSpPr>
            <a:spLocks noGrp="1"/>
          </p:cNvSpPr>
          <p:nvPr>
            <p:ph type="body" idx="1"/>
          </p:nvPr>
        </p:nvSpPr>
        <p:spPr>
          <a:xfrm>
            <a:off x="3048000" y="3789364"/>
            <a:ext cx="4229100" cy="552450"/>
          </a:xfrm>
        </p:spPr>
        <p:txBody>
          <a:bodyPr anchor="ctr">
            <a:normAutofit/>
          </a:bodyPr>
          <a:lstStyle>
            <a:lvl1pPr marL="0" indent="0">
              <a:lnSpc>
                <a:spcPct val="100000"/>
              </a:lnSpc>
              <a:spcBef>
                <a:spcPts val="0"/>
              </a:spcBef>
              <a:buNone/>
              <a:defRPr sz="2800" b="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35" name="Freeform: Shape 34">
            <a:extLst>
              <a:ext uri="{FF2B5EF4-FFF2-40B4-BE49-F238E27FC236}">
                <a16:creationId xmlns:a16="http://schemas.microsoft.com/office/drawing/2014/main" id="{4071DF3E-A139-4B83-B575-BC1867577449}"/>
              </a:ext>
            </a:extLst>
          </p:cNvPr>
          <p:cNvSpPr/>
          <p:nvPr userDrawn="1"/>
        </p:nvSpPr>
        <p:spPr>
          <a:xfrm rot="5400000">
            <a:off x="2486478" y="5543550"/>
            <a:ext cx="1892300" cy="736600"/>
          </a:xfrm>
          <a:custGeom>
            <a:avLst/>
            <a:gdLst>
              <a:gd name="connsiteX0" fmla="*/ 0 w 1892300"/>
              <a:gd name="connsiteY0" fmla="*/ 368300 h 736600"/>
              <a:gd name="connsiteX1" fmla="*/ 368300 w 1892300"/>
              <a:gd name="connsiteY1" fmla="*/ 0 h 736600"/>
              <a:gd name="connsiteX2" fmla="*/ 1892300 w 1892300"/>
              <a:gd name="connsiteY2" fmla="*/ 0 h 736600"/>
              <a:gd name="connsiteX3" fmla="*/ 1892300 w 1892300"/>
              <a:gd name="connsiteY3" fmla="*/ 736600 h 736600"/>
              <a:gd name="connsiteX4" fmla="*/ 368300 w 1892300"/>
              <a:gd name="connsiteY4" fmla="*/ 736600 h 736600"/>
              <a:gd name="connsiteX5" fmla="*/ 0 w 18923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300" h="736600">
                <a:moveTo>
                  <a:pt x="0" y="368300"/>
                </a:moveTo>
                <a:cubicBezTo>
                  <a:pt x="0" y="164894"/>
                  <a:pt x="164894" y="0"/>
                  <a:pt x="368300" y="0"/>
                </a:cubicBezTo>
                <a:lnTo>
                  <a:pt x="1892300" y="0"/>
                </a:lnTo>
                <a:lnTo>
                  <a:pt x="18923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Freeform: Shape 31">
            <a:extLst>
              <a:ext uri="{FF2B5EF4-FFF2-40B4-BE49-F238E27FC236}">
                <a16:creationId xmlns:a16="http://schemas.microsoft.com/office/drawing/2014/main" id="{282668F5-FEFD-49FC-A2DA-9EFBBC585DF3}"/>
              </a:ext>
            </a:extLst>
          </p:cNvPr>
          <p:cNvSpPr/>
          <p:nvPr userDrawn="1"/>
        </p:nvSpPr>
        <p:spPr>
          <a:xfrm rot="5400000">
            <a:off x="6965950" y="730250"/>
            <a:ext cx="2197100" cy="736600"/>
          </a:xfrm>
          <a:custGeom>
            <a:avLst/>
            <a:gdLst>
              <a:gd name="connsiteX0" fmla="*/ 0 w 2197100"/>
              <a:gd name="connsiteY0" fmla="*/ 736600 h 736600"/>
              <a:gd name="connsiteX1" fmla="*/ 0 w 2197100"/>
              <a:gd name="connsiteY1" fmla="*/ 0 h 736600"/>
              <a:gd name="connsiteX2" fmla="*/ 1828800 w 2197100"/>
              <a:gd name="connsiteY2" fmla="*/ 0 h 736600"/>
              <a:gd name="connsiteX3" fmla="*/ 2197100 w 2197100"/>
              <a:gd name="connsiteY3" fmla="*/ 368300 h 736600"/>
              <a:gd name="connsiteX4" fmla="*/ 1828800 w 2197100"/>
              <a:gd name="connsiteY4" fmla="*/ 73660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100" h="736600">
                <a:moveTo>
                  <a:pt x="0" y="736600"/>
                </a:moveTo>
                <a:lnTo>
                  <a:pt x="0" y="0"/>
                </a:lnTo>
                <a:lnTo>
                  <a:pt x="1828800" y="0"/>
                </a:lnTo>
                <a:cubicBezTo>
                  <a:pt x="2032206" y="0"/>
                  <a:pt x="2197100" y="164894"/>
                  <a:pt x="2197100" y="368300"/>
                </a:cubicBezTo>
                <a:cubicBezTo>
                  <a:pt x="2197100" y="571706"/>
                  <a:pt x="2032206" y="736600"/>
                  <a:pt x="1828800" y="7366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Freeform: Shape 42">
            <a:extLst>
              <a:ext uri="{FF2B5EF4-FFF2-40B4-BE49-F238E27FC236}">
                <a16:creationId xmlns:a16="http://schemas.microsoft.com/office/drawing/2014/main" id="{33C8BA43-3B9B-4D2C-A1CB-6E3CE971B31C}"/>
              </a:ext>
            </a:extLst>
          </p:cNvPr>
          <p:cNvSpPr/>
          <p:nvPr userDrawn="1"/>
        </p:nvSpPr>
        <p:spPr>
          <a:xfrm rot="5400000">
            <a:off x="8648700" y="4013200"/>
            <a:ext cx="4953000" cy="736600"/>
          </a:xfrm>
          <a:custGeom>
            <a:avLst/>
            <a:gdLst>
              <a:gd name="connsiteX0" fmla="*/ 0 w 4953000"/>
              <a:gd name="connsiteY0" fmla="*/ 368300 h 736600"/>
              <a:gd name="connsiteX1" fmla="*/ 368300 w 4953000"/>
              <a:gd name="connsiteY1" fmla="*/ 0 h 736600"/>
              <a:gd name="connsiteX2" fmla="*/ 4953000 w 4953000"/>
              <a:gd name="connsiteY2" fmla="*/ 0 h 736600"/>
              <a:gd name="connsiteX3" fmla="*/ 4953000 w 4953000"/>
              <a:gd name="connsiteY3" fmla="*/ 736600 h 736600"/>
              <a:gd name="connsiteX4" fmla="*/ 368300 w 4953000"/>
              <a:gd name="connsiteY4" fmla="*/ 736600 h 736600"/>
              <a:gd name="connsiteX5" fmla="*/ 0 w 49530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0" h="736600">
                <a:moveTo>
                  <a:pt x="0" y="368300"/>
                </a:moveTo>
                <a:cubicBezTo>
                  <a:pt x="0" y="164894"/>
                  <a:pt x="164894" y="0"/>
                  <a:pt x="368300" y="0"/>
                </a:cubicBezTo>
                <a:lnTo>
                  <a:pt x="4953000" y="0"/>
                </a:lnTo>
                <a:lnTo>
                  <a:pt x="49530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4" name="Group 43">
            <a:extLst>
              <a:ext uri="{FF2B5EF4-FFF2-40B4-BE49-F238E27FC236}">
                <a16:creationId xmlns:a16="http://schemas.microsoft.com/office/drawing/2014/main" id="{0D9CC793-7332-4F1C-9139-C5AADEE66B67}"/>
              </a:ext>
            </a:extLst>
          </p:cNvPr>
          <p:cNvGrpSpPr/>
          <p:nvPr userDrawn="1"/>
        </p:nvGrpSpPr>
        <p:grpSpPr>
          <a:xfrm>
            <a:off x="10817037" y="1965137"/>
            <a:ext cx="617726" cy="617726"/>
            <a:chOff x="10131237" y="1965137"/>
            <a:chExt cx="617726" cy="617726"/>
          </a:xfrm>
        </p:grpSpPr>
        <p:sp>
          <p:nvSpPr>
            <p:cNvPr id="45" name="Oval 44">
              <a:extLst>
                <a:ext uri="{FF2B5EF4-FFF2-40B4-BE49-F238E27FC236}">
                  <a16:creationId xmlns:a16="http://schemas.microsoft.com/office/drawing/2014/main" id="{104B4FF7-1B5E-4389-BBB5-CF129712E3F8}"/>
                </a:ext>
              </a:extLst>
            </p:cNvPr>
            <p:cNvSpPr>
              <a:spLocks noChangeAspect="1"/>
            </p:cNvSpPr>
            <p:nvPr userDrawn="1"/>
          </p:nvSpPr>
          <p:spPr>
            <a:xfrm>
              <a:off x="10131237" y="1965137"/>
              <a:ext cx="617726" cy="6177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grpSp>
          <p:nvGrpSpPr>
            <p:cNvPr id="46" name="Group 45">
              <a:extLst>
                <a:ext uri="{FF2B5EF4-FFF2-40B4-BE49-F238E27FC236}">
                  <a16:creationId xmlns:a16="http://schemas.microsoft.com/office/drawing/2014/main" id="{73DB47BB-4CAB-4613-BD5A-879D595B0618}"/>
                </a:ext>
              </a:extLst>
            </p:cNvPr>
            <p:cNvGrpSpPr/>
            <p:nvPr/>
          </p:nvGrpSpPr>
          <p:grpSpPr>
            <a:xfrm>
              <a:off x="10379250" y="2093262"/>
              <a:ext cx="121701" cy="361477"/>
              <a:chOff x="-12442" y="1663700"/>
              <a:chExt cx="1761630" cy="5232400"/>
            </a:xfrm>
            <a:solidFill>
              <a:schemeClr val="tx2"/>
            </a:solidFill>
          </p:grpSpPr>
          <p:sp>
            <p:nvSpPr>
              <p:cNvPr id="47" name="Freeform 5">
                <a:extLst>
                  <a:ext uri="{FF2B5EF4-FFF2-40B4-BE49-F238E27FC236}">
                    <a16:creationId xmlns:a16="http://schemas.microsoft.com/office/drawing/2014/main" id="{CD97D5F9-8577-4E55-A370-E70B9ED773B1}"/>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tx1"/>
                  </a:solidFill>
                </a:endParaRPr>
              </a:p>
            </p:txBody>
          </p:sp>
          <p:sp>
            <p:nvSpPr>
              <p:cNvPr id="48" name="Freeform 6">
                <a:extLst>
                  <a:ext uri="{FF2B5EF4-FFF2-40B4-BE49-F238E27FC236}">
                    <a16:creationId xmlns:a16="http://schemas.microsoft.com/office/drawing/2014/main" id="{538CA225-9D4A-41EA-8C13-07EACEF994DC}"/>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tx1"/>
                  </a:solidFill>
                </a:endParaRPr>
              </a:p>
            </p:txBody>
          </p:sp>
        </p:grpSp>
      </p:grpSp>
      <p:pic>
        <p:nvPicPr>
          <p:cNvPr id="5" name="Picture 4">
            <a:extLst>
              <a:ext uri="{FF2B5EF4-FFF2-40B4-BE49-F238E27FC236}">
                <a16:creationId xmlns:a16="http://schemas.microsoft.com/office/drawing/2014/main" id="{A8B1BCA3-CCE8-4A84-805D-D08185020EA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flipH="1" flipV="1">
            <a:off x="1007064" y="782424"/>
            <a:ext cx="912921" cy="912921"/>
          </a:xfrm>
          <a:prstGeom prst="rect">
            <a:avLst/>
          </a:prstGeom>
        </p:spPr>
      </p:pic>
    </p:spTree>
    <p:extLst>
      <p:ext uri="{BB962C8B-B14F-4D97-AF65-F5344CB8AC3E}">
        <p14:creationId xmlns:p14="http://schemas.microsoft.com/office/powerpoint/2010/main" val="3998133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pic>
        <p:nvPicPr>
          <p:cNvPr id="4" name="Picture 3" descr="A picture containing building, outdoor, sky&#10;&#10;Description generated with high confidence">
            <a:extLst>
              <a:ext uri="{FF2B5EF4-FFF2-40B4-BE49-F238E27FC236}">
                <a16:creationId xmlns:a16="http://schemas.microsoft.com/office/drawing/2014/main" id="{C1DF82AB-AF7D-4639-9012-DE1C56D96EF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1374559E-AE65-4C9B-AAD3-CC94FB7F013C}"/>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08952E4C-D196-4C84-9515-57E479D2EFA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B6F85792-A727-402C-807C-EA609F45C62D}"/>
              </a:ext>
            </a:extLst>
          </p:cNvPr>
          <p:cNvSpPr>
            <a:spLocks noGrp="1"/>
          </p:cNvSpPr>
          <p:nvPr>
            <p:ph type="sldNum" sz="quarter" idx="12"/>
          </p:nvPr>
        </p:nvSpPr>
        <p:spPr/>
        <p:txBody>
          <a:bodyPr/>
          <a:lstStyle/>
          <a:p>
            <a:fld id="{FAEEC637-5006-4E50-A83C-29CEB747C05F}" type="slidenum">
              <a:rPr lang="en-GB" smtClean="0"/>
              <a:t>‹#›</a:t>
            </a:fld>
            <a:endParaRPr lang="en-GB" dirty="0"/>
          </a:p>
        </p:txBody>
      </p:sp>
      <p:sp>
        <p:nvSpPr>
          <p:cNvPr id="28" name="Title 27">
            <a:extLst>
              <a:ext uri="{FF2B5EF4-FFF2-40B4-BE49-F238E27FC236}">
                <a16:creationId xmlns:a16="http://schemas.microsoft.com/office/drawing/2014/main" id="{D7DE24CA-30C6-4AD5-9799-CF97131D6364}"/>
              </a:ext>
            </a:extLst>
          </p:cNvPr>
          <p:cNvSpPr>
            <a:spLocks noGrp="1"/>
          </p:cNvSpPr>
          <p:nvPr>
            <p:ph type="title"/>
          </p:nvPr>
        </p:nvSpPr>
        <p:spPr/>
        <p:txBody>
          <a:bodyPr/>
          <a:lstStyle/>
          <a:p>
            <a:r>
              <a:rPr lang="en-US"/>
              <a:t>Click to edit Master title style</a:t>
            </a:r>
            <a:endParaRPr lang="en-GB"/>
          </a:p>
        </p:txBody>
      </p:sp>
      <p:sp>
        <p:nvSpPr>
          <p:cNvPr id="5" name="Footer Placeholder 4">
            <a:extLst>
              <a:ext uri="{FF2B5EF4-FFF2-40B4-BE49-F238E27FC236}">
                <a16:creationId xmlns:a16="http://schemas.microsoft.com/office/drawing/2014/main" id="{D7A77A6D-683B-4BDB-A6A4-E320FBD7F851}"/>
              </a:ext>
            </a:extLst>
          </p:cNvPr>
          <p:cNvSpPr>
            <a:spLocks noGrp="1"/>
          </p:cNvSpPr>
          <p:nvPr>
            <p:ph type="ftr" sz="quarter" idx="11"/>
          </p:nvPr>
        </p:nvSpPr>
        <p:spPr/>
        <p:txBody>
          <a:bodyPr/>
          <a:lstStyle/>
          <a:p>
            <a:r>
              <a:rPr lang="en-US" dirty="0"/>
              <a:t>Go to Insert &gt; Header &amp; Footer to edit footer text</a:t>
            </a:r>
            <a:endParaRPr lang="en-GB" dirty="0"/>
          </a:p>
        </p:txBody>
      </p:sp>
    </p:spTree>
    <p:extLst>
      <p:ext uri="{BB962C8B-B14F-4D97-AF65-F5344CB8AC3E}">
        <p14:creationId xmlns:p14="http://schemas.microsoft.com/office/powerpoint/2010/main" val="1578257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dirty="0"/>
              <a:t>Go to Insert &gt; Header &amp; Footer to edit footer text</a:t>
            </a:r>
            <a:endParaRPr lang="en-GB" dirty="0"/>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dirty="0"/>
          </a:p>
        </p:txBody>
      </p:sp>
      <p:sp>
        <p:nvSpPr>
          <p:cNvPr id="14" name="Title 13">
            <a:extLst>
              <a:ext uri="{FF2B5EF4-FFF2-40B4-BE49-F238E27FC236}">
                <a16:creationId xmlns:a16="http://schemas.microsoft.com/office/drawing/2014/main" id="{B87D5249-2480-44E9-9FEE-825E44639A83}"/>
              </a:ext>
            </a:extLst>
          </p:cNvPr>
          <p:cNvSpPr>
            <a:spLocks noGrp="1"/>
          </p:cNvSpPr>
          <p:nvPr>
            <p:ph type="title"/>
          </p:nvPr>
        </p:nvSpPr>
        <p:spPr>
          <a:xfrm>
            <a:off x="710381" y="275771"/>
            <a:ext cx="10783118" cy="1085172"/>
          </a:xfrm>
        </p:spPr>
        <p:txBody>
          <a:bodyPr/>
          <a:lstStyle/>
          <a:p>
            <a:r>
              <a:rPr lang="en-US"/>
              <a:t>Click to edit Master title style</a:t>
            </a:r>
            <a:endParaRPr lang="en-GB"/>
          </a:p>
        </p:txBody>
      </p:sp>
      <p:sp>
        <p:nvSpPr>
          <p:cNvPr id="16" name="Content Placeholder 15">
            <a:extLst>
              <a:ext uri="{FF2B5EF4-FFF2-40B4-BE49-F238E27FC236}">
                <a16:creationId xmlns:a16="http://schemas.microsoft.com/office/drawing/2014/main" id="{4A8F2D77-441F-48B4-A821-351780FDE8D5}"/>
              </a:ext>
            </a:extLst>
          </p:cNvPr>
          <p:cNvSpPr>
            <a:spLocks noGrp="1"/>
          </p:cNvSpPr>
          <p:nvPr>
            <p:ph sz="quarter" idx="15"/>
          </p:nvPr>
        </p:nvSpPr>
        <p:spPr>
          <a:xfrm>
            <a:off x="710381" y="1748712"/>
            <a:ext cx="5119687"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5">
            <a:extLst>
              <a:ext uri="{FF2B5EF4-FFF2-40B4-BE49-F238E27FC236}">
                <a16:creationId xmlns:a16="http://schemas.microsoft.com/office/drawing/2014/main" id="{CD68D76E-AFF8-4B02-BAA9-0FED28F1004D}"/>
              </a:ext>
            </a:extLst>
          </p:cNvPr>
          <p:cNvSpPr>
            <a:spLocks noGrp="1"/>
          </p:cNvSpPr>
          <p:nvPr>
            <p:ph sz="quarter" idx="16"/>
          </p:nvPr>
        </p:nvSpPr>
        <p:spPr>
          <a:xfrm>
            <a:off x="6373812" y="1748712"/>
            <a:ext cx="5119687"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descr="A picture containing building, outdoor, sky&#10;&#10;Description generated with high confidence">
            <a:extLst>
              <a:ext uri="{FF2B5EF4-FFF2-40B4-BE49-F238E27FC236}">
                <a16:creationId xmlns:a16="http://schemas.microsoft.com/office/drawing/2014/main" id="{B9C24068-C1A2-477D-9F25-18C90AF8F2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7175C9FE-EA62-4AA9-AE88-39A9966CA189}"/>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17160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dirty="0"/>
              <a:t>Go to Insert &gt; Header &amp; Footer to edit footer text</a:t>
            </a:r>
            <a:endParaRPr lang="en-GB" dirty="0"/>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dirty="0"/>
          </a:p>
        </p:txBody>
      </p:sp>
      <p:sp>
        <p:nvSpPr>
          <p:cNvPr id="3" name="Title 2">
            <a:extLst>
              <a:ext uri="{FF2B5EF4-FFF2-40B4-BE49-F238E27FC236}">
                <a16:creationId xmlns:a16="http://schemas.microsoft.com/office/drawing/2014/main" id="{550994A2-FF53-473B-9518-B935E654BB62}"/>
              </a:ext>
            </a:extLst>
          </p:cNvPr>
          <p:cNvSpPr>
            <a:spLocks noGrp="1"/>
          </p:cNvSpPr>
          <p:nvPr>
            <p:ph type="title"/>
          </p:nvPr>
        </p:nvSpPr>
        <p:spPr>
          <a:xfrm>
            <a:off x="710381" y="275771"/>
            <a:ext cx="10783118" cy="1085172"/>
          </a:xfrm>
        </p:spPr>
        <p:txBody>
          <a:bodyPr/>
          <a:lstStyle/>
          <a:p>
            <a:r>
              <a:rPr lang="en-US"/>
              <a:t>Click to edit Master title style</a:t>
            </a:r>
            <a:endParaRPr lang="en-GB"/>
          </a:p>
        </p:txBody>
      </p:sp>
      <p:sp>
        <p:nvSpPr>
          <p:cNvPr id="17" name="Content Placeholder 15">
            <a:extLst>
              <a:ext uri="{FF2B5EF4-FFF2-40B4-BE49-F238E27FC236}">
                <a16:creationId xmlns:a16="http://schemas.microsoft.com/office/drawing/2014/main" id="{5FF0F91E-87EA-4199-AA93-F4252B351E92}"/>
              </a:ext>
            </a:extLst>
          </p:cNvPr>
          <p:cNvSpPr>
            <a:spLocks noGrp="1"/>
          </p:cNvSpPr>
          <p:nvPr>
            <p:ph sz="quarter" idx="16"/>
          </p:nvPr>
        </p:nvSpPr>
        <p:spPr>
          <a:xfrm>
            <a:off x="710381"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5">
            <a:extLst>
              <a:ext uri="{FF2B5EF4-FFF2-40B4-BE49-F238E27FC236}">
                <a16:creationId xmlns:a16="http://schemas.microsoft.com/office/drawing/2014/main" id="{C1F72E16-6A8E-4447-87BA-003C5FA15F5A}"/>
              </a:ext>
            </a:extLst>
          </p:cNvPr>
          <p:cNvSpPr>
            <a:spLocks noGrp="1"/>
          </p:cNvSpPr>
          <p:nvPr>
            <p:ph sz="quarter" idx="17"/>
          </p:nvPr>
        </p:nvSpPr>
        <p:spPr>
          <a:xfrm>
            <a:off x="8236426"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Content Placeholder 15">
            <a:extLst>
              <a:ext uri="{FF2B5EF4-FFF2-40B4-BE49-F238E27FC236}">
                <a16:creationId xmlns:a16="http://schemas.microsoft.com/office/drawing/2014/main" id="{5E832D2A-A709-4375-B688-8EB1C4928F02}"/>
              </a:ext>
            </a:extLst>
          </p:cNvPr>
          <p:cNvSpPr>
            <a:spLocks noGrp="1"/>
          </p:cNvSpPr>
          <p:nvPr>
            <p:ph sz="quarter" idx="18"/>
          </p:nvPr>
        </p:nvSpPr>
        <p:spPr>
          <a:xfrm>
            <a:off x="4473403"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descr="A picture containing building, outdoor, sky&#10;&#10;Description generated with high confidence">
            <a:extLst>
              <a:ext uri="{FF2B5EF4-FFF2-40B4-BE49-F238E27FC236}">
                <a16:creationId xmlns:a16="http://schemas.microsoft.com/office/drawing/2014/main" id="{9E693D63-499E-4EC1-8ED6-D8B9BC755A9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D5906753-7C29-4620-8395-5A49F5FD9932}"/>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126949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amp; Left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585246-1954-427D-B255-C25001135C7B}"/>
              </a:ext>
            </a:extLst>
          </p:cNvPr>
          <p:cNvSpPr>
            <a:spLocks noGrp="1"/>
          </p:cNvSpPr>
          <p:nvPr>
            <p:ph type="pic" sz="quarter" idx="15"/>
          </p:nvPr>
        </p:nvSpPr>
        <p:spPr>
          <a:xfrm>
            <a:off x="0" y="0"/>
            <a:ext cx="3657600" cy="6858000"/>
          </a:xfrm>
          <a:solidFill>
            <a:schemeClr val="bg1">
              <a:lumMod val="95000"/>
            </a:schemeClr>
          </a:solidFill>
        </p:spPr>
        <p:txBody>
          <a:bodyPr anchor="ctr"/>
          <a:lstStyle>
            <a:lvl1pPr algn="ctr">
              <a:defRPr>
                <a:solidFill>
                  <a:schemeClr val="tx1"/>
                </a:solidFill>
              </a:defRPr>
            </a:lvl1pPr>
          </a:lstStyle>
          <a:p>
            <a:endParaRPr lang="en-GB" dirty="0"/>
          </a:p>
        </p:txBody>
      </p:sp>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dirty="0"/>
              <a:t>Go to Insert &gt; Header &amp; Footer to edit footer text</a:t>
            </a:r>
            <a:endParaRPr lang="en-GB" dirty="0"/>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dirty="0"/>
          </a:p>
        </p:txBody>
      </p:sp>
      <p:grpSp>
        <p:nvGrpSpPr>
          <p:cNvPr id="11" name="Group 10">
            <a:extLst>
              <a:ext uri="{FF2B5EF4-FFF2-40B4-BE49-F238E27FC236}">
                <a16:creationId xmlns:a16="http://schemas.microsoft.com/office/drawing/2014/main" id="{AE9ADE75-6973-43E5-A5E5-C73FAA64A8D3}"/>
              </a:ext>
            </a:extLst>
          </p:cNvPr>
          <p:cNvGrpSpPr/>
          <p:nvPr userDrawn="1"/>
        </p:nvGrpSpPr>
        <p:grpSpPr>
          <a:xfrm>
            <a:off x="3657600" y="445112"/>
            <a:ext cx="368300" cy="746490"/>
            <a:chOff x="0" y="415872"/>
            <a:chExt cx="368300" cy="746490"/>
          </a:xfrm>
        </p:grpSpPr>
        <p:sp>
          <p:nvSpPr>
            <p:cNvPr id="13" name="Freeform: Shape 12">
              <a:extLst>
                <a:ext uri="{FF2B5EF4-FFF2-40B4-BE49-F238E27FC236}">
                  <a16:creationId xmlns:a16="http://schemas.microsoft.com/office/drawing/2014/main" id="{0BCC7A88-3E81-41A9-BE87-E6D48B19D7E2}"/>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dirty="0"/>
            </a:p>
          </p:txBody>
        </p:sp>
        <p:grpSp>
          <p:nvGrpSpPr>
            <p:cNvPr id="14" name="Group 13">
              <a:extLst>
                <a:ext uri="{FF2B5EF4-FFF2-40B4-BE49-F238E27FC236}">
                  <a16:creationId xmlns:a16="http://schemas.microsoft.com/office/drawing/2014/main" id="{78E85866-BFA6-443A-A892-469B61A3AFF2}"/>
                </a:ext>
              </a:extLst>
            </p:cNvPr>
            <p:cNvGrpSpPr/>
            <p:nvPr/>
          </p:nvGrpSpPr>
          <p:grpSpPr>
            <a:xfrm>
              <a:off x="78324" y="605745"/>
              <a:ext cx="121701" cy="361477"/>
              <a:chOff x="-12442" y="1663700"/>
              <a:chExt cx="1761630" cy="5232400"/>
            </a:xfrm>
          </p:grpSpPr>
          <p:sp>
            <p:nvSpPr>
              <p:cNvPr id="15" name="Freeform 5">
                <a:extLst>
                  <a:ext uri="{FF2B5EF4-FFF2-40B4-BE49-F238E27FC236}">
                    <a16:creationId xmlns:a16="http://schemas.microsoft.com/office/drawing/2014/main" id="{B430C14F-CB1F-4CEE-9B91-FFAEB3609D44}"/>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tx1"/>
                  </a:solidFill>
                </a:endParaRPr>
              </a:p>
            </p:txBody>
          </p:sp>
          <p:sp>
            <p:nvSpPr>
              <p:cNvPr id="16" name="Freeform 6">
                <a:extLst>
                  <a:ext uri="{FF2B5EF4-FFF2-40B4-BE49-F238E27FC236}">
                    <a16:creationId xmlns:a16="http://schemas.microsoft.com/office/drawing/2014/main" id="{F06A3196-F07E-44B7-A538-72649FE99C84}"/>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tx1"/>
                  </a:solidFill>
                </a:endParaRPr>
              </a:p>
            </p:txBody>
          </p:sp>
        </p:grpSp>
      </p:grpSp>
      <p:sp>
        <p:nvSpPr>
          <p:cNvPr id="4" name="Title 3">
            <a:extLst>
              <a:ext uri="{FF2B5EF4-FFF2-40B4-BE49-F238E27FC236}">
                <a16:creationId xmlns:a16="http://schemas.microsoft.com/office/drawing/2014/main" id="{832148D3-C9A7-4EA0-9252-3D0008D222CB}"/>
              </a:ext>
            </a:extLst>
          </p:cNvPr>
          <p:cNvSpPr>
            <a:spLocks noGrp="1"/>
          </p:cNvSpPr>
          <p:nvPr>
            <p:ph type="title"/>
          </p:nvPr>
        </p:nvSpPr>
        <p:spPr>
          <a:xfrm>
            <a:off x="4393379" y="275771"/>
            <a:ext cx="7100119" cy="1085172"/>
          </a:xfrm>
        </p:spPr>
        <p:txBody>
          <a:bodyPr/>
          <a:lstStyle/>
          <a:p>
            <a:r>
              <a:rPr lang="en-US"/>
              <a:t>Click to edit Master title style</a:t>
            </a:r>
            <a:endParaRPr lang="en-GB"/>
          </a:p>
        </p:txBody>
      </p:sp>
      <p:sp>
        <p:nvSpPr>
          <p:cNvPr id="17" name="Content Placeholder 15">
            <a:extLst>
              <a:ext uri="{FF2B5EF4-FFF2-40B4-BE49-F238E27FC236}">
                <a16:creationId xmlns:a16="http://schemas.microsoft.com/office/drawing/2014/main" id="{A11C52F5-48D0-4855-B28C-0BD5E409C5B3}"/>
              </a:ext>
            </a:extLst>
          </p:cNvPr>
          <p:cNvSpPr>
            <a:spLocks noGrp="1"/>
          </p:cNvSpPr>
          <p:nvPr>
            <p:ph sz="quarter" idx="16"/>
          </p:nvPr>
        </p:nvSpPr>
        <p:spPr>
          <a:xfrm>
            <a:off x="4393379" y="1748712"/>
            <a:ext cx="7100121"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3041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mp; Right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585246-1954-427D-B255-C25001135C7B}"/>
              </a:ext>
            </a:extLst>
          </p:cNvPr>
          <p:cNvSpPr>
            <a:spLocks noGrp="1"/>
          </p:cNvSpPr>
          <p:nvPr>
            <p:ph type="pic" sz="quarter" idx="15"/>
          </p:nvPr>
        </p:nvSpPr>
        <p:spPr>
          <a:xfrm>
            <a:off x="8534400" y="0"/>
            <a:ext cx="3657600" cy="6858000"/>
          </a:xfrm>
          <a:solidFill>
            <a:schemeClr val="bg1">
              <a:lumMod val="95000"/>
            </a:schemeClr>
          </a:solidFill>
        </p:spPr>
        <p:txBody>
          <a:bodyPr anchor="ctr"/>
          <a:lstStyle>
            <a:lvl1pPr algn="ctr">
              <a:defRPr>
                <a:solidFill>
                  <a:schemeClr val="tx1"/>
                </a:solidFill>
              </a:defRPr>
            </a:lvl1pPr>
          </a:lstStyle>
          <a:p>
            <a:endParaRPr lang="en-GB" dirty="0"/>
          </a:p>
        </p:txBody>
      </p:sp>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dirty="0"/>
              <a:t>Go to Insert &gt; Header &amp; Footer to edit footer text</a:t>
            </a:r>
            <a:endParaRPr lang="en-GB" dirty="0"/>
          </a:p>
        </p:txBody>
      </p:sp>
      <p:sp>
        <p:nvSpPr>
          <p:cNvPr id="17" name="Freeform: Shape 16">
            <a:extLst>
              <a:ext uri="{FF2B5EF4-FFF2-40B4-BE49-F238E27FC236}">
                <a16:creationId xmlns:a16="http://schemas.microsoft.com/office/drawing/2014/main" id="{D5BCA6B4-C5FD-4781-B3F1-316CAB213A1A}"/>
              </a:ext>
            </a:extLst>
          </p:cNvPr>
          <p:cNvSpPr>
            <a:spLocks noChangeAspect="1"/>
          </p:cNvSpPr>
          <p:nvPr userDrawn="1"/>
        </p:nvSpPr>
        <p:spPr>
          <a:xfrm flipH="1">
            <a:off x="81788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dirty="0"/>
          </a:p>
        </p:txBody>
      </p:sp>
      <p:sp>
        <p:nvSpPr>
          <p:cNvPr id="18" name="Slide Number Placeholder 5">
            <a:extLst>
              <a:ext uri="{FF2B5EF4-FFF2-40B4-BE49-F238E27FC236}">
                <a16:creationId xmlns:a16="http://schemas.microsoft.com/office/drawing/2014/main" id="{03805916-7BFC-4FAD-BE47-414CDF4220FE}"/>
              </a:ext>
            </a:extLst>
          </p:cNvPr>
          <p:cNvSpPr>
            <a:spLocks noGrp="1"/>
          </p:cNvSpPr>
          <p:nvPr>
            <p:ph type="sldNum" sz="quarter" idx="4"/>
          </p:nvPr>
        </p:nvSpPr>
        <p:spPr>
          <a:xfrm>
            <a:off x="8140700" y="635795"/>
            <a:ext cx="368300" cy="365125"/>
          </a:xfrm>
          <a:prstGeom prst="rect">
            <a:avLst/>
          </a:prstGeom>
        </p:spPr>
        <p:txBody>
          <a:bodyPr vert="horz" lIns="0" tIns="0" rIns="0" bIns="0" rtlCol="0" anchor="ctr"/>
          <a:lstStyle>
            <a:lvl1pPr algn="r">
              <a:defRPr sz="1050">
                <a:solidFill>
                  <a:schemeClr val="bg1"/>
                </a:solidFill>
              </a:defRPr>
            </a:lvl1pPr>
          </a:lstStyle>
          <a:p>
            <a:fld id="{FAEEC637-5006-4E50-A83C-29CEB747C05F}" type="slidenum">
              <a:rPr lang="en-GB" smtClean="0"/>
              <a:pPr/>
              <a:t>‹#›</a:t>
            </a:fld>
            <a:endParaRPr lang="en-GB" dirty="0"/>
          </a:p>
        </p:txBody>
      </p:sp>
      <p:sp>
        <p:nvSpPr>
          <p:cNvPr id="4" name="Title 3">
            <a:extLst>
              <a:ext uri="{FF2B5EF4-FFF2-40B4-BE49-F238E27FC236}">
                <a16:creationId xmlns:a16="http://schemas.microsoft.com/office/drawing/2014/main" id="{31608B16-B6FA-4F3E-8353-0A541E8BE5F1}"/>
              </a:ext>
            </a:extLst>
          </p:cNvPr>
          <p:cNvSpPr>
            <a:spLocks noGrp="1"/>
          </p:cNvSpPr>
          <p:nvPr>
            <p:ph type="title"/>
          </p:nvPr>
        </p:nvSpPr>
        <p:spPr>
          <a:xfrm>
            <a:off x="710381" y="275771"/>
            <a:ext cx="7100118" cy="1085172"/>
          </a:xfrm>
        </p:spPr>
        <p:txBody>
          <a:bodyPr/>
          <a:lstStyle/>
          <a:p>
            <a:r>
              <a:rPr lang="en-US"/>
              <a:t>Click to edit Master title style</a:t>
            </a:r>
            <a:endParaRPr lang="en-GB"/>
          </a:p>
        </p:txBody>
      </p:sp>
      <p:sp>
        <p:nvSpPr>
          <p:cNvPr id="22" name="Content Placeholder 15">
            <a:extLst>
              <a:ext uri="{FF2B5EF4-FFF2-40B4-BE49-F238E27FC236}">
                <a16:creationId xmlns:a16="http://schemas.microsoft.com/office/drawing/2014/main" id="{CB4E58A0-1EA8-4DBE-B28A-67728CEC13EC}"/>
              </a:ext>
            </a:extLst>
          </p:cNvPr>
          <p:cNvSpPr>
            <a:spLocks noGrp="1"/>
          </p:cNvSpPr>
          <p:nvPr>
            <p:ph sz="quarter" idx="16"/>
          </p:nvPr>
        </p:nvSpPr>
        <p:spPr>
          <a:xfrm>
            <a:off x="710381" y="1748712"/>
            <a:ext cx="7100121"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59889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Quote or Statement">
    <p:spTree>
      <p:nvGrpSpPr>
        <p:cNvPr id="1" name=""/>
        <p:cNvGrpSpPr/>
        <p:nvPr/>
      </p:nvGrpSpPr>
      <p:grpSpPr>
        <a:xfrm>
          <a:off x="0" y="0"/>
          <a:ext cx="0" cy="0"/>
          <a:chOff x="0" y="0"/>
          <a:chExt cx="0" cy="0"/>
        </a:xfrm>
      </p:grpSpPr>
      <p:pic>
        <p:nvPicPr>
          <p:cNvPr id="18" name="Picture 17" descr="A picture containing outdoor&#10;&#10;Description generated with very high confidence">
            <a:extLst>
              <a:ext uri="{FF2B5EF4-FFF2-40B4-BE49-F238E27FC236}">
                <a16:creationId xmlns:a16="http://schemas.microsoft.com/office/drawing/2014/main" id="{9596B830-8529-46BF-BF6A-67DB63FB05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Rectangle 18">
            <a:extLst>
              <a:ext uri="{FF2B5EF4-FFF2-40B4-BE49-F238E27FC236}">
                <a16:creationId xmlns:a16="http://schemas.microsoft.com/office/drawing/2014/main" id="{AE6AEA2D-94B1-4669-B3E4-612302B88B9D}"/>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Footer Placeholder 2">
            <a:extLst>
              <a:ext uri="{FF2B5EF4-FFF2-40B4-BE49-F238E27FC236}">
                <a16:creationId xmlns:a16="http://schemas.microsoft.com/office/drawing/2014/main" id="{709C8322-D2BC-4FB2-81D0-54CD35257875}"/>
              </a:ext>
            </a:extLst>
          </p:cNvPr>
          <p:cNvSpPr>
            <a:spLocks noGrp="1"/>
          </p:cNvSpPr>
          <p:nvPr>
            <p:ph type="ftr" sz="quarter" idx="10"/>
          </p:nvPr>
        </p:nvSpPr>
        <p:spPr/>
        <p:txBody>
          <a:bodyPr/>
          <a:lstStyle/>
          <a:p>
            <a:r>
              <a:rPr lang="en-US" dirty="0"/>
              <a:t>Go to Insert &gt; Header &amp; Footer to edit footer text</a:t>
            </a:r>
            <a:endParaRPr lang="en-GB" dirty="0"/>
          </a:p>
        </p:txBody>
      </p:sp>
      <p:sp>
        <p:nvSpPr>
          <p:cNvPr id="17" name="Freeform: Shape 16">
            <a:extLst>
              <a:ext uri="{FF2B5EF4-FFF2-40B4-BE49-F238E27FC236}">
                <a16:creationId xmlns:a16="http://schemas.microsoft.com/office/drawing/2014/main" id="{A8D4B3AC-666F-4E9E-B904-F633D547596C}"/>
              </a:ext>
            </a:extLst>
          </p:cNvPr>
          <p:cNvSpPr/>
          <p:nvPr userDrawn="1"/>
        </p:nvSpPr>
        <p:spPr>
          <a:xfrm>
            <a:off x="698501" y="1884731"/>
            <a:ext cx="11493499" cy="3327398"/>
          </a:xfrm>
          <a:custGeom>
            <a:avLst/>
            <a:gdLst>
              <a:gd name="connsiteX0" fmla="*/ 1663699 w 11493499"/>
              <a:gd name="connsiteY0" fmla="*/ 0 h 3327398"/>
              <a:gd name="connsiteX1" fmla="*/ 11493499 w 11493499"/>
              <a:gd name="connsiteY1" fmla="*/ 0 h 3327398"/>
              <a:gd name="connsiteX2" fmla="*/ 11493499 w 11493499"/>
              <a:gd name="connsiteY2" fmla="*/ 3327398 h 3327398"/>
              <a:gd name="connsiteX3" fmla="*/ 1663699 w 11493499"/>
              <a:gd name="connsiteY3" fmla="*/ 3327398 h 3327398"/>
              <a:gd name="connsiteX4" fmla="*/ 0 w 11493499"/>
              <a:gd name="connsiteY4" fmla="*/ 1663699 h 3327398"/>
              <a:gd name="connsiteX5" fmla="*/ 1663699 w 11493499"/>
              <a:gd name="connsiteY5" fmla="*/ 0 h 332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3499" h="3327398">
                <a:moveTo>
                  <a:pt x="1663699" y="0"/>
                </a:moveTo>
                <a:lnTo>
                  <a:pt x="11493499" y="0"/>
                </a:lnTo>
                <a:lnTo>
                  <a:pt x="11493499" y="3327398"/>
                </a:lnTo>
                <a:lnTo>
                  <a:pt x="1663699" y="3327398"/>
                </a:lnTo>
                <a:cubicBezTo>
                  <a:pt x="744863" y="3327398"/>
                  <a:pt x="0" y="2582535"/>
                  <a:pt x="0" y="1663699"/>
                </a:cubicBezTo>
                <a:cubicBezTo>
                  <a:pt x="0" y="744863"/>
                  <a:pt x="744863" y="0"/>
                  <a:pt x="1663699"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 name="Picture Placeholder 12">
            <a:extLst>
              <a:ext uri="{FF2B5EF4-FFF2-40B4-BE49-F238E27FC236}">
                <a16:creationId xmlns:a16="http://schemas.microsoft.com/office/drawing/2014/main" id="{7F595A26-9317-4CC6-BE9B-BCC5CE1C0790}"/>
              </a:ext>
            </a:extLst>
          </p:cNvPr>
          <p:cNvSpPr>
            <a:spLocks noGrp="1"/>
          </p:cNvSpPr>
          <p:nvPr>
            <p:ph type="pic" sz="quarter" idx="12"/>
          </p:nvPr>
        </p:nvSpPr>
        <p:spPr>
          <a:xfrm>
            <a:off x="688875" y="1885230"/>
            <a:ext cx="3348000" cy="3326400"/>
          </a:xfrm>
          <a:custGeom>
            <a:avLst/>
            <a:gdLst>
              <a:gd name="connsiteX0" fmla="*/ 1663200 w 3326400"/>
              <a:gd name="connsiteY0" fmla="*/ 0 h 3326400"/>
              <a:gd name="connsiteX1" fmla="*/ 3326400 w 3326400"/>
              <a:gd name="connsiteY1" fmla="*/ 1663200 h 3326400"/>
              <a:gd name="connsiteX2" fmla="*/ 1663200 w 3326400"/>
              <a:gd name="connsiteY2" fmla="*/ 3326400 h 3326400"/>
              <a:gd name="connsiteX3" fmla="*/ 0 w 3326400"/>
              <a:gd name="connsiteY3" fmla="*/ 1663200 h 3326400"/>
              <a:gd name="connsiteX4" fmla="*/ 1663200 w 3326400"/>
              <a:gd name="connsiteY4" fmla="*/ 0 h 332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6400" h="3326400">
                <a:moveTo>
                  <a:pt x="1663200" y="0"/>
                </a:moveTo>
                <a:cubicBezTo>
                  <a:pt x="2581760" y="0"/>
                  <a:pt x="3326400" y="744640"/>
                  <a:pt x="3326400" y="1663200"/>
                </a:cubicBezTo>
                <a:cubicBezTo>
                  <a:pt x="3326400" y="2581760"/>
                  <a:pt x="2581760" y="3326400"/>
                  <a:pt x="1663200" y="3326400"/>
                </a:cubicBezTo>
                <a:cubicBezTo>
                  <a:pt x="744640" y="3326400"/>
                  <a:pt x="0" y="2581760"/>
                  <a:pt x="0" y="1663200"/>
                </a:cubicBezTo>
                <a:cubicBezTo>
                  <a:pt x="0" y="744640"/>
                  <a:pt x="744640" y="0"/>
                  <a:pt x="1663200"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en-GB" dirty="0"/>
          </a:p>
        </p:txBody>
      </p:sp>
      <p:sp>
        <p:nvSpPr>
          <p:cNvPr id="15" name="Text Placeholder 14">
            <a:extLst>
              <a:ext uri="{FF2B5EF4-FFF2-40B4-BE49-F238E27FC236}">
                <a16:creationId xmlns:a16="http://schemas.microsoft.com/office/drawing/2014/main" id="{DE5A9667-5612-4B76-B61A-FB5335E7C461}"/>
              </a:ext>
            </a:extLst>
          </p:cNvPr>
          <p:cNvSpPr>
            <a:spLocks noGrp="1"/>
          </p:cNvSpPr>
          <p:nvPr>
            <p:ph type="body" sz="quarter" idx="13"/>
          </p:nvPr>
        </p:nvSpPr>
        <p:spPr>
          <a:xfrm>
            <a:off x="4584700" y="2291130"/>
            <a:ext cx="6908799" cy="2514600"/>
          </a:xfrm>
        </p:spPr>
        <p:txBody>
          <a:bodyPr anchor="ctr">
            <a:normAutofit/>
          </a:bodyPr>
          <a:lstStyle>
            <a:lvl1pPr>
              <a:defRPr sz="3600">
                <a:solidFill>
                  <a:schemeClr val="bg1"/>
                </a:solidFill>
              </a:defRPr>
            </a:lvl1pPr>
          </a:lstStyle>
          <a:p>
            <a:pPr lvl="0"/>
            <a:r>
              <a:rPr lang="en-US"/>
              <a:t>Edit Master text styles</a:t>
            </a:r>
          </a:p>
        </p:txBody>
      </p:sp>
      <p:sp>
        <p:nvSpPr>
          <p:cNvPr id="20" name="Freeform: Shape 19">
            <a:extLst>
              <a:ext uri="{FF2B5EF4-FFF2-40B4-BE49-F238E27FC236}">
                <a16:creationId xmlns:a16="http://schemas.microsoft.com/office/drawing/2014/main" id="{49A37327-6163-44BA-97B3-2D3415A4DE61}"/>
              </a:ext>
            </a:extLst>
          </p:cNvPr>
          <p:cNvSpPr>
            <a:spLocks noChangeAspect="1"/>
          </p:cNvSpPr>
          <p:nvPr userDrawn="1"/>
        </p:nvSpPr>
        <p:spPr>
          <a:xfrm flipH="1">
            <a:off x="118237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dirty="0"/>
          </a:p>
        </p:txBody>
      </p:sp>
      <p:grpSp>
        <p:nvGrpSpPr>
          <p:cNvPr id="21" name="Group 20">
            <a:extLst>
              <a:ext uri="{FF2B5EF4-FFF2-40B4-BE49-F238E27FC236}">
                <a16:creationId xmlns:a16="http://schemas.microsoft.com/office/drawing/2014/main" id="{8DDAD210-C494-48B6-95BE-8C9B9DB75551}"/>
              </a:ext>
            </a:extLst>
          </p:cNvPr>
          <p:cNvGrpSpPr/>
          <p:nvPr userDrawn="1"/>
        </p:nvGrpSpPr>
        <p:grpSpPr>
          <a:xfrm>
            <a:off x="0" y="445112"/>
            <a:ext cx="368300" cy="746490"/>
            <a:chOff x="0" y="415872"/>
            <a:chExt cx="368300" cy="746490"/>
          </a:xfrm>
        </p:grpSpPr>
        <p:sp>
          <p:nvSpPr>
            <p:cNvPr id="22" name="Freeform: Shape 21">
              <a:extLst>
                <a:ext uri="{FF2B5EF4-FFF2-40B4-BE49-F238E27FC236}">
                  <a16:creationId xmlns:a16="http://schemas.microsoft.com/office/drawing/2014/main" id="{A15C7EC2-27C0-44C8-AF3E-AD0C8FE81E69}"/>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dirty="0"/>
            </a:p>
          </p:txBody>
        </p:sp>
        <p:grpSp>
          <p:nvGrpSpPr>
            <p:cNvPr id="23" name="Group 22">
              <a:extLst>
                <a:ext uri="{FF2B5EF4-FFF2-40B4-BE49-F238E27FC236}">
                  <a16:creationId xmlns:a16="http://schemas.microsoft.com/office/drawing/2014/main" id="{EE8BA3DF-3DB6-4B5C-8BDA-1337AA8E1FAE}"/>
                </a:ext>
              </a:extLst>
            </p:cNvPr>
            <p:cNvGrpSpPr/>
            <p:nvPr/>
          </p:nvGrpSpPr>
          <p:grpSpPr>
            <a:xfrm>
              <a:off x="78324" y="605745"/>
              <a:ext cx="121701" cy="361477"/>
              <a:chOff x="-12442" y="1663700"/>
              <a:chExt cx="1761630" cy="5232400"/>
            </a:xfrm>
          </p:grpSpPr>
          <p:sp>
            <p:nvSpPr>
              <p:cNvPr id="24" name="Freeform 5">
                <a:extLst>
                  <a:ext uri="{FF2B5EF4-FFF2-40B4-BE49-F238E27FC236}">
                    <a16:creationId xmlns:a16="http://schemas.microsoft.com/office/drawing/2014/main" id="{F92DBA50-E586-417D-ACE8-E9328CAD1DB3}"/>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tx1"/>
                  </a:solidFill>
                </a:endParaRPr>
              </a:p>
            </p:txBody>
          </p:sp>
          <p:sp>
            <p:nvSpPr>
              <p:cNvPr id="25" name="Freeform 6">
                <a:extLst>
                  <a:ext uri="{FF2B5EF4-FFF2-40B4-BE49-F238E27FC236}">
                    <a16:creationId xmlns:a16="http://schemas.microsoft.com/office/drawing/2014/main" id="{CCD4F696-0109-496D-8830-21B98FFAB290}"/>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tx1"/>
                  </a:solidFill>
                </a:endParaRPr>
              </a:p>
            </p:txBody>
          </p:sp>
        </p:grpSp>
      </p:grpSp>
      <p:sp>
        <p:nvSpPr>
          <p:cNvPr id="4" name="Slide Number Placeholder 3">
            <a:extLst>
              <a:ext uri="{FF2B5EF4-FFF2-40B4-BE49-F238E27FC236}">
                <a16:creationId xmlns:a16="http://schemas.microsoft.com/office/drawing/2014/main" id="{5FD8AA36-DC02-4C10-B19F-8CC1013CFC9D}"/>
              </a:ext>
            </a:extLst>
          </p:cNvPr>
          <p:cNvSpPr>
            <a:spLocks noGrp="1"/>
          </p:cNvSpPr>
          <p:nvPr>
            <p:ph type="sldNum" sz="quarter" idx="11"/>
          </p:nvPr>
        </p:nvSpPr>
        <p:spPr/>
        <p:txBody>
          <a:bodyPr/>
          <a:lstStyle/>
          <a:p>
            <a:fld id="{FAEEC637-5006-4E50-A83C-29CEB747C05F}" type="slidenum">
              <a:rPr lang="en-GB" smtClean="0"/>
              <a:pPr/>
              <a:t>‹#›</a:t>
            </a:fld>
            <a:endParaRPr lang="en-GB" dirty="0"/>
          </a:p>
        </p:txBody>
      </p:sp>
    </p:spTree>
    <p:extLst>
      <p:ext uri="{BB962C8B-B14F-4D97-AF65-F5344CB8AC3E}">
        <p14:creationId xmlns:p14="http://schemas.microsoft.com/office/powerpoint/2010/main" val="149466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1500-00F8-4965-84B4-14C20B61B64D}"/>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ACB3732C-FC7F-4DE3-88A8-A46C602C6181}"/>
              </a:ext>
            </a:extLst>
          </p:cNvPr>
          <p:cNvSpPr>
            <a:spLocks noGrp="1"/>
          </p:cNvSpPr>
          <p:nvPr>
            <p:ph type="ftr" sz="quarter" idx="11"/>
          </p:nvPr>
        </p:nvSpPr>
        <p:spPr/>
        <p:txBody>
          <a:bodyPr/>
          <a:lstStyle/>
          <a:p>
            <a:r>
              <a:rPr lang="en-US" dirty="0"/>
              <a:t>Go to Insert &gt; Header &amp; Footer to edit footer text</a:t>
            </a:r>
            <a:endParaRPr lang="en-GB" dirty="0"/>
          </a:p>
        </p:txBody>
      </p:sp>
      <p:sp>
        <p:nvSpPr>
          <p:cNvPr id="5" name="Slide Number Placeholder 4">
            <a:extLst>
              <a:ext uri="{FF2B5EF4-FFF2-40B4-BE49-F238E27FC236}">
                <a16:creationId xmlns:a16="http://schemas.microsoft.com/office/drawing/2014/main" id="{83506D75-FF9B-4780-94C9-D353E2FAEE5F}"/>
              </a:ext>
            </a:extLst>
          </p:cNvPr>
          <p:cNvSpPr>
            <a:spLocks noGrp="1"/>
          </p:cNvSpPr>
          <p:nvPr>
            <p:ph type="sldNum" sz="quarter" idx="12"/>
          </p:nvPr>
        </p:nvSpPr>
        <p:spPr/>
        <p:txBody>
          <a:bodyPr/>
          <a:lstStyle/>
          <a:p>
            <a:fld id="{FAEEC637-5006-4E50-A83C-29CEB747C05F}" type="slidenum">
              <a:rPr lang="en-GB" smtClean="0"/>
              <a:t>‹#›</a:t>
            </a:fld>
            <a:endParaRPr lang="en-GB" dirty="0"/>
          </a:p>
        </p:txBody>
      </p:sp>
    </p:spTree>
    <p:extLst>
      <p:ext uri="{BB962C8B-B14F-4D97-AF65-F5344CB8AC3E}">
        <p14:creationId xmlns:p14="http://schemas.microsoft.com/office/powerpoint/2010/main" val="1676031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EEF98BD-1ACC-47C2-B49D-F62045976874}"/>
              </a:ext>
            </a:extLst>
          </p:cNvPr>
          <p:cNvSpPr>
            <a:spLocks noGrp="1"/>
          </p:cNvSpPr>
          <p:nvPr>
            <p:ph type="ftr" sz="quarter" idx="11"/>
          </p:nvPr>
        </p:nvSpPr>
        <p:spPr/>
        <p:txBody>
          <a:bodyPr/>
          <a:lstStyle/>
          <a:p>
            <a:r>
              <a:rPr lang="en-US" dirty="0"/>
              <a:t>Go to Insert &gt; Header &amp; Footer to edit footer text</a:t>
            </a:r>
            <a:endParaRPr lang="en-GB" dirty="0"/>
          </a:p>
        </p:txBody>
      </p:sp>
      <p:sp>
        <p:nvSpPr>
          <p:cNvPr id="4" name="Slide Number Placeholder 3">
            <a:extLst>
              <a:ext uri="{FF2B5EF4-FFF2-40B4-BE49-F238E27FC236}">
                <a16:creationId xmlns:a16="http://schemas.microsoft.com/office/drawing/2014/main" id="{FD5A0906-AC26-44F3-9B49-2006953D6072}"/>
              </a:ext>
            </a:extLst>
          </p:cNvPr>
          <p:cNvSpPr>
            <a:spLocks noGrp="1"/>
          </p:cNvSpPr>
          <p:nvPr>
            <p:ph type="sldNum" sz="quarter" idx="12"/>
          </p:nvPr>
        </p:nvSpPr>
        <p:spPr/>
        <p:txBody>
          <a:bodyPr/>
          <a:lstStyle/>
          <a:p>
            <a:fld id="{FAEEC637-5006-4E50-A83C-29CEB747C05F}" type="slidenum">
              <a:rPr lang="en-GB" smtClean="0"/>
              <a:t>‹#›</a:t>
            </a:fld>
            <a:endParaRPr lang="en-GB" dirty="0"/>
          </a:p>
        </p:txBody>
      </p:sp>
    </p:spTree>
    <p:extLst>
      <p:ext uri="{BB962C8B-B14F-4D97-AF65-F5344CB8AC3E}">
        <p14:creationId xmlns:p14="http://schemas.microsoft.com/office/powerpoint/2010/main" val="3000686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hank You">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BB1815A-B3AC-4EED-B654-8903A2CE163E}"/>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n>
                <a:solidFill>
                  <a:schemeClr val="bg1"/>
                </a:solidFill>
              </a:ln>
              <a:solidFill>
                <a:schemeClr val="bg1"/>
              </a:solidFill>
            </a:endParaRPr>
          </a:p>
        </p:txBody>
      </p:sp>
      <p:pic>
        <p:nvPicPr>
          <p:cNvPr id="6" name="Picture 5" descr="A picture containing outdoor&#10;&#10;Description generated with very high confidence">
            <a:extLst>
              <a:ext uri="{FF2B5EF4-FFF2-40B4-BE49-F238E27FC236}">
                <a16:creationId xmlns:a16="http://schemas.microsoft.com/office/drawing/2014/main" id="{353441D7-B154-431A-A906-AE049925AF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FB89681C-A500-41B3-AEC8-006EF607E575}"/>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24DE3A14-50CC-4DE7-BC04-ECE2D4476919}"/>
              </a:ext>
            </a:extLst>
          </p:cNvPr>
          <p:cNvSpPr/>
          <p:nvPr userDrawn="1"/>
        </p:nvSpPr>
        <p:spPr>
          <a:xfrm>
            <a:off x="695326" y="2119449"/>
            <a:ext cx="11496674" cy="2645018"/>
          </a:xfrm>
          <a:custGeom>
            <a:avLst/>
            <a:gdLst>
              <a:gd name="connsiteX0" fmla="*/ 1322509 w 11496675"/>
              <a:gd name="connsiteY0" fmla="*/ 0 h 2645018"/>
              <a:gd name="connsiteX1" fmla="*/ 11496675 w 11496675"/>
              <a:gd name="connsiteY1" fmla="*/ 0 h 2645018"/>
              <a:gd name="connsiteX2" fmla="*/ 11496675 w 11496675"/>
              <a:gd name="connsiteY2" fmla="*/ 2645018 h 2645018"/>
              <a:gd name="connsiteX3" fmla="*/ 1322509 w 11496675"/>
              <a:gd name="connsiteY3" fmla="*/ 2645018 h 2645018"/>
              <a:gd name="connsiteX4" fmla="*/ 0 w 11496675"/>
              <a:gd name="connsiteY4" fmla="*/ 1322509 h 2645018"/>
              <a:gd name="connsiteX5" fmla="*/ 1322509 w 11496675"/>
              <a:gd name="connsiteY5" fmla="*/ 0 h 2645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6675" h="2645018">
                <a:moveTo>
                  <a:pt x="1322509" y="0"/>
                </a:moveTo>
                <a:lnTo>
                  <a:pt x="11496675" y="0"/>
                </a:lnTo>
                <a:lnTo>
                  <a:pt x="11496675" y="2645018"/>
                </a:lnTo>
                <a:lnTo>
                  <a:pt x="1322509" y="2645018"/>
                </a:lnTo>
                <a:cubicBezTo>
                  <a:pt x="592109" y="2645018"/>
                  <a:pt x="0" y="2052909"/>
                  <a:pt x="0" y="1322509"/>
                </a:cubicBezTo>
                <a:cubicBezTo>
                  <a:pt x="0" y="592109"/>
                  <a:pt x="592109" y="0"/>
                  <a:pt x="1322509"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GB" dirty="0"/>
          </a:p>
        </p:txBody>
      </p:sp>
      <p:sp>
        <p:nvSpPr>
          <p:cNvPr id="9" name="Oval 8">
            <a:extLst>
              <a:ext uri="{FF2B5EF4-FFF2-40B4-BE49-F238E27FC236}">
                <a16:creationId xmlns:a16="http://schemas.microsoft.com/office/drawing/2014/main" id="{208AB5E0-AFB1-46D0-B888-EFB7A35BC2A2}"/>
              </a:ext>
            </a:extLst>
          </p:cNvPr>
          <p:cNvSpPr/>
          <p:nvPr userDrawn="1"/>
        </p:nvSpPr>
        <p:spPr>
          <a:xfrm>
            <a:off x="905606" y="2329730"/>
            <a:ext cx="2224456" cy="22244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 name="Footer Placeholder 2">
            <a:extLst>
              <a:ext uri="{FF2B5EF4-FFF2-40B4-BE49-F238E27FC236}">
                <a16:creationId xmlns:a16="http://schemas.microsoft.com/office/drawing/2014/main" id="{8EEF98BD-1ACC-47C2-B49D-F62045976874}"/>
              </a:ext>
            </a:extLst>
          </p:cNvPr>
          <p:cNvSpPr>
            <a:spLocks noGrp="1"/>
          </p:cNvSpPr>
          <p:nvPr>
            <p:ph type="ftr" sz="quarter" idx="11"/>
          </p:nvPr>
        </p:nvSpPr>
        <p:spPr/>
        <p:txBody>
          <a:bodyPr/>
          <a:lstStyle/>
          <a:p>
            <a:r>
              <a:rPr lang="en-US" dirty="0"/>
              <a:t>Go to Insert &gt; Header &amp; Footer to edit footer text</a:t>
            </a:r>
            <a:endParaRPr lang="en-GB" dirty="0"/>
          </a:p>
        </p:txBody>
      </p:sp>
      <p:sp>
        <p:nvSpPr>
          <p:cNvPr id="11" name="Rectangle 10">
            <a:extLst>
              <a:ext uri="{FF2B5EF4-FFF2-40B4-BE49-F238E27FC236}">
                <a16:creationId xmlns:a16="http://schemas.microsoft.com/office/drawing/2014/main" id="{E50116F5-C21D-4DA9-892D-50392E4BD607}"/>
              </a:ext>
            </a:extLst>
          </p:cNvPr>
          <p:cNvSpPr/>
          <p:nvPr userDrawn="1"/>
        </p:nvSpPr>
        <p:spPr>
          <a:xfrm>
            <a:off x="3522951" y="2657128"/>
            <a:ext cx="7973723" cy="1569660"/>
          </a:xfrm>
          <a:prstGeom prst="rect">
            <a:avLst/>
          </a:prstGeom>
        </p:spPr>
        <p:txBody>
          <a:bodyPr wrap="square">
            <a:spAutoFit/>
          </a:bodyPr>
          <a:lstStyle/>
          <a:p>
            <a:pPr algn="ctr" defTabSz="914400" rtl="0" eaLnBrk="1" latinLnBrk="0" hangingPunct="1">
              <a:lnSpc>
                <a:spcPct val="100000"/>
              </a:lnSpc>
              <a:spcBef>
                <a:spcPct val="0"/>
              </a:spcBef>
              <a:buNone/>
            </a:pPr>
            <a:r>
              <a:rPr lang="en-US" sz="9600" b="1" kern="1200" cap="all" baseline="0" noProof="0" dirty="0">
                <a:solidFill>
                  <a:schemeClr val="bg2"/>
                </a:solidFill>
                <a:latin typeface="+mj-lt"/>
                <a:ea typeface="+mj-ea"/>
                <a:cs typeface="+mj-cs"/>
              </a:rPr>
              <a:t>THANK YOU</a:t>
            </a:r>
            <a:endParaRPr lang="en-US" sz="9600" b="1" kern="1200" cap="all" baseline="0" dirty="0">
              <a:solidFill>
                <a:schemeClr val="bg2"/>
              </a:solidFill>
              <a:latin typeface="+mj-lt"/>
              <a:ea typeface="+mj-ea"/>
              <a:cs typeface="+mj-cs"/>
            </a:endParaRPr>
          </a:p>
        </p:txBody>
      </p:sp>
      <p:pic>
        <p:nvPicPr>
          <p:cNvPr id="10" name="Picture 9">
            <a:extLst>
              <a:ext uri="{FF2B5EF4-FFF2-40B4-BE49-F238E27FC236}">
                <a16:creationId xmlns:a16="http://schemas.microsoft.com/office/drawing/2014/main" id="{1DCE2996-6646-445A-9880-B094B54B8E8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flipH="1" flipV="1">
            <a:off x="1168246" y="2573517"/>
            <a:ext cx="1699176" cy="1699174"/>
          </a:xfrm>
          <a:prstGeom prst="rect">
            <a:avLst/>
          </a:prstGeom>
        </p:spPr>
      </p:pic>
    </p:spTree>
    <p:extLst>
      <p:ext uri="{BB962C8B-B14F-4D97-AF65-F5344CB8AC3E}">
        <p14:creationId xmlns:p14="http://schemas.microsoft.com/office/powerpoint/2010/main" val="592776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EXT FULL WIDTH">
    <p:bg>
      <p:bgPr>
        <a:solidFill>
          <a:schemeClr val="bg1"/>
        </a:solidFill>
        <a:effectLst/>
      </p:bgPr>
    </p:bg>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dirty="0"/>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1" name="Text Placeholder 14">
            <a:extLst>
              <a:ext uri="{FF2B5EF4-FFF2-40B4-BE49-F238E27FC236}">
                <a16:creationId xmlns:a16="http://schemas.microsoft.com/office/drawing/2014/main" id="{6502E452-DD04-A942-B9C7-FB3B968F6231}"/>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dirty="0"/>
              <a:t>Header</a:t>
            </a:r>
            <a:endParaRPr lang="en-US" dirty="0"/>
          </a:p>
        </p:txBody>
      </p:sp>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Duis at </a:t>
            </a:r>
            <a:r>
              <a:rPr lang="en-GB" dirty="0" err="1"/>
              <a:t>commodo</a:t>
            </a:r>
            <a:r>
              <a:rPr lang="en-GB" dirty="0"/>
              <a:t> </a:t>
            </a:r>
            <a:r>
              <a:rPr lang="en-GB" dirty="0" err="1"/>
              <a:t>neque</a:t>
            </a:r>
            <a:r>
              <a:rPr lang="en-GB" dirty="0"/>
              <a:t>, non </a:t>
            </a:r>
            <a:r>
              <a:rPr lang="en-GB" dirty="0" err="1"/>
              <a:t>ultrices</a:t>
            </a:r>
            <a:r>
              <a:rPr lang="en-GB" dirty="0"/>
              <a:t> </a:t>
            </a:r>
            <a:r>
              <a:rPr lang="en-GB" dirty="0" err="1"/>
              <a:t>turpis</a:t>
            </a:r>
            <a:r>
              <a:rPr lang="en-GB" dirty="0"/>
              <a:t>. Integer </a:t>
            </a:r>
            <a:r>
              <a:rPr lang="en-GB" dirty="0" err="1"/>
              <a:t>rutrum</a:t>
            </a:r>
            <a:r>
              <a:rPr lang="en-GB" dirty="0"/>
              <a:t> </a:t>
            </a:r>
            <a:r>
              <a:rPr lang="en-GB" dirty="0" err="1"/>
              <a:t>sem</a:t>
            </a:r>
            <a:r>
              <a:rPr lang="en-GB" dirty="0"/>
              <a:t> </a:t>
            </a:r>
            <a:r>
              <a:rPr lang="en-GB" dirty="0" err="1"/>
              <a:t>quis</a:t>
            </a:r>
            <a:r>
              <a:rPr lang="en-GB" dirty="0"/>
              <a:t> </a:t>
            </a:r>
            <a:r>
              <a:rPr lang="en-GB" dirty="0" err="1"/>
              <a:t>neque</a:t>
            </a:r>
            <a:r>
              <a:rPr lang="en-GB" dirty="0"/>
              <a:t> </a:t>
            </a:r>
            <a:r>
              <a:rPr lang="en-GB" dirty="0" err="1"/>
              <a:t>interdum</a:t>
            </a:r>
            <a:r>
              <a:rPr lang="en-GB" dirty="0"/>
              <a:t> </a:t>
            </a:r>
            <a:r>
              <a:rPr lang="en-GB" dirty="0" err="1"/>
              <a:t>egestas</a:t>
            </a:r>
            <a:r>
              <a:rPr lang="en-GB" dirty="0"/>
              <a:t>. </a:t>
            </a:r>
            <a:r>
              <a:rPr lang="en-GB" dirty="0" err="1"/>
              <a:t>Praesent</a:t>
            </a:r>
            <a:r>
              <a:rPr lang="en-GB" dirty="0"/>
              <a:t> </a:t>
            </a:r>
            <a:r>
              <a:rPr lang="en-GB" dirty="0" err="1"/>
              <a:t>nibh</a:t>
            </a:r>
            <a:r>
              <a:rPr lang="en-GB" dirty="0"/>
              <a:t> </a:t>
            </a:r>
            <a:r>
              <a:rPr lang="en-GB" dirty="0" err="1"/>
              <a:t>est</a:t>
            </a:r>
            <a:r>
              <a:rPr lang="en-GB" dirty="0"/>
              <a:t>, </a:t>
            </a:r>
            <a:r>
              <a:rPr lang="en-GB" dirty="0" err="1"/>
              <a:t>pellentesque</a:t>
            </a:r>
            <a:r>
              <a:rPr lang="en-GB" dirty="0"/>
              <a:t> et </a:t>
            </a:r>
            <a:r>
              <a:rPr lang="en-GB" dirty="0" err="1"/>
              <a:t>felis</a:t>
            </a:r>
            <a:r>
              <a:rPr lang="en-GB" dirty="0"/>
              <a:t> </a:t>
            </a:r>
            <a:r>
              <a:rPr lang="en-GB" dirty="0" err="1"/>
              <a:t>vel</a:t>
            </a:r>
            <a:r>
              <a:rPr lang="en-GB" dirty="0"/>
              <a:t>, </a:t>
            </a:r>
            <a:r>
              <a:rPr lang="en-GB" dirty="0" err="1"/>
              <a:t>aliquet</a:t>
            </a:r>
            <a:r>
              <a:rPr lang="en-GB" dirty="0"/>
              <a:t> </a:t>
            </a:r>
            <a:r>
              <a:rPr lang="en-GB" dirty="0" err="1"/>
              <a:t>interdum</a:t>
            </a:r>
            <a:r>
              <a:rPr lang="en-GB" dirty="0"/>
              <a:t> magna.</a:t>
            </a:r>
            <a:endParaRPr lang="en-US" dirty="0"/>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dirty="0">
                <a:solidFill>
                  <a:srgbClr val="231F20"/>
                </a:solidFill>
                <a:latin typeface="Arial"/>
                <a:cs typeface="Arial"/>
              </a:rPr>
              <a:t>Lorem ipsum </a:t>
            </a:r>
            <a:r>
              <a:rPr lang="en-GB" sz="2000" spc="-5" dirty="0" err="1">
                <a:solidFill>
                  <a:srgbClr val="231F20"/>
                </a:solidFill>
                <a:latin typeface="Arial"/>
                <a:cs typeface="Arial"/>
              </a:rPr>
              <a:t>dolor</a:t>
            </a:r>
            <a:r>
              <a:rPr lang="en-GB" sz="2000" spc="-5" dirty="0">
                <a:solidFill>
                  <a:srgbClr val="231F20"/>
                </a:solidFill>
                <a:latin typeface="Arial"/>
                <a:cs typeface="Arial"/>
              </a:rPr>
              <a:t> </a:t>
            </a:r>
            <a:r>
              <a:rPr lang="en-GB" sz="2000" dirty="0">
                <a:solidFill>
                  <a:srgbClr val="231F20"/>
                </a:solidFill>
                <a:latin typeface="Arial"/>
                <a:cs typeface="Arial"/>
              </a:rPr>
              <a:t>sit </a:t>
            </a:r>
            <a:r>
              <a:rPr lang="en-GB" sz="2000" spc="-5" dirty="0" err="1">
                <a:solidFill>
                  <a:srgbClr val="231F20"/>
                </a:solidFill>
                <a:latin typeface="Arial"/>
                <a:cs typeface="Arial"/>
              </a:rPr>
              <a:t>amet</a:t>
            </a:r>
            <a:r>
              <a:rPr lang="en-GB" sz="2000" spc="-5" dirty="0">
                <a:solidFill>
                  <a:srgbClr val="231F20"/>
                </a:solidFill>
                <a:latin typeface="Arial"/>
                <a:cs typeface="Arial"/>
              </a:rPr>
              <a:t>, </a:t>
            </a:r>
            <a:r>
              <a:rPr lang="en-GB" sz="2000" dirty="0" err="1">
                <a:solidFill>
                  <a:srgbClr val="231F20"/>
                </a:solidFill>
                <a:latin typeface="Arial"/>
                <a:cs typeface="Arial"/>
              </a:rPr>
              <a:t>consectetur</a:t>
            </a:r>
            <a:r>
              <a:rPr lang="en-GB" sz="2000" dirty="0">
                <a:solidFill>
                  <a:srgbClr val="231F20"/>
                </a:solidFill>
                <a:latin typeface="Arial"/>
                <a:cs typeface="Arial"/>
              </a:rPr>
              <a:t> ad- </a:t>
            </a:r>
            <a:r>
              <a:rPr lang="en-GB" sz="2000" spc="5" dirty="0">
                <a:solidFill>
                  <a:srgbClr val="231F20"/>
                </a:solidFill>
                <a:latin typeface="Arial"/>
                <a:cs typeface="Arial"/>
              </a:rPr>
              <a:t> </a:t>
            </a:r>
            <a:r>
              <a:rPr lang="en-GB" sz="2000" spc="-5" dirty="0" err="1">
                <a:solidFill>
                  <a:srgbClr val="231F20"/>
                </a:solidFill>
                <a:latin typeface="Arial"/>
                <a:cs typeface="Arial"/>
              </a:rPr>
              <a:t>ipiscing</a:t>
            </a:r>
            <a:r>
              <a:rPr lang="en-GB" sz="2000" spc="-5" dirty="0">
                <a:solidFill>
                  <a:srgbClr val="231F20"/>
                </a:solidFill>
                <a:latin typeface="Arial"/>
                <a:cs typeface="Arial"/>
              </a:rPr>
              <a:t> </a:t>
            </a:r>
            <a:r>
              <a:rPr lang="en-GB" sz="2000" spc="-5" dirty="0" err="1">
                <a:solidFill>
                  <a:srgbClr val="231F20"/>
                </a:solidFill>
                <a:latin typeface="Arial"/>
                <a:cs typeface="Arial"/>
              </a:rPr>
              <a:t>elit</a:t>
            </a:r>
            <a:r>
              <a:rPr lang="en-GB" sz="2000" spc="-5" dirty="0">
                <a:solidFill>
                  <a:srgbClr val="231F20"/>
                </a:solidFill>
                <a:latin typeface="Arial"/>
                <a:cs typeface="Arial"/>
              </a:rPr>
              <a:t>. Duis at </a:t>
            </a:r>
            <a:r>
              <a:rPr lang="en-GB" sz="2000" dirty="0" err="1">
                <a:solidFill>
                  <a:srgbClr val="231F20"/>
                </a:solidFill>
                <a:latin typeface="Arial"/>
                <a:cs typeface="Arial"/>
              </a:rPr>
              <a:t>commodo</a:t>
            </a:r>
            <a:r>
              <a:rPr lang="en-GB" sz="2000" dirty="0">
                <a:solidFill>
                  <a:srgbClr val="231F20"/>
                </a:solidFill>
                <a:latin typeface="Arial"/>
                <a:cs typeface="Arial"/>
              </a:rPr>
              <a:t> </a:t>
            </a:r>
            <a:r>
              <a:rPr lang="en-GB" sz="2000" spc="-5" dirty="0" err="1">
                <a:solidFill>
                  <a:srgbClr val="231F20"/>
                </a:solidFill>
                <a:latin typeface="Arial"/>
                <a:cs typeface="Arial"/>
              </a:rPr>
              <a:t>neque</a:t>
            </a:r>
            <a:r>
              <a:rPr lang="en-GB" sz="2000" spc="-5" dirty="0">
                <a:solidFill>
                  <a:srgbClr val="231F20"/>
                </a:solidFill>
                <a:latin typeface="Arial"/>
                <a:cs typeface="Arial"/>
              </a:rPr>
              <a:t>, non </a:t>
            </a:r>
            <a:r>
              <a:rPr lang="en-GB" sz="2000" dirty="0">
                <a:solidFill>
                  <a:srgbClr val="231F20"/>
                </a:solidFill>
                <a:latin typeface="Arial"/>
                <a:cs typeface="Arial"/>
              </a:rPr>
              <a:t> </a:t>
            </a:r>
            <a:r>
              <a:rPr lang="en-GB" sz="2000" spc="-5" dirty="0" err="1">
                <a:solidFill>
                  <a:srgbClr val="231F20"/>
                </a:solidFill>
                <a:latin typeface="Arial"/>
                <a:cs typeface="Arial"/>
              </a:rPr>
              <a:t>ultrices</a:t>
            </a:r>
            <a:r>
              <a:rPr lang="en-GB" sz="2000" spc="-20" dirty="0">
                <a:solidFill>
                  <a:srgbClr val="231F20"/>
                </a:solidFill>
                <a:latin typeface="Arial"/>
                <a:cs typeface="Arial"/>
              </a:rPr>
              <a:t> </a:t>
            </a:r>
            <a:r>
              <a:rPr lang="en-GB" sz="2000" dirty="0" err="1">
                <a:solidFill>
                  <a:srgbClr val="231F20"/>
                </a:solidFill>
                <a:latin typeface="Arial"/>
                <a:cs typeface="Arial"/>
              </a:rPr>
              <a:t>turpis</a:t>
            </a:r>
            <a:r>
              <a:rPr lang="en-GB" sz="2000" dirty="0">
                <a:solidFill>
                  <a:srgbClr val="231F20"/>
                </a:solidFill>
                <a:latin typeface="Arial"/>
                <a:cs typeface="Arial"/>
              </a:rPr>
              <a:t>.</a:t>
            </a:r>
            <a:r>
              <a:rPr lang="en-GB" sz="2000" spc="-20" dirty="0">
                <a:solidFill>
                  <a:srgbClr val="231F20"/>
                </a:solidFill>
                <a:latin typeface="Arial"/>
                <a:cs typeface="Arial"/>
              </a:rPr>
              <a:t> </a:t>
            </a:r>
            <a:r>
              <a:rPr lang="en-GB" sz="2000" dirty="0">
                <a:solidFill>
                  <a:srgbClr val="231F20"/>
                </a:solidFill>
                <a:latin typeface="Arial"/>
                <a:cs typeface="Arial"/>
              </a:rPr>
              <a:t>Integer</a:t>
            </a:r>
            <a:r>
              <a:rPr lang="en-GB" sz="2000" spc="-20" dirty="0">
                <a:solidFill>
                  <a:srgbClr val="231F20"/>
                </a:solidFill>
                <a:latin typeface="Arial"/>
                <a:cs typeface="Arial"/>
              </a:rPr>
              <a:t> </a:t>
            </a:r>
            <a:r>
              <a:rPr lang="en-GB" sz="2000" dirty="0" err="1">
                <a:solidFill>
                  <a:srgbClr val="231F20"/>
                </a:solidFill>
                <a:latin typeface="Arial"/>
                <a:cs typeface="Arial"/>
              </a:rPr>
              <a:t>rutrum</a:t>
            </a:r>
            <a:r>
              <a:rPr lang="en-GB" sz="2000" spc="-20" dirty="0">
                <a:solidFill>
                  <a:srgbClr val="231F20"/>
                </a:solidFill>
                <a:latin typeface="Arial"/>
                <a:cs typeface="Arial"/>
              </a:rPr>
              <a:t> </a:t>
            </a:r>
            <a:r>
              <a:rPr lang="en-GB" sz="2000" dirty="0" err="1">
                <a:solidFill>
                  <a:srgbClr val="231F20"/>
                </a:solidFill>
                <a:latin typeface="Arial"/>
                <a:cs typeface="Arial"/>
              </a:rPr>
              <a:t>sem</a:t>
            </a:r>
            <a:r>
              <a:rPr lang="en-GB" sz="2000" spc="-20" dirty="0">
                <a:solidFill>
                  <a:srgbClr val="231F20"/>
                </a:solidFill>
                <a:latin typeface="Arial"/>
                <a:cs typeface="Arial"/>
              </a:rPr>
              <a:t> </a:t>
            </a:r>
            <a:r>
              <a:rPr lang="en-GB" sz="2000" spc="-5" dirty="0" err="1">
                <a:solidFill>
                  <a:srgbClr val="231F20"/>
                </a:solidFill>
                <a:latin typeface="Arial"/>
                <a:cs typeface="Arial"/>
              </a:rPr>
              <a:t>quis</a:t>
            </a:r>
            <a:r>
              <a:rPr lang="en-GB" sz="2000" spc="-20" dirty="0">
                <a:solidFill>
                  <a:srgbClr val="231F20"/>
                </a:solidFill>
                <a:latin typeface="Arial"/>
                <a:cs typeface="Arial"/>
              </a:rPr>
              <a:t> </a:t>
            </a:r>
            <a:r>
              <a:rPr lang="en-GB" sz="2000" spc="-5" dirty="0" err="1">
                <a:solidFill>
                  <a:srgbClr val="231F20"/>
                </a:solidFill>
                <a:latin typeface="Arial"/>
                <a:cs typeface="Arial"/>
              </a:rPr>
              <a:t>neque</a:t>
            </a:r>
            <a:r>
              <a:rPr lang="en-GB" sz="2000" spc="-5" dirty="0">
                <a:solidFill>
                  <a:srgbClr val="231F20"/>
                </a:solidFill>
                <a:latin typeface="Arial"/>
                <a:cs typeface="Arial"/>
              </a:rPr>
              <a:t> </a:t>
            </a:r>
            <a:r>
              <a:rPr lang="en-GB" sz="2000" spc="-540" dirty="0">
                <a:solidFill>
                  <a:srgbClr val="231F20"/>
                </a:solidFill>
                <a:latin typeface="Arial"/>
                <a:cs typeface="Arial"/>
              </a:rPr>
              <a:t> </a:t>
            </a:r>
            <a:r>
              <a:rPr lang="en-GB" sz="2000" spc="-5" dirty="0" err="1">
                <a:solidFill>
                  <a:srgbClr val="231F20"/>
                </a:solidFill>
                <a:latin typeface="Arial"/>
                <a:cs typeface="Arial"/>
              </a:rPr>
              <a:t>interdum</a:t>
            </a:r>
            <a:r>
              <a:rPr lang="en-GB" sz="2000" spc="-5" dirty="0">
                <a:solidFill>
                  <a:srgbClr val="231F20"/>
                </a:solidFill>
                <a:latin typeface="Arial"/>
                <a:cs typeface="Arial"/>
              </a:rPr>
              <a:t> </a:t>
            </a:r>
            <a:r>
              <a:rPr lang="en-GB" sz="2000" spc="-5" dirty="0" err="1">
                <a:solidFill>
                  <a:srgbClr val="231F20"/>
                </a:solidFill>
                <a:latin typeface="Arial"/>
                <a:cs typeface="Arial"/>
              </a:rPr>
              <a:t>egestas</a:t>
            </a:r>
            <a:r>
              <a:rPr lang="en-GB" sz="2000" spc="-5" dirty="0">
                <a:solidFill>
                  <a:srgbClr val="231F20"/>
                </a:solidFill>
                <a:latin typeface="Arial"/>
                <a:cs typeface="Arial"/>
              </a:rPr>
              <a:t>. </a:t>
            </a:r>
            <a:r>
              <a:rPr lang="en-GB" sz="2000" dirty="0" err="1">
                <a:solidFill>
                  <a:srgbClr val="231F20"/>
                </a:solidFill>
                <a:latin typeface="Arial"/>
                <a:cs typeface="Arial"/>
              </a:rPr>
              <a:t>Praesent</a:t>
            </a:r>
            <a:r>
              <a:rPr lang="en-GB" sz="2000" dirty="0">
                <a:solidFill>
                  <a:srgbClr val="231F20"/>
                </a:solidFill>
                <a:latin typeface="Arial"/>
                <a:cs typeface="Arial"/>
              </a:rPr>
              <a:t> </a:t>
            </a:r>
            <a:r>
              <a:rPr lang="en-GB" sz="2000" spc="-5" dirty="0" err="1">
                <a:solidFill>
                  <a:srgbClr val="231F20"/>
                </a:solidFill>
                <a:latin typeface="Arial"/>
                <a:cs typeface="Arial"/>
              </a:rPr>
              <a:t>nibh</a:t>
            </a:r>
            <a:r>
              <a:rPr lang="en-GB" sz="2000" spc="-5" dirty="0">
                <a:solidFill>
                  <a:srgbClr val="231F20"/>
                </a:solidFill>
                <a:latin typeface="Arial"/>
                <a:cs typeface="Arial"/>
              </a:rPr>
              <a:t> </a:t>
            </a:r>
            <a:r>
              <a:rPr lang="en-GB" sz="2000" spc="-5" dirty="0" err="1">
                <a:solidFill>
                  <a:srgbClr val="231F20"/>
                </a:solidFill>
                <a:latin typeface="Arial"/>
                <a:cs typeface="Arial"/>
              </a:rPr>
              <a:t>est</a:t>
            </a:r>
            <a:r>
              <a:rPr lang="en-GB" sz="2000" spc="-5" dirty="0">
                <a:solidFill>
                  <a:srgbClr val="231F20"/>
                </a:solidFill>
                <a:latin typeface="Arial"/>
                <a:cs typeface="Arial"/>
              </a:rPr>
              <a:t>, </a:t>
            </a:r>
            <a:r>
              <a:rPr lang="en-GB" sz="2000" spc="-5" dirty="0" err="1">
                <a:solidFill>
                  <a:srgbClr val="231F20"/>
                </a:solidFill>
                <a:latin typeface="Arial"/>
                <a:cs typeface="Arial"/>
              </a:rPr>
              <a:t>pellen</a:t>
            </a:r>
            <a:r>
              <a:rPr lang="en-GB" sz="2000" spc="-5" dirty="0">
                <a:solidFill>
                  <a:srgbClr val="231F20"/>
                </a:solidFill>
                <a:latin typeface="Arial"/>
                <a:cs typeface="Arial"/>
              </a:rPr>
              <a:t>- </a:t>
            </a:r>
            <a:r>
              <a:rPr lang="en-GB" sz="2000" dirty="0">
                <a:solidFill>
                  <a:srgbClr val="231F20"/>
                </a:solidFill>
                <a:latin typeface="Arial"/>
                <a:cs typeface="Arial"/>
              </a:rPr>
              <a:t> </a:t>
            </a:r>
            <a:r>
              <a:rPr lang="en-GB" sz="2000" dirty="0" err="1">
                <a:solidFill>
                  <a:srgbClr val="231F20"/>
                </a:solidFill>
                <a:latin typeface="Arial"/>
                <a:cs typeface="Arial"/>
              </a:rPr>
              <a:t>tesque</a:t>
            </a:r>
            <a:r>
              <a:rPr lang="en-GB" sz="2000" spc="-10" dirty="0">
                <a:solidFill>
                  <a:srgbClr val="231F20"/>
                </a:solidFill>
                <a:latin typeface="Arial"/>
                <a:cs typeface="Arial"/>
              </a:rPr>
              <a:t> </a:t>
            </a:r>
            <a:r>
              <a:rPr lang="en-GB" sz="2000" spc="-5" dirty="0">
                <a:solidFill>
                  <a:srgbClr val="231F20"/>
                </a:solidFill>
                <a:latin typeface="Arial"/>
                <a:cs typeface="Arial"/>
              </a:rPr>
              <a:t>et</a:t>
            </a:r>
            <a:r>
              <a:rPr lang="en-GB" sz="2000" spc="-15" dirty="0">
                <a:solidFill>
                  <a:srgbClr val="231F20"/>
                </a:solidFill>
                <a:latin typeface="Arial"/>
                <a:cs typeface="Arial"/>
              </a:rPr>
              <a:t> </a:t>
            </a:r>
            <a:r>
              <a:rPr lang="en-GB" sz="2000" dirty="0" err="1">
                <a:solidFill>
                  <a:srgbClr val="231F20"/>
                </a:solidFill>
                <a:latin typeface="Arial"/>
                <a:cs typeface="Arial"/>
              </a:rPr>
              <a:t>felis</a:t>
            </a:r>
            <a:r>
              <a:rPr lang="en-GB" sz="2000" spc="-10" dirty="0">
                <a:solidFill>
                  <a:srgbClr val="231F20"/>
                </a:solidFill>
                <a:latin typeface="Arial"/>
                <a:cs typeface="Arial"/>
              </a:rPr>
              <a:t> </a:t>
            </a:r>
            <a:r>
              <a:rPr lang="en-GB" sz="2000" dirty="0" err="1">
                <a:solidFill>
                  <a:srgbClr val="231F20"/>
                </a:solidFill>
                <a:latin typeface="Arial"/>
                <a:cs typeface="Arial"/>
              </a:rPr>
              <a:t>vel</a:t>
            </a:r>
            <a:r>
              <a:rPr lang="en-GB" sz="2000" dirty="0">
                <a:solidFill>
                  <a:srgbClr val="231F20"/>
                </a:solidFill>
                <a:latin typeface="Arial"/>
                <a:cs typeface="Arial"/>
              </a:rPr>
              <a:t>,</a:t>
            </a:r>
            <a:r>
              <a:rPr lang="en-GB" sz="2000" spc="-5" dirty="0">
                <a:solidFill>
                  <a:srgbClr val="231F20"/>
                </a:solidFill>
                <a:latin typeface="Arial"/>
                <a:cs typeface="Arial"/>
              </a:rPr>
              <a:t> </a:t>
            </a:r>
            <a:r>
              <a:rPr lang="en-GB" sz="2000" spc="-5" dirty="0" err="1">
                <a:solidFill>
                  <a:srgbClr val="231F20"/>
                </a:solidFill>
                <a:latin typeface="Arial"/>
                <a:cs typeface="Arial"/>
              </a:rPr>
              <a:t>aliquet</a:t>
            </a:r>
            <a:r>
              <a:rPr lang="en-GB" sz="2000" spc="-15" dirty="0">
                <a:solidFill>
                  <a:srgbClr val="231F20"/>
                </a:solidFill>
                <a:latin typeface="Arial"/>
                <a:cs typeface="Arial"/>
              </a:rPr>
              <a:t> </a:t>
            </a:r>
            <a:r>
              <a:rPr lang="en-GB" sz="2000" spc="-5" dirty="0" err="1">
                <a:solidFill>
                  <a:srgbClr val="231F20"/>
                </a:solidFill>
                <a:latin typeface="Arial"/>
                <a:cs typeface="Arial"/>
              </a:rPr>
              <a:t>interdum</a:t>
            </a:r>
            <a:r>
              <a:rPr lang="en-GB" sz="2000" spc="-15" dirty="0">
                <a:solidFill>
                  <a:srgbClr val="231F20"/>
                </a:solidFill>
                <a:latin typeface="Arial"/>
                <a:cs typeface="Arial"/>
              </a:rPr>
              <a:t> </a:t>
            </a:r>
            <a:r>
              <a:rPr lang="en-GB" sz="2000" dirty="0">
                <a:solidFill>
                  <a:srgbClr val="231F20"/>
                </a:solidFill>
                <a:latin typeface="Arial"/>
                <a:cs typeface="Arial"/>
              </a:rPr>
              <a:t>magna.</a:t>
            </a:r>
            <a:endParaRPr lang="en-GB" sz="2000" dirty="0">
              <a:latin typeface="Arial"/>
              <a:cs typeface="Arial"/>
            </a:endParaRPr>
          </a:p>
          <a:p>
            <a:pPr>
              <a:lnSpc>
                <a:spcPct val="100000"/>
              </a:lnSpc>
              <a:spcBef>
                <a:spcPts val="45"/>
              </a:spcBef>
            </a:pPr>
            <a:endParaRPr lang="en-GB" sz="2050" dirty="0">
              <a:latin typeface="Arial"/>
              <a:cs typeface="Arial"/>
            </a:endParaRPr>
          </a:p>
          <a:p>
            <a:pPr marL="12700" marR="5080">
              <a:lnSpc>
                <a:spcPct val="100000"/>
              </a:lnSpc>
            </a:pPr>
            <a:r>
              <a:rPr lang="en-GB" sz="2000" spc="-5" dirty="0">
                <a:solidFill>
                  <a:srgbClr val="231F20"/>
                </a:solidFill>
                <a:latin typeface="Arial"/>
                <a:cs typeface="Arial"/>
              </a:rPr>
              <a:t>Donec</a:t>
            </a:r>
            <a:r>
              <a:rPr lang="en-GB" sz="2000" spc="-20" dirty="0">
                <a:solidFill>
                  <a:srgbClr val="231F20"/>
                </a:solidFill>
                <a:latin typeface="Arial"/>
                <a:cs typeface="Arial"/>
              </a:rPr>
              <a:t> </a:t>
            </a:r>
            <a:r>
              <a:rPr lang="en-GB" sz="2000" spc="-5" dirty="0" err="1">
                <a:solidFill>
                  <a:srgbClr val="231F20"/>
                </a:solidFill>
                <a:latin typeface="Arial"/>
                <a:cs typeface="Arial"/>
              </a:rPr>
              <a:t>ut</a:t>
            </a:r>
            <a:r>
              <a:rPr lang="en-GB" sz="2000" spc="-20" dirty="0">
                <a:solidFill>
                  <a:srgbClr val="231F20"/>
                </a:solidFill>
                <a:latin typeface="Arial"/>
                <a:cs typeface="Arial"/>
              </a:rPr>
              <a:t> </a:t>
            </a:r>
            <a:r>
              <a:rPr lang="en-GB" sz="2000" dirty="0" err="1">
                <a:solidFill>
                  <a:srgbClr val="231F20"/>
                </a:solidFill>
                <a:latin typeface="Arial"/>
                <a:cs typeface="Arial"/>
              </a:rPr>
              <a:t>suscipit</a:t>
            </a:r>
            <a:r>
              <a:rPr lang="en-GB" sz="2000" spc="-15" dirty="0">
                <a:solidFill>
                  <a:srgbClr val="231F20"/>
                </a:solidFill>
                <a:latin typeface="Arial"/>
                <a:cs typeface="Arial"/>
              </a:rPr>
              <a:t> </a:t>
            </a:r>
            <a:r>
              <a:rPr lang="en-GB" sz="2000" spc="-25" dirty="0" err="1">
                <a:solidFill>
                  <a:srgbClr val="231F20"/>
                </a:solidFill>
                <a:latin typeface="Arial"/>
                <a:cs typeface="Arial"/>
              </a:rPr>
              <a:t>dolor</a:t>
            </a:r>
            <a:r>
              <a:rPr lang="en-GB" sz="2000" spc="-25" dirty="0">
                <a:solidFill>
                  <a:srgbClr val="231F20"/>
                </a:solidFill>
                <a:latin typeface="Arial"/>
                <a:cs typeface="Arial"/>
              </a:rPr>
              <a:t>,</a:t>
            </a:r>
            <a:r>
              <a:rPr lang="en-GB" sz="2000" spc="-20" dirty="0">
                <a:solidFill>
                  <a:srgbClr val="231F20"/>
                </a:solidFill>
                <a:latin typeface="Arial"/>
                <a:cs typeface="Arial"/>
              </a:rPr>
              <a:t> </a:t>
            </a:r>
            <a:r>
              <a:rPr lang="en-GB" sz="2000" dirty="0">
                <a:solidFill>
                  <a:srgbClr val="231F20"/>
                </a:solidFill>
                <a:latin typeface="Arial"/>
                <a:cs typeface="Arial"/>
              </a:rPr>
              <a:t>vitae</a:t>
            </a:r>
            <a:r>
              <a:rPr lang="en-GB" sz="2000" spc="-15" dirty="0">
                <a:solidFill>
                  <a:srgbClr val="231F20"/>
                </a:solidFill>
                <a:latin typeface="Arial"/>
                <a:cs typeface="Arial"/>
              </a:rPr>
              <a:t> </a:t>
            </a:r>
            <a:r>
              <a:rPr lang="en-GB" sz="2000" dirty="0" err="1">
                <a:solidFill>
                  <a:srgbClr val="231F20"/>
                </a:solidFill>
                <a:latin typeface="Arial"/>
                <a:cs typeface="Arial"/>
              </a:rPr>
              <a:t>sollicitudin</a:t>
            </a:r>
            <a:r>
              <a:rPr lang="en-GB" sz="2000" spc="-15" dirty="0">
                <a:solidFill>
                  <a:srgbClr val="231F20"/>
                </a:solidFill>
                <a:latin typeface="Arial"/>
                <a:cs typeface="Arial"/>
              </a:rPr>
              <a:t> </a:t>
            </a:r>
            <a:r>
              <a:rPr lang="en-GB" sz="2000" dirty="0">
                <a:solidFill>
                  <a:srgbClr val="231F20"/>
                </a:solidFill>
                <a:latin typeface="Arial"/>
                <a:cs typeface="Arial"/>
              </a:rPr>
              <a:t>sem. </a:t>
            </a:r>
            <a:r>
              <a:rPr lang="en-GB" sz="2000" spc="-540" dirty="0">
                <a:solidFill>
                  <a:srgbClr val="231F20"/>
                </a:solidFill>
                <a:latin typeface="Arial"/>
                <a:cs typeface="Arial"/>
              </a:rPr>
              <a:t> </a:t>
            </a:r>
            <a:r>
              <a:rPr lang="en-GB" sz="2000" dirty="0" err="1">
                <a:solidFill>
                  <a:srgbClr val="231F20"/>
                </a:solidFill>
                <a:latin typeface="Arial"/>
                <a:cs typeface="Arial"/>
              </a:rPr>
              <a:t>Sed</a:t>
            </a:r>
            <a:r>
              <a:rPr lang="en-GB" sz="2000" spc="-15" dirty="0">
                <a:solidFill>
                  <a:srgbClr val="231F20"/>
                </a:solidFill>
                <a:latin typeface="Arial"/>
                <a:cs typeface="Arial"/>
              </a:rPr>
              <a:t> </a:t>
            </a:r>
            <a:r>
              <a:rPr lang="en-GB" sz="2000" spc="-5" dirty="0" err="1">
                <a:solidFill>
                  <a:srgbClr val="231F20"/>
                </a:solidFill>
                <a:latin typeface="Arial"/>
                <a:cs typeface="Arial"/>
              </a:rPr>
              <a:t>eget</a:t>
            </a:r>
            <a:r>
              <a:rPr lang="en-GB" sz="2000" spc="-20" dirty="0">
                <a:solidFill>
                  <a:srgbClr val="231F20"/>
                </a:solidFill>
                <a:latin typeface="Arial"/>
                <a:cs typeface="Arial"/>
              </a:rPr>
              <a:t> </a:t>
            </a:r>
            <a:r>
              <a:rPr lang="en-GB" sz="2000" dirty="0">
                <a:solidFill>
                  <a:srgbClr val="231F20"/>
                </a:solidFill>
                <a:latin typeface="Arial"/>
                <a:cs typeface="Arial"/>
              </a:rPr>
              <a:t>cursus</a:t>
            </a:r>
            <a:r>
              <a:rPr lang="en-GB" sz="2000" spc="-15" dirty="0">
                <a:solidFill>
                  <a:srgbClr val="231F20"/>
                </a:solidFill>
                <a:latin typeface="Arial"/>
                <a:cs typeface="Arial"/>
              </a:rPr>
              <a:t> </a:t>
            </a:r>
            <a:r>
              <a:rPr lang="en-GB" sz="2000" spc="-5" dirty="0" err="1">
                <a:solidFill>
                  <a:srgbClr val="231F20"/>
                </a:solidFill>
                <a:latin typeface="Arial"/>
                <a:cs typeface="Arial"/>
              </a:rPr>
              <a:t>nulla</a:t>
            </a:r>
            <a:r>
              <a:rPr lang="en-GB" sz="2000" spc="-5" dirty="0">
                <a:solidFill>
                  <a:srgbClr val="231F20"/>
                </a:solidFill>
                <a:latin typeface="Arial"/>
                <a:cs typeface="Arial"/>
              </a:rPr>
              <a:t>,</a:t>
            </a:r>
            <a:r>
              <a:rPr lang="en-GB" sz="2000" spc="-15" dirty="0">
                <a:solidFill>
                  <a:srgbClr val="231F20"/>
                </a:solidFill>
                <a:latin typeface="Arial"/>
                <a:cs typeface="Arial"/>
              </a:rPr>
              <a:t> </a:t>
            </a:r>
            <a:r>
              <a:rPr lang="en-GB" sz="2000" spc="-5" dirty="0" err="1">
                <a:solidFill>
                  <a:srgbClr val="231F20"/>
                </a:solidFill>
                <a:latin typeface="Arial"/>
                <a:cs typeface="Arial"/>
              </a:rPr>
              <a:t>nec</a:t>
            </a:r>
            <a:r>
              <a:rPr lang="en-GB" sz="2000" spc="-20" dirty="0">
                <a:solidFill>
                  <a:srgbClr val="231F20"/>
                </a:solidFill>
                <a:latin typeface="Arial"/>
                <a:cs typeface="Arial"/>
              </a:rPr>
              <a:t> </a:t>
            </a:r>
            <a:r>
              <a:rPr lang="en-GB" sz="2000" dirty="0" err="1">
                <a:solidFill>
                  <a:srgbClr val="231F20"/>
                </a:solidFill>
                <a:latin typeface="Arial"/>
                <a:cs typeface="Arial"/>
              </a:rPr>
              <a:t>consequat</a:t>
            </a:r>
            <a:r>
              <a:rPr lang="en-GB" sz="2000" spc="-15" dirty="0">
                <a:solidFill>
                  <a:srgbClr val="231F20"/>
                </a:solidFill>
                <a:latin typeface="Arial"/>
                <a:cs typeface="Arial"/>
              </a:rPr>
              <a:t> </a:t>
            </a:r>
            <a:r>
              <a:rPr lang="en-GB" sz="2000" spc="-5" dirty="0" err="1">
                <a:solidFill>
                  <a:srgbClr val="231F20"/>
                </a:solidFill>
                <a:latin typeface="Arial"/>
                <a:cs typeface="Arial"/>
              </a:rPr>
              <a:t>neque</a:t>
            </a:r>
            <a:r>
              <a:rPr lang="en-GB" sz="2000" spc="-5" dirty="0">
                <a:solidFill>
                  <a:srgbClr val="231F20"/>
                </a:solidFill>
                <a:latin typeface="Arial"/>
                <a:cs typeface="Arial"/>
              </a:rPr>
              <a:t>.</a:t>
            </a:r>
          </a:p>
          <a:p>
            <a:pPr marL="12700" marR="5080">
              <a:lnSpc>
                <a:spcPct val="100000"/>
              </a:lnSpc>
              <a:spcBef>
                <a:spcPts val="2185"/>
              </a:spcBef>
            </a:pPr>
            <a:r>
              <a:rPr lang="en-GB" sz="2000" spc="-5" dirty="0">
                <a:solidFill>
                  <a:srgbClr val="231F20"/>
                </a:solidFill>
                <a:latin typeface="Arial"/>
                <a:cs typeface="Arial"/>
              </a:rPr>
              <a:t>Lorem ipsum </a:t>
            </a:r>
            <a:r>
              <a:rPr lang="en-GB" sz="2000" spc="-5" dirty="0" err="1">
                <a:solidFill>
                  <a:srgbClr val="231F20"/>
                </a:solidFill>
                <a:latin typeface="Arial"/>
                <a:cs typeface="Arial"/>
              </a:rPr>
              <a:t>dolor</a:t>
            </a:r>
            <a:r>
              <a:rPr lang="en-GB" sz="2000" spc="-5" dirty="0">
                <a:solidFill>
                  <a:srgbClr val="231F20"/>
                </a:solidFill>
                <a:latin typeface="Arial"/>
                <a:cs typeface="Arial"/>
              </a:rPr>
              <a:t> </a:t>
            </a:r>
            <a:r>
              <a:rPr lang="en-GB" sz="2000" dirty="0">
                <a:solidFill>
                  <a:srgbClr val="231F20"/>
                </a:solidFill>
                <a:latin typeface="Arial"/>
                <a:cs typeface="Arial"/>
              </a:rPr>
              <a:t>sit </a:t>
            </a:r>
            <a:r>
              <a:rPr lang="en-GB" sz="2000" spc="-5" dirty="0" err="1">
                <a:solidFill>
                  <a:srgbClr val="231F20"/>
                </a:solidFill>
                <a:latin typeface="Arial"/>
                <a:cs typeface="Arial"/>
              </a:rPr>
              <a:t>amet</a:t>
            </a:r>
            <a:r>
              <a:rPr lang="en-GB" sz="2000" spc="-5" dirty="0">
                <a:solidFill>
                  <a:srgbClr val="231F20"/>
                </a:solidFill>
                <a:latin typeface="Arial"/>
                <a:cs typeface="Arial"/>
              </a:rPr>
              <a:t>, </a:t>
            </a:r>
            <a:r>
              <a:rPr lang="en-GB" sz="2000" dirty="0" err="1">
                <a:solidFill>
                  <a:srgbClr val="231F20"/>
                </a:solidFill>
                <a:latin typeface="Arial"/>
                <a:cs typeface="Arial"/>
              </a:rPr>
              <a:t>consectetur</a:t>
            </a:r>
            <a:r>
              <a:rPr lang="en-GB" sz="2000" dirty="0">
                <a:solidFill>
                  <a:srgbClr val="231F20"/>
                </a:solidFill>
                <a:latin typeface="Arial"/>
                <a:cs typeface="Arial"/>
              </a:rPr>
              <a:t> ad- </a:t>
            </a:r>
            <a:r>
              <a:rPr lang="en-GB" sz="2000" spc="5" dirty="0">
                <a:solidFill>
                  <a:srgbClr val="231F20"/>
                </a:solidFill>
                <a:latin typeface="Arial"/>
                <a:cs typeface="Arial"/>
              </a:rPr>
              <a:t> </a:t>
            </a:r>
            <a:r>
              <a:rPr lang="en-GB" sz="2000" spc="-5" dirty="0" err="1">
                <a:solidFill>
                  <a:srgbClr val="231F20"/>
                </a:solidFill>
                <a:latin typeface="Arial"/>
                <a:cs typeface="Arial"/>
              </a:rPr>
              <a:t>ipiscing</a:t>
            </a:r>
            <a:r>
              <a:rPr lang="en-GB" sz="2000" spc="-5" dirty="0">
                <a:solidFill>
                  <a:srgbClr val="231F20"/>
                </a:solidFill>
                <a:latin typeface="Arial"/>
                <a:cs typeface="Arial"/>
              </a:rPr>
              <a:t> </a:t>
            </a:r>
            <a:r>
              <a:rPr lang="en-GB" sz="2000" spc="-5" dirty="0" err="1">
                <a:solidFill>
                  <a:srgbClr val="231F20"/>
                </a:solidFill>
                <a:latin typeface="Arial"/>
                <a:cs typeface="Arial"/>
              </a:rPr>
              <a:t>elit</a:t>
            </a:r>
            <a:r>
              <a:rPr lang="en-GB" sz="2000" spc="-5" dirty="0">
                <a:solidFill>
                  <a:srgbClr val="231F20"/>
                </a:solidFill>
                <a:latin typeface="Arial"/>
                <a:cs typeface="Arial"/>
              </a:rPr>
              <a:t>. Duis at </a:t>
            </a:r>
            <a:r>
              <a:rPr lang="en-GB" sz="2000" dirty="0" err="1">
                <a:solidFill>
                  <a:srgbClr val="231F20"/>
                </a:solidFill>
                <a:latin typeface="Arial"/>
                <a:cs typeface="Arial"/>
              </a:rPr>
              <a:t>commodo</a:t>
            </a:r>
            <a:r>
              <a:rPr lang="en-GB" sz="2000" dirty="0">
                <a:solidFill>
                  <a:srgbClr val="231F20"/>
                </a:solidFill>
                <a:latin typeface="Arial"/>
                <a:cs typeface="Arial"/>
              </a:rPr>
              <a:t> </a:t>
            </a:r>
            <a:r>
              <a:rPr lang="en-GB" sz="2000" spc="-5" dirty="0" err="1">
                <a:solidFill>
                  <a:srgbClr val="231F20"/>
                </a:solidFill>
                <a:latin typeface="Arial"/>
                <a:cs typeface="Arial"/>
              </a:rPr>
              <a:t>neque</a:t>
            </a:r>
            <a:r>
              <a:rPr lang="en-GB" sz="2000" spc="-5" dirty="0">
                <a:solidFill>
                  <a:srgbClr val="231F20"/>
                </a:solidFill>
                <a:latin typeface="Arial"/>
                <a:cs typeface="Arial"/>
              </a:rPr>
              <a:t>, non </a:t>
            </a:r>
            <a:r>
              <a:rPr lang="en-GB" sz="2000" dirty="0">
                <a:solidFill>
                  <a:srgbClr val="231F20"/>
                </a:solidFill>
                <a:latin typeface="Arial"/>
                <a:cs typeface="Arial"/>
              </a:rPr>
              <a:t> </a:t>
            </a:r>
            <a:r>
              <a:rPr lang="en-GB" sz="2000" spc="-5" dirty="0" err="1">
                <a:solidFill>
                  <a:srgbClr val="231F20"/>
                </a:solidFill>
                <a:latin typeface="Arial"/>
                <a:cs typeface="Arial"/>
              </a:rPr>
              <a:t>ultrices</a:t>
            </a:r>
            <a:r>
              <a:rPr lang="en-GB" sz="2000" spc="-20" dirty="0">
                <a:solidFill>
                  <a:srgbClr val="231F20"/>
                </a:solidFill>
                <a:latin typeface="Arial"/>
                <a:cs typeface="Arial"/>
              </a:rPr>
              <a:t> </a:t>
            </a:r>
            <a:r>
              <a:rPr lang="en-GB" sz="2000" dirty="0" err="1">
                <a:solidFill>
                  <a:srgbClr val="231F20"/>
                </a:solidFill>
                <a:latin typeface="Arial"/>
                <a:cs typeface="Arial"/>
              </a:rPr>
              <a:t>turpis</a:t>
            </a:r>
            <a:r>
              <a:rPr lang="en-GB" sz="2000" dirty="0">
                <a:solidFill>
                  <a:srgbClr val="231F20"/>
                </a:solidFill>
                <a:latin typeface="Arial"/>
                <a:cs typeface="Arial"/>
              </a:rPr>
              <a:t>.</a:t>
            </a:r>
            <a:r>
              <a:rPr lang="en-GB" sz="2000" spc="-20" dirty="0">
                <a:solidFill>
                  <a:srgbClr val="231F20"/>
                </a:solidFill>
                <a:latin typeface="Arial"/>
                <a:cs typeface="Arial"/>
              </a:rPr>
              <a:t> </a:t>
            </a:r>
            <a:r>
              <a:rPr lang="en-GB" sz="2000" dirty="0">
                <a:solidFill>
                  <a:srgbClr val="231F20"/>
                </a:solidFill>
                <a:latin typeface="Arial"/>
                <a:cs typeface="Arial"/>
              </a:rPr>
              <a:t>Integer</a:t>
            </a:r>
            <a:r>
              <a:rPr lang="en-GB" sz="2000" spc="-20" dirty="0">
                <a:solidFill>
                  <a:srgbClr val="231F20"/>
                </a:solidFill>
                <a:latin typeface="Arial"/>
                <a:cs typeface="Arial"/>
              </a:rPr>
              <a:t> </a:t>
            </a:r>
            <a:r>
              <a:rPr lang="en-GB" sz="2000" dirty="0" err="1">
                <a:solidFill>
                  <a:srgbClr val="231F20"/>
                </a:solidFill>
                <a:latin typeface="Arial"/>
                <a:cs typeface="Arial"/>
              </a:rPr>
              <a:t>rutrum</a:t>
            </a:r>
            <a:r>
              <a:rPr lang="en-GB" sz="2000" spc="-20" dirty="0">
                <a:solidFill>
                  <a:srgbClr val="231F20"/>
                </a:solidFill>
                <a:latin typeface="Arial"/>
                <a:cs typeface="Arial"/>
              </a:rPr>
              <a:t> </a:t>
            </a:r>
            <a:r>
              <a:rPr lang="en-GB" sz="2000" dirty="0" err="1">
                <a:solidFill>
                  <a:srgbClr val="231F20"/>
                </a:solidFill>
                <a:latin typeface="Arial"/>
                <a:cs typeface="Arial"/>
              </a:rPr>
              <a:t>sem</a:t>
            </a:r>
            <a:r>
              <a:rPr lang="en-GB" sz="2000" spc="-20" dirty="0">
                <a:solidFill>
                  <a:srgbClr val="231F20"/>
                </a:solidFill>
                <a:latin typeface="Arial"/>
                <a:cs typeface="Arial"/>
              </a:rPr>
              <a:t> </a:t>
            </a:r>
            <a:r>
              <a:rPr lang="en-GB" sz="2000" spc="-5" dirty="0" err="1">
                <a:solidFill>
                  <a:srgbClr val="231F20"/>
                </a:solidFill>
                <a:latin typeface="Arial"/>
                <a:cs typeface="Arial"/>
              </a:rPr>
              <a:t>quis</a:t>
            </a:r>
            <a:r>
              <a:rPr lang="en-GB" sz="2000" spc="-20" dirty="0">
                <a:solidFill>
                  <a:srgbClr val="231F20"/>
                </a:solidFill>
                <a:latin typeface="Arial"/>
                <a:cs typeface="Arial"/>
              </a:rPr>
              <a:t> </a:t>
            </a:r>
            <a:r>
              <a:rPr lang="en-GB" sz="2000" spc="-5" dirty="0" err="1">
                <a:solidFill>
                  <a:srgbClr val="231F20"/>
                </a:solidFill>
                <a:latin typeface="Arial"/>
                <a:cs typeface="Arial"/>
              </a:rPr>
              <a:t>neque</a:t>
            </a:r>
            <a:r>
              <a:rPr lang="en-GB" sz="2000" spc="-5" dirty="0">
                <a:solidFill>
                  <a:srgbClr val="231F20"/>
                </a:solidFill>
                <a:latin typeface="Arial"/>
                <a:cs typeface="Arial"/>
              </a:rPr>
              <a:t> </a:t>
            </a:r>
            <a:r>
              <a:rPr lang="en-GB" sz="2000" spc="-540" dirty="0">
                <a:solidFill>
                  <a:srgbClr val="231F20"/>
                </a:solidFill>
                <a:latin typeface="Arial"/>
                <a:cs typeface="Arial"/>
              </a:rPr>
              <a:t> </a:t>
            </a:r>
            <a:r>
              <a:rPr lang="en-GB" sz="2000" spc="-5" dirty="0" err="1">
                <a:solidFill>
                  <a:srgbClr val="231F20"/>
                </a:solidFill>
                <a:latin typeface="Arial"/>
                <a:cs typeface="Arial"/>
              </a:rPr>
              <a:t>interdum</a:t>
            </a:r>
            <a:r>
              <a:rPr lang="en-GB" sz="2000" spc="-5" dirty="0">
                <a:solidFill>
                  <a:srgbClr val="231F20"/>
                </a:solidFill>
                <a:latin typeface="Arial"/>
                <a:cs typeface="Arial"/>
              </a:rPr>
              <a:t> </a:t>
            </a:r>
            <a:r>
              <a:rPr lang="en-GB" sz="2000" spc="-5" dirty="0" err="1">
                <a:solidFill>
                  <a:srgbClr val="231F20"/>
                </a:solidFill>
                <a:latin typeface="Arial"/>
                <a:cs typeface="Arial"/>
              </a:rPr>
              <a:t>egestas</a:t>
            </a:r>
            <a:r>
              <a:rPr lang="en-GB" sz="2000" spc="-5" dirty="0">
                <a:solidFill>
                  <a:srgbClr val="231F20"/>
                </a:solidFill>
                <a:latin typeface="Arial"/>
                <a:cs typeface="Arial"/>
              </a:rPr>
              <a:t>. </a:t>
            </a:r>
            <a:r>
              <a:rPr lang="en-GB" sz="2000" dirty="0" err="1">
                <a:solidFill>
                  <a:srgbClr val="231F20"/>
                </a:solidFill>
                <a:latin typeface="Arial"/>
                <a:cs typeface="Arial"/>
              </a:rPr>
              <a:t>Praesent</a:t>
            </a:r>
            <a:r>
              <a:rPr lang="en-GB" sz="2000" dirty="0">
                <a:solidFill>
                  <a:srgbClr val="231F20"/>
                </a:solidFill>
                <a:latin typeface="Arial"/>
                <a:cs typeface="Arial"/>
              </a:rPr>
              <a:t> </a:t>
            </a:r>
            <a:r>
              <a:rPr lang="en-GB" sz="2000" spc="-5" dirty="0" err="1">
                <a:solidFill>
                  <a:srgbClr val="231F20"/>
                </a:solidFill>
                <a:latin typeface="Arial"/>
                <a:cs typeface="Arial"/>
              </a:rPr>
              <a:t>nibh</a:t>
            </a:r>
            <a:r>
              <a:rPr lang="en-GB" sz="2000" spc="-5" dirty="0">
                <a:solidFill>
                  <a:srgbClr val="231F20"/>
                </a:solidFill>
                <a:latin typeface="Arial"/>
                <a:cs typeface="Arial"/>
              </a:rPr>
              <a:t> </a:t>
            </a:r>
            <a:r>
              <a:rPr lang="en-GB" sz="2000" spc="-5" dirty="0" err="1">
                <a:solidFill>
                  <a:srgbClr val="231F20"/>
                </a:solidFill>
                <a:latin typeface="Arial"/>
                <a:cs typeface="Arial"/>
              </a:rPr>
              <a:t>est</a:t>
            </a:r>
            <a:r>
              <a:rPr lang="en-GB" sz="2000" spc="-5" dirty="0">
                <a:solidFill>
                  <a:srgbClr val="231F20"/>
                </a:solidFill>
                <a:latin typeface="Arial"/>
                <a:cs typeface="Arial"/>
              </a:rPr>
              <a:t>, </a:t>
            </a:r>
            <a:r>
              <a:rPr lang="en-GB" sz="2000" spc="-5" dirty="0" err="1">
                <a:solidFill>
                  <a:srgbClr val="231F20"/>
                </a:solidFill>
                <a:latin typeface="Arial"/>
                <a:cs typeface="Arial"/>
              </a:rPr>
              <a:t>pellen</a:t>
            </a:r>
            <a:r>
              <a:rPr lang="en-GB" sz="2000" spc="-5" dirty="0">
                <a:solidFill>
                  <a:srgbClr val="231F20"/>
                </a:solidFill>
                <a:latin typeface="Arial"/>
                <a:cs typeface="Arial"/>
              </a:rPr>
              <a:t>- </a:t>
            </a:r>
            <a:r>
              <a:rPr lang="en-GB" sz="2000" dirty="0">
                <a:solidFill>
                  <a:srgbClr val="231F20"/>
                </a:solidFill>
                <a:latin typeface="Arial"/>
                <a:cs typeface="Arial"/>
              </a:rPr>
              <a:t> </a:t>
            </a:r>
            <a:r>
              <a:rPr lang="en-GB" sz="2000" dirty="0" err="1">
                <a:solidFill>
                  <a:srgbClr val="231F20"/>
                </a:solidFill>
                <a:latin typeface="Arial"/>
                <a:cs typeface="Arial"/>
              </a:rPr>
              <a:t>tesque</a:t>
            </a:r>
            <a:r>
              <a:rPr lang="en-GB" sz="2000" spc="-10" dirty="0">
                <a:solidFill>
                  <a:srgbClr val="231F20"/>
                </a:solidFill>
                <a:latin typeface="Arial"/>
                <a:cs typeface="Arial"/>
              </a:rPr>
              <a:t> </a:t>
            </a:r>
            <a:r>
              <a:rPr lang="en-GB" sz="2000" spc="-5" dirty="0">
                <a:solidFill>
                  <a:srgbClr val="231F20"/>
                </a:solidFill>
                <a:latin typeface="Arial"/>
                <a:cs typeface="Arial"/>
              </a:rPr>
              <a:t>et</a:t>
            </a:r>
            <a:r>
              <a:rPr lang="en-GB" sz="2000" spc="-15" dirty="0">
                <a:solidFill>
                  <a:srgbClr val="231F20"/>
                </a:solidFill>
                <a:latin typeface="Arial"/>
                <a:cs typeface="Arial"/>
              </a:rPr>
              <a:t> </a:t>
            </a:r>
            <a:r>
              <a:rPr lang="en-GB" sz="2000" dirty="0" err="1">
                <a:solidFill>
                  <a:srgbClr val="231F20"/>
                </a:solidFill>
                <a:latin typeface="Arial"/>
                <a:cs typeface="Arial"/>
              </a:rPr>
              <a:t>felis</a:t>
            </a:r>
            <a:r>
              <a:rPr lang="en-GB" sz="2000" spc="-10" dirty="0">
                <a:solidFill>
                  <a:srgbClr val="231F20"/>
                </a:solidFill>
                <a:latin typeface="Arial"/>
                <a:cs typeface="Arial"/>
              </a:rPr>
              <a:t> </a:t>
            </a:r>
            <a:r>
              <a:rPr lang="en-GB" sz="2000" dirty="0" err="1">
                <a:solidFill>
                  <a:srgbClr val="231F20"/>
                </a:solidFill>
                <a:latin typeface="Arial"/>
                <a:cs typeface="Arial"/>
              </a:rPr>
              <a:t>vel</a:t>
            </a:r>
            <a:r>
              <a:rPr lang="en-GB" sz="2000" dirty="0">
                <a:solidFill>
                  <a:srgbClr val="231F20"/>
                </a:solidFill>
                <a:latin typeface="Arial"/>
                <a:cs typeface="Arial"/>
              </a:rPr>
              <a:t>,</a:t>
            </a:r>
            <a:r>
              <a:rPr lang="en-GB" sz="2000" spc="-5" dirty="0">
                <a:solidFill>
                  <a:srgbClr val="231F20"/>
                </a:solidFill>
                <a:latin typeface="Arial"/>
                <a:cs typeface="Arial"/>
              </a:rPr>
              <a:t> </a:t>
            </a:r>
            <a:r>
              <a:rPr lang="en-GB" sz="2000" spc="-5" dirty="0" err="1">
                <a:solidFill>
                  <a:srgbClr val="231F20"/>
                </a:solidFill>
                <a:latin typeface="Arial"/>
                <a:cs typeface="Arial"/>
              </a:rPr>
              <a:t>aliquet</a:t>
            </a:r>
            <a:r>
              <a:rPr lang="en-GB" sz="2000" spc="-15" dirty="0">
                <a:solidFill>
                  <a:srgbClr val="231F20"/>
                </a:solidFill>
                <a:latin typeface="Arial"/>
                <a:cs typeface="Arial"/>
              </a:rPr>
              <a:t> </a:t>
            </a:r>
            <a:r>
              <a:rPr lang="en-GB" sz="2000" spc="-5" dirty="0" err="1">
                <a:solidFill>
                  <a:srgbClr val="231F20"/>
                </a:solidFill>
                <a:latin typeface="Arial"/>
                <a:cs typeface="Arial"/>
              </a:rPr>
              <a:t>interdum</a:t>
            </a:r>
            <a:r>
              <a:rPr lang="en-GB" sz="2000" spc="-15" dirty="0">
                <a:solidFill>
                  <a:srgbClr val="231F20"/>
                </a:solidFill>
                <a:latin typeface="Arial"/>
                <a:cs typeface="Arial"/>
              </a:rPr>
              <a:t> </a:t>
            </a:r>
            <a:r>
              <a:rPr lang="en-GB" sz="2000" dirty="0">
                <a:solidFill>
                  <a:srgbClr val="231F20"/>
                </a:solidFill>
                <a:latin typeface="Arial"/>
                <a:cs typeface="Arial"/>
              </a:rPr>
              <a:t>magna.</a:t>
            </a:r>
            <a:endParaRPr lang="en-GB" sz="2000" dirty="0">
              <a:latin typeface="Arial"/>
              <a:cs typeface="Arial"/>
            </a:endParaRPr>
          </a:p>
        </p:txBody>
      </p:sp>
    </p:spTree>
    <p:extLst>
      <p:ext uri="{BB962C8B-B14F-4D97-AF65-F5344CB8AC3E}">
        <p14:creationId xmlns:p14="http://schemas.microsoft.com/office/powerpoint/2010/main" val="36810512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dirty="0"/>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1" name="Picture 10">
            <a:extLst>
              <a:ext uri="{FF2B5EF4-FFF2-40B4-BE49-F238E27FC236}">
                <a16:creationId xmlns:a16="http://schemas.microsoft.com/office/drawing/2014/main" id="{AA8B8DAD-9481-AA47-88A7-BFE49BF958F8}"/>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2113543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BACK COVER">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dirty="0"/>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4572000" cy="1538883"/>
          </a:xfrm>
        </p:spPr>
        <p:txBody>
          <a:bodyPr/>
          <a:lstStyle>
            <a:lvl1pPr marL="0" marR="0" indent="0" defTabSz="914400" eaLnBrk="1" fontAlgn="auto" latinLnBrk="0" hangingPunct="1">
              <a:lnSpc>
                <a:spcPct val="100000"/>
              </a:lnSpc>
              <a:spcBef>
                <a:spcPts val="0"/>
              </a:spcBef>
              <a:spcAft>
                <a:spcPts val="0"/>
              </a:spcAft>
              <a:buClrTx/>
              <a:buSzTx/>
              <a:buFontTx/>
              <a:buNone/>
              <a:tabLst/>
              <a:defRPr sz="2500">
                <a:solidFill>
                  <a:schemeClr val="bg1"/>
                </a:solidFill>
                <a:latin typeface="Arial" panose="020B0604020202020204" pitchFamily="34" charset="0"/>
                <a:cs typeface="Arial" panose="020B0604020202020204"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lang="en-GB"/>
              <a:t>Tel: XXXX XXXXXX</a:t>
            </a:r>
            <a:br>
              <a:rPr lang="en-GB"/>
            </a:br>
            <a:r>
              <a:rPr lang="en-GB"/>
              <a:t>Web: XXXXXXXXXX.XXX</a:t>
            </a:r>
            <a:endParaRPr lang="en-US"/>
          </a:p>
          <a:p>
            <a:pPr lvl="0"/>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0" name="Picture 9">
            <a:extLst>
              <a:ext uri="{FF2B5EF4-FFF2-40B4-BE49-F238E27FC236}">
                <a16:creationId xmlns:a16="http://schemas.microsoft.com/office/drawing/2014/main" id="{055C0B87-51A5-3949-8E61-B0322586B7CE}"/>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15984938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WATERMARK">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62BE2F-60AC-894F-B8EE-A0F0C34CD80D}"/>
              </a:ext>
            </a:extLst>
          </p:cNvPr>
          <p:cNvPicPr>
            <a:picLocks noChangeAspect="1"/>
          </p:cNvPicPr>
          <p:nvPr userDrawn="1"/>
        </p:nvPicPr>
        <p:blipFill>
          <a:blip r:embed="rId2">
            <a:alphaModFix amt="20000"/>
          </a:blip>
          <a:stretch>
            <a:fillRect/>
          </a:stretch>
        </p:blipFill>
        <p:spPr>
          <a:xfrm>
            <a:off x="7082294" y="1720622"/>
            <a:ext cx="4906507" cy="4906507"/>
          </a:xfrm>
          <a:prstGeom prst="rect">
            <a:avLst/>
          </a:prstGeom>
        </p:spPr>
      </p:pic>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dirty="0"/>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3"/>
          <a:stretch>
            <a:fillRect/>
          </a:stretch>
        </p:blipFill>
        <p:spPr>
          <a:xfrm>
            <a:off x="9815421" y="424767"/>
            <a:ext cx="1801776" cy="553129"/>
          </a:xfrm>
          <a:prstGeom prst="rect">
            <a:avLst/>
          </a:prstGeom>
        </p:spPr>
      </p:pic>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27143204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CONTENT TITLE 1">
    <p:bg>
      <p:bgPr>
        <a:solidFill>
          <a:schemeClr val="bg1"/>
        </a:solidFill>
        <a:effectLst/>
      </p:bgPr>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E1C47ABA-B797-8D40-9EA9-D68CBCD1CFA6}"/>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FDB913"/>
          </a:solidFill>
        </p:spPr>
        <p:txBody>
          <a:bodyPr wrap="square" lIns="0" tIns="0" rIns="0" bIns="0" rtlCol="0"/>
          <a:lstStyle/>
          <a:p>
            <a:endParaRPr dirty="0"/>
          </a:p>
        </p:txBody>
      </p:sp>
      <p:pic>
        <p:nvPicPr>
          <p:cNvPr id="10" name="Picture 9">
            <a:extLst>
              <a:ext uri="{FF2B5EF4-FFF2-40B4-BE49-F238E27FC236}">
                <a16:creationId xmlns:a16="http://schemas.microsoft.com/office/drawing/2014/main" id="{D37420C8-369F-9048-9E36-6E4EB475F5E0}"/>
              </a:ext>
            </a:extLst>
          </p:cNvPr>
          <p:cNvPicPr>
            <a:picLocks noChangeAspect="1"/>
          </p:cNvPicPr>
          <p:nvPr userDrawn="1"/>
        </p:nvPicPr>
        <p:blipFill>
          <a:blip r:embed="rId2"/>
          <a:stretch>
            <a:fillRect/>
          </a:stretch>
        </p:blipFill>
        <p:spPr>
          <a:xfrm>
            <a:off x="9815421" y="575923"/>
            <a:ext cx="1801777" cy="553129"/>
          </a:xfrm>
          <a:prstGeom prst="rect">
            <a:avLst/>
          </a:prstGeom>
        </p:spPr>
      </p:pic>
      <p:sp>
        <p:nvSpPr>
          <p:cNvPr id="6" name="object 17">
            <a:extLst>
              <a:ext uri="{FF2B5EF4-FFF2-40B4-BE49-F238E27FC236}">
                <a16:creationId xmlns:a16="http://schemas.microsoft.com/office/drawing/2014/main" id="{D41CAC6E-A1AF-EE41-B7C8-5E89759F1640}"/>
              </a:ext>
            </a:extLst>
          </p:cNvPr>
          <p:cNvSpPr/>
          <p:nvPr userDrawn="1"/>
        </p:nvSpPr>
        <p:spPr>
          <a:xfrm>
            <a:off x="576000" y="3335991"/>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25408D"/>
          </a:solidFill>
        </p:spPr>
        <p:txBody>
          <a:bodyPr wrap="square" lIns="0" tIns="0" rIns="0" bIns="0" rtlCol="0"/>
          <a:lstStyle/>
          <a:p>
            <a:endParaRPr dirty="0"/>
          </a:p>
        </p:txBody>
      </p:sp>
      <p:sp>
        <p:nvSpPr>
          <p:cNvPr id="13" name="Text Placeholder 14">
            <a:extLst>
              <a:ext uri="{FF2B5EF4-FFF2-40B4-BE49-F238E27FC236}">
                <a16:creationId xmlns:a16="http://schemas.microsoft.com/office/drawing/2014/main" id="{4079F3DD-B8B1-A048-BFFD-2B692EB3A3D7}"/>
              </a:ext>
            </a:extLst>
          </p:cNvPr>
          <p:cNvSpPr>
            <a:spLocks noGrp="1"/>
          </p:cNvSpPr>
          <p:nvPr>
            <p:ph type="body" sz="quarter" idx="10" hasCustomPrompt="1"/>
          </p:nvPr>
        </p:nvSpPr>
        <p:spPr>
          <a:xfrm>
            <a:off x="533400" y="4343400"/>
            <a:ext cx="5562600" cy="1538883"/>
          </a:xfrm>
        </p:spPr>
        <p:txBody>
          <a:bodyPr/>
          <a:lstStyle>
            <a:lvl1pPr>
              <a:defRPr sz="5000" b="1" baseline="0">
                <a:solidFill>
                  <a:srgbClr val="24408D"/>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4" name="Text Placeholder 17">
            <a:extLst>
              <a:ext uri="{FF2B5EF4-FFF2-40B4-BE49-F238E27FC236}">
                <a16:creationId xmlns:a16="http://schemas.microsoft.com/office/drawing/2014/main" id="{74190006-AD26-B942-B35A-C304E8CFA96B}"/>
              </a:ext>
            </a:extLst>
          </p:cNvPr>
          <p:cNvSpPr>
            <a:spLocks noGrp="1"/>
          </p:cNvSpPr>
          <p:nvPr>
            <p:ph type="body" sz="quarter" idx="11" hasCustomPrompt="1"/>
          </p:nvPr>
        </p:nvSpPr>
        <p:spPr>
          <a:xfrm>
            <a:off x="533400" y="5971962"/>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sp>
        <p:nvSpPr>
          <p:cNvPr id="15" name="Text Placeholder 2">
            <a:extLst>
              <a:ext uri="{FF2B5EF4-FFF2-40B4-BE49-F238E27FC236}">
                <a16:creationId xmlns:a16="http://schemas.microsoft.com/office/drawing/2014/main" id="{0C25CAF6-6C38-434A-8515-C32412E0E9E0}"/>
              </a:ext>
            </a:extLst>
          </p:cNvPr>
          <p:cNvSpPr>
            <a:spLocks noGrp="1"/>
          </p:cNvSpPr>
          <p:nvPr>
            <p:ph type="body" sz="quarter" idx="12" hasCustomPrompt="1"/>
          </p:nvPr>
        </p:nvSpPr>
        <p:spPr>
          <a:xfrm>
            <a:off x="530280" y="3505200"/>
            <a:ext cx="914400" cy="484748"/>
          </a:xfrm>
        </p:spPr>
        <p:txBody>
          <a:bodyPr/>
          <a:lstStyle>
            <a:lvl1pPr algn="ctr">
              <a:defRPr sz="3150" b="1">
                <a:solidFill>
                  <a:srgbClr val="FDBA13"/>
                </a:solidFill>
                <a:latin typeface="Arial" panose="020B0604020202020204" pitchFamily="34" charset="0"/>
                <a:cs typeface="Arial" panose="020B0604020202020204" pitchFamily="34" charset="0"/>
              </a:defRPr>
            </a:lvl1pPr>
          </a:lstStyle>
          <a:p>
            <a:pPr lvl="0"/>
            <a:r>
              <a:rPr lang="en-GB"/>
              <a:t>01</a:t>
            </a:r>
            <a:endParaRPr lang="en-US"/>
          </a:p>
        </p:txBody>
      </p:sp>
      <p:pic>
        <p:nvPicPr>
          <p:cNvPr id="12" name="Picture 11">
            <a:extLst>
              <a:ext uri="{FF2B5EF4-FFF2-40B4-BE49-F238E27FC236}">
                <a16:creationId xmlns:a16="http://schemas.microsoft.com/office/drawing/2014/main" id="{E681081D-0C96-5943-BBC3-B8DF5ADDFC9E}"/>
              </a:ext>
            </a:extLst>
          </p:cNvPr>
          <p:cNvPicPr>
            <a:picLocks noChangeAspect="1"/>
          </p:cNvPicPr>
          <p:nvPr userDrawn="1"/>
        </p:nvPicPr>
        <p:blipFill>
          <a:blip r:embed="rId3"/>
          <a:stretch>
            <a:fillRect/>
          </a:stretch>
        </p:blipFill>
        <p:spPr>
          <a:xfrm>
            <a:off x="6688305" y="1328905"/>
            <a:ext cx="5300496" cy="5300496"/>
          </a:xfrm>
          <a:prstGeom prst="rect">
            <a:avLst/>
          </a:prstGeom>
        </p:spPr>
      </p:pic>
    </p:spTree>
    <p:extLst>
      <p:ext uri="{BB962C8B-B14F-4D97-AF65-F5344CB8AC3E}">
        <p14:creationId xmlns:p14="http://schemas.microsoft.com/office/powerpoint/2010/main" val="1635939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6" name="Freeform: Shape 55">
            <a:extLst>
              <a:ext uri="{FF2B5EF4-FFF2-40B4-BE49-F238E27FC236}">
                <a16:creationId xmlns:a16="http://schemas.microsoft.com/office/drawing/2014/main" id="{4BD9B2D0-4DAD-4C9A-86A9-6492BED11C88}"/>
              </a:ext>
            </a:extLst>
          </p:cNvPr>
          <p:cNvSpPr>
            <a:spLocks noChangeAspect="1"/>
          </p:cNvSpPr>
          <p:nvPr userDrawn="1"/>
        </p:nvSpPr>
        <p:spPr>
          <a:xfrm flipH="1">
            <a:off x="118237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dirty="0"/>
          </a:p>
        </p:txBody>
      </p:sp>
      <p:grpSp>
        <p:nvGrpSpPr>
          <p:cNvPr id="57" name="Group 56">
            <a:extLst>
              <a:ext uri="{FF2B5EF4-FFF2-40B4-BE49-F238E27FC236}">
                <a16:creationId xmlns:a16="http://schemas.microsoft.com/office/drawing/2014/main" id="{B3597DD2-4311-487A-BDC8-D6C18BBFB2A3}"/>
              </a:ext>
            </a:extLst>
          </p:cNvPr>
          <p:cNvGrpSpPr/>
          <p:nvPr userDrawn="1"/>
        </p:nvGrpSpPr>
        <p:grpSpPr>
          <a:xfrm>
            <a:off x="0" y="445112"/>
            <a:ext cx="368300" cy="746490"/>
            <a:chOff x="0" y="415872"/>
            <a:chExt cx="368300" cy="746490"/>
          </a:xfrm>
        </p:grpSpPr>
        <p:sp>
          <p:nvSpPr>
            <p:cNvPr id="58" name="Freeform: Shape 57">
              <a:extLst>
                <a:ext uri="{FF2B5EF4-FFF2-40B4-BE49-F238E27FC236}">
                  <a16:creationId xmlns:a16="http://schemas.microsoft.com/office/drawing/2014/main" id="{CE9C42D4-C9D4-432A-9D66-DCDC964320FD}"/>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dirty="0"/>
            </a:p>
          </p:txBody>
        </p:sp>
        <p:grpSp>
          <p:nvGrpSpPr>
            <p:cNvPr id="59" name="Group 58">
              <a:extLst>
                <a:ext uri="{FF2B5EF4-FFF2-40B4-BE49-F238E27FC236}">
                  <a16:creationId xmlns:a16="http://schemas.microsoft.com/office/drawing/2014/main" id="{22F65F2D-951E-47A0-AE6C-369C25E83A73}"/>
                </a:ext>
              </a:extLst>
            </p:cNvPr>
            <p:cNvGrpSpPr/>
            <p:nvPr/>
          </p:nvGrpSpPr>
          <p:grpSpPr>
            <a:xfrm>
              <a:off x="78324" y="605745"/>
              <a:ext cx="121701" cy="361477"/>
              <a:chOff x="-12442" y="1663700"/>
              <a:chExt cx="1761630" cy="5232400"/>
            </a:xfrm>
          </p:grpSpPr>
          <p:sp>
            <p:nvSpPr>
              <p:cNvPr id="60" name="Freeform 5">
                <a:extLst>
                  <a:ext uri="{FF2B5EF4-FFF2-40B4-BE49-F238E27FC236}">
                    <a16:creationId xmlns:a16="http://schemas.microsoft.com/office/drawing/2014/main" id="{0FB2E93E-7D77-43B4-8773-6972AD5BFAC5}"/>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tx1"/>
                  </a:solidFill>
                </a:endParaRPr>
              </a:p>
            </p:txBody>
          </p:sp>
          <p:sp>
            <p:nvSpPr>
              <p:cNvPr id="61" name="Freeform 6">
                <a:extLst>
                  <a:ext uri="{FF2B5EF4-FFF2-40B4-BE49-F238E27FC236}">
                    <a16:creationId xmlns:a16="http://schemas.microsoft.com/office/drawing/2014/main" id="{4A43FD87-41BC-4166-AE05-76ECC39D31D0}"/>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tx1"/>
                  </a:solidFill>
                </a:endParaRPr>
              </a:p>
            </p:txBody>
          </p:sp>
        </p:grpSp>
      </p:grpSp>
      <p:sp>
        <p:nvSpPr>
          <p:cNvPr id="2" name="Title Placeholder 1">
            <a:extLst>
              <a:ext uri="{FF2B5EF4-FFF2-40B4-BE49-F238E27FC236}">
                <a16:creationId xmlns:a16="http://schemas.microsoft.com/office/drawing/2014/main" id="{38386F46-B8A7-4A41-B9E3-152DBB5AF39C}"/>
              </a:ext>
            </a:extLst>
          </p:cNvPr>
          <p:cNvSpPr>
            <a:spLocks noGrp="1"/>
          </p:cNvSpPr>
          <p:nvPr>
            <p:ph type="title"/>
          </p:nvPr>
        </p:nvSpPr>
        <p:spPr>
          <a:xfrm>
            <a:off x="710381" y="275771"/>
            <a:ext cx="10783118" cy="1085172"/>
          </a:xfrm>
          <a:prstGeom prst="rect">
            <a:avLst/>
          </a:prstGeom>
        </p:spPr>
        <p:txBody>
          <a:bodyPr vert="horz" lIns="0" tIns="45720" rIns="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03B2E23-FA8D-4BFB-8633-584027D63898}"/>
              </a:ext>
            </a:extLst>
          </p:cNvPr>
          <p:cNvSpPr>
            <a:spLocks noGrp="1"/>
          </p:cNvSpPr>
          <p:nvPr>
            <p:ph type="body" idx="1"/>
          </p:nvPr>
        </p:nvSpPr>
        <p:spPr>
          <a:xfrm>
            <a:off x="710381" y="1749425"/>
            <a:ext cx="10783118" cy="417512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67AB9E95-2B69-4CC2-AA68-608768FABD0E}"/>
              </a:ext>
            </a:extLst>
          </p:cNvPr>
          <p:cNvSpPr>
            <a:spLocks noGrp="1"/>
          </p:cNvSpPr>
          <p:nvPr>
            <p:ph type="ftr" sz="quarter" idx="3"/>
          </p:nvPr>
        </p:nvSpPr>
        <p:spPr>
          <a:xfrm>
            <a:off x="7382881" y="6387307"/>
            <a:ext cx="4114800" cy="199231"/>
          </a:xfrm>
          <a:prstGeom prst="rect">
            <a:avLst/>
          </a:prstGeom>
        </p:spPr>
        <p:txBody>
          <a:bodyPr vert="horz" lIns="0" tIns="0" rIns="0" bIns="0" rtlCol="0" anchor="ctr"/>
          <a:lstStyle>
            <a:lvl1pPr algn="r">
              <a:defRPr sz="1050">
                <a:solidFill>
                  <a:schemeClr val="tx1"/>
                </a:solidFill>
              </a:defRPr>
            </a:lvl1pPr>
          </a:lstStyle>
          <a:p>
            <a:r>
              <a:rPr lang="en-US" dirty="0"/>
              <a:t>Go to Insert &gt; Header &amp; Footer to edit footer text</a:t>
            </a:r>
            <a:endParaRPr lang="en-GB" dirty="0"/>
          </a:p>
        </p:txBody>
      </p:sp>
      <p:sp>
        <p:nvSpPr>
          <p:cNvPr id="6" name="Slide Number Placeholder 5">
            <a:extLst>
              <a:ext uri="{FF2B5EF4-FFF2-40B4-BE49-F238E27FC236}">
                <a16:creationId xmlns:a16="http://schemas.microsoft.com/office/drawing/2014/main" id="{6CC352AB-4E9A-4CB2-BC09-E1F646D7F671}"/>
              </a:ext>
            </a:extLst>
          </p:cNvPr>
          <p:cNvSpPr>
            <a:spLocks noGrp="1"/>
          </p:cNvSpPr>
          <p:nvPr>
            <p:ph type="sldNum" sz="quarter" idx="4"/>
          </p:nvPr>
        </p:nvSpPr>
        <p:spPr>
          <a:xfrm>
            <a:off x="11785600" y="635795"/>
            <a:ext cx="368300" cy="365125"/>
          </a:xfrm>
          <a:prstGeom prst="rect">
            <a:avLst/>
          </a:prstGeom>
        </p:spPr>
        <p:txBody>
          <a:bodyPr vert="horz" lIns="0" tIns="0" rIns="0" bIns="0" rtlCol="0" anchor="ctr"/>
          <a:lstStyle>
            <a:lvl1pPr algn="r">
              <a:defRPr sz="1050">
                <a:solidFill>
                  <a:schemeClr val="bg1"/>
                </a:solidFill>
              </a:defRPr>
            </a:lvl1pPr>
          </a:lstStyle>
          <a:p>
            <a:fld id="{FAEEC637-5006-4E50-A83C-29CEB747C05F}" type="slidenum">
              <a:rPr lang="en-GB" smtClean="0"/>
              <a:pPr/>
              <a:t>‹#›</a:t>
            </a:fld>
            <a:endParaRPr lang="en-GB" dirty="0"/>
          </a:p>
        </p:txBody>
      </p:sp>
    </p:spTree>
    <p:extLst>
      <p:ext uri="{BB962C8B-B14F-4D97-AF65-F5344CB8AC3E}">
        <p14:creationId xmlns:p14="http://schemas.microsoft.com/office/powerpoint/2010/main" val="3869993894"/>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737" r:id="rId3"/>
    <p:sldLayoutId id="2147483747" r:id="rId4"/>
    <p:sldLayoutId id="2147483748" r:id="rId5"/>
    <p:sldLayoutId id="2147483749" r:id="rId6"/>
    <p:sldLayoutId id="2147483656" r:id="rId7"/>
    <p:sldLayoutId id="2147483657" r:id="rId8"/>
    <p:sldLayoutId id="2147483658" r:id="rId9"/>
    <p:sldLayoutId id="2147483654" r:id="rId10"/>
    <p:sldLayoutId id="2147483655" r:id="rId11"/>
    <p:sldLayoutId id="2147483746" r:id="rId12"/>
    <p:sldLayoutId id="2147483750" r:id="rId13"/>
    <p:sldLayoutId id="2147483751" r:id="rId14"/>
    <p:sldLayoutId id="2147483754" r:id="rId15"/>
    <p:sldLayoutId id="2147483755" r:id="rId16"/>
    <p:sldLayoutId id="2147483756"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38" userDrawn="1">
          <p15:clr>
            <a:srgbClr val="F26B43"/>
          </p15:clr>
        </p15:guide>
        <p15:guide id="3" pos="7242" userDrawn="1">
          <p15:clr>
            <a:srgbClr val="F26B43"/>
          </p15:clr>
        </p15:guide>
        <p15:guide id="4" orient="horz" pos="3744" userDrawn="1">
          <p15:clr>
            <a:srgbClr val="F26B43"/>
          </p15:clr>
        </p15:guide>
        <p15:guide id="5" orient="horz" pos="109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5.jpe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9.svg"/><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26.svg"/><Relationship Id="rId4" Type="http://schemas.openxmlformats.org/officeDocument/2006/relationships/image" Target="../media/image25.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hyperlink" Target="https://www.mathsisfun.com/data/standard-deviation-formulas.html"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3.svg"/></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36.svg"/><Relationship Id="rId4" Type="http://schemas.openxmlformats.org/officeDocument/2006/relationships/image" Target="../media/image35.sv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27.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chart" Target="../charts/char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notesSlide" Target="../notesSlides/notesSlide34.xml"/><Relationship Id="rId1" Type="http://schemas.openxmlformats.org/officeDocument/2006/relationships/slideLayout" Target="../slideLayouts/slideLayout13.xml"/><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47.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svg"/><Relationship Id="rId7" Type="http://schemas.openxmlformats.org/officeDocument/2006/relationships/image" Target="../media/image56.svg"/><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55.svg"/><Relationship Id="rId5" Type="http://schemas.openxmlformats.org/officeDocument/2006/relationships/image" Target="../media/image54.svg"/><Relationship Id="rId4" Type="http://schemas.openxmlformats.org/officeDocument/2006/relationships/image" Target="../media/image53.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hyperlink" Target="https://www.mathsisfun.com/data/standard-deviation-formulas.html" TargetMode="External"/><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hyperlink" Target="https://youtu.be/uGgd3iiQrUI?si=3vBFuoFLaePtKNL6" TargetMode="External"/><Relationship Id="rId5" Type="http://schemas.openxmlformats.org/officeDocument/2006/relationships/hyperlink" Target="https://youtu.be/Aj7lJLR-7b4?si=FNq6yV6vMml70oLZ" TargetMode="External"/><Relationship Id="rId4" Type="http://schemas.openxmlformats.org/officeDocument/2006/relationships/hyperlink" Target="https://youtu.be/os17KYZAnd0?si=4dbZqunnxfwM9BgB"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4" name="Text Placeholder 3">
            <a:extLst>
              <a:ext uri="{FF2B5EF4-FFF2-40B4-BE49-F238E27FC236}">
                <a16:creationId xmlns:a16="http://schemas.microsoft.com/office/drawing/2014/main" id="{E0578AD4-E9AB-144D-8D25-75B212E9DAFE}"/>
              </a:ext>
            </a:extLst>
          </p:cNvPr>
          <p:cNvSpPr>
            <a:spLocks noGrp="1"/>
          </p:cNvSpPr>
          <p:nvPr>
            <p:ph type="body" sz="quarter" idx="10"/>
          </p:nvPr>
        </p:nvSpPr>
        <p:spPr>
          <a:xfrm>
            <a:off x="533400" y="2318598"/>
            <a:ext cx="5562600" cy="769441"/>
          </a:xfrm>
        </p:spPr>
        <p:txBody>
          <a:bodyPr>
            <a:noAutofit/>
          </a:bodyPr>
          <a:lstStyle/>
          <a:p>
            <a:r>
              <a:rPr lang="en-US" sz="4000" noProof="0" dirty="0"/>
              <a:t>Statistical Process Control (SPC)</a:t>
            </a:r>
          </a:p>
        </p:txBody>
      </p:sp>
      <p:sp>
        <p:nvSpPr>
          <p:cNvPr id="5" name="Text Placeholder 4">
            <a:extLst>
              <a:ext uri="{FF2B5EF4-FFF2-40B4-BE49-F238E27FC236}">
                <a16:creationId xmlns:a16="http://schemas.microsoft.com/office/drawing/2014/main" id="{921EE887-B48F-AD4F-8697-4305800340F0}"/>
              </a:ext>
            </a:extLst>
          </p:cNvPr>
          <p:cNvSpPr>
            <a:spLocks noGrp="1"/>
          </p:cNvSpPr>
          <p:nvPr>
            <p:ph type="body" sz="quarter" idx="11"/>
          </p:nvPr>
        </p:nvSpPr>
        <p:spPr>
          <a:xfrm>
            <a:off x="533400" y="3947160"/>
            <a:ext cx="2743200" cy="1077218"/>
          </a:xfrm>
        </p:spPr>
        <p:txBody>
          <a:bodyPr vert="horz" lIns="0" tIns="0" rIns="0" bIns="0" rtlCol="0" anchor="t">
            <a:normAutofit fontScale="92500" lnSpcReduction="20000"/>
          </a:bodyPr>
          <a:lstStyle/>
          <a:p>
            <a:r>
              <a:rPr lang="en-US" noProof="0" dirty="0">
                <a:latin typeface="Arial"/>
                <a:cs typeface="Arial"/>
              </a:rPr>
              <a:t>CONTROL LSS27</a:t>
            </a:r>
            <a:endParaRPr lang="en-US" noProof="0" dirty="0"/>
          </a:p>
          <a:p>
            <a:endParaRPr lang="en-US" noProof="0" dirty="0"/>
          </a:p>
          <a:p>
            <a:r>
              <a:rPr lang="en-US" sz="1800" noProof="0" dirty="0"/>
              <a:t>Version: June 26</a:t>
            </a:r>
          </a:p>
        </p:txBody>
      </p:sp>
      <p:pic>
        <p:nvPicPr>
          <p:cNvPr id="3" name="Picture 2">
            <a:extLst>
              <a:ext uri="{FF2B5EF4-FFF2-40B4-BE49-F238E27FC236}">
                <a16:creationId xmlns:a16="http://schemas.microsoft.com/office/drawing/2014/main" id="{474B6F59-1714-E729-3457-60CE46C39604}"/>
              </a:ext>
            </a:extLst>
          </p:cNvPr>
          <p:cNvPicPr>
            <a:picLocks noChangeAspect="1"/>
          </p:cNvPicPr>
          <p:nvPr/>
        </p:nvPicPr>
        <p:blipFill>
          <a:blip r:embed="rId3"/>
          <a:stretch>
            <a:fillRect/>
          </a:stretch>
        </p:blipFill>
        <p:spPr>
          <a:xfrm>
            <a:off x="362770" y="5574924"/>
            <a:ext cx="2136590" cy="8287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graphicFrame>
        <p:nvGraphicFramePr>
          <p:cNvPr id="6" name="Diagram 5">
            <a:extLst>
              <a:ext uri="{FF2B5EF4-FFF2-40B4-BE49-F238E27FC236}">
                <a16:creationId xmlns:a16="http://schemas.microsoft.com/office/drawing/2014/main" id="{CCCACFAE-A132-4400-9E56-83527DBA58C4}"/>
              </a:ext>
            </a:extLst>
          </p:cNvPr>
          <p:cNvGraphicFramePr/>
          <p:nvPr>
            <p:extLst>
              <p:ext uri="{D42A27DB-BD31-4B8C-83A1-F6EECF244321}">
                <p14:modId xmlns:p14="http://schemas.microsoft.com/office/powerpoint/2010/main" val="2175371004"/>
              </p:ext>
            </p:extLst>
          </p:nvPr>
        </p:nvGraphicFramePr>
        <p:xfrm>
          <a:off x="8213264" y="2936929"/>
          <a:ext cx="2642464" cy="24824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ontent Placeholder 2">
            <a:extLst>
              <a:ext uri="{FF2B5EF4-FFF2-40B4-BE49-F238E27FC236}">
                <a16:creationId xmlns:a16="http://schemas.microsoft.com/office/drawing/2014/main" id="{E3D32149-25D8-4281-BAD0-B8E86575DD2F}"/>
              </a:ext>
            </a:extLst>
          </p:cNvPr>
          <p:cNvSpPr txBox="1">
            <a:spLocks/>
          </p:cNvSpPr>
          <p:nvPr/>
        </p:nvSpPr>
        <p:spPr>
          <a:xfrm>
            <a:off x="1155241" y="2936378"/>
            <a:ext cx="4937608" cy="3584019"/>
          </a:xfrm>
          <a:prstGeom prst="rect">
            <a:avLst/>
          </a:prstGeom>
          <a:ln w="19050">
            <a:solidFill>
              <a:srgbClr val="7030A0"/>
            </a:solidFill>
            <a:prstDash val="dash"/>
          </a:ln>
        </p:spPr>
        <p:txBody>
          <a:bodyPr lIns="91440" tIns="45720" rIns="91440" bIns="45720" anchor="t">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n-US" b="1" kern="0" noProof="0" dirty="0">
              <a:solidFill>
                <a:sysClr val="windowText" lastClr="000000"/>
              </a:solidFill>
              <a:latin typeface="+mj-lt"/>
              <a:cs typeface="Arial" panose="020B0604020202020204" pitchFamily="34" charset="0"/>
            </a:endParaRPr>
          </a:p>
          <a:p>
            <a:pPr algn="ctr"/>
            <a:r>
              <a:rPr lang="en-US" sz="3200" b="1" kern="0" noProof="0" dirty="0">
                <a:solidFill>
                  <a:srgbClr val="7030A0"/>
                </a:solidFill>
                <a:latin typeface="+mj-lt"/>
                <a:cs typeface="Arial" panose="020B0604020202020204" pitchFamily="34" charset="0"/>
              </a:rPr>
              <a:t>Virtual Classroom</a:t>
            </a:r>
          </a:p>
          <a:p>
            <a:pPr algn="ctr"/>
            <a:r>
              <a:rPr lang="en-US" sz="3200" b="1" kern="0" noProof="0" dirty="0">
                <a:solidFill>
                  <a:srgbClr val="7030A0"/>
                </a:solidFill>
                <a:latin typeface="+mj-lt"/>
                <a:cs typeface="Arial" panose="020B0604020202020204" pitchFamily="34" charset="0"/>
              </a:rPr>
              <a:t>Module</a:t>
            </a:r>
          </a:p>
          <a:p>
            <a:pPr algn="ctr"/>
            <a:endParaRPr lang="en-US" kern="0" noProof="0" dirty="0">
              <a:solidFill>
                <a:srgbClr val="24408D"/>
              </a:solidFill>
              <a:latin typeface="+mj-lt"/>
              <a:cs typeface="Arial" panose="020B0604020202020204" pitchFamily="34" charset="0"/>
            </a:endParaRPr>
          </a:p>
          <a:p>
            <a:pPr marL="285750" indent="-285750">
              <a:buFont typeface="Arial" panose="020B0604020202020204" pitchFamily="34" charset="0"/>
              <a:buChar char="•"/>
            </a:pPr>
            <a:r>
              <a:rPr lang="en-US" kern="0" dirty="0">
                <a:solidFill>
                  <a:schemeClr val="accent5"/>
                </a:solidFill>
                <a:latin typeface="+mj-lt"/>
                <a:cs typeface="Arial"/>
              </a:rPr>
              <a:t>90 mins</a:t>
            </a:r>
            <a:r>
              <a:rPr lang="en-US" kern="0" noProof="0" dirty="0">
                <a:solidFill>
                  <a:schemeClr val="accent5"/>
                </a:solidFill>
                <a:latin typeface="+mj-lt"/>
                <a:cs typeface="Arial"/>
              </a:rPr>
              <a:t> together.</a:t>
            </a:r>
          </a:p>
          <a:p>
            <a:pPr marL="285750" indent="-285750">
              <a:buFont typeface="Arial" panose="020B0604020202020204" pitchFamily="34" charset="0"/>
              <a:buChar char="•"/>
            </a:pPr>
            <a:endParaRPr lang="en-US" kern="0" noProof="0" dirty="0">
              <a:solidFill>
                <a:schemeClr val="accent5"/>
              </a:solidFill>
              <a:latin typeface="+mj-lt"/>
              <a:cs typeface="Arial" panose="020B0604020202020204" pitchFamily="34" charset="0"/>
            </a:endParaRPr>
          </a:p>
          <a:p>
            <a:pPr marL="285750" indent="-285750">
              <a:buFont typeface="Arial" panose="020B0604020202020204" pitchFamily="34" charset="0"/>
              <a:buChar char="•"/>
            </a:pPr>
            <a:r>
              <a:rPr lang="en-US" kern="0" noProof="0" dirty="0">
                <a:solidFill>
                  <a:schemeClr val="accent5"/>
                </a:solidFill>
                <a:latin typeface="+mj-lt"/>
                <a:cs typeface="Arial" panose="020B0604020202020204" pitchFamily="34" charset="0"/>
              </a:rPr>
              <a:t>Please mute your microphone if you are not speaking.</a:t>
            </a:r>
          </a:p>
          <a:p>
            <a:pPr marL="285750" indent="-285750">
              <a:buFont typeface="Arial" panose="020B0604020202020204" pitchFamily="34" charset="0"/>
              <a:buChar char="•"/>
            </a:pPr>
            <a:endParaRPr lang="en-US" kern="0" noProof="0" dirty="0">
              <a:solidFill>
                <a:schemeClr val="accent5"/>
              </a:solidFill>
              <a:latin typeface="+mj-lt"/>
              <a:cs typeface="Arial" panose="020B0604020202020204" pitchFamily="34" charset="0"/>
            </a:endParaRPr>
          </a:p>
          <a:p>
            <a:pPr marL="285750" indent="-285750">
              <a:buFont typeface="Arial" panose="020B0604020202020204" pitchFamily="34" charset="0"/>
              <a:buChar char="•"/>
            </a:pPr>
            <a:r>
              <a:rPr lang="en-US" kern="0" noProof="0" dirty="0">
                <a:solidFill>
                  <a:schemeClr val="accent5"/>
                </a:solidFill>
                <a:latin typeface="+mj-lt"/>
                <a:cs typeface="Arial" panose="020B0604020202020204" pitchFamily="34" charset="0"/>
              </a:rPr>
              <a:t>Q&amp;A during the session in chat.</a:t>
            </a:r>
          </a:p>
          <a:p>
            <a:pPr marL="742950" lvl="1" indent="-285750">
              <a:buFont typeface="Courier New" panose="02070309020205020404" pitchFamily="49" charset="0"/>
              <a:buChar char="o"/>
            </a:pPr>
            <a:endParaRPr lang="en-US" kern="0" noProof="0" dirty="0">
              <a:latin typeface="+mj-lt"/>
              <a:cs typeface="Arial" panose="020B0604020202020204" pitchFamily="34" charset="0"/>
            </a:endParaRPr>
          </a:p>
          <a:p>
            <a:pPr algn="ctr"/>
            <a:endParaRPr lang="en-US" kern="0" noProof="0" dirty="0">
              <a:solidFill>
                <a:sysClr val="windowText" lastClr="000000"/>
              </a:solidFill>
              <a:latin typeface="+mj-lt"/>
              <a:cs typeface="Arial" panose="020B0604020202020204" pitchFamily="34" charset="0"/>
            </a:endParaRPr>
          </a:p>
          <a:p>
            <a:pPr marL="342900" indent="-342900">
              <a:buFont typeface="+mj-lt"/>
              <a:buAutoNum type="arabicPeriod"/>
            </a:pPr>
            <a:endParaRPr lang="en-US" kern="0" noProof="0" dirty="0">
              <a:solidFill>
                <a:sysClr val="windowText" lastClr="000000"/>
              </a:solidFill>
              <a:latin typeface="+mj-lt"/>
              <a:cs typeface="Arial" panose="020B0604020202020204" pitchFamily="34" charset="0"/>
            </a:endParaRPr>
          </a:p>
          <a:p>
            <a:endParaRPr lang="en-US" kern="0" noProof="0" dirty="0">
              <a:solidFill>
                <a:sysClr val="windowText" lastClr="000000"/>
              </a:solidFill>
              <a:latin typeface="+mj-lt"/>
              <a:cs typeface="Arial" panose="020B0604020202020204" pitchFamily="34" charset="0"/>
            </a:endParaRPr>
          </a:p>
          <a:p>
            <a:endParaRPr lang="en-US" kern="0" noProof="0" dirty="0">
              <a:solidFill>
                <a:sysClr val="windowText" lastClr="000000"/>
              </a:solidFill>
              <a:latin typeface="+mj-lt"/>
              <a:cs typeface="Arial" panose="020B0604020202020204" pitchFamily="34" charset="0"/>
            </a:endParaRPr>
          </a:p>
        </p:txBody>
      </p:sp>
      <p:pic>
        <p:nvPicPr>
          <p:cNvPr id="15" name="Picture 14" descr="Person looking at computer screen">
            <a:extLst>
              <a:ext uri="{FF2B5EF4-FFF2-40B4-BE49-F238E27FC236}">
                <a16:creationId xmlns:a16="http://schemas.microsoft.com/office/drawing/2014/main" id="{EB488F81-090F-BC66-CC52-FB408F706967}"/>
              </a:ext>
            </a:extLst>
          </p:cNvPr>
          <p:cNvPicPr>
            <a:picLocks noChangeAspect="1"/>
          </p:cNvPicPr>
          <p:nvPr/>
        </p:nvPicPr>
        <p:blipFill>
          <a:blip r:embed="rId8"/>
          <a:srcRect r="234"/>
          <a:stretch>
            <a:fillRect/>
          </a:stretch>
        </p:blipFill>
        <p:spPr>
          <a:xfrm>
            <a:off x="338818" y="447675"/>
            <a:ext cx="3107398" cy="2076450"/>
          </a:xfrm>
          <a:prstGeom prst="rect">
            <a:avLst/>
          </a:prstGeom>
        </p:spPr>
      </p:pic>
      <p:pic>
        <p:nvPicPr>
          <p:cNvPr id="16" name="Picture 15" descr="Woman looking at computer screen">
            <a:extLst>
              <a:ext uri="{FF2B5EF4-FFF2-40B4-BE49-F238E27FC236}">
                <a16:creationId xmlns:a16="http://schemas.microsoft.com/office/drawing/2014/main" id="{E737F480-408F-6CCD-512C-421C8AC2B256}"/>
              </a:ext>
            </a:extLst>
          </p:cNvPr>
          <p:cNvPicPr>
            <a:picLocks noChangeAspect="1"/>
          </p:cNvPicPr>
          <p:nvPr/>
        </p:nvPicPr>
        <p:blipFill>
          <a:blip r:embed="rId9"/>
          <a:srcRect/>
          <a:stretch>
            <a:fillRect/>
          </a:stretch>
        </p:blipFill>
        <p:spPr>
          <a:xfrm>
            <a:off x="3624036" y="438150"/>
            <a:ext cx="3114675" cy="2076450"/>
          </a:xfrm>
          <a:prstGeom prst="rect">
            <a:avLst/>
          </a:prstGeom>
        </p:spPr>
      </p:pic>
    </p:spTree>
    <p:extLst>
      <p:ext uri="{BB962C8B-B14F-4D97-AF65-F5344CB8AC3E}">
        <p14:creationId xmlns:p14="http://schemas.microsoft.com/office/powerpoint/2010/main" val="3161517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533400" y="345110"/>
            <a:ext cx="7239000" cy="553998"/>
          </a:xfrm>
        </p:spPr>
        <p:txBody>
          <a:bodyPr>
            <a:normAutofit/>
          </a:bodyPr>
          <a:lstStyle/>
          <a:p>
            <a:r>
              <a:rPr lang="en-US" sz="3200" dirty="0">
                <a:latin typeface="+mj-lt"/>
              </a:rPr>
              <a:t>Control</a:t>
            </a:r>
            <a:r>
              <a:rPr lang="en-US" sz="3300" dirty="0"/>
              <a:t> Modules</a:t>
            </a:r>
          </a:p>
        </p:txBody>
      </p:sp>
      <p:sp>
        <p:nvSpPr>
          <p:cNvPr id="9" name="TextBox 8">
            <a:extLst>
              <a:ext uri="{FF2B5EF4-FFF2-40B4-BE49-F238E27FC236}">
                <a16:creationId xmlns:a16="http://schemas.microsoft.com/office/drawing/2014/main" id="{C466EA28-7C2A-41C6-A28D-3948DA1E39D5}"/>
              </a:ext>
            </a:extLst>
          </p:cNvPr>
          <p:cNvSpPr txBox="1"/>
          <p:nvPr/>
        </p:nvSpPr>
        <p:spPr>
          <a:xfrm>
            <a:off x="414731" y="1532346"/>
            <a:ext cx="8857857" cy="369332"/>
          </a:xfrm>
          <a:prstGeom prst="rect">
            <a:avLst/>
          </a:prstGeom>
          <a:noFill/>
        </p:spPr>
        <p:txBody>
          <a:bodyPr wrap="square">
            <a:spAutoFit/>
          </a:bodyPr>
          <a:lstStyle/>
          <a:p>
            <a:r>
              <a:rPr lang="en-US" noProof="0" dirty="0">
                <a:solidFill>
                  <a:schemeClr val="accent5"/>
                </a:solidFill>
                <a:latin typeface="+mj-lt"/>
                <a:cs typeface="Arial" panose="020B0604020202020204" pitchFamily="34" charset="0"/>
              </a:rPr>
              <a:t>Statistical Process Control is 1 of 2 modules you will study in </a:t>
            </a:r>
            <a:r>
              <a:rPr lang="en-US" b="1" noProof="0" dirty="0">
                <a:solidFill>
                  <a:srgbClr val="7030A0"/>
                </a:solidFill>
                <a:latin typeface="+mj-lt"/>
                <a:cs typeface="Arial" panose="020B0604020202020204" pitchFamily="34" charset="0"/>
              </a:rPr>
              <a:t>Control</a:t>
            </a:r>
            <a:r>
              <a:rPr lang="en-US" noProof="0" dirty="0">
                <a:solidFill>
                  <a:schemeClr val="accent5"/>
                </a:solidFill>
                <a:latin typeface="+mj-lt"/>
                <a:cs typeface="Arial" panose="020B0604020202020204" pitchFamily="34" charset="0"/>
              </a:rPr>
              <a:t>:</a:t>
            </a:r>
          </a:p>
        </p:txBody>
      </p:sp>
      <p:grpSp>
        <p:nvGrpSpPr>
          <p:cNvPr id="2" name="Group 1">
            <a:extLst>
              <a:ext uri="{FF2B5EF4-FFF2-40B4-BE49-F238E27FC236}">
                <a16:creationId xmlns:a16="http://schemas.microsoft.com/office/drawing/2014/main" id="{B49DF827-C956-4427-ADBC-30364D40F589}"/>
              </a:ext>
            </a:extLst>
          </p:cNvPr>
          <p:cNvGrpSpPr/>
          <p:nvPr/>
        </p:nvGrpSpPr>
        <p:grpSpPr>
          <a:xfrm>
            <a:off x="533401" y="2251847"/>
            <a:ext cx="4148952" cy="1118610"/>
            <a:chOff x="414732" y="2246942"/>
            <a:chExt cx="5461983" cy="1533673"/>
          </a:xfrm>
          <a:solidFill>
            <a:srgbClr val="7030A0"/>
          </a:solidFill>
        </p:grpSpPr>
        <p:sp>
          <p:nvSpPr>
            <p:cNvPr id="11" name="Rectangle: Rounded Corners 10">
              <a:extLst>
                <a:ext uri="{FF2B5EF4-FFF2-40B4-BE49-F238E27FC236}">
                  <a16:creationId xmlns:a16="http://schemas.microsoft.com/office/drawing/2014/main" id="{58AC4F61-03E5-43E5-8DF4-E663A4539C56}"/>
                </a:ext>
              </a:extLst>
            </p:cNvPr>
            <p:cNvSpPr/>
            <p:nvPr/>
          </p:nvSpPr>
          <p:spPr>
            <a:xfrm>
              <a:off x="429548" y="2246942"/>
              <a:ext cx="5447166" cy="691633"/>
            </a:xfrm>
            <a:prstGeom prst="roundRect">
              <a:avLst/>
            </a:prstGeom>
            <a:grp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dirty="0">
                  <a:solidFill>
                    <a:schemeClr val="bg1"/>
                  </a:solidFill>
                  <a:latin typeface="+mj-lt"/>
                  <a:cs typeface="Arial" panose="020B0604020202020204" pitchFamily="34" charset="0"/>
                </a:rPr>
                <a:t>LSS26</a:t>
              </a:r>
              <a:r>
                <a:rPr lang="en-US" b="1" noProof="0" dirty="0">
                  <a:solidFill>
                    <a:schemeClr val="bg1"/>
                  </a:solidFill>
                  <a:latin typeface="+mj-lt"/>
                  <a:cs typeface="Arial" panose="020B0604020202020204" pitchFamily="34" charset="0"/>
                </a:rPr>
                <a:t>	Intro to Control</a:t>
              </a:r>
            </a:p>
          </p:txBody>
        </p:sp>
        <p:sp>
          <p:nvSpPr>
            <p:cNvPr id="12" name="Rectangle: Rounded Corners 11">
              <a:extLst>
                <a:ext uri="{FF2B5EF4-FFF2-40B4-BE49-F238E27FC236}">
                  <a16:creationId xmlns:a16="http://schemas.microsoft.com/office/drawing/2014/main" id="{F22C3B31-FD7C-4611-82B7-9B342AAD1CE8}"/>
                </a:ext>
              </a:extLst>
            </p:cNvPr>
            <p:cNvSpPr/>
            <p:nvPr/>
          </p:nvSpPr>
          <p:spPr>
            <a:xfrm>
              <a:off x="414732" y="3088982"/>
              <a:ext cx="5461983" cy="691633"/>
            </a:xfrm>
            <a:prstGeom prst="roundRect">
              <a:avLst/>
            </a:prstGeom>
            <a:solidFill>
              <a:srgbClr val="BF95DF"/>
            </a:solidFill>
            <a:ln w="57150">
              <a:solidFill>
                <a:srgbClr val="BF95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dirty="0">
                  <a:solidFill>
                    <a:schemeClr val="accent5"/>
                  </a:solidFill>
                  <a:latin typeface="+mj-lt"/>
                  <a:cs typeface="Arial" panose="020B0604020202020204" pitchFamily="34" charset="0"/>
                </a:rPr>
                <a:t>LSS27</a:t>
              </a:r>
              <a:r>
                <a:rPr lang="en-US" b="1" noProof="0" dirty="0">
                  <a:solidFill>
                    <a:schemeClr val="accent5"/>
                  </a:solidFill>
                  <a:latin typeface="+mj-lt"/>
                  <a:cs typeface="Arial" panose="020B0604020202020204" pitchFamily="34" charset="0"/>
                </a:rPr>
                <a:t>	Statistical Process Control</a:t>
              </a:r>
            </a:p>
          </p:txBody>
        </p:sp>
      </p:grpSp>
      <p:graphicFrame>
        <p:nvGraphicFramePr>
          <p:cNvPr id="8" name="Diagram 7">
            <a:extLst>
              <a:ext uri="{FF2B5EF4-FFF2-40B4-BE49-F238E27FC236}">
                <a16:creationId xmlns:a16="http://schemas.microsoft.com/office/drawing/2014/main" id="{19B4BB27-7BE6-D9B0-D3B5-910F593C4C32}"/>
              </a:ext>
            </a:extLst>
          </p:cNvPr>
          <p:cNvGraphicFramePr/>
          <p:nvPr>
            <p:extLst>
              <p:ext uri="{D42A27DB-BD31-4B8C-83A1-F6EECF244321}">
                <p14:modId xmlns:p14="http://schemas.microsoft.com/office/powerpoint/2010/main" val="2146158301"/>
              </p:ext>
            </p:extLst>
          </p:nvPr>
        </p:nvGraphicFramePr>
        <p:xfrm>
          <a:off x="6359637" y="2251846"/>
          <a:ext cx="5638800" cy="45234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1905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8" y="457200"/>
            <a:ext cx="5562600" cy="492443"/>
          </a:xfrm>
        </p:spPr>
        <p:txBody>
          <a:bodyPr>
            <a:noAutofit/>
          </a:bodyPr>
          <a:lstStyle/>
          <a:p>
            <a:r>
              <a:rPr lang="en-US" sz="3300" dirty="0">
                <a:latin typeface="+mj-lt"/>
              </a:rPr>
              <a:t>Module Learning Outcomes</a:t>
            </a:r>
          </a:p>
        </p:txBody>
      </p:sp>
      <p:pic>
        <p:nvPicPr>
          <p:cNvPr id="10" name="Picture 9" descr="Person working with laptop and notepad">
            <a:extLst>
              <a:ext uri="{FF2B5EF4-FFF2-40B4-BE49-F238E27FC236}">
                <a16:creationId xmlns:a16="http://schemas.microsoft.com/office/drawing/2014/main" id="{B10F143C-6FB9-432F-A6D2-05F04FC0F3A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376" b="13354"/>
          <a:stretch/>
        </p:blipFill>
        <p:spPr>
          <a:xfrm>
            <a:off x="6253074" y="2209800"/>
            <a:ext cx="5938926" cy="3340641"/>
          </a:xfrm>
          <a:prstGeom prst="rect">
            <a:avLst/>
          </a:prstGeom>
        </p:spPr>
      </p:pic>
      <p:graphicFrame>
        <p:nvGraphicFramePr>
          <p:cNvPr id="12" name="Table 12">
            <a:extLst>
              <a:ext uri="{FF2B5EF4-FFF2-40B4-BE49-F238E27FC236}">
                <a16:creationId xmlns:a16="http://schemas.microsoft.com/office/drawing/2014/main" id="{EF9E26F7-5659-4DE6-8C31-180EC39A74F4}"/>
              </a:ext>
            </a:extLst>
          </p:cNvPr>
          <p:cNvGraphicFramePr>
            <a:graphicFrameLocks noGrp="1"/>
          </p:cNvGraphicFramePr>
          <p:nvPr>
            <p:extLst>
              <p:ext uri="{D42A27DB-BD31-4B8C-83A1-F6EECF244321}">
                <p14:modId xmlns:p14="http://schemas.microsoft.com/office/powerpoint/2010/main" val="2456413667"/>
              </p:ext>
            </p:extLst>
          </p:nvPr>
        </p:nvGraphicFramePr>
        <p:xfrm>
          <a:off x="487868" y="2398368"/>
          <a:ext cx="5150932" cy="2963948"/>
        </p:xfrm>
        <a:graphic>
          <a:graphicData uri="http://schemas.openxmlformats.org/drawingml/2006/table">
            <a:tbl>
              <a:tblPr firstRow="1" bandRow="1">
                <a:tableStyleId>{5C22544A-7EE6-4342-B048-85BDC9FD1C3A}</a:tableStyleId>
              </a:tblPr>
              <a:tblGrid>
                <a:gridCol w="5150932">
                  <a:extLst>
                    <a:ext uri="{9D8B030D-6E8A-4147-A177-3AD203B41FA5}">
                      <a16:colId xmlns:a16="http://schemas.microsoft.com/office/drawing/2014/main" val="3720059813"/>
                    </a:ext>
                  </a:extLst>
                </a:gridCol>
              </a:tblGrid>
              <a:tr h="530691">
                <a:tc>
                  <a:txBody>
                    <a:bodyPr/>
                    <a:lstStyle/>
                    <a:p>
                      <a:r>
                        <a:rPr lang="en-US" noProof="0" dirty="0">
                          <a:solidFill>
                            <a:schemeClr val="bg1"/>
                          </a:solidFill>
                          <a:latin typeface="+mj-lt"/>
                          <a:cs typeface="Arial" panose="020B0604020202020204" pitchFamily="34" charset="0"/>
                        </a:rPr>
                        <a:t>Introduction to Control– LSS 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val="152283500"/>
                  </a:ext>
                </a:extLst>
              </a:tr>
              <a:tr h="1290444">
                <a:tc>
                  <a:txBody>
                    <a:bodyPr/>
                    <a:lstStyle/>
                    <a:p>
                      <a:pPr marL="0" indent="0">
                        <a:lnSpc>
                          <a:spcPct val="90000"/>
                        </a:lnSpc>
                        <a:buFont typeface="Wingdings" panose="05000000000000000000" pitchFamily="2" charset="2"/>
                        <a:buNone/>
                        <a:tabLst>
                          <a:tab pos="4305300" algn="l"/>
                        </a:tabLst>
                      </a:pPr>
                      <a:endParaRPr lang="en-US" sz="1600" b="0" noProof="0" dirty="0">
                        <a:solidFill>
                          <a:schemeClr val="tx1"/>
                        </a:solidFill>
                        <a:latin typeface="+mj-lt"/>
                        <a:cs typeface="Arial" panose="020B0604020202020204" pitchFamily="34" charset="0"/>
                      </a:endParaRPr>
                    </a:p>
                    <a:p>
                      <a:pPr marL="0" marR="0" lvl="0" indent="0" algn="l" defTabSz="914400" rtl="0" eaLnBrk="1" fontAlgn="auto" latinLnBrk="0" hangingPunct="1">
                        <a:lnSpc>
                          <a:spcPct val="90000"/>
                        </a:lnSpc>
                        <a:spcBef>
                          <a:spcPts val="0"/>
                        </a:spcBef>
                        <a:spcAft>
                          <a:spcPts val="0"/>
                        </a:spcAft>
                        <a:buClrTx/>
                        <a:buSzTx/>
                        <a:buFont typeface="Wingdings" panose="05000000000000000000" pitchFamily="2" charset="2"/>
                        <a:buNone/>
                        <a:tabLst>
                          <a:tab pos="4305300" algn="l"/>
                        </a:tabLst>
                        <a:defRPr/>
                      </a:pPr>
                      <a:r>
                        <a:rPr lang="en-US" sz="1600" b="0" noProof="0" dirty="0">
                          <a:solidFill>
                            <a:schemeClr val="accent5"/>
                          </a:solidFill>
                          <a:effectLst/>
                          <a:latin typeface="+mj-lt"/>
                          <a:cs typeface="Arial" panose="020B0604020202020204" pitchFamily="34" charset="0"/>
                        </a:rPr>
                        <a:t>By the end of this module, you will:</a:t>
                      </a:r>
                    </a:p>
                    <a:p>
                      <a:pPr marL="0" indent="0">
                        <a:lnSpc>
                          <a:spcPct val="90000"/>
                        </a:lnSpc>
                        <a:buFont typeface="Wingdings" panose="05000000000000000000" pitchFamily="2" charset="2"/>
                        <a:buNone/>
                        <a:tabLst>
                          <a:tab pos="4305300" algn="l"/>
                        </a:tabLst>
                      </a:pPr>
                      <a:endParaRPr lang="en-US" sz="1600" b="0" noProof="0" dirty="0">
                        <a:solidFill>
                          <a:schemeClr val="tx1"/>
                        </a:solidFill>
                        <a:latin typeface="+mj-lt"/>
                        <a:cs typeface="Arial" panose="020B0604020202020204" pitchFamily="34" charset="0"/>
                      </a:endParaRPr>
                    </a:p>
                    <a:p>
                      <a:pPr marL="285750" indent="-285750">
                        <a:lnSpc>
                          <a:spcPct val="90000"/>
                        </a:lnSpc>
                        <a:buFont typeface="Wingdings" panose="05000000000000000000" pitchFamily="2" charset="2"/>
                        <a:buChar char="q"/>
                        <a:tabLst>
                          <a:tab pos="4305300" algn="l"/>
                        </a:tabLst>
                      </a:pPr>
                      <a:r>
                        <a:rPr lang="en-US" sz="1600" b="0" noProof="0" dirty="0">
                          <a:solidFill>
                            <a:schemeClr val="accent5"/>
                          </a:solidFill>
                          <a:latin typeface="+mj-lt"/>
                          <a:cs typeface="Arial" panose="020B0604020202020204" pitchFamily="34" charset="0"/>
                        </a:rPr>
                        <a:t>Understand how to select measurements for monitoring an improved process.</a:t>
                      </a:r>
                    </a:p>
                    <a:p>
                      <a:pPr marL="285750" indent="-285750">
                        <a:lnSpc>
                          <a:spcPct val="90000"/>
                        </a:lnSpc>
                        <a:buFont typeface="Wingdings" panose="05000000000000000000" pitchFamily="2" charset="2"/>
                        <a:buChar char="q"/>
                        <a:tabLst>
                          <a:tab pos="4305300" algn="l"/>
                        </a:tabLst>
                      </a:pPr>
                      <a:endParaRPr lang="en-US" sz="1600" b="0" noProof="0" dirty="0">
                        <a:solidFill>
                          <a:schemeClr val="accent5"/>
                        </a:solidFill>
                        <a:latin typeface="+mj-lt"/>
                        <a:cs typeface="Arial" panose="020B0604020202020204" pitchFamily="34" charset="0"/>
                      </a:endParaRPr>
                    </a:p>
                    <a:p>
                      <a:pPr marL="285750" indent="-285750">
                        <a:lnSpc>
                          <a:spcPct val="90000"/>
                        </a:lnSpc>
                        <a:buFont typeface="Wingdings" panose="05000000000000000000" pitchFamily="2" charset="2"/>
                        <a:buChar char="q"/>
                      </a:pPr>
                      <a:r>
                        <a:rPr lang="en-US" sz="1600" b="0" noProof="0" dirty="0">
                          <a:solidFill>
                            <a:schemeClr val="accent5"/>
                          </a:solidFill>
                          <a:latin typeface="+mj-lt"/>
                          <a:cs typeface="Arial" panose="020B0604020202020204" pitchFamily="34" charset="0"/>
                        </a:rPr>
                        <a:t>Know how to use statistical process control (SPC) charts to monitor process performance and identify warning signs of process failure.</a:t>
                      </a:r>
                    </a:p>
                    <a:p>
                      <a:pPr marL="285750" indent="-285750">
                        <a:lnSpc>
                          <a:spcPct val="90000"/>
                        </a:lnSpc>
                        <a:buFont typeface="Wingdings" panose="05000000000000000000" pitchFamily="2" charset="2"/>
                        <a:buChar char="ü"/>
                        <a:tabLst>
                          <a:tab pos="4305300" algn="l"/>
                        </a:tabLst>
                      </a:pPr>
                      <a:endParaRPr lang="en-US" sz="1400" b="0" noProof="0" dirty="0">
                        <a:solidFill>
                          <a:schemeClr val="tx1"/>
                        </a:solidFill>
                        <a:latin typeface="+mj-lt"/>
                        <a:cs typeface="Arial" panose="020B0604020202020204" pitchFamily="34" charset="0"/>
                      </a:endParaRPr>
                    </a:p>
                    <a:p>
                      <a:pPr marL="457200" lvl="1" indent="0" algn="l">
                        <a:lnSpc>
                          <a:spcPct val="120000"/>
                        </a:lnSpc>
                        <a:buFont typeface="Wingdings" panose="05000000000000000000" pitchFamily="2" charset="2"/>
                        <a:buNone/>
                      </a:pPr>
                      <a:endParaRPr lang="en-US" sz="1600" b="0" noProof="0" dirty="0">
                        <a:solidFill>
                          <a:srgbClr val="7B7B7B"/>
                        </a:solidFill>
                        <a:effectLst/>
                        <a:latin typeface="+mj-lt"/>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8752962"/>
                  </a:ext>
                </a:extLst>
              </a:tr>
            </a:tbl>
          </a:graphicData>
        </a:graphic>
      </p:graphicFrame>
    </p:spTree>
    <p:extLst>
      <p:ext uri="{BB962C8B-B14F-4D97-AF65-F5344CB8AC3E}">
        <p14:creationId xmlns:p14="http://schemas.microsoft.com/office/powerpoint/2010/main" val="542508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A6DB2150-E563-8443-95B1-A182B0692A74}"/>
              </a:ext>
            </a:extLst>
          </p:cNvPr>
          <p:cNvSpPr>
            <a:spLocks noGrp="1"/>
          </p:cNvSpPr>
          <p:nvPr>
            <p:ph type="body" sz="quarter" idx="11"/>
          </p:nvPr>
        </p:nvSpPr>
        <p:spPr/>
        <p:txBody>
          <a:bodyPr/>
          <a:lstStyle/>
          <a:p>
            <a:r>
              <a:rPr lang="en-US" dirty="0">
                <a:latin typeface="+mj-lt"/>
              </a:rPr>
              <a:t>CONTROL</a:t>
            </a:r>
            <a:r>
              <a:rPr lang="en-US" noProof="0" dirty="0">
                <a:latin typeface="+mj-lt"/>
              </a:rPr>
              <a:t> LSS27</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dirty="0">
                <a:latin typeface="+mj-lt"/>
              </a:rPr>
              <a:t>01</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dirty="0">
              <a:solidFill>
                <a:srgbClr val="FFFFFF"/>
              </a:solidFill>
              <a:latin typeface="+mj-lt"/>
              <a:cs typeface="Arial" panose="020B0604020202020204" pitchFamily="34" charset="0"/>
            </a:endParaRPr>
          </a:p>
        </p:txBody>
      </p:sp>
      <p:sp>
        <p:nvSpPr>
          <p:cNvPr id="2" name="TextBox 1">
            <a:extLst>
              <a:ext uri="{FF2B5EF4-FFF2-40B4-BE49-F238E27FC236}">
                <a16:creationId xmlns:a16="http://schemas.microsoft.com/office/drawing/2014/main" id="{AA1AD738-9A03-18E6-6F0A-B66D17AE1774}"/>
              </a:ext>
            </a:extLst>
          </p:cNvPr>
          <p:cNvSpPr txBox="1"/>
          <p:nvPr/>
        </p:nvSpPr>
        <p:spPr>
          <a:xfrm>
            <a:off x="1444680" y="3212812"/>
            <a:ext cx="504107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noProof="0" dirty="0">
                <a:solidFill>
                  <a:schemeClr val="accent5"/>
                </a:solidFill>
                <a:latin typeface="+mj-lt"/>
                <a:cs typeface="Arial"/>
              </a:rPr>
              <a:t>Defining Statistical Process Control</a:t>
            </a:r>
          </a:p>
        </p:txBody>
      </p:sp>
    </p:spTree>
    <p:extLst>
      <p:ext uri="{BB962C8B-B14F-4D97-AF65-F5344CB8AC3E}">
        <p14:creationId xmlns:p14="http://schemas.microsoft.com/office/powerpoint/2010/main" val="456560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8" y="457200"/>
            <a:ext cx="5562600" cy="492443"/>
          </a:xfrm>
        </p:spPr>
        <p:txBody>
          <a:bodyPr>
            <a:noAutofit/>
          </a:bodyPr>
          <a:lstStyle/>
          <a:p>
            <a:r>
              <a:rPr lang="en-US" sz="3300" dirty="0"/>
              <a:t>Control Recap</a:t>
            </a:r>
          </a:p>
        </p:txBody>
      </p:sp>
      <p:sp>
        <p:nvSpPr>
          <p:cNvPr id="14" name="TextBox 13">
            <a:extLst>
              <a:ext uri="{FF2B5EF4-FFF2-40B4-BE49-F238E27FC236}">
                <a16:creationId xmlns:a16="http://schemas.microsoft.com/office/drawing/2014/main" id="{8AB0EB1D-A550-42DB-81F8-A4BF0D986D23}"/>
              </a:ext>
            </a:extLst>
          </p:cNvPr>
          <p:cNvSpPr txBox="1"/>
          <p:nvPr/>
        </p:nvSpPr>
        <p:spPr>
          <a:xfrm>
            <a:off x="345076" y="1626306"/>
            <a:ext cx="11097152" cy="313932"/>
          </a:xfrm>
          <a:prstGeom prst="rect">
            <a:avLst/>
          </a:prstGeom>
          <a:noFill/>
        </p:spPr>
        <p:txBody>
          <a:bodyPr wrap="square">
            <a:spAutoFit/>
          </a:bodyPr>
          <a:lstStyle/>
          <a:p>
            <a:pPr algn="just">
              <a:lnSpc>
                <a:spcPct val="90000"/>
              </a:lnSpc>
              <a:tabLst>
                <a:tab pos="4305300" algn="l"/>
              </a:tabLst>
            </a:pPr>
            <a:r>
              <a:rPr lang="en-GB" sz="1600" noProof="0" dirty="0">
                <a:solidFill>
                  <a:schemeClr val="accent5"/>
                </a:solidFill>
                <a:cs typeface="Arial" panose="020B0604020202020204" pitchFamily="34" charset="0"/>
              </a:rPr>
              <a:t>The Control phase ensures improvements are sustained and become part of day-to-day operations.</a:t>
            </a:r>
            <a:endParaRPr lang="en-US" sz="1600" noProof="0" dirty="0">
              <a:solidFill>
                <a:schemeClr val="accent5"/>
              </a:solidFill>
              <a:cs typeface="Arial" panose="020B0604020202020204" pitchFamily="34" charset="0"/>
            </a:endParaRPr>
          </a:p>
        </p:txBody>
      </p:sp>
      <p:sp>
        <p:nvSpPr>
          <p:cNvPr id="5" name="TextBox 4">
            <a:extLst>
              <a:ext uri="{FF2B5EF4-FFF2-40B4-BE49-F238E27FC236}">
                <a16:creationId xmlns:a16="http://schemas.microsoft.com/office/drawing/2014/main" id="{68E73599-3AD5-4457-A65F-AD59B7FD91F3}"/>
              </a:ext>
            </a:extLst>
          </p:cNvPr>
          <p:cNvSpPr txBox="1"/>
          <p:nvPr/>
        </p:nvSpPr>
        <p:spPr>
          <a:xfrm>
            <a:off x="375342" y="2052044"/>
            <a:ext cx="8452884" cy="338554"/>
          </a:xfrm>
          <a:prstGeom prst="rect">
            <a:avLst/>
          </a:prstGeom>
          <a:noFill/>
          <a:ln>
            <a:noFill/>
          </a:ln>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GB" sz="1600" noProof="0" dirty="0">
                <a:solidFill>
                  <a:schemeClr val="accent5"/>
                </a:solidFill>
                <a:cs typeface="Arial" panose="020B0604020202020204" pitchFamily="34" charset="0"/>
              </a:rPr>
              <a:t>There are three parts to the Control phase:</a:t>
            </a:r>
            <a:endParaRPr lang="en-US" sz="1600" noProof="0" dirty="0">
              <a:solidFill>
                <a:schemeClr val="accent5"/>
              </a:solidFill>
              <a:cs typeface="Arial" panose="020B0604020202020204" pitchFamily="34" charset="0"/>
            </a:endParaRPr>
          </a:p>
        </p:txBody>
      </p:sp>
      <p:sp>
        <p:nvSpPr>
          <p:cNvPr id="11" name="Rectangle: Rounded Corners 10">
            <a:extLst>
              <a:ext uri="{FF2B5EF4-FFF2-40B4-BE49-F238E27FC236}">
                <a16:creationId xmlns:a16="http://schemas.microsoft.com/office/drawing/2014/main" id="{5531E223-22C3-74D8-86B0-745289377DD2}"/>
              </a:ext>
            </a:extLst>
          </p:cNvPr>
          <p:cNvSpPr/>
          <p:nvPr/>
        </p:nvSpPr>
        <p:spPr>
          <a:xfrm>
            <a:off x="478278" y="3473895"/>
            <a:ext cx="3559602" cy="2437100"/>
          </a:xfrm>
          <a:prstGeom prst="roundRect">
            <a:avLst>
              <a:gd name="adj" fmla="val 9956"/>
            </a:avLst>
          </a:prstGeom>
          <a:solidFill>
            <a:schemeClr val="tx2"/>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t"/>
            <a:endParaRPr lang="en-US" sz="1600" b="1" dirty="0">
              <a:solidFill>
                <a:schemeClr val="bg1"/>
              </a:solidFill>
            </a:endParaRPr>
          </a:p>
          <a:p>
            <a:pPr fontAlgn="t"/>
            <a:r>
              <a:rPr lang="en-US" sz="1600" b="1" dirty="0">
                <a:solidFill>
                  <a:schemeClr val="bg1"/>
                </a:solidFill>
              </a:rPr>
              <a:t>What do we need?</a:t>
            </a:r>
            <a:endParaRPr lang="en-US" sz="1600" dirty="0">
              <a:solidFill>
                <a:schemeClr val="bg1"/>
              </a:solidFill>
            </a:endParaRPr>
          </a:p>
          <a:p>
            <a:pPr fontAlgn="t"/>
            <a:endParaRPr lang="en-US" sz="1600" dirty="0">
              <a:solidFill>
                <a:schemeClr val="bg1"/>
              </a:solidFill>
            </a:endParaRPr>
          </a:p>
          <a:p>
            <a:pPr marL="285750" indent="-285750" fontAlgn="t">
              <a:buFont typeface="Arial" panose="020B0604020202020204" pitchFamily="34" charset="0"/>
              <a:buChar char="•"/>
            </a:pPr>
            <a:r>
              <a:rPr lang="en-US" sz="1600" dirty="0">
                <a:solidFill>
                  <a:schemeClr val="bg1"/>
                </a:solidFill>
              </a:rPr>
              <a:t>Improved process</a:t>
            </a:r>
          </a:p>
          <a:p>
            <a:pPr marL="285750" indent="-285750" fontAlgn="t">
              <a:buFont typeface="Arial" panose="020B0604020202020204" pitchFamily="34" charset="0"/>
              <a:buChar char="•"/>
            </a:pPr>
            <a:r>
              <a:rPr lang="en-US" sz="1600" dirty="0">
                <a:solidFill>
                  <a:schemeClr val="bg1"/>
                </a:solidFill>
              </a:rPr>
              <a:t>Pilot results</a:t>
            </a:r>
          </a:p>
          <a:p>
            <a:pPr marL="285750" indent="-285750" fontAlgn="t">
              <a:buFont typeface="Arial" panose="020B0604020202020204" pitchFamily="34" charset="0"/>
              <a:buChar char="•"/>
            </a:pPr>
            <a:r>
              <a:rPr lang="en-US" sz="1600" dirty="0">
                <a:solidFill>
                  <a:schemeClr val="bg1"/>
                </a:solidFill>
              </a:rPr>
              <a:t>Critical metrics</a:t>
            </a:r>
          </a:p>
          <a:p>
            <a:pPr marL="285750" indent="-285750" fontAlgn="t">
              <a:buFont typeface="Arial" panose="020B0604020202020204" pitchFamily="34" charset="0"/>
              <a:buChar char="•"/>
            </a:pPr>
            <a:r>
              <a:rPr lang="en-US" sz="1600" dirty="0">
                <a:solidFill>
                  <a:schemeClr val="bg1"/>
                </a:solidFill>
              </a:rPr>
              <a:t>Process documentation</a:t>
            </a:r>
          </a:p>
        </p:txBody>
      </p:sp>
      <p:sp>
        <p:nvSpPr>
          <p:cNvPr id="3" name="Rectangle: Rounded Corners 2">
            <a:extLst>
              <a:ext uri="{FF2B5EF4-FFF2-40B4-BE49-F238E27FC236}">
                <a16:creationId xmlns:a16="http://schemas.microsoft.com/office/drawing/2014/main" id="{E943C846-F1DE-92B2-D01F-0C7F4523F891}"/>
              </a:ext>
            </a:extLst>
          </p:cNvPr>
          <p:cNvSpPr/>
          <p:nvPr/>
        </p:nvSpPr>
        <p:spPr>
          <a:xfrm>
            <a:off x="471341" y="3015759"/>
            <a:ext cx="3552656" cy="598837"/>
          </a:xfrm>
          <a:prstGeom prst="roundRect">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2"/>
                </a:solidFill>
                <a:cs typeface="Arial" panose="020B0604020202020204" pitchFamily="34" charset="0"/>
              </a:rPr>
              <a:t>Input Data and Information</a:t>
            </a:r>
          </a:p>
        </p:txBody>
      </p:sp>
      <p:sp>
        <p:nvSpPr>
          <p:cNvPr id="12" name="Rectangle: Rounded Corners 11">
            <a:extLst>
              <a:ext uri="{FF2B5EF4-FFF2-40B4-BE49-F238E27FC236}">
                <a16:creationId xmlns:a16="http://schemas.microsoft.com/office/drawing/2014/main" id="{3FF45682-1DCE-4726-219D-96216A3A5DDF}"/>
              </a:ext>
            </a:extLst>
          </p:cNvPr>
          <p:cNvSpPr/>
          <p:nvPr/>
        </p:nvSpPr>
        <p:spPr>
          <a:xfrm>
            <a:off x="4534080" y="3492301"/>
            <a:ext cx="3561354" cy="2437101"/>
          </a:xfrm>
          <a:prstGeom prst="roundRect">
            <a:avLst>
              <a:gd name="adj" fmla="val 8613"/>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fontAlgn="t">
              <a:lnSpc>
                <a:spcPts val="1500"/>
              </a:lnSpc>
              <a:buFont typeface="Arial" panose="020B0604020202020204" pitchFamily="34" charset="0"/>
              <a:buChar char="•"/>
            </a:pPr>
            <a:endParaRPr lang="en-US" sz="1600" dirty="0">
              <a:solidFill>
                <a:schemeClr val="bg1"/>
              </a:solidFill>
            </a:endParaRPr>
          </a:p>
          <a:p>
            <a:pPr fontAlgn="t">
              <a:lnSpc>
                <a:spcPts val="1500"/>
              </a:lnSpc>
            </a:pPr>
            <a:r>
              <a:rPr lang="en-US" sz="1600" b="1" dirty="0">
                <a:solidFill>
                  <a:schemeClr val="bg1"/>
                </a:solidFill>
              </a:rPr>
              <a:t>What actions do we take?</a:t>
            </a:r>
          </a:p>
          <a:p>
            <a:pPr fontAlgn="t">
              <a:lnSpc>
                <a:spcPts val="1500"/>
              </a:lnSpc>
            </a:pPr>
            <a:endParaRPr lang="en-US" sz="1600" b="1" dirty="0">
              <a:solidFill>
                <a:schemeClr val="bg1"/>
              </a:solidFill>
            </a:endParaRPr>
          </a:p>
          <a:p>
            <a:pPr marL="285750" indent="-285750" fontAlgn="t">
              <a:buFont typeface="Arial" panose="020B0604020202020204" pitchFamily="34" charset="0"/>
              <a:buChar char="•"/>
            </a:pPr>
            <a:r>
              <a:rPr lang="en-US" sz="1600" dirty="0">
                <a:solidFill>
                  <a:schemeClr val="bg1"/>
                </a:solidFill>
              </a:rPr>
              <a:t>Standardize improvements</a:t>
            </a:r>
          </a:p>
          <a:p>
            <a:pPr marL="285750" indent="-285750" fontAlgn="t">
              <a:buFont typeface="Arial" panose="020B0604020202020204" pitchFamily="34" charset="0"/>
              <a:buChar char="•"/>
            </a:pPr>
            <a:r>
              <a:rPr lang="en-US" sz="1600" dirty="0">
                <a:solidFill>
                  <a:schemeClr val="bg1"/>
                </a:solidFill>
              </a:rPr>
              <a:t>Create a control plan</a:t>
            </a:r>
          </a:p>
          <a:p>
            <a:pPr marL="285750" indent="-285750" fontAlgn="t">
              <a:buFont typeface="Arial" panose="020B0604020202020204" pitchFamily="34" charset="0"/>
              <a:buChar char="•"/>
            </a:pPr>
            <a:r>
              <a:rPr lang="en-US" sz="1600" dirty="0">
                <a:solidFill>
                  <a:schemeClr val="bg1"/>
                </a:solidFill>
              </a:rPr>
              <a:t>Monitor performance</a:t>
            </a:r>
          </a:p>
          <a:p>
            <a:pPr marL="285750" indent="-285750" fontAlgn="t">
              <a:buFont typeface="Arial" panose="020B0604020202020204" pitchFamily="34" charset="0"/>
              <a:buChar char="•"/>
            </a:pPr>
            <a:r>
              <a:rPr lang="en-US" sz="1600" dirty="0">
                <a:solidFill>
                  <a:schemeClr val="bg1"/>
                </a:solidFill>
              </a:rPr>
              <a:t>Transition to business as usual</a:t>
            </a:r>
          </a:p>
        </p:txBody>
      </p:sp>
      <p:sp>
        <p:nvSpPr>
          <p:cNvPr id="2" name="Rectangle: Rounded Corners 1">
            <a:extLst>
              <a:ext uri="{FF2B5EF4-FFF2-40B4-BE49-F238E27FC236}">
                <a16:creationId xmlns:a16="http://schemas.microsoft.com/office/drawing/2014/main" id="{7D4AB812-DCC8-CCDA-A585-31C1D4217691}"/>
              </a:ext>
            </a:extLst>
          </p:cNvPr>
          <p:cNvSpPr/>
          <p:nvPr/>
        </p:nvSpPr>
        <p:spPr>
          <a:xfrm>
            <a:off x="4527142" y="3015759"/>
            <a:ext cx="3552655" cy="598837"/>
          </a:xfrm>
          <a:prstGeom prst="roundRect">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4"/>
                </a:solidFill>
                <a:cs typeface="Arial" panose="020B0604020202020204" pitchFamily="34" charset="0"/>
              </a:rPr>
              <a:t>Control Activities</a:t>
            </a:r>
          </a:p>
        </p:txBody>
      </p:sp>
      <p:sp>
        <p:nvSpPr>
          <p:cNvPr id="15" name="Rectangle: Rounded Corners 14">
            <a:extLst>
              <a:ext uri="{FF2B5EF4-FFF2-40B4-BE49-F238E27FC236}">
                <a16:creationId xmlns:a16="http://schemas.microsoft.com/office/drawing/2014/main" id="{D253C15C-121F-A387-AEA6-D2805E825C42}"/>
              </a:ext>
            </a:extLst>
          </p:cNvPr>
          <p:cNvSpPr/>
          <p:nvPr/>
        </p:nvSpPr>
        <p:spPr>
          <a:xfrm>
            <a:off x="8595601" y="3492300"/>
            <a:ext cx="3329312" cy="2437102"/>
          </a:xfrm>
          <a:prstGeom prst="roundRect">
            <a:avLst>
              <a:gd name="adj" fmla="val 8949"/>
            </a:avLst>
          </a:prstGeom>
          <a:solidFill>
            <a:srgbClr val="7030A0"/>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fontAlgn="t">
              <a:lnSpc>
                <a:spcPts val="1500"/>
              </a:lnSpc>
              <a:buFont typeface="Arial" panose="020B0604020202020204" pitchFamily="34" charset="0"/>
              <a:buChar char="•"/>
            </a:pPr>
            <a:endParaRPr lang="en-US" sz="1600" dirty="0">
              <a:solidFill>
                <a:schemeClr val="bg1"/>
              </a:solidFill>
            </a:endParaRPr>
          </a:p>
          <a:p>
            <a:pPr fontAlgn="t">
              <a:lnSpc>
                <a:spcPts val="1500"/>
              </a:lnSpc>
            </a:pPr>
            <a:r>
              <a:rPr lang="en-US" sz="1600" b="1" dirty="0">
                <a:solidFill>
                  <a:schemeClr val="bg1"/>
                </a:solidFill>
              </a:rPr>
              <a:t>What outputs do we produce?</a:t>
            </a:r>
          </a:p>
          <a:p>
            <a:pPr marL="285750" indent="-285750" fontAlgn="t">
              <a:lnSpc>
                <a:spcPts val="1500"/>
              </a:lnSpc>
              <a:buFont typeface="Arial" panose="020B0604020202020204" pitchFamily="34" charset="0"/>
              <a:buChar char="•"/>
            </a:pPr>
            <a:endParaRPr lang="en-US" sz="1600" dirty="0">
              <a:solidFill>
                <a:schemeClr val="bg1"/>
              </a:solidFill>
            </a:endParaRPr>
          </a:p>
          <a:p>
            <a:pPr marL="285750" indent="-285750" fontAlgn="t">
              <a:buFont typeface="Arial" panose="020B0604020202020204" pitchFamily="34" charset="0"/>
              <a:buChar char="•"/>
            </a:pPr>
            <a:r>
              <a:rPr lang="en-US" sz="1600" dirty="0">
                <a:solidFill>
                  <a:schemeClr val="bg1"/>
                </a:solidFill>
              </a:rPr>
              <a:t>Control plan</a:t>
            </a:r>
          </a:p>
          <a:p>
            <a:pPr marL="285750" indent="-285750" fontAlgn="t">
              <a:buFont typeface="Arial" panose="020B0604020202020204" pitchFamily="34" charset="0"/>
              <a:buChar char="•"/>
            </a:pPr>
            <a:r>
              <a:rPr lang="en-US" sz="1600" dirty="0">
                <a:solidFill>
                  <a:schemeClr val="bg1"/>
                </a:solidFill>
              </a:rPr>
              <a:t>Defined performance metrics</a:t>
            </a:r>
          </a:p>
          <a:p>
            <a:pPr marL="285750" indent="-285750" fontAlgn="t">
              <a:buFont typeface="Arial" panose="020B0604020202020204" pitchFamily="34" charset="0"/>
              <a:buChar char="•"/>
            </a:pPr>
            <a:r>
              <a:rPr lang="en-US" sz="1600" dirty="0">
                <a:solidFill>
                  <a:schemeClr val="bg1"/>
                </a:solidFill>
              </a:rPr>
              <a:t>Updated process documentation</a:t>
            </a:r>
          </a:p>
          <a:p>
            <a:pPr marL="285750" indent="-285750" fontAlgn="t">
              <a:buFont typeface="Arial" panose="020B0604020202020204" pitchFamily="34" charset="0"/>
              <a:buChar char="•"/>
            </a:pPr>
            <a:r>
              <a:rPr lang="en-US" sz="1600" dirty="0">
                <a:solidFill>
                  <a:schemeClr val="bg1"/>
                </a:solidFill>
              </a:rPr>
              <a:t>Training materials</a:t>
            </a:r>
          </a:p>
          <a:p>
            <a:pPr marL="285750" indent="-285750" fontAlgn="t">
              <a:buFont typeface="Arial" panose="020B0604020202020204" pitchFamily="34" charset="0"/>
              <a:buChar char="•"/>
            </a:pPr>
            <a:r>
              <a:rPr lang="en-US" sz="1600" dirty="0">
                <a:solidFill>
                  <a:schemeClr val="bg1"/>
                </a:solidFill>
              </a:rPr>
              <a:t>Project closure report</a:t>
            </a:r>
          </a:p>
        </p:txBody>
      </p:sp>
      <p:sp>
        <p:nvSpPr>
          <p:cNvPr id="4" name="Rectangle: Rounded Corners 3">
            <a:extLst>
              <a:ext uri="{FF2B5EF4-FFF2-40B4-BE49-F238E27FC236}">
                <a16:creationId xmlns:a16="http://schemas.microsoft.com/office/drawing/2014/main" id="{60B7F83B-F8FC-DDD4-35F4-DBF2D8846D7F}"/>
              </a:ext>
            </a:extLst>
          </p:cNvPr>
          <p:cNvSpPr/>
          <p:nvPr/>
        </p:nvSpPr>
        <p:spPr>
          <a:xfrm>
            <a:off x="8569059" y="3009179"/>
            <a:ext cx="3355853" cy="598837"/>
          </a:xfrm>
          <a:prstGeom prst="roundRect">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dirty="0">
                <a:solidFill>
                  <a:srgbClr val="7030A0"/>
                </a:solidFill>
                <a:cs typeface="Arial" panose="020B0604020202020204" pitchFamily="34" charset="0"/>
              </a:rPr>
              <a:t>Output Documentation</a:t>
            </a:r>
          </a:p>
        </p:txBody>
      </p:sp>
      <p:sp>
        <p:nvSpPr>
          <p:cNvPr id="7" name="Flowchart: Connector 6">
            <a:extLst>
              <a:ext uri="{FF2B5EF4-FFF2-40B4-BE49-F238E27FC236}">
                <a16:creationId xmlns:a16="http://schemas.microsoft.com/office/drawing/2014/main" id="{9B2A3564-E8A0-8FF4-4CAF-1F34C1316854}"/>
              </a:ext>
            </a:extLst>
          </p:cNvPr>
          <p:cNvSpPr/>
          <p:nvPr/>
        </p:nvSpPr>
        <p:spPr>
          <a:xfrm>
            <a:off x="165838" y="2696597"/>
            <a:ext cx="684000" cy="684000"/>
          </a:xfrm>
          <a:prstGeom prst="flowChartConnector">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noProof="0" dirty="0">
              <a:cs typeface="Arial" panose="020B0604020202020204" pitchFamily="34" charset="0"/>
            </a:endParaRPr>
          </a:p>
        </p:txBody>
      </p:sp>
      <p:sp>
        <p:nvSpPr>
          <p:cNvPr id="8" name="Flowchart: Connector 7">
            <a:extLst>
              <a:ext uri="{FF2B5EF4-FFF2-40B4-BE49-F238E27FC236}">
                <a16:creationId xmlns:a16="http://schemas.microsoft.com/office/drawing/2014/main" id="{E7D317D7-7A00-7DF1-A209-F679ACE553E4}"/>
              </a:ext>
            </a:extLst>
          </p:cNvPr>
          <p:cNvSpPr/>
          <p:nvPr/>
        </p:nvSpPr>
        <p:spPr>
          <a:xfrm>
            <a:off x="4237223" y="2703179"/>
            <a:ext cx="684000" cy="684000"/>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noProof="0" dirty="0">
              <a:cs typeface="Arial" panose="020B0604020202020204" pitchFamily="34" charset="0"/>
            </a:endParaRPr>
          </a:p>
        </p:txBody>
      </p:sp>
      <p:sp>
        <p:nvSpPr>
          <p:cNvPr id="10" name="Flowchart: Connector 9">
            <a:extLst>
              <a:ext uri="{FF2B5EF4-FFF2-40B4-BE49-F238E27FC236}">
                <a16:creationId xmlns:a16="http://schemas.microsoft.com/office/drawing/2014/main" id="{6B6CCBF6-0E5D-CFB6-C0A8-9C8AF57005BE}"/>
              </a:ext>
            </a:extLst>
          </p:cNvPr>
          <p:cNvSpPr/>
          <p:nvPr/>
        </p:nvSpPr>
        <p:spPr>
          <a:xfrm>
            <a:off x="8294465" y="2653229"/>
            <a:ext cx="684000" cy="684000"/>
          </a:xfrm>
          <a:prstGeom prst="flowChartConnector">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noProof="0" dirty="0">
              <a:cs typeface="Arial" panose="020B0604020202020204" pitchFamily="34" charset="0"/>
            </a:endParaRPr>
          </a:p>
        </p:txBody>
      </p:sp>
      <p:sp>
        <p:nvSpPr>
          <p:cNvPr id="13" name="Arrow: Right 12">
            <a:extLst>
              <a:ext uri="{FF2B5EF4-FFF2-40B4-BE49-F238E27FC236}">
                <a16:creationId xmlns:a16="http://schemas.microsoft.com/office/drawing/2014/main" id="{E7D1665B-D196-FBC0-6DCB-47733EF0AABF}"/>
              </a:ext>
            </a:extLst>
          </p:cNvPr>
          <p:cNvSpPr/>
          <p:nvPr/>
        </p:nvSpPr>
        <p:spPr>
          <a:xfrm>
            <a:off x="4035167" y="4246752"/>
            <a:ext cx="486292" cy="780687"/>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6" name="Arrow: Right 15">
            <a:extLst>
              <a:ext uri="{FF2B5EF4-FFF2-40B4-BE49-F238E27FC236}">
                <a16:creationId xmlns:a16="http://schemas.microsoft.com/office/drawing/2014/main" id="{8A305EEC-F978-04EA-2E2F-BA3D2231FE54}"/>
              </a:ext>
            </a:extLst>
          </p:cNvPr>
          <p:cNvSpPr/>
          <p:nvPr/>
        </p:nvSpPr>
        <p:spPr>
          <a:xfrm>
            <a:off x="8102371" y="4215208"/>
            <a:ext cx="486292" cy="780687"/>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18" name="Graphic 17" descr="Statistics with solid fill">
            <a:extLst>
              <a:ext uri="{FF2B5EF4-FFF2-40B4-BE49-F238E27FC236}">
                <a16:creationId xmlns:a16="http://schemas.microsoft.com/office/drawing/2014/main" id="{39C1980D-F2AC-FF25-5D30-9821A3DD89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4124" y="2848734"/>
            <a:ext cx="407428" cy="407428"/>
          </a:xfrm>
          <a:prstGeom prst="rect">
            <a:avLst/>
          </a:prstGeom>
        </p:spPr>
      </p:pic>
      <p:pic>
        <p:nvPicPr>
          <p:cNvPr id="20" name="Graphic 19" descr="Clipboard Checked with solid fill">
            <a:extLst>
              <a:ext uri="{FF2B5EF4-FFF2-40B4-BE49-F238E27FC236}">
                <a16:creationId xmlns:a16="http://schemas.microsoft.com/office/drawing/2014/main" id="{652DBF2A-CC3D-9B7D-7A8A-035561585E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78841" y="2832763"/>
            <a:ext cx="411668" cy="411668"/>
          </a:xfrm>
          <a:prstGeom prst="rect">
            <a:avLst/>
          </a:prstGeom>
        </p:spPr>
      </p:pic>
      <p:pic>
        <p:nvPicPr>
          <p:cNvPr id="22" name="Graphic 21" descr="List with solid fill">
            <a:extLst>
              <a:ext uri="{FF2B5EF4-FFF2-40B4-BE49-F238E27FC236}">
                <a16:creationId xmlns:a16="http://schemas.microsoft.com/office/drawing/2014/main" id="{A522F168-26FE-C5FF-CFA5-5582521A97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07865" y="2780579"/>
            <a:ext cx="457200" cy="457200"/>
          </a:xfrm>
          <a:prstGeom prst="rect">
            <a:avLst/>
          </a:prstGeom>
        </p:spPr>
      </p:pic>
    </p:spTree>
    <p:extLst>
      <p:ext uri="{BB962C8B-B14F-4D97-AF65-F5344CB8AC3E}">
        <p14:creationId xmlns:p14="http://schemas.microsoft.com/office/powerpoint/2010/main" val="224653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animBg="1"/>
      <p:bldP spid="12" grpId="0" animBg="1"/>
      <p:bldP spid="2" grpId="0" animBg="1"/>
      <p:bldP spid="15" grpId="0" animBg="1"/>
      <p:bldP spid="4" grpId="0" animBg="1"/>
      <p:bldP spid="7" grpId="0" animBg="1"/>
      <p:bldP spid="8" grpId="0" animBg="1"/>
      <p:bldP spid="10" grpId="0" animBg="1"/>
      <p:bldP spid="13"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8" y="379379"/>
            <a:ext cx="8326523" cy="492443"/>
          </a:xfrm>
        </p:spPr>
        <p:txBody>
          <a:bodyPr>
            <a:noAutofit/>
          </a:bodyPr>
          <a:lstStyle/>
          <a:p>
            <a:r>
              <a:rPr lang="en-US" sz="3300" dirty="0"/>
              <a:t>What is </a:t>
            </a:r>
            <a:r>
              <a:rPr lang="en-US" sz="3200" dirty="0">
                <a:latin typeface="+mj-lt"/>
              </a:rPr>
              <a:t>Statistical</a:t>
            </a:r>
            <a:r>
              <a:rPr lang="en-US" sz="3300" dirty="0"/>
              <a:t> Process Control?</a:t>
            </a:r>
          </a:p>
        </p:txBody>
      </p:sp>
      <p:sp>
        <p:nvSpPr>
          <p:cNvPr id="2" name="TextBox 1">
            <a:extLst>
              <a:ext uri="{FF2B5EF4-FFF2-40B4-BE49-F238E27FC236}">
                <a16:creationId xmlns:a16="http://schemas.microsoft.com/office/drawing/2014/main" id="{15E2BCF6-EE23-4661-84D4-5C05D7AEABA3}"/>
              </a:ext>
            </a:extLst>
          </p:cNvPr>
          <p:cNvSpPr txBox="1"/>
          <p:nvPr/>
        </p:nvSpPr>
        <p:spPr>
          <a:xfrm>
            <a:off x="623661" y="1966581"/>
            <a:ext cx="5749160" cy="2554545"/>
          </a:xfrm>
          <a:prstGeom prst="rect">
            <a:avLst/>
          </a:prstGeom>
          <a:noFill/>
        </p:spPr>
        <p:txBody>
          <a:bodyPr wrap="square" lIns="91440" tIns="45720" rIns="91440" bIns="45720" rtlCol="0" anchor="t">
            <a:spAutoFit/>
          </a:bodyPr>
          <a:lstStyle/>
          <a:p>
            <a:r>
              <a:rPr lang="en-GB" sz="1600" noProof="0" dirty="0">
                <a:solidFill>
                  <a:schemeClr val="accent5"/>
                </a:solidFill>
                <a:cs typeface="Arial" panose="020B0604020202020204" pitchFamily="34" charset="0"/>
              </a:rPr>
              <a:t>One of the </a:t>
            </a:r>
            <a:r>
              <a:rPr lang="en-GB" sz="1600" b="1" noProof="0" dirty="0">
                <a:solidFill>
                  <a:schemeClr val="accent5"/>
                </a:solidFill>
                <a:cs typeface="Arial" panose="020B0604020202020204" pitchFamily="34" charset="0"/>
              </a:rPr>
              <a:t>Key Control Activities </a:t>
            </a:r>
            <a:r>
              <a:rPr lang="en-GB" sz="1600" noProof="0" dirty="0">
                <a:solidFill>
                  <a:schemeClr val="accent5"/>
                </a:solidFill>
                <a:cs typeface="Arial" panose="020B0604020202020204" pitchFamily="34" charset="0"/>
              </a:rPr>
              <a:t>is monitoring process performance using Statistical Process Control (SPC).</a:t>
            </a:r>
            <a:endParaRPr lang="en-US" sz="1600" noProof="0" dirty="0">
              <a:solidFill>
                <a:schemeClr val="accent5"/>
              </a:solidFill>
              <a:cs typeface="Arial" panose="020B0604020202020204" pitchFamily="34" charset="0"/>
            </a:endParaRPr>
          </a:p>
          <a:p>
            <a:endParaRPr lang="en-US" sz="1600" dirty="0">
              <a:solidFill>
                <a:schemeClr val="accent5"/>
              </a:solidFill>
              <a:cs typeface="Arial" panose="020B0604020202020204" pitchFamily="34" charset="0"/>
            </a:endParaRPr>
          </a:p>
          <a:p>
            <a:endParaRPr lang="en-US" sz="1600" noProof="0" dirty="0">
              <a:solidFill>
                <a:schemeClr val="accent5"/>
              </a:solidFill>
              <a:cs typeface="Arial" panose="020B0604020202020204" pitchFamily="34" charset="0"/>
            </a:endParaRPr>
          </a:p>
          <a:p>
            <a:r>
              <a:rPr lang="en-GB" sz="1600" noProof="0" dirty="0">
                <a:solidFill>
                  <a:schemeClr val="accent5"/>
                </a:solidFill>
                <a:cs typeface="Arial" panose="020B0604020202020204" pitchFamily="34" charset="0"/>
              </a:rPr>
              <a:t>SPC uses control charts to:</a:t>
            </a:r>
          </a:p>
          <a:p>
            <a:endParaRPr lang="en-GB" sz="1600" dirty="0">
              <a:solidFill>
                <a:schemeClr val="accent5"/>
              </a:solidFill>
              <a:cs typeface="Arial" panose="020B0604020202020204" pitchFamily="34" charset="0"/>
            </a:endParaRPr>
          </a:p>
          <a:p>
            <a:pPr marL="285750" indent="-285750">
              <a:buFont typeface="Arial" panose="020B0604020202020204" pitchFamily="34" charset="0"/>
              <a:buChar char="•"/>
            </a:pPr>
            <a:r>
              <a:rPr lang="en-GB" sz="1600" noProof="0" dirty="0">
                <a:solidFill>
                  <a:schemeClr val="accent5"/>
                </a:solidFill>
                <a:cs typeface="Arial" panose="020B0604020202020204" pitchFamily="34" charset="0"/>
              </a:rPr>
              <a:t>Monitor process performance over time.</a:t>
            </a:r>
          </a:p>
          <a:p>
            <a:pPr marL="285750" indent="-285750">
              <a:buFont typeface="Arial" panose="020B0604020202020204" pitchFamily="34" charset="0"/>
              <a:buChar char="•"/>
            </a:pPr>
            <a:r>
              <a:rPr lang="en-GB" sz="1600" noProof="0" dirty="0">
                <a:solidFill>
                  <a:schemeClr val="accent5"/>
                </a:solidFill>
                <a:cs typeface="Arial" panose="020B0604020202020204" pitchFamily="34" charset="0"/>
              </a:rPr>
              <a:t>Identify process variation.</a:t>
            </a:r>
          </a:p>
          <a:p>
            <a:pPr marL="285750" indent="-285750">
              <a:buFont typeface="Arial" panose="020B0604020202020204" pitchFamily="34" charset="0"/>
              <a:buChar char="•"/>
            </a:pPr>
            <a:r>
              <a:rPr lang="en-GB" sz="1600" noProof="0" dirty="0">
                <a:solidFill>
                  <a:schemeClr val="accent5"/>
                </a:solidFill>
                <a:cs typeface="Arial" panose="020B0604020202020204" pitchFamily="34" charset="0"/>
              </a:rPr>
              <a:t>Determine whether a process is operating consistently.</a:t>
            </a:r>
          </a:p>
          <a:p>
            <a:pPr marL="285750" indent="-285750">
              <a:buFont typeface="Arial" panose="020B0604020202020204" pitchFamily="34" charset="0"/>
              <a:buChar char="•"/>
            </a:pPr>
            <a:r>
              <a:rPr lang="en-GB" sz="1600" noProof="0" dirty="0">
                <a:solidFill>
                  <a:schemeClr val="accent5"/>
                </a:solidFill>
                <a:cs typeface="Arial" panose="020B0604020202020204" pitchFamily="34" charset="0"/>
              </a:rPr>
              <a:t>Provide early warning signs when action is needed.</a:t>
            </a:r>
          </a:p>
        </p:txBody>
      </p:sp>
      <p:pic>
        <p:nvPicPr>
          <p:cNvPr id="4" name="Picture 3">
            <a:extLst>
              <a:ext uri="{FF2B5EF4-FFF2-40B4-BE49-F238E27FC236}">
                <a16:creationId xmlns:a16="http://schemas.microsoft.com/office/drawing/2014/main" id="{9E589480-A8D9-BF54-300A-6F6C7B94072D}"/>
              </a:ext>
            </a:extLst>
          </p:cNvPr>
          <p:cNvPicPr>
            <a:picLocks noChangeAspect="1"/>
          </p:cNvPicPr>
          <p:nvPr/>
        </p:nvPicPr>
        <p:blipFill>
          <a:blip r:embed="rId3"/>
          <a:stretch>
            <a:fillRect/>
          </a:stretch>
        </p:blipFill>
        <p:spPr>
          <a:xfrm>
            <a:off x="6546903" y="2032393"/>
            <a:ext cx="5021436" cy="3583763"/>
          </a:xfrm>
          <a:prstGeom prst="rect">
            <a:avLst/>
          </a:prstGeom>
          <a:ln w="57150">
            <a:solidFill>
              <a:schemeClr val="accent4"/>
            </a:solidFill>
          </a:ln>
        </p:spPr>
      </p:pic>
      <p:sp>
        <p:nvSpPr>
          <p:cNvPr id="3" name="Rectangle: Rounded Corners 2">
            <a:extLst>
              <a:ext uri="{FF2B5EF4-FFF2-40B4-BE49-F238E27FC236}">
                <a16:creationId xmlns:a16="http://schemas.microsoft.com/office/drawing/2014/main" id="{C45459DE-7AA7-1084-1761-8BC760D81237}"/>
              </a:ext>
            </a:extLst>
          </p:cNvPr>
          <p:cNvSpPr/>
          <p:nvPr/>
        </p:nvSpPr>
        <p:spPr>
          <a:xfrm>
            <a:off x="9057621" y="3429000"/>
            <a:ext cx="1990165" cy="282388"/>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Within control limits</a:t>
            </a:r>
            <a:endParaRPr lang="en-US" sz="1400" dirty="0"/>
          </a:p>
        </p:txBody>
      </p:sp>
      <p:cxnSp>
        <p:nvCxnSpPr>
          <p:cNvPr id="8" name="Straight Arrow Connector 7">
            <a:extLst>
              <a:ext uri="{FF2B5EF4-FFF2-40B4-BE49-F238E27FC236}">
                <a16:creationId xmlns:a16="http://schemas.microsoft.com/office/drawing/2014/main" id="{EFBA5037-27A5-9C13-2352-111496A04BA3}"/>
              </a:ext>
            </a:extLst>
          </p:cNvPr>
          <p:cNvCxnSpPr/>
          <p:nvPr/>
        </p:nvCxnSpPr>
        <p:spPr>
          <a:xfrm flipV="1">
            <a:off x="10000129" y="3056965"/>
            <a:ext cx="1" cy="372035"/>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6E9E3C3-C857-B17F-AFF1-A0C8C0A2B4E1}"/>
              </a:ext>
            </a:extLst>
          </p:cNvPr>
          <p:cNvCxnSpPr>
            <a:cxnSpLocks/>
          </p:cNvCxnSpPr>
          <p:nvPr/>
        </p:nvCxnSpPr>
        <p:spPr>
          <a:xfrm>
            <a:off x="10049435" y="4871959"/>
            <a:ext cx="1" cy="300676"/>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622390AC-DDA3-8461-9CE8-2DA28B233533}"/>
              </a:ext>
            </a:extLst>
          </p:cNvPr>
          <p:cNvSpPr/>
          <p:nvPr/>
        </p:nvSpPr>
        <p:spPr>
          <a:xfrm>
            <a:off x="9057620" y="2148934"/>
            <a:ext cx="2094474" cy="280501"/>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Outside control limits</a:t>
            </a:r>
            <a:endParaRPr lang="en-US" sz="1400" dirty="0"/>
          </a:p>
        </p:txBody>
      </p:sp>
      <p:cxnSp>
        <p:nvCxnSpPr>
          <p:cNvPr id="15" name="Straight Arrow Connector 14">
            <a:extLst>
              <a:ext uri="{FF2B5EF4-FFF2-40B4-BE49-F238E27FC236}">
                <a16:creationId xmlns:a16="http://schemas.microsoft.com/office/drawing/2014/main" id="{EF3BCDE2-825C-00A7-A120-EB09BC5EA075}"/>
              </a:ext>
            </a:extLst>
          </p:cNvPr>
          <p:cNvCxnSpPr/>
          <p:nvPr/>
        </p:nvCxnSpPr>
        <p:spPr>
          <a:xfrm>
            <a:off x="9753600" y="2429435"/>
            <a:ext cx="1" cy="6275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AF23FBC-81A1-2246-CB85-A3D266C24A77}"/>
              </a:ext>
            </a:extLst>
          </p:cNvPr>
          <p:cNvCxnSpPr>
            <a:cxnSpLocks/>
            <a:stCxn id="13" idx="1"/>
          </p:cNvCxnSpPr>
          <p:nvPr/>
        </p:nvCxnSpPr>
        <p:spPr>
          <a:xfrm flipH="1">
            <a:off x="8814391" y="2289185"/>
            <a:ext cx="243229" cy="9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296F9A1-595D-A145-C8DD-65312315415D}"/>
              </a:ext>
            </a:extLst>
          </p:cNvPr>
          <p:cNvSpPr txBox="1"/>
          <p:nvPr/>
        </p:nvSpPr>
        <p:spPr>
          <a:xfrm>
            <a:off x="1736680" y="5980640"/>
            <a:ext cx="8710603" cy="646331"/>
          </a:xfrm>
          <a:prstGeom prst="rect">
            <a:avLst/>
          </a:prstGeom>
          <a:solidFill>
            <a:schemeClr val="accent4"/>
          </a:solidFill>
        </p:spPr>
        <p:txBody>
          <a:bodyPr wrap="square">
            <a:spAutoFit/>
          </a:bodyPr>
          <a:lstStyle/>
          <a:p>
            <a:pPr algn="ctr"/>
            <a:r>
              <a:rPr lang="en-GB" sz="1600" b="1" dirty="0">
                <a:solidFill>
                  <a:schemeClr val="bg1"/>
                </a:solidFill>
                <a:cs typeface="Arial" panose="020B0604020202020204" pitchFamily="34" charset="0"/>
              </a:rPr>
              <a:t>Control charts help identify when a process is moving out of control and requires investigation</a:t>
            </a:r>
            <a:r>
              <a:rPr lang="en-GB" sz="2000" b="1" noProof="0" dirty="0">
                <a:solidFill>
                  <a:schemeClr val="bg1"/>
                </a:solidFill>
                <a:cs typeface="Arial" panose="020B0604020202020204" pitchFamily="34" charset="0"/>
              </a:rPr>
              <a:t>.</a:t>
            </a:r>
          </a:p>
        </p:txBody>
      </p:sp>
      <p:sp>
        <p:nvSpPr>
          <p:cNvPr id="22" name="Rectangle: Rounded Corners 21">
            <a:extLst>
              <a:ext uri="{FF2B5EF4-FFF2-40B4-BE49-F238E27FC236}">
                <a16:creationId xmlns:a16="http://schemas.microsoft.com/office/drawing/2014/main" id="{0E39387C-38ED-2E60-834D-72BCC7F75E40}"/>
              </a:ext>
            </a:extLst>
          </p:cNvPr>
          <p:cNvSpPr/>
          <p:nvPr/>
        </p:nvSpPr>
        <p:spPr>
          <a:xfrm>
            <a:off x="9057621" y="4589571"/>
            <a:ext cx="1990165" cy="282388"/>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Within control limits</a:t>
            </a:r>
            <a:endParaRPr lang="en-US" sz="1400" dirty="0"/>
          </a:p>
        </p:txBody>
      </p:sp>
    </p:spTree>
    <p:extLst>
      <p:ext uri="{BB962C8B-B14F-4D97-AF65-F5344CB8AC3E}">
        <p14:creationId xmlns:p14="http://schemas.microsoft.com/office/powerpoint/2010/main" val="3874351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Placeholder 1">
            <a:extLst>
              <a:ext uri="{FF2B5EF4-FFF2-40B4-BE49-F238E27FC236}">
                <a16:creationId xmlns:a16="http://schemas.microsoft.com/office/drawing/2014/main" id="{F4C6FC07-1D50-B932-062B-1E1FF0DFE3CE}"/>
              </a:ext>
            </a:extLst>
          </p:cNvPr>
          <p:cNvSpPr>
            <a:spLocks noGrp="1"/>
          </p:cNvSpPr>
          <p:nvPr>
            <p:ph type="body" sz="quarter" idx="10"/>
          </p:nvPr>
        </p:nvSpPr>
        <p:spPr>
          <a:xfrm>
            <a:off x="533400" y="429452"/>
            <a:ext cx="5562600" cy="923330"/>
          </a:xfrm>
        </p:spPr>
        <p:txBody>
          <a:bodyPr>
            <a:normAutofit/>
          </a:bodyPr>
          <a:lstStyle/>
          <a:p>
            <a:r>
              <a:rPr lang="en-US" sz="3200" dirty="0">
                <a:latin typeface="+mj-lt"/>
              </a:rPr>
              <a:t>Real-World Example</a:t>
            </a:r>
          </a:p>
        </p:txBody>
      </p:sp>
      <p:pic>
        <p:nvPicPr>
          <p:cNvPr id="5" name="Picture 4">
            <a:extLst>
              <a:ext uri="{FF2B5EF4-FFF2-40B4-BE49-F238E27FC236}">
                <a16:creationId xmlns:a16="http://schemas.microsoft.com/office/drawing/2014/main" id="{FCCA7402-912F-B332-E921-89FA962FA1A9}"/>
              </a:ext>
            </a:extLst>
          </p:cNvPr>
          <p:cNvPicPr>
            <a:picLocks noChangeAspect="1"/>
          </p:cNvPicPr>
          <p:nvPr/>
        </p:nvPicPr>
        <p:blipFill>
          <a:blip r:embed="rId3"/>
          <a:stretch>
            <a:fillRect/>
          </a:stretch>
        </p:blipFill>
        <p:spPr>
          <a:xfrm>
            <a:off x="5635768" y="1883803"/>
            <a:ext cx="5986288" cy="4272371"/>
          </a:xfrm>
          <a:prstGeom prst="rect">
            <a:avLst/>
          </a:prstGeom>
          <a:ln w="57150">
            <a:solidFill>
              <a:schemeClr val="accent4"/>
            </a:solidFill>
          </a:ln>
        </p:spPr>
      </p:pic>
      <p:sp>
        <p:nvSpPr>
          <p:cNvPr id="8" name="TextBox 7">
            <a:extLst>
              <a:ext uri="{FF2B5EF4-FFF2-40B4-BE49-F238E27FC236}">
                <a16:creationId xmlns:a16="http://schemas.microsoft.com/office/drawing/2014/main" id="{A58D6B39-B424-2DE7-6865-96DD2B2C58B7}"/>
              </a:ext>
            </a:extLst>
          </p:cNvPr>
          <p:cNvSpPr txBox="1"/>
          <p:nvPr/>
        </p:nvSpPr>
        <p:spPr>
          <a:xfrm>
            <a:off x="533400" y="1883803"/>
            <a:ext cx="4931979" cy="3539430"/>
          </a:xfrm>
          <a:prstGeom prst="rect">
            <a:avLst/>
          </a:prstGeom>
          <a:noFill/>
        </p:spPr>
        <p:txBody>
          <a:bodyPr wrap="square">
            <a:spAutoFit/>
          </a:bodyPr>
          <a:lstStyle/>
          <a:p>
            <a:pPr fontAlgn="t">
              <a:buNone/>
            </a:pPr>
            <a:r>
              <a:rPr lang="en-US" sz="1600" b="1" i="0" dirty="0">
                <a:solidFill>
                  <a:srgbClr val="002060"/>
                </a:solidFill>
                <a:effectLst/>
              </a:rPr>
              <a:t>Scenario</a:t>
            </a:r>
          </a:p>
          <a:p>
            <a:pPr fontAlgn="t">
              <a:buNone/>
            </a:pPr>
            <a:endParaRPr lang="en-US" sz="1600" b="1" i="0" dirty="0">
              <a:solidFill>
                <a:srgbClr val="002060"/>
              </a:solidFill>
              <a:effectLst/>
            </a:endParaRPr>
          </a:p>
          <a:p>
            <a:pPr fontAlgn="t">
              <a:buNone/>
            </a:pPr>
            <a:r>
              <a:rPr lang="en-US" sz="1600" b="0" i="0" dirty="0">
                <a:solidFill>
                  <a:srgbClr val="002060"/>
                </a:solidFill>
                <a:effectLst/>
              </a:rPr>
              <a:t>A team tracks how long it takes to complete a routine process each day.</a:t>
            </a:r>
          </a:p>
          <a:p>
            <a:pPr fontAlgn="t">
              <a:buNone/>
            </a:pPr>
            <a:endParaRPr lang="en-US" sz="1600" b="0" i="0" dirty="0">
              <a:solidFill>
                <a:srgbClr val="002060"/>
              </a:solidFill>
              <a:effectLst/>
            </a:endParaRPr>
          </a:p>
          <a:p>
            <a:pPr marL="285750" indent="-285750" fontAlgn="t">
              <a:buFont typeface="Arial" panose="020B0604020202020204" pitchFamily="34" charset="0"/>
              <a:buChar char="•"/>
            </a:pPr>
            <a:r>
              <a:rPr lang="en-US" sz="1600" b="0" i="0" dirty="0">
                <a:solidFill>
                  <a:srgbClr val="002060"/>
                </a:solidFill>
                <a:effectLst/>
              </a:rPr>
              <a:t>Average time = </a:t>
            </a:r>
            <a:r>
              <a:rPr lang="en-US" sz="1600" b="1" i="0" dirty="0">
                <a:solidFill>
                  <a:srgbClr val="002060"/>
                </a:solidFill>
                <a:effectLst/>
              </a:rPr>
              <a:t>26 minutes</a:t>
            </a:r>
            <a:endParaRPr lang="en-US" sz="1600" b="0" i="0" dirty="0">
              <a:solidFill>
                <a:srgbClr val="002060"/>
              </a:solidFill>
              <a:effectLst/>
            </a:endParaRPr>
          </a:p>
          <a:p>
            <a:pPr marL="285750" indent="-285750" fontAlgn="t">
              <a:buFont typeface="Arial" panose="020B0604020202020204" pitchFamily="34" charset="0"/>
              <a:buChar char="•"/>
            </a:pPr>
            <a:r>
              <a:rPr lang="en-US" sz="1600" b="0" i="0" dirty="0">
                <a:solidFill>
                  <a:srgbClr val="002060"/>
                </a:solidFill>
                <a:effectLst/>
              </a:rPr>
              <a:t>Most results are within the control limits</a:t>
            </a:r>
          </a:p>
          <a:p>
            <a:pPr marL="285750" indent="-285750" fontAlgn="t">
              <a:buFont typeface="Arial" panose="020B0604020202020204" pitchFamily="34" charset="0"/>
              <a:buChar char="•"/>
            </a:pPr>
            <a:r>
              <a:rPr lang="en-US" sz="1600" b="0" i="0" dirty="0">
                <a:solidFill>
                  <a:srgbClr val="002060"/>
                </a:solidFill>
                <a:effectLst/>
              </a:rPr>
              <a:t>One result reaches </a:t>
            </a:r>
            <a:r>
              <a:rPr lang="en-US" sz="1600" b="1" i="0" dirty="0">
                <a:solidFill>
                  <a:srgbClr val="002060"/>
                </a:solidFill>
                <a:effectLst/>
              </a:rPr>
              <a:t>54 minutes</a:t>
            </a:r>
            <a:endParaRPr lang="en-US" sz="1600" b="0" i="0" dirty="0">
              <a:solidFill>
                <a:srgbClr val="002060"/>
              </a:solidFill>
              <a:effectLst/>
            </a:endParaRPr>
          </a:p>
          <a:p>
            <a:pPr fontAlgn="t">
              <a:buNone/>
            </a:pPr>
            <a:endParaRPr lang="en-US" sz="1600" b="1" i="0" dirty="0">
              <a:solidFill>
                <a:srgbClr val="002060"/>
              </a:solidFill>
              <a:effectLst/>
            </a:endParaRPr>
          </a:p>
          <a:p>
            <a:pPr fontAlgn="t">
              <a:buNone/>
            </a:pPr>
            <a:endParaRPr lang="en-US" sz="1600" b="1" i="0" dirty="0">
              <a:solidFill>
                <a:srgbClr val="002060"/>
              </a:solidFill>
              <a:effectLst/>
            </a:endParaRPr>
          </a:p>
          <a:p>
            <a:pPr fontAlgn="t">
              <a:buNone/>
            </a:pPr>
            <a:r>
              <a:rPr lang="en-US" sz="1600" b="1" i="0" dirty="0">
                <a:solidFill>
                  <a:srgbClr val="002060"/>
                </a:solidFill>
                <a:effectLst/>
              </a:rPr>
              <a:t>What should the team do?</a:t>
            </a:r>
          </a:p>
          <a:p>
            <a:pPr fontAlgn="t">
              <a:buNone/>
            </a:pPr>
            <a:endParaRPr lang="en-US" sz="1600" b="0" i="0" dirty="0">
              <a:solidFill>
                <a:srgbClr val="002060"/>
              </a:solidFill>
              <a:effectLst/>
            </a:endParaRPr>
          </a:p>
          <a:p>
            <a:pPr fontAlgn="t">
              <a:buNone/>
            </a:pPr>
            <a:r>
              <a:rPr lang="en-US" sz="1600" b="0" i="0" dirty="0">
                <a:solidFill>
                  <a:srgbClr val="002060"/>
                </a:solidFill>
                <a:effectLst/>
              </a:rPr>
              <a:t>A. Change the process immediately.</a:t>
            </a:r>
          </a:p>
          <a:p>
            <a:pPr fontAlgn="t">
              <a:buNone/>
            </a:pPr>
            <a:r>
              <a:rPr lang="en-US" sz="1600" b="0" i="0" dirty="0">
                <a:solidFill>
                  <a:srgbClr val="002060"/>
                </a:solidFill>
                <a:effectLst/>
              </a:rPr>
              <a:t>B. Investigate why Day 10 was different.</a:t>
            </a:r>
          </a:p>
        </p:txBody>
      </p:sp>
    </p:spTree>
    <p:extLst>
      <p:ext uri="{BB962C8B-B14F-4D97-AF65-F5344CB8AC3E}">
        <p14:creationId xmlns:p14="http://schemas.microsoft.com/office/powerpoint/2010/main" val="94900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A6DB2150-E563-8443-95B1-A182B0692A74}"/>
              </a:ext>
            </a:extLst>
          </p:cNvPr>
          <p:cNvSpPr>
            <a:spLocks noGrp="1"/>
          </p:cNvSpPr>
          <p:nvPr>
            <p:ph type="body" sz="quarter" idx="11"/>
          </p:nvPr>
        </p:nvSpPr>
        <p:spPr/>
        <p:txBody>
          <a:bodyPr vert="horz" lIns="0" tIns="0" rIns="0" bIns="0" rtlCol="0" anchor="t">
            <a:normAutofit/>
          </a:bodyPr>
          <a:lstStyle/>
          <a:p>
            <a:r>
              <a:rPr lang="en-US" noProof="0" dirty="0">
                <a:latin typeface="+mj-lt"/>
                <a:cs typeface="Arial"/>
              </a:rPr>
              <a:t>CONTROL LSS27</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dirty="0">
                <a:latin typeface="+mj-lt"/>
              </a:rPr>
              <a:t>02</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dirty="0">
              <a:solidFill>
                <a:srgbClr val="FFFFFF"/>
              </a:solidFill>
              <a:latin typeface="+mj-lt"/>
              <a:cs typeface="Arial" panose="020B0604020202020204" pitchFamily="34" charset="0"/>
            </a:endParaRPr>
          </a:p>
        </p:txBody>
      </p:sp>
      <p:sp>
        <p:nvSpPr>
          <p:cNvPr id="2" name="TextBox 1">
            <a:extLst>
              <a:ext uri="{FF2B5EF4-FFF2-40B4-BE49-F238E27FC236}">
                <a16:creationId xmlns:a16="http://schemas.microsoft.com/office/drawing/2014/main" id="{AA1AD738-9A03-18E6-6F0A-B66D17AE1774}"/>
              </a:ext>
            </a:extLst>
          </p:cNvPr>
          <p:cNvSpPr txBox="1"/>
          <p:nvPr/>
        </p:nvSpPr>
        <p:spPr>
          <a:xfrm>
            <a:off x="1444680" y="3459033"/>
            <a:ext cx="504107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noProof="0" dirty="0">
                <a:solidFill>
                  <a:schemeClr val="accent5"/>
                </a:solidFill>
                <a:latin typeface="+mj-lt"/>
                <a:cs typeface="Arial" panose="020B0604020202020204" pitchFamily="34" charset="0"/>
              </a:rPr>
              <a:t>Process Variation</a:t>
            </a:r>
          </a:p>
        </p:txBody>
      </p:sp>
    </p:spTree>
    <p:extLst>
      <p:ext uri="{BB962C8B-B14F-4D97-AF65-F5344CB8AC3E}">
        <p14:creationId xmlns:p14="http://schemas.microsoft.com/office/powerpoint/2010/main" val="4110012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Placeholder 1">
            <a:extLst>
              <a:ext uri="{FF2B5EF4-FFF2-40B4-BE49-F238E27FC236}">
                <a16:creationId xmlns:a16="http://schemas.microsoft.com/office/drawing/2014/main" id="{5234411A-ADAA-4D90-9651-9B2DD2BA1334}"/>
              </a:ext>
            </a:extLst>
          </p:cNvPr>
          <p:cNvSpPr>
            <a:spLocks noGrp="1"/>
          </p:cNvSpPr>
          <p:nvPr>
            <p:ph type="body" sz="quarter" idx="10"/>
          </p:nvPr>
        </p:nvSpPr>
        <p:spPr>
          <a:xfrm>
            <a:off x="533400" y="358236"/>
            <a:ext cx="6050280" cy="784764"/>
          </a:xfrm>
        </p:spPr>
        <p:txBody>
          <a:bodyPr>
            <a:normAutofit/>
          </a:bodyPr>
          <a:lstStyle/>
          <a:p>
            <a:r>
              <a:rPr lang="en-US" sz="3200" noProof="0" dirty="0">
                <a:latin typeface="+mj-lt"/>
              </a:rPr>
              <a:t>An analogy…</a:t>
            </a:r>
          </a:p>
        </p:txBody>
      </p:sp>
      <p:cxnSp>
        <p:nvCxnSpPr>
          <p:cNvPr id="6" name="Straight Arrow Connector 5">
            <a:extLst>
              <a:ext uri="{FF2B5EF4-FFF2-40B4-BE49-F238E27FC236}">
                <a16:creationId xmlns:a16="http://schemas.microsoft.com/office/drawing/2014/main" id="{9192EA21-218F-4489-8464-4944A5EAEEEC}"/>
              </a:ext>
            </a:extLst>
          </p:cNvPr>
          <p:cNvCxnSpPr>
            <a:cxnSpLocks/>
            <a:endCxn id="2063" idx="1"/>
          </p:cNvCxnSpPr>
          <p:nvPr/>
        </p:nvCxnSpPr>
        <p:spPr>
          <a:xfrm flipH="1">
            <a:off x="9327830" y="3871145"/>
            <a:ext cx="1030544" cy="16926"/>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47B5390-4A97-4034-9177-677B2F668980}"/>
              </a:ext>
            </a:extLst>
          </p:cNvPr>
          <p:cNvCxnSpPr>
            <a:cxnSpLocks/>
            <a:stCxn id="2063" idx="3"/>
          </p:cNvCxnSpPr>
          <p:nvPr/>
        </p:nvCxnSpPr>
        <p:spPr>
          <a:xfrm flipH="1" flipV="1">
            <a:off x="5927923" y="3063070"/>
            <a:ext cx="2125217" cy="825001"/>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F56043D-60DF-4040-ADCA-1E91C169DC80}"/>
              </a:ext>
            </a:extLst>
          </p:cNvPr>
          <p:cNvCxnSpPr>
            <a:cxnSpLocks/>
            <a:stCxn id="2063" idx="3"/>
          </p:cNvCxnSpPr>
          <p:nvPr/>
        </p:nvCxnSpPr>
        <p:spPr>
          <a:xfrm flipH="1">
            <a:off x="5940796" y="3888071"/>
            <a:ext cx="2112344" cy="1089523"/>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51C6E0-D48C-F2BE-FF59-B2F61D6659D1}"/>
              </a:ext>
            </a:extLst>
          </p:cNvPr>
          <p:cNvSpPr txBox="1"/>
          <p:nvPr/>
        </p:nvSpPr>
        <p:spPr>
          <a:xfrm>
            <a:off x="443017" y="1619685"/>
            <a:ext cx="11798968" cy="298159"/>
          </a:xfrm>
          <a:prstGeom prst="rect">
            <a:avLst/>
          </a:prstGeom>
          <a:noFill/>
        </p:spPr>
        <p:txBody>
          <a:bodyPr wrap="square">
            <a:spAutoFit/>
          </a:bodyPr>
          <a:lstStyle/>
          <a:p>
            <a:pPr fontAlgn="t">
              <a:lnSpc>
                <a:spcPts val="1500"/>
              </a:lnSpc>
              <a:buNone/>
            </a:pPr>
            <a:r>
              <a:rPr lang="en-US" sz="1600" b="0" i="0" dirty="0">
                <a:solidFill>
                  <a:srgbClr val="002060"/>
                </a:solidFill>
                <a:effectLst/>
              </a:rPr>
              <a:t>Even when the same process is followed, different outcomes can occur.</a:t>
            </a:r>
          </a:p>
        </p:txBody>
      </p:sp>
      <p:sp>
        <p:nvSpPr>
          <p:cNvPr id="14" name="TextBox 13">
            <a:extLst>
              <a:ext uri="{FF2B5EF4-FFF2-40B4-BE49-F238E27FC236}">
                <a16:creationId xmlns:a16="http://schemas.microsoft.com/office/drawing/2014/main" id="{1B08F12C-09EE-3504-4A4E-C90B9ACDCB9F}"/>
              </a:ext>
            </a:extLst>
          </p:cNvPr>
          <p:cNvSpPr txBox="1"/>
          <p:nvPr/>
        </p:nvSpPr>
        <p:spPr>
          <a:xfrm>
            <a:off x="490274" y="2271507"/>
            <a:ext cx="3689784" cy="3293209"/>
          </a:xfrm>
          <a:prstGeom prst="rect">
            <a:avLst/>
          </a:prstGeom>
          <a:noFill/>
        </p:spPr>
        <p:txBody>
          <a:bodyPr wrap="square" lIns="91440" tIns="45720" rIns="91440" bIns="45720" anchor="t">
            <a:spAutoFit/>
          </a:bodyPr>
          <a:lstStyle/>
          <a:p>
            <a:r>
              <a:rPr lang="en-GB" sz="1600" b="1" dirty="0">
                <a:solidFill>
                  <a:srgbClr val="002060"/>
                </a:solidFill>
              </a:rPr>
              <a:t>Example</a:t>
            </a:r>
            <a:r>
              <a:rPr lang="en-GB" sz="1600" dirty="0">
                <a:solidFill>
                  <a:srgbClr val="002060"/>
                </a:solidFill>
              </a:rPr>
              <a:t>:</a:t>
            </a:r>
          </a:p>
          <a:p>
            <a:endParaRPr lang="en-GB" sz="1600" dirty="0">
              <a:solidFill>
                <a:srgbClr val="002060"/>
              </a:solidFill>
            </a:endParaRPr>
          </a:p>
          <a:p>
            <a:r>
              <a:rPr lang="en-GB" sz="1600" dirty="0">
                <a:solidFill>
                  <a:srgbClr val="002060"/>
                </a:solidFill>
              </a:rPr>
              <a:t>A person bowls the ball using the same approach each time.</a:t>
            </a:r>
          </a:p>
          <a:p>
            <a:endParaRPr lang="en-GB" sz="1600" dirty="0">
              <a:solidFill>
                <a:srgbClr val="002060"/>
              </a:solidFill>
            </a:endParaRPr>
          </a:p>
          <a:p>
            <a:r>
              <a:rPr lang="en-GB" sz="1600" b="1" dirty="0">
                <a:solidFill>
                  <a:srgbClr val="002060"/>
                </a:solidFill>
              </a:rPr>
              <a:t>Why does he get different results?</a:t>
            </a:r>
          </a:p>
          <a:p>
            <a:endParaRPr lang="en-GB" sz="1600" dirty="0">
              <a:solidFill>
                <a:srgbClr val="002060"/>
              </a:solidFill>
            </a:endParaRPr>
          </a:p>
          <a:p>
            <a:pPr marL="285750" indent="-285750">
              <a:buFont typeface="Arial" panose="020B0604020202020204" pitchFamily="34" charset="0"/>
              <a:buChar char="•"/>
            </a:pPr>
            <a:r>
              <a:rPr lang="en-GB" sz="1600" dirty="0">
                <a:solidFill>
                  <a:srgbClr val="002060"/>
                </a:solidFill>
              </a:rPr>
              <a:t>Different levels of natural variation.</a:t>
            </a:r>
          </a:p>
          <a:p>
            <a:pPr marL="285750" indent="-285750">
              <a:buFont typeface="Arial" panose="020B0604020202020204" pitchFamily="34" charset="0"/>
              <a:buChar char="•"/>
            </a:pPr>
            <a:r>
              <a:rPr lang="en-GB" sz="1600" dirty="0">
                <a:solidFill>
                  <a:srgbClr val="002060"/>
                </a:solidFill>
              </a:rPr>
              <a:t>Unplanned events affecting the outcome.</a:t>
            </a:r>
          </a:p>
          <a:p>
            <a:pPr marL="285750" indent="-285750">
              <a:buFont typeface="Arial" panose="020B0604020202020204" pitchFamily="34" charset="0"/>
              <a:buChar char="•"/>
            </a:pPr>
            <a:r>
              <a:rPr lang="en-GB" sz="1600" dirty="0">
                <a:solidFill>
                  <a:srgbClr val="002060"/>
                </a:solidFill>
              </a:rPr>
              <a:t>Small differences in how the process is performed.</a:t>
            </a:r>
            <a:endParaRPr lang="en-US" sz="1600" dirty="0">
              <a:solidFill>
                <a:srgbClr val="002060"/>
              </a:solidFill>
            </a:endParaRPr>
          </a:p>
        </p:txBody>
      </p:sp>
      <p:sp>
        <p:nvSpPr>
          <p:cNvPr id="17" name="TextBox 16">
            <a:extLst>
              <a:ext uri="{FF2B5EF4-FFF2-40B4-BE49-F238E27FC236}">
                <a16:creationId xmlns:a16="http://schemas.microsoft.com/office/drawing/2014/main" id="{FD338890-06B3-FEFA-A43A-DD6E9742E08A}"/>
              </a:ext>
            </a:extLst>
          </p:cNvPr>
          <p:cNvSpPr txBox="1"/>
          <p:nvPr/>
        </p:nvSpPr>
        <p:spPr>
          <a:xfrm>
            <a:off x="1975945" y="6424916"/>
            <a:ext cx="8401999" cy="338554"/>
          </a:xfrm>
          <a:prstGeom prst="rect">
            <a:avLst/>
          </a:prstGeom>
          <a:solidFill>
            <a:schemeClr val="accent4"/>
          </a:solidFill>
          <a:ln>
            <a:solidFill>
              <a:schemeClr val="bg1"/>
            </a:solidFill>
          </a:ln>
        </p:spPr>
        <p:txBody>
          <a:bodyPr wrap="square">
            <a:spAutoFit/>
          </a:bodyPr>
          <a:lstStyle/>
          <a:p>
            <a:r>
              <a:rPr lang="en-GB" sz="1600" b="1" dirty="0">
                <a:solidFill>
                  <a:schemeClr val="bg1"/>
                </a:solidFill>
              </a:rPr>
              <a:t>SPC helps distinguish between normal variation and variation that signals a problem.</a:t>
            </a:r>
            <a:endParaRPr lang="en-US" sz="1600" b="1" dirty="0">
              <a:solidFill>
                <a:schemeClr val="bg1"/>
              </a:solidFill>
            </a:endParaRPr>
          </a:p>
        </p:txBody>
      </p:sp>
      <p:pic>
        <p:nvPicPr>
          <p:cNvPr id="3" name="Picture 2">
            <a:extLst>
              <a:ext uri="{FF2B5EF4-FFF2-40B4-BE49-F238E27FC236}">
                <a16:creationId xmlns:a16="http://schemas.microsoft.com/office/drawing/2014/main" id="{00773B76-CF5E-9CC9-AD79-62EDE2DACB97}"/>
              </a:ext>
            </a:extLst>
          </p:cNvPr>
          <p:cNvPicPr>
            <a:picLocks noChangeAspect="1"/>
          </p:cNvPicPr>
          <p:nvPr/>
        </p:nvPicPr>
        <p:blipFill>
          <a:blip r:embed="rId3">
            <a:duotone>
              <a:schemeClr val="accent5">
                <a:shade val="45000"/>
                <a:satMod val="135000"/>
              </a:schemeClr>
              <a:prstClr val="white"/>
            </a:duotone>
          </a:blip>
          <a:stretch>
            <a:fillRect/>
          </a:stretch>
        </p:blipFill>
        <p:spPr>
          <a:xfrm flipH="1">
            <a:off x="10457913" y="2909482"/>
            <a:ext cx="1659998" cy="1615934"/>
          </a:xfrm>
          <a:prstGeom prst="rect">
            <a:avLst/>
          </a:prstGeom>
          <a:ln>
            <a:solidFill>
              <a:schemeClr val="bg1"/>
            </a:solidFill>
          </a:ln>
        </p:spPr>
      </p:pic>
      <p:sp>
        <p:nvSpPr>
          <p:cNvPr id="28" name="Rectangle: Rounded Corners 27">
            <a:extLst>
              <a:ext uri="{FF2B5EF4-FFF2-40B4-BE49-F238E27FC236}">
                <a16:creationId xmlns:a16="http://schemas.microsoft.com/office/drawing/2014/main" id="{EF1C772E-DD2A-381B-0E65-1A396C2D5909}"/>
              </a:ext>
            </a:extLst>
          </p:cNvPr>
          <p:cNvSpPr/>
          <p:nvPr/>
        </p:nvSpPr>
        <p:spPr>
          <a:xfrm>
            <a:off x="6108083" y="2244025"/>
            <a:ext cx="3789833" cy="7164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Strike! </a:t>
            </a:r>
          </a:p>
          <a:p>
            <a:pPr algn="ctr"/>
            <a:r>
              <a:rPr lang="en-GB" dirty="0"/>
              <a:t>Outcome meets the expectations.</a:t>
            </a:r>
            <a:endParaRPr lang="en-US" dirty="0"/>
          </a:p>
        </p:txBody>
      </p:sp>
      <p:sp>
        <p:nvSpPr>
          <p:cNvPr id="29" name="Rectangle: Rounded Corners 28">
            <a:extLst>
              <a:ext uri="{FF2B5EF4-FFF2-40B4-BE49-F238E27FC236}">
                <a16:creationId xmlns:a16="http://schemas.microsoft.com/office/drawing/2014/main" id="{8C212731-6C38-3324-82B9-4DDD5A169936}"/>
              </a:ext>
            </a:extLst>
          </p:cNvPr>
          <p:cNvSpPr/>
          <p:nvPr/>
        </p:nvSpPr>
        <p:spPr>
          <a:xfrm>
            <a:off x="6228518" y="4977594"/>
            <a:ext cx="3724469" cy="748328"/>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Miss!</a:t>
            </a:r>
          </a:p>
          <a:p>
            <a:pPr algn="ctr"/>
            <a:r>
              <a:rPr lang="en-GB" dirty="0"/>
              <a:t> Falls short of expectations.</a:t>
            </a:r>
            <a:endParaRPr lang="en-US" dirty="0"/>
          </a:p>
        </p:txBody>
      </p:sp>
      <p:pic>
        <p:nvPicPr>
          <p:cNvPr id="2053" name="Picture 2052">
            <a:extLst>
              <a:ext uri="{FF2B5EF4-FFF2-40B4-BE49-F238E27FC236}">
                <a16:creationId xmlns:a16="http://schemas.microsoft.com/office/drawing/2014/main" id="{AE45C3BD-06FE-CDB8-9BD1-94D0EC8138AF}"/>
              </a:ext>
            </a:extLst>
          </p:cNvPr>
          <p:cNvPicPr>
            <a:picLocks noChangeAspect="1"/>
          </p:cNvPicPr>
          <p:nvPr/>
        </p:nvPicPr>
        <p:blipFill>
          <a:blip r:embed="rId4">
            <a:duotone>
              <a:schemeClr val="accent4">
                <a:shade val="45000"/>
                <a:satMod val="135000"/>
              </a:schemeClr>
              <a:prstClr val="white"/>
            </a:duotone>
          </a:blip>
          <a:stretch>
            <a:fillRect/>
          </a:stretch>
        </p:blipFill>
        <p:spPr>
          <a:xfrm>
            <a:off x="4511110" y="2410709"/>
            <a:ext cx="1507403" cy="1507403"/>
          </a:xfrm>
          <a:prstGeom prst="rect">
            <a:avLst/>
          </a:prstGeom>
        </p:spPr>
      </p:pic>
      <p:pic>
        <p:nvPicPr>
          <p:cNvPr id="2062" name="Picture 2061">
            <a:extLst>
              <a:ext uri="{FF2B5EF4-FFF2-40B4-BE49-F238E27FC236}">
                <a16:creationId xmlns:a16="http://schemas.microsoft.com/office/drawing/2014/main" id="{F3AF5C9B-F2DE-9417-EEE1-294CDCF6FA2D}"/>
              </a:ext>
            </a:extLst>
          </p:cNvPr>
          <p:cNvPicPr>
            <a:picLocks noChangeAspect="1"/>
          </p:cNvPicPr>
          <p:nvPr/>
        </p:nvPicPr>
        <p:blipFill>
          <a:blip r:embed="rId5">
            <a:duotone>
              <a:schemeClr val="accent3">
                <a:shade val="45000"/>
                <a:satMod val="135000"/>
              </a:schemeClr>
              <a:prstClr val="white"/>
            </a:duotone>
          </a:blip>
          <a:stretch>
            <a:fillRect/>
          </a:stretch>
        </p:blipFill>
        <p:spPr>
          <a:xfrm flipH="1">
            <a:off x="4589225" y="4437371"/>
            <a:ext cx="1338698" cy="1338698"/>
          </a:xfrm>
          <a:prstGeom prst="rect">
            <a:avLst/>
          </a:prstGeom>
        </p:spPr>
      </p:pic>
      <p:pic>
        <p:nvPicPr>
          <p:cNvPr id="2063" name="Picture 2062">
            <a:extLst>
              <a:ext uri="{FF2B5EF4-FFF2-40B4-BE49-F238E27FC236}">
                <a16:creationId xmlns:a16="http://schemas.microsoft.com/office/drawing/2014/main" id="{C2F9C6EA-6202-D5F0-2480-3CD7C1A2862D}"/>
              </a:ext>
            </a:extLst>
          </p:cNvPr>
          <p:cNvPicPr>
            <a:picLocks noChangeAspect="1"/>
          </p:cNvPicPr>
          <p:nvPr/>
        </p:nvPicPr>
        <p:blipFill>
          <a:blip r:embed="rId5">
            <a:duotone>
              <a:schemeClr val="accent3">
                <a:shade val="45000"/>
                <a:satMod val="135000"/>
              </a:schemeClr>
              <a:prstClr val="white"/>
            </a:duotone>
          </a:blip>
          <a:stretch>
            <a:fillRect/>
          </a:stretch>
        </p:blipFill>
        <p:spPr>
          <a:xfrm flipH="1">
            <a:off x="8053140" y="3250726"/>
            <a:ext cx="1274690" cy="1274690"/>
          </a:xfrm>
          <a:prstGeom prst="rect">
            <a:avLst/>
          </a:prstGeom>
        </p:spPr>
      </p:pic>
    </p:spTree>
    <p:extLst>
      <p:ext uri="{BB962C8B-B14F-4D97-AF65-F5344CB8AC3E}">
        <p14:creationId xmlns:p14="http://schemas.microsoft.com/office/powerpoint/2010/main" val="236405428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7" y="457200"/>
            <a:ext cx="8326523" cy="492443"/>
          </a:xfrm>
        </p:spPr>
        <p:txBody>
          <a:bodyPr>
            <a:normAutofit/>
          </a:bodyPr>
          <a:lstStyle/>
          <a:p>
            <a:pPr>
              <a:lnSpc>
                <a:spcPct val="80000"/>
              </a:lnSpc>
            </a:pPr>
            <a:r>
              <a:rPr lang="en-US" sz="3300" dirty="0">
                <a:latin typeface="+mj-lt"/>
              </a:rPr>
              <a:t>Process Variation</a:t>
            </a:r>
          </a:p>
        </p:txBody>
      </p:sp>
      <p:sp>
        <p:nvSpPr>
          <p:cNvPr id="5" name="TextBox 4">
            <a:extLst>
              <a:ext uri="{FF2B5EF4-FFF2-40B4-BE49-F238E27FC236}">
                <a16:creationId xmlns:a16="http://schemas.microsoft.com/office/drawing/2014/main" id="{8EB0E705-7C95-4912-8956-B5A75B80FBB3}"/>
              </a:ext>
            </a:extLst>
          </p:cNvPr>
          <p:cNvSpPr txBox="1"/>
          <p:nvPr/>
        </p:nvSpPr>
        <p:spPr>
          <a:xfrm>
            <a:off x="350613" y="1351494"/>
            <a:ext cx="11490773" cy="830997"/>
          </a:xfrm>
          <a:prstGeom prst="rect">
            <a:avLst/>
          </a:prstGeom>
          <a:noFill/>
        </p:spPr>
        <p:txBody>
          <a:bodyPr wrap="square" rtlCol="0">
            <a:spAutoFit/>
          </a:bodyPr>
          <a:lstStyle/>
          <a:p>
            <a:r>
              <a:rPr lang="en-GB" sz="1600" noProof="0" dirty="0">
                <a:solidFill>
                  <a:schemeClr val="accent5"/>
                </a:solidFill>
                <a:cs typeface="Arial" panose="020B0604020202020204" pitchFamily="34" charset="0"/>
              </a:rPr>
              <a:t>Every process contains variation. SPC helps us determine whether that variation is normal or whether something unusual has occurred.</a:t>
            </a:r>
            <a:endParaRPr lang="en-US" sz="1600" noProof="0" dirty="0">
              <a:solidFill>
                <a:schemeClr val="accent5"/>
              </a:solidFill>
              <a:cs typeface="Arial" panose="020B0604020202020204" pitchFamily="34" charset="0"/>
            </a:endParaRPr>
          </a:p>
          <a:p>
            <a:endParaRPr lang="en-US" sz="1600" noProof="0" dirty="0">
              <a:solidFill>
                <a:schemeClr val="accent5"/>
              </a:solidFill>
              <a:cs typeface="Arial" panose="020B0604020202020204" pitchFamily="34" charset="0"/>
            </a:endParaRPr>
          </a:p>
        </p:txBody>
      </p:sp>
      <p:grpSp>
        <p:nvGrpSpPr>
          <p:cNvPr id="4" name="Group 3">
            <a:extLst>
              <a:ext uri="{FF2B5EF4-FFF2-40B4-BE49-F238E27FC236}">
                <a16:creationId xmlns:a16="http://schemas.microsoft.com/office/drawing/2014/main" id="{314ACD4F-3723-7F1A-6756-FF6F28D07018}"/>
              </a:ext>
            </a:extLst>
          </p:cNvPr>
          <p:cNvGrpSpPr/>
          <p:nvPr/>
        </p:nvGrpSpPr>
        <p:grpSpPr>
          <a:xfrm>
            <a:off x="914400" y="2511372"/>
            <a:ext cx="10362072" cy="3759759"/>
            <a:chOff x="821181" y="2519944"/>
            <a:chExt cx="10362072" cy="3759759"/>
          </a:xfrm>
        </p:grpSpPr>
        <p:sp>
          <p:nvSpPr>
            <p:cNvPr id="2" name="Rectangle: Rounded Corners 1">
              <a:extLst>
                <a:ext uri="{FF2B5EF4-FFF2-40B4-BE49-F238E27FC236}">
                  <a16:creationId xmlns:a16="http://schemas.microsoft.com/office/drawing/2014/main" id="{040838F4-0A38-4D5A-9B2B-644DECBBF921}"/>
                </a:ext>
              </a:extLst>
            </p:cNvPr>
            <p:cNvSpPr/>
            <p:nvPr/>
          </p:nvSpPr>
          <p:spPr>
            <a:xfrm>
              <a:off x="821181" y="2836108"/>
              <a:ext cx="4950000" cy="3443595"/>
            </a:xfrm>
            <a:prstGeom prst="roundRect">
              <a:avLst/>
            </a:prstGeom>
            <a:solidFill>
              <a:schemeClr val="bg1"/>
            </a:solidFill>
            <a:ln w="5715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noProof="0" dirty="0">
                <a:solidFill>
                  <a:schemeClr val="accent5"/>
                </a:solidFill>
              </a:endParaRPr>
            </a:p>
            <a:p>
              <a:endParaRPr lang="en-US" sz="1600" noProof="0" dirty="0">
                <a:solidFill>
                  <a:schemeClr val="accent5"/>
                </a:solidFill>
              </a:endParaRPr>
            </a:p>
            <a:p>
              <a:r>
                <a:rPr lang="en-GB" sz="1600" noProof="0" dirty="0">
                  <a:solidFill>
                    <a:schemeClr val="accent5"/>
                  </a:solidFill>
                </a:rPr>
                <a:t>Natural variation that is built into the process.</a:t>
              </a:r>
              <a:endParaRPr lang="en-US" sz="1600" noProof="0" dirty="0">
                <a:solidFill>
                  <a:schemeClr val="accent5"/>
                </a:solidFill>
              </a:endParaRPr>
            </a:p>
            <a:p>
              <a:endParaRPr lang="en-US" sz="1600" noProof="0" dirty="0">
                <a:solidFill>
                  <a:schemeClr val="accent5"/>
                </a:solidFill>
              </a:endParaRPr>
            </a:p>
            <a:p>
              <a:r>
                <a:rPr lang="en-US" sz="1600" noProof="0" dirty="0">
                  <a:solidFill>
                    <a:schemeClr val="accent5"/>
                  </a:solidFill>
                </a:rPr>
                <a:t>Features:</a:t>
              </a:r>
            </a:p>
            <a:p>
              <a:endParaRPr lang="en-US" sz="800" noProof="0" dirty="0">
                <a:solidFill>
                  <a:schemeClr val="accent5"/>
                </a:solidFill>
              </a:endParaRPr>
            </a:p>
            <a:p>
              <a:pPr marL="285750" indent="-285750">
                <a:buFont typeface="Arial" panose="020B0604020202020204" pitchFamily="34" charset="0"/>
                <a:buChar char="•"/>
              </a:pPr>
              <a:r>
                <a:rPr lang="en-US" sz="1600" noProof="0" dirty="0">
                  <a:solidFill>
                    <a:schemeClr val="accent5"/>
                  </a:solidFill>
                </a:rPr>
                <a:t>Expected</a:t>
              </a:r>
            </a:p>
            <a:p>
              <a:pPr marL="285750" indent="-285750">
                <a:buFont typeface="Arial" panose="020B0604020202020204" pitchFamily="34" charset="0"/>
                <a:buChar char="•"/>
              </a:pPr>
              <a:r>
                <a:rPr lang="en-US" sz="1600" noProof="0" dirty="0">
                  <a:solidFill>
                    <a:schemeClr val="accent5"/>
                  </a:solidFill>
                </a:rPr>
                <a:t>Predictable</a:t>
              </a:r>
            </a:p>
            <a:p>
              <a:pPr marL="285750" indent="-285750">
                <a:buFont typeface="Arial" panose="020B0604020202020204" pitchFamily="34" charset="0"/>
                <a:buChar char="•"/>
              </a:pPr>
              <a:r>
                <a:rPr lang="en-US" sz="1600" noProof="0" dirty="0">
                  <a:solidFill>
                    <a:schemeClr val="accent5"/>
                  </a:solidFill>
                </a:rPr>
                <a:t>Always present</a:t>
              </a:r>
            </a:p>
            <a:p>
              <a:pPr marL="285750" indent="-285750">
                <a:buFont typeface="Arial" panose="020B0604020202020204" pitchFamily="34" charset="0"/>
                <a:buChar char="•"/>
              </a:pPr>
              <a:r>
                <a:rPr lang="en-US" sz="1600" noProof="0" dirty="0">
                  <a:solidFill>
                    <a:schemeClr val="accent5"/>
                  </a:solidFill>
                </a:rPr>
                <a:t>Multiple causes</a:t>
              </a:r>
            </a:p>
            <a:p>
              <a:endParaRPr lang="en-US" sz="1600" dirty="0">
                <a:solidFill>
                  <a:schemeClr val="accent5"/>
                </a:solidFill>
              </a:endParaRPr>
            </a:p>
            <a:p>
              <a:pPr fontAlgn="t">
                <a:lnSpc>
                  <a:spcPts val="1500"/>
                </a:lnSpc>
                <a:buNone/>
              </a:pPr>
              <a:r>
                <a:rPr lang="en-GB" sz="1600" b="1" noProof="0" dirty="0">
                  <a:solidFill>
                    <a:schemeClr val="accent5"/>
                  </a:solidFill>
                </a:rPr>
                <a:t>Example: </a:t>
              </a:r>
              <a:r>
                <a:rPr lang="en-US" sz="1600" dirty="0">
                  <a:solidFill>
                    <a:schemeClr val="accent5"/>
                  </a:solidFill>
                </a:rPr>
                <a:t>Calls normally take 4–6 minutes. Small differences in call length are expected.</a:t>
              </a:r>
            </a:p>
            <a:p>
              <a:endParaRPr lang="en-US" sz="1600" noProof="0" dirty="0">
                <a:solidFill>
                  <a:schemeClr val="accent5"/>
                </a:solidFill>
              </a:endParaRPr>
            </a:p>
            <a:p>
              <a:endParaRPr lang="en-US" sz="1600" noProof="0" dirty="0">
                <a:solidFill>
                  <a:schemeClr val="accent5"/>
                </a:solidFill>
              </a:endParaRPr>
            </a:p>
          </p:txBody>
        </p:sp>
        <p:sp>
          <p:nvSpPr>
            <p:cNvPr id="7" name="Rectangle: Rounded Corners 6">
              <a:extLst>
                <a:ext uri="{FF2B5EF4-FFF2-40B4-BE49-F238E27FC236}">
                  <a16:creationId xmlns:a16="http://schemas.microsoft.com/office/drawing/2014/main" id="{127D330A-8DE9-428C-AF9A-C30C19E0BBC7}"/>
                </a:ext>
              </a:extLst>
            </p:cNvPr>
            <p:cNvSpPr/>
            <p:nvPr/>
          </p:nvSpPr>
          <p:spPr>
            <a:xfrm>
              <a:off x="6233253" y="2836108"/>
              <a:ext cx="4950000" cy="3443595"/>
            </a:xfrm>
            <a:prstGeom prst="roundRect">
              <a:avLst/>
            </a:prstGeom>
            <a:solidFill>
              <a:schemeClr val="bg1"/>
            </a:solidFill>
            <a:ln w="571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fontAlgn="t">
                <a:buNone/>
              </a:pPr>
              <a:endParaRPr lang="en-US" sz="1600" dirty="0">
                <a:solidFill>
                  <a:schemeClr val="accent5"/>
                </a:solidFill>
              </a:endParaRPr>
            </a:p>
            <a:p>
              <a:pPr fontAlgn="t">
                <a:buNone/>
              </a:pPr>
              <a:r>
                <a:rPr lang="en-US" sz="1600" dirty="0">
                  <a:solidFill>
                    <a:schemeClr val="accent5"/>
                  </a:solidFill>
                </a:rPr>
                <a:t>Unusual variation caused by a specific event or issue.</a:t>
              </a:r>
            </a:p>
            <a:p>
              <a:endParaRPr lang="en-US" sz="1600" dirty="0">
                <a:solidFill>
                  <a:schemeClr val="accent5"/>
                </a:solidFill>
              </a:endParaRPr>
            </a:p>
            <a:p>
              <a:r>
                <a:rPr lang="en-US" sz="1600" dirty="0">
                  <a:solidFill>
                    <a:schemeClr val="accent5"/>
                  </a:solidFill>
                </a:rPr>
                <a:t>Features:</a:t>
              </a:r>
            </a:p>
            <a:p>
              <a:endParaRPr lang="en-US" sz="800" dirty="0">
                <a:solidFill>
                  <a:schemeClr val="accent5"/>
                </a:solidFill>
              </a:endParaRPr>
            </a:p>
            <a:p>
              <a:pPr marL="285750" indent="-285750">
                <a:buFont typeface="Arial" panose="020B0604020202020204" pitchFamily="34" charset="0"/>
                <a:buChar char="•"/>
              </a:pPr>
              <a:r>
                <a:rPr lang="en-US" sz="1600" dirty="0">
                  <a:solidFill>
                    <a:schemeClr val="accent5"/>
                  </a:solidFill>
                </a:rPr>
                <a:t>Unexpected</a:t>
              </a:r>
            </a:p>
            <a:p>
              <a:pPr marL="285750" indent="-285750">
                <a:buFont typeface="Arial" panose="020B0604020202020204" pitchFamily="34" charset="0"/>
                <a:buChar char="•"/>
              </a:pPr>
              <a:r>
                <a:rPr lang="en-US" sz="1600" dirty="0">
                  <a:solidFill>
                    <a:schemeClr val="accent5"/>
                  </a:solidFill>
                </a:rPr>
                <a:t>Unpredictable</a:t>
              </a:r>
            </a:p>
            <a:p>
              <a:pPr marL="285750" indent="-285750">
                <a:buFont typeface="Arial" panose="020B0604020202020204" pitchFamily="34" charset="0"/>
                <a:buChar char="•"/>
              </a:pPr>
              <a:r>
                <a:rPr lang="en-US" sz="1600" dirty="0">
                  <a:solidFill>
                    <a:schemeClr val="accent5"/>
                  </a:solidFill>
                </a:rPr>
                <a:t>Usually one cause</a:t>
              </a:r>
            </a:p>
            <a:p>
              <a:pPr marL="285750" indent="-285750">
                <a:buFont typeface="Arial" panose="020B0604020202020204" pitchFamily="34" charset="0"/>
                <a:buChar char="•"/>
              </a:pPr>
              <a:r>
                <a:rPr lang="en-US" sz="1600" dirty="0">
                  <a:solidFill>
                    <a:schemeClr val="accent5"/>
                  </a:solidFill>
                </a:rPr>
                <a:t>Requires investigation</a:t>
              </a:r>
            </a:p>
            <a:p>
              <a:pPr marL="285750" indent="-285750">
                <a:buFont typeface="Arial" panose="020B0604020202020204" pitchFamily="34" charset="0"/>
                <a:buChar char="•"/>
              </a:pPr>
              <a:endParaRPr lang="en-US" sz="1600" dirty="0">
                <a:solidFill>
                  <a:srgbClr val="002060"/>
                </a:solidFill>
              </a:endParaRPr>
            </a:p>
            <a:p>
              <a:pPr fontAlgn="t">
                <a:lnSpc>
                  <a:spcPts val="1500"/>
                </a:lnSpc>
                <a:buNone/>
              </a:pPr>
              <a:r>
                <a:rPr lang="en-US" sz="1600" b="1" dirty="0">
                  <a:solidFill>
                    <a:schemeClr val="accent5"/>
                  </a:solidFill>
                </a:rPr>
                <a:t>Example: </a:t>
              </a:r>
              <a:r>
                <a:rPr lang="en-GB" sz="1600" dirty="0">
                  <a:solidFill>
                    <a:schemeClr val="accent5"/>
                  </a:solidFill>
                </a:rPr>
                <a:t>A phone outage increases call times from 4–6 minutes to 20 minutes and requires investigation.</a:t>
              </a:r>
              <a:endParaRPr lang="en-US" sz="1600" noProof="0" dirty="0">
                <a:solidFill>
                  <a:schemeClr val="accent5"/>
                </a:solidFill>
              </a:endParaRPr>
            </a:p>
          </p:txBody>
        </p:sp>
        <p:sp>
          <p:nvSpPr>
            <p:cNvPr id="3" name="Rectangle: Rounded Corners 2">
              <a:extLst>
                <a:ext uri="{FF2B5EF4-FFF2-40B4-BE49-F238E27FC236}">
                  <a16:creationId xmlns:a16="http://schemas.microsoft.com/office/drawing/2014/main" id="{897B44D7-1AAC-48C3-B0F7-1D9C19737860}"/>
                </a:ext>
              </a:extLst>
            </p:cNvPr>
            <p:cNvSpPr/>
            <p:nvPr/>
          </p:nvSpPr>
          <p:spPr>
            <a:xfrm>
              <a:off x="1843301" y="2519944"/>
              <a:ext cx="2905760" cy="668083"/>
            </a:xfrm>
            <a:prstGeom prst="roundRect">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cs typeface="Arial" panose="020B0604020202020204" pitchFamily="34" charset="0"/>
                </a:rPr>
                <a:t>Common Cause</a:t>
              </a:r>
            </a:p>
          </p:txBody>
        </p:sp>
        <p:sp>
          <p:nvSpPr>
            <p:cNvPr id="8" name="Rectangle: Rounded Corners 7">
              <a:extLst>
                <a:ext uri="{FF2B5EF4-FFF2-40B4-BE49-F238E27FC236}">
                  <a16:creationId xmlns:a16="http://schemas.microsoft.com/office/drawing/2014/main" id="{714D7378-B73D-48E1-9E80-4728A027275C}"/>
                </a:ext>
              </a:extLst>
            </p:cNvPr>
            <p:cNvSpPr/>
            <p:nvPr/>
          </p:nvSpPr>
          <p:spPr>
            <a:xfrm>
              <a:off x="7268291" y="2519944"/>
              <a:ext cx="2905760" cy="668084"/>
            </a:xfrm>
            <a:prstGeom prst="roundRect">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bg1"/>
                  </a:solidFill>
                  <a:cs typeface="Arial" panose="020B0604020202020204" pitchFamily="34" charset="0"/>
                </a:rPr>
                <a:t>Special Cause</a:t>
              </a:r>
            </a:p>
          </p:txBody>
        </p:sp>
      </p:grpSp>
      <p:sp>
        <p:nvSpPr>
          <p:cNvPr id="9" name="Rectangle: Rounded Corners 8">
            <a:extLst>
              <a:ext uri="{FF2B5EF4-FFF2-40B4-BE49-F238E27FC236}">
                <a16:creationId xmlns:a16="http://schemas.microsoft.com/office/drawing/2014/main" id="{125C8B83-194C-4186-3271-0803A3663FCF}"/>
              </a:ext>
            </a:extLst>
          </p:cNvPr>
          <p:cNvSpPr/>
          <p:nvPr/>
        </p:nvSpPr>
        <p:spPr>
          <a:xfrm>
            <a:off x="914401" y="2131054"/>
            <a:ext cx="10268606" cy="342018"/>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Process Variation</a:t>
            </a:r>
            <a:endParaRPr lang="en-US" b="1" dirty="0"/>
          </a:p>
        </p:txBody>
      </p:sp>
    </p:spTree>
    <p:extLst>
      <p:ext uri="{BB962C8B-B14F-4D97-AF65-F5344CB8AC3E}">
        <p14:creationId xmlns:p14="http://schemas.microsoft.com/office/powerpoint/2010/main" val="3873684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7" y="400813"/>
            <a:ext cx="8326523" cy="492443"/>
          </a:xfrm>
        </p:spPr>
        <p:txBody>
          <a:bodyPr>
            <a:normAutofit/>
          </a:bodyPr>
          <a:lstStyle/>
          <a:p>
            <a:pPr>
              <a:lnSpc>
                <a:spcPct val="80000"/>
              </a:lnSpc>
            </a:pPr>
            <a:r>
              <a:rPr lang="en-US" sz="3200" dirty="0">
                <a:latin typeface="+mj-lt"/>
              </a:rPr>
              <a:t>Managing Variation</a:t>
            </a:r>
          </a:p>
        </p:txBody>
      </p:sp>
      <p:sp>
        <p:nvSpPr>
          <p:cNvPr id="4" name="TextBox 3">
            <a:extLst>
              <a:ext uri="{FF2B5EF4-FFF2-40B4-BE49-F238E27FC236}">
                <a16:creationId xmlns:a16="http://schemas.microsoft.com/office/drawing/2014/main" id="{F1DC2BDB-1AFD-463D-A21D-A356B7AB22F0}"/>
              </a:ext>
            </a:extLst>
          </p:cNvPr>
          <p:cNvSpPr txBox="1"/>
          <p:nvPr/>
        </p:nvSpPr>
        <p:spPr>
          <a:xfrm>
            <a:off x="335595" y="1429289"/>
            <a:ext cx="5604858" cy="584775"/>
          </a:xfrm>
          <a:prstGeom prst="rect">
            <a:avLst/>
          </a:prstGeom>
          <a:noFill/>
        </p:spPr>
        <p:txBody>
          <a:bodyPr wrap="square" rtlCol="0">
            <a:spAutoFit/>
          </a:bodyPr>
          <a:lstStyle/>
          <a:p>
            <a:endParaRPr lang="en-US" sz="1600" noProof="0" dirty="0">
              <a:solidFill>
                <a:schemeClr val="accent5"/>
              </a:solidFill>
            </a:endParaRPr>
          </a:p>
          <a:p>
            <a:endParaRPr lang="en-US" sz="1600" noProof="0" dirty="0">
              <a:solidFill>
                <a:schemeClr val="accent5"/>
              </a:solidFill>
            </a:endParaRPr>
          </a:p>
        </p:txBody>
      </p:sp>
      <p:sp>
        <p:nvSpPr>
          <p:cNvPr id="13" name="TextBox 12">
            <a:extLst>
              <a:ext uri="{FF2B5EF4-FFF2-40B4-BE49-F238E27FC236}">
                <a16:creationId xmlns:a16="http://schemas.microsoft.com/office/drawing/2014/main" id="{F7C3BBAC-3FAB-4AD3-B182-8C6893A1DF1B}"/>
              </a:ext>
            </a:extLst>
          </p:cNvPr>
          <p:cNvSpPr txBox="1"/>
          <p:nvPr/>
        </p:nvSpPr>
        <p:spPr>
          <a:xfrm>
            <a:off x="487867" y="1455430"/>
            <a:ext cx="2242922" cy="338554"/>
          </a:xfrm>
          <a:prstGeom prst="rect">
            <a:avLst/>
          </a:prstGeom>
          <a:noFill/>
        </p:spPr>
        <p:txBody>
          <a:bodyPr wrap="none" rtlCol="0">
            <a:spAutoFit/>
          </a:bodyPr>
          <a:lstStyle/>
          <a:p>
            <a:r>
              <a:rPr lang="en-US" sz="1600" b="1" noProof="0" dirty="0">
                <a:solidFill>
                  <a:schemeClr val="accent5"/>
                </a:solidFill>
                <a:cs typeface="Arial" panose="020B0604020202020204" pitchFamily="34" charset="0"/>
              </a:rPr>
              <a:t>According to Deming</a:t>
            </a:r>
            <a:r>
              <a:rPr lang="en-US" sz="1600" noProof="0" dirty="0">
                <a:solidFill>
                  <a:schemeClr val="accent5"/>
                </a:solidFill>
                <a:cs typeface="Arial" panose="020B0604020202020204" pitchFamily="34" charset="0"/>
              </a:rPr>
              <a:t>:</a:t>
            </a:r>
          </a:p>
        </p:txBody>
      </p:sp>
      <p:pic>
        <p:nvPicPr>
          <p:cNvPr id="5" name="Graphic 4" descr="Lecturer with solid fill">
            <a:extLst>
              <a:ext uri="{FF2B5EF4-FFF2-40B4-BE49-F238E27FC236}">
                <a16:creationId xmlns:a16="http://schemas.microsoft.com/office/drawing/2014/main" id="{B8B359C4-4E10-4302-80A8-86A4553154C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97413" y="1827242"/>
            <a:ext cx="1445710" cy="1445710"/>
          </a:xfrm>
          <a:prstGeom prst="rect">
            <a:avLst/>
          </a:prstGeom>
        </p:spPr>
      </p:pic>
      <p:sp>
        <p:nvSpPr>
          <p:cNvPr id="3" name="Rectangle: Rounded Corners 2">
            <a:extLst>
              <a:ext uri="{FF2B5EF4-FFF2-40B4-BE49-F238E27FC236}">
                <a16:creationId xmlns:a16="http://schemas.microsoft.com/office/drawing/2014/main" id="{24A1EA3B-4C78-2DB6-9735-3EAD90E90CE9}"/>
              </a:ext>
            </a:extLst>
          </p:cNvPr>
          <p:cNvSpPr/>
          <p:nvPr/>
        </p:nvSpPr>
        <p:spPr>
          <a:xfrm>
            <a:off x="715986" y="3207796"/>
            <a:ext cx="5046127" cy="3361680"/>
          </a:xfrm>
          <a:prstGeom prst="roundRect">
            <a:avLst>
              <a:gd name="adj" fmla="val 17733"/>
            </a:avLst>
          </a:prstGeom>
          <a:solidFill>
            <a:schemeClr val="bg1"/>
          </a:solidFill>
          <a:ln w="381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600" noProof="0" dirty="0">
              <a:solidFill>
                <a:schemeClr val="accent5"/>
              </a:solidFill>
              <a:cs typeface="Arial" panose="020B0604020202020204" pitchFamily="34" charset="0"/>
            </a:endParaRPr>
          </a:p>
          <a:p>
            <a:endParaRPr lang="en-US" sz="1600" noProof="0" dirty="0">
              <a:solidFill>
                <a:schemeClr val="accent5"/>
              </a:solidFill>
              <a:cs typeface="Arial" panose="020B0604020202020204" pitchFamily="34" charset="0"/>
            </a:endParaRPr>
          </a:p>
          <a:p>
            <a:r>
              <a:rPr lang="en-US" sz="1600" noProof="0" dirty="0">
                <a:solidFill>
                  <a:schemeClr val="accent5"/>
                </a:solidFill>
                <a:cs typeface="Arial" panose="020B0604020202020204" pitchFamily="34" charset="0"/>
              </a:rPr>
              <a:t>Can only be eliminated or improved by management and improvement activities.</a:t>
            </a:r>
          </a:p>
          <a:p>
            <a:endParaRPr lang="en-US" sz="1600" dirty="0">
              <a:solidFill>
                <a:schemeClr val="accent5"/>
              </a:solidFill>
              <a:cs typeface="Arial" panose="020B0604020202020204" pitchFamily="34" charset="0"/>
            </a:endParaRPr>
          </a:p>
          <a:p>
            <a:r>
              <a:rPr lang="en-GB" sz="1600" dirty="0">
                <a:solidFill>
                  <a:schemeClr val="accent5"/>
                </a:solidFill>
                <a:cs typeface="Arial" panose="020B0604020202020204" pitchFamily="34" charset="0"/>
              </a:rPr>
              <a:t>Built into the process:</a:t>
            </a:r>
          </a:p>
          <a:p>
            <a:endParaRPr lang="en-GB" sz="1600" dirty="0">
              <a:solidFill>
                <a:schemeClr val="accent5"/>
              </a:solidFill>
              <a:cs typeface="Arial" panose="020B0604020202020204" pitchFamily="34" charset="0"/>
            </a:endParaRPr>
          </a:p>
          <a:p>
            <a:pPr marL="285750" indent="-285750">
              <a:buFont typeface="Arial" panose="020B0604020202020204" pitchFamily="34" charset="0"/>
              <a:buChar char="•"/>
            </a:pPr>
            <a:r>
              <a:rPr lang="en-GB" sz="1600" dirty="0">
                <a:solidFill>
                  <a:schemeClr val="accent5"/>
                </a:solidFill>
                <a:cs typeface="Arial" panose="020B0604020202020204" pitchFamily="34" charset="0"/>
              </a:rPr>
              <a:t>Improve the process.</a:t>
            </a:r>
          </a:p>
          <a:p>
            <a:pPr marL="285750" indent="-285750">
              <a:buFont typeface="Arial" panose="020B0604020202020204" pitchFamily="34" charset="0"/>
              <a:buChar char="•"/>
            </a:pPr>
            <a:r>
              <a:rPr lang="en-GB" sz="1600" dirty="0">
                <a:solidFill>
                  <a:schemeClr val="accent5"/>
                </a:solidFill>
                <a:cs typeface="Arial" panose="020B0604020202020204" pitchFamily="34" charset="0"/>
              </a:rPr>
              <a:t>Standardize work.</a:t>
            </a:r>
          </a:p>
          <a:p>
            <a:pPr marL="285750" indent="-285750">
              <a:buFont typeface="Arial" panose="020B0604020202020204" pitchFamily="34" charset="0"/>
              <a:buChar char="•"/>
            </a:pPr>
            <a:r>
              <a:rPr lang="en-GB" sz="1600" dirty="0">
                <a:solidFill>
                  <a:schemeClr val="accent5"/>
                </a:solidFill>
                <a:cs typeface="Arial" panose="020B0604020202020204" pitchFamily="34" charset="0"/>
              </a:rPr>
              <a:t>Remove waste and inefficiencies.</a:t>
            </a:r>
          </a:p>
          <a:p>
            <a:pPr marL="285750" indent="-285750">
              <a:buFont typeface="Arial" panose="020B0604020202020204" pitchFamily="34" charset="0"/>
              <a:buChar char="•"/>
            </a:pPr>
            <a:r>
              <a:rPr lang="en-GB" sz="1600" dirty="0">
                <a:solidFill>
                  <a:schemeClr val="accent5"/>
                </a:solidFill>
                <a:cs typeface="Arial" panose="020B0604020202020204" pitchFamily="34" charset="0"/>
              </a:rPr>
              <a:t>Usually requires management action.</a:t>
            </a:r>
            <a:endParaRPr lang="en-US" sz="1600" dirty="0">
              <a:solidFill>
                <a:schemeClr val="accent5"/>
              </a:solidFill>
              <a:cs typeface="Arial" panose="020B0604020202020204" pitchFamily="34" charset="0"/>
            </a:endParaRPr>
          </a:p>
        </p:txBody>
      </p:sp>
      <p:sp>
        <p:nvSpPr>
          <p:cNvPr id="9" name="Rectangle: Rounded Corners 8">
            <a:extLst>
              <a:ext uri="{FF2B5EF4-FFF2-40B4-BE49-F238E27FC236}">
                <a16:creationId xmlns:a16="http://schemas.microsoft.com/office/drawing/2014/main" id="{496F9E31-1CB4-4005-949A-C3D5C1CC5460}"/>
              </a:ext>
            </a:extLst>
          </p:cNvPr>
          <p:cNvSpPr/>
          <p:nvPr/>
        </p:nvSpPr>
        <p:spPr>
          <a:xfrm>
            <a:off x="626534" y="3187702"/>
            <a:ext cx="4914548" cy="584775"/>
          </a:xfrm>
          <a:prstGeom prst="roundRect">
            <a:avLst/>
          </a:prstGeom>
          <a:solidFill>
            <a:schemeClr val="accent5"/>
          </a:solid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noProof="0" dirty="0">
                <a:cs typeface="Arial" panose="020B0604020202020204" pitchFamily="34" charset="0"/>
              </a:rPr>
              <a:t>Common Cause</a:t>
            </a:r>
          </a:p>
        </p:txBody>
      </p:sp>
      <p:sp>
        <p:nvSpPr>
          <p:cNvPr id="7" name="Rectangle: Rounded Corners 6">
            <a:extLst>
              <a:ext uri="{FF2B5EF4-FFF2-40B4-BE49-F238E27FC236}">
                <a16:creationId xmlns:a16="http://schemas.microsoft.com/office/drawing/2014/main" id="{FA03D4B5-91B4-14B0-6650-2BC950120515}"/>
              </a:ext>
            </a:extLst>
          </p:cNvPr>
          <p:cNvSpPr/>
          <p:nvPr/>
        </p:nvSpPr>
        <p:spPr>
          <a:xfrm>
            <a:off x="6519339" y="3509257"/>
            <a:ext cx="5046127" cy="3060219"/>
          </a:xfrm>
          <a:prstGeom prst="roundRect">
            <a:avLst>
              <a:gd name="adj" fmla="val 15816"/>
            </a:avLst>
          </a:prstGeom>
          <a:solidFill>
            <a:schemeClr val="bg1"/>
          </a:solidFill>
          <a:ln w="381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600" dirty="0">
              <a:solidFill>
                <a:schemeClr val="accent5"/>
              </a:solidFill>
              <a:cs typeface="Arial" panose="020B0604020202020204" pitchFamily="34" charset="0"/>
            </a:endParaRPr>
          </a:p>
          <a:p>
            <a:r>
              <a:rPr lang="en-US" sz="1600" dirty="0">
                <a:solidFill>
                  <a:schemeClr val="accent5"/>
                </a:solidFill>
                <a:cs typeface="Arial" panose="020B0604020202020204" pitchFamily="34" charset="0"/>
              </a:rPr>
              <a:t>The cause should be confirmed with the employee completing the work. Management should work with process users to improve standardization and remove the variation.  </a:t>
            </a:r>
          </a:p>
          <a:p>
            <a:endParaRPr lang="en-US" sz="1600" dirty="0">
              <a:solidFill>
                <a:schemeClr val="accent5"/>
              </a:solidFill>
              <a:cs typeface="Arial" panose="020B0604020202020204" pitchFamily="34" charset="0"/>
            </a:endParaRPr>
          </a:p>
          <a:p>
            <a:r>
              <a:rPr lang="en-GB" sz="1600" dirty="0">
                <a:solidFill>
                  <a:schemeClr val="accent5"/>
                </a:solidFill>
                <a:cs typeface="Arial" panose="020B0604020202020204" pitchFamily="34" charset="0"/>
              </a:rPr>
              <a:t>Caused by a specific event:</a:t>
            </a:r>
          </a:p>
          <a:p>
            <a:endParaRPr lang="en-GB" sz="500" dirty="0">
              <a:solidFill>
                <a:schemeClr val="accent5"/>
              </a:solidFill>
              <a:cs typeface="Arial" panose="020B0604020202020204" pitchFamily="34" charset="0"/>
            </a:endParaRPr>
          </a:p>
          <a:p>
            <a:pPr marL="285750" indent="-285750">
              <a:buFont typeface="Arial" panose="020B0604020202020204" pitchFamily="34" charset="0"/>
              <a:buChar char="•"/>
            </a:pPr>
            <a:r>
              <a:rPr lang="en-GB" sz="1600" dirty="0">
                <a:solidFill>
                  <a:schemeClr val="accent5"/>
                </a:solidFill>
                <a:cs typeface="Arial" panose="020B0604020202020204" pitchFamily="34" charset="0"/>
              </a:rPr>
              <a:t>Investigate what happened.</a:t>
            </a:r>
          </a:p>
          <a:p>
            <a:pPr marL="285750" indent="-285750">
              <a:buFont typeface="Arial" panose="020B0604020202020204" pitchFamily="34" charset="0"/>
              <a:buChar char="•"/>
            </a:pPr>
            <a:r>
              <a:rPr lang="en-GB" sz="1600" dirty="0">
                <a:solidFill>
                  <a:schemeClr val="accent5"/>
                </a:solidFill>
                <a:cs typeface="Arial" panose="020B0604020202020204" pitchFamily="34" charset="0"/>
              </a:rPr>
              <a:t>Speak to the people doing the work.</a:t>
            </a:r>
          </a:p>
          <a:p>
            <a:pPr marL="285750" indent="-285750">
              <a:buFont typeface="Arial" panose="020B0604020202020204" pitchFamily="34" charset="0"/>
              <a:buChar char="•"/>
            </a:pPr>
            <a:r>
              <a:rPr lang="en-GB" sz="1600" dirty="0">
                <a:solidFill>
                  <a:schemeClr val="accent5"/>
                </a:solidFill>
                <a:cs typeface="Arial" panose="020B0604020202020204" pitchFamily="34" charset="0"/>
              </a:rPr>
              <a:t>Identify the root cause.</a:t>
            </a:r>
          </a:p>
          <a:p>
            <a:pPr marL="285750" indent="-285750">
              <a:buFont typeface="Arial" panose="020B0604020202020204" pitchFamily="34" charset="0"/>
              <a:buChar char="•"/>
            </a:pPr>
            <a:r>
              <a:rPr lang="en-GB" sz="1600" dirty="0">
                <a:solidFill>
                  <a:schemeClr val="accent5"/>
                </a:solidFill>
                <a:cs typeface="Arial" panose="020B0604020202020204" pitchFamily="34" charset="0"/>
              </a:rPr>
              <a:t>Remove the cause or embed the improvement.</a:t>
            </a:r>
          </a:p>
          <a:p>
            <a:pPr algn="ctr"/>
            <a:endParaRPr lang="en-GB" sz="1600" dirty="0">
              <a:solidFill>
                <a:schemeClr val="accent5"/>
              </a:solidFill>
              <a:cs typeface="Arial" panose="020B0604020202020204" pitchFamily="34" charset="0"/>
            </a:endParaRPr>
          </a:p>
          <a:p>
            <a:endParaRPr lang="en-US" sz="1600" dirty="0">
              <a:solidFill>
                <a:schemeClr val="accent5"/>
              </a:solidFill>
              <a:cs typeface="Arial" panose="020B0604020202020204" pitchFamily="34" charset="0"/>
            </a:endParaRPr>
          </a:p>
        </p:txBody>
      </p:sp>
      <p:sp>
        <p:nvSpPr>
          <p:cNvPr id="10" name="Rectangle: Rounded Corners 9">
            <a:extLst>
              <a:ext uri="{FF2B5EF4-FFF2-40B4-BE49-F238E27FC236}">
                <a16:creationId xmlns:a16="http://schemas.microsoft.com/office/drawing/2014/main" id="{BDD7CC22-9015-4A2A-85DF-5DFD0EF1EDF6}"/>
              </a:ext>
            </a:extLst>
          </p:cNvPr>
          <p:cNvSpPr/>
          <p:nvPr/>
        </p:nvSpPr>
        <p:spPr>
          <a:xfrm>
            <a:off x="6383866" y="3207796"/>
            <a:ext cx="4936067" cy="584775"/>
          </a:xfrm>
          <a:prstGeom prst="round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noProof="0" dirty="0">
                <a:cs typeface="Arial" panose="020B0604020202020204" pitchFamily="34" charset="0"/>
              </a:rPr>
              <a:t>Special Cause</a:t>
            </a:r>
          </a:p>
        </p:txBody>
      </p:sp>
      <p:pic>
        <p:nvPicPr>
          <p:cNvPr id="16" name="Graphic 15" descr="Call center with solid fill">
            <a:extLst>
              <a:ext uri="{FF2B5EF4-FFF2-40B4-BE49-F238E27FC236}">
                <a16:creationId xmlns:a16="http://schemas.microsoft.com/office/drawing/2014/main" id="{A36C8CB5-E4F7-E818-9AF6-1FCC714B3C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92888" y="1939928"/>
            <a:ext cx="1444877" cy="1444877"/>
          </a:xfrm>
          <a:prstGeom prst="rect">
            <a:avLst/>
          </a:prstGeom>
        </p:spPr>
      </p:pic>
      <p:sp>
        <p:nvSpPr>
          <p:cNvPr id="2" name="Flowchart: Connector 1">
            <a:extLst>
              <a:ext uri="{FF2B5EF4-FFF2-40B4-BE49-F238E27FC236}">
                <a16:creationId xmlns:a16="http://schemas.microsoft.com/office/drawing/2014/main" id="{63138FD7-88B1-F5C9-2A1B-23C8D47DD119}"/>
              </a:ext>
            </a:extLst>
          </p:cNvPr>
          <p:cNvSpPr/>
          <p:nvPr/>
        </p:nvSpPr>
        <p:spPr>
          <a:xfrm>
            <a:off x="300083" y="2979000"/>
            <a:ext cx="900000" cy="90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94%</a:t>
            </a:r>
            <a:endParaRPr lang="en-US" dirty="0"/>
          </a:p>
        </p:txBody>
      </p:sp>
      <p:sp>
        <p:nvSpPr>
          <p:cNvPr id="8" name="Flowchart: Connector 7">
            <a:extLst>
              <a:ext uri="{FF2B5EF4-FFF2-40B4-BE49-F238E27FC236}">
                <a16:creationId xmlns:a16="http://schemas.microsoft.com/office/drawing/2014/main" id="{5AFADA36-8A16-6BF3-A3BB-6B76D020BF4B}"/>
              </a:ext>
            </a:extLst>
          </p:cNvPr>
          <p:cNvSpPr/>
          <p:nvPr/>
        </p:nvSpPr>
        <p:spPr>
          <a:xfrm>
            <a:off x="6195466" y="2979000"/>
            <a:ext cx="900000" cy="900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6%</a:t>
            </a:r>
            <a:endParaRPr lang="en-US" dirty="0"/>
          </a:p>
        </p:txBody>
      </p:sp>
      <p:pic>
        <p:nvPicPr>
          <p:cNvPr id="18" name="Graphic 17" descr="Lecturer with solid fill">
            <a:extLst>
              <a:ext uri="{FF2B5EF4-FFF2-40B4-BE49-F238E27FC236}">
                <a16:creationId xmlns:a16="http://schemas.microsoft.com/office/drawing/2014/main" id="{FCBA1191-B0E6-63A6-8011-F78341FE4E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49851" y="1815476"/>
            <a:ext cx="1445710" cy="1445710"/>
          </a:xfrm>
          <a:prstGeom prst="rect">
            <a:avLst/>
          </a:prstGeom>
        </p:spPr>
      </p:pic>
    </p:spTree>
    <p:extLst>
      <p:ext uri="{BB962C8B-B14F-4D97-AF65-F5344CB8AC3E}">
        <p14:creationId xmlns:p14="http://schemas.microsoft.com/office/powerpoint/2010/main" val="2600731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Placeholder 1">
            <a:extLst>
              <a:ext uri="{FF2B5EF4-FFF2-40B4-BE49-F238E27FC236}">
                <a16:creationId xmlns:a16="http://schemas.microsoft.com/office/drawing/2014/main" id="{E51CAC5B-F135-FCD0-9339-1ED2CA7EE0CB}"/>
              </a:ext>
            </a:extLst>
          </p:cNvPr>
          <p:cNvSpPr>
            <a:spLocks noGrp="1"/>
          </p:cNvSpPr>
          <p:nvPr>
            <p:ph type="body" sz="quarter" idx="10"/>
          </p:nvPr>
        </p:nvSpPr>
        <p:spPr>
          <a:xfrm>
            <a:off x="533400" y="364066"/>
            <a:ext cx="8921318" cy="778933"/>
          </a:xfrm>
        </p:spPr>
        <p:txBody>
          <a:bodyPr>
            <a:normAutofit/>
          </a:bodyPr>
          <a:lstStyle/>
          <a:p>
            <a:r>
              <a:rPr lang="en-GB" sz="3200" dirty="0">
                <a:latin typeface="+mj-lt"/>
              </a:rPr>
              <a:t>Activity: Common or Special Cause </a:t>
            </a:r>
            <a:endParaRPr lang="en-US" sz="3200" dirty="0">
              <a:latin typeface="+mj-lt"/>
            </a:endParaRPr>
          </a:p>
        </p:txBody>
      </p:sp>
      <p:sp>
        <p:nvSpPr>
          <p:cNvPr id="7" name="TextBox 6">
            <a:extLst>
              <a:ext uri="{FF2B5EF4-FFF2-40B4-BE49-F238E27FC236}">
                <a16:creationId xmlns:a16="http://schemas.microsoft.com/office/drawing/2014/main" id="{D0711639-738F-B536-0C94-5B25A0202C1D}"/>
              </a:ext>
            </a:extLst>
          </p:cNvPr>
          <p:cNvSpPr txBox="1"/>
          <p:nvPr/>
        </p:nvSpPr>
        <p:spPr>
          <a:xfrm>
            <a:off x="410479" y="1674436"/>
            <a:ext cx="3801497" cy="2029402"/>
          </a:xfrm>
          <a:prstGeom prst="rect">
            <a:avLst/>
          </a:prstGeom>
          <a:noFill/>
        </p:spPr>
        <p:txBody>
          <a:bodyPr wrap="square">
            <a:spAutoFit/>
          </a:bodyPr>
          <a:lstStyle/>
          <a:p>
            <a:pPr fontAlgn="t">
              <a:lnSpc>
                <a:spcPts val="1500"/>
              </a:lnSpc>
              <a:buNone/>
            </a:pPr>
            <a:r>
              <a:rPr lang="en-US" sz="1600" b="1" i="0" dirty="0">
                <a:solidFill>
                  <a:srgbClr val="002060"/>
                </a:solidFill>
                <a:effectLst/>
              </a:rPr>
              <a:t>Activity Instructions</a:t>
            </a:r>
          </a:p>
          <a:p>
            <a:pPr fontAlgn="t">
              <a:lnSpc>
                <a:spcPts val="1500"/>
              </a:lnSpc>
              <a:buNone/>
            </a:pPr>
            <a:endParaRPr lang="en-US" sz="1600" b="1" i="0" dirty="0">
              <a:solidFill>
                <a:srgbClr val="002060"/>
              </a:solidFill>
              <a:effectLst/>
            </a:endParaRPr>
          </a:p>
          <a:p>
            <a:pPr fontAlgn="t">
              <a:lnSpc>
                <a:spcPts val="1500"/>
              </a:lnSpc>
              <a:buNone/>
            </a:pPr>
            <a:r>
              <a:rPr lang="en-US" sz="1600" b="1" i="0" dirty="0">
                <a:solidFill>
                  <a:srgbClr val="002060"/>
                </a:solidFill>
                <a:effectLst/>
              </a:rPr>
              <a:t>Read each scenario and decide whether it is:</a:t>
            </a:r>
          </a:p>
          <a:p>
            <a:pPr marL="285750" indent="-285750" fontAlgn="t">
              <a:lnSpc>
                <a:spcPts val="1500"/>
              </a:lnSpc>
              <a:buFont typeface="Arial" panose="020B0604020202020204" pitchFamily="34" charset="0"/>
              <a:buChar char="•"/>
            </a:pPr>
            <a:endParaRPr lang="en-US" sz="1600" b="0" i="0" dirty="0">
              <a:solidFill>
                <a:srgbClr val="002060"/>
              </a:solidFill>
              <a:effectLst/>
            </a:endParaRPr>
          </a:p>
          <a:p>
            <a:pPr marL="285750" indent="-285750" fontAlgn="t">
              <a:lnSpc>
                <a:spcPts val="1500"/>
              </a:lnSpc>
              <a:buFont typeface="Arial" panose="020B0604020202020204" pitchFamily="34" charset="0"/>
              <a:buChar char="•"/>
            </a:pPr>
            <a:r>
              <a:rPr lang="en-US" sz="1600" b="1" i="0" dirty="0">
                <a:solidFill>
                  <a:srgbClr val="002060"/>
                </a:solidFill>
                <a:effectLst/>
              </a:rPr>
              <a:t>Common Cause Variation</a:t>
            </a:r>
            <a:r>
              <a:rPr lang="en-US" sz="1600" b="0" i="0" dirty="0">
                <a:solidFill>
                  <a:srgbClr val="002060"/>
                </a:solidFill>
                <a:effectLst/>
              </a:rPr>
              <a:t> (normal variation built into the process).</a:t>
            </a:r>
          </a:p>
          <a:p>
            <a:pPr marL="285750" indent="-285750" fontAlgn="t">
              <a:lnSpc>
                <a:spcPts val="1500"/>
              </a:lnSpc>
              <a:buFont typeface="Arial" panose="020B0604020202020204" pitchFamily="34" charset="0"/>
              <a:buChar char="•"/>
            </a:pPr>
            <a:endParaRPr lang="en-US" sz="1600" b="0" i="0" dirty="0">
              <a:solidFill>
                <a:srgbClr val="002060"/>
              </a:solidFill>
              <a:effectLst/>
            </a:endParaRPr>
          </a:p>
          <a:p>
            <a:pPr marL="285750" indent="-285750" fontAlgn="t">
              <a:lnSpc>
                <a:spcPts val="1500"/>
              </a:lnSpc>
              <a:buFont typeface="Arial" panose="020B0604020202020204" pitchFamily="34" charset="0"/>
              <a:buChar char="•"/>
            </a:pPr>
            <a:r>
              <a:rPr lang="en-US" sz="1600" b="1" i="0" dirty="0">
                <a:solidFill>
                  <a:srgbClr val="002060"/>
                </a:solidFill>
                <a:effectLst/>
              </a:rPr>
              <a:t>Special Cause Variation</a:t>
            </a:r>
            <a:r>
              <a:rPr lang="en-US" sz="1600" b="0" i="0" dirty="0">
                <a:solidFill>
                  <a:srgbClr val="002060"/>
                </a:solidFill>
                <a:effectLst/>
              </a:rPr>
              <a:t> (unusual variation requiring investigation).</a:t>
            </a:r>
          </a:p>
        </p:txBody>
      </p:sp>
      <p:sp>
        <p:nvSpPr>
          <p:cNvPr id="8" name="Rectangle: Rounded Corners 7">
            <a:extLst>
              <a:ext uri="{FF2B5EF4-FFF2-40B4-BE49-F238E27FC236}">
                <a16:creationId xmlns:a16="http://schemas.microsoft.com/office/drawing/2014/main" id="{3710EE82-3131-334D-C77C-EB90F1E43187}"/>
              </a:ext>
            </a:extLst>
          </p:cNvPr>
          <p:cNvSpPr/>
          <p:nvPr/>
        </p:nvSpPr>
        <p:spPr>
          <a:xfrm>
            <a:off x="4687410" y="1358449"/>
            <a:ext cx="6507332" cy="92333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A Career Coach normally completes 6–8 participant reviews per day. One day only 2 reviews are completed because the case management system is unavailable.</a:t>
            </a:r>
            <a:endParaRPr lang="en-US" sz="1600" dirty="0"/>
          </a:p>
        </p:txBody>
      </p:sp>
      <p:sp>
        <p:nvSpPr>
          <p:cNvPr id="9" name="Rectangle: Rounded Corners 8">
            <a:extLst>
              <a:ext uri="{FF2B5EF4-FFF2-40B4-BE49-F238E27FC236}">
                <a16:creationId xmlns:a16="http://schemas.microsoft.com/office/drawing/2014/main" id="{D27A32E1-6C5E-5B5B-017E-8A39E301EEA5}"/>
              </a:ext>
            </a:extLst>
          </p:cNvPr>
          <p:cNvSpPr/>
          <p:nvPr/>
        </p:nvSpPr>
        <p:spPr>
          <a:xfrm>
            <a:off x="4687410" y="2423191"/>
            <a:ext cx="6507332" cy="99368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A housing assessment normally takes 3–5 working days to complete. One application is completed in 4 days.</a:t>
            </a:r>
            <a:endParaRPr lang="en-US" sz="1600" dirty="0"/>
          </a:p>
        </p:txBody>
      </p:sp>
      <p:sp>
        <p:nvSpPr>
          <p:cNvPr id="13" name="Rectangle: Rounded Corners 12">
            <a:extLst>
              <a:ext uri="{FF2B5EF4-FFF2-40B4-BE49-F238E27FC236}">
                <a16:creationId xmlns:a16="http://schemas.microsoft.com/office/drawing/2014/main" id="{16222E2E-D108-978E-918E-30647FD1610B}"/>
              </a:ext>
            </a:extLst>
          </p:cNvPr>
          <p:cNvSpPr/>
          <p:nvPr/>
        </p:nvSpPr>
        <p:spPr>
          <a:xfrm>
            <a:off x="4687410" y="3558283"/>
            <a:ext cx="6507332" cy="90071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sz="1600" dirty="0"/>
              <a:t>A Childcare Advisor normally has between 8-12 eligibility verifications per day. Today they only processed 4.</a:t>
            </a:r>
          </a:p>
        </p:txBody>
      </p:sp>
      <p:sp>
        <p:nvSpPr>
          <p:cNvPr id="15" name="Rectangle: Rounded Corners 14">
            <a:extLst>
              <a:ext uri="{FF2B5EF4-FFF2-40B4-BE49-F238E27FC236}">
                <a16:creationId xmlns:a16="http://schemas.microsoft.com/office/drawing/2014/main" id="{E5DD2B8A-C470-B84C-458C-2129886AACC0}"/>
              </a:ext>
            </a:extLst>
          </p:cNvPr>
          <p:cNvSpPr/>
          <p:nvPr/>
        </p:nvSpPr>
        <p:spPr>
          <a:xfrm>
            <a:off x="4687410" y="4620085"/>
            <a:ext cx="6507332" cy="900710"/>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sz="1600" dirty="0"/>
              <a:t>An occupational health referral normally takes </a:t>
            </a:r>
            <a:r>
              <a:rPr lang="en-US" sz="1600" b="1" dirty="0"/>
              <a:t>10–12 days</a:t>
            </a:r>
            <a:r>
              <a:rPr lang="en-US" sz="1600" dirty="0"/>
              <a:t> from referral to assessment. One referral takes 25 days due to staff absence.</a:t>
            </a:r>
          </a:p>
        </p:txBody>
      </p:sp>
      <p:sp>
        <p:nvSpPr>
          <p:cNvPr id="17" name="Rectangle: Rounded Corners 16">
            <a:extLst>
              <a:ext uri="{FF2B5EF4-FFF2-40B4-BE49-F238E27FC236}">
                <a16:creationId xmlns:a16="http://schemas.microsoft.com/office/drawing/2014/main" id="{C933E46C-4252-1FEF-F529-AC2290AD8862}"/>
              </a:ext>
            </a:extLst>
          </p:cNvPr>
          <p:cNvSpPr/>
          <p:nvPr/>
        </p:nvSpPr>
        <p:spPr>
          <a:xfrm>
            <a:off x="4687410" y="5681887"/>
            <a:ext cx="6507332" cy="900711"/>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t"/>
            <a:r>
              <a:rPr lang="en-US" sz="1600" dirty="0"/>
              <a:t>A payroll system error causes 500 employees to receive incorrect pay checks.</a:t>
            </a:r>
          </a:p>
        </p:txBody>
      </p:sp>
    </p:spTree>
    <p:extLst>
      <p:ext uri="{BB962C8B-B14F-4D97-AF65-F5344CB8AC3E}">
        <p14:creationId xmlns:p14="http://schemas.microsoft.com/office/powerpoint/2010/main" val="3617975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250E5-E94C-83F6-2119-497886F99DF4}"/>
            </a:ext>
          </a:extLst>
        </p:cNvPr>
        <p:cNvGrpSpPr/>
        <p:nvPr/>
      </p:nvGrpSpPr>
      <p:grpSpPr>
        <a:xfrm>
          <a:off x="0" y="0"/>
          <a:ext cx="1" cy="1"/>
          <a:chOff x="0" y="0"/>
          <a:chExt cx="1" cy="1"/>
        </a:xfrm>
      </p:grpSpPr>
      <p:sp>
        <p:nvSpPr>
          <p:cNvPr id="2" name="Text Placeholder 1">
            <a:extLst>
              <a:ext uri="{FF2B5EF4-FFF2-40B4-BE49-F238E27FC236}">
                <a16:creationId xmlns:a16="http://schemas.microsoft.com/office/drawing/2014/main" id="{8D0B4764-7FFC-87FC-75B4-5CF0EECAE995}"/>
              </a:ext>
            </a:extLst>
          </p:cNvPr>
          <p:cNvSpPr>
            <a:spLocks noGrp="1"/>
          </p:cNvSpPr>
          <p:nvPr>
            <p:ph type="body" sz="quarter" idx="10"/>
          </p:nvPr>
        </p:nvSpPr>
        <p:spPr>
          <a:xfrm>
            <a:off x="533400" y="430924"/>
            <a:ext cx="8921318" cy="712075"/>
          </a:xfrm>
        </p:spPr>
        <p:txBody>
          <a:bodyPr>
            <a:normAutofit/>
          </a:bodyPr>
          <a:lstStyle/>
          <a:p>
            <a:pPr>
              <a:lnSpc>
                <a:spcPct val="80000"/>
              </a:lnSpc>
            </a:pPr>
            <a:r>
              <a:rPr lang="en-GB" sz="3200" dirty="0">
                <a:latin typeface="+mj-lt"/>
              </a:rPr>
              <a:t>Activity: Answers</a:t>
            </a:r>
            <a:endParaRPr lang="en-US" sz="3200" dirty="0">
              <a:latin typeface="+mj-lt"/>
            </a:endParaRPr>
          </a:p>
        </p:txBody>
      </p:sp>
      <p:graphicFrame>
        <p:nvGraphicFramePr>
          <p:cNvPr id="4" name="Table 3">
            <a:extLst>
              <a:ext uri="{FF2B5EF4-FFF2-40B4-BE49-F238E27FC236}">
                <a16:creationId xmlns:a16="http://schemas.microsoft.com/office/drawing/2014/main" id="{8B87BEB1-E05A-DFFD-2BF9-FD2B8BC78E48}"/>
              </a:ext>
            </a:extLst>
          </p:cNvPr>
          <p:cNvGraphicFramePr>
            <a:graphicFrameLocks noGrp="1"/>
          </p:cNvGraphicFramePr>
          <p:nvPr>
            <p:extLst>
              <p:ext uri="{D42A27DB-BD31-4B8C-83A1-F6EECF244321}">
                <p14:modId xmlns:p14="http://schemas.microsoft.com/office/powerpoint/2010/main" val="645207632"/>
              </p:ext>
            </p:extLst>
          </p:nvPr>
        </p:nvGraphicFramePr>
        <p:xfrm>
          <a:off x="779929" y="1580750"/>
          <a:ext cx="10273554" cy="4403241"/>
        </p:xfrm>
        <a:graphic>
          <a:graphicData uri="http://schemas.openxmlformats.org/drawingml/2006/table">
            <a:tbl>
              <a:tblPr>
                <a:tableStyleId>{C4B1156A-380E-4F78-BDF5-A606A8083BF9}</a:tableStyleId>
              </a:tblPr>
              <a:tblGrid>
                <a:gridCol w="4948518">
                  <a:extLst>
                    <a:ext uri="{9D8B030D-6E8A-4147-A177-3AD203B41FA5}">
                      <a16:colId xmlns:a16="http://schemas.microsoft.com/office/drawing/2014/main" val="1413119302"/>
                    </a:ext>
                  </a:extLst>
                </a:gridCol>
                <a:gridCol w="1900518">
                  <a:extLst>
                    <a:ext uri="{9D8B030D-6E8A-4147-A177-3AD203B41FA5}">
                      <a16:colId xmlns:a16="http://schemas.microsoft.com/office/drawing/2014/main" val="4263705571"/>
                    </a:ext>
                  </a:extLst>
                </a:gridCol>
                <a:gridCol w="3424518">
                  <a:extLst>
                    <a:ext uri="{9D8B030D-6E8A-4147-A177-3AD203B41FA5}">
                      <a16:colId xmlns:a16="http://schemas.microsoft.com/office/drawing/2014/main" val="2151400336"/>
                    </a:ext>
                  </a:extLst>
                </a:gridCol>
              </a:tblGrid>
              <a:tr h="183522">
                <a:tc>
                  <a:txBody>
                    <a:bodyPr/>
                    <a:lstStyle/>
                    <a:p>
                      <a:pPr>
                        <a:buNone/>
                      </a:pPr>
                      <a:r>
                        <a:rPr lang="en-US" sz="1200" b="1" dirty="0">
                          <a:solidFill>
                            <a:schemeClr val="bg1"/>
                          </a:solidFill>
                        </a:rPr>
                        <a:t>Scenario</a:t>
                      </a:r>
                    </a:p>
                  </a:txBody>
                  <a:tcPr marL="45880" marR="45880" marT="22940" marB="22940" anchor="ctr">
                    <a:solidFill>
                      <a:schemeClr val="accent4"/>
                    </a:solidFill>
                  </a:tcPr>
                </a:tc>
                <a:tc>
                  <a:txBody>
                    <a:bodyPr/>
                    <a:lstStyle/>
                    <a:p>
                      <a:pPr>
                        <a:buNone/>
                      </a:pPr>
                      <a:r>
                        <a:rPr lang="en-US" sz="1200" b="1" dirty="0">
                          <a:solidFill>
                            <a:schemeClr val="bg1"/>
                          </a:solidFill>
                        </a:rPr>
                        <a:t>Common Cause or Special Cause?</a:t>
                      </a:r>
                    </a:p>
                  </a:txBody>
                  <a:tcPr marL="45880" marR="45880" marT="22940" marB="22940" anchor="ctr">
                    <a:solidFill>
                      <a:schemeClr val="accent4"/>
                    </a:solidFill>
                  </a:tcPr>
                </a:tc>
                <a:tc>
                  <a:txBody>
                    <a:bodyPr/>
                    <a:lstStyle/>
                    <a:p>
                      <a:pPr>
                        <a:buNone/>
                      </a:pPr>
                      <a:r>
                        <a:rPr lang="en-US" sz="1200" b="1" dirty="0">
                          <a:solidFill>
                            <a:schemeClr val="bg1"/>
                          </a:solidFill>
                        </a:rPr>
                        <a:t>Why?</a:t>
                      </a:r>
                    </a:p>
                  </a:txBody>
                  <a:tcPr marL="45880" marR="45880" marT="22940" marB="22940" anchor="ctr">
                    <a:solidFill>
                      <a:schemeClr val="accent4"/>
                    </a:solidFill>
                  </a:tcPr>
                </a:tc>
                <a:extLst>
                  <a:ext uri="{0D108BD9-81ED-4DB2-BD59-A6C34878D82A}">
                    <a16:rowId xmlns:a16="http://schemas.microsoft.com/office/drawing/2014/main" val="4205348960"/>
                  </a:ext>
                </a:extLst>
              </a:tr>
              <a:tr h="871729">
                <a:tc>
                  <a:txBody>
                    <a:bodyPr/>
                    <a:lstStyle/>
                    <a:p>
                      <a:pPr>
                        <a:buNone/>
                      </a:pPr>
                      <a:r>
                        <a:rPr lang="en-US" sz="1200" b="0" dirty="0">
                          <a:solidFill>
                            <a:srgbClr val="002060"/>
                          </a:solidFill>
                        </a:rPr>
                        <a:t>A Career Coach normally completes 6–8 participant reviews per day. One day only 2 reviews are completed because the case management system is unavailable.</a:t>
                      </a:r>
                    </a:p>
                  </a:txBody>
                  <a:tcPr marL="45880" marR="45880" marT="22940" marB="22940" anchor="ctr"/>
                </a:tc>
                <a:tc>
                  <a:txBody>
                    <a:bodyPr/>
                    <a:lstStyle/>
                    <a:p>
                      <a:pPr>
                        <a:buNone/>
                      </a:pPr>
                      <a:r>
                        <a:rPr lang="en-US" sz="1200" b="1" dirty="0">
                          <a:solidFill>
                            <a:srgbClr val="002060"/>
                          </a:solidFill>
                        </a:rPr>
                        <a:t>Special Cause</a:t>
                      </a:r>
                      <a:endParaRPr lang="en-US" sz="1200" dirty="0">
                        <a:solidFill>
                          <a:srgbClr val="002060"/>
                        </a:solidFill>
                      </a:endParaRPr>
                    </a:p>
                  </a:txBody>
                  <a:tcPr marL="45880" marR="45880" marT="22940" marB="22940" anchor="ctr"/>
                </a:tc>
                <a:tc>
                  <a:txBody>
                    <a:bodyPr/>
                    <a:lstStyle/>
                    <a:p>
                      <a:pPr>
                        <a:buNone/>
                      </a:pPr>
                      <a:r>
                        <a:rPr lang="en-US" sz="1200" dirty="0">
                          <a:solidFill>
                            <a:srgbClr val="002060"/>
                          </a:solidFill>
                        </a:rPr>
                        <a:t>A system outage is an unusual event that is not part of normal process performance.</a:t>
                      </a:r>
                    </a:p>
                  </a:txBody>
                  <a:tcPr marL="45880" marR="45880" marT="22940" marB="22940" anchor="ctr"/>
                </a:tc>
                <a:extLst>
                  <a:ext uri="{0D108BD9-81ED-4DB2-BD59-A6C34878D82A}">
                    <a16:rowId xmlns:a16="http://schemas.microsoft.com/office/drawing/2014/main" val="3968013220"/>
                  </a:ext>
                </a:extLst>
              </a:tr>
              <a:tr h="596446">
                <a:tc>
                  <a:txBody>
                    <a:bodyPr/>
                    <a:lstStyle/>
                    <a:p>
                      <a:pPr>
                        <a:buNone/>
                      </a:pPr>
                      <a:r>
                        <a:rPr lang="en-US" sz="1200" b="0" dirty="0">
                          <a:solidFill>
                            <a:srgbClr val="002060"/>
                          </a:solidFill>
                        </a:rPr>
                        <a:t>A housing assessment normally takes 3–5 working days to complete. One application is completed in 4 days.</a:t>
                      </a:r>
                    </a:p>
                  </a:txBody>
                  <a:tcPr marL="45880" marR="45880" marT="22940" marB="22940" anchor="ctr"/>
                </a:tc>
                <a:tc>
                  <a:txBody>
                    <a:bodyPr/>
                    <a:lstStyle/>
                    <a:p>
                      <a:pPr>
                        <a:buNone/>
                      </a:pPr>
                      <a:r>
                        <a:rPr lang="en-US" sz="1200" b="1" dirty="0">
                          <a:solidFill>
                            <a:srgbClr val="002060"/>
                          </a:solidFill>
                        </a:rPr>
                        <a:t>Common Cause</a:t>
                      </a:r>
                      <a:endParaRPr lang="en-US" sz="1200" dirty="0">
                        <a:solidFill>
                          <a:srgbClr val="002060"/>
                        </a:solidFill>
                      </a:endParaRPr>
                    </a:p>
                  </a:txBody>
                  <a:tcPr marL="45880" marR="45880" marT="22940" marB="22940" anchor="ctr"/>
                </a:tc>
                <a:tc>
                  <a:txBody>
                    <a:bodyPr/>
                    <a:lstStyle/>
                    <a:p>
                      <a:pPr>
                        <a:buNone/>
                      </a:pPr>
                      <a:r>
                        <a:rPr lang="en-US" sz="1200" dirty="0">
                          <a:solidFill>
                            <a:srgbClr val="002060"/>
                          </a:solidFill>
                        </a:rPr>
                        <a:t>The result falls within the expected process range.</a:t>
                      </a:r>
                    </a:p>
                  </a:txBody>
                  <a:tcPr marL="45880" marR="45880" marT="22940" marB="22940" anchor="ctr"/>
                </a:tc>
                <a:extLst>
                  <a:ext uri="{0D108BD9-81ED-4DB2-BD59-A6C34878D82A}">
                    <a16:rowId xmlns:a16="http://schemas.microsoft.com/office/drawing/2014/main" val="1657355223"/>
                  </a:ext>
                </a:extLst>
              </a:tr>
              <a:tr h="596446">
                <a:tc>
                  <a:txBody>
                    <a:bodyPr/>
                    <a:lstStyle/>
                    <a:p>
                      <a:pPr>
                        <a:buNone/>
                      </a:pPr>
                      <a:r>
                        <a:rPr lang="en-US" sz="1200" b="0" dirty="0">
                          <a:solidFill>
                            <a:srgbClr val="002060"/>
                          </a:solidFill>
                        </a:rPr>
                        <a:t>A Childcare Advisor normally completes 8–12 eligibility verifications per day. Today they complete 10.</a:t>
                      </a:r>
                    </a:p>
                  </a:txBody>
                  <a:tcPr marL="45880" marR="45880" marT="22940" marB="22940" anchor="ctr"/>
                </a:tc>
                <a:tc>
                  <a:txBody>
                    <a:bodyPr/>
                    <a:lstStyle/>
                    <a:p>
                      <a:pPr>
                        <a:buNone/>
                      </a:pPr>
                      <a:r>
                        <a:rPr lang="en-US" sz="1200" b="1" dirty="0">
                          <a:solidFill>
                            <a:srgbClr val="002060"/>
                          </a:solidFill>
                        </a:rPr>
                        <a:t>Common Cause</a:t>
                      </a:r>
                      <a:endParaRPr lang="en-US" sz="1200" dirty="0">
                        <a:solidFill>
                          <a:srgbClr val="002060"/>
                        </a:solidFill>
                      </a:endParaRPr>
                    </a:p>
                  </a:txBody>
                  <a:tcPr marL="45880" marR="45880" marT="22940" marB="22940" anchor="ctr"/>
                </a:tc>
                <a:tc>
                  <a:txBody>
                    <a:bodyPr/>
                    <a:lstStyle/>
                    <a:p>
                      <a:pPr>
                        <a:buNone/>
                      </a:pPr>
                      <a:r>
                        <a:rPr lang="en-US" sz="1200" dirty="0">
                          <a:solidFill>
                            <a:srgbClr val="002060"/>
                          </a:solidFill>
                        </a:rPr>
                        <a:t>The result is within the normal expected range for the process.</a:t>
                      </a:r>
                    </a:p>
                  </a:txBody>
                  <a:tcPr marL="45880" marR="45880" marT="22940" marB="22940" anchor="ctr"/>
                </a:tc>
                <a:extLst>
                  <a:ext uri="{0D108BD9-81ED-4DB2-BD59-A6C34878D82A}">
                    <a16:rowId xmlns:a16="http://schemas.microsoft.com/office/drawing/2014/main" val="43729162"/>
                  </a:ext>
                </a:extLst>
              </a:tr>
              <a:tr h="596446">
                <a:tc>
                  <a:txBody>
                    <a:bodyPr/>
                    <a:lstStyle/>
                    <a:p>
                      <a:pPr>
                        <a:buNone/>
                      </a:pPr>
                      <a:r>
                        <a:rPr lang="en-US" sz="1200" b="0" dirty="0">
                          <a:solidFill>
                            <a:srgbClr val="002060"/>
                          </a:solidFill>
                        </a:rPr>
                        <a:t>A childcare advisor normally completes 8–12 eligibility verifications per day. Today they only complete 4.</a:t>
                      </a:r>
                    </a:p>
                  </a:txBody>
                  <a:tcPr marL="45880" marR="45880" marT="22940" marB="22940" anchor="ctr"/>
                </a:tc>
                <a:tc>
                  <a:txBody>
                    <a:bodyPr/>
                    <a:lstStyle/>
                    <a:p>
                      <a:pPr>
                        <a:buNone/>
                      </a:pPr>
                      <a:r>
                        <a:rPr lang="en-US" sz="1200" b="1" dirty="0">
                          <a:solidFill>
                            <a:srgbClr val="002060"/>
                          </a:solidFill>
                        </a:rPr>
                        <a:t>Special Cause</a:t>
                      </a:r>
                      <a:endParaRPr lang="en-US" sz="1200" dirty="0">
                        <a:solidFill>
                          <a:srgbClr val="002060"/>
                        </a:solidFill>
                      </a:endParaRPr>
                    </a:p>
                  </a:txBody>
                  <a:tcPr marL="45880" marR="45880" marT="22940" marB="22940" anchor="ctr"/>
                </a:tc>
                <a:tc>
                  <a:txBody>
                    <a:bodyPr/>
                    <a:lstStyle/>
                    <a:p>
                      <a:pPr>
                        <a:buNone/>
                      </a:pPr>
                      <a:r>
                        <a:rPr lang="en-US" sz="1200" dirty="0">
                          <a:solidFill>
                            <a:srgbClr val="002060"/>
                          </a:solidFill>
                        </a:rPr>
                        <a:t>Performance is significantly outside the expected range and suggests something unusual has occurred.</a:t>
                      </a:r>
                    </a:p>
                  </a:txBody>
                  <a:tcPr marL="45880" marR="45880" marT="22940" marB="22940" anchor="ctr"/>
                </a:tc>
                <a:extLst>
                  <a:ext uri="{0D108BD9-81ED-4DB2-BD59-A6C34878D82A}">
                    <a16:rowId xmlns:a16="http://schemas.microsoft.com/office/drawing/2014/main" val="1102500904"/>
                  </a:ext>
                </a:extLst>
              </a:tr>
              <a:tr h="734088">
                <a:tc>
                  <a:txBody>
                    <a:bodyPr/>
                    <a:lstStyle/>
                    <a:p>
                      <a:pPr>
                        <a:buNone/>
                      </a:pPr>
                      <a:r>
                        <a:rPr lang="en-US" sz="1200" b="0" dirty="0">
                          <a:solidFill>
                            <a:srgbClr val="002060"/>
                          </a:solidFill>
                        </a:rPr>
                        <a:t>An occupational health referral normally takes 10–12 days from referral to assessment. One referral takes 25 days due to staff absence.</a:t>
                      </a:r>
                    </a:p>
                  </a:txBody>
                  <a:tcPr marL="45880" marR="45880" marT="22940" marB="22940" anchor="ctr"/>
                </a:tc>
                <a:tc>
                  <a:txBody>
                    <a:bodyPr/>
                    <a:lstStyle/>
                    <a:p>
                      <a:pPr>
                        <a:buNone/>
                      </a:pPr>
                      <a:r>
                        <a:rPr lang="en-US" sz="1200" b="1" dirty="0">
                          <a:solidFill>
                            <a:srgbClr val="002060"/>
                          </a:solidFill>
                        </a:rPr>
                        <a:t>Special Cause</a:t>
                      </a:r>
                      <a:endParaRPr lang="en-US" sz="1200" dirty="0">
                        <a:solidFill>
                          <a:srgbClr val="002060"/>
                        </a:solidFill>
                      </a:endParaRPr>
                    </a:p>
                  </a:txBody>
                  <a:tcPr marL="45880" marR="45880" marT="22940" marB="22940" anchor="ctr"/>
                </a:tc>
                <a:tc>
                  <a:txBody>
                    <a:bodyPr/>
                    <a:lstStyle/>
                    <a:p>
                      <a:pPr>
                        <a:buNone/>
                      </a:pPr>
                      <a:r>
                        <a:rPr lang="en-US" sz="1200" dirty="0">
                          <a:solidFill>
                            <a:srgbClr val="002060"/>
                          </a:solidFill>
                        </a:rPr>
                        <a:t>Staff absence is a specific event that has created unusual variation.</a:t>
                      </a:r>
                    </a:p>
                  </a:txBody>
                  <a:tcPr marL="45880" marR="45880" marT="22940" marB="22940" anchor="ctr"/>
                </a:tc>
                <a:extLst>
                  <a:ext uri="{0D108BD9-81ED-4DB2-BD59-A6C34878D82A}">
                    <a16:rowId xmlns:a16="http://schemas.microsoft.com/office/drawing/2014/main" val="3532240793"/>
                  </a:ext>
                </a:extLst>
              </a:tr>
              <a:tr h="596446">
                <a:tc>
                  <a:txBody>
                    <a:bodyPr/>
                    <a:lstStyle/>
                    <a:p>
                      <a:pPr>
                        <a:buNone/>
                      </a:pPr>
                      <a:r>
                        <a:rPr lang="en-US" sz="1200" b="0" dirty="0">
                          <a:solidFill>
                            <a:srgbClr val="002060"/>
                          </a:solidFill>
                        </a:rPr>
                        <a:t>A payroll system error causes 500 employees to receive incorrect paychecks.</a:t>
                      </a:r>
                    </a:p>
                  </a:txBody>
                  <a:tcPr marL="45880" marR="45880" marT="22940" marB="22940" anchor="ctr"/>
                </a:tc>
                <a:tc>
                  <a:txBody>
                    <a:bodyPr/>
                    <a:lstStyle/>
                    <a:p>
                      <a:pPr>
                        <a:buNone/>
                      </a:pPr>
                      <a:r>
                        <a:rPr lang="en-US" sz="1200" b="1" dirty="0">
                          <a:solidFill>
                            <a:srgbClr val="002060"/>
                          </a:solidFill>
                        </a:rPr>
                        <a:t>Special Cause</a:t>
                      </a:r>
                      <a:endParaRPr lang="en-US" sz="1200" dirty="0">
                        <a:solidFill>
                          <a:srgbClr val="002060"/>
                        </a:solidFill>
                      </a:endParaRPr>
                    </a:p>
                  </a:txBody>
                  <a:tcPr marL="45880" marR="45880" marT="22940" marB="22940" anchor="ctr"/>
                </a:tc>
                <a:tc>
                  <a:txBody>
                    <a:bodyPr/>
                    <a:lstStyle/>
                    <a:p>
                      <a:pPr>
                        <a:buNone/>
                      </a:pPr>
                      <a:r>
                        <a:rPr lang="en-US" sz="1200" dirty="0">
                          <a:solidFill>
                            <a:srgbClr val="002060"/>
                          </a:solidFill>
                        </a:rPr>
                        <a:t>A system error is not part of normal process behavior and requires immediate investigation.</a:t>
                      </a:r>
                    </a:p>
                  </a:txBody>
                  <a:tcPr marL="45880" marR="45880" marT="22940" marB="22940" anchor="ctr"/>
                </a:tc>
                <a:extLst>
                  <a:ext uri="{0D108BD9-81ED-4DB2-BD59-A6C34878D82A}">
                    <a16:rowId xmlns:a16="http://schemas.microsoft.com/office/drawing/2014/main" val="3002648080"/>
                  </a:ext>
                </a:extLst>
              </a:tr>
            </a:tbl>
          </a:graphicData>
        </a:graphic>
      </p:graphicFrame>
    </p:spTree>
    <p:extLst>
      <p:ext uri="{BB962C8B-B14F-4D97-AF65-F5344CB8AC3E}">
        <p14:creationId xmlns:p14="http://schemas.microsoft.com/office/powerpoint/2010/main" val="1919587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A6DB2150-E563-8443-95B1-A182B0692A74}"/>
              </a:ext>
            </a:extLst>
          </p:cNvPr>
          <p:cNvSpPr>
            <a:spLocks noGrp="1"/>
          </p:cNvSpPr>
          <p:nvPr>
            <p:ph type="body" sz="quarter" idx="11"/>
          </p:nvPr>
        </p:nvSpPr>
        <p:spPr/>
        <p:txBody>
          <a:bodyPr vert="horz" lIns="0" tIns="0" rIns="0" bIns="0" rtlCol="0" anchor="t">
            <a:normAutofit/>
          </a:bodyPr>
          <a:lstStyle/>
          <a:p>
            <a:r>
              <a:rPr lang="en-US" noProof="0" dirty="0">
                <a:latin typeface="+mj-lt"/>
                <a:cs typeface="Arial"/>
              </a:rPr>
              <a:t>CONTROL LSS27</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dirty="0">
                <a:latin typeface="+mj-lt"/>
              </a:rPr>
              <a:t>03</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dirty="0">
              <a:solidFill>
                <a:srgbClr val="FFFFFF"/>
              </a:solidFill>
              <a:latin typeface="+mj-lt"/>
              <a:cs typeface="Arial" panose="020B0604020202020204" pitchFamily="34" charset="0"/>
            </a:endParaRPr>
          </a:p>
        </p:txBody>
      </p:sp>
      <p:sp>
        <p:nvSpPr>
          <p:cNvPr id="2" name="TextBox 1">
            <a:extLst>
              <a:ext uri="{FF2B5EF4-FFF2-40B4-BE49-F238E27FC236}">
                <a16:creationId xmlns:a16="http://schemas.microsoft.com/office/drawing/2014/main" id="{AA1AD738-9A03-18E6-6F0A-B66D17AE1774}"/>
              </a:ext>
            </a:extLst>
          </p:cNvPr>
          <p:cNvSpPr txBox="1"/>
          <p:nvPr/>
        </p:nvSpPr>
        <p:spPr>
          <a:xfrm>
            <a:off x="1444680" y="3459033"/>
            <a:ext cx="504107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noProof="0" dirty="0">
                <a:solidFill>
                  <a:schemeClr val="accent5"/>
                </a:solidFill>
                <a:latin typeface="+mj-lt"/>
                <a:cs typeface="Arial" panose="020B0604020202020204" pitchFamily="34" charset="0"/>
              </a:rPr>
              <a:t>Using Control Charts</a:t>
            </a:r>
          </a:p>
        </p:txBody>
      </p:sp>
    </p:spTree>
    <p:extLst>
      <p:ext uri="{BB962C8B-B14F-4D97-AF65-F5344CB8AC3E}">
        <p14:creationId xmlns:p14="http://schemas.microsoft.com/office/powerpoint/2010/main" val="105313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Placeholder 1">
            <a:extLst>
              <a:ext uri="{FF2B5EF4-FFF2-40B4-BE49-F238E27FC236}">
                <a16:creationId xmlns:a16="http://schemas.microsoft.com/office/drawing/2014/main" id="{361D1F49-8957-DC0A-0F7D-550CABFE4753}"/>
              </a:ext>
            </a:extLst>
          </p:cNvPr>
          <p:cNvSpPr>
            <a:spLocks noGrp="1"/>
          </p:cNvSpPr>
          <p:nvPr>
            <p:ph type="body" sz="quarter" idx="10"/>
          </p:nvPr>
        </p:nvSpPr>
        <p:spPr>
          <a:xfrm>
            <a:off x="533400" y="422870"/>
            <a:ext cx="5562600" cy="923330"/>
          </a:xfrm>
        </p:spPr>
        <p:txBody>
          <a:bodyPr>
            <a:normAutofit fontScale="62500" lnSpcReduction="20000"/>
          </a:bodyPr>
          <a:lstStyle/>
          <a:p>
            <a:r>
              <a:rPr lang="en-GB" dirty="0">
                <a:latin typeface="+mj-lt"/>
              </a:rPr>
              <a:t>What is a Control Chart?</a:t>
            </a:r>
            <a:endParaRPr lang="en-US" dirty="0">
              <a:latin typeface="+mj-lt"/>
            </a:endParaRPr>
          </a:p>
        </p:txBody>
      </p:sp>
      <p:sp>
        <p:nvSpPr>
          <p:cNvPr id="4" name="TextBox 3">
            <a:extLst>
              <a:ext uri="{FF2B5EF4-FFF2-40B4-BE49-F238E27FC236}">
                <a16:creationId xmlns:a16="http://schemas.microsoft.com/office/drawing/2014/main" id="{BAC73D87-CC72-74C8-F9D5-A1CEFF45376F}"/>
              </a:ext>
            </a:extLst>
          </p:cNvPr>
          <p:cNvSpPr txBox="1"/>
          <p:nvPr/>
        </p:nvSpPr>
        <p:spPr>
          <a:xfrm>
            <a:off x="507242" y="1393438"/>
            <a:ext cx="11092218" cy="4878259"/>
          </a:xfrm>
          <a:prstGeom prst="rect">
            <a:avLst/>
          </a:prstGeom>
          <a:noFill/>
        </p:spPr>
        <p:txBody>
          <a:bodyPr wrap="square">
            <a:spAutoFit/>
          </a:bodyPr>
          <a:lstStyle/>
          <a:p>
            <a:r>
              <a:rPr lang="en-GB" dirty="0">
                <a:solidFill>
                  <a:srgbClr val="002060"/>
                </a:solidFill>
              </a:rPr>
              <a:t>A Control Chart is a graphical tool used to monitor process performance over time and distinguish between normal variation and unusual variation.</a:t>
            </a:r>
          </a:p>
          <a:p>
            <a:endParaRPr lang="en-GB" dirty="0">
              <a:solidFill>
                <a:srgbClr val="002060"/>
              </a:solidFill>
            </a:endParaRPr>
          </a:p>
          <a:p>
            <a:r>
              <a:rPr lang="en-GB" dirty="0">
                <a:solidFill>
                  <a:srgbClr val="002060"/>
                </a:solidFill>
              </a:rPr>
              <a:t>Key Components:</a:t>
            </a:r>
          </a:p>
          <a:p>
            <a:endParaRPr lang="en-GB" dirty="0">
              <a:solidFill>
                <a:srgbClr val="002060"/>
              </a:solidFill>
            </a:endParaRPr>
          </a:p>
          <a:p>
            <a:endParaRPr lang="en-GB" b="1" dirty="0">
              <a:solidFill>
                <a:srgbClr val="002060"/>
              </a:solidFill>
            </a:endParaRPr>
          </a:p>
          <a:p>
            <a:endParaRPr lang="en-GB" b="1" dirty="0">
              <a:solidFill>
                <a:srgbClr val="002060"/>
              </a:solidFill>
            </a:endParaRPr>
          </a:p>
          <a:p>
            <a:endParaRPr lang="en-GB" b="1" dirty="0">
              <a:solidFill>
                <a:srgbClr val="002060"/>
              </a:solidFill>
            </a:endParaRPr>
          </a:p>
          <a:p>
            <a:endParaRPr lang="en-GB" b="1" dirty="0">
              <a:solidFill>
                <a:srgbClr val="002060"/>
              </a:solidFill>
            </a:endParaRPr>
          </a:p>
          <a:p>
            <a:endParaRPr lang="en-GB" b="1" dirty="0">
              <a:solidFill>
                <a:srgbClr val="002060"/>
              </a:solidFill>
            </a:endParaRPr>
          </a:p>
          <a:p>
            <a:endParaRPr lang="en-GB" b="1" dirty="0">
              <a:solidFill>
                <a:srgbClr val="002060"/>
              </a:solidFill>
            </a:endParaRPr>
          </a:p>
          <a:p>
            <a:endParaRPr lang="en-GB" b="1" dirty="0">
              <a:solidFill>
                <a:srgbClr val="002060"/>
              </a:solidFill>
            </a:endParaRPr>
          </a:p>
          <a:p>
            <a:r>
              <a:rPr lang="en-GB" b="1" dirty="0">
                <a:solidFill>
                  <a:srgbClr val="002060"/>
                </a:solidFill>
              </a:rPr>
              <a:t>Why Use a Control Chart?</a:t>
            </a:r>
          </a:p>
          <a:p>
            <a:endParaRPr lang="en-GB" sz="500" dirty="0">
              <a:solidFill>
                <a:srgbClr val="002060"/>
              </a:solidFill>
            </a:endParaRPr>
          </a:p>
          <a:p>
            <a:pPr marL="285750" indent="-285750">
              <a:buFont typeface="Arial" panose="020B0604020202020204" pitchFamily="34" charset="0"/>
              <a:buChar char="•"/>
            </a:pPr>
            <a:r>
              <a:rPr lang="en-GB" dirty="0">
                <a:solidFill>
                  <a:srgbClr val="002060"/>
                </a:solidFill>
              </a:rPr>
              <a:t>Monitor process stability.</a:t>
            </a:r>
          </a:p>
          <a:p>
            <a:pPr marL="285750" indent="-285750">
              <a:buFont typeface="Arial" panose="020B0604020202020204" pitchFamily="34" charset="0"/>
              <a:buChar char="•"/>
            </a:pPr>
            <a:r>
              <a:rPr lang="en-GB" dirty="0">
                <a:solidFill>
                  <a:srgbClr val="002060"/>
                </a:solidFill>
              </a:rPr>
              <a:t>Identify unusual changes or trends.</a:t>
            </a:r>
          </a:p>
          <a:p>
            <a:pPr marL="285750" indent="-285750">
              <a:buFont typeface="Arial" panose="020B0604020202020204" pitchFamily="34" charset="0"/>
              <a:buChar char="•"/>
            </a:pPr>
            <a:r>
              <a:rPr lang="en-GB" dirty="0">
                <a:solidFill>
                  <a:srgbClr val="002060"/>
                </a:solidFill>
              </a:rPr>
              <a:t>Detect issues before performance is impacted.</a:t>
            </a:r>
          </a:p>
          <a:p>
            <a:pPr marL="285750" indent="-285750">
              <a:buFont typeface="Arial" panose="020B0604020202020204" pitchFamily="34" charset="0"/>
              <a:buChar char="•"/>
            </a:pPr>
            <a:r>
              <a:rPr lang="en-GB" dirty="0">
                <a:solidFill>
                  <a:srgbClr val="002060"/>
                </a:solidFill>
              </a:rPr>
              <a:t>Verify whether improvements are sustained.</a:t>
            </a:r>
            <a:endParaRPr lang="en-US" dirty="0">
              <a:solidFill>
                <a:srgbClr val="002060"/>
              </a:solidFill>
            </a:endParaRPr>
          </a:p>
        </p:txBody>
      </p:sp>
      <p:sp>
        <p:nvSpPr>
          <p:cNvPr id="5" name="Rectangle: Rounded Corners 4">
            <a:extLst>
              <a:ext uri="{FF2B5EF4-FFF2-40B4-BE49-F238E27FC236}">
                <a16:creationId xmlns:a16="http://schemas.microsoft.com/office/drawing/2014/main" id="{E6C458BE-62A8-523F-FC35-8F005AC17A8B}"/>
              </a:ext>
            </a:extLst>
          </p:cNvPr>
          <p:cNvSpPr/>
          <p:nvPr/>
        </p:nvSpPr>
        <p:spPr>
          <a:xfrm>
            <a:off x="2792958" y="2685986"/>
            <a:ext cx="2142698" cy="183301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a:p>
            <a:pPr algn="ctr"/>
            <a:endParaRPr lang="en-GB" dirty="0">
              <a:solidFill>
                <a:schemeClr val="bg1"/>
              </a:solidFill>
            </a:endParaRPr>
          </a:p>
          <a:p>
            <a:pPr algn="ctr"/>
            <a:endParaRPr lang="en-GB" dirty="0">
              <a:solidFill>
                <a:schemeClr val="bg1"/>
              </a:solidFill>
            </a:endParaRPr>
          </a:p>
          <a:p>
            <a:pPr algn="ctr"/>
            <a:r>
              <a:rPr lang="en-GB" b="1" dirty="0">
                <a:solidFill>
                  <a:schemeClr val="bg1"/>
                </a:solidFill>
              </a:rPr>
              <a:t>Data Points </a:t>
            </a:r>
          </a:p>
          <a:p>
            <a:pPr algn="ctr"/>
            <a:r>
              <a:rPr lang="en-GB" sz="1400" dirty="0">
                <a:solidFill>
                  <a:schemeClr val="bg1"/>
                </a:solidFill>
              </a:rPr>
              <a:t>Measurements collected over time.</a:t>
            </a:r>
          </a:p>
          <a:p>
            <a:pPr algn="ctr"/>
            <a:endParaRPr lang="en-US" dirty="0">
              <a:solidFill>
                <a:schemeClr val="bg1"/>
              </a:solidFill>
            </a:endParaRPr>
          </a:p>
        </p:txBody>
      </p:sp>
      <p:sp>
        <p:nvSpPr>
          <p:cNvPr id="7" name="Rectangle: Rounded Corners 6">
            <a:extLst>
              <a:ext uri="{FF2B5EF4-FFF2-40B4-BE49-F238E27FC236}">
                <a16:creationId xmlns:a16="http://schemas.microsoft.com/office/drawing/2014/main" id="{E6F26270-6A91-95D4-34ED-49B459B9BF77}"/>
              </a:ext>
            </a:extLst>
          </p:cNvPr>
          <p:cNvSpPr/>
          <p:nvPr/>
        </p:nvSpPr>
        <p:spPr>
          <a:xfrm>
            <a:off x="5214934" y="2685987"/>
            <a:ext cx="2142697" cy="1833012"/>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2060"/>
                </a:solidFill>
              </a:rPr>
              <a:t> </a:t>
            </a:r>
          </a:p>
          <a:p>
            <a:pPr algn="ctr"/>
            <a:endParaRPr lang="en-GB" dirty="0">
              <a:solidFill>
                <a:srgbClr val="002060"/>
              </a:solidFill>
            </a:endParaRPr>
          </a:p>
          <a:p>
            <a:pPr algn="ctr"/>
            <a:r>
              <a:rPr lang="en-GB" b="1" dirty="0">
                <a:solidFill>
                  <a:schemeClr val="bg1"/>
                </a:solidFill>
              </a:rPr>
              <a:t>Centre Line (CL) </a:t>
            </a:r>
            <a:r>
              <a:rPr lang="en-GB" sz="1400" dirty="0">
                <a:solidFill>
                  <a:schemeClr val="bg1"/>
                </a:solidFill>
              </a:rPr>
              <a:t>The process average.</a:t>
            </a:r>
            <a:endParaRPr lang="en-GB" sz="1600" dirty="0">
              <a:solidFill>
                <a:schemeClr val="bg1"/>
              </a:solidFill>
            </a:endParaRPr>
          </a:p>
          <a:p>
            <a:pPr algn="ctr"/>
            <a:endParaRPr lang="en-US" dirty="0"/>
          </a:p>
        </p:txBody>
      </p:sp>
      <p:pic>
        <p:nvPicPr>
          <p:cNvPr id="9" name="Picture 8">
            <a:extLst>
              <a:ext uri="{FF2B5EF4-FFF2-40B4-BE49-F238E27FC236}">
                <a16:creationId xmlns:a16="http://schemas.microsoft.com/office/drawing/2014/main" id="{32563BC8-5187-D94A-8C54-8468AD4F7111}"/>
              </a:ext>
            </a:extLst>
          </p:cNvPr>
          <p:cNvPicPr>
            <a:picLocks noChangeAspect="1"/>
          </p:cNvPicPr>
          <p:nvPr/>
        </p:nvPicPr>
        <p:blipFill>
          <a:blip r:embed="rId3"/>
          <a:stretch>
            <a:fillRect/>
          </a:stretch>
        </p:blipFill>
        <p:spPr>
          <a:xfrm>
            <a:off x="3389690" y="2827608"/>
            <a:ext cx="949234" cy="774884"/>
          </a:xfrm>
          <a:prstGeom prst="rect">
            <a:avLst/>
          </a:prstGeom>
        </p:spPr>
      </p:pic>
      <p:grpSp>
        <p:nvGrpSpPr>
          <p:cNvPr id="12" name="Group 11">
            <a:extLst>
              <a:ext uri="{FF2B5EF4-FFF2-40B4-BE49-F238E27FC236}">
                <a16:creationId xmlns:a16="http://schemas.microsoft.com/office/drawing/2014/main" id="{8FA17625-CA77-4860-17B6-6A54DDE11D31}"/>
              </a:ext>
            </a:extLst>
          </p:cNvPr>
          <p:cNvGrpSpPr/>
          <p:nvPr/>
        </p:nvGrpSpPr>
        <p:grpSpPr>
          <a:xfrm>
            <a:off x="7759703" y="2685986"/>
            <a:ext cx="2142698" cy="1833012"/>
            <a:chOff x="5020246" y="2893392"/>
            <a:chExt cx="2142698" cy="1833012"/>
          </a:xfrm>
          <a:solidFill>
            <a:schemeClr val="accent1"/>
          </a:solidFill>
        </p:grpSpPr>
        <p:sp>
          <p:nvSpPr>
            <p:cNvPr id="6" name="Rectangle: Rounded Corners 5">
              <a:extLst>
                <a:ext uri="{FF2B5EF4-FFF2-40B4-BE49-F238E27FC236}">
                  <a16:creationId xmlns:a16="http://schemas.microsoft.com/office/drawing/2014/main" id="{44F3F265-1765-082C-6448-4CFBB5CFC895}"/>
                </a:ext>
              </a:extLst>
            </p:cNvPr>
            <p:cNvSpPr/>
            <p:nvPr/>
          </p:nvSpPr>
          <p:spPr>
            <a:xfrm>
              <a:off x="5020246" y="2893392"/>
              <a:ext cx="2142698" cy="183301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2060"/>
                </a:solidFill>
              </a:endParaRPr>
            </a:p>
            <a:p>
              <a:pPr algn="ctr"/>
              <a:endParaRPr lang="en-GB" dirty="0">
                <a:solidFill>
                  <a:schemeClr val="bg1"/>
                </a:solidFill>
              </a:endParaRPr>
            </a:p>
            <a:p>
              <a:pPr algn="ctr"/>
              <a:endParaRPr lang="en-GB" dirty="0">
                <a:solidFill>
                  <a:schemeClr val="bg1"/>
                </a:solidFill>
              </a:endParaRPr>
            </a:p>
            <a:p>
              <a:pPr algn="ctr"/>
              <a:r>
                <a:rPr lang="en-GB" b="1" dirty="0">
                  <a:solidFill>
                    <a:schemeClr val="bg1"/>
                  </a:solidFill>
                </a:rPr>
                <a:t>Control Limits </a:t>
              </a:r>
              <a:r>
                <a:rPr lang="en-GB" sz="1400" dirty="0">
                  <a:solidFill>
                    <a:schemeClr val="bg1"/>
                  </a:solidFill>
                </a:rPr>
                <a:t>Upper and lower boundaries of expected variation.</a:t>
              </a:r>
              <a:endParaRPr lang="en-GB" sz="1600" dirty="0">
                <a:solidFill>
                  <a:schemeClr val="bg1"/>
                </a:solidFill>
              </a:endParaRPr>
            </a:p>
            <a:p>
              <a:pPr algn="ctr"/>
              <a:endParaRPr lang="en-US" dirty="0"/>
            </a:p>
          </p:txBody>
        </p:sp>
        <p:pic>
          <p:nvPicPr>
            <p:cNvPr id="11" name="Picture 10">
              <a:extLst>
                <a:ext uri="{FF2B5EF4-FFF2-40B4-BE49-F238E27FC236}">
                  <a16:creationId xmlns:a16="http://schemas.microsoft.com/office/drawing/2014/main" id="{53934C76-116B-D792-E81B-DAB83037527D}"/>
                </a:ext>
              </a:extLst>
            </p:cNvPr>
            <p:cNvPicPr>
              <a:picLocks noChangeAspect="1"/>
            </p:cNvPicPr>
            <p:nvPr/>
          </p:nvPicPr>
          <p:blipFill>
            <a:blip r:embed="rId4"/>
            <a:stretch>
              <a:fillRect/>
            </a:stretch>
          </p:blipFill>
          <p:spPr>
            <a:xfrm>
              <a:off x="5692563" y="2912744"/>
              <a:ext cx="925529" cy="755532"/>
            </a:xfrm>
            <a:prstGeom prst="rect">
              <a:avLst/>
            </a:prstGeom>
            <a:solidFill>
              <a:schemeClr val="accent5"/>
            </a:solidFill>
          </p:spPr>
        </p:pic>
      </p:grpSp>
      <p:pic>
        <p:nvPicPr>
          <p:cNvPr id="14" name="Picture 13">
            <a:extLst>
              <a:ext uri="{FF2B5EF4-FFF2-40B4-BE49-F238E27FC236}">
                <a16:creationId xmlns:a16="http://schemas.microsoft.com/office/drawing/2014/main" id="{38331FD7-BC78-199C-D6A1-B02C7E30DF14}"/>
              </a:ext>
            </a:extLst>
          </p:cNvPr>
          <p:cNvPicPr>
            <a:picLocks noChangeAspect="1"/>
          </p:cNvPicPr>
          <p:nvPr/>
        </p:nvPicPr>
        <p:blipFill>
          <a:blip r:embed="rId5"/>
          <a:stretch>
            <a:fillRect/>
          </a:stretch>
        </p:blipFill>
        <p:spPr>
          <a:xfrm>
            <a:off x="5500827" y="2638749"/>
            <a:ext cx="1662144" cy="1246609"/>
          </a:xfrm>
          <a:prstGeom prst="rect">
            <a:avLst/>
          </a:prstGeom>
        </p:spPr>
      </p:pic>
    </p:spTree>
    <p:extLst>
      <p:ext uri="{BB962C8B-B14F-4D97-AF65-F5344CB8AC3E}">
        <p14:creationId xmlns:p14="http://schemas.microsoft.com/office/powerpoint/2010/main" val="1788795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7" y="332775"/>
            <a:ext cx="8326523" cy="492443"/>
          </a:xfrm>
        </p:spPr>
        <p:txBody>
          <a:bodyPr>
            <a:noAutofit/>
          </a:bodyPr>
          <a:lstStyle/>
          <a:p>
            <a:pPr>
              <a:lnSpc>
                <a:spcPct val="110000"/>
              </a:lnSpc>
            </a:pPr>
            <a:r>
              <a:rPr lang="en-US" sz="3200" dirty="0">
                <a:latin typeface="+mj-lt"/>
              </a:rPr>
              <a:t>Features of a Control Chart</a:t>
            </a:r>
          </a:p>
        </p:txBody>
      </p:sp>
      <p:sp>
        <p:nvSpPr>
          <p:cNvPr id="7" name="TextBox 6">
            <a:extLst>
              <a:ext uri="{FF2B5EF4-FFF2-40B4-BE49-F238E27FC236}">
                <a16:creationId xmlns:a16="http://schemas.microsoft.com/office/drawing/2014/main" id="{1C256E4D-406F-4C6F-AE69-D83B8149F5C6}"/>
              </a:ext>
            </a:extLst>
          </p:cNvPr>
          <p:cNvSpPr txBox="1"/>
          <p:nvPr/>
        </p:nvSpPr>
        <p:spPr>
          <a:xfrm>
            <a:off x="305276" y="1378090"/>
            <a:ext cx="11343799" cy="1077218"/>
          </a:xfrm>
          <a:prstGeom prst="rect">
            <a:avLst/>
          </a:prstGeom>
          <a:noFill/>
        </p:spPr>
        <p:txBody>
          <a:bodyPr wrap="square" lIns="91440" tIns="45720" rIns="91440" bIns="45720" anchor="t">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600" dirty="0">
                <a:solidFill>
                  <a:schemeClr val="accent5"/>
                </a:solidFill>
                <a:latin typeface="+mj-lt"/>
                <a:cs typeface="Arial"/>
              </a:rPr>
              <a:t>SPC</a:t>
            </a:r>
            <a:r>
              <a:rPr lang="en-GB" sz="1600" noProof="0" dirty="0">
                <a:solidFill>
                  <a:schemeClr val="accent5"/>
                </a:solidFill>
                <a:latin typeface="+mj-lt"/>
                <a:cs typeface="Arial"/>
              </a:rPr>
              <a:t> uses control charts to identify process variation and detect when a process may be moving out of control.</a:t>
            </a:r>
            <a:r>
              <a:rPr kumimoji="0" lang="en-GB" sz="1600" b="1" i="0" u="none" strike="noStrike" kern="1200" cap="none" spc="0" normalizeH="0" baseline="0" noProof="0" dirty="0">
                <a:ln>
                  <a:noFill/>
                </a:ln>
                <a:solidFill>
                  <a:schemeClr val="accent5"/>
                </a:solidFill>
                <a:effectLst/>
                <a:uLnTx/>
                <a:uFillTx/>
                <a:latin typeface="+mj-lt"/>
                <a:ea typeface="+mn-ea"/>
                <a:cs typeface="+mn-cs"/>
              </a:rPr>
              <a:t> </a:t>
            </a:r>
            <a:r>
              <a:rPr lang="en-GB" sz="1600" dirty="0">
                <a:solidFill>
                  <a:schemeClr val="accent5"/>
                </a:solidFill>
                <a:latin typeface="+mj-lt"/>
                <a:cs typeface="Arial"/>
              </a:rPr>
              <a:t>Control charts contain three key reference lines:</a:t>
            </a:r>
          </a:p>
          <a:p>
            <a:endParaRPr lang="en-GB" sz="1600" noProof="0" dirty="0">
              <a:solidFill>
                <a:schemeClr val="accent5"/>
              </a:solidFill>
              <a:latin typeface="+mj-lt"/>
              <a:cs typeface="Arial" panose="020B0604020202020204" pitchFamily="34" charset="0"/>
            </a:endParaRPr>
          </a:p>
          <a:p>
            <a:endParaRPr lang="en-GB" sz="1600" dirty="0">
              <a:solidFill>
                <a:schemeClr val="accent5"/>
              </a:solidFill>
              <a:latin typeface="+mj-lt"/>
              <a:cs typeface="Arial" panose="020B0604020202020204" pitchFamily="34" charset="0"/>
            </a:endParaRPr>
          </a:p>
        </p:txBody>
      </p:sp>
      <p:sp>
        <p:nvSpPr>
          <p:cNvPr id="3" name="AutoShape 2" descr="square root of [ (1/N) times Sigma i=1 to N of (xi - mu)^2 ]">
            <a:extLst>
              <a:ext uri="{FF2B5EF4-FFF2-40B4-BE49-F238E27FC236}">
                <a16:creationId xmlns:a16="http://schemas.microsoft.com/office/drawing/2014/main" id="{E232C9BD-A1D4-34E9-6A8A-2EEAEB42E99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p>
        </p:txBody>
      </p:sp>
      <p:pic>
        <p:nvPicPr>
          <p:cNvPr id="9" name="Picture 8">
            <a:hlinkClick r:id="rId3"/>
            <a:extLst>
              <a:ext uri="{FF2B5EF4-FFF2-40B4-BE49-F238E27FC236}">
                <a16:creationId xmlns:a16="http://schemas.microsoft.com/office/drawing/2014/main" id="{7029554B-3D75-3B83-A810-E16F043E4D6B}"/>
              </a:ext>
            </a:extLst>
          </p:cNvPr>
          <p:cNvPicPr>
            <a:picLocks noChangeAspect="1"/>
          </p:cNvPicPr>
          <p:nvPr/>
        </p:nvPicPr>
        <p:blipFill>
          <a:blip r:embed="rId4"/>
          <a:stretch>
            <a:fillRect/>
          </a:stretch>
        </p:blipFill>
        <p:spPr>
          <a:xfrm>
            <a:off x="3811122" y="2398099"/>
            <a:ext cx="4248704" cy="3108543"/>
          </a:xfrm>
          <a:prstGeom prst="rect">
            <a:avLst/>
          </a:prstGeom>
          <a:ln w="38100">
            <a:solidFill>
              <a:schemeClr val="accent4"/>
            </a:solidFill>
          </a:ln>
          <a:effectLst/>
        </p:spPr>
      </p:pic>
      <p:sp>
        <p:nvSpPr>
          <p:cNvPr id="10" name="TextBox 9">
            <a:extLst>
              <a:ext uri="{FF2B5EF4-FFF2-40B4-BE49-F238E27FC236}">
                <a16:creationId xmlns:a16="http://schemas.microsoft.com/office/drawing/2014/main" id="{593A7EF4-1226-7927-A41B-3EA2C3A6A0B8}"/>
              </a:ext>
            </a:extLst>
          </p:cNvPr>
          <p:cNvSpPr txBox="1"/>
          <p:nvPr/>
        </p:nvSpPr>
        <p:spPr>
          <a:xfrm>
            <a:off x="8380878" y="2613542"/>
            <a:ext cx="3048740" cy="2677656"/>
          </a:xfrm>
          <a:prstGeom prst="rect">
            <a:avLst/>
          </a:prstGeom>
          <a:solidFill>
            <a:schemeClr val="tx2"/>
          </a:solidFill>
        </p:spPr>
        <p:txBody>
          <a:bodyPr wrap="square">
            <a:spAutoFit/>
          </a:bodyPr>
          <a:lstStyle/>
          <a:p>
            <a:pPr fontAlgn="t">
              <a:buNone/>
            </a:pPr>
            <a:r>
              <a:rPr lang="en-US" sz="1400" b="1" i="0" dirty="0">
                <a:solidFill>
                  <a:schemeClr val="bg1"/>
                </a:solidFill>
                <a:effectLst/>
              </a:rPr>
              <a:t>Key Features of a Control Chart</a:t>
            </a:r>
          </a:p>
          <a:p>
            <a:pPr fontAlgn="t"/>
            <a:endParaRPr lang="en-US" sz="1400" dirty="0">
              <a:solidFill>
                <a:schemeClr val="bg1"/>
              </a:solidFill>
            </a:endParaRPr>
          </a:p>
          <a:p>
            <a:pPr marL="285750" indent="-285750" fontAlgn="t">
              <a:buFont typeface="Arial" panose="020B0604020202020204" pitchFamily="34" charset="0"/>
              <a:buChar char="•"/>
            </a:pPr>
            <a:r>
              <a:rPr lang="en-US" sz="1400" b="0" i="0" dirty="0">
                <a:solidFill>
                  <a:schemeClr val="bg1"/>
                </a:solidFill>
                <a:effectLst/>
              </a:rPr>
              <a:t>Control limits define the expected range of variation.</a:t>
            </a:r>
          </a:p>
          <a:p>
            <a:pPr marL="285750" indent="-285750" fontAlgn="t">
              <a:buFont typeface="Arial" panose="020B0604020202020204" pitchFamily="34" charset="0"/>
              <a:buChar char="•"/>
            </a:pPr>
            <a:endParaRPr lang="en-US" sz="1400" dirty="0">
              <a:solidFill>
                <a:schemeClr val="bg1"/>
              </a:solidFill>
            </a:endParaRPr>
          </a:p>
          <a:p>
            <a:pPr marL="285750" indent="-285750" fontAlgn="t">
              <a:buFont typeface="Arial" panose="020B0604020202020204" pitchFamily="34" charset="0"/>
              <a:buChar char="•"/>
            </a:pPr>
            <a:r>
              <a:rPr lang="en-US" sz="1400" b="0" i="0" dirty="0">
                <a:solidFill>
                  <a:schemeClr val="bg1"/>
                </a:solidFill>
                <a:effectLst/>
              </a:rPr>
              <a:t>Most data points should fall within the control limits.</a:t>
            </a:r>
          </a:p>
          <a:p>
            <a:pPr marL="285750" indent="-285750" fontAlgn="t">
              <a:buFont typeface="Arial" panose="020B0604020202020204" pitchFamily="34" charset="0"/>
              <a:buChar char="•"/>
            </a:pPr>
            <a:endParaRPr lang="en-US" sz="1400" dirty="0">
              <a:solidFill>
                <a:schemeClr val="bg1"/>
              </a:solidFill>
            </a:endParaRPr>
          </a:p>
          <a:p>
            <a:pPr marL="285750" indent="-285750" fontAlgn="t">
              <a:buFont typeface="Arial" panose="020B0604020202020204" pitchFamily="34" charset="0"/>
              <a:buChar char="•"/>
            </a:pPr>
            <a:r>
              <a:rPr lang="en-US" sz="1400" b="0" i="0" dirty="0">
                <a:solidFill>
                  <a:schemeClr val="bg1"/>
                </a:solidFill>
                <a:effectLst/>
              </a:rPr>
              <a:t>Points outside the limits indicate potential special </a:t>
            </a:r>
            <a:r>
              <a:rPr lang="en-US" sz="1400" dirty="0">
                <a:solidFill>
                  <a:schemeClr val="bg1"/>
                </a:solidFill>
              </a:rPr>
              <a:t>cause variation.</a:t>
            </a:r>
          </a:p>
          <a:p>
            <a:pPr fontAlgn="t"/>
            <a:endParaRPr lang="en-US" sz="1400" dirty="0">
              <a:solidFill>
                <a:schemeClr val="bg1"/>
              </a:solidFill>
            </a:endParaRPr>
          </a:p>
        </p:txBody>
      </p:sp>
      <p:sp>
        <p:nvSpPr>
          <p:cNvPr id="12" name="TextBox 11">
            <a:extLst>
              <a:ext uri="{FF2B5EF4-FFF2-40B4-BE49-F238E27FC236}">
                <a16:creationId xmlns:a16="http://schemas.microsoft.com/office/drawing/2014/main" id="{49E428C0-0E38-29D8-A997-C21361DA8E2F}"/>
              </a:ext>
            </a:extLst>
          </p:cNvPr>
          <p:cNvSpPr txBox="1"/>
          <p:nvPr/>
        </p:nvSpPr>
        <p:spPr>
          <a:xfrm>
            <a:off x="305276" y="2044005"/>
            <a:ext cx="3305036" cy="1384995"/>
          </a:xfrm>
          <a:prstGeom prst="rect">
            <a:avLst/>
          </a:prstGeom>
          <a:solidFill>
            <a:schemeClr val="accent4"/>
          </a:solidFill>
        </p:spPr>
        <p:txBody>
          <a:bodyPr wrap="square">
            <a:spAutoFit/>
          </a:bodyPr>
          <a:lstStyle/>
          <a:p>
            <a:pPr fontAlgn="t"/>
            <a:r>
              <a:rPr lang="en-GB" sz="1400" b="1" dirty="0">
                <a:solidFill>
                  <a:schemeClr val="bg1"/>
                </a:solidFill>
              </a:rPr>
              <a:t>UCL – Upper Control Limit. The highest value expected from normal process variation. </a:t>
            </a:r>
          </a:p>
          <a:p>
            <a:pPr fontAlgn="t"/>
            <a:endParaRPr lang="en-GB" sz="1400" b="1" dirty="0">
              <a:solidFill>
                <a:schemeClr val="bg1"/>
              </a:solidFill>
            </a:endParaRPr>
          </a:p>
          <a:p>
            <a:pPr fontAlgn="t"/>
            <a:r>
              <a:rPr lang="en-GB" sz="1400" b="1" dirty="0">
                <a:solidFill>
                  <a:schemeClr val="bg1"/>
                </a:solidFill>
              </a:rPr>
              <a:t>UCL is calculated using standard deviation: Mean + 3</a:t>
            </a:r>
            <a:r>
              <a:rPr lang="el-GR" sz="1400" b="1" dirty="0">
                <a:solidFill>
                  <a:schemeClr val="bg1"/>
                </a:solidFill>
              </a:rPr>
              <a:t>σ</a:t>
            </a:r>
            <a:r>
              <a:rPr lang="en-GB" sz="1400" b="1" dirty="0">
                <a:solidFill>
                  <a:schemeClr val="bg1"/>
                </a:solidFill>
              </a:rPr>
              <a:t>.</a:t>
            </a:r>
          </a:p>
        </p:txBody>
      </p:sp>
      <p:sp>
        <p:nvSpPr>
          <p:cNvPr id="2" name="TextBox 1">
            <a:extLst>
              <a:ext uri="{FF2B5EF4-FFF2-40B4-BE49-F238E27FC236}">
                <a16:creationId xmlns:a16="http://schemas.microsoft.com/office/drawing/2014/main" id="{C621AB93-8D79-51C2-D9A7-7201FB44AC1F}"/>
              </a:ext>
            </a:extLst>
          </p:cNvPr>
          <p:cNvSpPr txBox="1"/>
          <p:nvPr/>
        </p:nvSpPr>
        <p:spPr>
          <a:xfrm>
            <a:off x="305276" y="4674219"/>
            <a:ext cx="3305036" cy="1384995"/>
          </a:xfrm>
          <a:prstGeom prst="rect">
            <a:avLst/>
          </a:prstGeom>
          <a:solidFill>
            <a:schemeClr val="accent3"/>
          </a:solidFill>
        </p:spPr>
        <p:txBody>
          <a:bodyPr wrap="square">
            <a:spAutoFit/>
          </a:bodyPr>
          <a:lstStyle/>
          <a:p>
            <a:pPr fontAlgn="t"/>
            <a:r>
              <a:rPr lang="en-GB" sz="1400" b="1" dirty="0">
                <a:solidFill>
                  <a:schemeClr val="bg1"/>
                </a:solidFill>
              </a:rPr>
              <a:t>LCL – Lower Control Limit. The lowest value expected from normal process variation.</a:t>
            </a:r>
          </a:p>
          <a:p>
            <a:pPr fontAlgn="t"/>
            <a:endParaRPr lang="en-GB" sz="1400" b="1" dirty="0">
              <a:solidFill>
                <a:schemeClr val="bg1"/>
              </a:solidFill>
            </a:endParaRPr>
          </a:p>
          <a:p>
            <a:pPr fontAlgn="t"/>
            <a:r>
              <a:rPr lang="en-GB" sz="1400" b="1" dirty="0">
                <a:solidFill>
                  <a:schemeClr val="bg1"/>
                </a:solidFill>
              </a:rPr>
              <a:t>LCL is also calculated using standard deviation: Mean - 3</a:t>
            </a:r>
            <a:r>
              <a:rPr lang="el-GR" sz="1400" b="1" dirty="0">
                <a:solidFill>
                  <a:schemeClr val="bg1"/>
                </a:solidFill>
              </a:rPr>
              <a:t>σ</a:t>
            </a:r>
            <a:endParaRPr lang="en-GB" sz="1400" b="1" dirty="0">
              <a:solidFill>
                <a:schemeClr val="bg1"/>
              </a:solidFill>
            </a:endParaRPr>
          </a:p>
        </p:txBody>
      </p:sp>
      <p:sp>
        <p:nvSpPr>
          <p:cNvPr id="4" name="TextBox 3">
            <a:extLst>
              <a:ext uri="{FF2B5EF4-FFF2-40B4-BE49-F238E27FC236}">
                <a16:creationId xmlns:a16="http://schemas.microsoft.com/office/drawing/2014/main" id="{B463AD6B-96C2-B581-6A10-FE8B89E4509D}"/>
              </a:ext>
            </a:extLst>
          </p:cNvPr>
          <p:cNvSpPr txBox="1"/>
          <p:nvPr/>
        </p:nvSpPr>
        <p:spPr>
          <a:xfrm>
            <a:off x="305276" y="3899208"/>
            <a:ext cx="3305036" cy="307777"/>
          </a:xfrm>
          <a:prstGeom prst="rect">
            <a:avLst/>
          </a:prstGeom>
          <a:solidFill>
            <a:schemeClr val="accent5"/>
          </a:solidFill>
        </p:spPr>
        <p:txBody>
          <a:bodyPr wrap="square">
            <a:spAutoFit/>
          </a:bodyPr>
          <a:lstStyle/>
          <a:p>
            <a:pPr fontAlgn="t"/>
            <a:r>
              <a:rPr lang="en-GB" sz="1400" b="1" dirty="0">
                <a:solidFill>
                  <a:schemeClr val="bg1"/>
                </a:solidFill>
              </a:rPr>
              <a:t>CL  Centerline. The process average.</a:t>
            </a:r>
          </a:p>
        </p:txBody>
      </p:sp>
      <p:cxnSp>
        <p:nvCxnSpPr>
          <p:cNvPr id="8" name="Straight Arrow Connector 7">
            <a:extLst>
              <a:ext uri="{FF2B5EF4-FFF2-40B4-BE49-F238E27FC236}">
                <a16:creationId xmlns:a16="http://schemas.microsoft.com/office/drawing/2014/main" id="{A20A0076-1476-FF00-D2AC-D7055878A9DC}"/>
              </a:ext>
            </a:extLst>
          </p:cNvPr>
          <p:cNvCxnSpPr>
            <a:stCxn id="12" idx="3"/>
          </p:cNvCxnSpPr>
          <p:nvPr/>
        </p:nvCxnSpPr>
        <p:spPr>
          <a:xfrm>
            <a:off x="3610312" y="2736503"/>
            <a:ext cx="533063" cy="473422"/>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74985E6-8676-9A16-677D-BCA6D7FA35D8}"/>
              </a:ext>
            </a:extLst>
          </p:cNvPr>
          <p:cNvCxnSpPr>
            <a:cxnSpLocks/>
            <a:stCxn id="2" idx="3"/>
          </p:cNvCxnSpPr>
          <p:nvPr/>
        </p:nvCxnSpPr>
        <p:spPr>
          <a:xfrm flipV="1">
            <a:off x="3610312" y="5111712"/>
            <a:ext cx="562981" cy="255005"/>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188C09C-060E-C329-A057-50801F2F0C59}"/>
              </a:ext>
            </a:extLst>
          </p:cNvPr>
          <p:cNvCxnSpPr>
            <a:cxnSpLocks/>
            <a:stCxn id="4" idx="3"/>
          </p:cNvCxnSpPr>
          <p:nvPr/>
        </p:nvCxnSpPr>
        <p:spPr>
          <a:xfrm>
            <a:off x="3610312" y="4053097"/>
            <a:ext cx="562981" cy="107721"/>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112F643-9A67-4BDF-9C9E-8D7080C208B5}"/>
              </a:ext>
            </a:extLst>
          </p:cNvPr>
          <p:cNvSpPr txBox="1"/>
          <p:nvPr/>
        </p:nvSpPr>
        <p:spPr>
          <a:xfrm>
            <a:off x="3958910" y="6212276"/>
            <a:ext cx="7690165" cy="490519"/>
          </a:xfrm>
          <a:prstGeom prst="rect">
            <a:avLst/>
          </a:prstGeom>
          <a:solidFill>
            <a:schemeClr val="accent4"/>
          </a:solidFill>
        </p:spPr>
        <p:txBody>
          <a:bodyPr wrap="square" lIns="91440" tIns="45720" rIns="91440" bIns="45720" anchor="t">
            <a:spAutoFit/>
          </a:bodyPr>
          <a:lstStyle/>
          <a:p>
            <a:pPr algn="ctr" fontAlgn="t">
              <a:lnSpc>
                <a:spcPts val="1500"/>
              </a:lnSpc>
              <a:buNone/>
            </a:pPr>
            <a:r>
              <a:rPr lang="en-US" sz="1600" dirty="0">
                <a:solidFill>
                  <a:schemeClr val="bg1"/>
                </a:solidFill>
                <a:latin typeface="+mj-lt"/>
              </a:rPr>
              <a:t>Control</a:t>
            </a:r>
            <a:r>
              <a:rPr lang="en-US" sz="1600" b="0" i="0" dirty="0">
                <a:solidFill>
                  <a:schemeClr val="bg1"/>
                </a:solidFill>
                <a:effectLst/>
                <a:latin typeface="+mj-lt"/>
              </a:rPr>
              <a:t> limits help us distinguish between common cause and special cause variation. </a:t>
            </a:r>
          </a:p>
        </p:txBody>
      </p:sp>
    </p:spTree>
    <p:extLst>
      <p:ext uri="{BB962C8B-B14F-4D97-AF65-F5344CB8AC3E}">
        <p14:creationId xmlns:p14="http://schemas.microsoft.com/office/powerpoint/2010/main" val="4108175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7" y="398832"/>
            <a:ext cx="8326523" cy="492443"/>
          </a:xfrm>
        </p:spPr>
        <p:txBody>
          <a:bodyPr>
            <a:normAutofit/>
          </a:bodyPr>
          <a:lstStyle/>
          <a:p>
            <a:pPr>
              <a:lnSpc>
                <a:spcPct val="110000"/>
              </a:lnSpc>
            </a:pPr>
            <a:r>
              <a:rPr lang="en-GB" sz="3000" dirty="0"/>
              <a:t>Why Are Control Charts Important?</a:t>
            </a:r>
            <a:endParaRPr lang="en-US" sz="3000" dirty="0"/>
          </a:p>
        </p:txBody>
      </p:sp>
      <p:sp>
        <p:nvSpPr>
          <p:cNvPr id="7" name="TextBox 6">
            <a:extLst>
              <a:ext uri="{FF2B5EF4-FFF2-40B4-BE49-F238E27FC236}">
                <a16:creationId xmlns:a16="http://schemas.microsoft.com/office/drawing/2014/main" id="{1C256E4D-406F-4C6F-AE69-D83B8149F5C6}"/>
              </a:ext>
            </a:extLst>
          </p:cNvPr>
          <p:cNvSpPr txBox="1"/>
          <p:nvPr/>
        </p:nvSpPr>
        <p:spPr>
          <a:xfrm>
            <a:off x="371475" y="1218486"/>
            <a:ext cx="7829550" cy="646331"/>
          </a:xfrm>
          <a:prstGeom prst="rect">
            <a:avLst/>
          </a:prstGeom>
          <a:noFill/>
        </p:spPr>
        <p:txBody>
          <a:bodyPr wrap="square">
            <a:spAutoFit/>
          </a:bodyPr>
          <a:lstStyle/>
          <a:p>
            <a:r>
              <a:rPr lang="en-US" b="0" i="0" noProof="0" dirty="0">
                <a:solidFill>
                  <a:srgbClr val="444444"/>
                </a:solidFill>
                <a:effectLst/>
                <a:latin typeface="Open Sans" panose="020B0606030504020204" pitchFamily="34" charset="0"/>
              </a:rPr>
              <a:t>  </a:t>
            </a:r>
          </a:p>
          <a:p>
            <a:endParaRPr lang="en-US" noProof="0" dirty="0">
              <a:solidFill>
                <a:srgbClr val="444444"/>
              </a:solidFill>
              <a:latin typeface="Open Sans" panose="020B0606030504020204" pitchFamily="34" charset="0"/>
            </a:endParaRPr>
          </a:p>
        </p:txBody>
      </p:sp>
      <p:sp>
        <p:nvSpPr>
          <p:cNvPr id="3" name="TextBox 2">
            <a:extLst>
              <a:ext uri="{FF2B5EF4-FFF2-40B4-BE49-F238E27FC236}">
                <a16:creationId xmlns:a16="http://schemas.microsoft.com/office/drawing/2014/main" id="{A4FBF625-83A7-7A2A-312A-2D12818859EC}"/>
              </a:ext>
            </a:extLst>
          </p:cNvPr>
          <p:cNvSpPr txBox="1"/>
          <p:nvPr/>
        </p:nvSpPr>
        <p:spPr>
          <a:xfrm>
            <a:off x="371476" y="1728339"/>
            <a:ext cx="6209434" cy="646331"/>
          </a:xfrm>
          <a:prstGeom prst="rect">
            <a:avLst/>
          </a:prstGeom>
          <a:noFill/>
        </p:spPr>
        <p:txBody>
          <a:bodyPr wrap="square" rtlCol="0">
            <a:spAutoFit/>
          </a:bodyPr>
          <a:lstStyle/>
          <a:p>
            <a:endParaRPr lang="en-US" noProof="0" dirty="0"/>
          </a:p>
          <a:p>
            <a:endParaRPr lang="en-US" noProof="0" dirty="0"/>
          </a:p>
        </p:txBody>
      </p:sp>
      <p:pic>
        <p:nvPicPr>
          <p:cNvPr id="8" name="Picture 7">
            <a:extLst>
              <a:ext uri="{FF2B5EF4-FFF2-40B4-BE49-F238E27FC236}">
                <a16:creationId xmlns:a16="http://schemas.microsoft.com/office/drawing/2014/main" id="{025FCCC5-B44B-B5AB-1F2D-150273C7AD21}"/>
              </a:ext>
            </a:extLst>
          </p:cNvPr>
          <p:cNvPicPr>
            <a:picLocks noChangeAspect="1"/>
          </p:cNvPicPr>
          <p:nvPr/>
        </p:nvPicPr>
        <p:blipFill rotWithShape="1">
          <a:blip r:embed="rId3"/>
          <a:srcRect l="50000" t="29452" r="13152" b="39105"/>
          <a:stretch/>
        </p:blipFill>
        <p:spPr>
          <a:xfrm>
            <a:off x="4002167" y="1815955"/>
            <a:ext cx="4187666" cy="1953393"/>
          </a:xfrm>
          <a:prstGeom prst="rect">
            <a:avLst/>
          </a:prstGeom>
          <a:ln w="38100">
            <a:solidFill>
              <a:schemeClr val="accent4"/>
            </a:solidFill>
          </a:ln>
          <a:effectLst/>
          <a:scene3d>
            <a:camera prst="orthographicFront">
              <a:rot lat="0" lon="0" rev="0"/>
            </a:camera>
            <a:lightRig rig="contrasting" dir="t">
              <a:rot lat="0" lon="0" rev="1500000"/>
            </a:lightRig>
          </a:scene3d>
          <a:sp3d prstMaterial="metal">
            <a:bevelT w="88900" h="88900"/>
          </a:sp3d>
        </p:spPr>
      </p:pic>
      <p:sp>
        <p:nvSpPr>
          <p:cNvPr id="4" name="Rectangle: Rounded Corners 3">
            <a:extLst>
              <a:ext uri="{FF2B5EF4-FFF2-40B4-BE49-F238E27FC236}">
                <a16:creationId xmlns:a16="http://schemas.microsoft.com/office/drawing/2014/main" id="{6029430B-DFBD-A918-D9E3-9DA2CFCD8962}"/>
              </a:ext>
            </a:extLst>
          </p:cNvPr>
          <p:cNvSpPr/>
          <p:nvPr/>
        </p:nvSpPr>
        <p:spPr>
          <a:xfrm>
            <a:off x="499059" y="1777760"/>
            <a:ext cx="3067797" cy="2076437"/>
          </a:xfrm>
          <a:prstGeom prst="roundRect">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bg1"/>
                </a:solidFill>
                <a:cs typeface="Arial" panose="020B0604020202020204" pitchFamily="34" charset="0"/>
              </a:rPr>
              <a:t>Separate Signal from Noise</a:t>
            </a:r>
          </a:p>
          <a:p>
            <a:pPr algn="ctr"/>
            <a:endParaRPr lang="en-GB" sz="1600" dirty="0">
              <a:solidFill>
                <a:schemeClr val="bg1"/>
              </a:solidFill>
              <a:cs typeface="Arial" panose="020B0604020202020204" pitchFamily="34" charset="0"/>
            </a:endParaRPr>
          </a:p>
          <a:p>
            <a:pPr algn="ctr"/>
            <a:r>
              <a:rPr lang="en-GB" sz="1600" noProof="0" dirty="0">
                <a:solidFill>
                  <a:schemeClr val="bg1"/>
                </a:solidFill>
                <a:cs typeface="Arial" panose="020B0604020202020204" pitchFamily="34" charset="0"/>
              </a:rPr>
              <a:t>Control charts help distinguish between common cause variation and special cause variation.</a:t>
            </a:r>
            <a:endParaRPr lang="en-US" sz="1600" noProof="0" dirty="0">
              <a:solidFill>
                <a:schemeClr val="bg1"/>
              </a:solidFill>
              <a:cs typeface="Arial" panose="020B0604020202020204" pitchFamily="34" charset="0"/>
            </a:endParaRPr>
          </a:p>
        </p:txBody>
      </p:sp>
      <p:sp>
        <p:nvSpPr>
          <p:cNvPr id="9" name="Rectangle: Rounded Corners 8">
            <a:extLst>
              <a:ext uri="{FF2B5EF4-FFF2-40B4-BE49-F238E27FC236}">
                <a16:creationId xmlns:a16="http://schemas.microsoft.com/office/drawing/2014/main" id="{8D9469AB-C90F-F33B-C990-50F98E7ADC01}"/>
              </a:ext>
            </a:extLst>
          </p:cNvPr>
          <p:cNvSpPr/>
          <p:nvPr/>
        </p:nvSpPr>
        <p:spPr>
          <a:xfrm>
            <a:off x="487868" y="4276813"/>
            <a:ext cx="3067796" cy="2076437"/>
          </a:xfrm>
          <a:prstGeom prst="roundRect">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noProof="0" dirty="0">
                <a:solidFill>
                  <a:schemeClr val="bg1"/>
                </a:solidFill>
                <a:cs typeface="Arial" panose="020B0604020202020204" pitchFamily="34" charset="0"/>
              </a:rPr>
              <a:t>Support Better Decisions</a:t>
            </a:r>
          </a:p>
          <a:p>
            <a:pPr algn="ctr"/>
            <a:endParaRPr lang="en-GB" sz="1600" noProof="0" dirty="0">
              <a:solidFill>
                <a:schemeClr val="bg1"/>
              </a:solidFill>
              <a:cs typeface="Arial" panose="020B0604020202020204" pitchFamily="34" charset="0"/>
            </a:endParaRPr>
          </a:p>
          <a:p>
            <a:pPr algn="ctr"/>
            <a:r>
              <a:rPr lang="en-GB" sz="1600" noProof="0" dirty="0">
                <a:solidFill>
                  <a:schemeClr val="bg1"/>
                </a:solidFill>
                <a:cs typeface="Arial" panose="020B0604020202020204" pitchFamily="34" charset="0"/>
              </a:rPr>
              <a:t>They reduce the risk of reacting to normal fluctuations in performance.</a:t>
            </a:r>
            <a:endParaRPr lang="en-US" sz="1600" noProof="0" dirty="0">
              <a:solidFill>
                <a:schemeClr val="bg1"/>
              </a:solidFill>
              <a:cs typeface="Arial" panose="020B0604020202020204" pitchFamily="34" charset="0"/>
            </a:endParaRPr>
          </a:p>
        </p:txBody>
      </p:sp>
      <p:sp>
        <p:nvSpPr>
          <p:cNvPr id="10" name="Rectangle: Rounded Corners 9">
            <a:extLst>
              <a:ext uri="{FF2B5EF4-FFF2-40B4-BE49-F238E27FC236}">
                <a16:creationId xmlns:a16="http://schemas.microsoft.com/office/drawing/2014/main" id="{DA86EDDE-B984-26DB-CC5F-584001E3AC76}"/>
              </a:ext>
            </a:extLst>
          </p:cNvPr>
          <p:cNvSpPr/>
          <p:nvPr/>
        </p:nvSpPr>
        <p:spPr>
          <a:xfrm>
            <a:off x="4562102" y="4279201"/>
            <a:ext cx="3067796" cy="2076437"/>
          </a:xfrm>
          <a:prstGeom prst="roundRect">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noProof="0" dirty="0">
                <a:solidFill>
                  <a:schemeClr val="bg1"/>
                </a:solidFill>
                <a:cs typeface="Arial" panose="020B0604020202020204" pitchFamily="34" charset="0"/>
              </a:rPr>
              <a:t>Identify Real Process Changes</a:t>
            </a:r>
          </a:p>
          <a:p>
            <a:pPr algn="ctr"/>
            <a:endParaRPr lang="en-GB" sz="1600" dirty="0">
              <a:solidFill>
                <a:schemeClr val="bg1"/>
              </a:solidFill>
              <a:cs typeface="Arial" panose="020B0604020202020204" pitchFamily="34" charset="0"/>
            </a:endParaRPr>
          </a:p>
          <a:p>
            <a:pPr algn="ctr"/>
            <a:r>
              <a:rPr lang="en-GB" sz="1600" noProof="0" dirty="0">
                <a:solidFill>
                  <a:schemeClr val="bg1"/>
                </a:solidFill>
                <a:cs typeface="Arial" panose="020B0604020202020204" pitchFamily="34" charset="0"/>
              </a:rPr>
              <a:t>Control charts highlight when something unusual has happened and investigation is needed.</a:t>
            </a:r>
            <a:endParaRPr lang="en-US" sz="1600" noProof="0" dirty="0">
              <a:solidFill>
                <a:schemeClr val="bg1"/>
              </a:solidFill>
              <a:cs typeface="Arial" panose="020B0604020202020204" pitchFamily="34" charset="0"/>
            </a:endParaRPr>
          </a:p>
        </p:txBody>
      </p:sp>
      <p:sp>
        <p:nvSpPr>
          <p:cNvPr id="11" name="Rectangle: Rounded Corners 10">
            <a:extLst>
              <a:ext uri="{FF2B5EF4-FFF2-40B4-BE49-F238E27FC236}">
                <a16:creationId xmlns:a16="http://schemas.microsoft.com/office/drawing/2014/main" id="{B14944D1-CEDF-D064-2D23-5A63F107B43E}"/>
              </a:ext>
            </a:extLst>
          </p:cNvPr>
          <p:cNvSpPr/>
          <p:nvPr/>
        </p:nvSpPr>
        <p:spPr>
          <a:xfrm>
            <a:off x="8636336" y="1815954"/>
            <a:ext cx="3067797" cy="2076437"/>
          </a:xfrm>
          <a:prstGeom prst="roundRect">
            <a:avLst/>
          </a:prstGeom>
          <a:solidFill>
            <a:srgbClr val="7030A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noProof="0" dirty="0">
                <a:solidFill>
                  <a:schemeClr val="bg1"/>
                </a:solidFill>
                <a:cs typeface="Arial" panose="020B0604020202020204" pitchFamily="34" charset="0"/>
              </a:rPr>
              <a:t>Monitor Improvement Over Time</a:t>
            </a:r>
          </a:p>
          <a:p>
            <a:pPr algn="ctr"/>
            <a:endParaRPr lang="en-GB" sz="1600" noProof="0" dirty="0">
              <a:solidFill>
                <a:schemeClr val="bg1"/>
              </a:solidFill>
              <a:cs typeface="Arial" panose="020B0604020202020204" pitchFamily="34" charset="0"/>
            </a:endParaRPr>
          </a:p>
          <a:p>
            <a:pPr algn="ctr"/>
            <a:r>
              <a:rPr lang="en-GB" sz="1600" noProof="0" dirty="0">
                <a:solidFill>
                  <a:schemeClr val="bg1"/>
                </a:solidFill>
                <a:cs typeface="Arial" panose="020B0604020202020204" pitchFamily="34" charset="0"/>
              </a:rPr>
              <a:t>Control charts help determine whether a change has genuinely improved the process.</a:t>
            </a:r>
            <a:endParaRPr lang="en-US" sz="1600" noProof="0" dirty="0">
              <a:solidFill>
                <a:schemeClr val="bg1"/>
              </a:solidFill>
              <a:cs typeface="Arial" panose="020B0604020202020204" pitchFamily="34" charset="0"/>
            </a:endParaRPr>
          </a:p>
        </p:txBody>
      </p:sp>
      <p:sp>
        <p:nvSpPr>
          <p:cNvPr id="12" name="Rectangle: Rounded Corners 11">
            <a:extLst>
              <a:ext uri="{FF2B5EF4-FFF2-40B4-BE49-F238E27FC236}">
                <a16:creationId xmlns:a16="http://schemas.microsoft.com/office/drawing/2014/main" id="{3F0E68BB-85C8-E675-4C59-3BCC8FED6FD4}"/>
              </a:ext>
            </a:extLst>
          </p:cNvPr>
          <p:cNvSpPr/>
          <p:nvPr/>
        </p:nvSpPr>
        <p:spPr>
          <a:xfrm>
            <a:off x="8705299" y="4276813"/>
            <a:ext cx="3067796" cy="2076437"/>
          </a:xfrm>
          <a:prstGeom prst="roundRect">
            <a:avLst/>
          </a:prstGeom>
          <a:solidFill>
            <a:schemeClr val="accent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noProof="0" dirty="0">
                <a:solidFill>
                  <a:schemeClr val="bg1"/>
                </a:solidFill>
                <a:cs typeface="Arial" panose="020B0604020202020204" pitchFamily="34" charset="0"/>
              </a:rPr>
              <a:t>Reduce Firefighting</a:t>
            </a:r>
          </a:p>
          <a:p>
            <a:pPr algn="ctr"/>
            <a:endParaRPr lang="en-GB" sz="1600" dirty="0">
              <a:solidFill>
                <a:schemeClr val="bg1"/>
              </a:solidFill>
              <a:cs typeface="Arial" panose="020B0604020202020204" pitchFamily="34" charset="0"/>
            </a:endParaRPr>
          </a:p>
          <a:p>
            <a:pPr algn="ctr"/>
            <a:r>
              <a:rPr lang="en-GB" sz="1600" noProof="0" dirty="0">
                <a:solidFill>
                  <a:schemeClr val="bg1"/>
                </a:solidFill>
                <a:cs typeface="Arial"/>
              </a:rPr>
              <a:t>Teams can focus on genuine issues instead of chasing </a:t>
            </a:r>
            <a:r>
              <a:rPr lang="en-GB" sz="1600" dirty="0">
                <a:solidFill>
                  <a:schemeClr val="bg1"/>
                </a:solidFill>
                <a:cs typeface="Arial"/>
              </a:rPr>
              <a:t>every out-of-control result</a:t>
            </a:r>
            <a:r>
              <a:rPr lang="en-GB" sz="1600" noProof="0" dirty="0">
                <a:solidFill>
                  <a:schemeClr val="bg1"/>
                </a:solidFill>
                <a:cs typeface="Arial"/>
              </a:rPr>
              <a:t>.</a:t>
            </a:r>
            <a:endParaRPr lang="en-US" sz="1600" noProof="0" dirty="0">
              <a:solidFill>
                <a:schemeClr val="bg1"/>
              </a:solidFill>
              <a:cs typeface="Arial"/>
            </a:endParaRPr>
          </a:p>
        </p:txBody>
      </p:sp>
      <p:cxnSp>
        <p:nvCxnSpPr>
          <p:cNvPr id="13" name="Straight Arrow Connector 12">
            <a:extLst>
              <a:ext uri="{FF2B5EF4-FFF2-40B4-BE49-F238E27FC236}">
                <a16:creationId xmlns:a16="http://schemas.microsoft.com/office/drawing/2014/main" id="{7102B7F3-E413-B1DC-59BA-DCB1CC0B2CD7}"/>
              </a:ext>
            </a:extLst>
          </p:cNvPr>
          <p:cNvCxnSpPr>
            <a:cxnSpLocks/>
            <a:stCxn id="4" idx="3"/>
            <a:endCxn id="4" idx="3"/>
          </p:cNvCxnSpPr>
          <p:nvPr/>
        </p:nvCxnSpPr>
        <p:spPr>
          <a:xfrm>
            <a:off x="3566856" y="2815979"/>
            <a:ext cx="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5834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7" y="457200"/>
            <a:ext cx="8326523" cy="492443"/>
          </a:xfrm>
        </p:spPr>
        <p:txBody>
          <a:bodyPr>
            <a:noAutofit/>
          </a:bodyPr>
          <a:lstStyle/>
          <a:p>
            <a:pPr>
              <a:lnSpc>
                <a:spcPct val="110000"/>
              </a:lnSpc>
            </a:pPr>
            <a:r>
              <a:rPr lang="en-US" sz="3200" dirty="0">
                <a:latin typeface="+mj-lt"/>
              </a:rPr>
              <a:t>Control Charts: The Voice of the Process</a:t>
            </a:r>
          </a:p>
        </p:txBody>
      </p:sp>
      <p:sp>
        <p:nvSpPr>
          <p:cNvPr id="3" name="TextBox 2">
            <a:extLst>
              <a:ext uri="{FF2B5EF4-FFF2-40B4-BE49-F238E27FC236}">
                <a16:creationId xmlns:a16="http://schemas.microsoft.com/office/drawing/2014/main" id="{A4FBF625-83A7-7A2A-312A-2D12818859EC}"/>
              </a:ext>
            </a:extLst>
          </p:cNvPr>
          <p:cNvSpPr txBox="1"/>
          <p:nvPr/>
        </p:nvSpPr>
        <p:spPr>
          <a:xfrm>
            <a:off x="641333" y="2604506"/>
            <a:ext cx="6209434" cy="2000548"/>
          </a:xfrm>
          <a:prstGeom prst="rect">
            <a:avLst/>
          </a:prstGeom>
          <a:noFill/>
        </p:spPr>
        <p:txBody>
          <a:bodyPr wrap="square" lIns="91440" tIns="45720" rIns="91440" bIns="45720" rtlCol="0" anchor="t">
            <a:spAutoFit/>
          </a:bodyPr>
          <a:lstStyle/>
          <a:p>
            <a:r>
              <a:rPr lang="en-GB" dirty="0">
                <a:solidFill>
                  <a:srgbClr val="002060"/>
                </a:solidFill>
              </a:rPr>
              <a:t>Control charts help us hear the Voice of the Process by showing how a process is performing over time.</a:t>
            </a:r>
          </a:p>
          <a:p>
            <a:endParaRPr lang="en-GB" sz="1600" dirty="0">
              <a:solidFill>
                <a:srgbClr val="002060"/>
              </a:solidFill>
              <a:cs typeface="Arial" panose="020B0604020202020204" pitchFamily="34" charset="0"/>
            </a:endParaRPr>
          </a:p>
          <a:p>
            <a:r>
              <a:rPr lang="en-US" dirty="0">
                <a:solidFill>
                  <a:srgbClr val="002060"/>
                </a:solidFill>
              </a:rPr>
              <a:t>They help us distinguish between normal process variation and signals that may require investigation or improvement.</a:t>
            </a:r>
          </a:p>
          <a:p>
            <a:endParaRPr lang="en-US" noProof="0" dirty="0">
              <a:solidFill>
                <a:schemeClr val="accent5"/>
              </a:solidFill>
              <a:latin typeface="Arial" panose="020B0604020202020204" pitchFamily="34" charset="0"/>
              <a:cs typeface="Arial" panose="020B0604020202020204" pitchFamily="34" charset="0"/>
            </a:endParaRPr>
          </a:p>
        </p:txBody>
      </p:sp>
      <p:pic>
        <p:nvPicPr>
          <p:cNvPr id="4" name="Graphic 3" descr="Speech outline">
            <a:extLst>
              <a:ext uri="{FF2B5EF4-FFF2-40B4-BE49-F238E27FC236}">
                <a16:creationId xmlns:a16="http://schemas.microsoft.com/office/drawing/2014/main" id="{2707FAC5-C83F-260A-E4C0-73A4033EB74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0767" y="1575517"/>
            <a:ext cx="4537669" cy="4537669"/>
          </a:xfrm>
          <a:prstGeom prst="rect">
            <a:avLst/>
          </a:prstGeom>
        </p:spPr>
      </p:pic>
      <p:pic>
        <p:nvPicPr>
          <p:cNvPr id="8" name="Graphic 7" descr="Workflow outline">
            <a:extLst>
              <a:ext uri="{FF2B5EF4-FFF2-40B4-BE49-F238E27FC236}">
                <a16:creationId xmlns:a16="http://schemas.microsoft.com/office/drawing/2014/main" id="{506D3178-CD77-6919-59B0-6AB94534CF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01025" y="2618076"/>
            <a:ext cx="1621848" cy="1621848"/>
          </a:xfrm>
          <a:prstGeom prst="rect">
            <a:avLst/>
          </a:prstGeom>
        </p:spPr>
      </p:pic>
    </p:spTree>
    <p:extLst>
      <p:ext uri="{BB962C8B-B14F-4D97-AF65-F5344CB8AC3E}">
        <p14:creationId xmlns:p14="http://schemas.microsoft.com/office/powerpoint/2010/main" val="2136683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Placeholder 1">
            <a:extLst>
              <a:ext uri="{FF2B5EF4-FFF2-40B4-BE49-F238E27FC236}">
                <a16:creationId xmlns:a16="http://schemas.microsoft.com/office/drawing/2014/main" id="{D84E45A5-DD0A-4AA5-81D8-0011F09D1CE0}"/>
              </a:ext>
            </a:extLst>
          </p:cNvPr>
          <p:cNvSpPr>
            <a:spLocks noGrp="1"/>
          </p:cNvSpPr>
          <p:nvPr>
            <p:ph type="body" sz="quarter" idx="10"/>
          </p:nvPr>
        </p:nvSpPr>
        <p:spPr>
          <a:xfrm>
            <a:off x="533400" y="365701"/>
            <a:ext cx="5562600" cy="923330"/>
          </a:xfrm>
        </p:spPr>
        <p:txBody>
          <a:bodyPr>
            <a:normAutofit/>
          </a:bodyPr>
          <a:lstStyle/>
          <a:p>
            <a:pPr>
              <a:lnSpc>
                <a:spcPct val="110000"/>
              </a:lnSpc>
            </a:pPr>
            <a:r>
              <a:rPr lang="en-US" sz="3200" dirty="0">
                <a:latin typeface="+mj-lt"/>
              </a:rPr>
              <a:t>Back to our analogy…</a:t>
            </a:r>
          </a:p>
        </p:txBody>
      </p:sp>
      <p:pic>
        <p:nvPicPr>
          <p:cNvPr id="1028" name="Picture 4" descr="Image result for ten pin bowling lane">
            <a:extLst>
              <a:ext uri="{FF2B5EF4-FFF2-40B4-BE49-F238E27FC236}">
                <a16:creationId xmlns:a16="http://schemas.microsoft.com/office/drawing/2014/main" id="{E43A7FBD-40FC-4B4C-8EA9-0EF24B9C51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8064" y="1308354"/>
            <a:ext cx="6336791" cy="364769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0755ADBA-E283-4C56-BFD5-DF973CC486C6}"/>
              </a:ext>
            </a:extLst>
          </p:cNvPr>
          <p:cNvCxnSpPr>
            <a:cxnSpLocks/>
          </p:cNvCxnSpPr>
          <p:nvPr/>
        </p:nvCxnSpPr>
        <p:spPr>
          <a:xfrm flipV="1">
            <a:off x="3920359" y="4429375"/>
            <a:ext cx="857094" cy="1845301"/>
          </a:xfrm>
          <a:prstGeom prst="straightConnector1">
            <a:avLst/>
          </a:prstGeom>
          <a:ln w="571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9EC455-D07B-4A1B-8F50-311C8E6FD0F7}"/>
              </a:ext>
            </a:extLst>
          </p:cNvPr>
          <p:cNvCxnSpPr/>
          <p:nvPr/>
        </p:nvCxnSpPr>
        <p:spPr>
          <a:xfrm flipV="1">
            <a:off x="5967982" y="3450169"/>
            <a:ext cx="1" cy="1505879"/>
          </a:xfrm>
          <a:prstGeom prst="straightConnector1">
            <a:avLst/>
          </a:prstGeom>
          <a:ln w="571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08662EE-9397-4BAB-9D81-8A92D669B2FA}"/>
              </a:ext>
            </a:extLst>
          </p:cNvPr>
          <p:cNvCxnSpPr>
            <a:cxnSpLocks/>
          </p:cNvCxnSpPr>
          <p:nvPr/>
        </p:nvCxnSpPr>
        <p:spPr>
          <a:xfrm flipH="1" flipV="1">
            <a:off x="7322437" y="4429375"/>
            <a:ext cx="2956680" cy="1845301"/>
          </a:xfrm>
          <a:prstGeom prst="straightConnector1">
            <a:avLst/>
          </a:prstGeom>
          <a:ln w="571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778F3C0-C214-4A62-93F6-003E3A08353A}"/>
              </a:ext>
            </a:extLst>
          </p:cNvPr>
          <p:cNvSpPr txBox="1"/>
          <p:nvPr/>
        </p:nvSpPr>
        <p:spPr>
          <a:xfrm>
            <a:off x="2161986" y="6104786"/>
            <a:ext cx="2848164" cy="615553"/>
          </a:xfrm>
          <a:prstGeom prst="rect">
            <a:avLst/>
          </a:prstGeom>
          <a:noFill/>
        </p:spPr>
        <p:txBody>
          <a:bodyPr wrap="square" rtlCol="0">
            <a:spAutoFit/>
          </a:bodyPr>
          <a:lstStyle/>
          <a:p>
            <a:pPr algn="ctr"/>
            <a:r>
              <a:rPr lang="en-US" b="1" noProof="0" dirty="0">
                <a:solidFill>
                  <a:schemeClr val="accent5"/>
                </a:solidFill>
              </a:rPr>
              <a:t>UCL </a:t>
            </a:r>
          </a:p>
          <a:p>
            <a:pPr algn="ctr"/>
            <a:r>
              <a:rPr lang="en-US" sz="1600" b="1" noProof="0" dirty="0">
                <a:solidFill>
                  <a:schemeClr val="accent5"/>
                </a:solidFill>
              </a:rPr>
              <a:t>Upper Control Limit </a:t>
            </a:r>
            <a:endParaRPr lang="en-US" b="1" noProof="0" dirty="0">
              <a:solidFill>
                <a:schemeClr val="accent5"/>
              </a:solidFill>
            </a:endParaRPr>
          </a:p>
        </p:txBody>
      </p:sp>
      <p:sp>
        <p:nvSpPr>
          <p:cNvPr id="11" name="TextBox 10">
            <a:extLst>
              <a:ext uri="{FF2B5EF4-FFF2-40B4-BE49-F238E27FC236}">
                <a16:creationId xmlns:a16="http://schemas.microsoft.com/office/drawing/2014/main" id="{4C8E2C1B-B337-4A0C-A6A9-FF7A508CBA9D}"/>
              </a:ext>
            </a:extLst>
          </p:cNvPr>
          <p:cNvSpPr txBox="1"/>
          <p:nvPr/>
        </p:nvSpPr>
        <p:spPr>
          <a:xfrm>
            <a:off x="9521188" y="6104786"/>
            <a:ext cx="2351914" cy="615553"/>
          </a:xfrm>
          <a:prstGeom prst="rect">
            <a:avLst/>
          </a:prstGeom>
          <a:noFill/>
        </p:spPr>
        <p:txBody>
          <a:bodyPr wrap="square" rtlCol="0">
            <a:spAutoFit/>
          </a:bodyPr>
          <a:lstStyle/>
          <a:p>
            <a:pPr algn="ctr"/>
            <a:r>
              <a:rPr lang="en-US" b="1" noProof="0" dirty="0">
                <a:solidFill>
                  <a:schemeClr val="accent5"/>
                </a:solidFill>
              </a:rPr>
              <a:t>LCL</a:t>
            </a:r>
          </a:p>
          <a:p>
            <a:pPr algn="ctr"/>
            <a:r>
              <a:rPr lang="en-US" sz="1600" b="1" dirty="0">
                <a:solidFill>
                  <a:schemeClr val="accent5"/>
                </a:solidFill>
              </a:rPr>
              <a:t>Lower Control Limit</a:t>
            </a:r>
            <a:r>
              <a:rPr lang="en-US" sz="1600" b="1" noProof="0" dirty="0">
                <a:solidFill>
                  <a:schemeClr val="accent5"/>
                </a:solidFill>
              </a:rPr>
              <a:t> </a:t>
            </a:r>
          </a:p>
        </p:txBody>
      </p:sp>
      <p:sp>
        <p:nvSpPr>
          <p:cNvPr id="12" name="TextBox 11">
            <a:extLst>
              <a:ext uri="{FF2B5EF4-FFF2-40B4-BE49-F238E27FC236}">
                <a16:creationId xmlns:a16="http://schemas.microsoft.com/office/drawing/2014/main" id="{C0774E3B-FF4B-4C63-9024-23B59EE90C89}"/>
              </a:ext>
            </a:extLst>
          </p:cNvPr>
          <p:cNvSpPr txBox="1"/>
          <p:nvPr/>
        </p:nvSpPr>
        <p:spPr>
          <a:xfrm>
            <a:off x="5050418" y="5099530"/>
            <a:ext cx="1832081" cy="861774"/>
          </a:xfrm>
          <a:prstGeom prst="rect">
            <a:avLst/>
          </a:prstGeom>
          <a:noFill/>
        </p:spPr>
        <p:txBody>
          <a:bodyPr wrap="square" rtlCol="0">
            <a:spAutoFit/>
          </a:bodyPr>
          <a:lstStyle/>
          <a:p>
            <a:pPr algn="ctr"/>
            <a:r>
              <a:rPr lang="en-US" b="1" dirty="0">
                <a:solidFill>
                  <a:schemeClr val="accent5"/>
                </a:solidFill>
              </a:rPr>
              <a:t>CL</a:t>
            </a:r>
            <a:endParaRPr lang="en-US" b="1" noProof="0" dirty="0">
              <a:solidFill>
                <a:schemeClr val="accent5"/>
              </a:solidFill>
            </a:endParaRPr>
          </a:p>
          <a:p>
            <a:pPr algn="ctr"/>
            <a:r>
              <a:rPr lang="en-US" sz="1600" b="1" dirty="0">
                <a:solidFill>
                  <a:schemeClr val="accent5"/>
                </a:solidFill>
              </a:rPr>
              <a:t>Center Line/</a:t>
            </a:r>
          </a:p>
          <a:p>
            <a:pPr algn="ctr"/>
            <a:r>
              <a:rPr lang="en-US" sz="1600" b="1" dirty="0">
                <a:solidFill>
                  <a:schemeClr val="accent5"/>
                </a:solidFill>
              </a:rPr>
              <a:t>Process Average</a:t>
            </a:r>
          </a:p>
        </p:txBody>
      </p:sp>
      <p:cxnSp>
        <p:nvCxnSpPr>
          <p:cNvPr id="15" name="Straight Arrow Connector 14">
            <a:extLst>
              <a:ext uri="{FF2B5EF4-FFF2-40B4-BE49-F238E27FC236}">
                <a16:creationId xmlns:a16="http://schemas.microsoft.com/office/drawing/2014/main" id="{61784728-E555-41BA-B93B-57526FE14C10}"/>
              </a:ext>
            </a:extLst>
          </p:cNvPr>
          <p:cNvCxnSpPr>
            <a:cxnSpLocks/>
          </p:cNvCxnSpPr>
          <p:nvPr/>
        </p:nvCxnSpPr>
        <p:spPr>
          <a:xfrm>
            <a:off x="2243374" y="3761566"/>
            <a:ext cx="2394253" cy="349526"/>
          </a:xfrm>
          <a:prstGeom prst="straightConnector1">
            <a:avLst/>
          </a:prstGeom>
          <a:ln w="571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565D418-C829-4FC4-B1E7-2ECC0A1ADB92}"/>
              </a:ext>
            </a:extLst>
          </p:cNvPr>
          <p:cNvCxnSpPr>
            <a:cxnSpLocks/>
          </p:cNvCxnSpPr>
          <p:nvPr/>
        </p:nvCxnSpPr>
        <p:spPr>
          <a:xfrm flipH="1">
            <a:off x="7291098" y="3761566"/>
            <a:ext cx="2479835" cy="186822"/>
          </a:xfrm>
          <a:prstGeom prst="straightConnector1">
            <a:avLst/>
          </a:prstGeom>
          <a:ln w="571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2567629-5259-44BC-989F-C9686CBF028D}"/>
              </a:ext>
            </a:extLst>
          </p:cNvPr>
          <p:cNvSpPr txBox="1"/>
          <p:nvPr/>
        </p:nvSpPr>
        <p:spPr>
          <a:xfrm>
            <a:off x="53908" y="1987414"/>
            <a:ext cx="2744156" cy="369332"/>
          </a:xfrm>
          <a:prstGeom prst="rect">
            <a:avLst/>
          </a:prstGeom>
          <a:noFill/>
        </p:spPr>
        <p:txBody>
          <a:bodyPr wrap="square" rtlCol="0">
            <a:spAutoFit/>
          </a:bodyPr>
          <a:lstStyle/>
          <a:p>
            <a:r>
              <a:rPr lang="en-US" b="1" noProof="0" dirty="0">
                <a:solidFill>
                  <a:schemeClr val="accent5"/>
                </a:solidFill>
              </a:rPr>
              <a:t>Special Cause Variation </a:t>
            </a:r>
          </a:p>
        </p:txBody>
      </p:sp>
      <p:sp>
        <p:nvSpPr>
          <p:cNvPr id="20" name="TextBox 19">
            <a:extLst>
              <a:ext uri="{FF2B5EF4-FFF2-40B4-BE49-F238E27FC236}">
                <a16:creationId xmlns:a16="http://schemas.microsoft.com/office/drawing/2014/main" id="{E3106FF2-3E67-4354-84A6-7C2F63977E47}"/>
              </a:ext>
            </a:extLst>
          </p:cNvPr>
          <p:cNvSpPr txBox="1"/>
          <p:nvPr/>
        </p:nvSpPr>
        <p:spPr>
          <a:xfrm>
            <a:off x="9325067" y="2025699"/>
            <a:ext cx="2744156" cy="369332"/>
          </a:xfrm>
          <a:prstGeom prst="rect">
            <a:avLst/>
          </a:prstGeom>
          <a:noFill/>
        </p:spPr>
        <p:txBody>
          <a:bodyPr wrap="square" rtlCol="0">
            <a:spAutoFit/>
          </a:bodyPr>
          <a:lstStyle/>
          <a:p>
            <a:r>
              <a:rPr lang="en-US" b="1" noProof="0" dirty="0">
                <a:solidFill>
                  <a:schemeClr val="accent5"/>
                </a:solidFill>
              </a:rPr>
              <a:t>Special Cause Variation </a:t>
            </a:r>
          </a:p>
        </p:txBody>
      </p:sp>
      <p:pic>
        <p:nvPicPr>
          <p:cNvPr id="21" name="Graphic 20" descr="Grinning face with solid fill with solid fill">
            <a:extLst>
              <a:ext uri="{FF2B5EF4-FFF2-40B4-BE49-F238E27FC236}">
                <a16:creationId xmlns:a16="http://schemas.microsoft.com/office/drawing/2014/main" id="{55854481-13F4-FAA9-02AB-A3F22B3A17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26083" y="4810548"/>
            <a:ext cx="1591052" cy="1591052"/>
          </a:xfrm>
          <a:prstGeom prst="rect">
            <a:avLst/>
          </a:prstGeom>
        </p:spPr>
      </p:pic>
      <p:pic>
        <p:nvPicPr>
          <p:cNvPr id="23" name="Graphic 22" descr="Angry face with solid fill with solid fill">
            <a:extLst>
              <a:ext uri="{FF2B5EF4-FFF2-40B4-BE49-F238E27FC236}">
                <a16:creationId xmlns:a16="http://schemas.microsoft.com/office/drawing/2014/main" id="{61297E1E-40B0-E427-403F-B3EF4507DD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48626" y="2444445"/>
            <a:ext cx="1549923" cy="1549923"/>
          </a:xfrm>
          <a:prstGeom prst="rect">
            <a:avLst/>
          </a:prstGeom>
        </p:spPr>
      </p:pic>
      <p:pic>
        <p:nvPicPr>
          <p:cNvPr id="24" name="Graphic 23" descr="Angry face with solid fill with solid fill">
            <a:extLst>
              <a:ext uri="{FF2B5EF4-FFF2-40B4-BE49-F238E27FC236}">
                <a16:creationId xmlns:a16="http://schemas.microsoft.com/office/drawing/2014/main" id="{2C69BB40-1397-66C1-B132-CF2ACCCF3C2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8644" y="2452912"/>
            <a:ext cx="1549923" cy="1549923"/>
          </a:xfrm>
          <a:prstGeom prst="rect">
            <a:avLst/>
          </a:prstGeom>
        </p:spPr>
      </p:pic>
    </p:spTree>
    <p:extLst>
      <p:ext uri="{BB962C8B-B14F-4D97-AF65-F5344CB8AC3E}">
        <p14:creationId xmlns:p14="http://schemas.microsoft.com/office/powerpoint/2010/main" val="807700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7" y="457200"/>
            <a:ext cx="8326523" cy="492443"/>
          </a:xfrm>
        </p:spPr>
        <p:txBody>
          <a:bodyPr>
            <a:noAutofit/>
          </a:bodyPr>
          <a:lstStyle/>
          <a:p>
            <a:pPr>
              <a:lnSpc>
                <a:spcPct val="110000"/>
              </a:lnSpc>
            </a:pPr>
            <a:r>
              <a:rPr lang="en-US" sz="3200" dirty="0">
                <a:latin typeface="+mj-lt"/>
              </a:rPr>
              <a:t>Special Cause Rules</a:t>
            </a:r>
          </a:p>
        </p:txBody>
      </p:sp>
      <p:sp>
        <p:nvSpPr>
          <p:cNvPr id="7" name="TextBox 6">
            <a:extLst>
              <a:ext uri="{FF2B5EF4-FFF2-40B4-BE49-F238E27FC236}">
                <a16:creationId xmlns:a16="http://schemas.microsoft.com/office/drawing/2014/main" id="{1C256E4D-406F-4C6F-AE69-D83B8149F5C6}"/>
              </a:ext>
            </a:extLst>
          </p:cNvPr>
          <p:cNvSpPr txBox="1"/>
          <p:nvPr/>
        </p:nvSpPr>
        <p:spPr>
          <a:xfrm>
            <a:off x="335468" y="1533181"/>
            <a:ext cx="5686425" cy="4524315"/>
          </a:xfrm>
          <a:prstGeom prst="rect">
            <a:avLst/>
          </a:prstGeom>
          <a:noFill/>
        </p:spPr>
        <p:txBody>
          <a:bodyPr wrap="square">
            <a:spAutoFit/>
          </a:bodyPr>
          <a:lstStyle/>
          <a:p>
            <a:r>
              <a:rPr lang="en-GB" sz="1600" noProof="0" dirty="0">
                <a:solidFill>
                  <a:schemeClr val="accent5"/>
                </a:solidFill>
                <a:cs typeface="Arial" panose="020B0604020202020204" pitchFamily="34" charset="0"/>
              </a:rPr>
              <a:t>Special causes of variation are detected on control charts through patterns that suggest the process is behaving differently from normal.</a:t>
            </a:r>
          </a:p>
          <a:p>
            <a:endParaRPr lang="en-GB" sz="1600" dirty="0">
              <a:solidFill>
                <a:schemeClr val="accent5"/>
              </a:solidFill>
              <a:cs typeface="Arial" panose="020B0604020202020204" pitchFamily="34" charset="0"/>
            </a:endParaRPr>
          </a:p>
          <a:p>
            <a:pPr marL="285750" indent="-285750">
              <a:buFont typeface="Arial" panose="020B0604020202020204" pitchFamily="34" charset="0"/>
              <a:buChar char="•"/>
            </a:pPr>
            <a:r>
              <a:rPr lang="en-GB" sz="1600" noProof="0" dirty="0">
                <a:solidFill>
                  <a:schemeClr val="accent5"/>
                </a:solidFill>
                <a:cs typeface="Arial" panose="020B0604020202020204" pitchFamily="34" charset="0"/>
              </a:rPr>
              <a:t>A point that falls beyond the Upper Control Limit (UCL) or Lower Control Limit (LCL) is a strong indication of special cause variation.</a:t>
            </a:r>
          </a:p>
          <a:p>
            <a:pPr marL="285750" indent="-285750">
              <a:buFont typeface="Arial" panose="020B0604020202020204" pitchFamily="34" charset="0"/>
              <a:buChar char="•"/>
            </a:pPr>
            <a:endParaRPr lang="en-GB" sz="1600" dirty="0">
              <a:solidFill>
                <a:schemeClr val="accent5"/>
              </a:solidFill>
              <a:cs typeface="Arial" panose="020B0604020202020204" pitchFamily="34" charset="0"/>
            </a:endParaRPr>
          </a:p>
          <a:p>
            <a:pPr marL="285750" indent="-285750">
              <a:buFont typeface="Arial" panose="020B0604020202020204" pitchFamily="34" charset="0"/>
              <a:buChar char="•"/>
            </a:pPr>
            <a:r>
              <a:rPr lang="en-GB" sz="1600" noProof="0" dirty="0">
                <a:solidFill>
                  <a:schemeClr val="accent5"/>
                </a:solidFill>
                <a:cs typeface="Arial" panose="020B0604020202020204" pitchFamily="34" charset="0"/>
              </a:rPr>
              <a:t>Other indicators may include a run of consecutive points on the same side of the center line, a trend, or another unusual pattern.</a:t>
            </a:r>
          </a:p>
          <a:p>
            <a:pPr marL="285750" indent="-285750">
              <a:buFont typeface="Arial" panose="020B0604020202020204" pitchFamily="34" charset="0"/>
              <a:buChar char="•"/>
            </a:pPr>
            <a:endParaRPr lang="en-GB" sz="1600" noProof="0" dirty="0">
              <a:solidFill>
                <a:schemeClr val="accent5"/>
              </a:solidFill>
              <a:cs typeface="Arial" panose="020B0604020202020204" pitchFamily="34" charset="0"/>
            </a:endParaRPr>
          </a:p>
          <a:p>
            <a:pPr marL="285750" indent="-285750">
              <a:buFont typeface="Arial" panose="020B0604020202020204" pitchFamily="34" charset="0"/>
              <a:buChar char="•"/>
            </a:pPr>
            <a:r>
              <a:rPr lang="en-GB" sz="1600" noProof="0" dirty="0">
                <a:solidFill>
                  <a:schemeClr val="accent5"/>
                </a:solidFill>
                <a:cs typeface="Arial" panose="020B0604020202020204" pitchFamily="34" charset="0"/>
              </a:rPr>
              <a:t>These signals suggest that something unusual has occurred within the process and should be investigated.</a:t>
            </a:r>
          </a:p>
          <a:p>
            <a:pPr marL="285750" indent="-285750">
              <a:buFont typeface="Arial" panose="020B0604020202020204" pitchFamily="34" charset="0"/>
              <a:buChar char="•"/>
            </a:pPr>
            <a:endParaRPr lang="en-GB" sz="1600" dirty="0">
              <a:solidFill>
                <a:schemeClr val="accent5"/>
              </a:solidFill>
              <a:cs typeface="Arial" panose="020B0604020202020204" pitchFamily="34" charset="0"/>
            </a:endParaRPr>
          </a:p>
          <a:p>
            <a:pPr marL="285750" indent="-285750">
              <a:buFont typeface="Arial" panose="020B0604020202020204" pitchFamily="34" charset="0"/>
              <a:buChar char="•"/>
            </a:pPr>
            <a:r>
              <a:rPr lang="en-GB" sz="1600" noProof="0" dirty="0">
                <a:solidFill>
                  <a:schemeClr val="accent5"/>
                </a:solidFill>
                <a:cs typeface="Arial" panose="020B0604020202020204" pitchFamily="34" charset="0"/>
              </a:rPr>
              <a:t>Understanding special causes helps us decide whether corrective action is needed or whether a positive improvement should be sustained.</a:t>
            </a:r>
            <a:endParaRPr lang="en-US" sz="1600" noProof="0" dirty="0">
              <a:solidFill>
                <a:schemeClr val="accent5"/>
              </a:solidFill>
              <a:cs typeface="Arial" panose="020B0604020202020204" pitchFamily="34" charset="0"/>
            </a:endParaRPr>
          </a:p>
        </p:txBody>
      </p:sp>
      <p:sp>
        <p:nvSpPr>
          <p:cNvPr id="10" name="AutoShape 2" descr="common and special causes on a control chart">
            <a:extLst>
              <a:ext uri="{FF2B5EF4-FFF2-40B4-BE49-F238E27FC236}">
                <a16:creationId xmlns:a16="http://schemas.microsoft.com/office/drawing/2014/main" id="{A85437C2-26D4-423E-A506-E03A250E03E0}"/>
              </a:ext>
            </a:extLst>
          </p:cNvPr>
          <p:cNvSpPr>
            <a:spLocks noChangeAspect="1" noChangeArrowheads="1"/>
          </p:cNvSpPr>
          <p:nvPr/>
        </p:nvSpPr>
        <p:spPr bwMode="auto">
          <a:xfrm>
            <a:off x="5943600" y="300333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p>
        </p:txBody>
      </p:sp>
      <p:pic>
        <p:nvPicPr>
          <p:cNvPr id="11" name="Picture 10">
            <a:extLst>
              <a:ext uri="{FF2B5EF4-FFF2-40B4-BE49-F238E27FC236}">
                <a16:creationId xmlns:a16="http://schemas.microsoft.com/office/drawing/2014/main" id="{124DF2E4-E828-45EE-88F2-88E9DD1E1ADA}"/>
              </a:ext>
            </a:extLst>
          </p:cNvPr>
          <p:cNvPicPr>
            <a:picLocks noChangeAspect="1"/>
          </p:cNvPicPr>
          <p:nvPr/>
        </p:nvPicPr>
        <p:blipFill>
          <a:blip r:embed="rId3"/>
          <a:stretch>
            <a:fillRect/>
          </a:stretch>
        </p:blipFill>
        <p:spPr>
          <a:xfrm>
            <a:off x="6248400" y="1637794"/>
            <a:ext cx="5608132" cy="4108522"/>
          </a:xfrm>
          <a:prstGeom prst="rect">
            <a:avLst/>
          </a:prstGeom>
          <a:ln w="38100">
            <a:solidFill>
              <a:schemeClr val="accent4"/>
            </a:solidFill>
          </a:ln>
          <a:effectLst/>
        </p:spPr>
      </p:pic>
      <p:sp>
        <p:nvSpPr>
          <p:cNvPr id="12" name="Rectangle 11">
            <a:extLst>
              <a:ext uri="{FF2B5EF4-FFF2-40B4-BE49-F238E27FC236}">
                <a16:creationId xmlns:a16="http://schemas.microsoft.com/office/drawing/2014/main" id="{82622510-5025-450E-96A8-2D573302E4E7}"/>
              </a:ext>
            </a:extLst>
          </p:cNvPr>
          <p:cNvSpPr/>
          <p:nvPr/>
        </p:nvSpPr>
        <p:spPr>
          <a:xfrm>
            <a:off x="9060873" y="1707934"/>
            <a:ext cx="1981200" cy="70658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3666A81D-246B-4197-886D-5AF04F5CE1B6}"/>
              </a:ext>
            </a:extLst>
          </p:cNvPr>
          <p:cNvSpPr/>
          <p:nvPr/>
        </p:nvSpPr>
        <p:spPr>
          <a:xfrm>
            <a:off x="6622473" y="4963753"/>
            <a:ext cx="914400" cy="52647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AC51D341-627D-4D4F-98B5-92D3B612A9F6}"/>
              </a:ext>
            </a:extLst>
          </p:cNvPr>
          <p:cNvSpPr/>
          <p:nvPr/>
        </p:nvSpPr>
        <p:spPr>
          <a:xfrm>
            <a:off x="6622473" y="2525352"/>
            <a:ext cx="914400" cy="52647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a:extLst>
              <a:ext uri="{FF2B5EF4-FFF2-40B4-BE49-F238E27FC236}">
                <a16:creationId xmlns:a16="http://schemas.microsoft.com/office/drawing/2014/main" id="{B59040D8-A8D5-4D01-BDA0-4C4A915C993C}"/>
              </a:ext>
            </a:extLst>
          </p:cNvPr>
          <p:cNvSpPr/>
          <p:nvPr/>
        </p:nvSpPr>
        <p:spPr>
          <a:xfrm>
            <a:off x="6622473" y="3840464"/>
            <a:ext cx="914400" cy="526473"/>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Box 2">
            <a:extLst>
              <a:ext uri="{FF2B5EF4-FFF2-40B4-BE49-F238E27FC236}">
                <a16:creationId xmlns:a16="http://schemas.microsoft.com/office/drawing/2014/main" id="{F26964D5-A144-8CE7-7026-F1BB00FC7654}"/>
              </a:ext>
            </a:extLst>
          </p:cNvPr>
          <p:cNvSpPr txBox="1"/>
          <p:nvPr/>
        </p:nvSpPr>
        <p:spPr>
          <a:xfrm>
            <a:off x="1251870" y="6163375"/>
            <a:ext cx="9993060" cy="584775"/>
          </a:xfrm>
          <a:prstGeom prst="rect">
            <a:avLst/>
          </a:prstGeom>
          <a:solidFill>
            <a:schemeClr val="accent4"/>
          </a:solidFill>
        </p:spPr>
        <p:txBody>
          <a:bodyPr wrap="square">
            <a:spAutoFit/>
          </a:bodyPr>
          <a:lstStyle/>
          <a:p>
            <a:pPr algn="ctr"/>
            <a:r>
              <a:rPr lang="en-GB" sz="1600" dirty="0">
                <a:solidFill>
                  <a:schemeClr val="bg1"/>
                </a:solidFill>
              </a:rPr>
              <a:t>Just as a bowling ball entering the gutter signals something unusual has happened, special cause rules help us identify unusual variation within a process.</a:t>
            </a:r>
            <a:endParaRPr lang="en-US" sz="1600" dirty="0">
              <a:solidFill>
                <a:schemeClr val="bg1"/>
              </a:solidFill>
            </a:endParaRPr>
          </a:p>
        </p:txBody>
      </p:sp>
    </p:spTree>
    <p:extLst>
      <p:ext uri="{BB962C8B-B14F-4D97-AF65-F5344CB8AC3E}">
        <p14:creationId xmlns:p14="http://schemas.microsoft.com/office/powerpoint/2010/main" val="3643898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7" y="457200"/>
            <a:ext cx="9142516" cy="492443"/>
          </a:xfrm>
        </p:spPr>
        <p:txBody>
          <a:bodyPr>
            <a:noAutofit/>
          </a:bodyPr>
          <a:lstStyle/>
          <a:p>
            <a:pPr>
              <a:lnSpc>
                <a:spcPct val="110000"/>
              </a:lnSpc>
            </a:pPr>
            <a:r>
              <a:rPr lang="en-US" sz="3200" dirty="0">
                <a:latin typeface="+mj-lt"/>
              </a:rPr>
              <a:t>Common &amp; Special Variation</a:t>
            </a:r>
          </a:p>
        </p:txBody>
      </p:sp>
      <p:sp>
        <p:nvSpPr>
          <p:cNvPr id="7" name="TextBox 6">
            <a:extLst>
              <a:ext uri="{FF2B5EF4-FFF2-40B4-BE49-F238E27FC236}">
                <a16:creationId xmlns:a16="http://schemas.microsoft.com/office/drawing/2014/main" id="{1C256E4D-406F-4C6F-AE69-D83B8149F5C6}"/>
              </a:ext>
            </a:extLst>
          </p:cNvPr>
          <p:cNvSpPr txBox="1"/>
          <p:nvPr/>
        </p:nvSpPr>
        <p:spPr>
          <a:xfrm>
            <a:off x="487867" y="1413063"/>
            <a:ext cx="5341433" cy="4031873"/>
          </a:xfrm>
          <a:prstGeom prst="rect">
            <a:avLst/>
          </a:prstGeom>
          <a:noFill/>
        </p:spPr>
        <p:txBody>
          <a:bodyPr wrap="square">
            <a:spAutoFit/>
          </a:bodyPr>
          <a:lstStyle/>
          <a:p>
            <a:endParaRPr lang="en-US" sz="1600" b="1" noProof="0" dirty="0">
              <a:solidFill>
                <a:schemeClr val="accent5"/>
              </a:solidFill>
              <a:latin typeface="+mj-lt"/>
            </a:endParaRPr>
          </a:p>
          <a:p>
            <a:r>
              <a:rPr lang="en-US" sz="1600" b="1" noProof="0" dirty="0">
                <a:solidFill>
                  <a:srgbClr val="002060"/>
                </a:solidFill>
                <a:latin typeface="+mj-lt"/>
              </a:rPr>
              <a:t>Scenario</a:t>
            </a:r>
          </a:p>
          <a:p>
            <a:endParaRPr lang="en-US" sz="1600" dirty="0">
              <a:solidFill>
                <a:srgbClr val="002060"/>
              </a:solidFill>
              <a:latin typeface="+mj-lt"/>
            </a:endParaRPr>
          </a:p>
          <a:p>
            <a:r>
              <a:rPr lang="en-GB" sz="1600" noProof="0" dirty="0">
                <a:solidFill>
                  <a:srgbClr val="002060"/>
                </a:solidFill>
                <a:latin typeface="+mj-lt"/>
              </a:rPr>
              <a:t>This chart represents average daily commute times over 25 working days. </a:t>
            </a:r>
          </a:p>
          <a:p>
            <a:endParaRPr lang="en-GB" sz="1600" dirty="0">
              <a:solidFill>
                <a:srgbClr val="002060"/>
              </a:solidFill>
              <a:latin typeface="+mj-lt"/>
            </a:endParaRPr>
          </a:p>
          <a:p>
            <a:r>
              <a:rPr lang="en-GB" sz="1600" noProof="0" dirty="0">
                <a:solidFill>
                  <a:srgbClr val="002060"/>
                </a:solidFill>
                <a:latin typeface="+mj-lt"/>
              </a:rPr>
              <a:t>Most data points fall between 20 and 30 minutes, showing the normal ups and downs we expect from traffic conditions. These points represent common cause variation. </a:t>
            </a:r>
          </a:p>
          <a:p>
            <a:endParaRPr lang="en-GB" sz="1600" dirty="0">
              <a:solidFill>
                <a:srgbClr val="002060"/>
              </a:solidFill>
              <a:latin typeface="+mj-lt"/>
            </a:endParaRPr>
          </a:p>
          <a:p>
            <a:r>
              <a:rPr lang="en-GB" sz="1600" noProof="0" dirty="0">
                <a:solidFill>
                  <a:srgbClr val="002060"/>
                </a:solidFill>
                <a:latin typeface="+mj-lt"/>
              </a:rPr>
              <a:t>A single point at approximately 54 minutes stands out because it falls above the Upper Control Limit. </a:t>
            </a:r>
          </a:p>
          <a:p>
            <a:endParaRPr lang="en-GB" sz="1600" dirty="0">
              <a:solidFill>
                <a:srgbClr val="002060"/>
              </a:solidFill>
              <a:latin typeface="+mj-lt"/>
            </a:endParaRPr>
          </a:p>
          <a:p>
            <a:r>
              <a:rPr lang="en-GB" sz="1600" noProof="0" dirty="0">
                <a:solidFill>
                  <a:srgbClr val="002060"/>
                </a:solidFill>
                <a:latin typeface="+mj-lt"/>
              </a:rPr>
              <a:t>This suggests a special cause occurred, such as a traffic accident, road closure, or severe weather event.</a:t>
            </a:r>
            <a:endParaRPr lang="en-US" sz="1600" noProof="0" dirty="0">
              <a:solidFill>
                <a:srgbClr val="002060"/>
              </a:solidFill>
              <a:latin typeface="+mj-lt"/>
            </a:endParaRPr>
          </a:p>
        </p:txBody>
      </p:sp>
      <p:sp>
        <p:nvSpPr>
          <p:cNvPr id="10" name="AutoShape 2" descr="common and special causes on a control chart">
            <a:extLst>
              <a:ext uri="{FF2B5EF4-FFF2-40B4-BE49-F238E27FC236}">
                <a16:creationId xmlns:a16="http://schemas.microsoft.com/office/drawing/2014/main" id="{A85437C2-26D4-423E-A506-E03A250E03E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p>
        </p:txBody>
      </p:sp>
      <p:sp>
        <p:nvSpPr>
          <p:cNvPr id="2" name="AutoShape 2" descr="driving to work control chart">
            <a:extLst>
              <a:ext uri="{FF2B5EF4-FFF2-40B4-BE49-F238E27FC236}">
                <a16:creationId xmlns:a16="http://schemas.microsoft.com/office/drawing/2014/main" id="{4EACBDAC-32E3-4205-B9BE-ED55A4A72DB5}"/>
              </a:ext>
            </a:extLst>
          </p:cNvPr>
          <p:cNvSpPr>
            <a:spLocks noChangeAspect="1" noChangeArrowheads="1"/>
          </p:cNvSpPr>
          <p:nvPr/>
        </p:nvSpPr>
        <p:spPr bwMode="auto">
          <a:xfrm>
            <a:off x="5943600" y="299749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p>
        </p:txBody>
      </p:sp>
      <p:pic>
        <p:nvPicPr>
          <p:cNvPr id="3" name="Picture 2">
            <a:extLst>
              <a:ext uri="{FF2B5EF4-FFF2-40B4-BE49-F238E27FC236}">
                <a16:creationId xmlns:a16="http://schemas.microsoft.com/office/drawing/2014/main" id="{4FB8F72B-8EE7-482C-953A-05AEDD21494D}"/>
              </a:ext>
            </a:extLst>
          </p:cNvPr>
          <p:cNvPicPr>
            <a:picLocks noChangeAspect="1"/>
          </p:cNvPicPr>
          <p:nvPr/>
        </p:nvPicPr>
        <p:blipFill>
          <a:blip r:embed="rId3"/>
          <a:stretch>
            <a:fillRect/>
          </a:stretch>
        </p:blipFill>
        <p:spPr>
          <a:xfrm>
            <a:off x="6065779" y="1774005"/>
            <a:ext cx="5725391" cy="4086171"/>
          </a:xfrm>
          <a:prstGeom prst="rect">
            <a:avLst/>
          </a:prstGeom>
          <a:ln w="38100">
            <a:solidFill>
              <a:schemeClr val="accent4"/>
            </a:solidFill>
          </a:ln>
        </p:spPr>
      </p:pic>
      <p:sp>
        <p:nvSpPr>
          <p:cNvPr id="5" name="TextBox 4">
            <a:extLst>
              <a:ext uri="{FF2B5EF4-FFF2-40B4-BE49-F238E27FC236}">
                <a16:creationId xmlns:a16="http://schemas.microsoft.com/office/drawing/2014/main" id="{AB212463-2B49-44A5-A57F-447CAFCE01A8}"/>
              </a:ext>
            </a:extLst>
          </p:cNvPr>
          <p:cNvSpPr txBox="1"/>
          <p:nvPr/>
        </p:nvSpPr>
        <p:spPr>
          <a:xfrm>
            <a:off x="8682556" y="1818235"/>
            <a:ext cx="1436095" cy="523220"/>
          </a:xfrm>
          <a:prstGeom prst="rect">
            <a:avLst/>
          </a:prstGeom>
          <a:solidFill>
            <a:schemeClr val="bg1"/>
          </a:solidFill>
          <a:ln w="38100">
            <a:solidFill>
              <a:srgbClr val="FF0000"/>
            </a:solidFill>
          </a:ln>
        </p:spPr>
        <p:txBody>
          <a:bodyPr wrap="square" rtlCol="0">
            <a:spAutoFit/>
          </a:bodyPr>
          <a:lstStyle/>
          <a:p>
            <a:pPr algn="ctr"/>
            <a:r>
              <a:rPr lang="en-US" sz="1400" noProof="0" dirty="0">
                <a:solidFill>
                  <a:schemeClr val="accent5"/>
                </a:solidFill>
              </a:rPr>
              <a:t>Special  Cause variation</a:t>
            </a:r>
          </a:p>
        </p:txBody>
      </p:sp>
      <p:sp>
        <p:nvSpPr>
          <p:cNvPr id="8" name="TextBox 7">
            <a:extLst>
              <a:ext uri="{FF2B5EF4-FFF2-40B4-BE49-F238E27FC236}">
                <a16:creationId xmlns:a16="http://schemas.microsoft.com/office/drawing/2014/main" id="{F6AA0A63-F884-4C68-A40C-A78B4E9698C4}"/>
              </a:ext>
            </a:extLst>
          </p:cNvPr>
          <p:cNvSpPr txBox="1"/>
          <p:nvPr/>
        </p:nvSpPr>
        <p:spPr>
          <a:xfrm>
            <a:off x="6628317" y="3723966"/>
            <a:ext cx="5162854" cy="922459"/>
          </a:xfrm>
          <a:prstGeom prst="rect">
            <a:avLst/>
          </a:prstGeom>
          <a:noFill/>
          <a:ln w="38100">
            <a:solidFill>
              <a:schemeClr val="accent3"/>
            </a:solidFill>
          </a:ln>
        </p:spPr>
        <p:txBody>
          <a:bodyPr wrap="square" rtlCol="0">
            <a:spAutoFit/>
          </a:bodyPr>
          <a:lstStyle/>
          <a:p>
            <a:endParaRPr lang="en-US" noProof="0" dirty="0"/>
          </a:p>
        </p:txBody>
      </p:sp>
      <p:sp>
        <p:nvSpPr>
          <p:cNvPr id="14" name="TextBox 13">
            <a:extLst>
              <a:ext uri="{FF2B5EF4-FFF2-40B4-BE49-F238E27FC236}">
                <a16:creationId xmlns:a16="http://schemas.microsoft.com/office/drawing/2014/main" id="{E8EFBFBD-4DC0-44BA-BEFB-40A70020E088}"/>
              </a:ext>
            </a:extLst>
          </p:cNvPr>
          <p:cNvSpPr txBox="1"/>
          <p:nvPr/>
        </p:nvSpPr>
        <p:spPr>
          <a:xfrm>
            <a:off x="6969908" y="4468470"/>
            <a:ext cx="1490064" cy="523220"/>
          </a:xfrm>
          <a:prstGeom prst="rect">
            <a:avLst/>
          </a:prstGeom>
          <a:solidFill>
            <a:schemeClr val="bg1"/>
          </a:solidFill>
          <a:ln w="38100">
            <a:solidFill>
              <a:schemeClr val="accent5"/>
            </a:solidFill>
          </a:ln>
        </p:spPr>
        <p:txBody>
          <a:bodyPr wrap="square" rtlCol="0">
            <a:spAutoFit/>
          </a:bodyPr>
          <a:lstStyle/>
          <a:p>
            <a:r>
              <a:rPr lang="en-US" sz="1400" noProof="0" dirty="0">
                <a:solidFill>
                  <a:schemeClr val="accent5"/>
                </a:solidFill>
              </a:rPr>
              <a:t>Common Cause variation</a:t>
            </a:r>
          </a:p>
        </p:txBody>
      </p:sp>
    </p:spTree>
    <p:extLst>
      <p:ext uri="{BB962C8B-B14F-4D97-AF65-F5344CB8AC3E}">
        <p14:creationId xmlns:p14="http://schemas.microsoft.com/office/powerpoint/2010/main" val="25584062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534300" y="423543"/>
            <a:ext cx="8326523" cy="492443"/>
          </a:xfrm>
        </p:spPr>
        <p:txBody>
          <a:bodyPr>
            <a:normAutofit/>
          </a:bodyPr>
          <a:lstStyle/>
          <a:p>
            <a:pPr>
              <a:lnSpc>
                <a:spcPct val="110000"/>
              </a:lnSpc>
            </a:pPr>
            <a:r>
              <a:rPr lang="en-US" sz="3000" dirty="0">
                <a:latin typeface="+mj-lt"/>
              </a:rPr>
              <a:t>Special Cause Rules</a:t>
            </a:r>
          </a:p>
        </p:txBody>
      </p:sp>
      <p:sp>
        <p:nvSpPr>
          <p:cNvPr id="7" name="TextBox 6">
            <a:extLst>
              <a:ext uri="{FF2B5EF4-FFF2-40B4-BE49-F238E27FC236}">
                <a16:creationId xmlns:a16="http://schemas.microsoft.com/office/drawing/2014/main" id="{1C256E4D-406F-4C6F-AE69-D83B8149F5C6}"/>
              </a:ext>
            </a:extLst>
          </p:cNvPr>
          <p:cNvSpPr txBox="1"/>
          <p:nvPr/>
        </p:nvSpPr>
        <p:spPr>
          <a:xfrm>
            <a:off x="534300" y="1659285"/>
            <a:ext cx="4821161" cy="4524315"/>
          </a:xfrm>
          <a:prstGeom prst="rect">
            <a:avLst/>
          </a:prstGeom>
          <a:noFill/>
        </p:spPr>
        <p:txBody>
          <a:bodyPr wrap="square">
            <a:spAutoFit/>
          </a:bodyPr>
          <a:lstStyle/>
          <a:p>
            <a:r>
              <a:rPr lang="en-GB" sz="1600" dirty="0">
                <a:solidFill>
                  <a:srgbClr val="002060"/>
                </a:solidFill>
                <a:latin typeface="+mj-lt"/>
              </a:rPr>
              <a:t>There are several rules used to identify special cause variation on a control chart.</a:t>
            </a:r>
          </a:p>
          <a:p>
            <a:endParaRPr lang="en-US" sz="1600" dirty="0">
              <a:solidFill>
                <a:srgbClr val="002060"/>
              </a:solidFill>
              <a:latin typeface="+mj-lt"/>
            </a:endParaRPr>
          </a:p>
          <a:p>
            <a:r>
              <a:rPr lang="en-GB" sz="1600" dirty="0">
                <a:solidFill>
                  <a:srgbClr val="002060"/>
                </a:solidFill>
                <a:latin typeface="+mj-lt"/>
              </a:rPr>
              <a:t>The examples shown illustrate two of the most common special cause rules and help us identify when a process may have changed.</a:t>
            </a:r>
          </a:p>
          <a:p>
            <a:endParaRPr lang="en-GB" sz="1600" dirty="0">
              <a:solidFill>
                <a:srgbClr val="002060"/>
              </a:solidFill>
              <a:latin typeface="+mj-lt"/>
            </a:endParaRPr>
          </a:p>
          <a:p>
            <a:r>
              <a:rPr lang="en-GB" sz="1600" dirty="0">
                <a:solidFill>
                  <a:srgbClr val="002060"/>
                </a:solidFill>
                <a:latin typeface="+mj-lt"/>
              </a:rPr>
              <a:t>A control chart like this could be used represent either of the following:</a:t>
            </a:r>
          </a:p>
          <a:p>
            <a:endParaRPr lang="en-GB" sz="500" dirty="0">
              <a:solidFill>
                <a:srgbClr val="002060"/>
              </a:solidFill>
              <a:latin typeface="+mj-lt"/>
            </a:endParaRPr>
          </a:p>
          <a:p>
            <a:pPr marL="285750" indent="-285750">
              <a:buFont typeface="Arial" panose="020B0604020202020204" pitchFamily="34" charset="0"/>
              <a:buChar char="•"/>
            </a:pPr>
            <a:r>
              <a:rPr lang="en-GB" sz="1600" dirty="0">
                <a:solidFill>
                  <a:srgbClr val="002060"/>
                </a:solidFill>
                <a:latin typeface="+mj-lt"/>
              </a:rPr>
              <a:t>Average time to complete an eligibility assessment.</a:t>
            </a:r>
          </a:p>
          <a:p>
            <a:pPr marL="285750" indent="-285750">
              <a:buFont typeface="Arial" panose="020B0604020202020204" pitchFamily="34" charset="0"/>
              <a:buChar char="•"/>
            </a:pPr>
            <a:r>
              <a:rPr lang="en-GB" sz="1600" dirty="0">
                <a:solidFill>
                  <a:srgbClr val="002060"/>
                </a:solidFill>
                <a:latin typeface="+mj-lt"/>
              </a:rPr>
              <a:t>Average number of days to process a customer application.</a:t>
            </a:r>
          </a:p>
          <a:p>
            <a:pPr marL="285750" indent="-285750">
              <a:buFont typeface="Arial" panose="020B0604020202020204" pitchFamily="34" charset="0"/>
              <a:buChar char="•"/>
            </a:pPr>
            <a:r>
              <a:rPr lang="en-GB" sz="1600" dirty="0">
                <a:solidFill>
                  <a:srgbClr val="002060"/>
                </a:solidFill>
                <a:latin typeface="+mj-lt"/>
              </a:rPr>
              <a:t>Average time from referral to service enrolment.</a:t>
            </a:r>
          </a:p>
          <a:p>
            <a:pPr marL="285750" indent="-285750">
              <a:buFont typeface="Arial" panose="020B0604020202020204" pitchFamily="34" charset="0"/>
              <a:buChar char="•"/>
            </a:pPr>
            <a:r>
              <a:rPr lang="en-GB" sz="1600" dirty="0">
                <a:solidFill>
                  <a:srgbClr val="002060"/>
                </a:solidFill>
                <a:latin typeface="+mj-lt"/>
              </a:rPr>
              <a:t>Average time to complete a customer orientation session.</a:t>
            </a:r>
          </a:p>
        </p:txBody>
      </p:sp>
      <p:pic>
        <p:nvPicPr>
          <p:cNvPr id="3" name="Picture 2">
            <a:extLst>
              <a:ext uri="{FF2B5EF4-FFF2-40B4-BE49-F238E27FC236}">
                <a16:creationId xmlns:a16="http://schemas.microsoft.com/office/drawing/2014/main" id="{50EC426F-8B8E-170C-A3FE-B3387548EA1B}"/>
              </a:ext>
            </a:extLst>
          </p:cNvPr>
          <p:cNvPicPr>
            <a:picLocks noChangeAspect="1"/>
          </p:cNvPicPr>
          <p:nvPr/>
        </p:nvPicPr>
        <p:blipFill rotWithShape="1">
          <a:blip r:embed="rId3"/>
          <a:srcRect l="50000" t="29452" r="8545" b="39105"/>
          <a:stretch/>
        </p:blipFill>
        <p:spPr>
          <a:xfrm>
            <a:off x="6123505" y="1528549"/>
            <a:ext cx="5246151" cy="2238233"/>
          </a:xfrm>
          <a:prstGeom prst="rect">
            <a:avLst/>
          </a:prstGeom>
          <a:ln w="38100">
            <a:solidFill>
              <a:schemeClr val="accent4"/>
            </a:solidFill>
          </a:ln>
          <a:effectLst/>
        </p:spPr>
      </p:pic>
      <p:pic>
        <p:nvPicPr>
          <p:cNvPr id="8" name="Picture 7">
            <a:extLst>
              <a:ext uri="{FF2B5EF4-FFF2-40B4-BE49-F238E27FC236}">
                <a16:creationId xmlns:a16="http://schemas.microsoft.com/office/drawing/2014/main" id="{3F9D6C30-9D17-73E6-50BC-28114891CCE6}"/>
              </a:ext>
            </a:extLst>
          </p:cNvPr>
          <p:cNvPicPr>
            <a:picLocks noChangeAspect="1"/>
          </p:cNvPicPr>
          <p:nvPr/>
        </p:nvPicPr>
        <p:blipFill rotWithShape="1">
          <a:blip r:embed="rId3"/>
          <a:srcRect l="54544" t="61923" r="7201" b="6634"/>
          <a:stretch/>
        </p:blipFill>
        <p:spPr>
          <a:xfrm>
            <a:off x="6123505" y="4154620"/>
            <a:ext cx="5246151" cy="2279837"/>
          </a:xfrm>
          <a:prstGeom prst="rect">
            <a:avLst/>
          </a:prstGeom>
          <a:ln w="38100">
            <a:solidFill>
              <a:schemeClr val="accent4"/>
            </a:solidFill>
          </a:ln>
          <a:effectLst/>
        </p:spPr>
      </p:pic>
      <p:sp>
        <p:nvSpPr>
          <p:cNvPr id="2" name="TextBox 1">
            <a:extLst>
              <a:ext uri="{FF2B5EF4-FFF2-40B4-BE49-F238E27FC236}">
                <a16:creationId xmlns:a16="http://schemas.microsoft.com/office/drawing/2014/main" id="{DBCC1BB0-B02D-2E72-B18D-63CBC8D47F24}"/>
              </a:ext>
            </a:extLst>
          </p:cNvPr>
          <p:cNvSpPr txBox="1"/>
          <p:nvPr/>
        </p:nvSpPr>
        <p:spPr>
          <a:xfrm>
            <a:off x="5649432" y="2462999"/>
            <a:ext cx="893135" cy="369332"/>
          </a:xfrm>
          <a:prstGeom prst="rect">
            <a:avLst/>
          </a:prstGeom>
          <a:solidFill>
            <a:schemeClr val="bg1"/>
          </a:solidFill>
        </p:spPr>
        <p:txBody>
          <a:bodyPr wrap="square" rtlCol="0">
            <a:spAutoFit/>
          </a:bodyPr>
          <a:lstStyle/>
          <a:p>
            <a:r>
              <a:rPr lang="en-GB" b="1" dirty="0">
                <a:solidFill>
                  <a:srgbClr val="002060"/>
                </a:solidFill>
              </a:rPr>
              <a:t>Rule 1</a:t>
            </a:r>
            <a:endParaRPr lang="en-US" b="1" dirty="0">
              <a:solidFill>
                <a:srgbClr val="002060"/>
              </a:solidFill>
            </a:endParaRPr>
          </a:p>
        </p:txBody>
      </p:sp>
      <p:sp>
        <p:nvSpPr>
          <p:cNvPr id="4" name="TextBox 3">
            <a:extLst>
              <a:ext uri="{FF2B5EF4-FFF2-40B4-BE49-F238E27FC236}">
                <a16:creationId xmlns:a16="http://schemas.microsoft.com/office/drawing/2014/main" id="{651A4783-1C80-3FB4-3B78-8B89088A818B}"/>
              </a:ext>
            </a:extLst>
          </p:cNvPr>
          <p:cNvSpPr txBox="1"/>
          <p:nvPr/>
        </p:nvSpPr>
        <p:spPr>
          <a:xfrm>
            <a:off x="5748668" y="5109872"/>
            <a:ext cx="893135" cy="369332"/>
          </a:xfrm>
          <a:prstGeom prst="rect">
            <a:avLst/>
          </a:prstGeom>
          <a:solidFill>
            <a:schemeClr val="bg1"/>
          </a:solidFill>
        </p:spPr>
        <p:txBody>
          <a:bodyPr wrap="square" rtlCol="0">
            <a:spAutoFit/>
          </a:bodyPr>
          <a:lstStyle/>
          <a:p>
            <a:r>
              <a:rPr lang="en-GB" b="1" dirty="0">
                <a:solidFill>
                  <a:srgbClr val="002060"/>
                </a:solidFill>
              </a:rPr>
              <a:t>Rule 2</a:t>
            </a:r>
            <a:endParaRPr lang="en-US" b="1" dirty="0">
              <a:solidFill>
                <a:srgbClr val="002060"/>
              </a:solidFill>
            </a:endParaRPr>
          </a:p>
        </p:txBody>
      </p:sp>
    </p:spTree>
    <p:extLst>
      <p:ext uri="{BB962C8B-B14F-4D97-AF65-F5344CB8AC3E}">
        <p14:creationId xmlns:p14="http://schemas.microsoft.com/office/powerpoint/2010/main" val="3139028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55754" y="410403"/>
            <a:ext cx="8326523" cy="492443"/>
          </a:xfrm>
        </p:spPr>
        <p:txBody>
          <a:bodyPr>
            <a:noAutofit/>
          </a:bodyPr>
          <a:lstStyle/>
          <a:p>
            <a:pPr>
              <a:lnSpc>
                <a:spcPct val="110000"/>
              </a:lnSpc>
            </a:pPr>
            <a:r>
              <a:rPr lang="en-US" sz="3200" dirty="0">
                <a:latin typeface="+mj-lt"/>
              </a:rPr>
              <a:t>1-point Special Cause Variation - Cause</a:t>
            </a:r>
          </a:p>
        </p:txBody>
      </p:sp>
      <p:pic>
        <p:nvPicPr>
          <p:cNvPr id="3" name="Picture 2">
            <a:extLst>
              <a:ext uri="{FF2B5EF4-FFF2-40B4-BE49-F238E27FC236}">
                <a16:creationId xmlns:a16="http://schemas.microsoft.com/office/drawing/2014/main" id="{50EC426F-8B8E-170C-A3FE-B3387548EA1B}"/>
              </a:ext>
            </a:extLst>
          </p:cNvPr>
          <p:cNvPicPr>
            <a:picLocks noChangeAspect="1"/>
          </p:cNvPicPr>
          <p:nvPr/>
        </p:nvPicPr>
        <p:blipFill rotWithShape="1">
          <a:blip r:embed="rId3"/>
          <a:srcRect l="50000" t="29452" r="8545" b="39105"/>
          <a:stretch/>
        </p:blipFill>
        <p:spPr>
          <a:xfrm>
            <a:off x="644013" y="2467917"/>
            <a:ext cx="6278807" cy="2678808"/>
          </a:xfrm>
          <a:prstGeom prst="rect">
            <a:avLst/>
          </a:prstGeom>
          <a:ln w="38100">
            <a:solidFill>
              <a:schemeClr val="accent4"/>
            </a:solidFill>
          </a:ln>
          <a:effectLst/>
        </p:spPr>
      </p:pic>
      <p:sp>
        <p:nvSpPr>
          <p:cNvPr id="2" name="Rectangle: Rounded Corners 1">
            <a:extLst>
              <a:ext uri="{FF2B5EF4-FFF2-40B4-BE49-F238E27FC236}">
                <a16:creationId xmlns:a16="http://schemas.microsoft.com/office/drawing/2014/main" id="{69DD5D67-C5D7-3087-2B23-966026789FE2}"/>
              </a:ext>
            </a:extLst>
          </p:cNvPr>
          <p:cNvSpPr/>
          <p:nvPr/>
        </p:nvSpPr>
        <p:spPr>
          <a:xfrm>
            <a:off x="7136088" y="2549836"/>
            <a:ext cx="4266709" cy="3167792"/>
          </a:xfrm>
          <a:prstGeom prst="round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New team member completing the work.</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System outage or application issue.</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Incorrect data entered.</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Required process step missed.</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Unusually complex customer case.</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Staffing shortage or unexpected absence.</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Change in policy or business rules.</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Equipment or technology failure.</a:t>
            </a:r>
            <a:endParaRPr lang="en-US" sz="1600" noProof="0" dirty="0">
              <a:solidFill>
                <a:schemeClr val="bg1"/>
              </a:solidFill>
              <a:latin typeface="+mj-lt"/>
              <a:cs typeface="Arial" panose="020B0604020202020204" pitchFamily="34" charset="0"/>
            </a:endParaRPr>
          </a:p>
        </p:txBody>
      </p:sp>
      <p:sp>
        <p:nvSpPr>
          <p:cNvPr id="4" name="Rectangle: Rounded Corners 3">
            <a:extLst>
              <a:ext uri="{FF2B5EF4-FFF2-40B4-BE49-F238E27FC236}">
                <a16:creationId xmlns:a16="http://schemas.microsoft.com/office/drawing/2014/main" id="{E59E6F6E-7AD2-FD7C-8745-5065BD30B1BC}"/>
              </a:ext>
            </a:extLst>
          </p:cNvPr>
          <p:cNvSpPr/>
          <p:nvPr/>
        </p:nvSpPr>
        <p:spPr>
          <a:xfrm>
            <a:off x="7719166" y="2094800"/>
            <a:ext cx="3100552" cy="690441"/>
          </a:xfrm>
          <a:prstGeom prst="roundRect">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4"/>
                </a:solidFill>
                <a:latin typeface="+mj-lt"/>
                <a:cs typeface="Arial" panose="020B0604020202020204" pitchFamily="34" charset="0"/>
              </a:rPr>
              <a:t>Potential Causes</a:t>
            </a:r>
          </a:p>
        </p:txBody>
      </p:sp>
      <p:sp>
        <p:nvSpPr>
          <p:cNvPr id="8" name="TextBox 7">
            <a:extLst>
              <a:ext uri="{FF2B5EF4-FFF2-40B4-BE49-F238E27FC236}">
                <a16:creationId xmlns:a16="http://schemas.microsoft.com/office/drawing/2014/main" id="{B7817FEE-1621-128F-C747-E59523AACCFE}"/>
              </a:ext>
            </a:extLst>
          </p:cNvPr>
          <p:cNvSpPr txBox="1"/>
          <p:nvPr/>
        </p:nvSpPr>
        <p:spPr>
          <a:xfrm>
            <a:off x="581260" y="1540149"/>
            <a:ext cx="7827016" cy="298159"/>
          </a:xfrm>
          <a:prstGeom prst="rect">
            <a:avLst/>
          </a:prstGeom>
          <a:noFill/>
        </p:spPr>
        <p:txBody>
          <a:bodyPr wrap="square">
            <a:spAutoFit/>
          </a:bodyPr>
          <a:lstStyle/>
          <a:p>
            <a:pPr fontAlgn="t">
              <a:lnSpc>
                <a:spcPts val="1500"/>
              </a:lnSpc>
              <a:buNone/>
            </a:pPr>
            <a:r>
              <a:rPr lang="en-US" sz="1600" b="0" i="0" dirty="0">
                <a:solidFill>
                  <a:srgbClr val="002060"/>
                </a:solidFill>
                <a:effectLst/>
                <a:latin typeface="+mj-lt"/>
              </a:rPr>
              <a:t>In SPC, our job is to identify what made this point different from the others.</a:t>
            </a:r>
          </a:p>
        </p:txBody>
      </p:sp>
      <p:sp>
        <p:nvSpPr>
          <p:cNvPr id="11" name="TextBox 10">
            <a:extLst>
              <a:ext uri="{FF2B5EF4-FFF2-40B4-BE49-F238E27FC236}">
                <a16:creationId xmlns:a16="http://schemas.microsoft.com/office/drawing/2014/main" id="{07375FB2-8F56-3461-1F0B-55E63FC0E8FB}"/>
              </a:ext>
            </a:extLst>
          </p:cNvPr>
          <p:cNvSpPr txBox="1"/>
          <p:nvPr/>
        </p:nvSpPr>
        <p:spPr>
          <a:xfrm>
            <a:off x="782069" y="5949384"/>
            <a:ext cx="10175705" cy="298159"/>
          </a:xfrm>
          <a:prstGeom prst="rect">
            <a:avLst/>
          </a:prstGeom>
          <a:noFill/>
        </p:spPr>
        <p:txBody>
          <a:bodyPr wrap="square">
            <a:spAutoFit/>
          </a:bodyPr>
          <a:lstStyle/>
          <a:p>
            <a:pPr fontAlgn="t">
              <a:lnSpc>
                <a:spcPts val="1500"/>
              </a:lnSpc>
              <a:buNone/>
            </a:pPr>
            <a:r>
              <a:rPr lang="en-US" sz="1600" dirty="0">
                <a:solidFill>
                  <a:srgbClr val="002060"/>
                </a:solidFill>
                <a:latin typeface="+mj-lt"/>
              </a:rPr>
              <a:t>Special cause signals tell us that something has changed. </a:t>
            </a:r>
          </a:p>
        </p:txBody>
      </p:sp>
    </p:spTree>
    <p:extLst>
      <p:ext uri="{BB962C8B-B14F-4D97-AF65-F5344CB8AC3E}">
        <p14:creationId xmlns:p14="http://schemas.microsoft.com/office/powerpoint/2010/main" val="634099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324093" y="405199"/>
            <a:ext cx="8326523" cy="492443"/>
          </a:xfrm>
        </p:spPr>
        <p:txBody>
          <a:bodyPr>
            <a:normAutofit lnSpcReduction="10000"/>
          </a:bodyPr>
          <a:lstStyle/>
          <a:p>
            <a:pPr>
              <a:lnSpc>
                <a:spcPct val="110000"/>
              </a:lnSpc>
            </a:pPr>
            <a:r>
              <a:rPr lang="en-US" sz="3000" dirty="0">
                <a:latin typeface="+mj-lt"/>
              </a:rPr>
              <a:t>8-Point Special Cause Variation - Causes</a:t>
            </a:r>
          </a:p>
          <a:p>
            <a:endParaRPr lang="en-US" sz="3200" noProof="0" dirty="0">
              <a:solidFill>
                <a:srgbClr val="FFC000"/>
              </a:solidFill>
              <a:latin typeface="+mj-lt"/>
            </a:endParaRPr>
          </a:p>
        </p:txBody>
      </p:sp>
      <p:pic>
        <p:nvPicPr>
          <p:cNvPr id="8" name="Picture 7">
            <a:extLst>
              <a:ext uri="{FF2B5EF4-FFF2-40B4-BE49-F238E27FC236}">
                <a16:creationId xmlns:a16="http://schemas.microsoft.com/office/drawing/2014/main" id="{3F9D6C30-9D17-73E6-50BC-28114891CCE6}"/>
              </a:ext>
            </a:extLst>
          </p:cNvPr>
          <p:cNvPicPr>
            <a:picLocks noChangeAspect="1"/>
          </p:cNvPicPr>
          <p:nvPr/>
        </p:nvPicPr>
        <p:blipFill rotWithShape="1">
          <a:blip r:embed="rId3"/>
          <a:srcRect l="54544" t="61923" r="7201" b="6634"/>
          <a:stretch/>
        </p:blipFill>
        <p:spPr>
          <a:xfrm>
            <a:off x="630408" y="2295423"/>
            <a:ext cx="5660613" cy="2795342"/>
          </a:xfrm>
          <a:prstGeom prst="rect">
            <a:avLst/>
          </a:prstGeom>
          <a:ln w="38100">
            <a:solidFill>
              <a:schemeClr val="accent4"/>
            </a:solidFill>
          </a:ln>
          <a:effectLst/>
        </p:spPr>
      </p:pic>
      <p:sp>
        <p:nvSpPr>
          <p:cNvPr id="2" name="Rectangle: Rounded Corners 1">
            <a:extLst>
              <a:ext uri="{FF2B5EF4-FFF2-40B4-BE49-F238E27FC236}">
                <a16:creationId xmlns:a16="http://schemas.microsoft.com/office/drawing/2014/main" id="{A9783864-343F-5A80-ADD4-89D68DFD81AF}"/>
              </a:ext>
            </a:extLst>
          </p:cNvPr>
          <p:cNvSpPr/>
          <p:nvPr/>
        </p:nvSpPr>
        <p:spPr>
          <a:xfrm>
            <a:off x="6978792" y="2166292"/>
            <a:ext cx="4887387" cy="3644546"/>
          </a:xfrm>
          <a:prstGeom prst="round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1600" noProof="0" dirty="0">
              <a:solidFill>
                <a:schemeClr val="bg1"/>
              </a:solidFill>
              <a:latin typeface="+mj-lt"/>
              <a:cs typeface="Arial" panose="020B0604020202020204" pitchFamily="34" charset="0"/>
            </a:endParaRPr>
          </a:p>
          <a:p>
            <a:pPr marL="285750" indent="-285750">
              <a:buFont typeface="Arial" panose="020B0604020202020204" pitchFamily="34" charset="0"/>
              <a:buChar char="•"/>
            </a:pPr>
            <a:endParaRPr lang="en-GB" sz="1600" dirty="0">
              <a:solidFill>
                <a:schemeClr val="bg1"/>
              </a:solidFill>
              <a:latin typeface="+mj-lt"/>
              <a:cs typeface="Arial" panose="020B0604020202020204" pitchFamily="34" charset="0"/>
            </a:endParaRP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A new process or way of working has been introduced.</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A policy or business rule has changed.</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Staff have received new training or coaching.</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A different team is completing the work.</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A new system or technology has been implemented.</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Work has been reassigned between teams.</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Automation has been introduced.</a:t>
            </a:r>
          </a:p>
          <a:p>
            <a:pPr marL="285750" indent="-285750">
              <a:buFont typeface="Arial" panose="020B0604020202020204" pitchFamily="34" charset="0"/>
              <a:buChar char="•"/>
            </a:pPr>
            <a:r>
              <a:rPr lang="en-GB" sz="1600" noProof="0" dirty="0">
                <a:solidFill>
                  <a:schemeClr val="bg1"/>
                </a:solidFill>
                <a:latin typeface="+mj-lt"/>
                <a:cs typeface="Arial" panose="020B0604020202020204" pitchFamily="34" charset="0"/>
              </a:rPr>
              <a:t>Customer demand or case complexity has changed.</a:t>
            </a:r>
            <a:endParaRPr lang="en-US" sz="1400" noProof="0" dirty="0">
              <a:solidFill>
                <a:schemeClr val="bg1"/>
              </a:solidFill>
              <a:latin typeface="+mj-lt"/>
              <a:cs typeface="Arial" panose="020B0604020202020204" pitchFamily="34" charset="0"/>
            </a:endParaRPr>
          </a:p>
        </p:txBody>
      </p:sp>
      <p:sp>
        <p:nvSpPr>
          <p:cNvPr id="3" name="Rectangle: Rounded Corners 2">
            <a:extLst>
              <a:ext uri="{FF2B5EF4-FFF2-40B4-BE49-F238E27FC236}">
                <a16:creationId xmlns:a16="http://schemas.microsoft.com/office/drawing/2014/main" id="{6B3CCE65-DDB9-1C09-2006-9FF32B1424CE}"/>
              </a:ext>
            </a:extLst>
          </p:cNvPr>
          <p:cNvSpPr/>
          <p:nvPr/>
        </p:nvSpPr>
        <p:spPr>
          <a:xfrm>
            <a:off x="7872209" y="1855433"/>
            <a:ext cx="3100552" cy="746234"/>
          </a:xfrm>
          <a:prstGeom prst="roundRect">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accent4"/>
                </a:solidFill>
                <a:latin typeface="+mj-lt"/>
                <a:cs typeface="Arial" panose="020B0604020202020204" pitchFamily="34" charset="0"/>
              </a:rPr>
              <a:t>Potential Causes</a:t>
            </a:r>
          </a:p>
        </p:txBody>
      </p:sp>
      <p:sp>
        <p:nvSpPr>
          <p:cNvPr id="5" name="TextBox 4">
            <a:extLst>
              <a:ext uri="{FF2B5EF4-FFF2-40B4-BE49-F238E27FC236}">
                <a16:creationId xmlns:a16="http://schemas.microsoft.com/office/drawing/2014/main" id="{CF7C3DD2-1855-CBE5-E153-121DC15DD9E7}"/>
              </a:ext>
            </a:extLst>
          </p:cNvPr>
          <p:cNvSpPr txBox="1"/>
          <p:nvPr/>
        </p:nvSpPr>
        <p:spPr>
          <a:xfrm>
            <a:off x="283452" y="1393819"/>
            <a:ext cx="10048240" cy="338554"/>
          </a:xfrm>
          <a:prstGeom prst="rect">
            <a:avLst/>
          </a:prstGeom>
          <a:noFill/>
        </p:spPr>
        <p:txBody>
          <a:bodyPr wrap="square">
            <a:spAutoFit/>
          </a:bodyPr>
          <a:lstStyle/>
          <a:p>
            <a:r>
              <a:rPr lang="en-GB" sz="1600" dirty="0">
                <a:solidFill>
                  <a:srgbClr val="002060"/>
                </a:solidFill>
                <a:latin typeface="+mj-lt"/>
              </a:rPr>
              <a:t>In SPC, our job is to identify what has caused the process to shift from its normal pattern.</a:t>
            </a:r>
            <a:endParaRPr lang="en-US" sz="1600" dirty="0">
              <a:solidFill>
                <a:srgbClr val="002060"/>
              </a:solidFill>
              <a:latin typeface="+mj-lt"/>
            </a:endParaRPr>
          </a:p>
        </p:txBody>
      </p:sp>
      <p:sp>
        <p:nvSpPr>
          <p:cNvPr id="9" name="TextBox 8">
            <a:extLst>
              <a:ext uri="{FF2B5EF4-FFF2-40B4-BE49-F238E27FC236}">
                <a16:creationId xmlns:a16="http://schemas.microsoft.com/office/drawing/2014/main" id="{6563E6ED-FEC1-B989-1F06-BA60A09CCA14}"/>
              </a:ext>
            </a:extLst>
          </p:cNvPr>
          <p:cNvSpPr txBox="1"/>
          <p:nvPr/>
        </p:nvSpPr>
        <p:spPr>
          <a:xfrm>
            <a:off x="537966" y="6118738"/>
            <a:ext cx="11116067" cy="584775"/>
          </a:xfrm>
          <a:prstGeom prst="rect">
            <a:avLst/>
          </a:prstGeom>
          <a:noFill/>
        </p:spPr>
        <p:txBody>
          <a:bodyPr wrap="square">
            <a:spAutoFit/>
          </a:bodyPr>
          <a:lstStyle/>
          <a:p>
            <a:r>
              <a:rPr lang="en-GB" sz="1600" dirty="0">
                <a:solidFill>
                  <a:srgbClr val="002060"/>
                </a:solidFill>
              </a:rPr>
              <a:t>Special cause signals such as eight consecutive points on the same side of the center line suggest the process has shifted to a new level of performance. </a:t>
            </a:r>
            <a:endParaRPr lang="en-US" sz="1600" dirty="0">
              <a:solidFill>
                <a:srgbClr val="002060"/>
              </a:solidFill>
            </a:endParaRPr>
          </a:p>
        </p:txBody>
      </p:sp>
    </p:spTree>
    <p:extLst>
      <p:ext uri="{BB962C8B-B14F-4D97-AF65-F5344CB8AC3E}">
        <p14:creationId xmlns:p14="http://schemas.microsoft.com/office/powerpoint/2010/main" val="1242091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30" name="Rectangle 29">
            <a:extLst>
              <a:ext uri="{FF2B5EF4-FFF2-40B4-BE49-F238E27FC236}">
                <a16:creationId xmlns:a16="http://schemas.microsoft.com/office/drawing/2014/main" id="{914A45B3-8363-DFCA-1EFF-6D4DA7C3BE60}"/>
              </a:ext>
            </a:extLst>
          </p:cNvPr>
          <p:cNvSpPr/>
          <p:nvPr/>
        </p:nvSpPr>
        <p:spPr>
          <a:xfrm>
            <a:off x="228600" y="2232211"/>
            <a:ext cx="11631706" cy="2859741"/>
          </a:xfrm>
          <a:prstGeom prst="rect">
            <a:avLst/>
          </a:prstGeom>
          <a:solidFill>
            <a:schemeClr val="bg1">
              <a:lumMod val="8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285771" y="398595"/>
            <a:ext cx="8326523" cy="492443"/>
          </a:xfrm>
        </p:spPr>
        <p:txBody>
          <a:bodyPr vert="horz" lIns="0" tIns="0" rIns="0" bIns="0" rtlCol="0">
            <a:normAutofit fontScale="92500" lnSpcReduction="10000"/>
          </a:bodyPr>
          <a:lstStyle/>
          <a:p>
            <a:pPr>
              <a:lnSpc>
                <a:spcPct val="120000"/>
              </a:lnSpc>
            </a:pPr>
            <a:r>
              <a:rPr lang="en-US" sz="3200" dirty="0"/>
              <a:t>Special Cause Variation - Actions</a:t>
            </a:r>
          </a:p>
        </p:txBody>
      </p:sp>
      <p:sp>
        <p:nvSpPr>
          <p:cNvPr id="4" name="TextBox 3">
            <a:extLst>
              <a:ext uri="{FF2B5EF4-FFF2-40B4-BE49-F238E27FC236}">
                <a16:creationId xmlns:a16="http://schemas.microsoft.com/office/drawing/2014/main" id="{D19249C5-0640-8395-2547-8627F73F5496}"/>
              </a:ext>
            </a:extLst>
          </p:cNvPr>
          <p:cNvSpPr txBox="1"/>
          <p:nvPr/>
        </p:nvSpPr>
        <p:spPr>
          <a:xfrm>
            <a:off x="403413" y="1604655"/>
            <a:ext cx="10397215" cy="338554"/>
          </a:xfrm>
          <a:prstGeom prst="rect">
            <a:avLst/>
          </a:prstGeom>
          <a:noFill/>
        </p:spPr>
        <p:txBody>
          <a:bodyPr wrap="square" rtlCol="0">
            <a:spAutoFit/>
          </a:bodyPr>
          <a:lstStyle/>
          <a:p>
            <a:r>
              <a:rPr lang="en-GB" sz="1600" noProof="0" dirty="0">
                <a:solidFill>
                  <a:schemeClr val="accent5"/>
                </a:solidFill>
                <a:cs typeface="Arial" panose="020B0604020202020204" pitchFamily="34" charset="0"/>
              </a:rPr>
              <a:t>When a special cause signal is identified, follow these steps:</a:t>
            </a:r>
          </a:p>
        </p:txBody>
      </p:sp>
      <p:sp>
        <p:nvSpPr>
          <p:cNvPr id="2" name="Rectangle: Rounded Corners 1">
            <a:extLst>
              <a:ext uri="{FF2B5EF4-FFF2-40B4-BE49-F238E27FC236}">
                <a16:creationId xmlns:a16="http://schemas.microsoft.com/office/drawing/2014/main" id="{7B26B464-2675-89A5-CB70-D833DF085B51}"/>
              </a:ext>
            </a:extLst>
          </p:cNvPr>
          <p:cNvSpPr/>
          <p:nvPr/>
        </p:nvSpPr>
        <p:spPr>
          <a:xfrm>
            <a:off x="398931" y="2709562"/>
            <a:ext cx="1837765" cy="212241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Investigate</a:t>
            </a:r>
          </a:p>
          <a:p>
            <a:pPr algn="ctr"/>
            <a:endParaRPr lang="en-GB" sz="1400" dirty="0"/>
          </a:p>
          <a:p>
            <a:pPr algn="ctr"/>
            <a:endParaRPr lang="en-GB" sz="1400" dirty="0"/>
          </a:p>
          <a:p>
            <a:pPr algn="ctr"/>
            <a:r>
              <a:rPr lang="en-GB" sz="1400" dirty="0"/>
              <a:t>Understand what changed in the process.</a:t>
            </a:r>
            <a:endParaRPr lang="en-US" sz="1400" dirty="0"/>
          </a:p>
        </p:txBody>
      </p:sp>
      <p:sp>
        <p:nvSpPr>
          <p:cNvPr id="5" name="Rectangle: Rounded Corners 4">
            <a:extLst>
              <a:ext uri="{FF2B5EF4-FFF2-40B4-BE49-F238E27FC236}">
                <a16:creationId xmlns:a16="http://schemas.microsoft.com/office/drawing/2014/main" id="{D0FBE2B7-DAE8-0CB4-3B2E-348E1BF1D78C}"/>
              </a:ext>
            </a:extLst>
          </p:cNvPr>
          <p:cNvSpPr/>
          <p:nvPr/>
        </p:nvSpPr>
        <p:spPr>
          <a:xfrm>
            <a:off x="2747684" y="2709562"/>
            <a:ext cx="1837765" cy="2122414"/>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Talk to Employees</a:t>
            </a:r>
          </a:p>
          <a:p>
            <a:pPr algn="ctr"/>
            <a:endParaRPr lang="en-GB" sz="1400" dirty="0"/>
          </a:p>
          <a:p>
            <a:pPr algn="ctr"/>
            <a:r>
              <a:rPr lang="en-GB" sz="1400" dirty="0"/>
              <a:t>Speak with the people closest to the work.</a:t>
            </a:r>
            <a:endParaRPr lang="en-US" sz="1400" dirty="0"/>
          </a:p>
        </p:txBody>
      </p:sp>
      <p:sp>
        <p:nvSpPr>
          <p:cNvPr id="7" name="Rectangle: Rounded Corners 6">
            <a:extLst>
              <a:ext uri="{FF2B5EF4-FFF2-40B4-BE49-F238E27FC236}">
                <a16:creationId xmlns:a16="http://schemas.microsoft.com/office/drawing/2014/main" id="{FF6C471B-F9CE-7564-DAD8-2F5AAFDC5476}"/>
              </a:ext>
            </a:extLst>
          </p:cNvPr>
          <p:cNvSpPr/>
          <p:nvPr/>
        </p:nvSpPr>
        <p:spPr>
          <a:xfrm>
            <a:off x="5096437" y="2709562"/>
            <a:ext cx="1837765" cy="2122414"/>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Gather Evidence</a:t>
            </a:r>
          </a:p>
          <a:p>
            <a:pPr algn="ctr"/>
            <a:endParaRPr lang="en-GB" sz="1400" dirty="0"/>
          </a:p>
          <a:p>
            <a:pPr algn="ctr"/>
            <a:r>
              <a:rPr lang="en-GB" sz="1400" dirty="0"/>
              <a:t>Use facts and data, not assumptions.</a:t>
            </a:r>
            <a:endParaRPr lang="en-US" sz="1400" dirty="0"/>
          </a:p>
        </p:txBody>
      </p:sp>
      <p:sp>
        <p:nvSpPr>
          <p:cNvPr id="9" name="Rectangle: Rounded Corners 8">
            <a:extLst>
              <a:ext uri="{FF2B5EF4-FFF2-40B4-BE49-F238E27FC236}">
                <a16:creationId xmlns:a16="http://schemas.microsoft.com/office/drawing/2014/main" id="{8A7696C9-3190-5BF7-1AD7-3E7DB7442960}"/>
              </a:ext>
            </a:extLst>
          </p:cNvPr>
          <p:cNvSpPr/>
          <p:nvPr/>
        </p:nvSpPr>
        <p:spPr>
          <a:xfrm>
            <a:off x="7445190" y="2709561"/>
            <a:ext cx="1837765" cy="2122414"/>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1" dirty="0"/>
          </a:p>
          <a:p>
            <a:pPr algn="ctr"/>
            <a:r>
              <a:rPr lang="en-GB" sz="1400" b="1" dirty="0"/>
              <a:t>Remove Negative Causes</a:t>
            </a:r>
          </a:p>
          <a:p>
            <a:pPr algn="ctr"/>
            <a:endParaRPr lang="en-GB" sz="1400" dirty="0"/>
          </a:p>
          <a:p>
            <a:pPr algn="ctr"/>
            <a:r>
              <a:rPr lang="en-GB" sz="1400" dirty="0"/>
              <a:t>Address issues impacting performance.</a:t>
            </a:r>
            <a:endParaRPr lang="en-US" sz="1400" dirty="0"/>
          </a:p>
        </p:txBody>
      </p:sp>
      <p:sp>
        <p:nvSpPr>
          <p:cNvPr id="10" name="Rectangle: Rounded Corners 9">
            <a:extLst>
              <a:ext uri="{FF2B5EF4-FFF2-40B4-BE49-F238E27FC236}">
                <a16:creationId xmlns:a16="http://schemas.microsoft.com/office/drawing/2014/main" id="{39EE2F41-47AD-5C45-A860-E21022692625}"/>
              </a:ext>
            </a:extLst>
          </p:cNvPr>
          <p:cNvSpPr/>
          <p:nvPr/>
        </p:nvSpPr>
        <p:spPr>
          <a:xfrm>
            <a:off x="9793943" y="2709561"/>
            <a:ext cx="1837765" cy="2122414"/>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1" dirty="0"/>
          </a:p>
          <a:p>
            <a:pPr algn="ctr"/>
            <a:r>
              <a:rPr lang="en-GB" sz="1400" b="1" dirty="0"/>
              <a:t>Standardize Positive Causes</a:t>
            </a:r>
          </a:p>
          <a:p>
            <a:pPr algn="ctr"/>
            <a:endParaRPr lang="en-GB" sz="1400" dirty="0"/>
          </a:p>
          <a:p>
            <a:pPr algn="ctr"/>
            <a:r>
              <a:rPr lang="en-GB" sz="1400" dirty="0"/>
              <a:t>Embed and sustain improvements into the process.</a:t>
            </a:r>
            <a:endParaRPr lang="en-US" sz="1400" dirty="0"/>
          </a:p>
        </p:txBody>
      </p:sp>
      <p:sp>
        <p:nvSpPr>
          <p:cNvPr id="11" name="Arrow: Right 10">
            <a:extLst>
              <a:ext uri="{FF2B5EF4-FFF2-40B4-BE49-F238E27FC236}">
                <a16:creationId xmlns:a16="http://schemas.microsoft.com/office/drawing/2014/main" id="{CA44B56E-2AD1-2E5A-DB2E-8DAE6BED49D0}"/>
              </a:ext>
            </a:extLst>
          </p:cNvPr>
          <p:cNvSpPr/>
          <p:nvPr/>
        </p:nvSpPr>
        <p:spPr>
          <a:xfrm>
            <a:off x="2236696" y="3173506"/>
            <a:ext cx="663387" cy="46555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Arrow: Right 11">
            <a:extLst>
              <a:ext uri="{FF2B5EF4-FFF2-40B4-BE49-F238E27FC236}">
                <a16:creationId xmlns:a16="http://schemas.microsoft.com/office/drawing/2014/main" id="{B5E37023-BAF4-3F06-BF43-8D7C4B194CF7}"/>
              </a:ext>
            </a:extLst>
          </p:cNvPr>
          <p:cNvSpPr/>
          <p:nvPr/>
        </p:nvSpPr>
        <p:spPr>
          <a:xfrm>
            <a:off x="4558555" y="3173506"/>
            <a:ext cx="663387" cy="465550"/>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Arrow: Right 12">
            <a:extLst>
              <a:ext uri="{FF2B5EF4-FFF2-40B4-BE49-F238E27FC236}">
                <a16:creationId xmlns:a16="http://schemas.microsoft.com/office/drawing/2014/main" id="{F82CCC98-FB08-0A29-554A-AA0B7428850F}"/>
              </a:ext>
            </a:extLst>
          </p:cNvPr>
          <p:cNvSpPr/>
          <p:nvPr/>
        </p:nvSpPr>
        <p:spPr>
          <a:xfrm>
            <a:off x="6934202" y="3173506"/>
            <a:ext cx="663387" cy="465550"/>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Arrow: Right 13">
            <a:extLst>
              <a:ext uri="{FF2B5EF4-FFF2-40B4-BE49-F238E27FC236}">
                <a16:creationId xmlns:a16="http://schemas.microsoft.com/office/drawing/2014/main" id="{8617E16E-D7DF-2E61-8BC5-58159249F2F1}"/>
              </a:ext>
            </a:extLst>
          </p:cNvPr>
          <p:cNvSpPr/>
          <p:nvPr/>
        </p:nvSpPr>
        <p:spPr>
          <a:xfrm>
            <a:off x="9282955" y="3173506"/>
            <a:ext cx="663387" cy="465550"/>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lowchart: Connector 14">
            <a:extLst>
              <a:ext uri="{FF2B5EF4-FFF2-40B4-BE49-F238E27FC236}">
                <a16:creationId xmlns:a16="http://schemas.microsoft.com/office/drawing/2014/main" id="{31B9C84E-BF9E-F708-2054-9F50A34E1158}"/>
              </a:ext>
            </a:extLst>
          </p:cNvPr>
          <p:cNvSpPr/>
          <p:nvPr/>
        </p:nvSpPr>
        <p:spPr>
          <a:xfrm>
            <a:off x="927848" y="2303287"/>
            <a:ext cx="779929" cy="759191"/>
          </a:xfrm>
          <a:prstGeom prst="flowChartConnector">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lowchart: Connector 15">
            <a:extLst>
              <a:ext uri="{FF2B5EF4-FFF2-40B4-BE49-F238E27FC236}">
                <a16:creationId xmlns:a16="http://schemas.microsoft.com/office/drawing/2014/main" id="{C214C38E-0769-BC1C-F943-09B16C295D47}"/>
              </a:ext>
            </a:extLst>
          </p:cNvPr>
          <p:cNvSpPr/>
          <p:nvPr/>
        </p:nvSpPr>
        <p:spPr>
          <a:xfrm>
            <a:off x="3276602" y="2303287"/>
            <a:ext cx="779929" cy="759191"/>
          </a:xfrm>
          <a:prstGeom prst="flowChartConnector">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lowchart: Connector 16">
            <a:extLst>
              <a:ext uri="{FF2B5EF4-FFF2-40B4-BE49-F238E27FC236}">
                <a16:creationId xmlns:a16="http://schemas.microsoft.com/office/drawing/2014/main" id="{0846B8A3-D495-1DB9-A80D-5BEE996B4951}"/>
              </a:ext>
            </a:extLst>
          </p:cNvPr>
          <p:cNvSpPr/>
          <p:nvPr/>
        </p:nvSpPr>
        <p:spPr>
          <a:xfrm>
            <a:off x="5625354" y="2414315"/>
            <a:ext cx="779929" cy="759191"/>
          </a:xfrm>
          <a:prstGeom prst="flowChartConnector">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lowchart: Connector 17">
            <a:extLst>
              <a:ext uri="{FF2B5EF4-FFF2-40B4-BE49-F238E27FC236}">
                <a16:creationId xmlns:a16="http://schemas.microsoft.com/office/drawing/2014/main" id="{35E5B072-EA51-90F1-1702-C65B0941AC09}"/>
              </a:ext>
            </a:extLst>
          </p:cNvPr>
          <p:cNvSpPr/>
          <p:nvPr/>
        </p:nvSpPr>
        <p:spPr>
          <a:xfrm>
            <a:off x="7974106" y="2358801"/>
            <a:ext cx="779929" cy="759191"/>
          </a:xfrm>
          <a:prstGeom prst="flowChartConnector">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lowchart: Connector 18">
            <a:extLst>
              <a:ext uri="{FF2B5EF4-FFF2-40B4-BE49-F238E27FC236}">
                <a16:creationId xmlns:a16="http://schemas.microsoft.com/office/drawing/2014/main" id="{8216B1BD-00E7-A983-FCCB-659374A3E32D}"/>
              </a:ext>
            </a:extLst>
          </p:cNvPr>
          <p:cNvSpPr/>
          <p:nvPr/>
        </p:nvSpPr>
        <p:spPr>
          <a:xfrm>
            <a:off x="10322860" y="2358801"/>
            <a:ext cx="779929" cy="759191"/>
          </a:xfrm>
          <a:prstGeom prst="flowChartConnector">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descr="Magnifying glass with solid fill">
            <a:extLst>
              <a:ext uri="{FF2B5EF4-FFF2-40B4-BE49-F238E27FC236}">
                <a16:creationId xmlns:a16="http://schemas.microsoft.com/office/drawing/2014/main" id="{EABE17A9-00D5-C0E7-422C-530F910541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0249" y="2414315"/>
            <a:ext cx="490250" cy="490250"/>
          </a:xfrm>
          <a:prstGeom prst="rect">
            <a:avLst/>
          </a:prstGeom>
        </p:spPr>
      </p:pic>
      <p:pic>
        <p:nvPicPr>
          <p:cNvPr id="23" name="Graphic 22" descr="Chat with solid fill">
            <a:extLst>
              <a:ext uri="{FF2B5EF4-FFF2-40B4-BE49-F238E27FC236}">
                <a16:creationId xmlns:a16="http://schemas.microsoft.com/office/drawing/2014/main" id="{A6037A42-0185-93E9-9C70-EF70E9253A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9695" y="2422690"/>
            <a:ext cx="573741" cy="573741"/>
          </a:xfrm>
          <a:prstGeom prst="rect">
            <a:avLst/>
          </a:prstGeom>
        </p:spPr>
      </p:pic>
      <p:pic>
        <p:nvPicPr>
          <p:cNvPr id="25" name="Graphic 24" descr="Folder Search with solid fill">
            <a:extLst>
              <a:ext uri="{FF2B5EF4-FFF2-40B4-BE49-F238E27FC236}">
                <a16:creationId xmlns:a16="http://schemas.microsoft.com/office/drawing/2014/main" id="{44150C22-D5BB-4655-9CED-B320004BB1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27069" y="2492120"/>
            <a:ext cx="640402" cy="640402"/>
          </a:xfrm>
          <a:prstGeom prst="rect">
            <a:avLst/>
          </a:prstGeom>
        </p:spPr>
      </p:pic>
      <p:pic>
        <p:nvPicPr>
          <p:cNvPr id="27" name="Graphic 26" descr="Eraser with solid fill">
            <a:extLst>
              <a:ext uri="{FF2B5EF4-FFF2-40B4-BE49-F238E27FC236}">
                <a16:creationId xmlns:a16="http://schemas.microsoft.com/office/drawing/2014/main" id="{84FFEA1D-4E3F-4D02-560E-DF7BB43BEF1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12734" y="2463030"/>
            <a:ext cx="533401" cy="533401"/>
          </a:xfrm>
          <a:prstGeom prst="rect">
            <a:avLst/>
          </a:prstGeom>
        </p:spPr>
      </p:pic>
      <p:pic>
        <p:nvPicPr>
          <p:cNvPr id="29" name="Graphic 28" descr="Checklist with solid fill">
            <a:extLst>
              <a:ext uri="{FF2B5EF4-FFF2-40B4-BE49-F238E27FC236}">
                <a16:creationId xmlns:a16="http://schemas.microsoft.com/office/drawing/2014/main" id="{EDBBD757-C486-50B1-3CBE-4DE5B76CD4C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16012" y="2463030"/>
            <a:ext cx="593624" cy="593624"/>
          </a:xfrm>
          <a:prstGeom prst="rect">
            <a:avLst/>
          </a:prstGeom>
        </p:spPr>
      </p:pic>
      <p:sp>
        <p:nvSpPr>
          <p:cNvPr id="33" name="TextBox 32">
            <a:extLst>
              <a:ext uri="{FF2B5EF4-FFF2-40B4-BE49-F238E27FC236}">
                <a16:creationId xmlns:a16="http://schemas.microsoft.com/office/drawing/2014/main" id="{972501B5-D01C-4AD5-3D66-BE10400DDE27}"/>
              </a:ext>
            </a:extLst>
          </p:cNvPr>
          <p:cNvSpPr txBox="1"/>
          <p:nvPr/>
        </p:nvSpPr>
        <p:spPr>
          <a:xfrm>
            <a:off x="1142960" y="6033247"/>
            <a:ext cx="10180035" cy="290464"/>
          </a:xfrm>
          <a:prstGeom prst="rect">
            <a:avLst/>
          </a:prstGeom>
          <a:solidFill>
            <a:schemeClr val="accent4"/>
          </a:solidFill>
        </p:spPr>
        <p:txBody>
          <a:bodyPr wrap="square">
            <a:spAutoFit/>
          </a:bodyPr>
          <a:lstStyle/>
          <a:p>
            <a:pPr fontAlgn="t">
              <a:lnSpc>
                <a:spcPts val="1500"/>
              </a:lnSpc>
              <a:buNone/>
            </a:pPr>
            <a:r>
              <a:rPr lang="en-US" sz="1400" dirty="0">
                <a:solidFill>
                  <a:schemeClr val="bg1"/>
                </a:solidFill>
                <a:cs typeface="Arial" panose="020B0604020202020204" pitchFamily="34" charset="0"/>
              </a:rPr>
              <a:t>Special cause signals are opportunities to learn. Investigate the change, understand the cause, and take appropriate action.</a:t>
            </a:r>
          </a:p>
        </p:txBody>
      </p:sp>
    </p:spTree>
    <p:extLst>
      <p:ext uri="{BB962C8B-B14F-4D97-AF65-F5344CB8AC3E}">
        <p14:creationId xmlns:p14="http://schemas.microsoft.com/office/powerpoint/2010/main" val="2216816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Placeholder 1">
            <a:extLst>
              <a:ext uri="{FF2B5EF4-FFF2-40B4-BE49-F238E27FC236}">
                <a16:creationId xmlns:a16="http://schemas.microsoft.com/office/drawing/2014/main" id="{5234411A-ADAA-4D90-9651-9B2DD2BA1334}"/>
              </a:ext>
            </a:extLst>
          </p:cNvPr>
          <p:cNvSpPr>
            <a:spLocks noGrp="1"/>
          </p:cNvSpPr>
          <p:nvPr>
            <p:ph type="body" sz="quarter" idx="10"/>
          </p:nvPr>
        </p:nvSpPr>
        <p:spPr>
          <a:xfrm>
            <a:off x="318157" y="317212"/>
            <a:ext cx="8692896" cy="923330"/>
          </a:xfrm>
        </p:spPr>
        <p:txBody>
          <a:bodyPr>
            <a:normAutofit fontScale="47500" lnSpcReduction="20000"/>
          </a:bodyPr>
          <a:lstStyle/>
          <a:p>
            <a:pPr>
              <a:lnSpc>
                <a:spcPct val="120000"/>
              </a:lnSpc>
            </a:pPr>
            <a:r>
              <a:rPr lang="en-US" sz="6700" dirty="0">
                <a:latin typeface="+mj-lt"/>
              </a:rPr>
              <a:t>The Goal: A Stable and Predictable Process</a:t>
            </a:r>
          </a:p>
          <a:p>
            <a:endParaRPr lang="en-US" sz="3200" noProof="0" dirty="0">
              <a:latin typeface="+mj-lt"/>
            </a:endParaRPr>
          </a:p>
        </p:txBody>
      </p:sp>
      <p:sp>
        <p:nvSpPr>
          <p:cNvPr id="4" name="Text Placeholder 3">
            <a:extLst>
              <a:ext uri="{FF2B5EF4-FFF2-40B4-BE49-F238E27FC236}">
                <a16:creationId xmlns:a16="http://schemas.microsoft.com/office/drawing/2014/main" id="{9AEE53EA-6A72-4901-80A2-8CE253D37BEF}"/>
              </a:ext>
            </a:extLst>
          </p:cNvPr>
          <p:cNvSpPr>
            <a:spLocks noGrp="1"/>
          </p:cNvSpPr>
          <p:nvPr>
            <p:ph type="body" sz="quarter" idx="13"/>
          </p:nvPr>
        </p:nvSpPr>
        <p:spPr>
          <a:xfrm>
            <a:off x="196516" y="1266063"/>
            <a:ext cx="11617532" cy="4907197"/>
          </a:xfrm>
        </p:spPr>
        <p:txBody>
          <a:bodyPr/>
          <a:lstStyle/>
          <a:p>
            <a:r>
              <a:rPr lang="en-US" noProof="0" dirty="0"/>
              <a:t> </a:t>
            </a:r>
          </a:p>
          <a:p>
            <a:endParaRPr lang="en-US" noProof="0" dirty="0"/>
          </a:p>
          <a:p>
            <a:endParaRPr lang="en-US" noProof="0" dirty="0"/>
          </a:p>
        </p:txBody>
      </p:sp>
      <p:cxnSp>
        <p:nvCxnSpPr>
          <p:cNvPr id="13" name="Straight Arrow Connector 12">
            <a:extLst>
              <a:ext uri="{FF2B5EF4-FFF2-40B4-BE49-F238E27FC236}">
                <a16:creationId xmlns:a16="http://schemas.microsoft.com/office/drawing/2014/main" id="{428E50A2-4750-4A6B-8E6C-F6AC122784BA}"/>
              </a:ext>
            </a:extLst>
          </p:cNvPr>
          <p:cNvCxnSpPr>
            <a:cxnSpLocks/>
          </p:cNvCxnSpPr>
          <p:nvPr/>
        </p:nvCxnSpPr>
        <p:spPr>
          <a:xfrm flipH="1">
            <a:off x="3753383" y="4081739"/>
            <a:ext cx="1126465" cy="1"/>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 name="Flowchart: Connector 6">
            <a:extLst>
              <a:ext uri="{FF2B5EF4-FFF2-40B4-BE49-F238E27FC236}">
                <a16:creationId xmlns:a16="http://schemas.microsoft.com/office/drawing/2014/main" id="{7A7379ED-DCAA-DC09-EFE8-C0B121126AB2}"/>
              </a:ext>
            </a:extLst>
          </p:cNvPr>
          <p:cNvSpPr/>
          <p:nvPr/>
        </p:nvSpPr>
        <p:spPr>
          <a:xfrm>
            <a:off x="1485558" y="1419546"/>
            <a:ext cx="1697059" cy="1593638"/>
          </a:xfrm>
          <a:prstGeom prst="flowChartConnector">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Trophy with solid fill">
            <a:extLst>
              <a:ext uri="{FF2B5EF4-FFF2-40B4-BE49-F238E27FC236}">
                <a16:creationId xmlns:a16="http://schemas.microsoft.com/office/drawing/2014/main" id="{789F260A-2214-287C-B5CC-55EF0E7B2D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36978" y="1695900"/>
            <a:ext cx="1194221" cy="1194221"/>
          </a:xfrm>
          <a:prstGeom prst="rect">
            <a:avLst/>
          </a:prstGeom>
        </p:spPr>
      </p:pic>
      <p:sp>
        <p:nvSpPr>
          <p:cNvPr id="9" name="TextBox 8">
            <a:extLst>
              <a:ext uri="{FF2B5EF4-FFF2-40B4-BE49-F238E27FC236}">
                <a16:creationId xmlns:a16="http://schemas.microsoft.com/office/drawing/2014/main" id="{77D7AEDF-2D8D-FE7D-CD35-8EFC295F2C57}"/>
              </a:ext>
            </a:extLst>
          </p:cNvPr>
          <p:cNvSpPr txBox="1"/>
          <p:nvPr/>
        </p:nvSpPr>
        <p:spPr>
          <a:xfrm>
            <a:off x="8167286" y="5252776"/>
            <a:ext cx="4024714" cy="738664"/>
          </a:xfrm>
          <a:prstGeom prst="rect">
            <a:avLst/>
          </a:prstGeom>
          <a:noFill/>
        </p:spPr>
        <p:txBody>
          <a:bodyPr wrap="square" rtlCol="0">
            <a:spAutoFit/>
          </a:bodyPr>
          <a:lstStyle/>
          <a:p>
            <a:pPr algn="ctr"/>
            <a:r>
              <a:rPr lang="en-GB" sz="1400" b="1" dirty="0">
                <a:solidFill>
                  <a:srgbClr val="002060"/>
                </a:solidFill>
              </a:rPr>
              <a:t>Understand Variation</a:t>
            </a:r>
          </a:p>
          <a:p>
            <a:pPr algn="ctr"/>
            <a:r>
              <a:rPr lang="en-GB" sz="1400" dirty="0">
                <a:solidFill>
                  <a:srgbClr val="002060"/>
                </a:solidFill>
              </a:rPr>
              <a:t>Distinguish between common and special causes.</a:t>
            </a:r>
            <a:endParaRPr lang="en-US" sz="1400" dirty="0">
              <a:solidFill>
                <a:srgbClr val="002060"/>
              </a:solidFill>
            </a:endParaRPr>
          </a:p>
        </p:txBody>
      </p:sp>
      <p:sp>
        <p:nvSpPr>
          <p:cNvPr id="10" name="TextBox 9">
            <a:extLst>
              <a:ext uri="{FF2B5EF4-FFF2-40B4-BE49-F238E27FC236}">
                <a16:creationId xmlns:a16="http://schemas.microsoft.com/office/drawing/2014/main" id="{460FF535-EAA4-253C-3F8E-6A9ECFBD918E}"/>
              </a:ext>
            </a:extLst>
          </p:cNvPr>
          <p:cNvSpPr txBox="1"/>
          <p:nvPr/>
        </p:nvSpPr>
        <p:spPr>
          <a:xfrm>
            <a:off x="4449362" y="5358646"/>
            <a:ext cx="3593008" cy="532311"/>
          </a:xfrm>
          <a:prstGeom prst="rect">
            <a:avLst/>
          </a:prstGeom>
          <a:noFill/>
        </p:spPr>
        <p:txBody>
          <a:bodyPr wrap="square" rtlCol="0">
            <a:spAutoFit/>
          </a:bodyPr>
          <a:lstStyle/>
          <a:p>
            <a:pPr algn="ctr"/>
            <a:r>
              <a:rPr lang="en-GB" sz="1400" b="1" dirty="0">
                <a:solidFill>
                  <a:srgbClr val="002060"/>
                </a:solidFill>
              </a:rPr>
              <a:t>Investigate Signals</a:t>
            </a:r>
          </a:p>
          <a:p>
            <a:pPr algn="ctr"/>
            <a:r>
              <a:rPr lang="en-GB" sz="1400" dirty="0">
                <a:solidFill>
                  <a:srgbClr val="002060"/>
                </a:solidFill>
              </a:rPr>
              <a:t>Identify and understand process changes.</a:t>
            </a:r>
            <a:endParaRPr lang="en-US" sz="1400" dirty="0">
              <a:solidFill>
                <a:srgbClr val="002060"/>
              </a:solidFill>
            </a:endParaRPr>
          </a:p>
        </p:txBody>
      </p:sp>
      <p:sp>
        <p:nvSpPr>
          <p:cNvPr id="11" name="TextBox 10">
            <a:extLst>
              <a:ext uri="{FF2B5EF4-FFF2-40B4-BE49-F238E27FC236}">
                <a16:creationId xmlns:a16="http://schemas.microsoft.com/office/drawing/2014/main" id="{94595D66-3D6A-F90B-C249-EC6080D84FA2}"/>
              </a:ext>
            </a:extLst>
          </p:cNvPr>
          <p:cNvSpPr txBox="1"/>
          <p:nvPr/>
        </p:nvSpPr>
        <p:spPr>
          <a:xfrm>
            <a:off x="100952" y="5349501"/>
            <a:ext cx="4024714" cy="523220"/>
          </a:xfrm>
          <a:prstGeom prst="rect">
            <a:avLst/>
          </a:prstGeom>
          <a:noFill/>
        </p:spPr>
        <p:txBody>
          <a:bodyPr wrap="square" rtlCol="0">
            <a:spAutoFit/>
          </a:bodyPr>
          <a:lstStyle/>
          <a:p>
            <a:pPr algn="ctr"/>
            <a:r>
              <a:rPr lang="en-GB" sz="1400" b="1" dirty="0">
                <a:solidFill>
                  <a:srgbClr val="002060"/>
                </a:solidFill>
              </a:rPr>
              <a:t>Create Process Stability</a:t>
            </a:r>
          </a:p>
          <a:p>
            <a:pPr algn="ctr"/>
            <a:r>
              <a:rPr lang="en-GB" sz="1400" dirty="0">
                <a:solidFill>
                  <a:srgbClr val="002060"/>
                </a:solidFill>
              </a:rPr>
              <a:t>Achieve a predictable and controlled process.</a:t>
            </a:r>
            <a:endParaRPr lang="en-US" sz="1400" dirty="0">
              <a:solidFill>
                <a:srgbClr val="002060"/>
              </a:solidFill>
            </a:endParaRPr>
          </a:p>
        </p:txBody>
      </p:sp>
      <p:pic>
        <p:nvPicPr>
          <p:cNvPr id="16" name="Picture 15">
            <a:extLst>
              <a:ext uri="{FF2B5EF4-FFF2-40B4-BE49-F238E27FC236}">
                <a16:creationId xmlns:a16="http://schemas.microsoft.com/office/drawing/2014/main" id="{E42E44A1-CFF3-4687-0333-C639A079F052}"/>
              </a:ext>
            </a:extLst>
          </p:cNvPr>
          <p:cNvPicPr>
            <a:picLocks noChangeAspect="1"/>
          </p:cNvPicPr>
          <p:nvPr/>
        </p:nvPicPr>
        <p:blipFill>
          <a:blip r:embed="rId4">
            <a:duotone>
              <a:schemeClr val="accent5">
                <a:shade val="45000"/>
                <a:satMod val="135000"/>
              </a:schemeClr>
              <a:prstClr val="white"/>
            </a:duotone>
          </a:blip>
          <a:stretch>
            <a:fillRect/>
          </a:stretch>
        </p:blipFill>
        <p:spPr>
          <a:xfrm flipH="1">
            <a:off x="8826008" y="2293010"/>
            <a:ext cx="2988040" cy="2908724"/>
          </a:xfrm>
          <a:prstGeom prst="rect">
            <a:avLst/>
          </a:prstGeom>
          <a:ln>
            <a:solidFill>
              <a:schemeClr val="bg1"/>
            </a:solidFill>
          </a:ln>
        </p:spPr>
      </p:pic>
      <p:cxnSp>
        <p:nvCxnSpPr>
          <p:cNvPr id="18" name="Straight Arrow Connector 17">
            <a:extLst>
              <a:ext uri="{FF2B5EF4-FFF2-40B4-BE49-F238E27FC236}">
                <a16:creationId xmlns:a16="http://schemas.microsoft.com/office/drawing/2014/main" id="{798A1713-78C4-8C00-939B-8D066F653AF6}"/>
              </a:ext>
            </a:extLst>
          </p:cNvPr>
          <p:cNvCxnSpPr>
            <a:cxnSpLocks/>
          </p:cNvCxnSpPr>
          <p:nvPr/>
        </p:nvCxnSpPr>
        <p:spPr>
          <a:xfrm flipH="1">
            <a:off x="7919043" y="5592819"/>
            <a:ext cx="496486" cy="753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3CB0F98-BDFE-8BB3-23B3-BB240FD3BA48}"/>
              </a:ext>
            </a:extLst>
          </p:cNvPr>
          <p:cNvCxnSpPr>
            <a:cxnSpLocks/>
          </p:cNvCxnSpPr>
          <p:nvPr/>
        </p:nvCxnSpPr>
        <p:spPr>
          <a:xfrm flipH="1">
            <a:off x="3972987" y="5603575"/>
            <a:ext cx="496486" cy="753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DAFAAF5-2182-6098-2616-5B81C0BC1BA9}"/>
              </a:ext>
            </a:extLst>
          </p:cNvPr>
          <p:cNvSpPr txBox="1"/>
          <p:nvPr/>
        </p:nvSpPr>
        <p:spPr>
          <a:xfrm>
            <a:off x="318157" y="6171491"/>
            <a:ext cx="11487484" cy="307777"/>
          </a:xfrm>
          <a:prstGeom prst="rect">
            <a:avLst/>
          </a:prstGeom>
          <a:solidFill>
            <a:schemeClr val="accent4"/>
          </a:solidFill>
        </p:spPr>
        <p:txBody>
          <a:bodyPr wrap="square">
            <a:spAutoFit/>
          </a:bodyPr>
          <a:lstStyle/>
          <a:p>
            <a:r>
              <a:rPr lang="en-GB" sz="1400" dirty="0">
                <a:solidFill>
                  <a:schemeClr val="bg1"/>
                </a:solidFill>
              </a:rPr>
              <a:t>Statistical Process Control helps us understand variation, identify meaningful process changes, and create stable, predictable performance.</a:t>
            </a:r>
            <a:endParaRPr lang="en-US" sz="1400" dirty="0">
              <a:solidFill>
                <a:schemeClr val="bg1"/>
              </a:solidFill>
            </a:endParaRPr>
          </a:p>
        </p:txBody>
      </p:sp>
      <p:cxnSp>
        <p:nvCxnSpPr>
          <p:cNvPr id="24" name="Straight Arrow Connector 23">
            <a:extLst>
              <a:ext uri="{FF2B5EF4-FFF2-40B4-BE49-F238E27FC236}">
                <a16:creationId xmlns:a16="http://schemas.microsoft.com/office/drawing/2014/main" id="{E437A7B9-4F5E-4A68-3EAD-583E3A08DE3F}"/>
              </a:ext>
            </a:extLst>
          </p:cNvPr>
          <p:cNvCxnSpPr>
            <a:cxnSpLocks/>
          </p:cNvCxnSpPr>
          <p:nvPr/>
        </p:nvCxnSpPr>
        <p:spPr>
          <a:xfrm flipH="1">
            <a:off x="7613220" y="4081739"/>
            <a:ext cx="1126465" cy="1"/>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9CCA66FF-D979-8EA9-E8A0-929F488D3B16}"/>
              </a:ext>
            </a:extLst>
          </p:cNvPr>
          <p:cNvPicPr>
            <a:picLocks noChangeAspect="1"/>
          </p:cNvPicPr>
          <p:nvPr/>
        </p:nvPicPr>
        <p:blipFill>
          <a:blip r:embed="rId5">
            <a:duotone>
              <a:schemeClr val="accent3">
                <a:shade val="45000"/>
                <a:satMod val="135000"/>
              </a:schemeClr>
              <a:prstClr val="white"/>
            </a:duotone>
          </a:blip>
          <a:stretch>
            <a:fillRect/>
          </a:stretch>
        </p:blipFill>
        <p:spPr>
          <a:xfrm flipH="1">
            <a:off x="5370090" y="3135922"/>
            <a:ext cx="2099661" cy="2099661"/>
          </a:xfrm>
          <a:prstGeom prst="rect">
            <a:avLst/>
          </a:prstGeom>
        </p:spPr>
      </p:pic>
      <p:pic>
        <p:nvPicPr>
          <p:cNvPr id="26" name="Picture 25">
            <a:extLst>
              <a:ext uri="{FF2B5EF4-FFF2-40B4-BE49-F238E27FC236}">
                <a16:creationId xmlns:a16="http://schemas.microsoft.com/office/drawing/2014/main" id="{57216C7F-65AF-145B-210B-278D9FC60735}"/>
              </a:ext>
            </a:extLst>
          </p:cNvPr>
          <p:cNvPicPr>
            <a:picLocks noChangeAspect="1"/>
          </p:cNvPicPr>
          <p:nvPr/>
        </p:nvPicPr>
        <p:blipFill>
          <a:blip r:embed="rId6">
            <a:duotone>
              <a:schemeClr val="accent4">
                <a:shade val="45000"/>
                <a:satMod val="135000"/>
              </a:schemeClr>
              <a:prstClr val="white"/>
            </a:duotone>
          </a:blip>
          <a:stretch>
            <a:fillRect/>
          </a:stretch>
        </p:blipFill>
        <p:spPr>
          <a:xfrm>
            <a:off x="1593097" y="3013184"/>
            <a:ext cx="2088552" cy="2088552"/>
          </a:xfrm>
          <a:prstGeom prst="rect">
            <a:avLst/>
          </a:prstGeom>
        </p:spPr>
      </p:pic>
    </p:spTree>
    <p:extLst>
      <p:ext uri="{BB962C8B-B14F-4D97-AF65-F5344CB8AC3E}">
        <p14:creationId xmlns:p14="http://schemas.microsoft.com/office/powerpoint/2010/main" val="2207365351"/>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A6DB2150-E563-8443-95B1-A182B0692A74}"/>
              </a:ext>
            </a:extLst>
          </p:cNvPr>
          <p:cNvSpPr>
            <a:spLocks noGrp="1"/>
          </p:cNvSpPr>
          <p:nvPr>
            <p:ph type="body" sz="quarter" idx="11"/>
          </p:nvPr>
        </p:nvSpPr>
        <p:spPr/>
        <p:txBody>
          <a:bodyPr vert="horz" lIns="0" tIns="0" rIns="0" bIns="0" rtlCol="0" anchor="t">
            <a:normAutofit/>
          </a:bodyPr>
          <a:lstStyle/>
          <a:p>
            <a:r>
              <a:rPr lang="en-US" noProof="0" dirty="0">
                <a:latin typeface="+mj-lt"/>
                <a:cs typeface="Arial"/>
              </a:rPr>
              <a:t>CONTROL LSS27</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dirty="0">
                <a:latin typeface="+mj-lt"/>
              </a:rPr>
              <a:t>04</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dirty="0">
              <a:solidFill>
                <a:srgbClr val="FFFFFF"/>
              </a:solidFill>
              <a:latin typeface="+mj-lt"/>
              <a:cs typeface="Arial" panose="020B0604020202020204" pitchFamily="34" charset="0"/>
            </a:endParaRPr>
          </a:p>
        </p:txBody>
      </p:sp>
      <p:sp>
        <p:nvSpPr>
          <p:cNvPr id="2" name="TextBox 1">
            <a:extLst>
              <a:ext uri="{FF2B5EF4-FFF2-40B4-BE49-F238E27FC236}">
                <a16:creationId xmlns:a16="http://schemas.microsoft.com/office/drawing/2014/main" id="{AA1AD738-9A03-18E6-6F0A-B66D17AE1774}"/>
              </a:ext>
            </a:extLst>
          </p:cNvPr>
          <p:cNvSpPr txBox="1"/>
          <p:nvPr/>
        </p:nvSpPr>
        <p:spPr>
          <a:xfrm>
            <a:off x="1444680" y="3459033"/>
            <a:ext cx="504107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noProof="0" dirty="0">
                <a:solidFill>
                  <a:schemeClr val="accent5"/>
                </a:solidFill>
                <a:latin typeface="+mj-lt"/>
                <a:cs typeface="Arial" panose="020B0604020202020204" pitchFamily="34" charset="0"/>
              </a:rPr>
              <a:t>Types of Control Charts</a:t>
            </a:r>
          </a:p>
        </p:txBody>
      </p:sp>
    </p:spTree>
    <p:extLst>
      <p:ext uri="{BB962C8B-B14F-4D97-AF65-F5344CB8AC3E}">
        <p14:creationId xmlns:p14="http://schemas.microsoft.com/office/powerpoint/2010/main" val="779716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7" y="359924"/>
            <a:ext cx="8326523" cy="492443"/>
          </a:xfrm>
        </p:spPr>
        <p:txBody>
          <a:bodyPr>
            <a:noAutofit/>
          </a:bodyPr>
          <a:lstStyle/>
          <a:p>
            <a:r>
              <a:rPr lang="en-US" sz="3200" dirty="0">
                <a:latin typeface="+mj-lt"/>
              </a:rPr>
              <a:t>Control Chart Selection</a:t>
            </a:r>
          </a:p>
        </p:txBody>
      </p:sp>
      <p:sp>
        <p:nvSpPr>
          <p:cNvPr id="4" name="TextBox 3">
            <a:extLst>
              <a:ext uri="{FF2B5EF4-FFF2-40B4-BE49-F238E27FC236}">
                <a16:creationId xmlns:a16="http://schemas.microsoft.com/office/drawing/2014/main" id="{F1DC2BDB-1AFD-463D-A21D-A356B7AB22F0}"/>
              </a:ext>
            </a:extLst>
          </p:cNvPr>
          <p:cNvSpPr txBox="1"/>
          <p:nvPr/>
        </p:nvSpPr>
        <p:spPr>
          <a:xfrm>
            <a:off x="364802" y="1529427"/>
            <a:ext cx="11462396" cy="584775"/>
          </a:xfrm>
          <a:prstGeom prst="rect">
            <a:avLst/>
          </a:prstGeom>
          <a:noFill/>
        </p:spPr>
        <p:txBody>
          <a:bodyPr wrap="square" lIns="91440" tIns="45720" rIns="91440" bIns="45720" rtlCol="0" anchor="t">
            <a:spAutoFit/>
          </a:bodyPr>
          <a:lstStyle/>
          <a:p>
            <a:r>
              <a:rPr lang="en-GB" sz="1600" noProof="0" dirty="0">
                <a:solidFill>
                  <a:schemeClr val="accent5"/>
                </a:solidFill>
                <a:cs typeface="Arial" panose="020B0604020202020204" pitchFamily="34" charset="0"/>
              </a:rPr>
              <a:t>Control charts are the most common tools for SPC and tracking variation. The type of chart you choose depends on the data being collected (e.g., discrete or continuous data).</a:t>
            </a:r>
            <a:endParaRPr lang="en-US" sz="1600" noProof="0" dirty="0">
              <a:solidFill>
                <a:schemeClr val="accent5"/>
              </a:solidFill>
              <a:cs typeface="Arial" panose="020B0604020202020204" pitchFamily="34" charset="0"/>
            </a:endParaRPr>
          </a:p>
        </p:txBody>
      </p:sp>
      <p:graphicFrame>
        <p:nvGraphicFramePr>
          <p:cNvPr id="11" name="Table 10">
            <a:extLst>
              <a:ext uri="{FF2B5EF4-FFF2-40B4-BE49-F238E27FC236}">
                <a16:creationId xmlns:a16="http://schemas.microsoft.com/office/drawing/2014/main" id="{C879F274-9CAD-CCE3-01F3-241A70EDD468}"/>
              </a:ext>
            </a:extLst>
          </p:cNvPr>
          <p:cNvGraphicFramePr>
            <a:graphicFrameLocks noGrp="1"/>
          </p:cNvGraphicFramePr>
          <p:nvPr>
            <p:extLst>
              <p:ext uri="{D42A27DB-BD31-4B8C-83A1-F6EECF244321}">
                <p14:modId xmlns:p14="http://schemas.microsoft.com/office/powerpoint/2010/main" val="2694484898"/>
              </p:ext>
            </p:extLst>
          </p:nvPr>
        </p:nvGraphicFramePr>
        <p:xfrm>
          <a:off x="487867" y="2384119"/>
          <a:ext cx="11005632" cy="2089761"/>
        </p:xfrm>
        <a:graphic>
          <a:graphicData uri="http://schemas.openxmlformats.org/drawingml/2006/table">
            <a:tbl>
              <a:tblPr/>
              <a:tblGrid>
                <a:gridCol w="2751408">
                  <a:extLst>
                    <a:ext uri="{9D8B030D-6E8A-4147-A177-3AD203B41FA5}">
                      <a16:colId xmlns:a16="http://schemas.microsoft.com/office/drawing/2014/main" val="1233759102"/>
                    </a:ext>
                  </a:extLst>
                </a:gridCol>
                <a:gridCol w="2751408">
                  <a:extLst>
                    <a:ext uri="{9D8B030D-6E8A-4147-A177-3AD203B41FA5}">
                      <a16:colId xmlns:a16="http://schemas.microsoft.com/office/drawing/2014/main" val="310942121"/>
                    </a:ext>
                  </a:extLst>
                </a:gridCol>
                <a:gridCol w="2751408">
                  <a:extLst>
                    <a:ext uri="{9D8B030D-6E8A-4147-A177-3AD203B41FA5}">
                      <a16:colId xmlns:a16="http://schemas.microsoft.com/office/drawing/2014/main" val="850297552"/>
                    </a:ext>
                  </a:extLst>
                </a:gridCol>
                <a:gridCol w="2751408">
                  <a:extLst>
                    <a:ext uri="{9D8B030D-6E8A-4147-A177-3AD203B41FA5}">
                      <a16:colId xmlns:a16="http://schemas.microsoft.com/office/drawing/2014/main" val="3225371904"/>
                    </a:ext>
                  </a:extLst>
                </a:gridCol>
              </a:tblGrid>
              <a:tr h="334187">
                <a:tc>
                  <a:txBody>
                    <a:bodyPr/>
                    <a:lstStyle/>
                    <a:p>
                      <a:pPr algn="ctr">
                        <a:buNone/>
                      </a:pPr>
                      <a:r>
                        <a:rPr lang="en-US" sz="1600" b="1" dirty="0">
                          <a:solidFill>
                            <a:schemeClr val="bg1"/>
                          </a:solidFill>
                        </a:rPr>
                        <a:t>Chart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buNone/>
                      </a:pPr>
                      <a:r>
                        <a:rPr lang="en-GB" sz="1600" b="1" dirty="0">
                          <a:solidFill>
                            <a:schemeClr val="bg1"/>
                          </a:solidFill>
                        </a:rPr>
                        <a:t>Type of Data</a:t>
                      </a:r>
                      <a:endParaRPr lang="en-US" sz="16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buNone/>
                      </a:pPr>
                      <a:r>
                        <a:rPr lang="en-US" sz="1600" b="1" dirty="0">
                          <a:solidFill>
                            <a:schemeClr val="bg1"/>
                          </a:solidFill>
                        </a:rPr>
                        <a:t>When to Use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buNone/>
                      </a:pPr>
                      <a:r>
                        <a:rPr lang="en-US" sz="1600" b="1" dirty="0">
                          <a:solidFill>
                            <a:schemeClr val="bg1"/>
                          </a:solidFill>
                        </a:rPr>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162616860"/>
                  </a:ext>
                </a:extLst>
              </a:tr>
              <a:tr h="584827">
                <a:tc>
                  <a:txBody>
                    <a:bodyPr/>
                    <a:lstStyle/>
                    <a:p>
                      <a:pPr>
                        <a:buNone/>
                      </a:pPr>
                      <a:r>
                        <a:rPr lang="en-US" sz="1400" b="1" dirty="0">
                          <a:solidFill>
                            <a:srgbClr val="002060"/>
                          </a:solidFill>
                        </a:rPr>
                        <a:t>I-MR Chart</a:t>
                      </a:r>
                      <a:endParaRPr lang="en-US" sz="14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solidFill>
                            <a:srgbClr val="002060"/>
                          </a:solidFill>
                        </a:rPr>
                        <a:t>Continuous</a:t>
                      </a:r>
                      <a:endParaRPr lang="en-US" sz="14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solidFill>
                            <a:srgbClr val="002060"/>
                          </a:solidFill>
                        </a:rPr>
                        <a:t>Individual measurements collected over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solidFill>
                            <a:srgbClr val="002060"/>
                          </a:solidFill>
                        </a:rPr>
                        <a:t>Average call handling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7078523"/>
                  </a:ext>
                </a:extLst>
              </a:tr>
              <a:tr h="584827">
                <a:tc>
                  <a:txBody>
                    <a:bodyPr/>
                    <a:lstStyle/>
                    <a:p>
                      <a:pPr>
                        <a:buNone/>
                      </a:pPr>
                      <a:r>
                        <a:rPr lang="en-US" sz="1400" b="1" noProof="0" dirty="0" err="1">
                          <a:solidFill>
                            <a:srgbClr val="002060"/>
                          </a:solidFill>
                        </a:rPr>
                        <a:t>Xbar</a:t>
                      </a:r>
                      <a:r>
                        <a:rPr lang="en-US" sz="1400" b="1" dirty="0">
                          <a:solidFill>
                            <a:srgbClr val="002060"/>
                          </a:solidFill>
                        </a:rPr>
                        <a:t>-R Chart</a:t>
                      </a:r>
                      <a:endParaRPr lang="en-US" sz="14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solidFill>
                            <a:srgbClr val="002060"/>
                          </a:solidFill>
                        </a:rPr>
                        <a:t>Continuous</a:t>
                      </a:r>
                      <a:endParaRPr lang="en-US" sz="14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solidFill>
                            <a:srgbClr val="002060"/>
                          </a:solidFill>
                        </a:rPr>
                        <a:t>Measurements collected in small groups.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solidFill>
                            <a:srgbClr val="002060"/>
                          </a:solidFill>
                        </a:rPr>
                        <a:t>Assessment completion time across teams.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874143"/>
                  </a:ext>
                </a:extLst>
              </a:tr>
              <a:tr h="584827">
                <a:tc>
                  <a:txBody>
                    <a:bodyPr/>
                    <a:lstStyle/>
                    <a:p>
                      <a:pPr>
                        <a:buNone/>
                      </a:pPr>
                      <a:r>
                        <a:rPr lang="en-US" sz="1400" b="1" dirty="0">
                          <a:solidFill>
                            <a:srgbClr val="002060"/>
                          </a:solidFill>
                        </a:rPr>
                        <a:t>c-Chart</a:t>
                      </a:r>
                      <a:endParaRPr lang="en-US" sz="14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solidFill>
                            <a:srgbClr val="002060"/>
                          </a:solidFill>
                        </a:rPr>
                        <a:t>Discrete</a:t>
                      </a:r>
                      <a:endParaRPr lang="en-US" sz="14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solidFill>
                            <a:srgbClr val="002060"/>
                          </a:solidFill>
                        </a:rPr>
                        <a:t>Count of events or defects.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solidFill>
                            <a:srgbClr val="002060"/>
                          </a:solidFill>
                        </a:rPr>
                        <a:t>Number of customer complaints received.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7758521"/>
                  </a:ext>
                </a:extLst>
              </a:tr>
            </a:tbl>
          </a:graphicData>
        </a:graphic>
      </p:graphicFrame>
      <p:sp>
        <p:nvSpPr>
          <p:cNvPr id="12" name="TextBox 11">
            <a:extLst>
              <a:ext uri="{FF2B5EF4-FFF2-40B4-BE49-F238E27FC236}">
                <a16:creationId xmlns:a16="http://schemas.microsoft.com/office/drawing/2014/main" id="{2D49B614-4759-1016-2371-C0953F1D31A4}"/>
              </a:ext>
            </a:extLst>
          </p:cNvPr>
          <p:cNvSpPr txBox="1"/>
          <p:nvPr/>
        </p:nvSpPr>
        <p:spPr>
          <a:xfrm>
            <a:off x="2585330" y="4712529"/>
            <a:ext cx="3405353" cy="1015663"/>
          </a:xfrm>
          <a:prstGeom prst="rect">
            <a:avLst/>
          </a:prstGeom>
          <a:noFill/>
          <a:ln w="38100">
            <a:solidFill>
              <a:schemeClr val="accent5"/>
            </a:solidFill>
          </a:ln>
        </p:spPr>
        <p:txBody>
          <a:bodyPr wrap="square" rtlCol="0">
            <a:spAutoFit/>
          </a:bodyPr>
          <a:lstStyle/>
          <a:p>
            <a:pPr algn="ctr"/>
            <a:r>
              <a:rPr lang="en-GB" dirty="0"/>
              <a:t>🟦</a:t>
            </a:r>
            <a:r>
              <a:rPr lang="en-GB" sz="1600" dirty="0">
                <a:solidFill>
                  <a:srgbClr val="002060"/>
                </a:solidFill>
              </a:rPr>
              <a:t> </a:t>
            </a:r>
            <a:r>
              <a:rPr lang="en-GB" sz="1400" dirty="0">
                <a:solidFill>
                  <a:srgbClr val="002060"/>
                </a:solidFill>
              </a:rPr>
              <a:t>Continuous Data </a:t>
            </a:r>
          </a:p>
          <a:p>
            <a:pPr marL="285750" indent="-285750">
              <a:buFont typeface="Arial" panose="020B0604020202020204" pitchFamily="34" charset="0"/>
              <a:buChar char="•"/>
            </a:pPr>
            <a:r>
              <a:rPr lang="en-GB" sz="1400" dirty="0">
                <a:solidFill>
                  <a:srgbClr val="002060"/>
                </a:solidFill>
              </a:rPr>
              <a:t>Measured on a scale</a:t>
            </a:r>
          </a:p>
          <a:p>
            <a:pPr marL="285750" indent="-285750">
              <a:buFont typeface="Arial" panose="020B0604020202020204" pitchFamily="34" charset="0"/>
              <a:buChar char="•"/>
            </a:pPr>
            <a:r>
              <a:rPr lang="en-GB" sz="1400" dirty="0">
                <a:solidFill>
                  <a:srgbClr val="002060"/>
                </a:solidFill>
              </a:rPr>
              <a:t>Examples: minutes, hours, dollars, days</a:t>
            </a:r>
            <a:endParaRPr lang="en-US" sz="1400" dirty="0">
              <a:solidFill>
                <a:srgbClr val="002060"/>
              </a:solidFill>
            </a:endParaRPr>
          </a:p>
        </p:txBody>
      </p:sp>
      <p:sp>
        <p:nvSpPr>
          <p:cNvPr id="13" name="TextBox 12">
            <a:extLst>
              <a:ext uri="{FF2B5EF4-FFF2-40B4-BE49-F238E27FC236}">
                <a16:creationId xmlns:a16="http://schemas.microsoft.com/office/drawing/2014/main" id="{22DBE86C-DC26-D6C4-C875-066E298B659F}"/>
              </a:ext>
            </a:extLst>
          </p:cNvPr>
          <p:cNvSpPr txBox="1"/>
          <p:nvPr/>
        </p:nvSpPr>
        <p:spPr>
          <a:xfrm>
            <a:off x="6345112" y="4712529"/>
            <a:ext cx="3405352" cy="984885"/>
          </a:xfrm>
          <a:prstGeom prst="rect">
            <a:avLst/>
          </a:prstGeom>
          <a:noFill/>
          <a:ln w="38100">
            <a:solidFill>
              <a:schemeClr val="accent3"/>
            </a:solidFill>
          </a:ln>
        </p:spPr>
        <p:txBody>
          <a:bodyPr wrap="square" rtlCol="0">
            <a:spAutoFit/>
          </a:bodyPr>
          <a:lstStyle/>
          <a:p>
            <a:pPr algn="ctr"/>
            <a:r>
              <a:rPr lang="en-GB" sz="1600" dirty="0">
                <a:solidFill>
                  <a:srgbClr val="002060"/>
                </a:solidFill>
              </a:rPr>
              <a:t>🟩 </a:t>
            </a:r>
            <a:r>
              <a:rPr lang="en-GB" sz="1400" dirty="0">
                <a:solidFill>
                  <a:srgbClr val="002060"/>
                </a:solidFill>
              </a:rPr>
              <a:t>Discrete (Attribute) Data</a:t>
            </a:r>
          </a:p>
          <a:p>
            <a:pPr marL="285750" indent="-285750">
              <a:buFont typeface="Arial" panose="020B0604020202020204" pitchFamily="34" charset="0"/>
              <a:buChar char="•"/>
            </a:pPr>
            <a:r>
              <a:rPr lang="en-GB" sz="1400" dirty="0">
                <a:solidFill>
                  <a:srgbClr val="002060"/>
                </a:solidFill>
              </a:rPr>
              <a:t>Counted as whole numbers</a:t>
            </a:r>
          </a:p>
          <a:p>
            <a:pPr marL="285750" indent="-285750">
              <a:buFont typeface="Arial" panose="020B0604020202020204" pitchFamily="34" charset="0"/>
              <a:buChar char="•"/>
            </a:pPr>
            <a:r>
              <a:rPr lang="en-GB" sz="1400" dirty="0">
                <a:solidFill>
                  <a:srgbClr val="002060"/>
                </a:solidFill>
              </a:rPr>
              <a:t>Examples: complaints, errors, defects, missed appointments</a:t>
            </a:r>
            <a:endParaRPr lang="en-US" sz="1400" dirty="0">
              <a:solidFill>
                <a:srgbClr val="002060"/>
              </a:solidFill>
            </a:endParaRPr>
          </a:p>
        </p:txBody>
      </p:sp>
    </p:spTree>
    <p:extLst>
      <p:ext uri="{BB962C8B-B14F-4D97-AF65-F5344CB8AC3E}">
        <p14:creationId xmlns:p14="http://schemas.microsoft.com/office/powerpoint/2010/main" val="34790079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Placeholder 1">
            <a:extLst>
              <a:ext uri="{FF2B5EF4-FFF2-40B4-BE49-F238E27FC236}">
                <a16:creationId xmlns:a16="http://schemas.microsoft.com/office/drawing/2014/main" id="{6666D65B-1E9B-AE33-D282-812D1984762F}"/>
              </a:ext>
            </a:extLst>
          </p:cNvPr>
          <p:cNvSpPr>
            <a:spLocks noGrp="1"/>
          </p:cNvSpPr>
          <p:nvPr>
            <p:ph type="body" sz="quarter" idx="10"/>
          </p:nvPr>
        </p:nvSpPr>
        <p:spPr>
          <a:xfrm>
            <a:off x="533400" y="413431"/>
            <a:ext cx="5562600" cy="923330"/>
          </a:xfrm>
        </p:spPr>
        <p:txBody>
          <a:bodyPr>
            <a:normAutofit/>
          </a:bodyPr>
          <a:lstStyle/>
          <a:p>
            <a:r>
              <a:rPr lang="en-GB" sz="3200" dirty="0">
                <a:latin typeface="+mj-lt"/>
              </a:rPr>
              <a:t>What is an I-MR Chart?</a:t>
            </a:r>
            <a:endParaRPr lang="en-US" sz="3200" dirty="0">
              <a:latin typeface="+mj-lt"/>
            </a:endParaRPr>
          </a:p>
        </p:txBody>
      </p:sp>
      <p:sp>
        <p:nvSpPr>
          <p:cNvPr id="6" name="TextBox 5">
            <a:extLst>
              <a:ext uri="{FF2B5EF4-FFF2-40B4-BE49-F238E27FC236}">
                <a16:creationId xmlns:a16="http://schemas.microsoft.com/office/drawing/2014/main" id="{C72D2B7D-098C-FAFC-9289-63EE377A2A71}"/>
              </a:ext>
            </a:extLst>
          </p:cNvPr>
          <p:cNvSpPr txBox="1"/>
          <p:nvPr/>
        </p:nvSpPr>
        <p:spPr>
          <a:xfrm>
            <a:off x="351658" y="1741174"/>
            <a:ext cx="5079124" cy="2631490"/>
          </a:xfrm>
          <a:prstGeom prst="rect">
            <a:avLst/>
          </a:prstGeom>
          <a:noFill/>
        </p:spPr>
        <p:txBody>
          <a:bodyPr wrap="square">
            <a:spAutoFit/>
          </a:bodyPr>
          <a:lstStyle/>
          <a:p>
            <a:r>
              <a:rPr lang="en-GB" sz="1600" dirty="0">
                <a:solidFill>
                  <a:srgbClr val="002060"/>
                </a:solidFill>
              </a:rPr>
              <a:t>An I-MR Chart is used to monitor process performance when data is collected one observation at a time. </a:t>
            </a:r>
          </a:p>
          <a:p>
            <a:endParaRPr lang="en-GB" sz="1600" dirty="0">
              <a:solidFill>
                <a:srgbClr val="002060"/>
              </a:solidFill>
            </a:endParaRPr>
          </a:p>
          <a:p>
            <a:r>
              <a:rPr lang="en-GB" sz="1600" dirty="0">
                <a:solidFill>
                  <a:srgbClr val="002060"/>
                </a:solidFill>
              </a:rPr>
              <a:t>It consists of two charts:</a:t>
            </a:r>
          </a:p>
          <a:p>
            <a:endParaRPr lang="en-GB" sz="500" dirty="0">
              <a:solidFill>
                <a:srgbClr val="002060"/>
              </a:solidFill>
            </a:endParaRPr>
          </a:p>
          <a:p>
            <a:pPr marL="285750" indent="-285750">
              <a:buFont typeface="Arial" panose="020B0604020202020204" pitchFamily="34" charset="0"/>
              <a:buChar char="•"/>
            </a:pPr>
            <a:r>
              <a:rPr lang="en-GB" sz="1600" b="1" dirty="0">
                <a:solidFill>
                  <a:srgbClr val="002060"/>
                </a:solidFill>
              </a:rPr>
              <a:t>Individuals (I) Chart </a:t>
            </a:r>
            <a:r>
              <a:rPr lang="en-GB" sz="1600" dirty="0">
                <a:solidFill>
                  <a:srgbClr val="002060"/>
                </a:solidFill>
              </a:rPr>
              <a:t>- Shows the actual values collected over time.</a:t>
            </a:r>
          </a:p>
          <a:p>
            <a:pPr marL="285750" indent="-285750">
              <a:buFont typeface="Arial" panose="020B0604020202020204" pitchFamily="34" charset="0"/>
              <a:buChar char="•"/>
            </a:pPr>
            <a:r>
              <a:rPr lang="en-GB" sz="1600" b="1" dirty="0">
                <a:solidFill>
                  <a:srgbClr val="002060"/>
                </a:solidFill>
              </a:rPr>
              <a:t>Moving Range (MR) Chart</a:t>
            </a:r>
            <a:r>
              <a:rPr lang="en-GB" sz="1600" dirty="0">
                <a:solidFill>
                  <a:srgbClr val="002060"/>
                </a:solidFill>
              </a:rPr>
              <a:t> - Shows how much the process changes between consecutive observations.</a:t>
            </a:r>
            <a:endParaRPr lang="en-US" sz="1600" dirty="0">
              <a:solidFill>
                <a:srgbClr val="002060"/>
              </a:solidFill>
            </a:endParaRPr>
          </a:p>
        </p:txBody>
      </p:sp>
      <p:sp>
        <p:nvSpPr>
          <p:cNvPr id="8" name="TextBox 7">
            <a:extLst>
              <a:ext uri="{FF2B5EF4-FFF2-40B4-BE49-F238E27FC236}">
                <a16:creationId xmlns:a16="http://schemas.microsoft.com/office/drawing/2014/main" id="{4976B183-63D5-E8FD-CCB8-E1E2B71E84CF}"/>
              </a:ext>
            </a:extLst>
          </p:cNvPr>
          <p:cNvSpPr txBox="1"/>
          <p:nvPr/>
        </p:nvSpPr>
        <p:spPr>
          <a:xfrm>
            <a:off x="351658" y="4600939"/>
            <a:ext cx="4729480" cy="1646605"/>
          </a:xfrm>
          <a:prstGeom prst="rect">
            <a:avLst/>
          </a:prstGeom>
          <a:noFill/>
        </p:spPr>
        <p:txBody>
          <a:bodyPr wrap="square">
            <a:spAutoFit/>
          </a:bodyPr>
          <a:lstStyle/>
          <a:p>
            <a:r>
              <a:rPr lang="en-GB" sz="1600" b="1" dirty="0">
                <a:solidFill>
                  <a:srgbClr val="002060"/>
                </a:solidFill>
              </a:rPr>
              <a:t>Example Usage:</a:t>
            </a:r>
          </a:p>
          <a:p>
            <a:endParaRPr lang="en-GB" sz="500" b="1" dirty="0">
              <a:solidFill>
                <a:srgbClr val="002060"/>
              </a:solidFill>
            </a:endParaRPr>
          </a:p>
          <a:p>
            <a:pPr marL="285750" indent="-285750">
              <a:buFont typeface="Arial" panose="020B0604020202020204" pitchFamily="34" charset="0"/>
              <a:buChar char="•"/>
            </a:pPr>
            <a:r>
              <a:rPr lang="en-GB" sz="1600" dirty="0">
                <a:solidFill>
                  <a:srgbClr val="002060"/>
                </a:solidFill>
              </a:rPr>
              <a:t>Average assessment completion time</a:t>
            </a:r>
          </a:p>
          <a:p>
            <a:pPr marL="285750" indent="-285750">
              <a:buFont typeface="Arial" panose="020B0604020202020204" pitchFamily="34" charset="0"/>
              <a:buChar char="•"/>
            </a:pPr>
            <a:r>
              <a:rPr lang="en-GB" sz="1600" dirty="0">
                <a:solidFill>
                  <a:srgbClr val="002060"/>
                </a:solidFill>
              </a:rPr>
              <a:t>Average call handling time</a:t>
            </a:r>
          </a:p>
          <a:p>
            <a:pPr marL="285750" indent="-285750">
              <a:buFont typeface="Arial" panose="020B0604020202020204" pitchFamily="34" charset="0"/>
              <a:buChar char="•"/>
            </a:pPr>
            <a:r>
              <a:rPr lang="en-GB" sz="1600" dirty="0">
                <a:solidFill>
                  <a:srgbClr val="002060"/>
                </a:solidFill>
              </a:rPr>
              <a:t>Invoice processing time</a:t>
            </a:r>
          </a:p>
          <a:p>
            <a:pPr marL="285750" indent="-285750">
              <a:buFont typeface="Arial" panose="020B0604020202020204" pitchFamily="34" charset="0"/>
              <a:buChar char="•"/>
            </a:pPr>
            <a:r>
              <a:rPr lang="en-GB" sz="1600" dirty="0">
                <a:solidFill>
                  <a:srgbClr val="002060"/>
                </a:solidFill>
              </a:rPr>
              <a:t>Time to resolve an IT ticket</a:t>
            </a:r>
          </a:p>
          <a:p>
            <a:endParaRPr lang="en-GB" sz="1600" b="1" dirty="0">
              <a:solidFill>
                <a:srgbClr val="002060"/>
              </a:solidFill>
            </a:endParaRPr>
          </a:p>
        </p:txBody>
      </p:sp>
      <p:pic>
        <p:nvPicPr>
          <p:cNvPr id="12" name="Picture 11">
            <a:extLst>
              <a:ext uri="{FF2B5EF4-FFF2-40B4-BE49-F238E27FC236}">
                <a16:creationId xmlns:a16="http://schemas.microsoft.com/office/drawing/2014/main" id="{1792F645-FCBE-9A9E-A29F-1F9DF280A274}"/>
              </a:ext>
            </a:extLst>
          </p:cNvPr>
          <p:cNvPicPr>
            <a:picLocks noChangeAspect="1"/>
          </p:cNvPicPr>
          <p:nvPr/>
        </p:nvPicPr>
        <p:blipFill>
          <a:blip r:embed="rId3"/>
          <a:srcRect l="2389" t="1720" b="3433"/>
          <a:stretch>
            <a:fillRect/>
          </a:stretch>
        </p:blipFill>
        <p:spPr>
          <a:xfrm>
            <a:off x="5895975" y="1809750"/>
            <a:ext cx="5769545" cy="3781425"/>
          </a:xfrm>
          <a:prstGeom prst="rect">
            <a:avLst/>
          </a:prstGeom>
        </p:spPr>
      </p:pic>
    </p:spTree>
    <p:extLst>
      <p:ext uri="{BB962C8B-B14F-4D97-AF65-F5344CB8AC3E}">
        <p14:creationId xmlns:p14="http://schemas.microsoft.com/office/powerpoint/2010/main" val="2136029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A655E-2008-0FC9-9FFB-96D10DDBC5A2}"/>
            </a:ext>
          </a:extLst>
        </p:cNvPr>
        <p:cNvGrpSpPr/>
        <p:nvPr/>
      </p:nvGrpSpPr>
      <p:grpSpPr>
        <a:xfrm>
          <a:off x="0" y="0"/>
          <a:ext cx="1" cy="1"/>
          <a:chOff x="0" y="0"/>
          <a:chExt cx="1" cy="1"/>
        </a:xfrm>
      </p:grpSpPr>
      <p:sp>
        <p:nvSpPr>
          <p:cNvPr id="2" name="Text Placeholder 1">
            <a:extLst>
              <a:ext uri="{FF2B5EF4-FFF2-40B4-BE49-F238E27FC236}">
                <a16:creationId xmlns:a16="http://schemas.microsoft.com/office/drawing/2014/main" id="{CE3384A0-32EC-56D7-9948-E257924B97E7}"/>
              </a:ext>
            </a:extLst>
          </p:cNvPr>
          <p:cNvSpPr>
            <a:spLocks noGrp="1"/>
          </p:cNvSpPr>
          <p:nvPr>
            <p:ph type="body" sz="quarter" idx="10"/>
          </p:nvPr>
        </p:nvSpPr>
        <p:spPr>
          <a:xfrm>
            <a:off x="191675" y="348033"/>
            <a:ext cx="9420140" cy="923330"/>
          </a:xfrm>
        </p:spPr>
        <p:txBody>
          <a:bodyPr vert="horz" lIns="0" tIns="0" rIns="0" bIns="0" rtlCol="0">
            <a:noAutofit/>
          </a:bodyPr>
          <a:lstStyle/>
          <a:p>
            <a:r>
              <a:rPr lang="en-GB" sz="3200" dirty="0">
                <a:latin typeface="+mj-lt"/>
              </a:rPr>
              <a:t>Example – IT Ticket Resolution Times</a:t>
            </a:r>
            <a:endParaRPr lang="en-US" sz="3200" dirty="0">
              <a:latin typeface="+mj-lt"/>
            </a:endParaRPr>
          </a:p>
        </p:txBody>
      </p:sp>
      <p:graphicFrame>
        <p:nvGraphicFramePr>
          <p:cNvPr id="4" name="Chart 3">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1956506966"/>
              </p:ext>
            </p:extLst>
          </p:nvPr>
        </p:nvGraphicFramePr>
        <p:xfrm>
          <a:off x="4895850" y="1516055"/>
          <a:ext cx="6070875" cy="210344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800527AF-31D6-81FA-990D-EC7F4BA37C0A}"/>
              </a:ext>
            </a:extLst>
          </p:cNvPr>
          <p:cNvSpPr/>
          <p:nvPr/>
        </p:nvSpPr>
        <p:spPr>
          <a:xfrm>
            <a:off x="10734675" y="1933574"/>
            <a:ext cx="1066800" cy="2762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UCL = 4.32</a:t>
            </a:r>
            <a:endParaRPr lang="en-US" sz="1200" dirty="0"/>
          </a:p>
        </p:txBody>
      </p:sp>
      <p:sp>
        <p:nvSpPr>
          <p:cNvPr id="6" name="Rectangle 5">
            <a:extLst>
              <a:ext uri="{FF2B5EF4-FFF2-40B4-BE49-F238E27FC236}">
                <a16:creationId xmlns:a16="http://schemas.microsoft.com/office/drawing/2014/main" id="{20D7D962-6583-A586-E6B2-D1BF232DE1A1}"/>
              </a:ext>
            </a:extLst>
          </p:cNvPr>
          <p:cNvSpPr/>
          <p:nvPr/>
        </p:nvSpPr>
        <p:spPr>
          <a:xfrm>
            <a:off x="10734675" y="2776537"/>
            <a:ext cx="1066800" cy="2762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LCL = 1.52</a:t>
            </a:r>
            <a:endParaRPr lang="en-US" sz="1200" dirty="0"/>
          </a:p>
        </p:txBody>
      </p:sp>
      <p:sp>
        <p:nvSpPr>
          <p:cNvPr id="7" name="Rectangle 6">
            <a:extLst>
              <a:ext uri="{FF2B5EF4-FFF2-40B4-BE49-F238E27FC236}">
                <a16:creationId xmlns:a16="http://schemas.microsoft.com/office/drawing/2014/main" id="{E7388716-67C1-80CA-E566-88971DA73722}"/>
              </a:ext>
            </a:extLst>
          </p:cNvPr>
          <p:cNvSpPr/>
          <p:nvPr/>
        </p:nvSpPr>
        <p:spPr>
          <a:xfrm>
            <a:off x="10734675" y="2355055"/>
            <a:ext cx="1066800" cy="2762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CL = 2.92</a:t>
            </a:r>
            <a:endParaRPr lang="en-US" sz="1200" dirty="0"/>
          </a:p>
        </p:txBody>
      </p:sp>
      <p:graphicFrame>
        <p:nvGraphicFramePr>
          <p:cNvPr id="8" name="Chart 7">
            <a:extLst>
              <a:ext uri="{FF2B5EF4-FFF2-40B4-BE49-F238E27FC236}">
                <a16:creationId xmlns:a16="http://schemas.microsoft.com/office/drawing/2014/main" id="{00000000-0008-0000-0000-000003000000}"/>
              </a:ext>
            </a:extLst>
          </p:cNvPr>
          <p:cNvGraphicFramePr>
            <a:graphicFrameLocks/>
          </p:cNvGraphicFramePr>
          <p:nvPr>
            <p:extLst>
              <p:ext uri="{D42A27DB-BD31-4B8C-83A1-F6EECF244321}">
                <p14:modId xmlns:p14="http://schemas.microsoft.com/office/powerpoint/2010/main" val="1181204951"/>
              </p:ext>
            </p:extLst>
          </p:nvPr>
        </p:nvGraphicFramePr>
        <p:xfrm>
          <a:off x="4895849" y="3764475"/>
          <a:ext cx="6070875" cy="2388675"/>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18669901-1BF0-709D-D4AE-D197E48195ED}"/>
              </a:ext>
            </a:extLst>
          </p:cNvPr>
          <p:cNvSpPr/>
          <p:nvPr/>
        </p:nvSpPr>
        <p:spPr>
          <a:xfrm>
            <a:off x="10734675" y="4245770"/>
            <a:ext cx="1066800" cy="2762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UCL = 1.72</a:t>
            </a:r>
            <a:endParaRPr lang="en-US" sz="1200" dirty="0"/>
          </a:p>
        </p:txBody>
      </p:sp>
      <p:sp>
        <p:nvSpPr>
          <p:cNvPr id="11" name="Rectangle 10">
            <a:extLst>
              <a:ext uri="{FF2B5EF4-FFF2-40B4-BE49-F238E27FC236}">
                <a16:creationId xmlns:a16="http://schemas.microsoft.com/office/drawing/2014/main" id="{4A995C2A-A696-AECA-F10A-AA0B89A4B39B}"/>
              </a:ext>
            </a:extLst>
          </p:cNvPr>
          <p:cNvSpPr/>
          <p:nvPr/>
        </p:nvSpPr>
        <p:spPr>
          <a:xfrm>
            <a:off x="10734675" y="5120787"/>
            <a:ext cx="1066800" cy="2762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CL = 0.526</a:t>
            </a:r>
            <a:endParaRPr lang="en-US" sz="1200" dirty="0"/>
          </a:p>
        </p:txBody>
      </p:sp>
      <p:sp>
        <p:nvSpPr>
          <p:cNvPr id="12" name="Rectangle 11">
            <a:extLst>
              <a:ext uri="{FF2B5EF4-FFF2-40B4-BE49-F238E27FC236}">
                <a16:creationId xmlns:a16="http://schemas.microsoft.com/office/drawing/2014/main" id="{080F8D60-4856-2894-D0E5-34CD0CABF085}"/>
              </a:ext>
            </a:extLst>
          </p:cNvPr>
          <p:cNvSpPr/>
          <p:nvPr/>
        </p:nvSpPr>
        <p:spPr>
          <a:xfrm>
            <a:off x="10734675" y="5498855"/>
            <a:ext cx="1066800" cy="2762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LCL = 0.00</a:t>
            </a:r>
            <a:endParaRPr lang="en-US" sz="1200" dirty="0"/>
          </a:p>
        </p:txBody>
      </p:sp>
      <p:sp>
        <p:nvSpPr>
          <p:cNvPr id="14" name="TextBox 13">
            <a:extLst>
              <a:ext uri="{FF2B5EF4-FFF2-40B4-BE49-F238E27FC236}">
                <a16:creationId xmlns:a16="http://schemas.microsoft.com/office/drawing/2014/main" id="{472B218B-8D2C-314F-CC33-F197BB40D2FF}"/>
              </a:ext>
            </a:extLst>
          </p:cNvPr>
          <p:cNvSpPr txBox="1"/>
          <p:nvPr/>
        </p:nvSpPr>
        <p:spPr>
          <a:xfrm>
            <a:off x="191675" y="1402370"/>
            <a:ext cx="4396442" cy="2593018"/>
          </a:xfrm>
          <a:prstGeom prst="rect">
            <a:avLst/>
          </a:prstGeom>
          <a:solidFill>
            <a:schemeClr val="bg1"/>
          </a:solidFill>
          <a:ln w="38100">
            <a:solidFill>
              <a:schemeClr val="accent3"/>
            </a:solidFill>
          </a:ln>
        </p:spPr>
        <p:txBody>
          <a:bodyPr wrap="square">
            <a:spAutoFit/>
          </a:bodyPr>
          <a:lstStyle/>
          <a:p>
            <a:pPr fontAlgn="t">
              <a:lnSpc>
                <a:spcPts val="1500"/>
              </a:lnSpc>
              <a:buNone/>
            </a:pPr>
            <a:r>
              <a:rPr lang="en-GB" sz="1600" b="1" dirty="0">
                <a:solidFill>
                  <a:schemeClr val="accent5"/>
                </a:solidFill>
              </a:rPr>
              <a:t>I Chart (Average Resolved IT Tickets)</a:t>
            </a:r>
          </a:p>
          <a:p>
            <a:pPr fontAlgn="t">
              <a:lnSpc>
                <a:spcPts val="1500"/>
              </a:lnSpc>
              <a:buNone/>
            </a:pPr>
            <a:endParaRPr lang="en-GB" sz="500" dirty="0">
              <a:solidFill>
                <a:schemeClr val="accent5"/>
              </a:solidFill>
            </a:endParaRPr>
          </a:p>
          <a:p>
            <a:pPr marL="285750" indent="-285750" fontAlgn="t">
              <a:lnSpc>
                <a:spcPts val="1500"/>
              </a:lnSpc>
              <a:buFont typeface="Arial" panose="020B0604020202020204" pitchFamily="34" charset="0"/>
              <a:buChar char="•"/>
            </a:pPr>
            <a:r>
              <a:rPr lang="en-GB" sz="1600" dirty="0">
                <a:solidFill>
                  <a:schemeClr val="accent5"/>
                </a:solidFill>
              </a:rPr>
              <a:t>Most tickets are resolved in about 3 days.</a:t>
            </a:r>
          </a:p>
          <a:p>
            <a:pPr marL="285750" indent="-285750" fontAlgn="t">
              <a:lnSpc>
                <a:spcPts val="1500"/>
              </a:lnSpc>
              <a:buFont typeface="Arial" panose="020B0604020202020204" pitchFamily="34" charset="0"/>
              <a:buChar char="•"/>
            </a:pPr>
            <a:r>
              <a:rPr lang="en-GB" sz="1600" dirty="0">
                <a:solidFill>
                  <a:schemeClr val="accent5"/>
                </a:solidFill>
              </a:rPr>
              <a:t>One ticket took approximately 5 days.</a:t>
            </a:r>
          </a:p>
          <a:p>
            <a:pPr marL="285750" indent="-285750" fontAlgn="t">
              <a:lnSpc>
                <a:spcPts val="1500"/>
              </a:lnSpc>
              <a:buFont typeface="Arial" panose="020B0604020202020204" pitchFamily="34" charset="0"/>
              <a:buChar char="•"/>
            </a:pPr>
            <a:r>
              <a:rPr lang="en-GB" sz="1600" dirty="0">
                <a:solidFill>
                  <a:schemeClr val="accent5"/>
                </a:solidFill>
              </a:rPr>
              <a:t>This exceeds the UCL of 4.32 days.</a:t>
            </a:r>
          </a:p>
          <a:p>
            <a:pPr marL="285750" indent="-285750" fontAlgn="t">
              <a:lnSpc>
                <a:spcPts val="1500"/>
              </a:lnSpc>
              <a:buFont typeface="Arial" panose="020B0604020202020204" pitchFamily="34" charset="0"/>
              <a:buChar char="•"/>
            </a:pPr>
            <a:r>
              <a:rPr lang="en-GB" sz="1600" dirty="0">
                <a:solidFill>
                  <a:schemeClr val="accent5"/>
                </a:solidFill>
              </a:rPr>
              <a:t>This is a special cause signal.</a:t>
            </a:r>
          </a:p>
          <a:p>
            <a:pPr fontAlgn="t">
              <a:lnSpc>
                <a:spcPts val="1500"/>
              </a:lnSpc>
            </a:pPr>
            <a:endParaRPr lang="en-GB" sz="1600" dirty="0">
              <a:solidFill>
                <a:schemeClr val="accent5"/>
              </a:solidFill>
            </a:endParaRPr>
          </a:p>
          <a:p>
            <a:pPr fontAlgn="t">
              <a:lnSpc>
                <a:spcPts val="1500"/>
              </a:lnSpc>
            </a:pPr>
            <a:r>
              <a:rPr lang="en-GB" sz="1600" dirty="0">
                <a:solidFill>
                  <a:schemeClr val="accent5"/>
                </a:solidFill>
              </a:rPr>
              <a:t>Possible causes:</a:t>
            </a:r>
          </a:p>
          <a:p>
            <a:pPr fontAlgn="t">
              <a:lnSpc>
                <a:spcPts val="1500"/>
              </a:lnSpc>
            </a:pPr>
            <a:endParaRPr lang="en-GB" sz="500" dirty="0">
              <a:solidFill>
                <a:schemeClr val="accent5"/>
              </a:solidFill>
            </a:endParaRPr>
          </a:p>
          <a:p>
            <a:pPr marL="285750" indent="-285750" fontAlgn="t">
              <a:lnSpc>
                <a:spcPts val="1500"/>
              </a:lnSpc>
              <a:buFont typeface="Arial" panose="020B0604020202020204" pitchFamily="34" charset="0"/>
              <a:buChar char="•"/>
            </a:pPr>
            <a:r>
              <a:rPr lang="en-GB" sz="1600" dirty="0">
                <a:solidFill>
                  <a:schemeClr val="accent5"/>
                </a:solidFill>
              </a:rPr>
              <a:t>System outage</a:t>
            </a:r>
          </a:p>
          <a:p>
            <a:pPr marL="285750" indent="-285750" fontAlgn="t">
              <a:lnSpc>
                <a:spcPts val="1500"/>
              </a:lnSpc>
              <a:buFont typeface="Arial" panose="020B0604020202020204" pitchFamily="34" charset="0"/>
              <a:buChar char="•"/>
            </a:pPr>
            <a:r>
              <a:rPr lang="en-GB" sz="1600" dirty="0">
                <a:solidFill>
                  <a:schemeClr val="accent5"/>
                </a:solidFill>
              </a:rPr>
              <a:t>Complex technical issue</a:t>
            </a:r>
          </a:p>
          <a:p>
            <a:pPr marL="285750" indent="-285750" fontAlgn="t">
              <a:lnSpc>
                <a:spcPts val="1500"/>
              </a:lnSpc>
              <a:buFont typeface="Arial" panose="020B0604020202020204" pitchFamily="34" charset="0"/>
              <a:buChar char="•"/>
            </a:pPr>
            <a:r>
              <a:rPr lang="en-GB" sz="1600" dirty="0">
                <a:solidFill>
                  <a:schemeClr val="accent5"/>
                </a:solidFill>
              </a:rPr>
              <a:t>Vendor dependency</a:t>
            </a:r>
          </a:p>
          <a:p>
            <a:pPr marL="285750" indent="-285750" fontAlgn="t">
              <a:lnSpc>
                <a:spcPts val="1500"/>
              </a:lnSpc>
              <a:buFont typeface="Arial" panose="020B0604020202020204" pitchFamily="34" charset="0"/>
              <a:buChar char="•"/>
            </a:pPr>
            <a:r>
              <a:rPr lang="en-GB" sz="1600" dirty="0">
                <a:solidFill>
                  <a:schemeClr val="accent5"/>
                </a:solidFill>
              </a:rPr>
              <a:t>Staff availability issue</a:t>
            </a:r>
          </a:p>
        </p:txBody>
      </p:sp>
      <p:sp>
        <p:nvSpPr>
          <p:cNvPr id="15" name="TextBox 14">
            <a:extLst>
              <a:ext uri="{FF2B5EF4-FFF2-40B4-BE49-F238E27FC236}">
                <a16:creationId xmlns:a16="http://schemas.microsoft.com/office/drawing/2014/main" id="{1CA11A01-C97B-B46B-84C9-49C8E3EDA584}"/>
              </a:ext>
            </a:extLst>
          </p:cNvPr>
          <p:cNvSpPr txBox="1"/>
          <p:nvPr/>
        </p:nvSpPr>
        <p:spPr>
          <a:xfrm>
            <a:off x="191675" y="4208999"/>
            <a:ext cx="4396442" cy="2029402"/>
          </a:xfrm>
          <a:prstGeom prst="rect">
            <a:avLst/>
          </a:prstGeom>
          <a:solidFill>
            <a:schemeClr val="bg1"/>
          </a:solidFill>
          <a:ln w="38100">
            <a:solidFill>
              <a:schemeClr val="tx2"/>
            </a:solidFill>
          </a:ln>
        </p:spPr>
        <p:txBody>
          <a:bodyPr wrap="square">
            <a:spAutoFit/>
          </a:bodyPr>
          <a:lstStyle/>
          <a:p>
            <a:pPr fontAlgn="t">
              <a:lnSpc>
                <a:spcPts val="1500"/>
              </a:lnSpc>
              <a:buNone/>
            </a:pPr>
            <a:r>
              <a:rPr lang="en-GB" sz="1600" b="1" dirty="0">
                <a:solidFill>
                  <a:schemeClr val="accent5"/>
                </a:solidFill>
              </a:rPr>
              <a:t>MR Chart (Average Resolved IT Tickets)</a:t>
            </a:r>
          </a:p>
          <a:p>
            <a:pPr fontAlgn="t">
              <a:lnSpc>
                <a:spcPts val="1500"/>
              </a:lnSpc>
              <a:buNone/>
            </a:pPr>
            <a:endParaRPr lang="en-GB" sz="1600" dirty="0">
              <a:solidFill>
                <a:schemeClr val="accent5"/>
              </a:solidFill>
            </a:endParaRPr>
          </a:p>
          <a:p>
            <a:pPr fontAlgn="t">
              <a:lnSpc>
                <a:spcPts val="1500"/>
              </a:lnSpc>
            </a:pPr>
            <a:r>
              <a:rPr lang="en-GB" sz="1600" dirty="0">
                <a:solidFill>
                  <a:schemeClr val="accent5"/>
                </a:solidFill>
              </a:rPr>
              <a:t>This chart shows how much each ticket differs from the previous ticket.</a:t>
            </a:r>
          </a:p>
          <a:p>
            <a:pPr fontAlgn="t">
              <a:lnSpc>
                <a:spcPts val="1500"/>
              </a:lnSpc>
            </a:pPr>
            <a:endParaRPr lang="en-GB" sz="1600" dirty="0">
              <a:solidFill>
                <a:schemeClr val="accent5"/>
              </a:solidFill>
            </a:endParaRPr>
          </a:p>
          <a:p>
            <a:pPr marL="171450" indent="-171450" fontAlgn="t">
              <a:lnSpc>
                <a:spcPts val="1500"/>
              </a:lnSpc>
              <a:buFont typeface="Arial" panose="020B0604020202020204" pitchFamily="34" charset="0"/>
              <a:buChar char="•"/>
            </a:pPr>
            <a:r>
              <a:rPr lang="en-GB" sz="1600" dirty="0">
                <a:solidFill>
                  <a:schemeClr val="accent5"/>
                </a:solidFill>
              </a:rPr>
              <a:t>Most ticket-to-ticket changes are small.</a:t>
            </a:r>
          </a:p>
          <a:p>
            <a:pPr marL="171450" indent="-171450" fontAlgn="t">
              <a:lnSpc>
                <a:spcPts val="1500"/>
              </a:lnSpc>
              <a:buFont typeface="Arial" panose="020B0604020202020204" pitchFamily="34" charset="0"/>
              <a:buChar char="•"/>
            </a:pPr>
            <a:r>
              <a:rPr lang="en-GB" sz="1600" dirty="0">
                <a:solidFill>
                  <a:schemeClr val="accent5"/>
                </a:solidFill>
              </a:rPr>
              <a:t>The jump between Tickets 5 and 6 is unusually large.</a:t>
            </a:r>
          </a:p>
          <a:p>
            <a:pPr marL="171450" indent="-171450" fontAlgn="t">
              <a:lnSpc>
                <a:spcPts val="1500"/>
              </a:lnSpc>
              <a:buFont typeface="Arial" panose="020B0604020202020204" pitchFamily="34" charset="0"/>
              <a:buChar char="•"/>
            </a:pPr>
            <a:r>
              <a:rPr lang="en-GB" sz="1600" dirty="0">
                <a:solidFill>
                  <a:schemeClr val="accent5"/>
                </a:solidFill>
              </a:rPr>
              <a:t>The moving range exceeds the UCL.</a:t>
            </a:r>
          </a:p>
          <a:p>
            <a:pPr marL="171450" indent="-171450" fontAlgn="t">
              <a:lnSpc>
                <a:spcPts val="1500"/>
              </a:lnSpc>
              <a:buFont typeface="Arial" panose="020B0604020202020204" pitchFamily="34" charset="0"/>
              <a:buChar char="•"/>
            </a:pPr>
            <a:r>
              <a:rPr lang="en-GB" sz="1600" dirty="0">
                <a:solidFill>
                  <a:schemeClr val="accent5"/>
                </a:solidFill>
              </a:rPr>
              <a:t>This confirms something unusual happened</a:t>
            </a:r>
          </a:p>
        </p:txBody>
      </p:sp>
      <p:sp>
        <p:nvSpPr>
          <p:cNvPr id="16" name="Flowchart: Connector 15">
            <a:extLst>
              <a:ext uri="{FF2B5EF4-FFF2-40B4-BE49-F238E27FC236}">
                <a16:creationId xmlns:a16="http://schemas.microsoft.com/office/drawing/2014/main" id="{42CC4594-93EA-3B53-F2F7-6FB08F9D62EA}"/>
              </a:ext>
            </a:extLst>
          </p:cNvPr>
          <p:cNvSpPr/>
          <p:nvPr/>
        </p:nvSpPr>
        <p:spPr>
          <a:xfrm>
            <a:off x="6495393" y="1805515"/>
            <a:ext cx="399393" cy="276225"/>
          </a:xfrm>
          <a:prstGeom prst="flowChartConnector">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Arrow Connector 17">
            <a:extLst>
              <a:ext uri="{FF2B5EF4-FFF2-40B4-BE49-F238E27FC236}">
                <a16:creationId xmlns:a16="http://schemas.microsoft.com/office/drawing/2014/main" id="{11E01991-4E67-AFD9-BAFB-DE79AF26BF1D}"/>
              </a:ext>
            </a:extLst>
          </p:cNvPr>
          <p:cNvCxnSpPr>
            <a:cxnSpLocks/>
            <a:stCxn id="14" idx="3"/>
          </p:cNvCxnSpPr>
          <p:nvPr/>
        </p:nvCxnSpPr>
        <p:spPr>
          <a:xfrm flipV="1">
            <a:off x="4588117" y="2007858"/>
            <a:ext cx="1907276" cy="691021"/>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9" name="Flowchart: Connector 18">
            <a:extLst>
              <a:ext uri="{FF2B5EF4-FFF2-40B4-BE49-F238E27FC236}">
                <a16:creationId xmlns:a16="http://schemas.microsoft.com/office/drawing/2014/main" id="{867038C2-5C60-F4FA-1BE6-4F0168C32BF7}"/>
              </a:ext>
            </a:extLst>
          </p:cNvPr>
          <p:cNvSpPr/>
          <p:nvPr/>
        </p:nvSpPr>
        <p:spPr>
          <a:xfrm>
            <a:off x="6495393" y="3922898"/>
            <a:ext cx="599090" cy="1273361"/>
          </a:xfrm>
          <a:prstGeom prst="flowChartConnector">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Arrow Connector 20">
            <a:extLst>
              <a:ext uri="{FF2B5EF4-FFF2-40B4-BE49-F238E27FC236}">
                <a16:creationId xmlns:a16="http://schemas.microsoft.com/office/drawing/2014/main" id="{5D4E31F8-5150-9AA8-D2DD-B4A3EF3CDE18}"/>
              </a:ext>
            </a:extLst>
          </p:cNvPr>
          <p:cNvCxnSpPr>
            <a:cxnSpLocks/>
            <a:stCxn id="15" idx="3"/>
          </p:cNvCxnSpPr>
          <p:nvPr/>
        </p:nvCxnSpPr>
        <p:spPr>
          <a:xfrm flipV="1">
            <a:off x="4588117" y="4685096"/>
            <a:ext cx="1907276" cy="53860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46B23C7-E631-5E82-F8B4-3EAF417A706A}"/>
              </a:ext>
            </a:extLst>
          </p:cNvPr>
          <p:cNvSpPr txBox="1"/>
          <p:nvPr/>
        </p:nvSpPr>
        <p:spPr>
          <a:xfrm>
            <a:off x="5965370" y="6032575"/>
            <a:ext cx="4277054" cy="369332"/>
          </a:xfrm>
          <a:prstGeom prst="rect">
            <a:avLst/>
          </a:prstGeom>
          <a:solidFill>
            <a:schemeClr val="bg2"/>
          </a:solidFill>
        </p:spPr>
        <p:txBody>
          <a:bodyPr wrap="square" rtlCol="0">
            <a:spAutoFit/>
          </a:bodyPr>
          <a:lstStyle/>
          <a:p>
            <a:pPr algn="ctr"/>
            <a:r>
              <a:rPr lang="en-GB" dirty="0">
                <a:solidFill>
                  <a:schemeClr val="bg1"/>
                </a:solidFill>
              </a:rPr>
              <a:t>Tickets sampled</a:t>
            </a:r>
            <a:endParaRPr lang="en-US" dirty="0">
              <a:solidFill>
                <a:schemeClr val="bg1"/>
              </a:solidFill>
            </a:endParaRPr>
          </a:p>
        </p:txBody>
      </p:sp>
    </p:spTree>
    <p:extLst>
      <p:ext uri="{BB962C8B-B14F-4D97-AF65-F5344CB8AC3E}">
        <p14:creationId xmlns:p14="http://schemas.microsoft.com/office/powerpoint/2010/main" val="61120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F23FD-79C2-6825-0D41-E1DCCE039CC5}"/>
            </a:ext>
          </a:extLst>
        </p:cNvPr>
        <p:cNvGrpSpPr/>
        <p:nvPr/>
      </p:nvGrpSpPr>
      <p:grpSpPr>
        <a:xfrm>
          <a:off x="0" y="0"/>
          <a:ext cx="1" cy="1"/>
          <a:chOff x="0" y="0"/>
          <a:chExt cx="1" cy="1"/>
        </a:xfrm>
      </p:grpSpPr>
      <p:sp>
        <p:nvSpPr>
          <p:cNvPr id="6" name="Text Placeholder 5">
            <a:extLst>
              <a:ext uri="{FF2B5EF4-FFF2-40B4-BE49-F238E27FC236}">
                <a16:creationId xmlns:a16="http://schemas.microsoft.com/office/drawing/2014/main" id="{1A5990EF-2B5A-28E3-AF79-7A9C88AA4DFD}"/>
              </a:ext>
            </a:extLst>
          </p:cNvPr>
          <p:cNvSpPr>
            <a:spLocks noGrp="1"/>
          </p:cNvSpPr>
          <p:nvPr>
            <p:ph type="body" sz="quarter" idx="10"/>
          </p:nvPr>
        </p:nvSpPr>
        <p:spPr>
          <a:xfrm>
            <a:off x="487867" y="316556"/>
            <a:ext cx="8326523" cy="492443"/>
          </a:xfrm>
        </p:spPr>
        <p:txBody>
          <a:bodyPr vert="horz" lIns="0" tIns="0" rIns="0" bIns="0" rtlCol="0" anchor="t">
            <a:noAutofit/>
          </a:bodyPr>
          <a:lstStyle/>
          <a:p>
            <a:pPr>
              <a:lnSpc>
                <a:spcPct val="80000"/>
              </a:lnSpc>
            </a:pPr>
            <a:r>
              <a:rPr lang="en-GB" sz="3200" dirty="0">
                <a:latin typeface="+mj-lt"/>
              </a:rPr>
              <a:t>Using X-Bar and R Charts to Monitor Process Performance</a:t>
            </a:r>
            <a:endParaRPr lang="en-US" sz="3200" dirty="0">
              <a:latin typeface="+mj-lt"/>
            </a:endParaRPr>
          </a:p>
        </p:txBody>
      </p:sp>
      <p:sp>
        <p:nvSpPr>
          <p:cNvPr id="7" name="TextBox 6">
            <a:extLst>
              <a:ext uri="{FF2B5EF4-FFF2-40B4-BE49-F238E27FC236}">
                <a16:creationId xmlns:a16="http://schemas.microsoft.com/office/drawing/2014/main" id="{922BC513-B092-DB3A-7572-6FC58F10ECCE}"/>
              </a:ext>
            </a:extLst>
          </p:cNvPr>
          <p:cNvSpPr txBox="1"/>
          <p:nvPr/>
        </p:nvSpPr>
        <p:spPr>
          <a:xfrm>
            <a:off x="371475" y="1218486"/>
            <a:ext cx="7829550" cy="646331"/>
          </a:xfrm>
          <a:prstGeom prst="rect">
            <a:avLst/>
          </a:prstGeom>
          <a:noFill/>
        </p:spPr>
        <p:txBody>
          <a:bodyPr wrap="square">
            <a:spAutoFit/>
          </a:bodyPr>
          <a:lstStyle/>
          <a:p>
            <a:r>
              <a:rPr lang="en-US" b="0" i="0" noProof="0" dirty="0">
                <a:solidFill>
                  <a:srgbClr val="444444"/>
                </a:solidFill>
                <a:effectLst/>
                <a:latin typeface="Open Sans" panose="020B0606030504020204" pitchFamily="34" charset="0"/>
              </a:rPr>
              <a:t>  </a:t>
            </a:r>
          </a:p>
          <a:p>
            <a:endParaRPr lang="en-US" noProof="0" dirty="0">
              <a:solidFill>
                <a:srgbClr val="444444"/>
              </a:solidFill>
              <a:latin typeface="Open Sans" panose="020B0606030504020204" pitchFamily="34" charset="0"/>
            </a:endParaRPr>
          </a:p>
        </p:txBody>
      </p:sp>
      <p:sp>
        <p:nvSpPr>
          <p:cNvPr id="3" name="TextBox 2">
            <a:extLst>
              <a:ext uri="{FF2B5EF4-FFF2-40B4-BE49-F238E27FC236}">
                <a16:creationId xmlns:a16="http://schemas.microsoft.com/office/drawing/2014/main" id="{C29ED032-8861-0CD9-5730-BB7D4819D91A}"/>
              </a:ext>
            </a:extLst>
          </p:cNvPr>
          <p:cNvSpPr txBox="1"/>
          <p:nvPr/>
        </p:nvSpPr>
        <p:spPr>
          <a:xfrm>
            <a:off x="371475" y="1474339"/>
            <a:ext cx="6209434" cy="646331"/>
          </a:xfrm>
          <a:prstGeom prst="rect">
            <a:avLst/>
          </a:prstGeom>
          <a:noFill/>
        </p:spPr>
        <p:txBody>
          <a:bodyPr wrap="square" rtlCol="0">
            <a:spAutoFit/>
          </a:bodyPr>
          <a:lstStyle/>
          <a:p>
            <a:endParaRPr lang="en-US" noProof="0" dirty="0"/>
          </a:p>
          <a:p>
            <a:endParaRPr lang="en-US" noProof="0" dirty="0"/>
          </a:p>
        </p:txBody>
      </p:sp>
      <p:sp>
        <p:nvSpPr>
          <p:cNvPr id="2" name="AutoShape 2">
            <a:extLst>
              <a:ext uri="{FF2B5EF4-FFF2-40B4-BE49-F238E27FC236}">
                <a16:creationId xmlns:a16="http://schemas.microsoft.com/office/drawing/2014/main" id="{249D929B-07DB-D44D-E292-C35446772E74}"/>
              </a:ext>
            </a:extLst>
          </p:cNvPr>
          <p:cNvSpPr>
            <a:spLocks noChangeAspect="1" noChangeArrowheads="1"/>
          </p:cNvSpPr>
          <p:nvPr/>
        </p:nvSpPr>
        <p:spPr bwMode="auto">
          <a:xfrm>
            <a:off x="5943599" y="3022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p>
        </p:txBody>
      </p:sp>
      <p:pic>
        <p:nvPicPr>
          <p:cNvPr id="5" name="Picture 4">
            <a:extLst>
              <a:ext uri="{FF2B5EF4-FFF2-40B4-BE49-F238E27FC236}">
                <a16:creationId xmlns:a16="http://schemas.microsoft.com/office/drawing/2014/main" id="{D173DDA0-FF7F-0A8E-7681-E97A6882840B}"/>
              </a:ext>
            </a:extLst>
          </p:cNvPr>
          <p:cNvPicPr>
            <a:picLocks noChangeAspect="1"/>
          </p:cNvPicPr>
          <p:nvPr/>
        </p:nvPicPr>
        <p:blipFill>
          <a:blip r:embed="rId3"/>
          <a:stretch>
            <a:fillRect/>
          </a:stretch>
        </p:blipFill>
        <p:spPr>
          <a:xfrm>
            <a:off x="539412" y="1474338"/>
            <a:ext cx="6682154" cy="4446609"/>
          </a:xfrm>
          <a:prstGeom prst="rect">
            <a:avLst/>
          </a:prstGeom>
          <a:ln w="38100">
            <a:solidFill>
              <a:schemeClr val="accent4"/>
            </a:solidFill>
          </a:ln>
        </p:spPr>
      </p:pic>
      <p:sp>
        <p:nvSpPr>
          <p:cNvPr id="11" name="TextBox 10">
            <a:extLst>
              <a:ext uri="{FF2B5EF4-FFF2-40B4-BE49-F238E27FC236}">
                <a16:creationId xmlns:a16="http://schemas.microsoft.com/office/drawing/2014/main" id="{3A788B37-25C5-86CC-4F11-A5E1F89BB6D9}"/>
              </a:ext>
            </a:extLst>
          </p:cNvPr>
          <p:cNvSpPr txBox="1"/>
          <p:nvPr/>
        </p:nvSpPr>
        <p:spPr>
          <a:xfrm>
            <a:off x="7412697" y="1472809"/>
            <a:ext cx="4406144" cy="2339102"/>
          </a:xfrm>
          <a:prstGeom prst="rect">
            <a:avLst/>
          </a:prstGeom>
          <a:noFill/>
          <a:ln w="38100">
            <a:solidFill>
              <a:schemeClr val="accent5"/>
            </a:solidFill>
          </a:ln>
        </p:spPr>
        <p:txBody>
          <a:bodyPr wrap="square">
            <a:spAutoFit/>
          </a:bodyPr>
          <a:lstStyle/>
          <a:p>
            <a:pPr algn="ctr"/>
            <a:r>
              <a:rPr lang="en-GB" sz="1400" b="1" i="0" noProof="0" dirty="0">
                <a:solidFill>
                  <a:schemeClr val="accent5"/>
                </a:solidFill>
                <a:effectLst/>
                <a:latin typeface="+mj-lt"/>
                <a:cs typeface="Arial" panose="020B0604020202020204" pitchFamily="34" charset="0"/>
              </a:rPr>
              <a:t>X Bar Chart</a:t>
            </a:r>
          </a:p>
          <a:p>
            <a:pPr algn="ctr"/>
            <a:endParaRPr lang="en-GB" sz="1400" b="1" dirty="0">
              <a:solidFill>
                <a:schemeClr val="accent5"/>
              </a:solidFill>
              <a:latin typeface="+mj-lt"/>
              <a:cs typeface="Arial" panose="020B0604020202020204" pitchFamily="34" charset="0"/>
            </a:endParaRPr>
          </a:p>
          <a:p>
            <a:r>
              <a:rPr lang="en-GB" sz="1200" i="0" noProof="0" dirty="0">
                <a:solidFill>
                  <a:schemeClr val="accent5"/>
                </a:solidFill>
                <a:effectLst/>
                <a:latin typeface="+mj-lt"/>
                <a:cs typeface="Arial" panose="020B0604020202020204" pitchFamily="34" charset="0"/>
              </a:rPr>
              <a:t>Monitors the average number of days taken to complete onboarding for each sample of new employees.</a:t>
            </a:r>
          </a:p>
          <a:p>
            <a:endParaRPr lang="en-GB" sz="500" dirty="0">
              <a:solidFill>
                <a:schemeClr val="accent5"/>
              </a:solidFill>
              <a:latin typeface="+mj-lt"/>
              <a:cs typeface="Arial" panose="020B0604020202020204" pitchFamily="34" charset="0"/>
            </a:endParaRPr>
          </a:p>
          <a:p>
            <a:r>
              <a:rPr lang="en-GB" sz="1200" i="0" noProof="0" dirty="0">
                <a:solidFill>
                  <a:schemeClr val="accent5"/>
                </a:solidFill>
                <a:effectLst/>
                <a:latin typeface="+mj-lt"/>
                <a:cs typeface="Arial" panose="020B0604020202020204" pitchFamily="34" charset="0"/>
              </a:rPr>
              <a:t>Use the X Bar Chart to identify: </a:t>
            </a:r>
          </a:p>
          <a:p>
            <a:endParaRPr lang="en-GB" sz="500" i="0" noProof="0" dirty="0">
              <a:solidFill>
                <a:schemeClr val="accent5"/>
              </a:solidFill>
              <a:effectLst/>
              <a:latin typeface="+mj-lt"/>
              <a:cs typeface="Arial" panose="020B0604020202020204" pitchFamily="34" charset="0"/>
            </a:endParaRPr>
          </a:p>
          <a:p>
            <a:pPr marL="171450" indent="-171450">
              <a:buFont typeface="Arial" panose="020B0604020202020204" pitchFamily="34" charset="0"/>
              <a:buChar char="•"/>
            </a:pPr>
            <a:r>
              <a:rPr lang="en-GB" sz="1200" i="0" noProof="0" dirty="0">
                <a:solidFill>
                  <a:schemeClr val="accent5"/>
                </a:solidFill>
                <a:effectLst/>
                <a:latin typeface="+mj-lt"/>
                <a:cs typeface="Arial" panose="020B0604020202020204" pitchFamily="34" charset="0"/>
              </a:rPr>
              <a:t>Changes in average onboarding time</a:t>
            </a:r>
          </a:p>
          <a:p>
            <a:pPr marL="171450" indent="-171450">
              <a:buFont typeface="Arial" panose="020B0604020202020204" pitchFamily="34" charset="0"/>
              <a:buChar char="•"/>
            </a:pPr>
            <a:r>
              <a:rPr lang="en-GB" sz="1200" i="0" noProof="0" dirty="0">
                <a:solidFill>
                  <a:schemeClr val="accent5"/>
                </a:solidFill>
                <a:effectLst/>
                <a:latin typeface="+mj-lt"/>
                <a:cs typeface="Arial" panose="020B0604020202020204" pitchFamily="34" charset="0"/>
              </a:rPr>
              <a:t>Trends and patterns over time</a:t>
            </a:r>
          </a:p>
          <a:p>
            <a:pPr marL="171450" indent="-171450">
              <a:buFont typeface="Arial" panose="020B0604020202020204" pitchFamily="34" charset="0"/>
              <a:buChar char="•"/>
            </a:pPr>
            <a:r>
              <a:rPr lang="en-GB" sz="1200" i="0" noProof="0" dirty="0">
                <a:solidFill>
                  <a:schemeClr val="accent5"/>
                </a:solidFill>
                <a:effectLst/>
                <a:latin typeface="+mj-lt"/>
                <a:cs typeface="Arial" panose="020B0604020202020204" pitchFamily="34" charset="0"/>
              </a:rPr>
              <a:t>Special cause variation that may require investigation</a:t>
            </a:r>
          </a:p>
          <a:p>
            <a:pPr marL="171450" indent="-171450">
              <a:buFont typeface="Arial" panose="020B0604020202020204" pitchFamily="34" charset="0"/>
              <a:buChar char="•"/>
            </a:pPr>
            <a:endParaRPr lang="en-GB" sz="1200" dirty="0">
              <a:solidFill>
                <a:schemeClr val="accent5"/>
              </a:solidFill>
              <a:latin typeface="+mj-lt"/>
              <a:cs typeface="Arial" panose="020B0604020202020204" pitchFamily="34" charset="0"/>
            </a:endParaRPr>
          </a:p>
          <a:p>
            <a:r>
              <a:rPr lang="en-GB" sz="1200" b="1" i="0" noProof="0" dirty="0">
                <a:solidFill>
                  <a:schemeClr val="accent5"/>
                </a:solidFill>
                <a:effectLst/>
                <a:latin typeface="+mj-lt"/>
                <a:cs typeface="Arial" panose="020B0604020202020204" pitchFamily="34" charset="0"/>
              </a:rPr>
              <a:t>Example: </a:t>
            </a:r>
            <a:r>
              <a:rPr lang="en-US" sz="1200" dirty="0">
                <a:solidFill>
                  <a:schemeClr val="accent5"/>
                </a:solidFill>
                <a:latin typeface="+mj-lt"/>
                <a:cs typeface="Arial" panose="020B0604020202020204" pitchFamily="34" charset="0"/>
              </a:rPr>
              <a:t>Average onboarding completion time for a sample of 5 employees.</a:t>
            </a:r>
          </a:p>
        </p:txBody>
      </p:sp>
      <p:sp>
        <p:nvSpPr>
          <p:cNvPr id="12" name="TextBox 11">
            <a:extLst>
              <a:ext uri="{FF2B5EF4-FFF2-40B4-BE49-F238E27FC236}">
                <a16:creationId xmlns:a16="http://schemas.microsoft.com/office/drawing/2014/main" id="{7C74BC68-D6B4-75D0-2DFC-545B1028E40D}"/>
              </a:ext>
            </a:extLst>
          </p:cNvPr>
          <p:cNvSpPr txBox="1"/>
          <p:nvPr/>
        </p:nvSpPr>
        <p:spPr>
          <a:xfrm>
            <a:off x="7412699" y="3935789"/>
            <a:ext cx="4406142" cy="1985159"/>
          </a:xfrm>
          <a:prstGeom prst="rect">
            <a:avLst/>
          </a:prstGeom>
          <a:noFill/>
          <a:ln w="38100">
            <a:solidFill>
              <a:schemeClr val="accent5"/>
            </a:solidFill>
          </a:ln>
        </p:spPr>
        <p:txBody>
          <a:bodyPr wrap="square">
            <a:spAutoFit/>
          </a:bodyPr>
          <a:lstStyle/>
          <a:p>
            <a:pPr algn="ctr"/>
            <a:r>
              <a:rPr lang="en-GB" sz="1200" b="1" dirty="0">
                <a:solidFill>
                  <a:schemeClr val="accent5"/>
                </a:solidFill>
                <a:cs typeface="Arial" panose="020B0604020202020204" pitchFamily="34" charset="0"/>
              </a:rPr>
              <a:t>R Chart</a:t>
            </a:r>
          </a:p>
          <a:p>
            <a:r>
              <a:rPr lang="en-GB" sz="1200" dirty="0">
                <a:solidFill>
                  <a:schemeClr val="accent5"/>
                </a:solidFill>
                <a:cs typeface="Arial" panose="020B0604020202020204" pitchFamily="34" charset="0"/>
              </a:rPr>
              <a:t>Monitors the variation in onboarding times within each sample group.</a:t>
            </a:r>
          </a:p>
          <a:p>
            <a:endParaRPr lang="en-GB" sz="500" dirty="0">
              <a:solidFill>
                <a:schemeClr val="accent5"/>
              </a:solidFill>
              <a:cs typeface="Arial" panose="020B0604020202020204" pitchFamily="34" charset="0"/>
            </a:endParaRPr>
          </a:p>
          <a:p>
            <a:r>
              <a:rPr lang="en-GB" sz="1200" dirty="0">
                <a:solidFill>
                  <a:schemeClr val="accent5"/>
                </a:solidFill>
                <a:cs typeface="Arial" panose="020B0604020202020204" pitchFamily="34" charset="0"/>
              </a:rPr>
              <a:t>The R Chart shows the difference between the shortest and longest onboarding times within the sample.</a:t>
            </a:r>
          </a:p>
          <a:p>
            <a:endParaRPr lang="en-GB" sz="500" dirty="0">
              <a:solidFill>
                <a:schemeClr val="accent5"/>
              </a:solidFill>
              <a:cs typeface="Arial" panose="020B0604020202020204" pitchFamily="34" charset="0"/>
            </a:endParaRPr>
          </a:p>
          <a:p>
            <a:r>
              <a:rPr lang="en-GB" sz="1200" dirty="0">
                <a:solidFill>
                  <a:schemeClr val="accent5"/>
                </a:solidFill>
                <a:cs typeface="Arial" panose="020B0604020202020204" pitchFamily="34" charset="0"/>
              </a:rPr>
              <a:t>This helps identify whether onboarding times are becoming more or less consistent.</a:t>
            </a:r>
          </a:p>
          <a:p>
            <a:endParaRPr lang="en-GB" sz="500" dirty="0">
              <a:solidFill>
                <a:schemeClr val="accent5"/>
              </a:solidFill>
              <a:cs typeface="Arial" panose="020B0604020202020204" pitchFamily="34" charset="0"/>
            </a:endParaRPr>
          </a:p>
          <a:p>
            <a:r>
              <a:rPr lang="en-GB" sz="1200" b="1" dirty="0">
                <a:solidFill>
                  <a:schemeClr val="accent5"/>
                </a:solidFill>
                <a:cs typeface="Arial" panose="020B0604020202020204" pitchFamily="34" charset="0"/>
              </a:rPr>
              <a:t>Example: </a:t>
            </a:r>
            <a:r>
              <a:rPr lang="en-GB" sz="1200" dirty="0">
                <a:solidFill>
                  <a:schemeClr val="accent5"/>
                </a:solidFill>
                <a:cs typeface="Arial" panose="020B0604020202020204" pitchFamily="34" charset="0"/>
              </a:rPr>
              <a:t>Difference between the shortest and longest onboarding times within a sample of 5 employees.</a:t>
            </a:r>
          </a:p>
        </p:txBody>
      </p:sp>
      <p:sp>
        <p:nvSpPr>
          <p:cNvPr id="4" name="TextBox 3">
            <a:extLst>
              <a:ext uri="{FF2B5EF4-FFF2-40B4-BE49-F238E27FC236}">
                <a16:creationId xmlns:a16="http://schemas.microsoft.com/office/drawing/2014/main" id="{607A847C-E513-21ED-F63D-3CA1246549EB}"/>
              </a:ext>
            </a:extLst>
          </p:cNvPr>
          <p:cNvSpPr txBox="1"/>
          <p:nvPr/>
        </p:nvSpPr>
        <p:spPr>
          <a:xfrm>
            <a:off x="487867" y="6209619"/>
            <a:ext cx="11330974" cy="461665"/>
          </a:xfrm>
          <a:prstGeom prst="rect">
            <a:avLst/>
          </a:prstGeom>
          <a:solidFill>
            <a:schemeClr val="accent4"/>
          </a:solidFill>
        </p:spPr>
        <p:txBody>
          <a:bodyPr wrap="square" rtlCol="0">
            <a:spAutoFit/>
          </a:bodyPr>
          <a:lstStyle/>
          <a:p>
            <a:r>
              <a:rPr lang="en-GB" sz="1200" b="1" noProof="0" dirty="0">
                <a:solidFill>
                  <a:schemeClr val="bg1"/>
                </a:solidFill>
                <a:cs typeface="Arial" panose="020B0604020202020204" pitchFamily="34" charset="0"/>
              </a:rPr>
              <a:t>Understanding the range helps identify whether process performance is becoming more consistent or more variable over time. A process can maintain the same average while variation increases or decreases.</a:t>
            </a:r>
            <a:endParaRPr lang="en-US" sz="1200" b="1" noProof="0" dirty="0">
              <a:solidFill>
                <a:schemeClr val="bg1"/>
              </a:solidFill>
              <a:cs typeface="Arial" panose="020B0604020202020204" pitchFamily="34" charset="0"/>
            </a:endParaRPr>
          </a:p>
        </p:txBody>
      </p:sp>
      <p:sp>
        <p:nvSpPr>
          <p:cNvPr id="8" name="TextBox 7">
            <a:extLst>
              <a:ext uri="{FF2B5EF4-FFF2-40B4-BE49-F238E27FC236}">
                <a16:creationId xmlns:a16="http://schemas.microsoft.com/office/drawing/2014/main" id="{DD4834E9-B90A-4ED3-9F3E-6C3D653225A2}"/>
              </a:ext>
            </a:extLst>
          </p:cNvPr>
          <p:cNvSpPr txBox="1"/>
          <p:nvPr/>
        </p:nvSpPr>
        <p:spPr>
          <a:xfrm>
            <a:off x="3044890" y="4229331"/>
            <a:ext cx="1077319" cy="338554"/>
          </a:xfrm>
          <a:prstGeom prst="rect">
            <a:avLst/>
          </a:prstGeom>
          <a:noFill/>
        </p:spPr>
        <p:txBody>
          <a:bodyPr wrap="square" rtlCol="0">
            <a:spAutoFit/>
          </a:bodyPr>
          <a:lstStyle/>
          <a:p>
            <a:r>
              <a:rPr lang="en-GB" sz="1600" b="1" dirty="0">
                <a:solidFill>
                  <a:srgbClr val="002060"/>
                </a:solidFill>
              </a:rPr>
              <a:t>R Chart</a:t>
            </a:r>
            <a:endParaRPr lang="en-US" sz="1600" b="1" dirty="0">
              <a:solidFill>
                <a:srgbClr val="002060"/>
              </a:solidFill>
            </a:endParaRPr>
          </a:p>
        </p:txBody>
      </p:sp>
      <p:sp>
        <p:nvSpPr>
          <p:cNvPr id="10" name="TextBox 9">
            <a:extLst>
              <a:ext uri="{FF2B5EF4-FFF2-40B4-BE49-F238E27FC236}">
                <a16:creationId xmlns:a16="http://schemas.microsoft.com/office/drawing/2014/main" id="{1D9D6897-71EB-05A8-ED33-F394AE06A1E5}"/>
              </a:ext>
            </a:extLst>
          </p:cNvPr>
          <p:cNvSpPr txBox="1"/>
          <p:nvPr/>
        </p:nvSpPr>
        <p:spPr>
          <a:xfrm>
            <a:off x="3119717" y="2018816"/>
            <a:ext cx="762000" cy="584775"/>
          </a:xfrm>
          <a:prstGeom prst="rect">
            <a:avLst/>
          </a:prstGeom>
          <a:solidFill>
            <a:schemeClr val="bg1"/>
          </a:solidFill>
        </p:spPr>
        <p:txBody>
          <a:bodyPr wrap="square" rtlCol="0">
            <a:spAutoFit/>
          </a:bodyPr>
          <a:lstStyle/>
          <a:p>
            <a:pPr algn="ctr"/>
            <a:r>
              <a:rPr lang="en-GB" sz="1600" b="1" dirty="0">
                <a:solidFill>
                  <a:srgbClr val="002060"/>
                </a:solidFill>
              </a:rPr>
              <a:t>X Bar Chart</a:t>
            </a:r>
            <a:endParaRPr lang="en-US" sz="1600" b="1" dirty="0">
              <a:solidFill>
                <a:srgbClr val="002060"/>
              </a:solidFill>
            </a:endParaRPr>
          </a:p>
        </p:txBody>
      </p:sp>
      <p:pic>
        <p:nvPicPr>
          <p:cNvPr id="14" name="Picture 13">
            <a:extLst>
              <a:ext uri="{FF2B5EF4-FFF2-40B4-BE49-F238E27FC236}">
                <a16:creationId xmlns:a16="http://schemas.microsoft.com/office/drawing/2014/main" id="{FFB6435D-289D-ED6E-9294-9EAED7E174A5}"/>
              </a:ext>
            </a:extLst>
          </p:cNvPr>
          <p:cNvPicPr>
            <a:picLocks noChangeAspect="1"/>
          </p:cNvPicPr>
          <p:nvPr/>
        </p:nvPicPr>
        <p:blipFill>
          <a:blip r:embed="rId4"/>
          <a:stretch>
            <a:fillRect/>
          </a:stretch>
        </p:blipFill>
        <p:spPr>
          <a:xfrm>
            <a:off x="2684683" y="1476008"/>
            <a:ext cx="2245904" cy="381053"/>
          </a:xfrm>
          <a:prstGeom prst="rect">
            <a:avLst/>
          </a:prstGeom>
        </p:spPr>
      </p:pic>
      <p:sp>
        <p:nvSpPr>
          <p:cNvPr id="16" name="TextBox 15">
            <a:extLst>
              <a:ext uri="{FF2B5EF4-FFF2-40B4-BE49-F238E27FC236}">
                <a16:creationId xmlns:a16="http://schemas.microsoft.com/office/drawing/2014/main" id="{934D2499-2D1A-3316-7633-87F8F8BB9572}"/>
              </a:ext>
            </a:extLst>
          </p:cNvPr>
          <p:cNvSpPr txBox="1"/>
          <p:nvPr/>
        </p:nvSpPr>
        <p:spPr>
          <a:xfrm>
            <a:off x="2055012" y="1560614"/>
            <a:ext cx="3674148" cy="307777"/>
          </a:xfrm>
          <a:prstGeom prst="rect">
            <a:avLst/>
          </a:prstGeom>
          <a:solidFill>
            <a:schemeClr val="bg1"/>
          </a:solidFill>
        </p:spPr>
        <p:txBody>
          <a:bodyPr wrap="square" rtlCol="0">
            <a:spAutoFit/>
          </a:bodyPr>
          <a:lstStyle/>
          <a:p>
            <a:pPr algn="ctr"/>
            <a:r>
              <a:rPr lang="en-GB" sz="1400" b="1" dirty="0">
                <a:solidFill>
                  <a:schemeClr val="accent5"/>
                </a:solidFill>
              </a:rPr>
              <a:t>Days to complete onboarding</a:t>
            </a:r>
            <a:endParaRPr lang="en-US" sz="1400" b="1" dirty="0">
              <a:solidFill>
                <a:schemeClr val="accent5"/>
              </a:solidFill>
            </a:endParaRPr>
          </a:p>
        </p:txBody>
      </p:sp>
      <p:sp>
        <p:nvSpPr>
          <p:cNvPr id="17" name="TextBox 16">
            <a:extLst>
              <a:ext uri="{FF2B5EF4-FFF2-40B4-BE49-F238E27FC236}">
                <a16:creationId xmlns:a16="http://schemas.microsoft.com/office/drawing/2014/main" id="{3A7B5269-FA97-7107-7C05-18A82D556357}"/>
              </a:ext>
            </a:extLst>
          </p:cNvPr>
          <p:cNvSpPr txBox="1"/>
          <p:nvPr/>
        </p:nvSpPr>
        <p:spPr>
          <a:xfrm>
            <a:off x="2269451" y="3657945"/>
            <a:ext cx="3674148" cy="307777"/>
          </a:xfrm>
          <a:prstGeom prst="rect">
            <a:avLst/>
          </a:prstGeom>
          <a:solidFill>
            <a:schemeClr val="bg1"/>
          </a:solidFill>
        </p:spPr>
        <p:txBody>
          <a:bodyPr wrap="square" rtlCol="0">
            <a:spAutoFit/>
          </a:bodyPr>
          <a:lstStyle/>
          <a:p>
            <a:pPr algn="ctr"/>
            <a:r>
              <a:rPr lang="en-GB" sz="1400" b="1" dirty="0">
                <a:solidFill>
                  <a:schemeClr val="accent5"/>
                </a:solidFill>
              </a:rPr>
              <a:t>Range Sample – days to complete</a:t>
            </a:r>
            <a:endParaRPr lang="en-US" sz="1400" b="1" dirty="0">
              <a:solidFill>
                <a:schemeClr val="accent5"/>
              </a:solidFill>
            </a:endParaRPr>
          </a:p>
        </p:txBody>
      </p:sp>
    </p:spTree>
    <p:extLst>
      <p:ext uri="{BB962C8B-B14F-4D97-AF65-F5344CB8AC3E}">
        <p14:creationId xmlns:p14="http://schemas.microsoft.com/office/powerpoint/2010/main" val="2915075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6" y="438912"/>
            <a:ext cx="8326523" cy="492443"/>
          </a:xfrm>
        </p:spPr>
        <p:txBody>
          <a:bodyPr vert="horz" lIns="0" tIns="0" rIns="0" bIns="0" rtlCol="0" anchor="t">
            <a:noAutofit/>
          </a:bodyPr>
          <a:lstStyle/>
          <a:p>
            <a:pPr>
              <a:lnSpc>
                <a:spcPct val="80000"/>
              </a:lnSpc>
            </a:pPr>
            <a:r>
              <a:rPr lang="en-US" sz="3200" dirty="0">
                <a:latin typeface="+mj-lt"/>
              </a:rPr>
              <a:t>Example: X Bar and R Chart</a:t>
            </a:r>
          </a:p>
        </p:txBody>
      </p:sp>
      <p:sp>
        <p:nvSpPr>
          <p:cNvPr id="7" name="TextBox 6">
            <a:extLst>
              <a:ext uri="{FF2B5EF4-FFF2-40B4-BE49-F238E27FC236}">
                <a16:creationId xmlns:a16="http://schemas.microsoft.com/office/drawing/2014/main" id="{1C256E4D-406F-4C6F-AE69-D83B8149F5C6}"/>
              </a:ext>
            </a:extLst>
          </p:cNvPr>
          <p:cNvSpPr txBox="1"/>
          <p:nvPr/>
        </p:nvSpPr>
        <p:spPr>
          <a:xfrm>
            <a:off x="371475" y="1218486"/>
            <a:ext cx="7829550" cy="646331"/>
          </a:xfrm>
          <a:prstGeom prst="rect">
            <a:avLst/>
          </a:prstGeom>
          <a:noFill/>
        </p:spPr>
        <p:txBody>
          <a:bodyPr wrap="square">
            <a:spAutoFit/>
          </a:bodyPr>
          <a:lstStyle/>
          <a:p>
            <a:r>
              <a:rPr lang="en-US" b="0" i="0" noProof="0" dirty="0">
                <a:solidFill>
                  <a:srgbClr val="444444"/>
                </a:solidFill>
                <a:effectLst/>
                <a:latin typeface="Open Sans" panose="020B0606030504020204" pitchFamily="34" charset="0"/>
              </a:rPr>
              <a:t>  </a:t>
            </a:r>
          </a:p>
          <a:p>
            <a:endParaRPr lang="en-US" noProof="0" dirty="0">
              <a:solidFill>
                <a:srgbClr val="444444"/>
              </a:solidFill>
              <a:latin typeface="Open Sans" panose="020B0606030504020204" pitchFamily="34" charset="0"/>
            </a:endParaRPr>
          </a:p>
        </p:txBody>
      </p:sp>
      <p:sp>
        <p:nvSpPr>
          <p:cNvPr id="3" name="TextBox 2">
            <a:extLst>
              <a:ext uri="{FF2B5EF4-FFF2-40B4-BE49-F238E27FC236}">
                <a16:creationId xmlns:a16="http://schemas.microsoft.com/office/drawing/2014/main" id="{A4FBF625-83A7-7A2A-312A-2D12818859EC}"/>
              </a:ext>
            </a:extLst>
          </p:cNvPr>
          <p:cNvSpPr txBox="1"/>
          <p:nvPr/>
        </p:nvSpPr>
        <p:spPr>
          <a:xfrm>
            <a:off x="3739936" y="1526628"/>
            <a:ext cx="6209434" cy="646331"/>
          </a:xfrm>
          <a:prstGeom prst="rect">
            <a:avLst/>
          </a:prstGeom>
          <a:noFill/>
        </p:spPr>
        <p:txBody>
          <a:bodyPr wrap="square" rtlCol="0">
            <a:spAutoFit/>
          </a:bodyPr>
          <a:lstStyle/>
          <a:p>
            <a:endParaRPr lang="en-US" noProof="0" dirty="0"/>
          </a:p>
          <a:p>
            <a:endParaRPr lang="en-US" noProof="0" dirty="0"/>
          </a:p>
        </p:txBody>
      </p:sp>
      <p:sp>
        <p:nvSpPr>
          <p:cNvPr id="2" name="AutoShape 2">
            <a:extLst>
              <a:ext uri="{FF2B5EF4-FFF2-40B4-BE49-F238E27FC236}">
                <a16:creationId xmlns:a16="http://schemas.microsoft.com/office/drawing/2014/main" id="{ED53C4DD-58D3-23E6-7708-A031BC738B9D}"/>
              </a:ext>
            </a:extLst>
          </p:cNvPr>
          <p:cNvSpPr>
            <a:spLocks noChangeAspect="1" noChangeArrowheads="1"/>
          </p:cNvSpPr>
          <p:nvPr/>
        </p:nvSpPr>
        <p:spPr bwMode="auto">
          <a:xfrm>
            <a:off x="9312060" y="30748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p>
        </p:txBody>
      </p:sp>
      <p:pic>
        <p:nvPicPr>
          <p:cNvPr id="5" name="Picture 4">
            <a:extLst>
              <a:ext uri="{FF2B5EF4-FFF2-40B4-BE49-F238E27FC236}">
                <a16:creationId xmlns:a16="http://schemas.microsoft.com/office/drawing/2014/main" id="{019D1810-2B46-FD33-25F7-F638B9AE209E}"/>
              </a:ext>
            </a:extLst>
          </p:cNvPr>
          <p:cNvPicPr>
            <a:picLocks noChangeAspect="1"/>
          </p:cNvPicPr>
          <p:nvPr/>
        </p:nvPicPr>
        <p:blipFill>
          <a:blip r:embed="rId3"/>
          <a:stretch>
            <a:fillRect/>
          </a:stretch>
        </p:blipFill>
        <p:spPr>
          <a:xfrm>
            <a:off x="3873689" y="1526628"/>
            <a:ext cx="6682154" cy="4396154"/>
          </a:xfrm>
          <a:prstGeom prst="rect">
            <a:avLst/>
          </a:prstGeom>
          <a:ln w="38100">
            <a:solidFill>
              <a:schemeClr val="accent4"/>
            </a:solidFill>
          </a:ln>
        </p:spPr>
      </p:pic>
      <p:sp>
        <p:nvSpPr>
          <p:cNvPr id="8" name="TextBox 7">
            <a:extLst>
              <a:ext uri="{FF2B5EF4-FFF2-40B4-BE49-F238E27FC236}">
                <a16:creationId xmlns:a16="http://schemas.microsoft.com/office/drawing/2014/main" id="{280F5346-A0D7-BCD2-5244-544E044B55BB}"/>
              </a:ext>
            </a:extLst>
          </p:cNvPr>
          <p:cNvSpPr txBox="1"/>
          <p:nvPr/>
        </p:nvSpPr>
        <p:spPr>
          <a:xfrm>
            <a:off x="6413351" y="4281620"/>
            <a:ext cx="1077319" cy="338554"/>
          </a:xfrm>
          <a:prstGeom prst="rect">
            <a:avLst/>
          </a:prstGeom>
          <a:noFill/>
        </p:spPr>
        <p:txBody>
          <a:bodyPr wrap="square" rtlCol="0">
            <a:spAutoFit/>
          </a:bodyPr>
          <a:lstStyle/>
          <a:p>
            <a:r>
              <a:rPr lang="en-GB" sz="1600" b="1" dirty="0">
                <a:solidFill>
                  <a:srgbClr val="002060"/>
                </a:solidFill>
              </a:rPr>
              <a:t>R Chart</a:t>
            </a:r>
            <a:endParaRPr lang="en-US" sz="1600" b="1" dirty="0">
              <a:solidFill>
                <a:srgbClr val="002060"/>
              </a:solidFill>
            </a:endParaRPr>
          </a:p>
        </p:txBody>
      </p:sp>
      <p:sp>
        <p:nvSpPr>
          <p:cNvPr id="10" name="TextBox 9">
            <a:extLst>
              <a:ext uri="{FF2B5EF4-FFF2-40B4-BE49-F238E27FC236}">
                <a16:creationId xmlns:a16="http://schemas.microsoft.com/office/drawing/2014/main" id="{C70CFE39-14A6-B65A-E452-FC6B4EBFF180}"/>
              </a:ext>
            </a:extLst>
          </p:cNvPr>
          <p:cNvSpPr txBox="1"/>
          <p:nvPr/>
        </p:nvSpPr>
        <p:spPr>
          <a:xfrm>
            <a:off x="6488178" y="2071105"/>
            <a:ext cx="762000" cy="584775"/>
          </a:xfrm>
          <a:prstGeom prst="rect">
            <a:avLst/>
          </a:prstGeom>
          <a:solidFill>
            <a:schemeClr val="bg1"/>
          </a:solidFill>
        </p:spPr>
        <p:txBody>
          <a:bodyPr wrap="square" rtlCol="0">
            <a:spAutoFit/>
          </a:bodyPr>
          <a:lstStyle/>
          <a:p>
            <a:pPr algn="ctr"/>
            <a:r>
              <a:rPr lang="en-GB" sz="1600" b="1" dirty="0">
                <a:solidFill>
                  <a:srgbClr val="002060"/>
                </a:solidFill>
              </a:rPr>
              <a:t>X Bar Chart</a:t>
            </a:r>
            <a:endParaRPr lang="en-US" sz="1600" b="1" dirty="0">
              <a:solidFill>
                <a:srgbClr val="002060"/>
              </a:solidFill>
            </a:endParaRPr>
          </a:p>
        </p:txBody>
      </p:sp>
      <p:pic>
        <p:nvPicPr>
          <p:cNvPr id="14" name="Picture 13">
            <a:extLst>
              <a:ext uri="{FF2B5EF4-FFF2-40B4-BE49-F238E27FC236}">
                <a16:creationId xmlns:a16="http://schemas.microsoft.com/office/drawing/2014/main" id="{B2A6C920-B09E-05ED-0702-D07EA6DA7A2A}"/>
              </a:ext>
            </a:extLst>
          </p:cNvPr>
          <p:cNvPicPr>
            <a:picLocks noChangeAspect="1"/>
          </p:cNvPicPr>
          <p:nvPr/>
        </p:nvPicPr>
        <p:blipFill>
          <a:blip r:embed="rId4"/>
          <a:stretch>
            <a:fillRect/>
          </a:stretch>
        </p:blipFill>
        <p:spPr>
          <a:xfrm>
            <a:off x="6053144" y="1528297"/>
            <a:ext cx="2245904" cy="381053"/>
          </a:xfrm>
          <a:prstGeom prst="rect">
            <a:avLst/>
          </a:prstGeom>
        </p:spPr>
      </p:pic>
      <p:sp>
        <p:nvSpPr>
          <p:cNvPr id="15" name="TextBox 14">
            <a:extLst>
              <a:ext uri="{FF2B5EF4-FFF2-40B4-BE49-F238E27FC236}">
                <a16:creationId xmlns:a16="http://schemas.microsoft.com/office/drawing/2014/main" id="{2B48BF90-0C0F-F6D2-60AA-67661BD1CDB7}"/>
              </a:ext>
            </a:extLst>
          </p:cNvPr>
          <p:cNvSpPr txBox="1"/>
          <p:nvPr/>
        </p:nvSpPr>
        <p:spPr>
          <a:xfrm>
            <a:off x="5007579" y="1559318"/>
            <a:ext cx="3674148" cy="307777"/>
          </a:xfrm>
          <a:prstGeom prst="rect">
            <a:avLst/>
          </a:prstGeom>
          <a:solidFill>
            <a:schemeClr val="bg1"/>
          </a:solidFill>
        </p:spPr>
        <p:txBody>
          <a:bodyPr wrap="square" rtlCol="0">
            <a:spAutoFit/>
          </a:bodyPr>
          <a:lstStyle/>
          <a:p>
            <a:pPr algn="ctr"/>
            <a:r>
              <a:rPr lang="en-GB" sz="1400" b="1" dirty="0">
                <a:solidFill>
                  <a:schemeClr val="accent5"/>
                </a:solidFill>
              </a:rPr>
              <a:t>Days to complete Onboarding</a:t>
            </a:r>
            <a:endParaRPr lang="en-US" sz="1400" b="1" dirty="0">
              <a:solidFill>
                <a:schemeClr val="accent5"/>
              </a:solidFill>
            </a:endParaRPr>
          </a:p>
        </p:txBody>
      </p:sp>
      <p:sp>
        <p:nvSpPr>
          <p:cNvPr id="18" name="TextBox 17">
            <a:extLst>
              <a:ext uri="{FF2B5EF4-FFF2-40B4-BE49-F238E27FC236}">
                <a16:creationId xmlns:a16="http://schemas.microsoft.com/office/drawing/2014/main" id="{AAC7DB0C-6244-14B8-09C6-CC7D1755BC9E}"/>
              </a:ext>
            </a:extLst>
          </p:cNvPr>
          <p:cNvSpPr txBox="1"/>
          <p:nvPr/>
        </p:nvSpPr>
        <p:spPr>
          <a:xfrm>
            <a:off x="5157278" y="3698795"/>
            <a:ext cx="3674148" cy="307777"/>
          </a:xfrm>
          <a:prstGeom prst="rect">
            <a:avLst/>
          </a:prstGeom>
          <a:solidFill>
            <a:schemeClr val="bg1"/>
          </a:solidFill>
        </p:spPr>
        <p:txBody>
          <a:bodyPr wrap="square" rtlCol="0">
            <a:spAutoFit/>
          </a:bodyPr>
          <a:lstStyle/>
          <a:p>
            <a:pPr algn="ctr"/>
            <a:r>
              <a:rPr lang="en-GB" sz="1400" b="1" dirty="0">
                <a:solidFill>
                  <a:schemeClr val="accent5"/>
                </a:solidFill>
              </a:rPr>
              <a:t>Range Sample – days to complete</a:t>
            </a:r>
            <a:endParaRPr lang="en-US" sz="1400" b="1" dirty="0">
              <a:solidFill>
                <a:schemeClr val="accent5"/>
              </a:solidFill>
            </a:endParaRPr>
          </a:p>
        </p:txBody>
      </p:sp>
      <p:graphicFrame>
        <p:nvGraphicFramePr>
          <p:cNvPr id="22" name="Table 21">
            <a:extLst>
              <a:ext uri="{FF2B5EF4-FFF2-40B4-BE49-F238E27FC236}">
                <a16:creationId xmlns:a16="http://schemas.microsoft.com/office/drawing/2014/main" id="{F7368334-4413-E82C-128B-3CD677EA2166}"/>
              </a:ext>
            </a:extLst>
          </p:cNvPr>
          <p:cNvGraphicFramePr>
            <a:graphicFrameLocks noGrp="1"/>
          </p:cNvGraphicFramePr>
          <p:nvPr>
            <p:extLst>
              <p:ext uri="{D42A27DB-BD31-4B8C-83A1-F6EECF244321}">
                <p14:modId xmlns:p14="http://schemas.microsoft.com/office/powerpoint/2010/main" val="953969833"/>
              </p:ext>
            </p:extLst>
          </p:nvPr>
        </p:nvGraphicFramePr>
        <p:xfrm>
          <a:off x="324410" y="2940914"/>
          <a:ext cx="2498256" cy="2346960"/>
        </p:xfrm>
        <a:graphic>
          <a:graphicData uri="http://schemas.openxmlformats.org/drawingml/2006/table">
            <a:tbl>
              <a:tblPr/>
              <a:tblGrid>
                <a:gridCol w="1249128">
                  <a:extLst>
                    <a:ext uri="{9D8B030D-6E8A-4147-A177-3AD203B41FA5}">
                      <a16:colId xmlns:a16="http://schemas.microsoft.com/office/drawing/2014/main" val="3535440251"/>
                    </a:ext>
                  </a:extLst>
                </a:gridCol>
                <a:gridCol w="1249128">
                  <a:extLst>
                    <a:ext uri="{9D8B030D-6E8A-4147-A177-3AD203B41FA5}">
                      <a16:colId xmlns:a16="http://schemas.microsoft.com/office/drawing/2014/main" val="930501853"/>
                    </a:ext>
                  </a:extLst>
                </a:gridCol>
              </a:tblGrid>
              <a:tr h="365760">
                <a:tc>
                  <a:txBody>
                    <a:bodyPr/>
                    <a:lstStyle/>
                    <a:p>
                      <a:pPr algn="ctr">
                        <a:buNone/>
                      </a:pPr>
                      <a:r>
                        <a:rPr lang="en-US" sz="1400" b="1" dirty="0">
                          <a:solidFill>
                            <a:schemeClr val="bg1"/>
                          </a:solidFill>
                        </a:rPr>
                        <a:t>Employee</a:t>
                      </a:r>
                    </a:p>
                  </a:txBody>
                  <a:tcPr anchor="ctr">
                    <a:lnL>
                      <a:noFill/>
                    </a:lnL>
                    <a:lnR>
                      <a:noFill/>
                    </a:lnR>
                    <a:lnT>
                      <a:noFill/>
                    </a:lnT>
                    <a:lnB w="12700" cap="flat" cmpd="sng" algn="ctr">
                      <a:solidFill>
                        <a:schemeClr val="tx1"/>
                      </a:solidFill>
                      <a:prstDash val="solid"/>
                      <a:round/>
                      <a:headEnd type="none" w="med" len="med"/>
                      <a:tailEnd type="none" w="med" len="med"/>
                    </a:lnB>
                    <a:solidFill>
                      <a:schemeClr val="accent3"/>
                    </a:solidFill>
                  </a:tcPr>
                </a:tc>
                <a:tc>
                  <a:txBody>
                    <a:bodyPr/>
                    <a:lstStyle/>
                    <a:p>
                      <a:pPr algn="ctr">
                        <a:buNone/>
                      </a:pPr>
                      <a:r>
                        <a:rPr lang="en-US" sz="1400" b="1" dirty="0">
                          <a:solidFill>
                            <a:schemeClr val="bg1"/>
                          </a:solidFill>
                        </a:rPr>
                        <a:t>Days to Onboard</a:t>
                      </a:r>
                    </a:p>
                  </a:txBody>
                  <a:tcPr anchor="ctr">
                    <a:lnL>
                      <a:noFill/>
                    </a:lnL>
                    <a:lnR>
                      <a:noFill/>
                    </a:lnR>
                    <a:lnT>
                      <a:noFill/>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2107061368"/>
                  </a:ext>
                </a:extLst>
              </a:tr>
              <a:tr h="365760">
                <a:tc>
                  <a:txBody>
                    <a:bodyPr/>
                    <a:lstStyle/>
                    <a:p>
                      <a:pPr algn="ctr">
                        <a:buNone/>
                      </a:pPr>
                      <a:r>
                        <a:rPr lang="en-US" sz="1200" b="1" dirty="0">
                          <a:solidFill>
                            <a:schemeClr val="accent5"/>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dirty="0">
                          <a:solidFill>
                            <a:schemeClr val="accent5"/>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1933954"/>
                  </a:ext>
                </a:extLst>
              </a:tr>
              <a:tr h="365760">
                <a:tc>
                  <a:txBody>
                    <a:bodyPr/>
                    <a:lstStyle/>
                    <a:p>
                      <a:pPr algn="ctr">
                        <a:buNone/>
                      </a:pPr>
                      <a:r>
                        <a:rPr lang="en-US" sz="1200" b="1" dirty="0">
                          <a:solidFill>
                            <a:schemeClr val="accent5"/>
                          </a:solidFill>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dirty="0">
                          <a:solidFill>
                            <a:schemeClr val="accent5"/>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1095370"/>
                  </a:ext>
                </a:extLst>
              </a:tr>
              <a:tr h="365760">
                <a:tc>
                  <a:txBody>
                    <a:bodyPr/>
                    <a:lstStyle/>
                    <a:p>
                      <a:pPr algn="ctr">
                        <a:buNone/>
                      </a:pPr>
                      <a:r>
                        <a:rPr lang="en-US" sz="1200" b="1" dirty="0">
                          <a:solidFill>
                            <a:schemeClr val="accent5"/>
                          </a:solidFill>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dirty="0">
                          <a:solidFill>
                            <a:schemeClr val="accent5"/>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3156116"/>
                  </a:ext>
                </a:extLst>
              </a:tr>
              <a:tr h="365760">
                <a:tc>
                  <a:txBody>
                    <a:bodyPr/>
                    <a:lstStyle/>
                    <a:p>
                      <a:pPr algn="ctr">
                        <a:buNone/>
                      </a:pPr>
                      <a:r>
                        <a:rPr lang="en-US" sz="1200" b="1" dirty="0">
                          <a:solidFill>
                            <a:schemeClr val="accent5"/>
                          </a:solidFill>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dirty="0">
                          <a:solidFill>
                            <a:schemeClr val="accent5"/>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7679968"/>
                  </a:ext>
                </a:extLst>
              </a:tr>
              <a:tr h="365760">
                <a:tc>
                  <a:txBody>
                    <a:bodyPr/>
                    <a:lstStyle/>
                    <a:p>
                      <a:pPr algn="ctr">
                        <a:buNone/>
                      </a:pPr>
                      <a:r>
                        <a:rPr lang="en-US" sz="1200" b="1" dirty="0">
                          <a:solidFill>
                            <a:schemeClr val="accent5"/>
                          </a:solidFill>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dirty="0">
                          <a:solidFill>
                            <a:schemeClr val="accent5"/>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7927578"/>
                  </a:ext>
                </a:extLst>
              </a:tr>
            </a:tbl>
          </a:graphicData>
        </a:graphic>
      </p:graphicFrame>
      <p:sp>
        <p:nvSpPr>
          <p:cNvPr id="23" name="TextBox 22">
            <a:extLst>
              <a:ext uri="{FF2B5EF4-FFF2-40B4-BE49-F238E27FC236}">
                <a16:creationId xmlns:a16="http://schemas.microsoft.com/office/drawing/2014/main" id="{64E9516D-84D8-0A56-0516-2BF78C3FCDCA}"/>
              </a:ext>
            </a:extLst>
          </p:cNvPr>
          <p:cNvSpPr txBox="1"/>
          <p:nvPr/>
        </p:nvSpPr>
        <p:spPr>
          <a:xfrm>
            <a:off x="241362" y="1526628"/>
            <a:ext cx="3498574" cy="307777"/>
          </a:xfrm>
          <a:prstGeom prst="rect">
            <a:avLst/>
          </a:prstGeom>
          <a:noFill/>
        </p:spPr>
        <p:txBody>
          <a:bodyPr wrap="square" rtlCol="0">
            <a:spAutoFit/>
          </a:bodyPr>
          <a:lstStyle/>
          <a:p>
            <a:r>
              <a:rPr lang="en-GB" sz="1400" dirty="0">
                <a:solidFill>
                  <a:srgbClr val="002060"/>
                </a:solidFill>
              </a:rPr>
              <a:t>Observation 1 Example</a:t>
            </a:r>
            <a:endParaRPr lang="en-US" sz="1400" dirty="0">
              <a:solidFill>
                <a:srgbClr val="002060"/>
              </a:solidFill>
            </a:endParaRPr>
          </a:p>
        </p:txBody>
      </p:sp>
      <p:sp>
        <p:nvSpPr>
          <p:cNvPr id="24" name="TextBox 23">
            <a:extLst>
              <a:ext uri="{FF2B5EF4-FFF2-40B4-BE49-F238E27FC236}">
                <a16:creationId xmlns:a16="http://schemas.microsoft.com/office/drawing/2014/main" id="{5B246BF8-94B7-C187-97C5-FAE1215A54C0}"/>
              </a:ext>
            </a:extLst>
          </p:cNvPr>
          <p:cNvSpPr txBox="1"/>
          <p:nvPr/>
        </p:nvSpPr>
        <p:spPr>
          <a:xfrm>
            <a:off x="324410" y="1866726"/>
            <a:ext cx="2498256" cy="954107"/>
          </a:xfrm>
          <a:prstGeom prst="rect">
            <a:avLst/>
          </a:prstGeom>
          <a:solidFill>
            <a:schemeClr val="tx2"/>
          </a:solidFill>
        </p:spPr>
        <p:txBody>
          <a:bodyPr wrap="square" rtlCol="0">
            <a:spAutoFit/>
          </a:bodyPr>
          <a:lstStyle/>
          <a:p>
            <a:r>
              <a:rPr lang="en-GB" sz="1400" dirty="0">
                <a:solidFill>
                  <a:schemeClr val="bg1"/>
                </a:solidFill>
              </a:rPr>
              <a:t>X bar shows 5.2.</a:t>
            </a:r>
          </a:p>
          <a:p>
            <a:r>
              <a:rPr lang="en-GB" sz="1400" dirty="0">
                <a:solidFill>
                  <a:schemeClr val="bg1"/>
                </a:solidFill>
              </a:rPr>
              <a:t>Sample:</a:t>
            </a:r>
          </a:p>
          <a:p>
            <a:r>
              <a:rPr lang="en-GB" sz="1400" dirty="0">
                <a:solidFill>
                  <a:schemeClr val="bg1"/>
                </a:solidFill>
              </a:rPr>
              <a:t>4+5+5+6+6 = 26</a:t>
            </a:r>
          </a:p>
          <a:p>
            <a:r>
              <a:rPr lang="en-GB" sz="1400" dirty="0">
                <a:solidFill>
                  <a:schemeClr val="bg1"/>
                </a:solidFill>
              </a:rPr>
              <a:t>26/5 = 5.2</a:t>
            </a:r>
            <a:endParaRPr lang="en-US" sz="1400" dirty="0">
              <a:solidFill>
                <a:schemeClr val="bg1"/>
              </a:solidFill>
            </a:endParaRPr>
          </a:p>
        </p:txBody>
      </p:sp>
      <p:sp>
        <p:nvSpPr>
          <p:cNvPr id="25" name="Flowchart: Connector 24">
            <a:extLst>
              <a:ext uri="{FF2B5EF4-FFF2-40B4-BE49-F238E27FC236}">
                <a16:creationId xmlns:a16="http://schemas.microsoft.com/office/drawing/2014/main" id="{6DE5B777-3244-6488-45A5-FCAA58E6C755}"/>
              </a:ext>
            </a:extLst>
          </p:cNvPr>
          <p:cNvSpPr/>
          <p:nvPr/>
        </p:nvSpPr>
        <p:spPr>
          <a:xfrm>
            <a:off x="4190892" y="2545906"/>
            <a:ext cx="477078" cy="395008"/>
          </a:xfrm>
          <a:prstGeom prst="flowChartConnector">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 name="Straight Arrow Connector 26">
            <a:extLst>
              <a:ext uri="{FF2B5EF4-FFF2-40B4-BE49-F238E27FC236}">
                <a16:creationId xmlns:a16="http://schemas.microsoft.com/office/drawing/2014/main" id="{2826E79F-8CB7-62CD-9992-BA3085157E4D}"/>
              </a:ext>
            </a:extLst>
          </p:cNvPr>
          <p:cNvCxnSpPr>
            <a:stCxn id="24" idx="3"/>
          </p:cNvCxnSpPr>
          <p:nvPr/>
        </p:nvCxnSpPr>
        <p:spPr>
          <a:xfrm>
            <a:off x="2822666" y="2343780"/>
            <a:ext cx="1321951" cy="35887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0340A33-FB01-D4DB-0645-8FF2F9E80A76}"/>
              </a:ext>
            </a:extLst>
          </p:cNvPr>
          <p:cNvSpPr txBox="1"/>
          <p:nvPr/>
        </p:nvSpPr>
        <p:spPr>
          <a:xfrm>
            <a:off x="324410" y="5450953"/>
            <a:ext cx="2498256" cy="738664"/>
          </a:xfrm>
          <a:prstGeom prst="rect">
            <a:avLst/>
          </a:prstGeom>
          <a:solidFill>
            <a:srgbClr val="00B0F0"/>
          </a:solidFill>
        </p:spPr>
        <p:txBody>
          <a:bodyPr wrap="square" rtlCol="0">
            <a:spAutoFit/>
          </a:bodyPr>
          <a:lstStyle/>
          <a:p>
            <a:r>
              <a:rPr lang="en-GB" sz="1400" dirty="0">
                <a:solidFill>
                  <a:schemeClr val="bg1"/>
                </a:solidFill>
              </a:rPr>
              <a:t>R bar shows.</a:t>
            </a:r>
          </a:p>
          <a:p>
            <a:r>
              <a:rPr lang="en-GB" sz="1400" dirty="0">
                <a:solidFill>
                  <a:schemeClr val="bg1"/>
                </a:solidFill>
              </a:rPr>
              <a:t>Sample:</a:t>
            </a:r>
          </a:p>
          <a:p>
            <a:r>
              <a:rPr lang="en-GB" sz="1400" dirty="0">
                <a:solidFill>
                  <a:schemeClr val="bg1"/>
                </a:solidFill>
              </a:rPr>
              <a:t>Highest (6) – lowest (4) = 2</a:t>
            </a:r>
          </a:p>
        </p:txBody>
      </p:sp>
      <p:sp>
        <p:nvSpPr>
          <p:cNvPr id="29" name="Flowchart: Connector 28">
            <a:extLst>
              <a:ext uri="{FF2B5EF4-FFF2-40B4-BE49-F238E27FC236}">
                <a16:creationId xmlns:a16="http://schemas.microsoft.com/office/drawing/2014/main" id="{C86EF87A-662C-EFC9-5EB9-081156DB5B9D}"/>
              </a:ext>
            </a:extLst>
          </p:cNvPr>
          <p:cNvSpPr/>
          <p:nvPr/>
        </p:nvSpPr>
        <p:spPr>
          <a:xfrm>
            <a:off x="4144617" y="4353339"/>
            <a:ext cx="506511" cy="395008"/>
          </a:xfrm>
          <a:prstGeom prst="flowChartConnector">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0" name="Straight Arrow Connector 29">
            <a:extLst>
              <a:ext uri="{FF2B5EF4-FFF2-40B4-BE49-F238E27FC236}">
                <a16:creationId xmlns:a16="http://schemas.microsoft.com/office/drawing/2014/main" id="{7170D513-91D9-B13A-E36D-BFD17DC2F252}"/>
              </a:ext>
            </a:extLst>
          </p:cNvPr>
          <p:cNvCxnSpPr>
            <a:cxnSpLocks/>
            <a:stCxn id="28" idx="3"/>
          </p:cNvCxnSpPr>
          <p:nvPr/>
        </p:nvCxnSpPr>
        <p:spPr>
          <a:xfrm flipV="1">
            <a:off x="2822666" y="4754054"/>
            <a:ext cx="1321951" cy="1066231"/>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3095BC70-6B56-6F04-FB2A-DE4AD64AD460}"/>
              </a:ext>
            </a:extLst>
          </p:cNvPr>
          <p:cNvSpPr/>
          <p:nvPr/>
        </p:nvSpPr>
        <p:spPr>
          <a:xfrm>
            <a:off x="4335527" y="6109706"/>
            <a:ext cx="5758477" cy="5456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Observations</a:t>
            </a:r>
          </a:p>
          <a:p>
            <a:pPr algn="ctr"/>
            <a:r>
              <a:rPr lang="en-GB" sz="1600" dirty="0"/>
              <a:t>For each, the sample size must be the same. </a:t>
            </a:r>
            <a:endParaRPr lang="en-US" sz="1600" dirty="0"/>
          </a:p>
        </p:txBody>
      </p:sp>
    </p:spTree>
    <p:extLst>
      <p:ext uri="{BB962C8B-B14F-4D97-AF65-F5344CB8AC3E}">
        <p14:creationId xmlns:p14="http://schemas.microsoft.com/office/powerpoint/2010/main" val="685901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0A9C9-236C-731B-1278-C9BCA836F1CA}"/>
            </a:ext>
          </a:extLst>
        </p:cNvPr>
        <p:cNvGrpSpPr/>
        <p:nvPr/>
      </p:nvGrpSpPr>
      <p:grpSpPr>
        <a:xfrm>
          <a:off x="0" y="0"/>
          <a:ext cx="1" cy="1"/>
          <a:chOff x="0" y="0"/>
          <a:chExt cx="1" cy="1"/>
        </a:xfrm>
      </p:grpSpPr>
      <p:sp>
        <p:nvSpPr>
          <p:cNvPr id="30" name="Rectangle 29">
            <a:extLst>
              <a:ext uri="{FF2B5EF4-FFF2-40B4-BE49-F238E27FC236}">
                <a16:creationId xmlns:a16="http://schemas.microsoft.com/office/drawing/2014/main" id="{0111AE4A-7C6F-7534-011B-29B084C4C46F}"/>
              </a:ext>
            </a:extLst>
          </p:cNvPr>
          <p:cNvSpPr/>
          <p:nvPr/>
        </p:nvSpPr>
        <p:spPr>
          <a:xfrm>
            <a:off x="298343" y="1785369"/>
            <a:ext cx="11487921" cy="1829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1">
            <a:extLst>
              <a:ext uri="{FF2B5EF4-FFF2-40B4-BE49-F238E27FC236}">
                <a16:creationId xmlns:a16="http://schemas.microsoft.com/office/drawing/2014/main" id="{61091BF7-4837-B517-73EA-3703F141AE95}"/>
              </a:ext>
            </a:extLst>
          </p:cNvPr>
          <p:cNvSpPr>
            <a:spLocks noGrp="1"/>
          </p:cNvSpPr>
          <p:nvPr>
            <p:ph type="body" sz="quarter" idx="10"/>
          </p:nvPr>
        </p:nvSpPr>
        <p:spPr>
          <a:xfrm>
            <a:off x="386280" y="387674"/>
            <a:ext cx="8605962" cy="923330"/>
          </a:xfrm>
        </p:spPr>
        <p:txBody>
          <a:bodyPr>
            <a:normAutofit/>
          </a:bodyPr>
          <a:lstStyle/>
          <a:p>
            <a:pPr>
              <a:lnSpc>
                <a:spcPct val="80000"/>
              </a:lnSpc>
            </a:pPr>
            <a:r>
              <a:rPr lang="en-GB" sz="3200" dirty="0">
                <a:latin typeface="+mj-lt"/>
              </a:rPr>
              <a:t>A</a:t>
            </a:r>
            <a:r>
              <a:rPr lang="en-US" sz="3200" dirty="0">
                <a:latin typeface="+mj-lt"/>
              </a:rPr>
              <a:t>nalyze the Process</a:t>
            </a:r>
          </a:p>
        </p:txBody>
      </p:sp>
      <p:sp>
        <p:nvSpPr>
          <p:cNvPr id="4" name="Text Placeholder 3">
            <a:extLst>
              <a:ext uri="{FF2B5EF4-FFF2-40B4-BE49-F238E27FC236}">
                <a16:creationId xmlns:a16="http://schemas.microsoft.com/office/drawing/2014/main" id="{C5B260B4-8E78-6F44-2425-2601B416C375}"/>
              </a:ext>
            </a:extLst>
          </p:cNvPr>
          <p:cNvSpPr>
            <a:spLocks noGrp="1"/>
          </p:cNvSpPr>
          <p:nvPr>
            <p:ph type="body" sz="quarter" idx="13"/>
          </p:nvPr>
        </p:nvSpPr>
        <p:spPr>
          <a:xfrm>
            <a:off x="317799" y="1394504"/>
            <a:ext cx="5664356" cy="378068"/>
          </a:xfrm>
        </p:spPr>
        <p:txBody>
          <a:bodyPr>
            <a:normAutofit/>
          </a:bodyPr>
          <a:lstStyle/>
          <a:p>
            <a:r>
              <a:rPr lang="en-GB" sz="1600" dirty="0">
                <a:solidFill>
                  <a:schemeClr val="accent5"/>
                </a:solidFill>
                <a:latin typeface="+mj-lt"/>
              </a:rPr>
              <a:t>There are 6 steps in the process:</a:t>
            </a:r>
          </a:p>
          <a:p>
            <a:endParaRPr lang="en-GB" sz="1600" dirty="0">
              <a:solidFill>
                <a:schemeClr val="accent5"/>
              </a:solidFill>
              <a:latin typeface="+mj-lt"/>
            </a:endParaRPr>
          </a:p>
          <a:p>
            <a:pPr algn="r"/>
            <a:endParaRPr lang="en-US" sz="1600" noProof="0" dirty="0">
              <a:solidFill>
                <a:schemeClr val="accent5"/>
              </a:solidFill>
              <a:latin typeface="+mj-lt"/>
            </a:endParaRPr>
          </a:p>
          <a:p>
            <a:endParaRPr lang="en-US" sz="1600" noProof="0" dirty="0">
              <a:solidFill>
                <a:schemeClr val="accent5"/>
              </a:solidFill>
              <a:latin typeface="+mj-lt"/>
            </a:endParaRPr>
          </a:p>
          <a:p>
            <a:endParaRPr lang="en-US" sz="1600" noProof="0" dirty="0">
              <a:solidFill>
                <a:schemeClr val="accent5"/>
              </a:solidFill>
              <a:latin typeface="+mj-lt"/>
            </a:endParaRPr>
          </a:p>
          <a:p>
            <a:endParaRPr lang="en-US" sz="1600" dirty="0">
              <a:solidFill>
                <a:schemeClr val="accent5"/>
              </a:solidFill>
              <a:latin typeface="+mj-lt"/>
            </a:endParaRPr>
          </a:p>
          <a:p>
            <a:endParaRPr lang="en-US" sz="1600" noProof="0" dirty="0">
              <a:solidFill>
                <a:schemeClr val="accent5"/>
              </a:solidFill>
              <a:latin typeface="+mj-lt"/>
            </a:endParaRPr>
          </a:p>
          <a:p>
            <a:endParaRPr lang="en-US" sz="2400" dirty="0">
              <a:solidFill>
                <a:schemeClr val="accent5"/>
              </a:solidFill>
              <a:latin typeface="+mj-lt"/>
            </a:endParaRPr>
          </a:p>
        </p:txBody>
      </p:sp>
      <p:sp>
        <p:nvSpPr>
          <p:cNvPr id="9" name="TextBox 8">
            <a:extLst>
              <a:ext uri="{FF2B5EF4-FFF2-40B4-BE49-F238E27FC236}">
                <a16:creationId xmlns:a16="http://schemas.microsoft.com/office/drawing/2014/main" id="{EE0E6257-71C6-3EDE-9E07-9386918A9DDD}"/>
              </a:ext>
            </a:extLst>
          </p:cNvPr>
          <p:cNvSpPr txBox="1"/>
          <p:nvPr/>
        </p:nvSpPr>
        <p:spPr>
          <a:xfrm>
            <a:off x="317799" y="3734907"/>
            <a:ext cx="4396442" cy="2406428"/>
          </a:xfrm>
          <a:prstGeom prst="rect">
            <a:avLst/>
          </a:prstGeom>
          <a:solidFill>
            <a:schemeClr val="bg1"/>
          </a:solidFill>
          <a:ln w="38100">
            <a:solidFill>
              <a:schemeClr val="accent3"/>
            </a:solidFill>
          </a:ln>
        </p:spPr>
        <p:txBody>
          <a:bodyPr wrap="square">
            <a:spAutoFit/>
          </a:bodyPr>
          <a:lstStyle/>
          <a:p>
            <a:pPr fontAlgn="t">
              <a:lnSpc>
                <a:spcPts val="1500"/>
              </a:lnSpc>
              <a:buNone/>
            </a:pPr>
            <a:r>
              <a:rPr lang="en-GB" sz="1400" b="1" dirty="0">
                <a:solidFill>
                  <a:schemeClr val="accent5"/>
                </a:solidFill>
              </a:rPr>
              <a:t>X-Bar Chart </a:t>
            </a:r>
            <a:r>
              <a:rPr lang="en-GB" sz="1400" dirty="0">
                <a:solidFill>
                  <a:schemeClr val="accent5"/>
                </a:solidFill>
              </a:rPr>
              <a:t>(Average Days to Complete Onboarding)</a:t>
            </a:r>
          </a:p>
          <a:p>
            <a:pPr fontAlgn="t">
              <a:lnSpc>
                <a:spcPts val="1500"/>
              </a:lnSpc>
              <a:buNone/>
            </a:pPr>
            <a:endParaRPr lang="en-GB" sz="1400" dirty="0">
              <a:solidFill>
                <a:schemeClr val="accent5"/>
              </a:solidFill>
            </a:endParaRPr>
          </a:p>
          <a:p>
            <a:pPr fontAlgn="t">
              <a:lnSpc>
                <a:spcPts val="1500"/>
              </a:lnSpc>
              <a:buNone/>
            </a:pPr>
            <a:r>
              <a:rPr lang="en-GB" sz="1400" dirty="0">
                <a:solidFill>
                  <a:schemeClr val="accent5"/>
                </a:solidFill>
              </a:rPr>
              <a:t>The average onboarding time is not stable.</a:t>
            </a:r>
          </a:p>
          <a:p>
            <a:pPr fontAlgn="t">
              <a:lnSpc>
                <a:spcPts val="1500"/>
              </a:lnSpc>
              <a:buNone/>
            </a:pPr>
            <a:endParaRPr lang="en-GB" sz="1400" dirty="0">
              <a:solidFill>
                <a:schemeClr val="accent5"/>
              </a:solidFill>
            </a:endParaRPr>
          </a:p>
          <a:p>
            <a:pPr marL="285750" indent="-285750" fontAlgn="t">
              <a:lnSpc>
                <a:spcPts val="1500"/>
              </a:lnSpc>
              <a:buFont typeface="Arial" panose="020B0604020202020204" pitchFamily="34" charset="0"/>
              <a:buChar char="•"/>
            </a:pPr>
            <a:r>
              <a:rPr lang="en-GB" sz="1400" dirty="0">
                <a:solidFill>
                  <a:schemeClr val="accent5"/>
                </a:solidFill>
              </a:rPr>
              <a:t>The overall average is 5.36 days.</a:t>
            </a:r>
          </a:p>
          <a:p>
            <a:pPr marL="285750" indent="-285750" fontAlgn="t">
              <a:lnSpc>
                <a:spcPts val="1500"/>
              </a:lnSpc>
              <a:buFont typeface="Arial" panose="020B0604020202020204" pitchFamily="34" charset="0"/>
              <a:buChar char="•"/>
            </a:pPr>
            <a:r>
              <a:rPr lang="en-GB" sz="1400" dirty="0">
                <a:solidFill>
                  <a:schemeClr val="accent5"/>
                </a:solidFill>
              </a:rPr>
              <a:t>Samples 2, 4, and 7 are above the Upper Control Limit.</a:t>
            </a:r>
          </a:p>
          <a:p>
            <a:pPr marL="285750" indent="-285750" fontAlgn="t">
              <a:lnSpc>
                <a:spcPts val="1500"/>
              </a:lnSpc>
              <a:buFont typeface="Arial" panose="020B0604020202020204" pitchFamily="34" charset="0"/>
              <a:buChar char="•"/>
            </a:pPr>
            <a:r>
              <a:rPr lang="en-GB" sz="1400" dirty="0">
                <a:solidFill>
                  <a:schemeClr val="accent5"/>
                </a:solidFill>
              </a:rPr>
              <a:t>Samples 3 and 5 are below the Lower Control Limit.</a:t>
            </a:r>
          </a:p>
          <a:p>
            <a:pPr fontAlgn="t">
              <a:lnSpc>
                <a:spcPts val="1500"/>
              </a:lnSpc>
            </a:pPr>
            <a:endParaRPr lang="en-GB" sz="1400" dirty="0">
              <a:solidFill>
                <a:schemeClr val="accent5"/>
              </a:solidFill>
            </a:endParaRPr>
          </a:p>
          <a:p>
            <a:pPr fontAlgn="t">
              <a:lnSpc>
                <a:spcPts val="1500"/>
              </a:lnSpc>
            </a:pPr>
            <a:r>
              <a:rPr lang="en-GB" sz="1400" dirty="0">
                <a:solidFill>
                  <a:schemeClr val="accent5"/>
                </a:solidFill>
              </a:rPr>
              <a:t>This suggests that something unusual is affecting the average onboarding time during those samples.</a:t>
            </a:r>
          </a:p>
        </p:txBody>
      </p:sp>
      <p:sp>
        <p:nvSpPr>
          <p:cNvPr id="11" name="TextBox 10">
            <a:extLst>
              <a:ext uri="{FF2B5EF4-FFF2-40B4-BE49-F238E27FC236}">
                <a16:creationId xmlns:a16="http://schemas.microsoft.com/office/drawing/2014/main" id="{32218D93-0EB6-3ACB-3C6B-459FB0859D11}"/>
              </a:ext>
            </a:extLst>
          </p:cNvPr>
          <p:cNvSpPr txBox="1"/>
          <p:nvPr/>
        </p:nvSpPr>
        <p:spPr>
          <a:xfrm>
            <a:off x="8661471" y="3734907"/>
            <a:ext cx="2931089" cy="2406428"/>
          </a:xfrm>
          <a:prstGeom prst="rect">
            <a:avLst/>
          </a:prstGeom>
          <a:solidFill>
            <a:schemeClr val="bg1"/>
          </a:solidFill>
          <a:ln w="38100">
            <a:solidFill>
              <a:schemeClr val="tx2"/>
            </a:solidFill>
          </a:ln>
        </p:spPr>
        <p:txBody>
          <a:bodyPr wrap="square">
            <a:spAutoFit/>
          </a:bodyPr>
          <a:lstStyle/>
          <a:p>
            <a:pPr marL="0" marR="0" lvl="0" indent="0" algn="l" defTabSz="914400" rtl="0" eaLnBrk="1" fontAlgn="t" latinLnBrk="0" hangingPunct="1">
              <a:lnSpc>
                <a:spcPts val="1500"/>
              </a:lnSpc>
              <a:spcBef>
                <a:spcPts val="0"/>
              </a:spcBef>
              <a:spcAft>
                <a:spcPts val="0"/>
              </a:spcAft>
              <a:buClrTx/>
              <a:buSzTx/>
              <a:buFontTx/>
              <a:buNone/>
              <a:tabLst/>
              <a:defRPr/>
            </a:pPr>
            <a:r>
              <a:rPr lang="en-US" sz="1400" b="1" dirty="0">
                <a:solidFill>
                  <a:srgbClr val="2B3990"/>
                </a:solidFill>
                <a:latin typeface="Trebuchet MS"/>
              </a:rPr>
              <a:t>Possible Causes of Variation</a:t>
            </a:r>
          </a:p>
          <a:p>
            <a:pPr marL="0" marR="0" lvl="0" indent="0" algn="l" defTabSz="914400" rtl="0" eaLnBrk="1" fontAlgn="t" latinLnBrk="0" hangingPunct="1">
              <a:lnSpc>
                <a:spcPts val="15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2B3990"/>
              </a:solidFill>
              <a:effectLst/>
              <a:uLnTx/>
              <a:uFillTx/>
              <a:latin typeface="Trebuchet MS"/>
              <a:ea typeface="+mn-ea"/>
              <a:cs typeface="+mn-cs"/>
            </a:endParaRPr>
          </a:p>
          <a:p>
            <a:pPr marL="0" marR="0" lvl="0" indent="0" algn="l" defTabSz="914400" rtl="0" eaLnBrk="1" fontAlgn="t" latinLnBrk="0" hangingPunct="1">
              <a:lnSpc>
                <a:spcPts val="1500"/>
              </a:lnSpc>
              <a:spcBef>
                <a:spcPts val="0"/>
              </a:spcBef>
              <a:spcAft>
                <a:spcPts val="0"/>
              </a:spcAft>
              <a:buClrTx/>
              <a:buSzTx/>
              <a:buFontTx/>
              <a:buNone/>
              <a:tabLst/>
              <a:defRPr/>
            </a:pPr>
            <a:r>
              <a:rPr lang="en-US" sz="1400" dirty="0">
                <a:solidFill>
                  <a:srgbClr val="2B3990"/>
                </a:solidFill>
                <a:latin typeface="Trebuchet MS"/>
              </a:rPr>
              <a:t>Potential:</a:t>
            </a:r>
            <a:endParaRPr kumimoji="0" lang="en-US" sz="1400" i="0" u="none" strike="noStrike" kern="1200" cap="none" spc="0" normalizeH="0" baseline="0" noProof="0" dirty="0">
              <a:ln>
                <a:noFill/>
              </a:ln>
              <a:solidFill>
                <a:srgbClr val="2B3990"/>
              </a:solidFill>
              <a:effectLst/>
              <a:uLnTx/>
              <a:uFillTx/>
              <a:latin typeface="Trebuchet MS"/>
              <a:ea typeface="+mn-ea"/>
              <a:cs typeface="+mn-cs"/>
            </a:endParaRPr>
          </a:p>
          <a:p>
            <a:pPr marL="0" marR="0" lvl="0" indent="0" algn="l" defTabSz="914400" rtl="0" eaLnBrk="1" fontAlgn="t" latinLnBrk="0" hangingPunct="1">
              <a:lnSpc>
                <a:spcPts val="15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2B3990"/>
              </a:solidFill>
              <a:effectLst/>
              <a:uLnTx/>
              <a:uFillTx/>
              <a:latin typeface="Trebuchet MS"/>
              <a:ea typeface="+mn-ea"/>
              <a:cs typeface="+mn-cs"/>
            </a:endParaRPr>
          </a:p>
          <a:p>
            <a:pPr marL="285750" marR="0" lvl="0" indent="-285750" algn="l" defTabSz="914400" rtl="0" eaLnBrk="1" fontAlgn="t" latinLnBrk="0" hangingPunct="1">
              <a:lnSpc>
                <a:spcPts val="1500"/>
              </a:lnSpc>
              <a:spcBef>
                <a:spcPts val="0"/>
              </a:spcBef>
              <a:spcAft>
                <a:spcPts val="0"/>
              </a:spcAft>
              <a:buClrTx/>
              <a:buSzTx/>
              <a:buFont typeface="Arial" panose="020B0604020202020204" pitchFamily="34" charset="0"/>
              <a:buChar char="•"/>
              <a:tabLst/>
              <a:defRPr/>
            </a:pPr>
            <a:r>
              <a:rPr lang="en-GB" sz="1400" dirty="0">
                <a:solidFill>
                  <a:schemeClr val="accent5"/>
                </a:solidFill>
              </a:rPr>
              <a:t>Delays in equipment delivery</a:t>
            </a:r>
          </a:p>
          <a:p>
            <a:pPr marL="285750" marR="0" lvl="0" indent="-285750" algn="l" defTabSz="914400" rtl="0" eaLnBrk="1" fontAlgn="t" latinLnBrk="0" hangingPunct="1">
              <a:lnSpc>
                <a:spcPts val="1500"/>
              </a:lnSpc>
              <a:spcBef>
                <a:spcPts val="0"/>
              </a:spcBef>
              <a:spcAft>
                <a:spcPts val="0"/>
              </a:spcAft>
              <a:buClrTx/>
              <a:buSzTx/>
              <a:buFont typeface="Arial" panose="020B0604020202020204" pitchFamily="34" charset="0"/>
              <a:buChar char="•"/>
              <a:tabLst/>
              <a:defRPr/>
            </a:pPr>
            <a:r>
              <a:rPr lang="en-GB" sz="1400" dirty="0">
                <a:solidFill>
                  <a:schemeClr val="accent5"/>
                </a:solidFill>
              </a:rPr>
              <a:t>Delayed manager approvals</a:t>
            </a:r>
          </a:p>
          <a:p>
            <a:pPr marL="285750" marR="0" lvl="0" indent="-285750" algn="l" defTabSz="914400" rtl="0" eaLnBrk="1" fontAlgn="t" latinLnBrk="0" hangingPunct="1">
              <a:lnSpc>
                <a:spcPts val="1500"/>
              </a:lnSpc>
              <a:spcBef>
                <a:spcPts val="0"/>
              </a:spcBef>
              <a:spcAft>
                <a:spcPts val="0"/>
              </a:spcAft>
              <a:buClrTx/>
              <a:buSzTx/>
              <a:buFont typeface="Arial" panose="020B0604020202020204" pitchFamily="34" charset="0"/>
              <a:buChar char="•"/>
              <a:tabLst/>
              <a:defRPr/>
            </a:pPr>
            <a:r>
              <a:rPr lang="en-GB" sz="1400" dirty="0">
                <a:solidFill>
                  <a:schemeClr val="accent5"/>
                </a:solidFill>
              </a:rPr>
              <a:t>Access provisioning issues</a:t>
            </a:r>
          </a:p>
          <a:p>
            <a:pPr marL="285750" marR="0" lvl="0" indent="-285750" algn="l" defTabSz="914400" rtl="0" eaLnBrk="1" fontAlgn="t" latinLnBrk="0" hangingPunct="1">
              <a:lnSpc>
                <a:spcPts val="1500"/>
              </a:lnSpc>
              <a:spcBef>
                <a:spcPts val="0"/>
              </a:spcBef>
              <a:spcAft>
                <a:spcPts val="0"/>
              </a:spcAft>
              <a:buClrTx/>
              <a:buSzTx/>
              <a:buFont typeface="Arial" panose="020B0604020202020204" pitchFamily="34" charset="0"/>
              <a:buChar char="•"/>
              <a:tabLst/>
              <a:defRPr/>
            </a:pPr>
            <a:r>
              <a:rPr lang="en-GB" sz="1400" dirty="0">
                <a:solidFill>
                  <a:schemeClr val="accent5"/>
                </a:solidFill>
              </a:rPr>
              <a:t>Incomplete documentation</a:t>
            </a:r>
          </a:p>
          <a:p>
            <a:pPr marL="285750" marR="0" lvl="0" indent="-285750" algn="l" defTabSz="914400" rtl="0" eaLnBrk="1" fontAlgn="t" latinLnBrk="0" hangingPunct="1">
              <a:lnSpc>
                <a:spcPts val="1500"/>
              </a:lnSpc>
              <a:spcBef>
                <a:spcPts val="0"/>
              </a:spcBef>
              <a:spcAft>
                <a:spcPts val="0"/>
              </a:spcAft>
              <a:buClrTx/>
              <a:buSzTx/>
              <a:buFont typeface="Arial" panose="020B0604020202020204" pitchFamily="34" charset="0"/>
              <a:buChar char="•"/>
              <a:tabLst/>
              <a:defRPr/>
            </a:pPr>
            <a:r>
              <a:rPr lang="en-GB" sz="1400" dirty="0">
                <a:solidFill>
                  <a:schemeClr val="accent5"/>
                </a:solidFill>
              </a:rPr>
              <a:t>Differences in onboarding complexity</a:t>
            </a:r>
          </a:p>
          <a:p>
            <a:pPr marL="285750" marR="0" lvl="0" indent="-285750" algn="l" defTabSz="914400" rtl="0" eaLnBrk="1" fontAlgn="t" latinLnBrk="0" hangingPunct="1">
              <a:lnSpc>
                <a:spcPts val="1500"/>
              </a:lnSpc>
              <a:spcBef>
                <a:spcPts val="0"/>
              </a:spcBef>
              <a:spcAft>
                <a:spcPts val="0"/>
              </a:spcAft>
              <a:buClrTx/>
              <a:buSzTx/>
              <a:buFont typeface="Arial" panose="020B0604020202020204" pitchFamily="34" charset="0"/>
              <a:buChar char="•"/>
              <a:tabLst/>
              <a:defRPr/>
            </a:pPr>
            <a:endParaRPr lang="en-GB" sz="1400" dirty="0">
              <a:solidFill>
                <a:schemeClr val="accent5"/>
              </a:solidFill>
            </a:endParaRPr>
          </a:p>
          <a:p>
            <a:pPr marL="285750" marR="0" lvl="0" indent="-285750" algn="l" defTabSz="914400" rtl="0" eaLnBrk="1" fontAlgn="t" latinLnBrk="0" hangingPunct="1">
              <a:lnSpc>
                <a:spcPts val="1500"/>
              </a:lnSpc>
              <a:spcBef>
                <a:spcPts val="0"/>
              </a:spcBef>
              <a:spcAft>
                <a:spcPts val="0"/>
              </a:spcAft>
              <a:buClrTx/>
              <a:buSzTx/>
              <a:buFont typeface="Arial" panose="020B0604020202020204" pitchFamily="34" charset="0"/>
              <a:buChar char="•"/>
              <a:tabLst/>
              <a:defRPr/>
            </a:pPr>
            <a:endParaRPr lang="en-GB" sz="1400" dirty="0">
              <a:solidFill>
                <a:schemeClr val="accent5"/>
              </a:solidFill>
            </a:endParaRPr>
          </a:p>
        </p:txBody>
      </p:sp>
      <p:pic>
        <p:nvPicPr>
          <p:cNvPr id="19" name="Graphic 18" descr="Teacher with solid fill">
            <a:extLst>
              <a:ext uri="{FF2B5EF4-FFF2-40B4-BE49-F238E27FC236}">
                <a16:creationId xmlns:a16="http://schemas.microsoft.com/office/drawing/2014/main" id="{EFB29887-4CD8-A788-2E94-92F79B73C9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09217" y="1962559"/>
            <a:ext cx="914400" cy="914400"/>
          </a:xfrm>
          <a:prstGeom prst="rect">
            <a:avLst/>
          </a:prstGeom>
        </p:spPr>
      </p:pic>
      <p:pic>
        <p:nvPicPr>
          <p:cNvPr id="21" name="Graphic 20" descr="Clipboard Checked with solid fill">
            <a:extLst>
              <a:ext uri="{FF2B5EF4-FFF2-40B4-BE49-F238E27FC236}">
                <a16:creationId xmlns:a16="http://schemas.microsoft.com/office/drawing/2014/main" id="{107B3150-B4BC-6841-A33B-A4809AE081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92777" y="1959843"/>
            <a:ext cx="914400" cy="914400"/>
          </a:xfrm>
          <a:prstGeom prst="rect">
            <a:avLst/>
          </a:prstGeom>
        </p:spPr>
      </p:pic>
      <p:sp>
        <p:nvSpPr>
          <p:cNvPr id="24" name="Rectangle: Rounded Corners 23">
            <a:extLst>
              <a:ext uri="{FF2B5EF4-FFF2-40B4-BE49-F238E27FC236}">
                <a16:creationId xmlns:a16="http://schemas.microsoft.com/office/drawing/2014/main" id="{94FCF3C6-7D69-4DA3-804B-2C248CA89D44}"/>
              </a:ext>
            </a:extLst>
          </p:cNvPr>
          <p:cNvSpPr/>
          <p:nvPr/>
        </p:nvSpPr>
        <p:spPr>
          <a:xfrm>
            <a:off x="386280" y="2973427"/>
            <a:ext cx="1800000" cy="408143"/>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New hire details</a:t>
            </a:r>
          </a:p>
        </p:txBody>
      </p:sp>
      <p:sp>
        <p:nvSpPr>
          <p:cNvPr id="25" name="Rectangle: Rounded Corners 24">
            <a:extLst>
              <a:ext uri="{FF2B5EF4-FFF2-40B4-BE49-F238E27FC236}">
                <a16:creationId xmlns:a16="http://schemas.microsoft.com/office/drawing/2014/main" id="{28565753-B3FA-682F-9D9A-C9E076D5642A}"/>
              </a:ext>
            </a:extLst>
          </p:cNvPr>
          <p:cNvSpPr/>
          <p:nvPr/>
        </p:nvSpPr>
        <p:spPr>
          <a:xfrm>
            <a:off x="2297503" y="2980787"/>
            <a:ext cx="1800000" cy="40814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b="1" dirty="0">
              <a:solidFill>
                <a:schemeClr val="bg1"/>
              </a:solidFill>
            </a:endParaRPr>
          </a:p>
          <a:p>
            <a:pPr algn="ctr"/>
            <a:r>
              <a:rPr lang="en-GB" sz="1400" b="1" dirty="0">
                <a:solidFill>
                  <a:schemeClr val="bg1"/>
                </a:solidFill>
              </a:rPr>
              <a:t>Background checks</a:t>
            </a:r>
          </a:p>
          <a:p>
            <a:pPr algn="ctr"/>
            <a:endParaRPr lang="en-US" sz="1400" b="1" dirty="0">
              <a:solidFill>
                <a:schemeClr val="bg1"/>
              </a:solidFill>
            </a:endParaRPr>
          </a:p>
        </p:txBody>
      </p:sp>
      <p:sp>
        <p:nvSpPr>
          <p:cNvPr id="26" name="Rectangle: Rounded Corners 25">
            <a:extLst>
              <a:ext uri="{FF2B5EF4-FFF2-40B4-BE49-F238E27FC236}">
                <a16:creationId xmlns:a16="http://schemas.microsoft.com/office/drawing/2014/main" id="{895B4F17-5141-500D-3DEC-5E366D8BA647}"/>
              </a:ext>
            </a:extLst>
          </p:cNvPr>
          <p:cNvSpPr/>
          <p:nvPr/>
        </p:nvSpPr>
        <p:spPr>
          <a:xfrm>
            <a:off x="4187141" y="2976798"/>
            <a:ext cx="1800000" cy="40814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IT</a:t>
            </a:r>
          </a:p>
          <a:p>
            <a:pPr algn="ctr"/>
            <a:r>
              <a:rPr lang="en-GB" sz="1400" b="1" dirty="0">
                <a:solidFill>
                  <a:schemeClr val="bg1"/>
                </a:solidFill>
              </a:rPr>
              <a:t>onboarding</a:t>
            </a:r>
            <a:endParaRPr lang="en-US" sz="1400" b="1" dirty="0">
              <a:solidFill>
                <a:schemeClr val="bg1"/>
              </a:solidFill>
            </a:endParaRPr>
          </a:p>
        </p:txBody>
      </p:sp>
      <p:sp>
        <p:nvSpPr>
          <p:cNvPr id="27" name="Rectangle: Rounded Corners 26">
            <a:extLst>
              <a:ext uri="{FF2B5EF4-FFF2-40B4-BE49-F238E27FC236}">
                <a16:creationId xmlns:a16="http://schemas.microsoft.com/office/drawing/2014/main" id="{50326EA8-DDE6-65F9-29AC-43D9753C8858}"/>
              </a:ext>
            </a:extLst>
          </p:cNvPr>
          <p:cNvSpPr/>
          <p:nvPr/>
        </p:nvSpPr>
        <p:spPr>
          <a:xfrm>
            <a:off x="6076779" y="2973427"/>
            <a:ext cx="1800000" cy="40814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IT Equipment</a:t>
            </a:r>
            <a:endParaRPr lang="en-US" sz="1400" b="1" dirty="0">
              <a:solidFill>
                <a:schemeClr val="bg1"/>
              </a:solidFill>
            </a:endParaRPr>
          </a:p>
        </p:txBody>
      </p:sp>
      <p:sp>
        <p:nvSpPr>
          <p:cNvPr id="28" name="Rectangle: Rounded Corners 27">
            <a:extLst>
              <a:ext uri="{FF2B5EF4-FFF2-40B4-BE49-F238E27FC236}">
                <a16:creationId xmlns:a16="http://schemas.microsoft.com/office/drawing/2014/main" id="{662A3D21-6851-F3A3-48AC-E5362D438E4D}"/>
              </a:ext>
            </a:extLst>
          </p:cNvPr>
          <p:cNvSpPr/>
          <p:nvPr/>
        </p:nvSpPr>
        <p:spPr>
          <a:xfrm>
            <a:off x="7966417" y="2980787"/>
            <a:ext cx="1800000" cy="408143"/>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Orientation</a:t>
            </a:r>
            <a:endParaRPr lang="en-US" sz="1400" b="1" dirty="0">
              <a:solidFill>
                <a:schemeClr val="bg1"/>
              </a:solidFill>
            </a:endParaRPr>
          </a:p>
        </p:txBody>
      </p:sp>
      <p:sp>
        <p:nvSpPr>
          <p:cNvPr id="29" name="Rectangle: Rounded Corners 28">
            <a:extLst>
              <a:ext uri="{FF2B5EF4-FFF2-40B4-BE49-F238E27FC236}">
                <a16:creationId xmlns:a16="http://schemas.microsoft.com/office/drawing/2014/main" id="{8EFBC720-E52C-D0AB-235A-0FFACEA6A635}"/>
              </a:ext>
            </a:extLst>
          </p:cNvPr>
          <p:cNvSpPr/>
          <p:nvPr/>
        </p:nvSpPr>
        <p:spPr>
          <a:xfrm>
            <a:off x="9861041" y="2980787"/>
            <a:ext cx="1800000" cy="408143"/>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bg1"/>
                </a:solidFill>
              </a:rPr>
              <a:t>Onboard complete</a:t>
            </a:r>
            <a:endParaRPr lang="en-US" sz="1400" b="1" dirty="0">
              <a:solidFill>
                <a:schemeClr val="bg1"/>
              </a:solidFill>
            </a:endParaRPr>
          </a:p>
        </p:txBody>
      </p:sp>
      <p:sp>
        <p:nvSpPr>
          <p:cNvPr id="1024" name="TextBox 1023">
            <a:extLst>
              <a:ext uri="{FF2B5EF4-FFF2-40B4-BE49-F238E27FC236}">
                <a16:creationId xmlns:a16="http://schemas.microsoft.com/office/drawing/2014/main" id="{332FA899-F5C5-4818-A94F-97F5961F9048}"/>
              </a:ext>
            </a:extLst>
          </p:cNvPr>
          <p:cNvSpPr txBox="1"/>
          <p:nvPr/>
        </p:nvSpPr>
        <p:spPr>
          <a:xfrm>
            <a:off x="428852" y="6355749"/>
            <a:ext cx="11083796" cy="338554"/>
          </a:xfrm>
          <a:prstGeom prst="rect">
            <a:avLst/>
          </a:prstGeom>
          <a:solidFill>
            <a:srgbClr val="00B0F0"/>
          </a:solidFill>
        </p:spPr>
        <p:txBody>
          <a:bodyPr wrap="square">
            <a:spAutoFit/>
          </a:bodyPr>
          <a:lstStyle/>
          <a:p>
            <a:pPr algn="ctr" fontAlgn="t"/>
            <a:r>
              <a:rPr lang="en-US" sz="1600" dirty="0">
                <a:solidFill>
                  <a:schemeClr val="bg1"/>
                </a:solidFill>
              </a:rPr>
              <a:t>SPC charts help us monitor onboarding completion times and identify unusual variation that may require investigation.</a:t>
            </a:r>
          </a:p>
        </p:txBody>
      </p:sp>
      <p:pic>
        <p:nvPicPr>
          <p:cNvPr id="5" name="Graphic 4" descr="Inbox Check with solid fill">
            <a:extLst>
              <a:ext uri="{FF2B5EF4-FFF2-40B4-BE49-F238E27FC236}">
                <a16:creationId xmlns:a16="http://schemas.microsoft.com/office/drawing/2014/main" id="{DC104B41-E13F-6FF1-6852-5386BFC7AA0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03841" y="1959180"/>
            <a:ext cx="914400" cy="914400"/>
          </a:xfrm>
          <a:prstGeom prst="rect">
            <a:avLst/>
          </a:prstGeom>
        </p:spPr>
      </p:pic>
      <p:pic>
        <p:nvPicPr>
          <p:cNvPr id="7" name="Graphic 6" descr="Target Audience with solid fill">
            <a:extLst>
              <a:ext uri="{FF2B5EF4-FFF2-40B4-BE49-F238E27FC236}">
                <a16:creationId xmlns:a16="http://schemas.microsoft.com/office/drawing/2014/main" id="{F2B37DBF-33F4-90B9-BED8-3D85798933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9080" y="1992699"/>
            <a:ext cx="914400" cy="914400"/>
          </a:xfrm>
          <a:prstGeom prst="rect">
            <a:avLst/>
          </a:prstGeom>
        </p:spPr>
      </p:pic>
      <p:pic>
        <p:nvPicPr>
          <p:cNvPr id="10" name="Graphic 9" descr="Key with solid fill">
            <a:extLst>
              <a:ext uri="{FF2B5EF4-FFF2-40B4-BE49-F238E27FC236}">
                <a16:creationId xmlns:a16="http://schemas.microsoft.com/office/drawing/2014/main" id="{EFAEF5E8-C4D7-F3C3-787F-CEB134F87EC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19969" y="1962559"/>
            <a:ext cx="914400" cy="914400"/>
          </a:xfrm>
          <a:prstGeom prst="rect">
            <a:avLst/>
          </a:prstGeom>
        </p:spPr>
      </p:pic>
      <p:pic>
        <p:nvPicPr>
          <p:cNvPr id="14" name="Graphic 13" descr="Laptop with solid fill">
            <a:extLst>
              <a:ext uri="{FF2B5EF4-FFF2-40B4-BE49-F238E27FC236}">
                <a16:creationId xmlns:a16="http://schemas.microsoft.com/office/drawing/2014/main" id="{B740EF62-0279-8670-5535-84F45E0051C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14593" y="1992699"/>
            <a:ext cx="914400" cy="914400"/>
          </a:xfrm>
          <a:prstGeom prst="rect">
            <a:avLst/>
          </a:prstGeom>
        </p:spPr>
      </p:pic>
      <p:sp>
        <p:nvSpPr>
          <p:cNvPr id="16" name="TextBox 15">
            <a:extLst>
              <a:ext uri="{FF2B5EF4-FFF2-40B4-BE49-F238E27FC236}">
                <a16:creationId xmlns:a16="http://schemas.microsoft.com/office/drawing/2014/main" id="{AF7C10A2-BDC4-E17A-3AB3-4B52AE280193}"/>
              </a:ext>
            </a:extLst>
          </p:cNvPr>
          <p:cNvSpPr txBox="1"/>
          <p:nvPr/>
        </p:nvSpPr>
        <p:spPr>
          <a:xfrm>
            <a:off x="4857489" y="3747372"/>
            <a:ext cx="3666751" cy="2406428"/>
          </a:xfrm>
          <a:prstGeom prst="rect">
            <a:avLst/>
          </a:prstGeom>
          <a:solidFill>
            <a:schemeClr val="bg1"/>
          </a:solidFill>
          <a:ln w="38100">
            <a:solidFill>
              <a:schemeClr val="accent3"/>
            </a:solidFill>
          </a:ln>
        </p:spPr>
        <p:txBody>
          <a:bodyPr wrap="square">
            <a:spAutoFit/>
          </a:bodyPr>
          <a:lstStyle/>
          <a:p>
            <a:pPr fontAlgn="t">
              <a:lnSpc>
                <a:spcPts val="1500"/>
              </a:lnSpc>
              <a:buNone/>
            </a:pPr>
            <a:r>
              <a:rPr lang="en-GB" sz="1400" b="1" dirty="0">
                <a:solidFill>
                  <a:schemeClr val="accent5"/>
                </a:solidFill>
              </a:rPr>
              <a:t>R Chart </a:t>
            </a:r>
            <a:r>
              <a:rPr lang="en-GB" sz="1400" dirty="0">
                <a:solidFill>
                  <a:schemeClr val="accent5"/>
                </a:solidFill>
              </a:rPr>
              <a:t>(Variation Within Each Sample)</a:t>
            </a:r>
          </a:p>
          <a:p>
            <a:pPr fontAlgn="t">
              <a:lnSpc>
                <a:spcPts val="1500"/>
              </a:lnSpc>
              <a:buNone/>
            </a:pPr>
            <a:endParaRPr lang="en-GB" sz="1400" dirty="0">
              <a:solidFill>
                <a:schemeClr val="accent5"/>
              </a:solidFill>
            </a:endParaRPr>
          </a:p>
          <a:p>
            <a:pPr fontAlgn="t">
              <a:lnSpc>
                <a:spcPts val="1500"/>
              </a:lnSpc>
              <a:buNone/>
            </a:pPr>
            <a:r>
              <a:rPr lang="en-GB" sz="1400" dirty="0">
                <a:solidFill>
                  <a:schemeClr val="accent5"/>
                </a:solidFill>
              </a:rPr>
              <a:t>The variation between employees appears to be stable.</a:t>
            </a:r>
          </a:p>
          <a:p>
            <a:pPr fontAlgn="t">
              <a:lnSpc>
                <a:spcPts val="1500"/>
              </a:lnSpc>
              <a:buNone/>
            </a:pPr>
            <a:endParaRPr lang="en-GB" sz="1400" dirty="0">
              <a:solidFill>
                <a:schemeClr val="accent5"/>
              </a:solidFill>
            </a:endParaRPr>
          </a:p>
          <a:p>
            <a:pPr marL="285750" indent="-285750" fontAlgn="t">
              <a:lnSpc>
                <a:spcPts val="1500"/>
              </a:lnSpc>
              <a:buFont typeface="Arial" panose="020B0604020202020204" pitchFamily="34" charset="0"/>
              <a:buChar char="•"/>
            </a:pPr>
            <a:r>
              <a:rPr lang="en-GB" sz="1400" dirty="0">
                <a:solidFill>
                  <a:schemeClr val="accent5"/>
                </a:solidFill>
              </a:rPr>
              <a:t>The average range is 1.4 days.</a:t>
            </a:r>
          </a:p>
          <a:p>
            <a:pPr marL="285750" indent="-285750" fontAlgn="t">
              <a:lnSpc>
                <a:spcPts val="1500"/>
              </a:lnSpc>
              <a:buFont typeface="Arial" panose="020B0604020202020204" pitchFamily="34" charset="0"/>
              <a:buChar char="•"/>
            </a:pPr>
            <a:r>
              <a:rPr lang="en-GB" sz="1400" dirty="0">
                <a:solidFill>
                  <a:schemeClr val="accent5"/>
                </a:solidFill>
              </a:rPr>
              <a:t>All points fall within the control limits.</a:t>
            </a:r>
          </a:p>
          <a:p>
            <a:pPr marL="285750" indent="-285750" fontAlgn="t">
              <a:lnSpc>
                <a:spcPts val="1500"/>
              </a:lnSpc>
              <a:buFont typeface="Arial" panose="020B0604020202020204" pitchFamily="34" charset="0"/>
              <a:buChar char="•"/>
            </a:pPr>
            <a:r>
              <a:rPr lang="en-GB" sz="1400" dirty="0">
                <a:solidFill>
                  <a:schemeClr val="accent5"/>
                </a:solidFill>
              </a:rPr>
              <a:t>There are no special cause signals.</a:t>
            </a:r>
          </a:p>
          <a:p>
            <a:pPr fontAlgn="t">
              <a:lnSpc>
                <a:spcPts val="1500"/>
              </a:lnSpc>
              <a:buNone/>
            </a:pPr>
            <a:endParaRPr lang="en-GB" sz="1400" dirty="0">
              <a:solidFill>
                <a:schemeClr val="accent5"/>
              </a:solidFill>
            </a:endParaRPr>
          </a:p>
          <a:p>
            <a:pPr fontAlgn="t">
              <a:lnSpc>
                <a:spcPts val="1500"/>
              </a:lnSpc>
              <a:buNone/>
            </a:pPr>
            <a:r>
              <a:rPr lang="en-GB" sz="1400" dirty="0">
                <a:solidFill>
                  <a:schemeClr val="accent5"/>
                </a:solidFill>
              </a:rPr>
              <a:t>This suggests that the difference between the quickest and longest onboarding times remains relatively consistent.</a:t>
            </a:r>
          </a:p>
        </p:txBody>
      </p:sp>
    </p:spTree>
    <p:extLst>
      <p:ext uri="{BB962C8B-B14F-4D97-AF65-F5344CB8AC3E}">
        <p14:creationId xmlns:p14="http://schemas.microsoft.com/office/powerpoint/2010/main" val="2033906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A6DB2150-E563-8443-95B1-A182B0692A74}"/>
              </a:ext>
            </a:extLst>
          </p:cNvPr>
          <p:cNvSpPr>
            <a:spLocks noGrp="1"/>
          </p:cNvSpPr>
          <p:nvPr>
            <p:ph type="body" sz="quarter" idx="11"/>
          </p:nvPr>
        </p:nvSpPr>
        <p:spPr/>
        <p:txBody>
          <a:bodyPr vert="horz" lIns="0" tIns="0" rIns="0" bIns="0" rtlCol="0" anchor="t">
            <a:normAutofit/>
          </a:bodyPr>
          <a:lstStyle/>
          <a:p>
            <a:r>
              <a:rPr lang="en-US" noProof="0" dirty="0">
                <a:latin typeface="+mj-lt"/>
                <a:cs typeface="Arial"/>
              </a:rPr>
              <a:t>CONTROL LSS27</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dirty="0">
                <a:latin typeface="+mj-lt"/>
              </a:rPr>
              <a:t>05</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dirty="0">
              <a:solidFill>
                <a:srgbClr val="FFFFFF"/>
              </a:solidFill>
              <a:latin typeface="+mj-lt"/>
              <a:cs typeface="Arial" panose="020B0604020202020204" pitchFamily="34" charset="0"/>
            </a:endParaRPr>
          </a:p>
        </p:txBody>
      </p:sp>
      <p:sp>
        <p:nvSpPr>
          <p:cNvPr id="2" name="TextBox 1">
            <a:extLst>
              <a:ext uri="{FF2B5EF4-FFF2-40B4-BE49-F238E27FC236}">
                <a16:creationId xmlns:a16="http://schemas.microsoft.com/office/drawing/2014/main" id="{AA1AD738-9A03-18E6-6F0A-B66D17AE1774}"/>
              </a:ext>
            </a:extLst>
          </p:cNvPr>
          <p:cNvSpPr txBox="1"/>
          <p:nvPr/>
        </p:nvSpPr>
        <p:spPr>
          <a:xfrm>
            <a:off x="1444680" y="3459033"/>
            <a:ext cx="504107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noProof="0" dirty="0">
                <a:solidFill>
                  <a:schemeClr val="accent5"/>
                </a:solidFill>
                <a:latin typeface="+mj-lt"/>
                <a:cs typeface="Arial" panose="020B0604020202020204" pitchFamily="34" charset="0"/>
              </a:rPr>
              <a:t>Re-baseline and closure</a:t>
            </a:r>
          </a:p>
        </p:txBody>
      </p:sp>
    </p:spTree>
    <p:extLst>
      <p:ext uri="{BB962C8B-B14F-4D97-AF65-F5344CB8AC3E}">
        <p14:creationId xmlns:p14="http://schemas.microsoft.com/office/powerpoint/2010/main" val="604572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7" y="457200"/>
            <a:ext cx="8326523" cy="492443"/>
          </a:xfrm>
        </p:spPr>
        <p:txBody>
          <a:bodyPr>
            <a:noAutofit/>
          </a:bodyPr>
          <a:lstStyle/>
          <a:p>
            <a:pPr>
              <a:lnSpc>
                <a:spcPct val="80000"/>
              </a:lnSpc>
            </a:pPr>
            <a:r>
              <a:rPr lang="en-US" sz="3200" dirty="0">
                <a:latin typeface="+mj-lt"/>
              </a:rPr>
              <a:t>Re-baseline and Closure</a:t>
            </a:r>
          </a:p>
        </p:txBody>
      </p:sp>
      <p:sp>
        <p:nvSpPr>
          <p:cNvPr id="7" name="TextBox 6">
            <a:extLst>
              <a:ext uri="{FF2B5EF4-FFF2-40B4-BE49-F238E27FC236}">
                <a16:creationId xmlns:a16="http://schemas.microsoft.com/office/drawing/2014/main" id="{1C256E4D-406F-4C6F-AE69-D83B8149F5C6}"/>
              </a:ext>
            </a:extLst>
          </p:cNvPr>
          <p:cNvSpPr txBox="1"/>
          <p:nvPr/>
        </p:nvSpPr>
        <p:spPr>
          <a:xfrm>
            <a:off x="371475" y="1218486"/>
            <a:ext cx="7829550" cy="646331"/>
          </a:xfrm>
          <a:prstGeom prst="rect">
            <a:avLst/>
          </a:prstGeom>
          <a:noFill/>
        </p:spPr>
        <p:txBody>
          <a:bodyPr wrap="square">
            <a:spAutoFit/>
          </a:bodyPr>
          <a:lstStyle/>
          <a:p>
            <a:r>
              <a:rPr lang="en-US" b="0" i="0" noProof="0" dirty="0">
                <a:solidFill>
                  <a:srgbClr val="444444"/>
                </a:solidFill>
                <a:effectLst/>
                <a:latin typeface="Open Sans" panose="020B0606030504020204" pitchFamily="34" charset="0"/>
              </a:rPr>
              <a:t>  </a:t>
            </a:r>
          </a:p>
          <a:p>
            <a:endParaRPr lang="en-US" noProof="0" dirty="0">
              <a:solidFill>
                <a:srgbClr val="444444"/>
              </a:solidFill>
              <a:latin typeface="Open Sans" panose="020B0606030504020204" pitchFamily="34" charset="0"/>
            </a:endParaRPr>
          </a:p>
        </p:txBody>
      </p:sp>
      <p:sp>
        <p:nvSpPr>
          <p:cNvPr id="3" name="TextBox 2">
            <a:extLst>
              <a:ext uri="{FF2B5EF4-FFF2-40B4-BE49-F238E27FC236}">
                <a16:creationId xmlns:a16="http://schemas.microsoft.com/office/drawing/2014/main" id="{A4FBF625-83A7-7A2A-312A-2D12818859EC}"/>
              </a:ext>
            </a:extLst>
          </p:cNvPr>
          <p:cNvSpPr txBox="1"/>
          <p:nvPr/>
        </p:nvSpPr>
        <p:spPr>
          <a:xfrm>
            <a:off x="371476" y="1728339"/>
            <a:ext cx="6209434" cy="646331"/>
          </a:xfrm>
          <a:prstGeom prst="rect">
            <a:avLst/>
          </a:prstGeom>
          <a:noFill/>
        </p:spPr>
        <p:txBody>
          <a:bodyPr wrap="square" rtlCol="0">
            <a:spAutoFit/>
          </a:bodyPr>
          <a:lstStyle/>
          <a:p>
            <a:endParaRPr lang="en-US" noProof="0" dirty="0"/>
          </a:p>
          <a:p>
            <a:endParaRPr lang="en-US" noProof="0" dirty="0"/>
          </a:p>
        </p:txBody>
      </p:sp>
      <p:sp>
        <p:nvSpPr>
          <p:cNvPr id="8" name="TextBox 7">
            <a:extLst>
              <a:ext uri="{FF2B5EF4-FFF2-40B4-BE49-F238E27FC236}">
                <a16:creationId xmlns:a16="http://schemas.microsoft.com/office/drawing/2014/main" id="{29E16EA7-9667-1534-435B-819003EF2933}"/>
              </a:ext>
            </a:extLst>
          </p:cNvPr>
          <p:cNvSpPr txBox="1"/>
          <p:nvPr/>
        </p:nvSpPr>
        <p:spPr>
          <a:xfrm>
            <a:off x="460686" y="1803267"/>
            <a:ext cx="7353159" cy="3539430"/>
          </a:xfrm>
          <a:prstGeom prst="rect">
            <a:avLst/>
          </a:prstGeom>
          <a:noFill/>
        </p:spPr>
        <p:txBody>
          <a:bodyPr wrap="square" lIns="91440" tIns="45720" rIns="91440" bIns="45720" anchor="t">
            <a:spAutoFit/>
          </a:bodyPr>
          <a:lstStyle/>
          <a:p>
            <a:pPr algn="l" fontAlgn="base"/>
            <a:r>
              <a:rPr lang="en-GB" sz="1600" b="0" i="0" noProof="0" dirty="0">
                <a:solidFill>
                  <a:schemeClr val="accent5"/>
                </a:solidFill>
                <a:effectLst/>
                <a:cs typeface="Arial" panose="020B0604020202020204" pitchFamily="34" charset="0"/>
              </a:rPr>
              <a:t>Before releasing the improved process into Business as Usual (BAU), complete the following:</a:t>
            </a:r>
          </a:p>
          <a:p>
            <a:pPr algn="l" fontAlgn="base"/>
            <a:endParaRPr lang="en-GB" sz="1600" dirty="0">
              <a:solidFill>
                <a:schemeClr val="accent5"/>
              </a:solidFill>
              <a:cs typeface="Arial" panose="020B0604020202020204" pitchFamily="34" charset="0"/>
            </a:endParaRPr>
          </a:p>
          <a:p>
            <a:pPr marL="285750" indent="-285750" algn="l" fontAlgn="base">
              <a:buFont typeface="Arial" panose="020B0604020202020204" pitchFamily="34" charset="0"/>
              <a:buChar char="•"/>
            </a:pPr>
            <a:r>
              <a:rPr lang="en-GB" sz="1600" b="0" i="0" noProof="0" dirty="0">
                <a:solidFill>
                  <a:schemeClr val="accent5"/>
                </a:solidFill>
                <a:effectLst/>
                <a:cs typeface="Arial" panose="020B0604020202020204" pitchFamily="34" charset="0"/>
              </a:rPr>
              <a:t>Confirm the new baseline and validate key performance measures.</a:t>
            </a:r>
          </a:p>
          <a:p>
            <a:pPr marL="285750" indent="-285750" algn="l" fontAlgn="base">
              <a:buFont typeface="Arial" panose="020B0604020202020204" pitchFamily="34" charset="0"/>
              <a:buChar char="•"/>
            </a:pPr>
            <a:r>
              <a:rPr lang="en-GB" sz="1600" b="0" i="0" noProof="0" dirty="0">
                <a:solidFill>
                  <a:schemeClr val="accent5"/>
                </a:solidFill>
                <a:effectLst/>
                <a:cs typeface="Arial" panose="020B0604020202020204" pitchFamily="34" charset="0"/>
              </a:rPr>
              <a:t>Communicate the improvement and its impact.</a:t>
            </a:r>
          </a:p>
          <a:p>
            <a:pPr marL="285750" indent="-285750" algn="l" fontAlgn="base">
              <a:buFont typeface="Arial" panose="020B0604020202020204" pitchFamily="34" charset="0"/>
              <a:buChar char="•"/>
            </a:pPr>
            <a:r>
              <a:rPr lang="en-GB" sz="1600" b="0" i="0" noProof="0" dirty="0">
                <a:solidFill>
                  <a:schemeClr val="accent5"/>
                </a:solidFill>
                <a:effectLst/>
                <a:cs typeface="Arial" panose="020B0604020202020204" pitchFamily="34" charset="0"/>
              </a:rPr>
              <a:t>Recognise contributors and stakeholders who supported the change.</a:t>
            </a:r>
          </a:p>
          <a:p>
            <a:pPr marL="285750" indent="-285750" algn="l" fontAlgn="base">
              <a:buFont typeface="Arial" panose="020B0604020202020204" pitchFamily="34" charset="0"/>
              <a:buChar char="•"/>
            </a:pPr>
            <a:r>
              <a:rPr lang="en-GB" sz="1600" b="0" i="0" noProof="0" dirty="0">
                <a:solidFill>
                  <a:schemeClr val="accent5"/>
                </a:solidFill>
                <a:effectLst/>
                <a:cs typeface="Arial" panose="020B0604020202020204" pitchFamily="34" charset="0"/>
              </a:rPr>
              <a:t>Secure ongoing support for sustaining the improvement.</a:t>
            </a:r>
          </a:p>
          <a:p>
            <a:pPr marL="285750" indent="-285750" algn="l" fontAlgn="base">
              <a:buFont typeface="Arial" panose="020B0604020202020204" pitchFamily="34" charset="0"/>
              <a:buChar char="•"/>
            </a:pPr>
            <a:r>
              <a:rPr lang="en-GB" sz="1600" b="0" i="0" noProof="0" dirty="0">
                <a:solidFill>
                  <a:schemeClr val="accent5"/>
                </a:solidFill>
                <a:effectLst/>
                <a:cs typeface="Arial" panose="020B0604020202020204" pitchFamily="34" charset="0"/>
              </a:rPr>
              <a:t>Handover the process and performance measures to the Process Owner.</a:t>
            </a:r>
          </a:p>
          <a:p>
            <a:pPr marL="285750" indent="-285750" algn="l" fontAlgn="base">
              <a:buFont typeface="Arial" panose="020B0604020202020204" pitchFamily="34" charset="0"/>
              <a:buChar char="•"/>
            </a:pPr>
            <a:r>
              <a:rPr lang="en-GB" sz="1600" b="0" i="0" noProof="0" dirty="0">
                <a:solidFill>
                  <a:schemeClr val="accent5"/>
                </a:solidFill>
                <a:effectLst/>
                <a:cs typeface="Arial" panose="020B0604020202020204" pitchFamily="34" charset="0"/>
              </a:rPr>
              <a:t>Complete the project closure report, including benefits achieved and new metrics.</a:t>
            </a:r>
          </a:p>
          <a:p>
            <a:pPr algn="l" fontAlgn="base"/>
            <a:endParaRPr lang="en-GB" sz="1600" dirty="0">
              <a:solidFill>
                <a:schemeClr val="accent5"/>
              </a:solidFill>
              <a:cs typeface="Arial" panose="020B0604020202020204" pitchFamily="34" charset="0"/>
            </a:endParaRPr>
          </a:p>
          <a:p>
            <a:pPr algn="l" fontAlgn="base"/>
            <a:endParaRPr lang="en-GB" sz="1600" b="0" i="0" noProof="0" dirty="0">
              <a:solidFill>
                <a:schemeClr val="accent5"/>
              </a:solidFill>
              <a:effectLst/>
              <a:cs typeface="Arial" panose="020B0604020202020204" pitchFamily="34" charset="0"/>
            </a:endParaRPr>
          </a:p>
          <a:p>
            <a:pPr algn="l" fontAlgn="base"/>
            <a:r>
              <a:rPr lang="en-GB" sz="1600" b="1" i="0" noProof="0" dirty="0">
                <a:solidFill>
                  <a:schemeClr val="accent5"/>
                </a:solidFill>
                <a:effectLst/>
                <a:cs typeface="Arial" panose="020B0604020202020204" pitchFamily="34" charset="0"/>
              </a:rPr>
              <a:t>The new baseline becomes the benchmark for future performance and improvement.</a:t>
            </a:r>
            <a:endParaRPr lang="en-US" sz="1600" b="1" i="0" noProof="0" dirty="0">
              <a:solidFill>
                <a:schemeClr val="accent5"/>
              </a:solidFill>
              <a:effectLst/>
              <a:cs typeface="Arial" panose="020B0604020202020204" pitchFamily="34" charset="0"/>
            </a:endParaRPr>
          </a:p>
        </p:txBody>
      </p:sp>
      <p:sp>
        <p:nvSpPr>
          <p:cNvPr id="10" name="AutoShape 2" descr="I-MR Chart">
            <a:extLst>
              <a:ext uri="{FF2B5EF4-FFF2-40B4-BE49-F238E27FC236}">
                <a16:creationId xmlns:a16="http://schemas.microsoft.com/office/drawing/2014/main" id="{E7D50BE9-41FE-68A7-493E-0F5DB8F3AD1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dirty="0"/>
          </a:p>
        </p:txBody>
      </p:sp>
      <p:sp>
        <p:nvSpPr>
          <p:cNvPr id="2" name="Rectangle: Rounded Corners 1">
            <a:extLst>
              <a:ext uri="{FF2B5EF4-FFF2-40B4-BE49-F238E27FC236}">
                <a16:creationId xmlns:a16="http://schemas.microsoft.com/office/drawing/2014/main" id="{865571CC-EB19-D245-704F-E49C2EBC492D}"/>
              </a:ext>
            </a:extLst>
          </p:cNvPr>
          <p:cNvSpPr/>
          <p:nvPr/>
        </p:nvSpPr>
        <p:spPr>
          <a:xfrm>
            <a:off x="8543498" y="2086962"/>
            <a:ext cx="1951630" cy="49244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Baseline</a:t>
            </a:r>
            <a:endParaRPr lang="en-US" dirty="0"/>
          </a:p>
        </p:txBody>
      </p:sp>
      <p:sp>
        <p:nvSpPr>
          <p:cNvPr id="5" name="Rectangle: Rounded Corners 4">
            <a:extLst>
              <a:ext uri="{FF2B5EF4-FFF2-40B4-BE49-F238E27FC236}">
                <a16:creationId xmlns:a16="http://schemas.microsoft.com/office/drawing/2014/main" id="{BADDD557-1DA0-39B1-D6CA-B7439A68BE11}"/>
              </a:ext>
            </a:extLst>
          </p:cNvPr>
          <p:cNvSpPr/>
          <p:nvPr/>
        </p:nvSpPr>
        <p:spPr>
          <a:xfrm>
            <a:off x="8543498" y="4875581"/>
            <a:ext cx="1951630" cy="492443"/>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Re-baseline</a:t>
            </a:r>
            <a:endParaRPr lang="en-US" dirty="0"/>
          </a:p>
        </p:txBody>
      </p:sp>
      <p:cxnSp>
        <p:nvCxnSpPr>
          <p:cNvPr id="11" name="Straight Connector 10">
            <a:extLst>
              <a:ext uri="{FF2B5EF4-FFF2-40B4-BE49-F238E27FC236}">
                <a16:creationId xmlns:a16="http://schemas.microsoft.com/office/drawing/2014/main" id="{909CDC30-EDE7-17AE-72F9-C4B2D728D4B3}"/>
              </a:ext>
            </a:extLst>
          </p:cNvPr>
          <p:cNvCxnSpPr/>
          <p:nvPr/>
        </p:nvCxnSpPr>
        <p:spPr>
          <a:xfrm>
            <a:off x="8814390" y="2784101"/>
            <a:ext cx="1" cy="1910687"/>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6987C56-6745-5D43-40C4-CD2189102FB5}"/>
              </a:ext>
            </a:extLst>
          </p:cNvPr>
          <p:cNvCxnSpPr/>
          <p:nvPr/>
        </p:nvCxnSpPr>
        <p:spPr>
          <a:xfrm>
            <a:off x="8623321" y="2784101"/>
            <a:ext cx="423081" cy="1"/>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217F8E5-39EF-33EA-26A6-E650D6555A9D}"/>
              </a:ext>
            </a:extLst>
          </p:cNvPr>
          <p:cNvCxnSpPr/>
          <p:nvPr/>
        </p:nvCxnSpPr>
        <p:spPr>
          <a:xfrm>
            <a:off x="8623321" y="4691503"/>
            <a:ext cx="423081" cy="1"/>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1D738DC-149F-A0DF-37B0-217AFC9861E1}"/>
              </a:ext>
            </a:extLst>
          </p:cNvPr>
          <p:cNvSpPr txBox="1"/>
          <p:nvPr/>
        </p:nvSpPr>
        <p:spPr>
          <a:xfrm>
            <a:off x="9102214" y="2975739"/>
            <a:ext cx="738664" cy="1527412"/>
          </a:xfrm>
          <a:prstGeom prst="rect">
            <a:avLst/>
          </a:prstGeom>
          <a:solidFill>
            <a:schemeClr val="tx2"/>
          </a:solidFill>
        </p:spPr>
        <p:txBody>
          <a:bodyPr vert="vert270" wrap="square" rtlCol="0">
            <a:spAutoFit/>
          </a:bodyPr>
          <a:lstStyle/>
          <a:p>
            <a:pPr algn="ctr"/>
            <a:r>
              <a:rPr lang="en-US" dirty="0">
                <a:solidFill>
                  <a:schemeClr val="bg1"/>
                </a:solidFill>
              </a:rPr>
              <a:t>Implement &amp; Validate</a:t>
            </a:r>
          </a:p>
        </p:txBody>
      </p:sp>
      <p:pic>
        <p:nvPicPr>
          <p:cNvPr id="17" name="Graphic 16" descr="Users with solid fill">
            <a:extLst>
              <a:ext uri="{FF2B5EF4-FFF2-40B4-BE49-F238E27FC236}">
                <a16:creationId xmlns:a16="http://schemas.microsoft.com/office/drawing/2014/main" id="{C51131A3-DD50-7189-4FD6-A8A45C81BB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80979" y="3620855"/>
            <a:ext cx="914400" cy="914400"/>
          </a:xfrm>
          <a:prstGeom prst="rect">
            <a:avLst/>
          </a:prstGeom>
        </p:spPr>
      </p:pic>
      <p:pic>
        <p:nvPicPr>
          <p:cNvPr id="19" name="Graphic 18" descr="Open hand with solid fill">
            <a:extLst>
              <a:ext uri="{FF2B5EF4-FFF2-40B4-BE49-F238E27FC236}">
                <a16:creationId xmlns:a16="http://schemas.microsoft.com/office/drawing/2014/main" id="{0820029E-AB3F-B9EB-B3DD-5CE73CA405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55333" y="5871867"/>
            <a:ext cx="914400" cy="914400"/>
          </a:xfrm>
          <a:prstGeom prst="rect">
            <a:avLst/>
          </a:prstGeom>
        </p:spPr>
      </p:pic>
      <p:pic>
        <p:nvPicPr>
          <p:cNvPr id="21" name="Graphic 20" descr="Single gear with solid fill">
            <a:extLst>
              <a:ext uri="{FF2B5EF4-FFF2-40B4-BE49-F238E27FC236}">
                <a16:creationId xmlns:a16="http://schemas.microsoft.com/office/drawing/2014/main" id="{25ED86C8-DD53-E3C3-278E-CB0670D1B3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30352" y="5622834"/>
            <a:ext cx="682388" cy="682388"/>
          </a:xfrm>
          <a:prstGeom prst="rect">
            <a:avLst/>
          </a:prstGeom>
        </p:spPr>
      </p:pic>
      <p:pic>
        <p:nvPicPr>
          <p:cNvPr id="23" name="Graphic 22" descr="Protecting hand with solid fill">
            <a:extLst>
              <a:ext uri="{FF2B5EF4-FFF2-40B4-BE49-F238E27FC236}">
                <a16:creationId xmlns:a16="http://schemas.microsoft.com/office/drawing/2014/main" id="{164AC1ED-ACF9-FD2D-0F4B-8A2ED8EE2B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73359" y="5165140"/>
            <a:ext cx="914400" cy="914400"/>
          </a:xfrm>
          <a:prstGeom prst="rect">
            <a:avLst/>
          </a:prstGeom>
        </p:spPr>
      </p:pic>
      <p:pic>
        <p:nvPicPr>
          <p:cNvPr id="27" name="Graphic 26" descr="Presentation with bar chart with solid fill">
            <a:extLst>
              <a:ext uri="{FF2B5EF4-FFF2-40B4-BE49-F238E27FC236}">
                <a16:creationId xmlns:a16="http://schemas.microsoft.com/office/drawing/2014/main" id="{B104258F-C631-D437-83BA-74C75B7793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57647" y="1386527"/>
            <a:ext cx="723332" cy="723332"/>
          </a:xfrm>
          <a:prstGeom prst="rect">
            <a:avLst/>
          </a:prstGeom>
        </p:spPr>
      </p:pic>
      <p:pic>
        <p:nvPicPr>
          <p:cNvPr id="29" name="Graphic 28" descr="Lightbulb and gear with solid fill">
            <a:extLst>
              <a:ext uri="{FF2B5EF4-FFF2-40B4-BE49-F238E27FC236}">
                <a16:creationId xmlns:a16="http://schemas.microsoft.com/office/drawing/2014/main" id="{234E3A3D-5A93-0757-8DC5-1B25B000749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68173" y="3018876"/>
            <a:ext cx="914400" cy="914400"/>
          </a:xfrm>
          <a:prstGeom prst="rect">
            <a:avLst/>
          </a:prstGeom>
        </p:spPr>
      </p:pic>
    </p:spTree>
    <p:extLst>
      <p:ext uri="{BB962C8B-B14F-4D97-AF65-F5344CB8AC3E}">
        <p14:creationId xmlns:p14="http://schemas.microsoft.com/office/powerpoint/2010/main" val="3663827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7" y="457200"/>
            <a:ext cx="8326523" cy="492443"/>
          </a:xfrm>
        </p:spPr>
        <p:txBody>
          <a:bodyPr>
            <a:noAutofit/>
          </a:bodyPr>
          <a:lstStyle/>
          <a:p>
            <a:pPr>
              <a:lnSpc>
                <a:spcPct val="80000"/>
              </a:lnSpc>
            </a:pPr>
            <a:r>
              <a:rPr lang="en-US" sz="3200" dirty="0">
                <a:latin typeface="+mj-lt"/>
              </a:rPr>
              <a:t>Summary</a:t>
            </a:r>
          </a:p>
        </p:txBody>
      </p:sp>
      <p:sp>
        <p:nvSpPr>
          <p:cNvPr id="4" name="TextBox 3">
            <a:extLst>
              <a:ext uri="{FF2B5EF4-FFF2-40B4-BE49-F238E27FC236}">
                <a16:creationId xmlns:a16="http://schemas.microsoft.com/office/drawing/2014/main" id="{BE37B71F-DC2B-706E-8695-38F5E7B1A96B}"/>
              </a:ext>
            </a:extLst>
          </p:cNvPr>
          <p:cNvSpPr txBox="1"/>
          <p:nvPr/>
        </p:nvSpPr>
        <p:spPr>
          <a:xfrm>
            <a:off x="685800" y="1553367"/>
            <a:ext cx="9938657" cy="4247317"/>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002060"/>
                </a:solidFill>
              </a:rPr>
              <a:t>The Control phase sustains improvements.</a:t>
            </a:r>
          </a:p>
          <a:p>
            <a:pPr marL="285750" indent="-285750">
              <a:buFont typeface="Arial" panose="020B0604020202020204" pitchFamily="34" charset="0"/>
              <a:buChar char="•"/>
            </a:pPr>
            <a:endParaRPr lang="en-US" dirty="0">
              <a:solidFill>
                <a:srgbClr val="002060"/>
              </a:solidFill>
            </a:endParaRPr>
          </a:p>
          <a:p>
            <a:pPr marL="285750" indent="-285750">
              <a:buFont typeface="Arial" panose="020B0604020202020204" pitchFamily="34" charset="0"/>
              <a:buChar char="•"/>
            </a:pPr>
            <a:r>
              <a:rPr lang="en-US" dirty="0">
                <a:solidFill>
                  <a:srgbClr val="002060"/>
                </a:solidFill>
              </a:rPr>
              <a:t>SPC uses control charts to monitor process performance.</a:t>
            </a:r>
          </a:p>
          <a:p>
            <a:pPr marL="285750" indent="-285750">
              <a:buFont typeface="Arial" panose="020B0604020202020204" pitchFamily="34" charset="0"/>
              <a:buChar char="•"/>
            </a:pPr>
            <a:endParaRPr lang="en-US" dirty="0">
              <a:solidFill>
                <a:srgbClr val="002060"/>
              </a:solidFill>
            </a:endParaRPr>
          </a:p>
          <a:p>
            <a:pPr marL="285750" indent="-285750">
              <a:buFont typeface="Arial" panose="020B0604020202020204" pitchFamily="34" charset="0"/>
              <a:buChar char="•"/>
            </a:pPr>
            <a:r>
              <a:rPr lang="en-US" dirty="0">
                <a:solidFill>
                  <a:srgbClr val="002060"/>
                </a:solidFill>
              </a:rPr>
              <a:t>Control charts provide early warning signals when processes change.</a:t>
            </a:r>
          </a:p>
          <a:p>
            <a:pPr marL="285750" indent="-285750">
              <a:buFont typeface="Arial" panose="020B0604020202020204" pitchFamily="34" charset="0"/>
              <a:buChar char="•"/>
            </a:pPr>
            <a:endParaRPr lang="en-US" dirty="0">
              <a:solidFill>
                <a:srgbClr val="002060"/>
              </a:solidFill>
            </a:endParaRPr>
          </a:p>
          <a:p>
            <a:pPr marL="285750" indent="-285750">
              <a:buFont typeface="Arial" panose="020B0604020202020204" pitchFamily="34" charset="0"/>
              <a:buChar char="•"/>
            </a:pPr>
            <a:r>
              <a:rPr lang="en-US" dirty="0">
                <a:solidFill>
                  <a:srgbClr val="002060"/>
                </a:solidFill>
              </a:rPr>
              <a:t>SPC uses:</a:t>
            </a:r>
          </a:p>
          <a:p>
            <a:pPr marL="285750" indent="-285750">
              <a:buFont typeface="Arial" panose="020B0604020202020204" pitchFamily="34" charset="0"/>
              <a:buChar char="•"/>
            </a:pPr>
            <a:endParaRPr lang="en-US" dirty="0">
              <a:solidFill>
                <a:srgbClr val="002060"/>
              </a:solidFill>
            </a:endParaRPr>
          </a:p>
          <a:p>
            <a:pPr marL="731838" indent="-285750">
              <a:buFont typeface="Courier New" panose="02070309020205020404" pitchFamily="49" charset="0"/>
              <a:buChar char="o"/>
            </a:pPr>
            <a:r>
              <a:rPr lang="en-US" b="1" dirty="0">
                <a:solidFill>
                  <a:srgbClr val="002060"/>
                </a:solidFill>
              </a:rPr>
              <a:t>Discrete data </a:t>
            </a:r>
            <a:r>
              <a:rPr lang="en-US" dirty="0">
                <a:solidFill>
                  <a:srgbClr val="002060"/>
                </a:solidFill>
              </a:rPr>
              <a:t>(counted)</a:t>
            </a:r>
          </a:p>
          <a:p>
            <a:pPr marL="731838" indent="-285750">
              <a:buFont typeface="Courier New" panose="02070309020205020404" pitchFamily="49" charset="0"/>
              <a:buChar char="o"/>
            </a:pPr>
            <a:r>
              <a:rPr lang="en-US" b="1" dirty="0">
                <a:solidFill>
                  <a:srgbClr val="002060"/>
                </a:solidFill>
              </a:rPr>
              <a:t>Continuous data </a:t>
            </a:r>
            <a:r>
              <a:rPr lang="en-US" dirty="0">
                <a:solidFill>
                  <a:srgbClr val="002060"/>
                </a:solidFill>
              </a:rPr>
              <a:t>(measured)</a:t>
            </a:r>
          </a:p>
          <a:p>
            <a:pPr marL="285750" indent="-285750">
              <a:buFont typeface="Arial" panose="020B0604020202020204" pitchFamily="34" charset="0"/>
              <a:buChar char="•"/>
            </a:pPr>
            <a:endParaRPr lang="en-US" dirty="0">
              <a:solidFill>
                <a:srgbClr val="002060"/>
              </a:solidFill>
            </a:endParaRPr>
          </a:p>
          <a:p>
            <a:pPr marL="285750" indent="-285750">
              <a:buFont typeface="Arial" panose="020B0604020202020204" pitchFamily="34" charset="0"/>
              <a:buChar char="•"/>
            </a:pPr>
            <a:r>
              <a:rPr lang="en-US" dirty="0">
                <a:solidFill>
                  <a:srgbClr val="002060"/>
                </a:solidFill>
              </a:rPr>
              <a:t>Understand the difference between:</a:t>
            </a:r>
          </a:p>
          <a:p>
            <a:pPr marL="285750" indent="-285750">
              <a:buFont typeface="Arial" panose="020B0604020202020204" pitchFamily="34" charset="0"/>
              <a:buChar char="•"/>
            </a:pPr>
            <a:endParaRPr lang="en-US" dirty="0">
              <a:solidFill>
                <a:srgbClr val="002060"/>
              </a:solidFill>
            </a:endParaRPr>
          </a:p>
          <a:p>
            <a:pPr marL="742950" lvl="1" indent="-285750">
              <a:buFont typeface="Courier New" panose="02070309020205020404" pitchFamily="49" charset="0"/>
              <a:buChar char="o"/>
            </a:pPr>
            <a:r>
              <a:rPr lang="en-US" b="1" dirty="0">
                <a:solidFill>
                  <a:srgbClr val="002060"/>
                </a:solidFill>
              </a:rPr>
              <a:t>Common Cause Variation </a:t>
            </a:r>
            <a:r>
              <a:rPr lang="en-US" dirty="0">
                <a:solidFill>
                  <a:srgbClr val="002060"/>
                </a:solidFill>
              </a:rPr>
              <a:t>(normal)</a:t>
            </a:r>
          </a:p>
          <a:p>
            <a:pPr marL="742950" lvl="1" indent="-285750">
              <a:buFont typeface="Courier New" panose="02070309020205020404" pitchFamily="49" charset="0"/>
              <a:buChar char="o"/>
            </a:pPr>
            <a:r>
              <a:rPr lang="en-US" b="1" dirty="0">
                <a:solidFill>
                  <a:srgbClr val="002060"/>
                </a:solidFill>
              </a:rPr>
              <a:t>Special Cause Variation </a:t>
            </a:r>
            <a:r>
              <a:rPr lang="en-US" dirty="0">
                <a:solidFill>
                  <a:srgbClr val="002060"/>
                </a:solidFill>
              </a:rPr>
              <a:t>(requires investigation)</a:t>
            </a:r>
          </a:p>
        </p:txBody>
      </p:sp>
    </p:spTree>
    <p:extLst>
      <p:ext uri="{BB962C8B-B14F-4D97-AF65-F5344CB8AC3E}">
        <p14:creationId xmlns:p14="http://schemas.microsoft.com/office/powerpoint/2010/main" val="4016449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Placeholder 1">
            <a:extLst>
              <a:ext uri="{FF2B5EF4-FFF2-40B4-BE49-F238E27FC236}">
                <a16:creationId xmlns:a16="http://schemas.microsoft.com/office/drawing/2014/main" id="{A17145D5-BD6E-F475-CC33-CF9617BC47C3}"/>
              </a:ext>
            </a:extLst>
          </p:cNvPr>
          <p:cNvSpPr>
            <a:spLocks noGrp="1"/>
          </p:cNvSpPr>
          <p:nvPr>
            <p:ph type="body" sz="quarter" idx="10"/>
          </p:nvPr>
        </p:nvSpPr>
        <p:spPr>
          <a:xfrm>
            <a:off x="533400" y="340467"/>
            <a:ext cx="5562600" cy="714983"/>
          </a:xfrm>
        </p:spPr>
        <p:txBody>
          <a:bodyPr>
            <a:normAutofit/>
          </a:bodyPr>
          <a:lstStyle/>
          <a:p>
            <a:r>
              <a:rPr lang="en-GB" sz="3200" dirty="0">
                <a:latin typeface="+mj-lt"/>
              </a:rPr>
              <a:t>Additional Resources</a:t>
            </a:r>
            <a:endParaRPr lang="en-US" sz="3200" dirty="0">
              <a:latin typeface="+mj-lt"/>
            </a:endParaRPr>
          </a:p>
        </p:txBody>
      </p:sp>
      <p:sp>
        <p:nvSpPr>
          <p:cNvPr id="5" name="TextBox 4">
            <a:extLst>
              <a:ext uri="{FF2B5EF4-FFF2-40B4-BE49-F238E27FC236}">
                <a16:creationId xmlns:a16="http://schemas.microsoft.com/office/drawing/2014/main" id="{105E4FDD-BE99-21C5-8E83-226B748350B2}"/>
              </a:ext>
            </a:extLst>
          </p:cNvPr>
          <p:cNvSpPr txBox="1"/>
          <p:nvPr/>
        </p:nvSpPr>
        <p:spPr>
          <a:xfrm>
            <a:off x="668740" y="1801504"/>
            <a:ext cx="10854520" cy="2862322"/>
          </a:xfrm>
          <a:prstGeom prst="rect">
            <a:avLst/>
          </a:prstGeom>
          <a:noFill/>
        </p:spPr>
        <p:txBody>
          <a:bodyPr wrap="square" rtlCol="0">
            <a:spAutoFit/>
          </a:bodyPr>
          <a:lstStyle/>
          <a:p>
            <a:r>
              <a:rPr lang="en-GB" dirty="0">
                <a:solidFill>
                  <a:srgbClr val="002060"/>
                </a:solidFill>
              </a:rPr>
              <a:t>Standard Deviation: </a:t>
            </a:r>
            <a:r>
              <a:rPr lang="en-GB" dirty="0">
                <a:solidFill>
                  <a:srgbClr val="002060"/>
                </a:solidFill>
                <a:hlinkClick r:id="rId3">
                  <a:extLst>
                    <a:ext uri="{A12FA001-AC4F-418D-AE19-62706E023703}">
                      <ahyp:hlinkClr xmlns:ahyp="http://schemas.microsoft.com/office/drawing/2018/hyperlinkcolor" val="tx"/>
                    </a:ext>
                  </a:extLst>
                </a:hlinkClick>
              </a:rPr>
              <a:t>https://www.mathsisfun.com/data/standard-deviation-formulas.html</a:t>
            </a:r>
            <a:endParaRPr lang="en-GB" dirty="0">
              <a:solidFill>
                <a:srgbClr val="002060"/>
              </a:solidFill>
            </a:endParaRPr>
          </a:p>
          <a:p>
            <a:endParaRPr lang="en-US" dirty="0">
              <a:solidFill>
                <a:srgbClr val="002060"/>
              </a:solidFill>
            </a:endParaRPr>
          </a:p>
          <a:p>
            <a:r>
              <a:rPr lang="en-US" dirty="0">
                <a:solidFill>
                  <a:srgbClr val="002060"/>
                </a:solidFill>
              </a:rPr>
              <a:t>Creating a basic control chart: </a:t>
            </a:r>
            <a:r>
              <a:rPr lang="en-US" dirty="0">
                <a:solidFill>
                  <a:srgbClr val="002060"/>
                </a:solidFill>
                <a:hlinkClick r:id="rId4">
                  <a:extLst>
                    <a:ext uri="{A12FA001-AC4F-418D-AE19-62706E023703}">
                      <ahyp:hlinkClr xmlns:ahyp="http://schemas.microsoft.com/office/drawing/2018/hyperlinkcolor" val="tx"/>
                    </a:ext>
                  </a:extLst>
                </a:hlinkClick>
              </a:rPr>
              <a:t>https://youtu.be/os17KYZAnd0?si=4dbZqunnxfwM9BgB</a:t>
            </a:r>
            <a:endParaRPr lang="en-US" dirty="0">
              <a:solidFill>
                <a:srgbClr val="002060"/>
              </a:solidFill>
            </a:endParaRPr>
          </a:p>
          <a:p>
            <a:endParaRPr lang="en-US" dirty="0">
              <a:solidFill>
                <a:srgbClr val="002060"/>
              </a:solidFill>
            </a:endParaRPr>
          </a:p>
          <a:p>
            <a:r>
              <a:rPr lang="en-US" dirty="0">
                <a:solidFill>
                  <a:srgbClr val="002060"/>
                </a:solidFill>
              </a:rPr>
              <a:t>Control chart basics: </a:t>
            </a:r>
            <a:r>
              <a:rPr lang="en-US" dirty="0">
                <a:solidFill>
                  <a:srgbClr val="002060"/>
                </a:solidFill>
                <a:hlinkClick r:id="rId5">
                  <a:extLst>
                    <a:ext uri="{A12FA001-AC4F-418D-AE19-62706E023703}">
                      <ahyp:hlinkClr xmlns:ahyp="http://schemas.microsoft.com/office/drawing/2018/hyperlinkcolor" val="tx"/>
                    </a:ext>
                  </a:extLst>
                </a:hlinkClick>
              </a:rPr>
              <a:t>https://youtu.be/Aj7lJLR-7b4?si=FNq6yV6vMml70oLZ</a:t>
            </a:r>
            <a:endParaRPr lang="en-US" dirty="0">
              <a:solidFill>
                <a:srgbClr val="002060"/>
              </a:solidFill>
            </a:endParaRPr>
          </a:p>
          <a:p>
            <a:endParaRPr lang="en-US" dirty="0">
              <a:solidFill>
                <a:srgbClr val="002060"/>
              </a:solidFill>
            </a:endParaRPr>
          </a:p>
          <a:p>
            <a:r>
              <a:rPr lang="en-US" dirty="0">
                <a:solidFill>
                  <a:srgbClr val="002060"/>
                </a:solidFill>
              </a:rPr>
              <a:t>Creating I-MR charts: </a:t>
            </a:r>
            <a:r>
              <a:rPr lang="en-US" dirty="0">
                <a:solidFill>
                  <a:srgbClr val="002060"/>
                </a:solidFill>
                <a:hlinkClick r:id="rId6">
                  <a:extLst>
                    <a:ext uri="{A12FA001-AC4F-418D-AE19-62706E023703}">
                      <ahyp:hlinkClr xmlns:ahyp="http://schemas.microsoft.com/office/drawing/2018/hyperlinkcolor" val="tx"/>
                    </a:ext>
                  </a:extLst>
                </a:hlinkClick>
              </a:rPr>
              <a:t>https://youtu.be/uGgd3iiQrUI?si=3vBFuoFLaePtKNL6</a:t>
            </a:r>
            <a:endParaRPr lang="en-US" dirty="0">
              <a:solidFill>
                <a:srgbClr val="002060"/>
              </a:solidFill>
            </a:endParaRPr>
          </a:p>
          <a:p>
            <a:endParaRPr lang="en-US" dirty="0">
              <a:solidFill>
                <a:srgbClr val="002060"/>
              </a:solidFill>
            </a:endParaRPr>
          </a:p>
          <a:p>
            <a:endParaRPr lang="en-US" dirty="0">
              <a:solidFill>
                <a:srgbClr val="002060"/>
              </a:solidFill>
            </a:endParaRPr>
          </a:p>
          <a:p>
            <a:endParaRPr lang="en-US" dirty="0"/>
          </a:p>
        </p:txBody>
      </p:sp>
    </p:spTree>
    <p:extLst>
      <p:ext uri="{BB962C8B-B14F-4D97-AF65-F5344CB8AC3E}">
        <p14:creationId xmlns:p14="http://schemas.microsoft.com/office/powerpoint/2010/main" val="1853809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8" name="Text Placeholder 3">
            <a:extLst>
              <a:ext uri="{FF2B5EF4-FFF2-40B4-BE49-F238E27FC236}">
                <a16:creationId xmlns:a16="http://schemas.microsoft.com/office/drawing/2014/main" id="{E68174ED-944F-4012-3F1D-1BADFF3D49DB}"/>
              </a:ext>
            </a:extLst>
          </p:cNvPr>
          <p:cNvSpPr>
            <a:spLocks noGrp="1"/>
          </p:cNvSpPr>
          <p:nvPr>
            <p:ph type="body" sz="quarter" idx="10"/>
          </p:nvPr>
        </p:nvSpPr>
        <p:spPr>
          <a:xfrm>
            <a:off x="533400" y="1534622"/>
            <a:ext cx="5562600" cy="4216539"/>
          </a:xfrm>
        </p:spPr>
        <p:txBody>
          <a:bodyPr>
            <a:normAutofit lnSpcReduction="10000"/>
          </a:bodyPr>
          <a:lstStyle/>
          <a:p>
            <a:r>
              <a:rPr lang="en-US" dirty="0">
                <a:latin typeface="+mj-lt"/>
              </a:rPr>
              <a:t>Thank you</a:t>
            </a:r>
          </a:p>
          <a:p>
            <a:endParaRPr lang="en-US" sz="2400" b="0" dirty="0">
              <a:latin typeface="+mj-lt"/>
            </a:endParaRPr>
          </a:p>
          <a:p>
            <a:r>
              <a:rPr lang="en-US" sz="2400" b="0" dirty="0">
                <a:latin typeface="+mj-lt"/>
              </a:rPr>
              <a:t>Thank you for your participation. You have now completed the learning for this module. </a:t>
            </a:r>
          </a:p>
          <a:p>
            <a:endParaRPr lang="en-US" sz="2400" b="0" dirty="0">
              <a:latin typeface="+mj-lt"/>
            </a:endParaRPr>
          </a:p>
          <a:p>
            <a:r>
              <a:rPr lang="en-US" sz="2400" b="0" dirty="0">
                <a:latin typeface="+mj-lt"/>
              </a:rPr>
              <a:t>Once your attendance has been captured, your module end test will be available. Slides for this session will also be available for review. </a:t>
            </a:r>
          </a:p>
        </p:txBody>
      </p:sp>
      <p:sp>
        <p:nvSpPr>
          <p:cNvPr id="9" name="Rectangle 8">
            <a:extLst>
              <a:ext uri="{FF2B5EF4-FFF2-40B4-BE49-F238E27FC236}">
                <a16:creationId xmlns:a16="http://schemas.microsoft.com/office/drawing/2014/main" id="{B093646B-D17F-CCA2-A749-9389B97AE8D6}"/>
              </a:ext>
            </a:extLst>
          </p:cNvPr>
          <p:cNvSpPr/>
          <p:nvPr/>
        </p:nvSpPr>
        <p:spPr>
          <a:xfrm>
            <a:off x="213756" y="5652655"/>
            <a:ext cx="2458192" cy="926275"/>
          </a:xfrm>
          <a:prstGeom prst="rect">
            <a:avLst/>
          </a:prstGeom>
          <a:solidFill>
            <a:srgbClr val="244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20509834"/>
      </p:ext>
    </p:extLst>
  </p:cSld>
  <p:clrMapOvr>
    <a:masterClrMapping/>
  </p:clrMapOvr>
</p:sld>
</file>

<file path=ppt/theme/theme1.xml><?xml version="1.0" encoding="utf-8"?>
<a:theme xmlns:a="http://schemas.openxmlformats.org/drawingml/2006/main" name="Ingeus Generic">
  <a:themeElements>
    <a:clrScheme name="Custom 5">
      <a:dk1>
        <a:srgbClr val="6B635B"/>
      </a:dk1>
      <a:lt1>
        <a:srgbClr val="FFFFFF"/>
      </a:lt1>
      <a:dk2>
        <a:srgbClr val="F58233"/>
      </a:dk2>
      <a:lt2>
        <a:srgbClr val="FBBA00"/>
      </a:lt2>
      <a:accent1>
        <a:srgbClr val="EC008C"/>
      </a:accent1>
      <a:accent2>
        <a:srgbClr val="8DC63F"/>
      </a:accent2>
      <a:accent3>
        <a:srgbClr val="00AF74"/>
      </a:accent3>
      <a:accent4>
        <a:srgbClr val="27AAE1"/>
      </a:accent4>
      <a:accent5>
        <a:srgbClr val="2B3990"/>
      </a:accent5>
      <a:accent6>
        <a:srgbClr val="9FA1A2"/>
      </a:accent6>
      <a:hlink>
        <a:srgbClr val="6B635B"/>
      </a:hlink>
      <a:folHlink>
        <a:srgbClr val="6B635B"/>
      </a:folHlink>
    </a:clrScheme>
    <a:fontScheme name="Custom 7">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982c3a-aa8a-40f4-beae-7464567f5c95">
      <Terms xmlns="http://schemas.microsoft.com/office/infopath/2007/PartnerControls"/>
    </lcf76f155ced4ddcb4097134ff3c332f>
    <TaxCatchAll xmlns="5f2719aa-8549-4aa0-9718-54854450c27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5D28FA20BD2FE48BF0090F2482EA240" ma:contentTypeVersion="12" ma:contentTypeDescription="Create a new document." ma:contentTypeScope="" ma:versionID="2fa18cf9dfb3640b544f21b035a49950">
  <xsd:schema xmlns:xsd="http://www.w3.org/2001/XMLSchema" xmlns:xs="http://www.w3.org/2001/XMLSchema" xmlns:p="http://schemas.microsoft.com/office/2006/metadata/properties" xmlns:ns2="c8982c3a-aa8a-40f4-beae-7464567f5c95" xmlns:ns3="5f2719aa-8549-4aa0-9718-54854450c270" targetNamespace="http://schemas.microsoft.com/office/2006/metadata/properties" ma:root="true" ma:fieldsID="1514f7be33d9c2f3fc87f8d7868ccd8c" ns2:_="" ns3:_="">
    <xsd:import namespace="c8982c3a-aa8a-40f4-beae-7464567f5c95"/>
    <xsd:import namespace="5f2719aa-8549-4aa0-9718-54854450c2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982c3a-aa8a-40f4-beae-7464567f5c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e537eb2-d2b7-44a8-833a-5538858146a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f2719aa-8549-4aa0-9718-54854450c27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53a8935-bef3-42e8-a216-44c478a2c40c}" ma:internalName="TaxCatchAll" ma:showField="CatchAllData" ma:web="5f2719aa-8549-4aa0-9718-54854450c2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4C703B-9AC4-498F-8344-83CC6ADCFDBE}">
  <ds:schemaRefs>
    <ds:schemaRef ds:uri="http://purl.org/dc/terms/"/>
    <ds:schemaRef ds:uri="http://schemas.openxmlformats.org/package/2006/metadata/core-properties"/>
    <ds:schemaRef ds:uri="http://schemas.microsoft.com/office/2006/documentManagement/types"/>
    <ds:schemaRef ds:uri="4867e260-efc0-4c04-89a7-fe69bd504a77"/>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 ds:uri="c8982c3a-aa8a-40f4-beae-7464567f5c95"/>
    <ds:schemaRef ds:uri="5f2719aa-8549-4aa0-9718-54854450c270"/>
  </ds:schemaRefs>
</ds:datastoreItem>
</file>

<file path=customXml/itemProps2.xml><?xml version="1.0" encoding="utf-8"?>
<ds:datastoreItem xmlns:ds="http://schemas.openxmlformats.org/officeDocument/2006/customXml" ds:itemID="{C01FA4E7-C433-4D77-AC95-6A29C8521EAE}">
  <ds:schemaRefs>
    <ds:schemaRef ds:uri="http://schemas.microsoft.com/sharepoint/v3/contenttype/forms"/>
  </ds:schemaRefs>
</ds:datastoreItem>
</file>

<file path=customXml/itemProps3.xml><?xml version="1.0" encoding="utf-8"?>
<ds:datastoreItem xmlns:ds="http://schemas.openxmlformats.org/officeDocument/2006/customXml" ds:itemID="{EB30ADFB-E074-41AA-B717-81C524281D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982c3a-aa8a-40f4-beae-7464567f5c95"/>
    <ds:schemaRef ds:uri="5f2719aa-8549-4aa0-9718-54854450c2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TotalTime>
  <Words>9283</Words>
  <Application>Microsoft Office PowerPoint</Application>
  <PresentationFormat>Widescreen</PresentationFormat>
  <Paragraphs>1017</Paragraphs>
  <Slides>39</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Courier New</vt:lpstr>
      <vt:lpstr>Open Sans</vt:lpstr>
      <vt:lpstr>Trebuchet MS</vt:lpstr>
      <vt:lpstr>Wingdings</vt:lpstr>
      <vt:lpstr>Ingeus Generic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 Foster</dc:creator>
  <cp:lastModifiedBy>Steven Foster</cp:lastModifiedBy>
  <cp:revision>112</cp:revision>
  <cp:lastPrinted>2022-01-05T09:53:44Z</cp:lastPrinted>
  <dcterms:created xsi:type="dcterms:W3CDTF">2026-09-08T11:50:02Z</dcterms:created>
  <dcterms:modified xsi:type="dcterms:W3CDTF">2026-09-08T11:52:11Z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0x01010035D28FA20BD2FE48BF0090F2482EA240</vt:lpwstr>
  </property>
  <property fmtid="{D5CDD505-2E9C-101B-9397-08002B2CF9AE}" pid="3" name="MSIP_Label_03429321-b149-4a39-bd49-743598a7657b_Enabled">
    <vt:lpwstr>true</vt:lpwstr>
  </property>
  <property fmtid="{D5CDD505-2E9C-101B-9397-08002B2CF9AE}" pid="4" name="MSIP_Label_03429321-b149-4a39-bd49-743598a7657b_SetDate">
    <vt:lpwstr>2022-04-16T07:09:31Z</vt:lpwstr>
  </property>
  <property fmtid="{D5CDD505-2E9C-101B-9397-08002B2CF9AE}" pid="5" name="MSIP_Label_03429321-b149-4a39-bd49-743598a7657b_Method">
    <vt:lpwstr>Privileged</vt:lpwstr>
  </property>
  <property fmtid="{D5CDD505-2E9C-101B-9397-08002B2CF9AE}" pid="6" name="MSIP_Label_03429321-b149-4a39-bd49-743598a7657b_Name">
    <vt:lpwstr>Internal</vt:lpwstr>
  </property>
  <property fmtid="{D5CDD505-2E9C-101B-9397-08002B2CF9AE}" pid="7" name="MSIP_Label_03429321-b149-4a39-bd49-743598a7657b_SiteId">
    <vt:lpwstr>5090ac83-b577-4b0b-9a7d-be03f24a6c0c</vt:lpwstr>
  </property>
  <property fmtid="{D5CDD505-2E9C-101B-9397-08002B2CF9AE}" pid="8" name="MSIP_Label_03429321-b149-4a39-bd49-743598a7657b_ActionId">
    <vt:lpwstr>abecf3bc-8b36-45b6-a470-3004b59335b5</vt:lpwstr>
  </property>
  <property fmtid="{D5CDD505-2E9C-101B-9397-08002B2CF9AE}" pid="9" name="MSIP_Label_03429321-b149-4a39-bd49-743598a7657b_ContentBits">
    <vt:lpwstr>0</vt:lpwstr>
  </property>
  <property fmtid="{D5CDD505-2E9C-101B-9397-08002B2CF9AE}" pid="10" name="MediaServiceImageTags">
    <vt:lpwstr/>
  </property>
</Properties>
</file>